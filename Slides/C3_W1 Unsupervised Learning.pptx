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11.xml" ContentType="application/inkml+xml"/>
  <Override PartName="/ppt/ink/ink12.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36.xml" ContentType="application/vnd.openxmlformats-officedocument.presentationml.notesSlide+xml"/>
  <Override PartName="/ppt/ink/ink21.xml" ContentType="application/inkml+xml"/>
  <Override PartName="/ppt/ink/ink22.xml" ContentType="application/inkml+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ink/ink23.xml" ContentType="application/inkml+xml"/>
  <Override PartName="/ppt/ink/ink24.xml" ContentType="application/inkml+xml"/>
  <Override PartName="/ppt/ink/ink25.xml" ContentType="application/inkml+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9"/>
  </p:notesMasterIdLst>
  <p:sldIdLst>
    <p:sldId id="257" r:id="rId2"/>
    <p:sldId id="258" r:id="rId3"/>
    <p:sldId id="350" r:id="rId4"/>
    <p:sldId id="259" r:id="rId5"/>
    <p:sldId id="260" r:id="rId6"/>
    <p:sldId id="261" r:id="rId7"/>
    <p:sldId id="315" r:id="rId8"/>
    <p:sldId id="262" r:id="rId9"/>
    <p:sldId id="263" r:id="rId10"/>
    <p:sldId id="264" r:id="rId11"/>
    <p:sldId id="265" r:id="rId12"/>
    <p:sldId id="266" r:id="rId13"/>
    <p:sldId id="267" r:id="rId14"/>
    <p:sldId id="268" r:id="rId15"/>
    <p:sldId id="269" r:id="rId16"/>
    <p:sldId id="270" r:id="rId17"/>
    <p:sldId id="345" r:id="rId18"/>
    <p:sldId id="271" r:id="rId19"/>
    <p:sldId id="272" r:id="rId20"/>
    <p:sldId id="273" r:id="rId21"/>
    <p:sldId id="274" r:id="rId22"/>
    <p:sldId id="275" r:id="rId23"/>
    <p:sldId id="276" r:id="rId24"/>
    <p:sldId id="316" r:id="rId25"/>
    <p:sldId id="317" r:id="rId26"/>
    <p:sldId id="349" r:id="rId27"/>
    <p:sldId id="277" r:id="rId28"/>
    <p:sldId id="278" r:id="rId29"/>
    <p:sldId id="318" r:id="rId30"/>
    <p:sldId id="319" r:id="rId31"/>
    <p:sldId id="320" r:id="rId32"/>
    <p:sldId id="321" r:id="rId33"/>
    <p:sldId id="282" r:id="rId34"/>
    <p:sldId id="283" r:id="rId35"/>
    <p:sldId id="322" r:id="rId36"/>
    <p:sldId id="323" r:id="rId37"/>
    <p:sldId id="324" r:id="rId38"/>
    <p:sldId id="325" r:id="rId39"/>
    <p:sldId id="346" r:id="rId40"/>
    <p:sldId id="287" r:id="rId41"/>
    <p:sldId id="288" r:id="rId42"/>
    <p:sldId id="289" r:id="rId43"/>
    <p:sldId id="290" r:id="rId44"/>
    <p:sldId id="326" r:id="rId45"/>
    <p:sldId id="347" r:id="rId46"/>
    <p:sldId id="291" r:id="rId47"/>
    <p:sldId id="292" r:id="rId48"/>
    <p:sldId id="293" r:id="rId49"/>
    <p:sldId id="294" r:id="rId50"/>
    <p:sldId id="348" r:id="rId51"/>
    <p:sldId id="295" r:id="rId52"/>
    <p:sldId id="296" r:id="rId53"/>
    <p:sldId id="327" r:id="rId54"/>
    <p:sldId id="328" r:id="rId55"/>
    <p:sldId id="329" r:id="rId56"/>
    <p:sldId id="299" r:id="rId57"/>
    <p:sldId id="300" r:id="rId58"/>
    <p:sldId id="330" r:id="rId59"/>
    <p:sldId id="331" r:id="rId60"/>
    <p:sldId id="332" r:id="rId61"/>
    <p:sldId id="333" r:id="rId62"/>
    <p:sldId id="303" r:id="rId63"/>
    <p:sldId id="304" r:id="rId64"/>
    <p:sldId id="334" r:id="rId65"/>
    <p:sldId id="335" r:id="rId66"/>
    <p:sldId id="336" r:id="rId67"/>
    <p:sldId id="307" r:id="rId68"/>
    <p:sldId id="308" r:id="rId69"/>
    <p:sldId id="309" r:id="rId70"/>
    <p:sldId id="337" r:id="rId71"/>
    <p:sldId id="310" r:id="rId72"/>
    <p:sldId id="338" r:id="rId73"/>
    <p:sldId id="339" r:id="rId74"/>
    <p:sldId id="340" r:id="rId75"/>
    <p:sldId id="341" r:id="rId76"/>
    <p:sldId id="343" r:id="rId77"/>
    <p:sldId id="344" r:id="rId78"/>
  </p:sldIdLst>
  <p:sldSz cx="9144000" cy="5143500" type="screen16x9"/>
  <p:notesSz cx="51435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0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3293"/>
    <p:restoredTop sz="65769"/>
  </p:normalViewPr>
  <p:slideViewPr>
    <p:cSldViewPr>
      <p:cViewPr varScale="1">
        <p:scale>
          <a:sx n="92" d="100"/>
          <a:sy n="92" d="100"/>
        </p:scale>
        <p:origin x="1952" y="176"/>
      </p:cViewPr>
      <p:guideLst>
        <p:guide orient="horz" pos="2880"/>
        <p:guide pos="2160"/>
      </p:guideLst>
    </p:cSldViewPr>
  </p:slideViewPr>
  <p:notesTextViewPr>
    <p:cViewPr>
      <p:scale>
        <a:sx n="100" d="100"/>
        <a:sy n="100" d="100"/>
      </p:scale>
      <p:origin x="0" y="0"/>
    </p:cViewPr>
  </p:notesTextViewPr>
  <p:sorterViewPr>
    <p:cViewPr>
      <p:scale>
        <a:sx n="140" d="100"/>
        <a:sy n="140" d="100"/>
      </p:scale>
      <p:origin x="0" y="0"/>
    </p:cViewPr>
  </p:sorterViewPr>
  <p:notesViewPr>
    <p:cSldViewPr>
      <p:cViewPr>
        <p:scale>
          <a:sx n="190" d="100"/>
          <a:sy n="190" d="100"/>
        </p:scale>
        <p:origin x="2256" y="-6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3:02:38.011"/>
    </inkml:context>
    <inkml:brush xml:id="br0">
      <inkml:brushProperty name="width" value="0.05" units="cm"/>
      <inkml:brushProperty name="height" value="0.05" units="cm"/>
    </inkml:brush>
  </inkml:definitions>
  <inkml:trace contextRef="#ctx0" brushRef="#br0">193 1 24575,'-35'65'0,"21"-39"0,-26 40 0,21-35 0,7-14 0,-4 13 0,8-17 0,3-4 0,1 1 0,-1-2 0,2-3 0,1 0 0,0 0 0,2 1 0,0-1 0,0 1 0,0 1 0,0-1 0,0 0 0,-3 0 0,0 1 0,-1 1 0,-1 1 0,1 1 0,0 0 0,1-3 0,2-3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3:02:40.911"/>
    </inkml:context>
    <inkml:brush xml:id="br0">
      <inkml:brushProperty name="width" value="0.05" units="cm"/>
      <inkml:brushProperty name="height" value="0.05" units="cm"/>
    </inkml:brush>
  </inkml:definitions>
  <inkml:trace contextRef="#ctx0" brushRef="#br0">1 0 24575,'20'0'0,"-3"0"0,5 0 0,-5 0 0,1 0 0,-1 0 0,1 2 0,-2 0 0,-1 2 0,-1 0 0,-1-1 0,1 1 0,-1-1 0,1 0 0,-1 0 0,0 0 0,-1 0 0,-3 2 0,-2-2 0,-1 2 0,0 0 0,1 0 0,-1 0 0,0 0 0,-1-1 0,2 0 0,0-1 0,2 2 0,1-1 0,-1 0 0,-1-1 0,-1-1 0,-1 0 0,1 0 0,0 3 0,0-1 0,1 1 0,-4-4 0,0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3:02:47.178"/>
    </inkml:context>
    <inkml:brush xml:id="br0">
      <inkml:brushProperty name="width" value="0.05" units="cm"/>
      <inkml:brushProperty name="height" value="0.05" units="cm"/>
      <inkml:brushProperty name="color" value="#E71224"/>
    </inkml:brush>
  </inkml:definitions>
  <inkml:trace contextRef="#ctx0" brushRef="#br0">1 1 24575,'30'0'0,"8"0"0,12 0 0,5 0 0,-2 0 0,-4 0 0,-9 0 0,-12 0 0,-8 0 0,-6 1 0,-3 2 0,1 1 0,-2 1 0,-1 0 0,1 0 0,-2-1 0,0 0 0,-1 0 0,-1-2 0,-1 1 0,2 1 0,1 1 0,-1 1 0,-1-3 0,-4-1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3:02:49.378"/>
    </inkml:context>
    <inkml:brush xml:id="br0">
      <inkml:brushProperty name="width" value="0.05" units="cm"/>
      <inkml:brushProperty name="height" value="0.05" units="cm"/>
      <inkml:brushProperty name="color" value="#E71224"/>
    </inkml:brush>
  </inkml:definitions>
  <inkml:trace contextRef="#ctx0" brushRef="#br0">153 1 24575,'0'13'0,"0"2"0,-1 3 0,-4 0 0,0 0 0,-1 1 0,0 2 0,1 0 0,0-1 0,-1-3 0,2-4 0,0-2 0,0-3 0,0 1 0,-2 2 0,-3 7 0,-4 4 0,-2 4 0,3-2 0,1-4 0,2-3 0,4-4 0,0-1 0,2-3 0,0-2 0,1-3 0,0 0 0,0-3 0,2 1 0,0-3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3:02:57.696"/>
    </inkml:context>
    <inkml:brush xml:id="br0">
      <inkml:brushProperty name="width" value="0.05" units="cm"/>
      <inkml:brushProperty name="height" value="0.05" units="cm"/>
      <inkml:brushProperty name="color" value="#E71224"/>
    </inkml:brush>
  </inkml:definitions>
  <inkml:trace contextRef="#ctx0" brushRef="#br0">1 159 24575,'20'-5'0,"5"-4"0,6-4 0,1-2 0,-3-2 0,-6 4 0,-4 3 0,-4 1 0,-3 4 0,-4 1 0,0-1 0,1 0 0,-1-2 0,0 0 0,-1 1 0,0-1 0,0 1 0,-1 0 0,1 1 0,-3 2 0,0 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3:03:00.562"/>
    </inkml:context>
    <inkml:brush xml:id="br0">
      <inkml:brushProperty name="width" value="0.05" units="cm"/>
      <inkml:brushProperty name="height" value="0.05" units="cm"/>
      <inkml:brushProperty name="color" value="#E71224"/>
    </inkml:brush>
  </inkml:definitions>
  <inkml:trace contextRef="#ctx0" brushRef="#br0">1 0 24575,'15'0'0,"3"0"0,0 0 0,2 0 0,0 0 0,-2 0 0,1 0 0,-2 0 0,-1 0 0,-1 0 0,-4 0 0,0 0 0,-1 0 0,-2 0 0,1 0 0,-1 1 0,-1 1 0,-2 1 0,0 0 0,0-1 0,-1 1 0,1 0 0,-2 1 0,-1 1 0,-2 1 0,0 0 0,-1 3 0,-1 0 0,-1 1 0,0 0 0,-1-2 0,1 1 0,-1-3 0,1 2 0,1-1 0,-1-1 0,2 1 0,-1 0 0,-1 1 0,1 2 0,-2 2 0,1 0 0,0 1 0,0-2 0,1-5 0,1-2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3:03:20.630"/>
    </inkml:context>
    <inkml:brush xml:id="br0">
      <inkml:brushProperty name="width" value="0.05" units="cm"/>
      <inkml:brushProperty name="height" value="0.05" units="cm"/>
      <inkml:brushProperty name="color" value="#004F8B"/>
    </inkml:brush>
  </inkml:definitions>
  <inkml:trace contextRef="#ctx0" brushRef="#br0">357 1 24575,'-12'21'0,"-5"10"0,-9 10 0,-7 10 0,-1 1 0,2-3 0,6-7 0,6-9 0,5-10 0,4-5 0,3-4 0,-1 1 0,0 3 0,-3 3 0,-3 7 0,0 3 0,-2 0 0,4-3 0,1-7 0,3-3 0,2-3 0,4-8 0,1-1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3:03:22.614"/>
    </inkml:context>
    <inkml:brush xml:id="br0">
      <inkml:brushProperty name="width" value="0.05" units="cm"/>
      <inkml:brushProperty name="height" value="0.05" units="cm"/>
      <inkml:brushProperty name="color" value="#004F8B"/>
    </inkml:brush>
  </inkml:definitions>
  <inkml:trace contextRef="#ctx0" brushRef="#br0">0 2 24575,'27'-1'0,"2"2"0,5 2 0,-1 6 0,-1 6 0,-1 0 0,-4 1 0,-1-3 0,-4-1 0,-1-1 0,-1-2 0,-3-1 0,-1-1 0,-1 0 0,1 1 0,2 1 0,1-1 0,-1 1 0,-1-2 0,-5-2 0,-2 0 0,-3-1 0,-2-1 0,3 1 0,-1 1 0,3 1 0,0 1 0,0 1 0,1-1 0,-2 1 0,-1-3 0,-1 1 0,-2-1 0,0-1 0,-2 1 0,1-1 0,1 0 0,0 2 0,1-1 0,-2-2 0,-2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3:03:27.580"/>
    </inkml:context>
    <inkml:brush xml:id="br0">
      <inkml:brushProperty name="width" value="0.05" units="cm"/>
      <inkml:brushProperty name="height" value="0.05" units="cm"/>
      <inkml:brushProperty name="color" value="#004F8B"/>
    </inkml:brush>
  </inkml:definitions>
  <inkml:trace contextRef="#ctx0" brushRef="#br0">0 73 24575,'20'0'0,"2"0"0,3 0 0,2 0 0,-1 0 0,1 0 0,-1 0 0,-2 0 0,0 0 0,-4 0 0,-1 0 0,-1-1 0,-2-1 0,-1 0 0,-2 0 0,-2 2 0,0 0 0,-3 0 0,0-1 0,0-1 0,1 0 0,3-1 0,2 0 0,-1-1 0,1-1 0,-1 2 0,1 1 0,-2 1 0,-1 0 0,0 0 0,-1-1 0,2-1 0,-2 0 0,0 0 0,0 0 0,-1 1 0,-1-1 0,-1 1 0,0 0 0,0 0 0,0 2 0,-2-1 0,0-1 0,0 1 0,-2-2 0,1 2 0,1-1 0,-3 0 0,0 2 0,-1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3:03:29.864"/>
    </inkml:context>
    <inkml:brush xml:id="br0">
      <inkml:brushProperty name="width" value="0.05" units="cm"/>
      <inkml:brushProperty name="height" value="0.05" units="cm"/>
      <inkml:brushProperty name="color" value="#004F8B"/>
    </inkml:brush>
  </inkml:definitions>
  <inkml:trace contextRef="#ctx0" brushRef="#br0">1 1 24575,'14'0'0,"1"0"0,0 0 0,1 0 0,0 1 0,-1 4 0,-1 0 0,-1 2 0,-3-2 0,-3-1 0,-2 0 0,1 1 0,3 2 0,2 3 0,2 1 0,0 0 0,-2-3 0,-2-2 0,-1 0 0,-1 0 0,1 1 0,0 0 0,-1 0 0,1-1 0,-1-2 0,-2 1 0,-1 0 0,-2 0 0,-1 1 0,-1 0 0,-1-1 0,-1 1 0,-1 1 0,-2 0 0,0 1 0,0 0 0,1 0 0,1 1 0,0 1 0,0-3 0,-1 2 0,-1-1 0,2 0 0,-2 3 0,1 1 0,0 3 0,-1 1 0,1-2 0,0-2 0,1-3 0,1-2 0,1-3 0,0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4:13:42.820"/>
    </inkml:context>
    <inkml:brush xml:id="br0">
      <inkml:brushProperty name="width" value="0.05" units="cm"/>
      <inkml:brushProperty name="height" value="0.05" units="cm"/>
      <inkml:brushProperty name="color" value="#004F8B"/>
    </inkml:brush>
  </inkml:definitions>
  <inkml:trace contextRef="#ctx0" brushRef="#br0">0 945 24575,'0'-13'0,"0"1"0,2 1 0,3-1 0,2-2 0,2-4 0,0 0 0,0-1 0,0 1 0,0 3 0,0 0 0,-1 1 0,0 2 0,-1 0 0,0 1 0,2-1 0,-1-2 0,0 3 0,-1-1 0,0 2 0,-1 0 0,1 0 0,-1 1 0,0 0 0,0 1 0,0-3 0,1 1 0,1-1 0,0 1 0,1-1 0,-2 1 0,-1 2 0,-1 0 0,1 1 0,2 0 0,1 1 0,0-3 0,3 0 0,-2 1 0,0-1 0,-2 2 0,1 0 0,1 1 0,2-1 0,1 0 0,1-1 0,-2-1 0,0 1 0,-1-1 0,1 1 0,4-1 0,1 0 0,3-1 0,2 1 0,-3-1 0,1 0 0,-3 1 0,1 0 0,2 1 0,1 0 0,3-1 0,2 0 0,3-2 0,0 0 0,0-1 0,-3 0 0,-1 1 0,-3 2 0,-1 0 0,-2 0 0,0 0 0,0 0 0,-1 0 0,0 0 0,0 2 0,2 0 0,2 0 0,1-1 0,3 0 0,-1 1 0,1-1 0,-1 1 0,0 0 0,-2 2 0,-1-1 0,0 1 0,0-1 0,-1-1 0,1 0 0,0 2 0,-3 0 0,1 0 0,-3 0 0,-1 0 0,-1 0 0,-1 0 0,-1 0 0,1 0 0,-1 1 0,1 1 0,0 1 0,-1-1 0,1-2 0,0 1 0,3-1 0,4 2 0,3 0 0,4 0 0,1 1 0,3 0 0,0 1 0,1 1 0,-3 0 0,-3 0 0,-3 0 0,-3 0 0,0 0 0,-2 0 0,1 0 0,3 0 0,0 0 0,0 0 0,-1 0 0,-4 0 0,-2 0 0,-2 0 0,0 0 0,-1 2 0,1 1 0,-1 2 0,1 0 0,-1 0 0,1 0 0,-1 0 0,1 2 0,-1 0 0,1 0 0,-2-1 0,-1 1 0,1 0 0,0 1 0,1 3 0,1 1 0,0 1 0,-1 1 0,1-1 0,1 1 0,2 1 0,1 1 0,2 3 0,-1-1 0,0-2 0,-2-1 0,-2-3 0,0-2 0,-1-1 0,-1 0 0,0-1 0,-1 1 0,-2-1 0,0 0 0,1 1 0,1 0 0,1-1 0,-1 1 0,0 0 0,0 1 0,0 0 0,1 0 0,1 0 0,-1 0 0,1 1 0,-1-1 0,1 0 0,-1-1 0,-1 0 0,0 0 0,0 0 0,-2 0 0,2 0 0,-1 1 0,0 0 0,0 0 0,1 2 0,0 0 0,2 1 0,-1 1 0,1 0 0,-1-1 0,1 1 0,-1-1 0,1 1 0,-1-1 0,1 1 0,0 2 0,-1 0 0,1-1 0,-1 0 0,-1-1 0,-1-1 0,-1-1 0,-1-2 0,-2-2 0,-1-1 0,0-2 0,-1 1 0,2-2 0,-2 1 0,-1-2 0,-2-1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4:13:45.471"/>
    </inkml:context>
    <inkml:brush xml:id="br0">
      <inkml:brushProperty name="width" value="0.05" units="cm"/>
      <inkml:brushProperty name="height" value="0.05" units="cm"/>
      <inkml:brushProperty name="color" value="#004F8B"/>
    </inkml:brush>
  </inkml:definitions>
  <inkml:trace contextRef="#ctx0" brushRef="#br0">521 1 24575,'0'27'0,"0"3"0,0 3 0,1-1 0,0-6 0,1-5 0,0-3 0,-2-1 0,2 0 0,0 1 0,1 0 0,1-3 0,-3-1 0,2-3 0,-1 3 0,1 6 0,3 8 0,-2 5 0,2 2 0,-2-7 0,-2-6 0,1-7 0,-3-8 0,-4-4 0,-5-3 0,-8 0 0,-4-3 0,-6-4 0,-4-4 0,-1-4 0,0 0 0,4 0 0,0 2 0,2 3 0,2 3 0,2 3 0,2 2 0,1-1 0,-1-1 0,-1-1 0,-1-2 0,0-2 0,-1 0 0,-1 0 0,2 0 0,3 3 0,3 1 0,3 2 0,1 0 0,2-2 0,5 3 0,2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4:22:59.820"/>
    </inkml:context>
    <inkml:brush xml:id="br0">
      <inkml:brushProperty name="width" value="0.05" units="cm"/>
      <inkml:brushProperty name="height" value="0.05" units="cm"/>
      <inkml:brushProperty name="color" value="#004F8B"/>
    </inkml:brush>
  </inkml:definitions>
  <inkml:trace contextRef="#ctx0" brushRef="#br0">7 0 24575,'-3'6'0,"0"9"0,3 14 0,0 9 0,0 8 0,0 2 0,0-3 0,0-2 0,0-6 0,0-7 0,0-2 0,0 2 0,0 5 0,0 8 0,2 4 0,2 5 0,3 3 0,2 3 0,0 4 0,0 2 0,-1-1 0,1 3 0,0 1 0,0 1 0,0 1 0,0-3 0,1-4 0,0-2 0,0-3 0,0-3 0,-1-3 0,2 0 0,3 3 0,1 4 0,0 3 0,-2-2 0,-1-4 0,-2-4 0,-1-5 0,0-4 0,0-4 0,2-5 0,0 1 0,0 1 0,1-1 0,0-3 0,-1-5 0,-2-5 0,-1-5 0,-1-5 0,-1-2 0,1-1 0,0 1 0,1-1 0,1 1 0,-1-3 0,-2-2 0,-1 0 0,2 1 0,1 2 0,2 2 0,1 0 0,-4 0 0,-1-3 0,-3-2 0,-1-1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4:23:02.053"/>
    </inkml:context>
    <inkml:brush xml:id="br0">
      <inkml:brushProperty name="width" value="0.05" units="cm"/>
      <inkml:brushProperty name="height" value="0.05" units="cm"/>
      <inkml:brushProperty name="color" value="#004F8B"/>
    </inkml:brush>
  </inkml:definitions>
  <inkml:trace contextRef="#ctx0" brushRef="#br0">269 1 24575,'0'18'0,"0"2"0,0 5 0,0 1 0,0-2 0,0-2 0,0-3 0,0-5 0,0-5 0,0-1 0,0-2 0,0 2 0,0 3 0,0 2 0,0 0 0,0-1 0,0 0 0,0-2 0,0 0 0,0 0 0,0 0 0,0 0 0,0 0 0,0 0 0,0-1 0,0 0 0,0-2 0,0 1 0,0 0 0,0 1 0,0 0 0,0 1 0,0 0 0,-1-2 0,-2-4 0,-3-3 0,-4-3 0,-2 0 0,-4 0 0,-2-2 0,0-1 0,-1 1 0,1 0 0,1 1 0,-1 0 0,3-1 0,-2 0 0,1 0 0,0 1 0,1-1 0,2 1 0,2-1 0,5 3 0,2-1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4:23:07.553"/>
    </inkml:context>
    <inkml:brush xml:id="br0">
      <inkml:brushProperty name="width" value="0.05" units="cm"/>
      <inkml:brushProperty name="height" value="0.05" units="cm"/>
      <inkml:brushProperty name="color" value="#004F8B"/>
    </inkml:brush>
  </inkml:definitions>
  <inkml:trace contextRef="#ctx0" brushRef="#br0">1 0 24575,'9'0'0,"2"0"0,5 0 0,10 3 0,7 5 0,8 6 0,6 8 0,5 3 0,3 2 0,2 3 0,3-2 0,4-3 0,7 0 0,4-2 0,3 0 0,0 2 0,-6-2 0,-4-1 0,-7-3 0,-6-2 0,0 0 0,2-1 0,5-1 0,6-2 0,1-5 0,1-4 0,1 0 0,-1-1 0,1-1 0,5 1 0,15 0 0,-36-1 0,3 1 0,12 0 0,2 0 0,12 0 0,2-1 0,3-1 0,1 0 0,3-1 0,-1 0 0,-8 0 0,-3 0 0,-12 0 0,-4 0 0,31 0 0,-43 0 0,-20 0 0,-3-2 0,9-7 0,9-4 0,4-4 0,2 0 0,-1 5 0,3 1 0,3 1 0,2-1 0,5-3 0,-1-1 0,-4 1 0,-7 0 0,-10 4 0,-6 2 0,-7 2 0,-3 1 0,-3-2 0,-2-2 0,-1-1 0,-1-1 0,0-2 0,-1 0 0,0 0 0,0 0 0,-2 1 0,2-2 0,-3-2 0,0 2 0,-2 2 0,-2 3 0,0 3 0,-2-1 0,-3 2 0,-1 1 0,0 0 0,0 0 0,-4 2 0,1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4:23:09.786"/>
    </inkml:context>
    <inkml:brush xml:id="br0">
      <inkml:brushProperty name="width" value="0.05" units="cm"/>
      <inkml:brushProperty name="height" value="0.05" units="cm"/>
      <inkml:brushProperty name="color" value="#004F8B"/>
    </inkml:brush>
  </inkml:definitions>
  <inkml:trace contextRef="#ctx0" brushRef="#br0">1 0 24575,'7'0'0,"6"0"0,9 0 0,8 0 0,8 0 0,-3 0 0,0 0 0,-4 0 0,-1 0 0,1 0 0,-3 0 0,-1 0 0,-3 0 0,-3 0 0,1 0 0,0 0 0,2 0 0,2 2 0,0 0 0,-2 2 0,-5-1 0,-6-1 0,-1-1 0,-1-1 0,-2 2 0,-2 1 0,-3 1 0,-3 2 0,-1-1 0,0 0 0,0 1 0,-1 1 0,-2 2 0,-2 2 0,-3 1 0,-1 1 0,-1-2 0,0-1 0,1 0 0,2 1 0,1-1 0,0 2 0,-1-1 0,0 2 0,-1 2 0,1 1 0,1 0 0,1-1 0,1-3 0,3-4 0,1-4 0,0-3 0,0-2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4:23:51.839"/>
    </inkml:context>
    <inkml:brush xml:id="br0">
      <inkml:brushProperty name="width" value="0.05" units="cm"/>
      <inkml:brushProperty name="height" value="0.05" units="cm"/>
      <inkml:brushProperty name="color" value="#004F8B"/>
    </inkml:brush>
  </inkml:definitions>
  <inkml:trace contextRef="#ctx0" brushRef="#br0">238 1 24575,'-4'25'0,"-7"6"0,-7 14 0,-6 10 0,0 2 0,2 1 0,4-4 0,7-7 0,3-2 0,0 0 0,0 1 0,-2 1 0,-2 2 0,2 0 0,-1-1 0,1-2 0,2 1 0,0 0 0,2 5 0,2 0 0,2 3 0,2 0 0,0-3 0,4-1 0,2-3 0,5-2 0,3 1 0,1 2 0,1 4 0,1 1 0,1 1 0,0 0 0,3 2 0,1-2 0,2 0 0,-1-3 0,1-5 0,2-2 0,0-5 0,1-3 0,2-4 0,-3-2 0,1-1 0,-1-1 0,-1-2 0,0-3 0,-1-4 0,-4-2 0,0-2 0,-2-1 0,-1 0 0,3 5 0,1 4 0,1 4 0,-2 0 0,-1-4 0,-5-4 0,-4-5 0,-1-3 0,-2-1 0,1-2 0,1 2 0,0 0 0,0 1 0,-2-1 0,-1-3 0,-3-1 0,1 1 0,1-1 0,-2 1 0,2-2 0,-3-2 0,0-1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4:23:55.239"/>
    </inkml:context>
    <inkml:brush xml:id="br0">
      <inkml:brushProperty name="width" value="0.05" units="cm"/>
      <inkml:brushProperty name="height" value="0.05" units="cm"/>
      <inkml:brushProperty name="color" value="#004F8B"/>
    </inkml:brush>
  </inkml:definitions>
  <inkml:trace contextRef="#ctx0" brushRef="#br0">413 118 24575,'0'18'0,"0"1"0,0 2 0,0-3 0,0-4 0,0-4 0,0-2 0,1-1 0,2-1 0,0 1 0,1-3 0,0-2 0,0-3 0,-1-8 0,-1-8 0,-2-11 0,0-10 0,0-5 0,0 1 0,0 8 0,0 10 0,0 12 0,0 9 0,0 5 0,0 6 0,0 2 0,0 5 0,0 5 0,0 5 0,0 7 0,0 3 0,0 3 0,0-1 0,0-8 0,0-7 0,0-8 0,0-4 0,0-2 0,0 2 0,0 4 0,0-1 0,0-3 0,0-7 0,0-11 0,-1 1 0,-2-3 0,-1 7 0,-3 3 0,-4-2 0,-5-1 0,-5-2 0,-3-2 0,-2 2 0,-2 1 0,0 1 0,-2 1 0,-1-2 0,-2 0 0,0 1 0,3-1 0,2 0 0,2-1 0,4 1 0,3-1 0,9 3 0,4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4:24:01.689"/>
    </inkml:context>
    <inkml:brush xml:id="br0">
      <inkml:brushProperty name="width" value="0.05" units="cm"/>
      <inkml:brushProperty name="height" value="0.05" units="cm"/>
      <inkml:brushProperty name="color" value="#004F8B"/>
    </inkml:brush>
  </inkml:definitions>
  <inkml:trace contextRef="#ctx0" brushRef="#br0">162 0 24575,'15'0'0,"16"1"0,22 9 0,15 13 0,5 19 0,-5 13 0,-11 7 0,-11-2 0,-12-6 0,-9-3 0,-6-4 0,-3-2 0,-4 0 0,-3-5 0,-2-2 0,-2-7 0,-1-3 0,-2 0 0,1 2 0,-1 7 0,2 4 0,0 4 0,0 0 0,0-5 0,-2-7 0,0-5 0,-2-3 0,0 4 0,0 8 0,0 11 0,0 11 0,0 4 0,0-3 0,0-5 0,0-13 0,0-9 0,0-6 0,0 2 0,-2 7 0,-1 5 0,-1 3 0,-1-3 0,-1-5 0,0-7 0,0-7 0,0-3 0,-1-1 0,-2-1 0,-3 1 0,-2 1 0,-4 3 0,-3 3 0,-5 4 0,-5 4 0,-3 5 0,-3 3 0,-3 0 0,2-3 0,1-5 0,3-6 0,3-3 0,0-1 0,0-1 0,2-1 0,1-1 0,2-1 0,2-2 0,3-3 0,2-2 0,1-1 0,3-1 0,-1 1 0,3-3 0,2 0 0,1-3 0,3-4 0,4-2 0,1 0 0,2-2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4:24:05.573"/>
    </inkml:context>
    <inkml:brush xml:id="br0">
      <inkml:brushProperty name="width" value="0.05" units="cm"/>
      <inkml:brushProperty name="height" value="0.05" units="cm"/>
      <inkml:brushProperty name="color" value="#004F8B"/>
    </inkml:brush>
  </inkml:definitions>
  <inkml:trace contextRef="#ctx0" brushRef="#br0">0 41 24575,'0'13'0,"0"2"0,0 6 0,0-3 0,0-3 0,0-2 0,0-4 0,0-1 0,0-2 0,0 0 0,0 1 0,0 1 0,0 3 0,0 1 0,0 1 0,0-1 0,0-4 0,0-6 0,0-8 0,0-1 0,0-1 0,0 1 0,0 1 0,0 0 0,0 0 0,0-1 0,1 0 0,0 0 0,1 0 0,1-1 0,-1 0 0,0 2 0,0 0 0,-1 1 0,0 0 0,1 0 0,0-1 0,0-2 0,-1 0 0,2-2 0,1-2 0,-1 0 0,0-1 0,-1-1 0,0 2 0,-2 2 0,0 1 0,0 4 0,0 3 0,0 6 0,0 6 0,0 2 0,0-1 0,0 1 0,0 0 0,0 1 0,0 7 0,0 3 0,0 4 0,0-3 0,0-5 0,0-3 0,0-2 0,0-1 0,0 1 0,0-4 0,0-5 0,0-5 0,0-5 0,1 0 0,2 0 0,2 1 0,2 1 0,-2-1 0,2 0 0,1 1 0,2 0 0,3 0 0,0 0 0,1 0 0,2-1 0,1 1 0,1 1 0,0 1 0,-4 0 0,-2 0 0,0-1 0,-1 0 0,1 0 0,2 0 0,-1 0 0,-1 0 0,-2 2 0,-2 0 0,0 0 0,1 0 0,0 0 0,-1 0 0,-4 0 0,-1 0 0,-3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4:27:03.149"/>
    </inkml:context>
    <inkml:brush xml:id="br0">
      <inkml:brushProperty name="width" value="0.05" units="cm"/>
      <inkml:brushProperty name="height" value="0.05" units="cm"/>
      <inkml:brushProperty name="color" value="#E71224"/>
    </inkml:brush>
  </inkml:definitions>
  <inkml:trace contextRef="#ctx0" brushRef="#br0">0 909 24575,'18'0'0,"6"1"0,10 5 0,2 4 0,1 2 0,-2 1 0,1 0 0,6 3 0,3 3 0,6-1 0,-1 1 0,-5-4 0,-4-3 0,-5-3 0,2-2 0,0-1 0,2 0 0,-2 0 0,-1-2 0,-2-2 0,-3-1 0,0-1 0,-1 0 0,1 0 0,1 0 0,1 0 0,0 0 0,1 0 0,4 0 0,1 0 0,2 0 0,6 0 0,2-2 0,3-4 0,-3-2 0,-3-3 0,-3 0 0,0 1 0,1-1 0,2 2 0,5-2 0,6 0 0,5 0 0,5-2 0,4 2 0,3-3 0,5-2 0,9 1 0,-40 7 0,1-1 0,5 0 0,0 0 0,3 1 0,-1 0 0,-4 0 0,-2-1 0,33-7 0,-28 4 0,-21 1 0,-5 0 0,2-2 0,6-2 0,2 1 0,-2 4 0,-3 1 0,0-1 0,1-1 0,4-4 0,2-2 0,5-2 0,2 0 0,6-3 0,6-3 0,2-4 0,3-1 0,-2-3 0,1 3 0,-5-2 0,-2 2 0,-6 1 0,-8 2 0,-3 1 0,-2-1 0,1-1 0,5-3 0,7-2 0,5-1 0,5 0 0,1 2 0,-3 5 0,-6 4 0,-8 5 0,-6 5 0,-6 0 0,-6 2 0,-5 1 0,-6 3 0,-4 2 0,-4 2 0,-4 2 0,-4 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14:27:05.215"/>
    </inkml:context>
    <inkml:brush xml:id="br0">
      <inkml:brushProperty name="width" value="0.05" units="cm"/>
      <inkml:brushProperty name="height" value="0.05" units="cm"/>
      <inkml:brushProperty name="color" value="#E71224"/>
    </inkml:brush>
  </inkml:definitions>
  <inkml:trace contextRef="#ctx0" brushRef="#br0">1 0 24575,'11'0'0,"8"0"0,14 0 0,11 0 0,4 0 0,3 0 0,-5 0 0,-5 0 0,-1 0 0,-7 2 0,-2 0 0,-2 2 0,-3 2 0,-2 1 0,0 2 0,-2 0 0,0-1 0,-3-1 0,-4-1 0,-6-1 0,-5-1 0,-6-1 0,-4 0 0,-4 2 0,-2-1 0,1 1 0,-1 1 0,1 1 0,-3 2 0,-4 3 0,-1 1 0,-3 2 0,0-1 0,2 2 0,0 0 0,2 0 0,2 0 0,2-2 0,4-2 0,2-1 0,2-1 0,1-1 0,1-1 0,1-1 0,-1 0 0,0 1 0,0 0 0,0 2 0,-2 1 0,0 2 0,1-1 0,0-2 0,1-3 0,0-1 0,1-3 0,1-4 0,2-5 0,0 2 0,0-2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08:04:58.902"/>
    </inkml:context>
    <inkml:brush xml:id="br0">
      <inkml:brushProperty name="width" value="0.025" units="cm"/>
      <inkml:brushProperty name="height" value="0.025" units="cm"/>
      <inkml:brushProperty name="color" value="#004F8B"/>
    </inkml:brush>
  </inkml:definitions>
  <inkml:trace contextRef="#ctx0" brushRef="#br0">372 1 24575,'-8'0'0,"0"2"0,0 3 0,2 2 0,2 0 0,1-1 0,-2 0 0,-1 1 0,-1 2 0,-2-1 0,0-1 0,2 0 0,2-2 0,0 1 0,-1-1 0,1 0 0,0-1 0,1 1 0,2-2 0,-1 1 0,0 2 0,-3 3 0,-1 1 0,-1 2 0,1-1 0,2-3 0,0 0 0,2-2 0,1 1 0,-1 2 0,0 1 0,-1 0 0,-1 0 0,2-1 0,0-1 0,2-1 0,1 0 0,0 2 0,0 2 0,0 1 0,0 2 0,0 0 0,0-2 0,0 0 0,0 1 0,0-1 0,0 2 0,0-1 0,0 0 0,0-3 0,0-2 0,0 0 0,0-2 0,0 3 0,0-1 0,0 1 0,0 1 0,0-1 0,0 2 0,0 1 0,0 0 0,0 2 0,0 0 0,0 2 0,0 1 0,0-1 0,0 0 0,0-2 0,0 0 0,0-1 0,0-1 0,0 0 0,1-1 0,1 1 0,1 2 0,1 1 0,-1 4 0,0 2 0,-1 0 0,2 1 0,0 0 0,-1-1 0,1 1 0,0 0 0,-1 1 0,0 1 0,0 3 0,-1-1 0,2 1 0,-1 0 0,2-2 0,-2-2 0,-1-1 0,-1-2 0,-1 0 0,2 1 0,0 1 0,0 0 0,0 0 0,-2-1 0,0-1 0,0 1 0,0-1 0,0-1 0,0-2 0,0 2 0,0 2 0,0 4 0,0 2 0,0 0 0,0-1 0,0-1 0,0 0 0,0-3 0,0 3 0,0 0 0,0 2 0,0 0 0,0 0 0,0 0 0,0-2 0,0 0 0,0-2 0,0 1 0,0 3 0,0 3 0,0 3 0,0 1 0,0 0 0,0-2 0,0-4 0,0-3 0,0-6 0,-2-3 0,0-2 0,-1-1 0,-1-1 0,-1 1 0,-3-1 0,-2 1 0,-4 4 0,-4 3 0,-3 2 0,-3 5 0,1-2 0,1-3 0,3-4 0,5-3 0,2-1 0,1-1 0,1-2 0,0-2 0,1-2 0,1-1 0,2 0 0,1-2 0,3-2 0,3-2 0,2-2 0,3 2 0,1 0 0,-2 0 0,-1-1 0,0 0 0,1-1 0,1 1 0,1 0 0,0 1 0,-1-1 0,1 1 0,-1 0 0,1 0 0,-1 0 0,0 1 0,1 0 0,-2 1 0,-1 1 0,0 2 0,0 0 0,1 1 0,0 0 0,1 2 0,0 0 0,-1 1 0,2 2 0,0 2 0,-1-1 0,0-1 0,-1-3 0,0 1 0,0-1 0,0 1 0,0 1 0,0 0 0,2 1 0,-1 1 0,0-1 0,0-1 0,-1 1 0,0 0 0,0-1 0,-2 0 0,1-1 0,-1-1 0,-1 1 0,1-1 0,-1 2 0,0-1 0,1 0 0,-1 0 0,2 0 0,-1-1 0,-1 0 0,0 0 0,-1 1 0,1 1 0,1 2 0,0 2 0,-1 0 0,1 0 0,2 1 0,-1-1 0,1 0 0,0 0 0,-1 0 0,1 0 0,-1 0 0,-1 0 0,0 0 0,1 0 0,-1 1 0,1-1 0,-1 0 0,0 0 0,0 0 0,-1 0 0,1 0 0,-1 0 0,0 0 0,0 0 0,-1 0 0,-1 1 0,0-1 0,0-2 0,0 0 0,0 0 0,1-1 0,1 1 0,0 0 0,0 1 0,-2 1 0,0 0 0,0 2 0,0 0 0,0 1 0,0 1 0,1 0 0,1 3 0,1 1 0,0 1 0,-1 0 0,2 2 0,0 2 0,0 2 0,0 5 0,-2 0 0,0-2 0,0-3 0,0-5 0,0-1 0,-1 0 0,-1-1 0,0 0 0,0-2 0,0-3 0,0-1 0,0-1 0,0 7 0,4 11 0,4 10 0,6 8 0,1 1 0,-2-7 0,-3-7 0,-3-8 0,-1-8 0,-1-2 0,-1-1 0,-1 1 0,2-1 0,1-1 0,0-5 0,1-4 0,1-5 0,3-3 0,2 0 0,4-1 0,1 0 0,2 0 0,1 0 0,0 0 0,-1 0 0,1-1 0,1-1 0,-2-1 0,0-3 0,-2-1 0,0-1 0,2-1 0,0 1 0,-2 1 0,-2 1 0,-1 0 0,-2 2 0,-2 1 0,-1 0 0,-2 0 0,-2 0 0,0 0 0,-1 0 0,3 0 0,-2 0 0,1 1 0,-4 1 0,-2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08:05:07.985"/>
    </inkml:context>
    <inkml:brush xml:id="br0">
      <inkml:brushProperty name="width" value="0.025" units="cm"/>
      <inkml:brushProperty name="height" value="0.025" units="cm"/>
      <inkml:brushProperty name="color" value="#004F8B"/>
    </inkml:brush>
  </inkml:definitions>
  <inkml:trace contextRef="#ctx0" brushRef="#br0">1 879 24575,'14'-10'0,"15"-9"0,17-11 0,14-10 0,6-2 0,-4 2 0,-4 6 0,-7 5 0,-8 5 0,-1 2 0,-4 2 0,1-2 0,2-1 0,3-3 0,4-4 0,2-1 0,-1-1 0,-4 3 0,-5 2 0,-8 2 0,-5 3 0,-2 1 0,-2 1 0,-1-1 0,1 0 0,2 0 0,0 2 0,0 1 0,-1 2 0,-1 1 0,0 0 0,0 0 0,0 0 0,1 2 0,1 0 0,0 2 0,-2 1 0,-5 2 0,-2 2 0,-3 2 0,-1 0 0,-2 3 0,-2-1 0,0 2 0,2 0 0,-1 0 0,-1-3 0,-1 0 0,-4-1 0,-1 1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08:05:10.536"/>
    </inkml:context>
    <inkml:brush xml:id="br0">
      <inkml:brushProperty name="width" value="0.025" units="cm"/>
      <inkml:brushProperty name="height" value="0.025" units="cm"/>
      <inkml:brushProperty name="color" value="#004F8B"/>
    </inkml:brush>
  </inkml:definitions>
  <inkml:trace contextRef="#ctx0" brushRef="#br0">1 1 24575,'9'0'0,"4"0"0,15 0 0,9 0 0,12 0 0,3 0 0,1 0 0,-1 0 0,-5 0 0,-1 0 0,-7 0 0,-4 0 0,-6 0 0,-4 0 0,-3 0 0,1 0 0,-3 0 0,-1 0 0,-3 0 0,-2 0 0,0 0 0,0 0 0,1 0 0,1 0 0,3 0 0,1 0 0,0 0 0,-3 0 0,-5 1 0,-5 2 0,-5 2 0,-4 1 0,-3-1 0,-3 0 0,0 0 0,0-1 0,1 1 0,0 0 0,0 1 0,1 0 0,0 2 0,0 1 0,-1 2 0,-1 1 0,-1 0 0,0 1 0,0-1 0,2-2 0,0-1 0,2 0 0,2-2 0,0 0 0,1 1 0,-2 0 0,1-1 0,1 1 0,-1 1 0,-2 3 0,-2 4 0,-3 4 0,-1 3 0,0 1 0,0-1 0,2-5 0,2-1 0,0-1 0,0 0 0,-1 0 0,2 0 0,1-3 0,4-2 0,0 3 0,-1 5 0,-2 4 0,-1 3 0,-1-3 0,2-6 0,1-6 0,3-6 0,-2-3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33350" y="228600"/>
            <a:ext cx="5009689" cy="28194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285750" y="3381022"/>
            <a:ext cx="4724400" cy="530577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Slide Number Placeholder 6"/>
          <p:cNvSpPr>
            <a:spLocks noGrp="1"/>
          </p:cNvSpPr>
          <p:nvPr>
            <p:ph type="sldNum" sz="quarter" idx="5"/>
          </p:nvPr>
        </p:nvSpPr>
        <p:spPr>
          <a:xfrm>
            <a:off x="2913757" y="8686801"/>
            <a:ext cx="2228850" cy="457200"/>
          </a:xfrm>
          <a:prstGeom prst="rect">
            <a:avLst/>
          </a:prstGeom>
        </p:spPr>
        <p:txBody>
          <a:bodyPr vert="horz" lIns="91440" tIns="45720" rIns="91440" bIns="45720" rtlCol="0" anchor="b"/>
          <a:lstStyle>
            <a:lvl1pPr algn="r">
              <a:defRPr sz="1200"/>
            </a:lvl1pPr>
          </a:lstStyle>
          <a:p>
            <a:fld id="{79BBB273-ED2E-2840-AC7B-A59E28EC39A1}" type="slidenum">
              <a:rPr lang="en-IL" smtClean="0"/>
              <a:t>‹#›</a:t>
            </a:fld>
            <a:endParaRPr lang="en-IL"/>
          </a:p>
        </p:txBody>
      </p:sp>
    </p:spTree>
    <p:extLst>
      <p:ext uri="{BB962C8B-B14F-4D97-AF65-F5344CB8AC3E}">
        <p14:creationId xmlns:p14="http://schemas.microsoft.com/office/powerpoint/2010/main" val="3807749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r>
              <a:rPr lang="en-US" dirty="0"/>
              <a:t>Welcome to Course 3. In this course, we move beyond supervised learning and explore three important areas in machine learning: </a:t>
            </a:r>
            <a:r>
              <a:rPr lang="en-US" b="1" dirty="0"/>
              <a:t>unsupervised learning, recommender systems, and reinforcement learning</a:t>
            </a:r>
            <a:r>
              <a:rPr lang="en-US" dirty="0"/>
              <a:t>.</a:t>
            </a:r>
          </a:p>
          <a:p>
            <a:r>
              <a:rPr lang="en-US" dirty="0"/>
              <a:t>Until now, we focused mainly on supervised learning, where models learn from labeled data. In this course, we will study new types of learning where the structure is different. In unsupervised learning, the model works with data that has no labels and tries to discover patterns or hidden structure. </a:t>
            </a:r>
          </a:p>
          <a:p>
            <a:r>
              <a:rPr lang="en-US" dirty="0"/>
              <a:t>In recommender systems, we learn how systems suggest products, movies, or content based on user behavior. </a:t>
            </a:r>
          </a:p>
          <a:p>
            <a:r>
              <a:rPr lang="en-US" dirty="0"/>
              <a:t>In reinforcement learning, we study how an agent learns to make decisions by interacting with an environment and receiving rewards.</a:t>
            </a:r>
          </a:p>
          <a:p>
            <a:endParaRPr lang="en-US" dirty="0"/>
          </a:p>
          <a:p>
            <a:r>
              <a:rPr lang="en-US" dirty="0"/>
              <a:t>This course will help students understand how modern intelligent systems work in real-world applications such as online shopping, streaming platforms, robotics, and game playing. By the end of this course, students will see how machine learning can go beyond prediction and become a tool for discovering structure, making recommendations, and learning through experience.</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1</a:t>
            </a:fld>
            <a:endParaRPr lang="en-IL"/>
          </a:p>
        </p:txBody>
      </p:sp>
    </p:spTree>
    <p:extLst>
      <p:ext uri="{BB962C8B-B14F-4D97-AF65-F5344CB8AC3E}">
        <p14:creationId xmlns:p14="http://schemas.microsoft.com/office/powerpoint/2010/main" val="2817920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228600"/>
            <a:ext cx="5010150" cy="2819400"/>
          </a:xfrm>
        </p:spPr>
      </p:sp>
      <p:sp>
        <p:nvSpPr>
          <p:cNvPr id="3" name="Notes Placeholder 2"/>
          <p:cNvSpPr>
            <a:spLocks noGrp="1"/>
          </p:cNvSpPr>
          <p:nvPr>
            <p:ph type="body" idx="1"/>
          </p:nvPr>
        </p:nvSpPr>
        <p:spPr>
          <a:xfrm>
            <a:off x="209550" y="3381022"/>
            <a:ext cx="4800600" cy="5305779"/>
          </a:xfrm>
        </p:spPr>
        <p:txBody>
          <a:bodyPr/>
          <a:lstStyle/>
          <a:p>
            <a:r>
              <a:rPr lang="en-US" dirty="0"/>
              <a:t>In this slide, we introduce learning methods that go beyond supervised learning. Until now, we worked with labeled data, where the model learns from correct answers. In this course, we study other important types of learning.</a:t>
            </a:r>
          </a:p>
          <a:p>
            <a:r>
              <a:rPr lang="en-US" dirty="0"/>
              <a:t>First, we explore unsupervised learning, where the data has no labels and the algorithm must find patterns by itself. This includes clustering, which groups similar data points, and anomaly detection, which identifies unusual examples.</a:t>
            </a:r>
          </a:p>
          <a:p>
            <a:r>
              <a:rPr lang="en-US" dirty="0"/>
              <a:t>We will also study recommender systems, which suggest products or content based on user behavior, and reinforcement learning, where an agent learns by interacting with an environment and receiving rewards. This slide gives a simple overview of the main topics of Course 3.</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2</a:t>
            </a:fld>
            <a:endParaRPr lang="en-IL"/>
          </a:p>
        </p:txBody>
      </p:sp>
    </p:spTree>
    <p:extLst>
      <p:ext uri="{BB962C8B-B14F-4D97-AF65-F5344CB8AC3E}">
        <p14:creationId xmlns:p14="http://schemas.microsoft.com/office/powerpoint/2010/main" val="2702434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79BBB273-ED2E-2840-AC7B-A59E28EC39A1}" type="slidenum">
              <a:rPr lang="en-IL" smtClean="0"/>
              <a:t>3</a:t>
            </a:fld>
            <a:endParaRPr lang="en-IL"/>
          </a:p>
        </p:txBody>
      </p:sp>
    </p:spTree>
    <p:extLst>
      <p:ext uri="{BB962C8B-B14F-4D97-AF65-F5344CB8AC3E}">
        <p14:creationId xmlns:p14="http://schemas.microsoft.com/office/powerpoint/2010/main" val="2266314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In this slide, we begin the topic of clustering, which is one of the main techniques in unsupervised learning. Clustering is a method used to group similar data points together when we do not have labeled outputs.</a:t>
            </a:r>
          </a:p>
          <a:p>
            <a:endParaRPr lang="en-US" dirty="0"/>
          </a:p>
          <a:p>
            <a:r>
              <a:rPr lang="en-US" dirty="0"/>
              <a:t>Unlike supervised learning, clustering does not try to predict a specific target value. Instead, it looks at the data and tries to discover natural groupings or patterns. The algorithm analyzes the similarity between data points and places similar ones in the same group, called a cluster.</a:t>
            </a:r>
          </a:p>
          <a:p>
            <a:endParaRPr lang="en-US" dirty="0"/>
          </a:p>
          <a:p>
            <a:r>
              <a:rPr lang="en-US" dirty="0"/>
              <a:t>Clustering helps us understand the structure of data. For example, it can group customers with similar behavior, group similar news articles, or group patients with similar medical characteristics. The main idea of clustering is simple: similar examples should belong to the same group, and different examples should belong to different groups.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4</a:t>
            </a:fld>
            <a:endParaRPr lang="en-IL"/>
          </a:p>
        </p:txBody>
      </p:sp>
    </p:spTree>
    <p:extLst>
      <p:ext uri="{BB962C8B-B14F-4D97-AF65-F5344CB8AC3E}">
        <p14:creationId xmlns:p14="http://schemas.microsoft.com/office/powerpoint/2010/main" val="3536137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reminds us what supervised learning looks like. In supervised learning, each training example includes both the input features and the correct output label. The training set is written as pairs ((x^{(</a:t>
            </a:r>
            <a:r>
              <a:rPr lang="en-US" dirty="0" err="1"/>
              <a:t>i</a:t>
            </a:r>
            <a:r>
              <a:rPr lang="en-US" dirty="0"/>
              <a:t>)}, y^{(</a:t>
            </a:r>
            <a:r>
              <a:rPr lang="en-US" dirty="0" err="1"/>
              <a:t>i</a:t>
            </a:r>
            <a:r>
              <a:rPr lang="en-US" dirty="0"/>
              <a:t>)})), which means that for every input (x), we know the correct answer (y).</a:t>
            </a:r>
          </a:p>
          <a:p>
            <a:r>
              <a:rPr lang="en-US" dirty="0"/>
              <a:t>In the figure, we see two features, (x_1) and (x_2), and two different classes shown with different symbols. The red line represents the decision boundary that separates the two classes. The model learns this boundary using the labeled training data.</a:t>
            </a:r>
          </a:p>
          <a:p>
            <a:r>
              <a:rPr lang="en-US" dirty="0"/>
              <a:t>The key idea is that in supervised learning, the algorithm learns from “right answers.” It uses the labeled examples to find a rule or boundary that can correctly classify new data points. </a:t>
            </a:r>
          </a:p>
          <a:p>
            <a:r>
              <a:rPr lang="en-US" dirty="0"/>
              <a:t>This slide prepares us to compare supervised learning with clustering, where no labels are given.</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5</a:t>
            </a:fld>
            <a:endParaRPr lang="en-IL"/>
          </a:p>
        </p:txBody>
      </p:sp>
    </p:spTree>
    <p:extLst>
      <p:ext uri="{BB962C8B-B14F-4D97-AF65-F5344CB8AC3E}">
        <p14:creationId xmlns:p14="http://schemas.microsoft.com/office/powerpoint/2010/main" val="1140743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shows how unsupervised learning is different from supervised learning. In unsupervised learning, the training set contains only input features, written as (x^(1), x^(2), x^{(3), …, x^(m)). There are no output labels (y). This means the algorithm does not know the correct answers in advance.</a:t>
            </a:r>
          </a:p>
          <a:p>
            <a:r>
              <a:rPr lang="en-US" dirty="0"/>
              <a:t>In the figure, we see data points plotted using two features, (x_1) and (x_2). Unlike supervised learning, there are no class labels or decision boundaries. However, we can visually notice that the points form natural groups.</a:t>
            </a:r>
          </a:p>
          <a:p>
            <a:r>
              <a:rPr lang="en-US" dirty="0"/>
              <a:t>The goal of unsupervised learning is to discover this hidden structure automatically. The algorithm tries to identify patterns or clusters in the data without being told what the correct groups are. This is the key idea behind clustering and other unsupervised methods.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6</a:t>
            </a:fld>
            <a:endParaRPr lang="en-IL"/>
          </a:p>
        </p:txBody>
      </p:sp>
    </p:spTree>
    <p:extLst>
      <p:ext uri="{BB962C8B-B14F-4D97-AF65-F5344CB8AC3E}">
        <p14:creationId xmlns:p14="http://schemas.microsoft.com/office/powerpoint/2010/main" val="2240738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In this slide, we see unsupervised learning applied to clustering. The training set contains only inputs written as x^(1), x^(2), x^(3), …, x^(m). There are no output labels y. This means the algorithm must discover patterns in the data by itself.</a:t>
            </a:r>
          </a:p>
          <a:p>
            <a:r>
              <a:rPr lang="en-US" dirty="0"/>
              <a:t>In clustering, the goal is to divide the data into K groups called clusters. Each example x^(</a:t>
            </a:r>
            <a:r>
              <a:rPr lang="en-US" dirty="0" err="1"/>
              <a:t>i</a:t>
            </a:r>
            <a:r>
              <a:rPr lang="en-US" dirty="0"/>
              <a:t>) is assigned to one of the K clusters. For example, if we have K clusters, each point will belong to cluster 1, cluster 2, up to cluster K.</a:t>
            </a:r>
          </a:p>
          <a:p>
            <a:r>
              <a:rPr lang="en-US" dirty="0"/>
              <a:t>So clustering automatically groups similar data points together by minimizing distances inside each cluster.</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7</a:t>
            </a:fld>
            <a:endParaRPr lang="en-IL"/>
          </a:p>
        </p:txBody>
      </p:sp>
    </p:spTree>
    <p:extLst>
      <p:ext uri="{BB962C8B-B14F-4D97-AF65-F5344CB8AC3E}">
        <p14:creationId xmlns:p14="http://schemas.microsoft.com/office/powerpoint/2010/main" val="496961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shows some important applications of clustering in real life. Clustering is not only a theoretical idea, but it is widely used in many fields.</a:t>
            </a:r>
          </a:p>
          <a:p>
            <a:r>
              <a:rPr lang="en-US" dirty="0"/>
              <a:t>One application is grouping similar </a:t>
            </a:r>
            <a:r>
              <a:rPr lang="en-US" b="1" dirty="0">
                <a:solidFill>
                  <a:srgbClr val="1501FE"/>
                </a:solidFill>
              </a:rPr>
              <a:t>news articles</a:t>
            </a:r>
            <a:r>
              <a:rPr lang="en-US" dirty="0"/>
              <a:t>. For example, a news website can automatically group articles that talk about the same event or topic. The algorithm looks at the content of each article and groups similar ones together, even without labeled categories.</a:t>
            </a:r>
          </a:p>
          <a:p>
            <a:r>
              <a:rPr lang="en-US" dirty="0"/>
              <a:t>Another important application is </a:t>
            </a:r>
            <a:r>
              <a:rPr lang="en-US" b="1" dirty="0">
                <a:solidFill>
                  <a:srgbClr val="1501FE"/>
                </a:solidFill>
              </a:rPr>
              <a:t>market segmentation</a:t>
            </a:r>
            <a:r>
              <a:rPr lang="en-US" dirty="0"/>
              <a:t>. Companies use clustering to divide customers into groups based on similar behavior, interests, or buying patterns. Each group can then be targeted with different marketing strategies. This helps businesses make better decisions and improve customer satisfaction.</a:t>
            </a:r>
          </a:p>
          <a:p>
            <a:r>
              <a:rPr lang="en-US" dirty="0"/>
              <a:t>Clustering is also used in </a:t>
            </a:r>
            <a:r>
              <a:rPr lang="en-US" b="1" dirty="0">
                <a:solidFill>
                  <a:srgbClr val="1501FE"/>
                </a:solidFill>
              </a:rPr>
              <a:t>DNA analysis</a:t>
            </a:r>
            <a:r>
              <a:rPr lang="en-US" dirty="0"/>
              <a:t>. In biology and medicine, scientists group genes or patients based on similar patterns. This can help in understanding diseases, discovering new treatments, or identifying genetic similarities.</a:t>
            </a:r>
          </a:p>
          <a:p>
            <a:r>
              <a:rPr lang="en-US" dirty="0"/>
              <a:t>In </a:t>
            </a:r>
            <a:r>
              <a:rPr lang="en-US" b="1" dirty="0">
                <a:solidFill>
                  <a:srgbClr val="1501FE"/>
                </a:solidFill>
              </a:rPr>
              <a:t>astronomical data analysis</a:t>
            </a:r>
            <a:r>
              <a:rPr lang="en-US" dirty="0"/>
              <a:t>, clustering helps scientists group stars, galaxies, or other space objects based on their properties. Since space data is very large and complex, clustering helps researchers find meaningful structure in it.</a:t>
            </a:r>
          </a:p>
          <a:p>
            <a:r>
              <a:rPr lang="en-US" dirty="0"/>
              <a:t>Overall, clustering helps us discover hidden patterns in data across many domains such as business, healthcare, science, and technology.</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8</a:t>
            </a:fld>
            <a:endParaRPr lang="en-IL"/>
          </a:p>
        </p:txBody>
      </p:sp>
    </p:spTree>
    <p:extLst>
      <p:ext uri="{BB962C8B-B14F-4D97-AF65-F5344CB8AC3E}">
        <p14:creationId xmlns:p14="http://schemas.microsoft.com/office/powerpoint/2010/main" val="21930019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In this section, we begin to understand the intuition behind the K-means clustering algorithm. K-means is one of the most popular and widely used clustering methods. The main idea is simple: we choose K cluster centers and assign each data point to the nearest center. Then, we update each center to be the average of the points assigned to it.</a:t>
            </a:r>
          </a:p>
          <a:p>
            <a:r>
              <a:rPr lang="en-US" dirty="0"/>
              <a:t>By repeating these two steps, assignment and update, the algorithm gradually forms clear clusters in the data. This section focuses on building a strong conceptual understanding of how K-means works before going into mathematical details.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9</a:t>
            </a:fld>
            <a:endParaRPr lang="en-IL"/>
          </a:p>
        </p:txBody>
      </p:sp>
    </p:spTree>
    <p:extLst>
      <p:ext uri="{BB962C8B-B14F-4D97-AF65-F5344CB8AC3E}">
        <p14:creationId xmlns:p14="http://schemas.microsoft.com/office/powerpoint/2010/main" val="1686838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In this slide, we see a dataset plotted using two features. The points are not labeled, and we do not know how many groups exist. However, by looking at the figure, we can visually notice that the data seems to form natural clusters.</a:t>
            </a:r>
          </a:p>
          <a:p>
            <a:r>
              <a:rPr lang="en-US" dirty="0"/>
              <a:t>The goal of K-means is to automatically discover these groups. Even though the data points are mixed together at the beginning, the algorithm will try to separate them into meaningful clusters based on similarity.</a:t>
            </a:r>
          </a:p>
          <a:p>
            <a:r>
              <a:rPr lang="en-US" dirty="0"/>
              <a:t>This slide helps us build intuition: clustering starts with raw, unlabeled data, and our task is to find structure inside it.</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10</a:t>
            </a:fld>
            <a:endParaRPr lang="en-IL"/>
          </a:p>
        </p:txBody>
      </p:sp>
    </p:spTree>
    <p:extLst>
      <p:ext uri="{BB962C8B-B14F-4D97-AF65-F5344CB8AC3E}">
        <p14:creationId xmlns:p14="http://schemas.microsoft.com/office/powerpoint/2010/main" val="453181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In this slide, we see the first step of the K-means algorithm. The colored X marks represent the initial cluster centers, also called centroids. These centers are usually chosen randomly at the beginning.</a:t>
            </a:r>
          </a:p>
          <a:p>
            <a:r>
              <a:rPr lang="en-US" dirty="0"/>
              <a:t>At this stage, the data points are still unlabeled. We have not yet assigned them to any cluster. The centroids are just starting positions that the algorithm will use to begin grouping the data.</a:t>
            </a:r>
          </a:p>
          <a:p>
            <a:r>
              <a:rPr lang="en-US" dirty="0"/>
              <a:t>This slide shows that K-means starts with an initial guess for the cluster centers, and then it will improve these positions step by step.</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11</a:t>
            </a:fld>
            <a:endParaRPr lang="en-IL"/>
          </a:p>
        </p:txBody>
      </p:sp>
    </p:spTree>
    <p:extLst>
      <p:ext uri="{BB962C8B-B14F-4D97-AF65-F5344CB8AC3E}">
        <p14:creationId xmlns:p14="http://schemas.microsoft.com/office/powerpoint/2010/main" val="2191336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In this slide, we see Step 1 of the K-means algorithm. In this step, we assign each data point x^(</a:t>
            </a:r>
            <a:r>
              <a:rPr lang="en-US" dirty="0" err="1"/>
              <a:t>i</a:t>
            </a:r>
            <a:r>
              <a:rPr lang="en-US" dirty="0"/>
              <a:t>) to the nearest centroid. The centroids are shown as colored X marks.</a:t>
            </a:r>
          </a:p>
          <a:p>
            <a:r>
              <a:rPr lang="en-US" dirty="0"/>
              <a:t>For every example x^(</a:t>
            </a:r>
            <a:r>
              <a:rPr lang="en-US" dirty="0" err="1"/>
              <a:t>i</a:t>
            </a:r>
            <a:r>
              <a:rPr lang="en-US" dirty="0"/>
              <a:t>), we compute its distance to each centroid. The most common distance used is the Euclidean distance. Then we </a:t>
            </a:r>
            <a:r>
              <a:rPr lang="en-US" dirty="0">
                <a:solidFill>
                  <a:srgbClr val="1501FE"/>
                </a:solidFill>
              </a:rPr>
              <a:t>assign x^(</a:t>
            </a:r>
            <a:r>
              <a:rPr lang="en-US" dirty="0" err="1">
                <a:solidFill>
                  <a:srgbClr val="1501FE"/>
                </a:solidFill>
              </a:rPr>
              <a:t>i</a:t>
            </a:r>
            <a:r>
              <a:rPr lang="en-US" dirty="0">
                <a:solidFill>
                  <a:srgbClr val="1501FE"/>
                </a:solidFill>
              </a:rPr>
              <a:t>) to the cluster whose centroid is closest</a:t>
            </a:r>
            <a:r>
              <a:rPr lang="en-US" dirty="0"/>
              <a:t>.</a:t>
            </a:r>
          </a:p>
          <a:p>
            <a:r>
              <a:rPr lang="en-US" dirty="0"/>
              <a:t>In simple terms, each point joins the group of the nearest center. After this step, every data point belongs to one of the clusters. This is called the assignment step, and it is the first main step in K-means.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12</a:t>
            </a:fld>
            <a:endParaRPr lang="en-IL"/>
          </a:p>
        </p:txBody>
      </p:sp>
    </p:spTree>
    <p:extLst>
      <p:ext uri="{BB962C8B-B14F-4D97-AF65-F5344CB8AC3E}">
        <p14:creationId xmlns:p14="http://schemas.microsoft.com/office/powerpoint/2010/main" val="4146106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In this slide, we see Step 2 of the K-means algorithm. After assigning each data point x^(</a:t>
            </a:r>
            <a:r>
              <a:rPr lang="en-US" dirty="0" err="1"/>
              <a:t>i</a:t>
            </a:r>
            <a:r>
              <a:rPr lang="en-US" dirty="0"/>
              <a:t>) to its closest centroid, we now </a:t>
            </a:r>
            <a:r>
              <a:rPr lang="en-US" dirty="0">
                <a:solidFill>
                  <a:srgbClr val="1501FE"/>
                </a:solidFill>
              </a:rPr>
              <a:t>recompute the centroids.</a:t>
            </a:r>
          </a:p>
          <a:p>
            <a:r>
              <a:rPr lang="en-US" dirty="0"/>
              <a:t>For each cluster k, we calculate a new centroid mu^(k). The new centroid is the average of all points assigned to that cluster. In simple English, </a:t>
            </a:r>
            <a:r>
              <a:rPr lang="en-US" dirty="0">
                <a:solidFill>
                  <a:srgbClr val="1501FE"/>
                </a:solidFill>
              </a:rPr>
              <a:t>we add all x^(</a:t>
            </a:r>
            <a:r>
              <a:rPr lang="en-US" dirty="0" err="1">
                <a:solidFill>
                  <a:srgbClr val="1501FE"/>
                </a:solidFill>
              </a:rPr>
              <a:t>i</a:t>
            </a:r>
            <a:r>
              <a:rPr lang="en-US" dirty="0">
                <a:solidFill>
                  <a:srgbClr val="1501FE"/>
                </a:solidFill>
              </a:rPr>
              <a:t>) in cluster k and divide by the number of points in that cluster</a:t>
            </a:r>
            <a:r>
              <a:rPr lang="en-US" dirty="0"/>
              <a:t>.</a:t>
            </a:r>
          </a:p>
          <a:p>
            <a:r>
              <a:rPr lang="en-US" dirty="0"/>
              <a:t>This step moves the centroids to the center of their assigned points. After updating the centroids, we repeat Step 1 and Step 2 again. </a:t>
            </a:r>
          </a:p>
          <a:p>
            <a:r>
              <a:rPr lang="en-US" dirty="0"/>
              <a:t>By repeating assignment and update, the clusters gradually become more accurate and stable.</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13</a:t>
            </a:fld>
            <a:endParaRPr lang="en-IL"/>
          </a:p>
        </p:txBody>
      </p:sp>
    </p:spTree>
    <p:extLst>
      <p:ext uri="{BB962C8B-B14F-4D97-AF65-F5344CB8AC3E}">
        <p14:creationId xmlns:p14="http://schemas.microsoft.com/office/powerpoint/2010/main" val="3913950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shows the updated centroids after recomputing them. Once we calculate the new centroid mu^(k) as the average of all x^(</a:t>
            </a:r>
            <a:r>
              <a:rPr lang="en-US" dirty="0" err="1"/>
              <a:t>i</a:t>
            </a:r>
            <a:r>
              <a:rPr lang="en-US" dirty="0"/>
              <a:t>) assigned to cluster k, the centroid moves to a new position.</a:t>
            </a:r>
          </a:p>
          <a:p>
            <a:r>
              <a:rPr lang="en-US" dirty="0"/>
              <a:t>Because the centroids have moved, the cluster boundaries may change. Some points may now be closer to a different centroid than before. This means we will go back to Step 1 and reassign each x^(</a:t>
            </a:r>
            <a:r>
              <a:rPr lang="en-US" dirty="0" err="1"/>
              <a:t>i</a:t>
            </a:r>
            <a:r>
              <a:rPr lang="en-US" dirty="0"/>
              <a:t>) to the nearest centroid again.</a:t>
            </a:r>
          </a:p>
          <a:p>
            <a:r>
              <a:rPr lang="en-US" dirty="0"/>
              <a:t>K-means repeats these two steps — assignment and re-computation — until the centroids stop changing significantly. At that point, the clusters become stable, and the algorithm has converged.</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14</a:t>
            </a:fld>
            <a:endParaRPr lang="en-IL"/>
          </a:p>
        </p:txBody>
      </p:sp>
    </p:spTree>
    <p:extLst>
      <p:ext uri="{BB962C8B-B14F-4D97-AF65-F5344CB8AC3E}">
        <p14:creationId xmlns:p14="http://schemas.microsoft.com/office/powerpoint/2010/main" val="32731476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shows Step 1 again after the centroids have been updated. Now that the centroids mu^(1) and mu^(2) have moved to new positions, we reassign each data point x^(</a:t>
            </a:r>
            <a:r>
              <a:rPr lang="en-US" dirty="0" err="1"/>
              <a:t>i</a:t>
            </a:r>
            <a:r>
              <a:rPr lang="en-US" dirty="0"/>
              <a:t>) to its nearest centroid.</a:t>
            </a:r>
          </a:p>
          <a:p>
            <a:r>
              <a:rPr lang="en-US" dirty="0"/>
              <a:t>For every x^(</a:t>
            </a:r>
            <a:r>
              <a:rPr lang="en-US" dirty="0" err="1"/>
              <a:t>i</a:t>
            </a:r>
            <a:r>
              <a:rPr lang="en-US" dirty="0"/>
              <a:t>), we compute its distance to each centroid and choose the closest one. Because the centroids have shifted, some points may change their cluster compared to the previous iteration.</a:t>
            </a:r>
          </a:p>
          <a:p>
            <a:r>
              <a:rPr lang="en-US" dirty="0"/>
              <a:t>This process of assigning points to the nearest centroid and then recomputing the centroids continues repeatedly. With each iteration, the clusters become more compact and better separated, until the centroids stop moving and the algorithm converges.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15</a:t>
            </a:fld>
            <a:endParaRPr lang="en-IL"/>
          </a:p>
        </p:txBody>
      </p:sp>
    </p:spTree>
    <p:extLst>
      <p:ext uri="{BB962C8B-B14F-4D97-AF65-F5344CB8AC3E}">
        <p14:creationId xmlns:p14="http://schemas.microsoft.com/office/powerpoint/2010/main" val="3580909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shows Step 2 again, where we recompute the centroids after reassigning the points. For each cluster k, we calculate the new centroid mu^(k) as the average of all x^(</a:t>
            </a:r>
            <a:r>
              <a:rPr lang="en-US" dirty="0" err="1"/>
              <a:t>i</a:t>
            </a:r>
            <a:r>
              <a:rPr lang="en-US" dirty="0"/>
              <a:t>) that belong to that cluster.</a:t>
            </a:r>
          </a:p>
          <a:p>
            <a:r>
              <a:rPr lang="en-US" dirty="0"/>
              <a:t>Because the assignments may have changed in the previous step, the centroids move again to better represent their clusters. The red centroid moves to the center of the red points, and the blue centroid moves to the center of the blue points.</a:t>
            </a:r>
          </a:p>
          <a:p>
            <a:r>
              <a:rPr lang="en-US" dirty="0">
                <a:solidFill>
                  <a:srgbClr val="0070C0"/>
                </a:solidFill>
              </a:rPr>
              <a:t>K-means keeps repeating Step 1 and Step 2 until the centroids stop moving significantly</a:t>
            </a:r>
            <a:r>
              <a:rPr lang="en-US" dirty="0"/>
              <a:t>. At that point, the clusters are stable, and the algorithm has reached convergence.</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16</a:t>
            </a:fld>
            <a:endParaRPr lang="en-IL"/>
          </a:p>
        </p:txBody>
      </p:sp>
    </p:spTree>
    <p:extLst>
      <p:ext uri="{BB962C8B-B14F-4D97-AF65-F5344CB8AC3E}">
        <p14:creationId xmlns:p14="http://schemas.microsoft.com/office/powerpoint/2010/main" val="2327605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17</a:t>
            </a:fld>
            <a:endParaRPr lang="en-IL"/>
          </a:p>
        </p:txBody>
      </p:sp>
    </p:spTree>
    <p:extLst>
      <p:ext uri="{BB962C8B-B14F-4D97-AF65-F5344CB8AC3E}">
        <p14:creationId xmlns:p14="http://schemas.microsoft.com/office/powerpoint/2010/main" val="35417658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In this section, we move from intuition to the formal K-means algorithm. Previously, we saw visually how points are assigned to the nearest centroid and how centroids are updated. Now, we will describe the algorithm in a clear and structured way.</a:t>
            </a:r>
          </a:p>
          <a:p>
            <a:r>
              <a:rPr lang="en-US" dirty="0"/>
              <a:t>We will define the steps of K-means more precisely, including how we initialize the centroids, how we assign each x^(</a:t>
            </a:r>
            <a:r>
              <a:rPr lang="en-US" dirty="0" err="1"/>
              <a:t>i</a:t>
            </a:r>
            <a:r>
              <a:rPr lang="en-US" dirty="0"/>
              <a:t>) to a cluster, and how we recompute each centroid mu^(k). We will also introduce the objective function that K-means tries to minimize.</a:t>
            </a:r>
          </a:p>
          <a:p>
            <a:r>
              <a:rPr lang="en-US" dirty="0"/>
              <a:t>This section focuses on understanding K-means as a complete algorithm that can be implemented step by step.</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18</a:t>
            </a:fld>
            <a:endParaRPr lang="en-IL"/>
          </a:p>
        </p:txBody>
      </p:sp>
    </p:spTree>
    <p:extLst>
      <p:ext uri="{BB962C8B-B14F-4D97-AF65-F5344CB8AC3E}">
        <p14:creationId xmlns:p14="http://schemas.microsoft.com/office/powerpoint/2010/main" val="25265646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introduces the first step of the formal K-means algorithm. We begin by randomly initializing K cluster centroids, called mu^(1), mu^(2), …, mu^(K). The number K is chosen in advance and represents how many clusters we want to form.</a:t>
            </a:r>
          </a:p>
          <a:p>
            <a:r>
              <a:rPr lang="en-US" dirty="0"/>
              <a:t>For example, if K = 2, we randomly select two initial centroids. These centroids are just starting points and do not necessarily represent the true centers of the clusters. The dataset consists of examples x^(1), x^(2), …, x^(m), where each example may have n features.</a:t>
            </a:r>
          </a:p>
          <a:p>
            <a:r>
              <a:rPr lang="en-US" dirty="0"/>
              <a:t>Random initialization is important because the starting positions of the centroids can affect the final result. After initialization, the algorithm will continue with the assignment and update steps to improve the cluster positions.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19</a:t>
            </a:fld>
            <a:endParaRPr lang="en-IL"/>
          </a:p>
        </p:txBody>
      </p:sp>
    </p:spTree>
    <p:extLst>
      <p:ext uri="{BB962C8B-B14F-4D97-AF65-F5344CB8AC3E}">
        <p14:creationId xmlns:p14="http://schemas.microsoft.com/office/powerpoint/2010/main" val="1763998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continues the K-means algorithm after random initialization of the centroids mu^(1), mu^(2), …, mu^(K).</a:t>
            </a:r>
          </a:p>
          <a:p>
            <a:r>
              <a:rPr lang="en-US" dirty="0"/>
              <a:t>After choosing the initial centroids, we enter a loop where we repeat two main steps. The first step inside the loop is to assign each data point x^(</a:t>
            </a:r>
            <a:r>
              <a:rPr lang="en-US" dirty="0" err="1"/>
              <a:t>i</a:t>
            </a:r>
            <a:r>
              <a:rPr lang="en-US" dirty="0"/>
              <a:t>) to the nearest centroid. For every example x^(</a:t>
            </a:r>
            <a:r>
              <a:rPr lang="en-US" dirty="0" err="1"/>
              <a:t>i</a:t>
            </a:r>
            <a:r>
              <a:rPr lang="en-US" dirty="0"/>
              <a:t>), we compute its distance to each centroid mu^(k) and assign it to the cluster with the smallest distance.</a:t>
            </a:r>
          </a:p>
          <a:p>
            <a:r>
              <a:rPr lang="en-US" dirty="0"/>
              <a:t>This assignment step creates temporary clusters based on the current positions of the centroids. After this, we will move to the next step, which is updating the centroids based on the assigned points.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20</a:t>
            </a:fld>
            <a:endParaRPr lang="en-IL"/>
          </a:p>
        </p:txBody>
      </p:sp>
    </p:spTree>
    <p:extLst>
      <p:ext uri="{BB962C8B-B14F-4D97-AF65-F5344CB8AC3E}">
        <p14:creationId xmlns:p14="http://schemas.microsoft.com/office/powerpoint/2010/main" val="7909429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shows the assignment step written more formally.</a:t>
            </a:r>
          </a:p>
          <a:p>
            <a:r>
              <a:rPr lang="en-US" dirty="0"/>
              <a:t>After initializing the centroids mu^(1), mu^(2), …, mu^(K), we repeat the following process. For each example x^(</a:t>
            </a:r>
            <a:r>
              <a:rPr lang="en-US" dirty="0" err="1"/>
              <a:t>i</a:t>
            </a:r>
            <a:r>
              <a:rPr lang="en-US" dirty="0"/>
              <a:t>), where </a:t>
            </a:r>
            <a:r>
              <a:rPr lang="en-US" dirty="0" err="1"/>
              <a:t>i</a:t>
            </a:r>
            <a:r>
              <a:rPr lang="en-US" dirty="0"/>
              <a:t> goes from 1 to m, we determine which cluster it belongs to.</a:t>
            </a:r>
          </a:p>
          <a:p>
            <a:r>
              <a:rPr lang="en-US" dirty="0"/>
              <a:t>We define c^(</a:t>
            </a:r>
            <a:r>
              <a:rPr lang="en-US" dirty="0" err="1"/>
              <a:t>i</a:t>
            </a:r>
            <a:r>
              <a:rPr lang="en-US" dirty="0"/>
              <a:t>) as the index of the cluster assigned to x^(</a:t>
            </a:r>
            <a:r>
              <a:rPr lang="en-US" dirty="0" err="1"/>
              <a:t>i</a:t>
            </a:r>
            <a:r>
              <a:rPr lang="en-US" dirty="0"/>
              <a:t>). In simple terms, c^(</a:t>
            </a:r>
            <a:r>
              <a:rPr lang="en-US" dirty="0" err="1"/>
              <a:t>i</a:t>
            </a:r>
            <a:r>
              <a:rPr lang="en-US" dirty="0"/>
              <a:t>) is the number k between 1 and K such that the centroid mu^(k) is closest to x^(</a:t>
            </a:r>
            <a:r>
              <a:rPr lang="en-US" dirty="0" err="1"/>
              <a:t>i</a:t>
            </a:r>
            <a:r>
              <a:rPr lang="en-US" dirty="0"/>
              <a:t>).</a:t>
            </a:r>
          </a:p>
          <a:p>
            <a:r>
              <a:rPr lang="en-US" dirty="0"/>
              <a:t>Mathematically, we choose c^(</a:t>
            </a:r>
            <a:r>
              <a:rPr lang="en-US" dirty="0" err="1"/>
              <a:t>i</a:t>
            </a:r>
            <a:r>
              <a:rPr lang="en-US" dirty="0"/>
              <a:t>) to minimize the squared distance between x^(</a:t>
            </a:r>
            <a:r>
              <a:rPr lang="en-US" dirty="0" err="1"/>
              <a:t>i</a:t>
            </a:r>
            <a:r>
              <a:rPr lang="en-US" dirty="0"/>
              <a:t>) and mu^(k). In simple English, we compute the distance between x^(</a:t>
            </a:r>
            <a:r>
              <a:rPr lang="en-US" dirty="0" err="1"/>
              <a:t>i</a:t>
            </a:r>
            <a:r>
              <a:rPr lang="en-US" dirty="0"/>
              <a:t>) and each centroid mu^(k), square it, and select the cluster with the smallest value.</a:t>
            </a:r>
          </a:p>
          <a:p>
            <a:r>
              <a:rPr lang="en-US" dirty="0"/>
              <a:t>This step assigns every data point to its nearest centroid, forming temporary clusters based on the current centroid positions.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21</a:t>
            </a:fld>
            <a:endParaRPr lang="en-IL"/>
          </a:p>
        </p:txBody>
      </p:sp>
    </p:spTree>
    <p:extLst>
      <p:ext uri="{BB962C8B-B14F-4D97-AF65-F5344CB8AC3E}">
        <p14:creationId xmlns:p14="http://schemas.microsoft.com/office/powerpoint/2010/main" val="8931132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shows the complete K-means algorithm.</a:t>
            </a:r>
          </a:p>
          <a:p>
            <a:r>
              <a:rPr lang="en-US" dirty="0"/>
              <a:t>First, we randomly initialize K cluster centroids mu^(1), mu^(2), …, mu^(K). Then we repeat two main steps until convergence.</a:t>
            </a:r>
          </a:p>
          <a:p>
            <a:r>
              <a:rPr lang="en-US" b="1" dirty="0"/>
              <a:t>Step 1</a:t>
            </a:r>
            <a:r>
              <a:rPr lang="en-US" dirty="0"/>
              <a:t>: Assign points to cluster centroids.</a:t>
            </a:r>
            <a:br>
              <a:rPr lang="en-US" dirty="0"/>
            </a:br>
            <a:r>
              <a:rPr lang="en-US" dirty="0"/>
              <a:t>For each example x^(</a:t>
            </a:r>
            <a:r>
              <a:rPr lang="en-US" dirty="0" err="1"/>
              <a:t>i</a:t>
            </a:r>
            <a:r>
              <a:rPr lang="en-US" dirty="0"/>
              <a:t>), where </a:t>
            </a:r>
            <a:r>
              <a:rPr lang="en-US" dirty="0" err="1"/>
              <a:t>i</a:t>
            </a:r>
            <a:r>
              <a:rPr lang="en-US" dirty="0"/>
              <a:t> goes from 1 to m, we compute its distance to each centroid. We define c^(</a:t>
            </a:r>
            <a:r>
              <a:rPr lang="en-US" dirty="0" err="1"/>
              <a:t>i</a:t>
            </a:r>
            <a:r>
              <a:rPr lang="en-US" dirty="0"/>
              <a:t>) as the index of the cluster whose centroid is closest to x^(</a:t>
            </a:r>
            <a:r>
              <a:rPr lang="en-US" dirty="0" err="1"/>
              <a:t>i</a:t>
            </a:r>
            <a:r>
              <a:rPr lang="en-US" dirty="0"/>
              <a:t>). In simple words, each point joins the nearest cluster.</a:t>
            </a:r>
          </a:p>
          <a:p>
            <a:r>
              <a:rPr lang="en-US" b="1" dirty="0"/>
              <a:t>Step 2</a:t>
            </a:r>
            <a:r>
              <a:rPr lang="en-US" dirty="0"/>
              <a:t>: Move cluster centroids.</a:t>
            </a:r>
            <a:br>
              <a:rPr lang="en-US" dirty="0"/>
            </a:br>
            <a:r>
              <a:rPr lang="en-US" dirty="0"/>
              <a:t>For each cluster k from 1 to K, we update the centroid mu^(k). The new mu^(k) equals the average (mean) of all points assigned to cluster k. For example, if four points x^(1), x^(5), x^(6), and x^(10) belong to cluster 1, then mu^(1) equals one divided by four times the sum of these four points.</a:t>
            </a:r>
          </a:p>
          <a:p>
            <a:r>
              <a:rPr lang="en-US" dirty="0"/>
              <a:t>These two steps — </a:t>
            </a:r>
            <a:r>
              <a:rPr lang="en-US" b="1" dirty="0"/>
              <a:t>assignment and update </a:t>
            </a:r>
            <a:r>
              <a:rPr lang="en-US" dirty="0"/>
              <a:t>— are repeated until the centroids stop changing significantly. At that point, the clusters become stable and the algorithm converges.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22</a:t>
            </a:fld>
            <a:endParaRPr lang="en-IL"/>
          </a:p>
        </p:txBody>
      </p:sp>
    </p:spTree>
    <p:extLst>
      <p:ext uri="{BB962C8B-B14F-4D97-AF65-F5344CB8AC3E}">
        <p14:creationId xmlns:p14="http://schemas.microsoft.com/office/powerpoint/2010/main" val="14723281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highlights an important point about choosing the number of clusters K.</a:t>
            </a:r>
          </a:p>
          <a:p>
            <a:r>
              <a:rPr lang="en-US" dirty="0"/>
              <a:t>The K-means algorithm starts by randomly initializing K centroids mu^(1), mu^(2), …, mu^(K). Then it repeats the assignment and update steps. However, the quality of the clustering depends strongly on the value of K.</a:t>
            </a:r>
          </a:p>
          <a:p>
            <a:r>
              <a:rPr lang="en-US" dirty="0"/>
              <a:t>If K is chosen too large, we may create too many small clusters. If K is chosen too small, we may group very different points into the same cluster. In the figure, we see an example where changing the value of K changes the clustering result.</a:t>
            </a:r>
          </a:p>
          <a:p>
            <a:r>
              <a:rPr lang="en-US" dirty="0"/>
              <a:t>Choosing the correct value of K is an important practical problem in clustering. In the next topic, we will discuss methods for selecting a good value for K, such as the elbow method.</a:t>
            </a:r>
          </a:p>
          <a:p>
            <a:r>
              <a:rPr lang="en-US" dirty="0"/>
              <a:t>It also depends on the random positions of the clusters centroids, so that if a centroid position is made a way from the points then it might not capture and of the points. </a:t>
            </a:r>
          </a:p>
        </p:txBody>
      </p:sp>
      <p:sp>
        <p:nvSpPr>
          <p:cNvPr id="4" name="Slide Number Placeholder 3"/>
          <p:cNvSpPr>
            <a:spLocks noGrp="1"/>
          </p:cNvSpPr>
          <p:nvPr>
            <p:ph type="sldNum" sz="quarter" idx="5"/>
          </p:nvPr>
        </p:nvSpPr>
        <p:spPr/>
        <p:txBody>
          <a:bodyPr/>
          <a:lstStyle/>
          <a:p>
            <a:fld id="{79BBB273-ED2E-2840-AC7B-A59E28EC39A1}" type="slidenum">
              <a:rPr lang="en-IL" smtClean="0"/>
              <a:t>23</a:t>
            </a:fld>
            <a:endParaRPr lang="en-IL"/>
          </a:p>
        </p:txBody>
      </p:sp>
    </p:spTree>
    <p:extLst>
      <p:ext uri="{BB962C8B-B14F-4D97-AF65-F5344CB8AC3E}">
        <p14:creationId xmlns:p14="http://schemas.microsoft.com/office/powerpoint/2010/main" val="3856981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explains an important limitation of K-means clustering.</a:t>
            </a:r>
          </a:p>
          <a:p>
            <a:r>
              <a:rPr lang="en-US" dirty="0"/>
              <a:t>On the left side, we see a case where the clusters are clearly separated. When K = 3, K-means works well because the groups are compact and far from each other. The algorithm can easily assign points to the correct cluster.</a:t>
            </a:r>
          </a:p>
          <a:p>
            <a:r>
              <a:rPr lang="en-US" dirty="0"/>
              <a:t>On the right side, we see a different situation using height and weight data for T-shirt sizing (S, M, L). The data points form a continuous pattern rather than clearly separated groups. Even if we choose K = 3, the clusters may not be very distinct. K-means will still divide the data into three groups, but the separation may not perfectly match real categories like small, medium, and large.</a:t>
            </a:r>
          </a:p>
          <a:p>
            <a:r>
              <a:rPr lang="en-US" dirty="0"/>
              <a:t>This slide teaches an important concept: K-means works best when clusters are compact and well separated. When the data forms overlapping or continuous patterns, the results may not be ideal. Therefore, before applying K-means, we should examine whether the data naturally forms distinct groups.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24</a:t>
            </a:fld>
            <a:endParaRPr lang="en-IL"/>
          </a:p>
        </p:txBody>
      </p:sp>
    </p:spTree>
    <p:extLst>
      <p:ext uri="{BB962C8B-B14F-4D97-AF65-F5344CB8AC3E}">
        <p14:creationId xmlns:p14="http://schemas.microsoft.com/office/powerpoint/2010/main" val="37055116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continues the discussion about clusters that are not well separated.</a:t>
            </a:r>
          </a:p>
          <a:p>
            <a:r>
              <a:rPr lang="en-US" dirty="0"/>
              <a:t>On the left side, when K = 3 and the groups are clearly separated, K-means works very well. Each cluster is compact, and the centroids are located near the center of each group.</a:t>
            </a:r>
          </a:p>
          <a:p>
            <a:r>
              <a:rPr lang="en-US" dirty="0"/>
              <a:t>On the right side, we see a more realistic example using height and weight for T-shirt sizing (S, M, L). The data forms a gradual, continuous pattern rather than clearly separated groups. Even though we set K = 3, the boundaries between small, medium, and large are not very clear. K-means will still divide the data into three clusters, but the separation may overlap and may not perfectly match real-world categories.</a:t>
            </a:r>
          </a:p>
          <a:p>
            <a:endParaRPr lang="en-US" dirty="0"/>
          </a:p>
          <a:p>
            <a:r>
              <a:rPr lang="en-US" b="1" dirty="0"/>
              <a:t>The key lesson </a:t>
            </a:r>
            <a:r>
              <a:rPr lang="en-US" dirty="0"/>
              <a:t>is that K-means assumes clusters are roughly circular and well separated. When data is continuous or overlapping, K-means can still produce clusters, but the results may not perfectly represent meaningful categories. Therefore, understanding the data structure is very important before applying K-means.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25</a:t>
            </a:fld>
            <a:endParaRPr lang="en-IL"/>
          </a:p>
        </p:txBody>
      </p:sp>
    </p:spTree>
    <p:extLst>
      <p:ext uri="{BB962C8B-B14F-4D97-AF65-F5344CB8AC3E}">
        <p14:creationId xmlns:p14="http://schemas.microsoft.com/office/powerpoint/2010/main" val="41164802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26</a:t>
            </a:fld>
            <a:endParaRPr lang="en-IL"/>
          </a:p>
        </p:txBody>
      </p:sp>
    </p:spTree>
    <p:extLst>
      <p:ext uri="{BB962C8B-B14F-4D97-AF65-F5344CB8AC3E}">
        <p14:creationId xmlns:p14="http://schemas.microsoft.com/office/powerpoint/2010/main" val="42548008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In this section, we move from the procedural steps of K-means to understanding its optimization objective. Until now, we described how the algorithm works: assign points to the nearest centroid and then recompute the centroids. Now we ask a deeper question: what exactly is K-means trying to minimize?</a:t>
            </a:r>
          </a:p>
          <a:p>
            <a:r>
              <a:rPr lang="en-US" dirty="0"/>
              <a:t>K-means is an optimization algorithm. Its goal is to minimize the total squared distance between each data point x^(</a:t>
            </a:r>
            <a:r>
              <a:rPr lang="en-US" dirty="0" err="1"/>
              <a:t>i</a:t>
            </a:r>
            <a:r>
              <a:rPr lang="en-US" dirty="0"/>
              <a:t>) and the centroid of the cluster it is assigned to. In simple English, it tries to make points inside each cluster as close as possible to their cluster center.</a:t>
            </a:r>
          </a:p>
          <a:p>
            <a:r>
              <a:rPr lang="en-US" dirty="0"/>
              <a:t>Understanding this objective helps students see that K-means is not just a heuristic process. It is systematically reducing a specific cost function at every iteration. In the next slides, we will define this objective function clearly and see how each step of the algorithm reduces it.</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27</a:t>
            </a:fld>
            <a:endParaRPr lang="en-IL"/>
          </a:p>
        </p:txBody>
      </p:sp>
    </p:spTree>
    <p:extLst>
      <p:ext uri="{BB962C8B-B14F-4D97-AF65-F5344CB8AC3E}">
        <p14:creationId xmlns:p14="http://schemas.microsoft.com/office/powerpoint/2010/main" val="1794707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explains the optimization objective of K-means more formally.</a:t>
            </a:r>
          </a:p>
          <a:p>
            <a:r>
              <a:rPr lang="en-US" dirty="0"/>
              <a:t>First, c^(</a:t>
            </a:r>
            <a:r>
              <a:rPr lang="en-US" dirty="0" err="1"/>
              <a:t>i</a:t>
            </a:r>
            <a:r>
              <a:rPr lang="en-US" dirty="0"/>
              <a:t>) represents the index of the cluster to which example x^(</a:t>
            </a:r>
            <a:r>
              <a:rPr lang="en-US" dirty="0" err="1"/>
              <a:t>i</a:t>
            </a:r>
            <a:r>
              <a:rPr lang="en-US" dirty="0"/>
              <a:t>) is currently assigned. The value of c^(</a:t>
            </a:r>
            <a:r>
              <a:rPr lang="en-US" dirty="0" err="1"/>
              <a:t>i</a:t>
            </a:r>
            <a:r>
              <a:rPr lang="en-US" dirty="0"/>
              <a:t>) can be any number from 1 to K.</a:t>
            </a:r>
          </a:p>
          <a:p>
            <a:r>
              <a:rPr lang="en-US" dirty="0"/>
              <a:t>If K = 3 and:</a:t>
            </a:r>
          </a:p>
          <a:p>
            <a:pPr>
              <a:buFont typeface="Arial" panose="020B0604020202020204" pitchFamily="34" charset="0"/>
              <a:buChar char="•"/>
            </a:pPr>
            <a:r>
              <a:rPr lang="en-US" dirty="0"/>
              <a:t>x^(1) belongs to cluster 2 → c^(1) = 2</a:t>
            </a:r>
          </a:p>
          <a:p>
            <a:pPr>
              <a:buFont typeface="Arial" panose="020B0604020202020204" pitchFamily="34" charset="0"/>
              <a:buChar char="•"/>
            </a:pPr>
            <a:r>
              <a:rPr lang="en-US" dirty="0"/>
              <a:t>x^(2) belongs to cluster 1 → c^(2) = 1</a:t>
            </a:r>
          </a:p>
          <a:p>
            <a:pPr>
              <a:buFont typeface="Arial" panose="020B0604020202020204" pitchFamily="34" charset="0"/>
              <a:buChar char="•"/>
            </a:pPr>
            <a:r>
              <a:rPr lang="en-US" dirty="0"/>
              <a:t>x^(3) belongs to cluster 3 → c^(3) = 3</a:t>
            </a:r>
          </a:p>
          <a:p>
            <a:r>
              <a:rPr lang="en-US" dirty="0"/>
              <a:t>So: c^(</a:t>
            </a:r>
            <a:r>
              <a:rPr lang="en-US" dirty="0" err="1"/>
              <a:t>i</a:t>
            </a:r>
            <a:r>
              <a:rPr lang="en-US" dirty="0"/>
              <a:t>) tells us which centroid that point belongs to.</a:t>
            </a:r>
          </a:p>
          <a:p>
            <a:br>
              <a:rPr lang="en-US" dirty="0"/>
            </a:br>
            <a:r>
              <a:rPr lang="en-US" dirty="0"/>
              <a:t>Second, mu^(k) represents the centroid of cluster k.</a:t>
            </a:r>
            <a:br>
              <a:rPr lang="en-US" dirty="0"/>
            </a:br>
            <a:r>
              <a:rPr lang="en-US" dirty="0"/>
              <a:t>Third, mu^(c^(</a:t>
            </a:r>
            <a:r>
              <a:rPr lang="en-US" dirty="0" err="1"/>
              <a:t>i</a:t>
            </a:r>
            <a:r>
              <a:rPr lang="en-US" dirty="0"/>
              <a:t>)) represents the centroid of the cluster that x^(</a:t>
            </a:r>
            <a:r>
              <a:rPr lang="en-US" dirty="0" err="1"/>
              <a:t>i</a:t>
            </a:r>
            <a:r>
              <a:rPr lang="en-US" dirty="0"/>
              <a:t>) belongs to.</a:t>
            </a:r>
          </a:p>
          <a:p>
            <a:r>
              <a:rPr lang="en-US" dirty="0"/>
              <a:t>The cost function of K-means is written as:</a:t>
            </a:r>
          </a:p>
          <a:p>
            <a:r>
              <a:rPr lang="en-US" dirty="0"/>
              <a:t>J = (1 divided by m) times the sum from </a:t>
            </a:r>
            <a:r>
              <a:rPr lang="en-US" dirty="0" err="1"/>
              <a:t>i</a:t>
            </a:r>
            <a:r>
              <a:rPr lang="en-US" dirty="0"/>
              <a:t> = 1 to m of the squared distance between x^(</a:t>
            </a:r>
            <a:r>
              <a:rPr lang="en-US" dirty="0" err="1"/>
              <a:t>i</a:t>
            </a:r>
            <a:r>
              <a:rPr lang="en-US" dirty="0"/>
              <a:t>) and mu^(c^(</a:t>
            </a:r>
            <a:r>
              <a:rPr lang="en-US" dirty="0" err="1"/>
              <a:t>i</a:t>
            </a:r>
            <a:r>
              <a:rPr lang="en-US" dirty="0"/>
              <a:t>)).</a:t>
            </a:r>
          </a:p>
          <a:p>
            <a:r>
              <a:rPr lang="en-US" dirty="0"/>
              <a:t>In simple English, this means we compute the squared distance between each data point x^(</a:t>
            </a:r>
            <a:r>
              <a:rPr lang="en-US" dirty="0" err="1"/>
              <a:t>i</a:t>
            </a:r>
            <a:r>
              <a:rPr lang="en-US" dirty="0"/>
              <a:t>) and the centroid of its assigned cluster. Then we add all these squared distances together and divide by m, the number of training examples.</a:t>
            </a:r>
          </a:p>
          <a:p>
            <a:r>
              <a:rPr lang="en-US" dirty="0"/>
              <a:t>The goal of K-means is to choose the cluster assignments c^(1), …, c^(m) and the centroids mu^(1), …, mu^(K) in a way that minimizes this cost function J.</a:t>
            </a:r>
          </a:p>
          <a:p>
            <a:r>
              <a:rPr lang="en-US" dirty="0"/>
              <a:t>This shows that K-means is trying to make each cluster as compact as possible by reducing the total distance between points and their cluster centers.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28</a:t>
            </a:fld>
            <a:endParaRPr lang="en-IL"/>
          </a:p>
        </p:txBody>
      </p:sp>
    </p:spTree>
    <p:extLst>
      <p:ext uri="{BB962C8B-B14F-4D97-AF65-F5344CB8AC3E}">
        <p14:creationId xmlns:p14="http://schemas.microsoft.com/office/powerpoint/2010/main" val="28236036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 y="228600"/>
            <a:ext cx="5010150" cy="2819400"/>
          </a:xfrm>
        </p:spPr>
      </p:sp>
      <p:sp>
        <p:nvSpPr>
          <p:cNvPr id="3" name="Notes Placeholder 2"/>
          <p:cNvSpPr>
            <a:spLocks noGrp="1"/>
          </p:cNvSpPr>
          <p:nvPr>
            <p:ph type="body" idx="1"/>
          </p:nvPr>
        </p:nvSpPr>
        <p:spPr/>
        <p:txBody>
          <a:bodyPr/>
          <a:lstStyle/>
          <a:p>
            <a:r>
              <a:rPr lang="en-US" dirty="0"/>
              <a:t>This slide gives a visual understanding of the K-means cost function.</a:t>
            </a:r>
          </a:p>
          <a:p>
            <a:r>
              <a:rPr lang="en-US" dirty="0"/>
              <a:t>Each arrow represents the distance between a data point x^(</a:t>
            </a:r>
            <a:r>
              <a:rPr lang="en-US" dirty="0" err="1"/>
              <a:t>i</a:t>
            </a:r>
            <a:r>
              <a:rPr lang="en-US" dirty="0"/>
              <a:t>) and the centroid of the cluster it belongs to, mu^(c^(</a:t>
            </a:r>
            <a:r>
              <a:rPr lang="en-US" dirty="0" err="1"/>
              <a:t>i</a:t>
            </a:r>
            <a:r>
              <a:rPr lang="en-US" dirty="0"/>
              <a:t>)). The cost function J is based on these distances. Specifically, J equals the average of the squared distances between each point and its assigned centroid.</a:t>
            </a:r>
          </a:p>
          <a:p>
            <a:r>
              <a:rPr lang="en-US" dirty="0"/>
              <a:t>In simple English, the longer the arrows, the larger the cost. If points are far from their centroids, the value of J becomes large. If points are close to their centroids, the value of J becomes small.</a:t>
            </a:r>
          </a:p>
          <a:p>
            <a:r>
              <a:rPr lang="en-US" dirty="0"/>
              <a:t>The goal of K-means is to adjust the cluster assignments c^(1), …, c^(m) and the centroids mu^(1), mu^(2), … so that these arrows become as short as possible. In other words, the algorithm tries to minimize J by making clusters compact and tight around their centers.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29</a:t>
            </a:fld>
            <a:endParaRPr lang="en-IL"/>
          </a:p>
        </p:txBody>
      </p:sp>
    </p:spTree>
    <p:extLst>
      <p:ext uri="{BB962C8B-B14F-4D97-AF65-F5344CB8AC3E}">
        <p14:creationId xmlns:p14="http://schemas.microsoft.com/office/powerpoint/2010/main" val="42813262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connects the cost function with the two steps of the K-means algorithm.</a:t>
            </a:r>
          </a:p>
          <a:p>
            <a:r>
              <a:rPr lang="en-US" dirty="0"/>
              <a:t>The cost function J equals one divided by m times the sum from </a:t>
            </a:r>
            <a:r>
              <a:rPr lang="en-US" dirty="0" err="1"/>
              <a:t>i</a:t>
            </a:r>
            <a:r>
              <a:rPr lang="en-US" dirty="0"/>
              <a:t> equals 1 to m of the squared distance between x^(</a:t>
            </a:r>
            <a:r>
              <a:rPr lang="en-US" dirty="0" err="1"/>
              <a:t>i</a:t>
            </a:r>
            <a:r>
              <a:rPr lang="en-US" dirty="0"/>
              <a:t>) and mu^(c^(</a:t>
            </a:r>
            <a:r>
              <a:rPr lang="en-US" dirty="0" err="1"/>
              <a:t>i</a:t>
            </a:r>
            <a:r>
              <a:rPr lang="en-US" dirty="0"/>
              <a:t>)). In simple English, we measure how far each point is from the centroid of the cluster it belongs to, square that distance, and average over all points.</a:t>
            </a:r>
          </a:p>
          <a:p>
            <a:r>
              <a:rPr lang="en-US" dirty="0"/>
              <a:t>The assignment step reduces the cost by assigning each x^(</a:t>
            </a:r>
            <a:r>
              <a:rPr lang="en-US" dirty="0" err="1"/>
              <a:t>i</a:t>
            </a:r>
            <a:r>
              <a:rPr lang="en-US" dirty="0"/>
              <a:t>) to the nearest centroid. This ensures that for the current centroids, we choose the cluster that gives the smallest possible distance.</a:t>
            </a:r>
          </a:p>
          <a:p>
            <a:r>
              <a:rPr lang="en-US" dirty="0"/>
              <a:t>The update step reduces the cost further by moving each centroid mu^(k) to the average of the points in its cluster. This new position minimizes the total squared distance for that cluster.</a:t>
            </a:r>
          </a:p>
          <a:p>
            <a:r>
              <a:rPr lang="en-US" dirty="0"/>
              <a:t>By repeating these two steps, the value of J keeps decreasing or staying the same at each iteration. Eventually, the algorithm reaches a point where J no longer decreases significantly, and the clustering becomes stable.</a:t>
            </a:r>
          </a:p>
          <a:p>
            <a:r>
              <a:rPr lang="en-US" dirty="0"/>
              <a:t>In the figure, we have:</a:t>
            </a:r>
          </a:p>
          <a:p>
            <a:pPr>
              <a:buFont typeface="Arial" panose="020B0604020202020204" pitchFamily="34" charset="0"/>
              <a:buChar char="•"/>
            </a:pPr>
            <a:r>
              <a:rPr lang="en-US" dirty="0"/>
              <a:t>One data point x^(</a:t>
            </a:r>
            <a:r>
              <a:rPr lang="en-US" dirty="0" err="1"/>
              <a:t>i</a:t>
            </a:r>
            <a:r>
              <a:rPr lang="en-US" dirty="0"/>
              <a:t>) (the black dot).</a:t>
            </a:r>
          </a:p>
          <a:p>
            <a:pPr>
              <a:buFont typeface="Arial" panose="020B0604020202020204" pitchFamily="34" charset="0"/>
              <a:buChar char="•"/>
            </a:pPr>
            <a:r>
              <a:rPr lang="en-US" dirty="0"/>
              <a:t>Two centroids (the red X and the blue X).</a:t>
            </a:r>
          </a:p>
          <a:p>
            <a:pPr>
              <a:buFont typeface="Arial" panose="020B0604020202020204" pitchFamily="34" charset="0"/>
              <a:buChar char="•"/>
            </a:pPr>
            <a:r>
              <a:rPr lang="en-US" dirty="0"/>
              <a:t>The distances from the point to each centroid are shown:</a:t>
            </a:r>
          </a:p>
          <a:p>
            <a:pPr marL="742950" lvl="1" indent="-285750">
              <a:buFont typeface="Arial" panose="020B0604020202020204" pitchFamily="34" charset="0"/>
              <a:buChar char="•"/>
            </a:pPr>
            <a:r>
              <a:rPr lang="en-US" dirty="0"/>
              <a:t>Distance to the blue centroid = 6</a:t>
            </a:r>
          </a:p>
          <a:p>
            <a:pPr marL="742950" lvl="1" indent="-285750">
              <a:buFont typeface="Arial" panose="020B0604020202020204" pitchFamily="34" charset="0"/>
              <a:buChar char="•"/>
            </a:pPr>
            <a:r>
              <a:rPr lang="en-US" dirty="0"/>
              <a:t>Distance to the red centroid = 2</a:t>
            </a:r>
          </a:p>
          <a:p>
            <a:r>
              <a:rPr lang="en-US" b="1" dirty="0"/>
              <a:t>What is happening here?</a:t>
            </a:r>
          </a:p>
          <a:p>
            <a:r>
              <a:rPr lang="en-US" dirty="0"/>
              <a:t>K-means assigns each point to the </a:t>
            </a:r>
            <a:r>
              <a:rPr lang="en-US" b="1" dirty="0"/>
              <a:t>nearest centroid</a:t>
            </a:r>
            <a:r>
              <a:rPr lang="en-US" dirty="0"/>
              <a:t>.</a:t>
            </a:r>
          </a:p>
          <a:p>
            <a:r>
              <a:rPr lang="en-US" dirty="0"/>
              <a:t>Since 2 &lt; 6, the point x^(</a:t>
            </a:r>
            <a:r>
              <a:rPr lang="en-US" dirty="0" err="1"/>
              <a:t>i</a:t>
            </a:r>
            <a:r>
              <a:rPr lang="en-US" dirty="0"/>
              <a:t>) will be assigned to the red centroid.</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30</a:t>
            </a:fld>
            <a:endParaRPr lang="en-IL"/>
          </a:p>
        </p:txBody>
      </p:sp>
    </p:spTree>
    <p:extLst>
      <p:ext uri="{BB962C8B-B14F-4D97-AF65-F5344CB8AC3E}">
        <p14:creationId xmlns:p14="http://schemas.microsoft.com/office/powerpoint/2010/main" val="35341779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explains why the centroid should be placed at the mean of the points in a cluster.</a:t>
            </a:r>
          </a:p>
          <a:p>
            <a:r>
              <a:rPr lang="en-US" dirty="0"/>
              <a:t>Suppose we have two points on a line. If we place the centroid somewhere between them, the total squared distance depends on its position. The cost we want to minimize is the average of the squared distances between each point and the centroid.</a:t>
            </a:r>
          </a:p>
          <a:p>
            <a:r>
              <a:rPr lang="en-US" dirty="0"/>
              <a:t>For example, if the centroid is placed closer to one point and far from the other, one squared distance becomes large. When we compute one divided by two times the sum of the squared distances, the result is large. However, when we place the centroid exactly at the middle, which is the average of the two points, the squared distances become balanced and the total cost becomes smaller.</a:t>
            </a:r>
          </a:p>
          <a:p>
            <a:r>
              <a:rPr lang="en-US" b="1" dirty="0"/>
              <a:t>Case 1 (Red centroid on the left)</a:t>
            </a:r>
          </a:p>
          <a:p>
            <a:r>
              <a:rPr lang="en-US" dirty="0"/>
              <a:t>Distances are:</a:t>
            </a:r>
          </a:p>
          <a:p>
            <a:pPr>
              <a:buFont typeface="Arial" panose="020B0604020202020204" pitchFamily="34" charset="0"/>
              <a:buChar char="•"/>
            </a:pPr>
            <a:r>
              <a:rPr lang="en-US" dirty="0"/>
              <a:t>1 unit to the first point</a:t>
            </a:r>
          </a:p>
          <a:p>
            <a:pPr>
              <a:buFont typeface="Arial" panose="020B0604020202020204" pitchFamily="34" charset="0"/>
              <a:buChar char="•"/>
            </a:pPr>
            <a:r>
              <a:rPr lang="en-US" dirty="0"/>
              <a:t>9 units to the second point</a:t>
            </a:r>
          </a:p>
          <a:p>
            <a:r>
              <a:rPr lang="en-US" dirty="0"/>
              <a:t>Cost = (1/2) * (1^2 + 9^2) = = (1/2) * (1 + 81) = = 41</a:t>
            </a:r>
          </a:p>
          <a:p>
            <a:r>
              <a:rPr lang="en-US" b="1" dirty="0"/>
              <a:t>Case 3 (Blue centroid at the middle)</a:t>
            </a:r>
          </a:p>
          <a:p>
            <a:r>
              <a:rPr lang="en-US" dirty="0"/>
              <a:t>Distances are:</a:t>
            </a:r>
          </a:p>
          <a:p>
            <a:pPr>
              <a:buFont typeface="Arial" panose="020B0604020202020204" pitchFamily="34" charset="0"/>
              <a:buChar char="•"/>
            </a:pPr>
            <a:r>
              <a:rPr lang="en-US" dirty="0"/>
              <a:t>5 units</a:t>
            </a:r>
          </a:p>
          <a:p>
            <a:pPr>
              <a:buFont typeface="Arial" panose="020B0604020202020204" pitchFamily="34" charset="0"/>
              <a:buChar char="•"/>
            </a:pPr>
            <a:r>
              <a:rPr lang="en-US" dirty="0"/>
              <a:t>5 units</a:t>
            </a:r>
          </a:p>
          <a:p>
            <a:r>
              <a:rPr lang="en-US" dirty="0"/>
              <a:t>Cost = (1/2) * (5^2 + 5^2)= = (1/2) * (25 + 25) = = 25</a:t>
            </a:r>
          </a:p>
          <a:p>
            <a:r>
              <a:rPr lang="en-US" dirty="0"/>
              <a:t>This is the smallest cost.</a:t>
            </a:r>
          </a:p>
          <a:p>
            <a:endParaRPr lang="en-US" dirty="0"/>
          </a:p>
          <a:p>
            <a:r>
              <a:rPr lang="en-US" dirty="0"/>
              <a:t>This slide shows that choosing the centroid as the mean of the assigned points minimizes the squared error. That is why in K-means, after assigning points to a cluster, we update the centroid by taking the average of those points.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31</a:t>
            </a:fld>
            <a:endParaRPr lang="en-IL"/>
          </a:p>
        </p:txBody>
      </p:sp>
    </p:spTree>
    <p:extLst>
      <p:ext uri="{BB962C8B-B14F-4D97-AF65-F5344CB8AC3E}">
        <p14:creationId xmlns:p14="http://schemas.microsoft.com/office/powerpoint/2010/main" val="9705461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 y="228600"/>
            <a:ext cx="5010150" cy="2819400"/>
          </a:xfrm>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79BBB273-ED2E-2840-AC7B-A59E28EC39A1}" type="slidenum">
              <a:rPr lang="en-IL" smtClean="0"/>
              <a:t>32</a:t>
            </a:fld>
            <a:endParaRPr lang="en-IL"/>
          </a:p>
        </p:txBody>
      </p:sp>
    </p:spTree>
    <p:extLst>
      <p:ext uri="{BB962C8B-B14F-4D97-AF65-F5344CB8AC3E}">
        <p14:creationId xmlns:p14="http://schemas.microsoft.com/office/powerpoint/2010/main" val="20872929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In this section, we focus on how to initialize K-means properly. Initialization means choosing the initial centroids mu^(1), mu^(2), …, mu^(K) before starting the assignment and update steps.</a:t>
            </a:r>
          </a:p>
          <a:p>
            <a:endParaRPr lang="en-US" dirty="0"/>
          </a:p>
          <a:p>
            <a:r>
              <a:rPr lang="en-US" dirty="0"/>
              <a:t>The starting positions of the centroids are very important because K-means can converge to different solutions depending on the initial choice. Poor initialization may lead to bad clustering results or higher cost values.</a:t>
            </a:r>
          </a:p>
          <a:p>
            <a:r>
              <a:rPr lang="en-US" dirty="0"/>
              <a:t>In the next slides, we will see practical strategies for initializing centroids and how better initialization can improve the final clustering outcome.</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33</a:t>
            </a:fld>
            <a:endParaRPr lang="en-IL"/>
          </a:p>
        </p:txBody>
      </p:sp>
    </p:spTree>
    <p:extLst>
      <p:ext uri="{BB962C8B-B14F-4D97-AF65-F5344CB8AC3E}">
        <p14:creationId xmlns:p14="http://schemas.microsoft.com/office/powerpoint/2010/main" val="11664684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summarizes the full K-means algorithm in a simple structured way.</a:t>
            </a:r>
          </a:p>
          <a:p>
            <a:r>
              <a:rPr lang="en-US" dirty="0"/>
              <a:t>Step 0: Randomly initialize K cluster centroids mu^(1), mu^(2), …, mu^(K). These are the starting positions of the cluster centers.</a:t>
            </a:r>
          </a:p>
          <a:p>
            <a:r>
              <a:rPr lang="en-US" dirty="0"/>
              <a:t>Then repeat the following two steps:</a:t>
            </a:r>
          </a:p>
          <a:p>
            <a:r>
              <a:rPr lang="en-US" dirty="0"/>
              <a:t>Step 1: Assign each data point x^(</a:t>
            </a:r>
            <a:r>
              <a:rPr lang="en-US" dirty="0" err="1"/>
              <a:t>i</a:t>
            </a:r>
            <a:r>
              <a:rPr lang="en-US" dirty="0"/>
              <a:t>) to the nearest centroid.</a:t>
            </a:r>
            <a:br>
              <a:rPr lang="en-US" dirty="0"/>
            </a:br>
            <a:r>
              <a:rPr lang="en-US" dirty="0"/>
              <a:t>Step 2: Move each centroid mu^(k) to the average of the points assigned to it.</a:t>
            </a:r>
          </a:p>
          <a:p>
            <a:r>
              <a:rPr lang="en-US" dirty="0"/>
              <a:t>These steps are repeated until the centroids stop changing significantly. The quality of the final clusters depends strongly on how we initialize the centroids in Step 0, which is why initialization is an important topic.</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34</a:t>
            </a:fld>
            <a:endParaRPr lang="en-IL"/>
          </a:p>
        </p:txBody>
      </p:sp>
    </p:spTree>
    <p:extLst>
      <p:ext uri="{BB962C8B-B14F-4D97-AF65-F5344CB8AC3E}">
        <p14:creationId xmlns:p14="http://schemas.microsoft.com/office/powerpoint/2010/main" val="19298285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Let’s explain random initialization step by step, referring directly to the diagrams.</a:t>
            </a:r>
          </a:p>
          <a:p>
            <a:r>
              <a:rPr lang="en-US" dirty="0"/>
              <a:t>First, we choose K such that K &lt; m, where m is the number of training examples. This means the number of clusters must be smaller than the number of data points.</a:t>
            </a:r>
          </a:p>
          <a:p>
            <a:r>
              <a:rPr lang="en-US" dirty="0"/>
              <a:t>Next, we randomly pick K training examples from the dataset. In the top-right diagram, you see two natural groups of points (one red cluster on the left and one blue cluster on the right). However, during random initialization, we do not yet know these true clusters. We simply pick K points at random from all available points.</a:t>
            </a:r>
          </a:p>
          <a:p>
            <a:r>
              <a:rPr lang="en-US" dirty="0"/>
              <a:t>In the bottom-right diagram, you see two X marks (one red and one blue). These represent the randomly selected training examples. We then set the initial centroids mu_1 and mu_2 equal to these selected examples.</a:t>
            </a:r>
          </a:p>
          <a:p>
            <a:r>
              <a:rPr lang="en-US" dirty="0"/>
              <a:t>Notice something important: the selected centroids might not be at the center of the true clusters. They may even both start near one side or in suboptimal positions. That is normal. K-means will later move these centroids during the update steps.</a:t>
            </a:r>
          </a:p>
          <a:p>
            <a:r>
              <a:rPr lang="en-US" dirty="0"/>
              <a:t>So random initialization means:</a:t>
            </a:r>
          </a:p>
          <a:p>
            <a:pPr>
              <a:buFont typeface="Arial" panose="020B0604020202020204" pitchFamily="34" charset="0"/>
              <a:buChar char="•"/>
            </a:pPr>
            <a:r>
              <a:rPr lang="en-US" dirty="0"/>
              <a:t>Randomly choose K data points.</a:t>
            </a:r>
          </a:p>
          <a:p>
            <a:pPr>
              <a:buFont typeface="Arial" panose="020B0604020202020204" pitchFamily="34" charset="0"/>
              <a:buChar char="•"/>
            </a:pPr>
            <a:r>
              <a:rPr lang="en-US" dirty="0"/>
              <a:t>Use their coordinates as the initial centroids.</a:t>
            </a:r>
          </a:p>
          <a:p>
            <a:pPr>
              <a:buFont typeface="Arial" panose="020B0604020202020204" pitchFamily="34" charset="0"/>
              <a:buChar char="•"/>
            </a:pPr>
            <a:r>
              <a:rPr lang="en-US" dirty="0"/>
              <a:t>Then start the iterative process of assignment and updating.</a:t>
            </a:r>
          </a:p>
          <a:p>
            <a:r>
              <a:rPr lang="en-US" dirty="0"/>
              <a:t>The algorithm relies on repeated updates to move these initially random centroids toward better positions.</a:t>
            </a:r>
          </a:p>
          <a:p>
            <a:pPr marL="0" algn="l" defTabSz="914400" rtl="0" eaLnBrk="1" latinLnBrk="0" hangingPunct="1"/>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35</a:t>
            </a:fld>
            <a:endParaRPr lang="en-IL"/>
          </a:p>
        </p:txBody>
      </p:sp>
    </p:spTree>
    <p:extLst>
      <p:ext uri="{BB962C8B-B14F-4D97-AF65-F5344CB8AC3E}">
        <p14:creationId xmlns:p14="http://schemas.microsoft.com/office/powerpoint/2010/main" val="39761300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illustrates why random initialization can lead to different results when K = 3.</a:t>
            </a:r>
          </a:p>
          <a:p>
            <a:r>
              <a:rPr lang="en-US" dirty="0"/>
              <a:t>We start with the same dataset, but because the initial centroids are chosen randomly, each run of K-means may begin with different starting points. As the algorithm repeats the assignment and update steps, the centroids move and the clusters are formed.</a:t>
            </a:r>
          </a:p>
          <a:p>
            <a:r>
              <a:rPr lang="en-US" dirty="0"/>
              <a:t>In some cases, the algorithm finds a good clustering where each group is compact and well separated. In other cases, poor initial centroids may lead to less optimal clusters with higher cost J.</a:t>
            </a:r>
          </a:p>
          <a:p>
            <a:r>
              <a:rPr lang="en-US" dirty="0"/>
              <a:t>This slide shows that K-means can converge to different local minima depending on initialization. That is why it is recommended to run K-means multiple times with different random initializations and choose the clustering with the lowest cost.</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36</a:t>
            </a:fld>
            <a:endParaRPr lang="en-IL"/>
          </a:p>
        </p:txBody>
      </p:sp>
    </p:spTree>
    <p:extLst>
      <p:ext uri="{BB962C8B-B14F-4D97-AF65-F5344CB8AC3E}">
        <p14:creationId xmlns:p14="http://schemas.microsoft.com/office/powerpoint/2010/main" val="9670506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r>
              <a:rPr lang="en-US" dirty="0"/>
              <a:t>This slide explains an important idea about K-means: different initializations can lead to different final costs.</a:t>
            </a:r>
          </a:p>
          <a:p>
            <a:r>
              <a:rPr lang="en-US" dirty="0"/>
              <a:t>Here we set K = 3 and run K-means multiple times with different random initial centroids. Even though we use the same dataset, each run may produce different clustering results. These results are labeled as J1, J2, and J3, which represent different final values of the cost function J.</a:t>
            </a:r>
          </a:p>
          <a:p>
            <a:r>
              <a:rPr lang="en-US" dirty="0"/>
              <a:t>Remember that the cost function J equals one divided by m times the sum of the squared distances between each point x^(</a:t>
            </a:r>
            <a:r>
              <a:rPr lang="en-US" dirty="0" err="1"/>
              <a:t>i</a:t>
            </a:r>
            <a:r>
              <a:rPr lang="en-US" dirty="0"/>
              <a:t>) and its assigned centroid mu^(c^(</a:t>
            </a:r>
            <a:r>
              <a:rPr lang="en-US" dirty="0" err="1"/>
              <a:t>i</a:t>
            </a:r>
            <a:r>
              <a:rPr lang="en-US" dirty="0"/>
              <a:t>)). The smaller the value of J, the better the clustering, because it means the points are closer to their cluster centers.</a:t>
            </a:r>
          </a:p>
          <a:p>
            <a:r>
              <a:rPr lang="en-US" dirty="0"/>
              <a:t>In some runs, the centroids are initialized in good positions, and the algorithm converges to a solution with small cost (for example J1). In other runs, poor initialization may cause the algorithm to converge to a worse local minimum, giving a larger cost (for example J2 or J3).</a:t>
            </a:r>
          </a:p>
          <a:p>
            <a:endParaRPr lang="en-US" dirty="0"/>
          </a:p>
          <a:p>
            <a:r>
              <a:rPr lang="en-US" dirty="0"/>
              <a:t>This slide teaches a very important practical lesson: K-means does not always find the global minimum. It may converge to a local minimum depending on the initial centroids. Therefore, in practice, we run K-means multiple times with different random initializations and choose the solution that gives the smallest cost J.</a:t>
            </a:r>
          </a:p>
          <a:p>
            <a:r>
              <a:rPr lang="en-US" dirty="0"/>
              <a:t>This approach increases the chance of finding a better and more meaningful clustering result.</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37</a:t>
            </a:fld>
            <a:endParaRPr lang="en-IL"/>
          </a:p>
        </p:txBody>
      </p:sp>
    </p:spTree>
    <p:extLst>
      <p:ext uri="{BB962C8B-B14F-4D97-AF65-F5344CB8AC3E}">
        <p14:creationId xmlns:p14="http://schemas.microsoft.com/office/powerpoint/2010/main" val="21067574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explains the recommended practical strategy for random initialization in K-means.</a:t>
            </a:r>
          </a:p>
          <a:p>
            <a:r>
              <a:rPr lang="en-US" dirty="0"/>
              <a:t>Instead of running K-means only once, we repeat the algorithm many times. For example, we may run it from </a:t>
            </a:r>
            <a:r>
              <a:rPr lang="en-US" dirty="0" err="1"/>
              <a:t>i</a:t>
            </a:r>
            <a:r>
              <a:rPr lang="en-US" dirty="0"/>
              <a:t> = 1 to 100, or even between 50 and 1000 times, depending on the problem size.</a:t>
            </a:r>
          </a:p>
          <a:p>
            <a:r>
              <a:rPr lang="en-US" dirty="0"/>
              <a:t>In each run, we randomly initialize the K centroids using K random training examples. Then we run the full K-means algorithm until convergence. After it finishes, we compute the cost function J, which measures the distortion or total squared distance between points and their assigned centroids.</a:t>
            </a:r>
          </a:p>
          <a:p>
            <a:endParaRPr lang="ar-SA" dirty="0"/>
          </a:p>
          <a:p>
            <a:r>
              <a:rPr lang="en-US" dirty="0"/>
              <a:t>At the end of all runs, we compare the cost values from each run and select the clustering that produced the lowest cost J. This solution is considered the best among the different random initializations.</a:t>
            </a:r>
          </a:p>
          <a:p>
            <a:r>
              <a:rPr lang="en-US" dirty="0"/>
              <a:t>This method significantly improves the chance of finding a better clustering solution and reduces the risk of getting stuck in a poor local minimum.</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38</a:t>
            </a:fld>
            <a:endParaRPr lang="en-IL"/>
          </a:p>
        </p:txBody>
      </p:sp>
    </p:spTree>
    <p:extLst>
      <p:ext uri="{BB962C8B-B14F-4D97-AF65-F5344CB8AC3E}">
        <p14:creationId xmlns:p14="http://schemas.microsoft.com/office/powerpoint/2010/main" val="25500543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 y="228600"/>
            <a:ext cx="5010150" cy="2819400"/>
          </a:xfrm>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79BBB273-ED2E-2840-AC7B-A59E28EC39A1}" type="slidenum">
              <a:rPr lang="en-IL" smtClean="0"/>
              <a:t>39</a:t>
            </a:fld>
            <a:endParaRPr lang="en-IL"/>
          </a:p>
        </p:txBody>
      </p:sp>
    </p:spTree>
    <p:extLst>
      <p:ext uri="{BB962C8B-B14F-4D97-AF65-F5344CB8AC3E}">
        <p14:creationId xmlns:p14="http://schemas.microsoft.com/office/powerpoint/2010/main" val="32050463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In this section, we address an important practical question in clustering: how do we choose the number of clusters K?</a:t>
            </a:r>
          </a:p>
          <a:p>
            <a:r>
              <a:rPr lang="en-US" dirty="0"/>
              <a:t>The value of K must be selected before running K-means, but in many real-world problems, the correct number of clusters is not known in advance. Choosing K too small may combine different groups into one cluster, while choosing K too large may split natural groups into smaller, unnecessary clusters.</a:t>
            </a:r>
          </a:p>
          <a:p>
            <a:r>
              <a:rPr lang="en-US" dirty="0"/>
              <a:t>In the next slides, we will discuss practical methods for selecting a good value of K, including techniques such as analyzing the cost function and using the elbow method.</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40</a:t>
            </a:fld>
            <a:endParaRPr lang="en-IL"/>
          </a:p>
        </p:txBody>
      </p:sp>
    </p:spTree>
    <p:extLst>
      <p:ext uri="{BB962C8B-B14F-4D97-AF65-F5344CB8AC3E}">
        <p14:creationId xmlns:p14="http://schemas.microsoft.com/office/powerpoint/2010/main" val="20743657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highlights the difficulty of choosing the correct value of K.</a:t>
            </a:r>
          </a:p>
          <a:p>
            <a:r>
              <a:rPr lang="en-US" dirty="0"/>
              <a:t>In the figure, we see data that could reasonably be grouped in different ways. If we choose K = 2, we might create two larger clusters that contain smaller subgroups inside them. If we choose K = 4, we might separate those smaller subgroups into individual clusters.</a:t>
            </a:r>
          </a:p>
          <a:p>
            <a:r>
              <a:rPr lang="en-US" dirty="0"/>
              <a:t>Both choices may seem reasonable depending on the context. There is no single “correct” value of K in all situations. The right choice depends on the structure of the data and on the goal of the analysis.</a:t>
            </a:r>
          </a:p>
          <a:p>
            <a:r>
              <a:rPr lang="en-US" dirty="0"/>
              <a:t>This slide emphasizes that selecting K is not always obvious and requires careful evaluation using systematic methods, which we will study next.</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41</a:t>
            </a:fld>
            <a:endParaRPr lang="en-IL"/>
          </a:p>
        </p:txBody>
      </p:sp>
    </p:spTree>
    <p:extLst>
      <p:ext uri="{BB962C8B-B14F-4D97-AF65-F5344CB8AC3E}">
        <p14:creationId xmlns:p14="http://schemas.microsoft.com/office/powerpoint/2010/main" val="25041368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explains the Elbow Method for choosing the value of K.</a:t>
            </a:r>
          </a:p>
          <a:p>
            <a:r>
              <a:rPr lang="en-US" dirty="0"/>
              <a:t>We plot the cost function J on the vertical axis and the number of clusters K on the horizontal axis. As K increases, the cost J always decreases because adding more clusters reduces the distance between points and their centroids.</a:t>
            </a:r>
          </a:p>
          <a:p>
            <a:r>
              <a:rPr lang="en-US" dirty="0"/>
              <a:t>However, we do not choose K simply by minimizing J, because J will keep decreasing as K increases. Instead, we look for a point where the decrease in cost becomes much slower. This point looks like an “elbow” in the curve.</a:t>
            </a:r>
          </a:p>
          <a:p>
            <a:r>
              <a:rPr lang="en-US" dirty="0"/>
              <a:t>The idea is that before the elbow, increasing K gives a large improvement in reducing cost. After the elbow, increasing K gives only small improvement. Therefore, the value of K at the elbow is often a good choice.</a:t>
            </a:r>
          </a:p>
          <a:p>
            <a:r>
              <a:rPr lang="en-US" dirty="0"/>
              <a:t>However, as shown in the second graph, sometimes the elbow is not very clear. In such cases, choosing K can be ambiguous, and we may need additional judgment or domain knowledge.</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42</a:t>
            </a:fld>
            <a:endParaRPr lang="en-IL"/>
          </a:p>
        </p:txBody>
      </p:sp>
    </p:spTree>
    <p:extLst>
      <p:ext uri="{BB962C8B-B14F-4D97-AF65-F5344CB8AC3E}">
        <p14:creationId xmlns:p14="http://schemas.microsoft.com/office/powerpoint/2010/main" val="40387187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explains that choosing K often depends on the final goal of clustering.</a:t>
            </a:r>
          </a:p>
          <a:p>
            <a:r>
              <a:rPr lang="en-US" dirty="0"/>
              <a:t>Sometimes clustering is not the final objective. Instead, it is used for a later task, called a downstream purpose. For example, in T-shirt sizing based on height and weight, the goal may be to define size categories such as S, M, and L.</a:t>
            </a:r>
          </a:p>
          <a:p>
            <a:r>
              <a:rPr lang="en-US" dirty="0"/>
              <a:t>If we choose K = 3, we may obtain three clusters that correspond roughly to small, medium, and large sizes. However, if the business requires more detailed sizing such as XS, S, M, L, and XL, then choosing K = 5 may be more appropriate.</a:t>
            </a:r>
          </a:p>
          <a:p>
            <a:r>
              <a:rPr lang="en-US" dirty="0"/>
              <a:t>This slide shows that the “best” value of K is not always determined only by minimizing the cost function. Instead, it should also consider how useful the clusters are for the final application. Domain knowledge and practical needs play an important role in selecting K.</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43</a:t>
            </a:fld>
            <a:endParaRPr lang="en-IL"/>
          </a:p>
        </p:txBody>
      </p:sp>
    </p:spTree>
    <p:extLst>
      <p:ext uri="{BB962C8B-B14F-4D97-AF65-F5344CB8AC3E}">
        <p14:creationId xmlns:p14="http://schemas.microsoft.com/office/powerpoint/2010/main" val="23227180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introduces a practical exercise: image compression using K-means clustering.</a:t>
            </a:r>
          </a:p>
          <a:p>
            <a:r>
              <a:rPr lang="en-US" dirty="0"/>
              <a:t>In this lab, we apply clustering to images. Each pixel in an image has color values, usually represented by three numbers (for example, red, green, and blue). These color values can be treated as features of a data point.</a:t>
            </a:r>
          </a:p>
          <a:p>
            <a:r>
              <a:rPr lang="en-US" dirty="0"/>
              <a:t>The idea is to use K-means to reduce the number of colors in the image. Instead of using many different colors, we group similar colors into K clusters. Then, each pixel is replaced by the color of its cluster centroid.</a:t>
            </a:r>
          </a:p>
          <a:p>
            <a:r>
              <a:rPr lang="en-US" dirty="0"/>
              <a:t>As a result, the image uses fewer distinct colors, which reduces storage size while keeping the overall appearance similar. This exercise helps students see how clustering can be used in a real-world application such as image compression.</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44</a:t>
            </a:fld>
            <a:endParaRPr lang="en-IL"/>
          </a:p>
        </p:txBody>
      </p:sp>
    </p:spTree>
    <p:extLst>
      <p:ext uri="{BB962C8B-B14F-4D97-AF65-F5344CB8AC3E}">
        <p14:creationId xmlns:p14="http://schemas.microsoft.com/office/powerpoint/2010/main" val="12452427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 y="228600"/>
            <a:ext cx="5010150" cy="2819400"/>
          </a:xfrm>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45</a:t>
            </a:fld>
            <a:endParaRPr lang="en-IL"/>
          </a:p>
        </p:txBody>
      </p:sp>
    </p:spTree>
    <p:extLst>
      <p:ext uri="{BB962C8B-B14F-4D97-AF65-F5344CB8AC3E}">
        <p14:creationId xmlns:p14="http://schemas.microsoft.com/office/powerpoint/2010/main" val="11118325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r>
              <a:rPr lang="en-US" dirty="0"/>
              <a:t>In this section, we introduce anomaly detection, which is another important unsupervised learning method.</a:t>
            </a:r>
          </a:p>
          <a:p>
            <a:r>
              <a:rPr lang="en-US" dirty="0"/>
              <a:t>Unlike clustering, where we group similar data points, anomaly detection focuses on finding unusual or rare events in a dataset. These unusual examples are called anomalies or outliers. They are data points that look very different from the majority of the data.</a:t>
            </a:r>
          </a:p>
          <a:p>
            <a:r>
              <a:rPr lang="en-US" dirty="0"/>
              <a:t>The goal of anomaly detection is to build a model of what “normal” data looks like. Then, when a new example appears, we check whether it is similar to normal data or very different. If it is very unlikely under the model, we classify it as an anomaly.</a:t>
            </a:r>
          </a:p>
          <a:p>
            <a:r>
              <a:rPr lang="en-US" dirty="0"/>
              <a:t>This method is widely used in fraud detection, network security, fault detection in machines, and medical diagnosis. In the next slides, we will see how to model normal data and mathematically decide whether an example is unusual.</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46</a:t>
            </a:fld>
            <a:endParaRPr lang="en-IL"/>
          </a:p>
        </p:txBody>
      </p:sp>
    </p:spTree>
    <p:extLst>
      <p:ext uri="{BB962C8B-B14F-4D97-AF65-F5344CB8AC3E}">
        <p14:creationId xmlns:p14="http://schemas.microsoft.com/office/powerpoint/2010/main" val="17579509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228600"/>
            <a:ext cx="5010150" cy="2819400"/>
          </a:xfrm>
        </p:spPr>
      </p:sp>
      <p:sp>
        <p:nvSpPr>
          <p:cNvPr id="3" name="Notes Placeholder 2"/>
          <p:cNvSpPr>
            <a:spLocks noGrp="1"/>
          </p:cNvSpPr>
          <p:nvPr>
            <p:ph type="body" idx="1"/>
          </p:nvPr>
        </p:nvSpPr>
        <p:spPr/>
        <p:txBody>
          <a:bodyPr/>
          <a:lstStyle/>
          <a:p>
            <a:r>
              <a:rPr lang="en-US" dirty="0"/>
              <a:t>This slide shows a practical example of anomaly detection using aircraft engine data.</a:t>
            </a:r>
          </a:p>
          <a:p>
            <a:r>
              <a:rPr lang="en-US" dirty="0"/>
              <a:t>Suppose we collect features from aircraft engines, such as x1 equals heat generated and x2 equals vibration intensity. We build a dataset consisting of normal engines, written as x^(1), x^(2), …, x^(m). These examples represent engines that are operating correctly.</a:t>
            </a:r>
          </a:p>
          <a:p>
            <a:r>
              <a:rPr lang="en-US" dirty="0"/>
              <a:t>We use this dataset to learn what “normal” behavior looks like. Most of the normal engines will form a dense region in the feature space, as shown in the figure.</a:t>
            </a:r>
          </a:p>
          <a:p>
            <a:r>
              <a:rPr lang="en-US" dirty="0"/>
              <a:t>Now suppose we receive a new engine measurement called </a:t>
            </a:r>
            <a:r>
              <a:rPr lang="en-US" dirty="0" err="1"/>
              <a:t>x_test</a:t>
            </a:r>
            <a:r>
              <a:rPr lang="en-US" dirty="0"/>
              <a:t>. We compare </a:t>
            </a:r>
            <a:r>
              <a:rPr lang="en-US" dirty="0" err="1"/>
              <a:t>x_test</a:t>
            </a:r>
            <a:r>
              <a:rPr lang="en-US" dirty="0"/>
              <a:t> to the learned model of normal behavior. If </a:t>
            </a:r>
            <a:r>
              <a:rPr lang="en-US" dirty="0" err="1"/>
              <a:t>x_test</a:t>
            </a:r>
            <a:r>
              <a:rPr lang="en-US" dirty="0"/>
              <a:t> falls inside the normal region, we classify it as OK. If it is far away from the normal cluster, we classify it as an anomaly.</a:t>
            </a:r>
          </a:p>
          <a:p>
            <a:r>
              <a:rPr lang="en-US" dirty="0"/>
              <a:t>This is the key idea of anomaly detection: model normal data, and flag new examples that are very different from normal behavior.</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47</a:t>
            </a:fld>
            <a:endParaRPr lang="en-IL"/>
          </a:p>
        </p:txBody>
      </p:sp>
    </p:spTree>
    <p:extLst>
      <p:ext uri="{BB962C8B-B14F-4D97-AF65-F5344CB8AC3E}">
        <p14:creationId xmlns:p14="http://schemas.microsoft.com/office/powerpoint/2010/main" val="41682071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r>
              <a:rPr lang="en-US" dirty="0"/>
              <a:t>This slide explains the main idea behind anomaly detection using density estimation.</a:t>
            </a:r>
          </a:p>
          <a:p>
            <a:r>
              <a:rPr lang="en-US" dirty="0"/>
              <a:t>We start with a dataset x^(1), x^(2), …, x^(m) that represents normal examples. From this data, we build a model p(x), which estimates the probability of seeing a data point x. In simple terms, p(x) tells us how likely a point is under the normal behavior of the system.</a:t>
            </a:r>
          </a:p>
          <a:p>
            <a:r>
              <a:rPr lang="en-US" dirty="0"/>
              <a:t>When a new example </a:t>
            </a:r>
            <a:r>
              <a:rPr lang="en-US" dirty="0" err="1"/>
              <a:t>x_test</a:t>
            </a:r>
            <a:r>
              <a:rPr lang="en-US" dirty="0"/>
              <a:t> arrives, we compute p(</a:t>
            </a:r>
            <a:r>
              <a:rPr lang="en-US" dirty="0" err="1"/>
              <a:t>x_test</a:t>
            </a:r>
            <a:r>
              <a:rPr lang="en-US" dirty="0"/>
              <a:t>). If p(</a:t>
            </a:r>
            <a:r>
              <a:rPr lang="en-US" dirty="0" err="1"/>
              <a:t>x_test</a:t>
            </a:r>
            <a:r>
              <a:rPr lang="en-US" dirty="0"/>
              <a:t>) is large, this means the example is likely and similar to the normal data. In this case, we classify it as normal.</a:t>
            </a:r>
          </a:p>
          <a:p>
            <a:r>
              <a:rPr lang="en-US" dirty="0"/>
              <a:t>If p(</a:t>
            </a:r>
            <a:r>
              <a:rPr lang="en-US" dirty="0" err="1"/>
              <a:t>x_test</a:t>
            </a:r>
            <a:r>
              <a:rPr lang="en-US" dirty="0"/>
              <a:t>) is very small, this means the example is unlikely under the model. We compare it to a small threshold called epsilon. If p(</a:t>
            </a:r>
            <a:r>
              <a:rPr lang="en-US" dirty="0" err="1"/>
              <a:t>x_test</a:t>
            </a:r>
            <a:r>
              <a:rPr lang="en-US" dirty="0"/>
              <a:t>) is less than epsilon, we declare it an anomaly.</a:t>
            </a:r>
          </a:p>
          <a:p>
            <a:r>
              <a:rPr lang="en-US" dirty="0"/>
              <a:t>So the decision rule is simple:</a:t>
            </a:r>
            <a:br>
              <a:rPr lang="en-US" dirty="0"/>
            </a:br>
            <a:r>
              <a:rPr lang="en-US" dirty="0"/>
              <a:t>If p(</a:t>
            </a:r>
            <a:r>
              <a:rPr lang="en-US" dirty="0" err="1"/>
              <a:t>x_test</a:t>
            </a:r>
            <a:r>
              <a:rPr lang="en-US" dirty="0"/>
              <a:t>) is greater than or equal to epsilon, the example is normal.</a:t>
            </a:r>
            <a:br>
              <a:rPr lang="en-US" dirty="0"/>
            </a:br>
            <a:r>
              <a:rPr lang="en-US" dirty="0"/>
              <a:t>If p(</a:t>
            </a:r>
            <a:r>
              <a:rPr lang="en-US" dirty="0" err="1"/>
              <a:t>x_test</a:t>
            </a:r>
            <a:r>
              <a:rPr lang="en-US" dirty="0"/>
              <a:t>) is less than epsilon, the example is an anomaly.</a:t>
            </a:r>
          </a:p>
          <a:p>
            <a:r>
              <a:rPr lang="en-US" dirty="0"/>
              <a:t>This approach models normal data and flags any very low-probability example as unusual.</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48</a:t>
            </a:fld>
            <a:endParaRPr lang="en-IL"/>
          </a:p>
        </p:txBody>
      </p:sp>
    </p:spTree>
    <p:extLst>
      <p:ext uri="{BB962C8B-B14F-4D97-AF65-F5344CB8AC3E}">
        <p14:creationId xmlns:p14="http://schemas.microsoft.com/office/powerpoint/2010/main" val="14888689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r>
              <a:rPr lang="en-US" dirty="0"/>
              <a:t>This slide gives several real-world applications of anomaly detection.</a:t>
            </a:r>
          </a:p>
          <a:p>
            <a:r>
              <a:rPr lang="en-US" dirty="0"/>
              <a:t>In fraud detection, each example x^(</a:t>
            </a:r>
            <a:r>
              <a:rPr lang="en-US" dirty="0" err="1"/>
              <a:t>i</a:t>
            </a:r>
            <a:r>
              <a:rPr lang="en-US" dirty="0"/>
              <a:t>) represents features of a user’s activities, such as how often they log in, how many web pages they visit, how many transactions they make, or their typing speed. We build a model p(x) from normal user behavior. If a user has p(x) less than epsilon, we flag the activity as unusual. After that, additional checks are often performed to distinguish real fraud from false alarms.</a:t>
            </a:r>
          </a:p>
          <a:p>
            <a:r>
              <a:rPr lang="en-US" dirty="0"/>
              <a:t>In manufacturing, x^(</a:t>
            </a:r>
            <a:r>
              <a:rPr lang="en-US" dirty="0" err="1"/>
              <a:t>i</a:t>
            </a:r>
            <a:r>
              <a:rPr lang="en-US" dirty="0"/>
              <a:t>) may represent features of a product, such as measurements from an airplane engine, a circuit board, or a smartphone. If the product’s features are very unlikely under the normal model, it may indicate a defect.</a:t>
            </a:r>
          </a:p>
          <a:p>
            <a:r>
              <a:rPr lang="en-US" dirty="0"/>
              <a:t>In monitoring computers in a data center, x^(</a:t>
            </a:r>
            <a:r>
              <a:rPr lang="en-US" dirty="0" err="1"/>
              <a:t>i</a:t>
            </a:r>
            <a:r>
              <a:rPr lang="en-US" dirty="0"/>
              <a:t>) can represent machine features such as memory usage, number of disk accesses per second, CPU load, or network traffic. If these values behave abnormally compared to normal operation, the system can detect possible failures or attacks.</a:t>
            </a:r>
          </a:p>
          <a:p>
            <a:r>
              <a:rPr lang="en-US" dirty="0"/>
              <a:t>These examples show that anomaly detection is widely used in finance, industry, and technology to identify rare but important abnormal events.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49</a:t>
            </a:fld>
            <a:endParaRPr lang="en-IL"/>
          </a:p>
        </p:txBody>
      </p:sp>
    </p:spTree>
    <p:extLst>
      <p:ext uri="{BB962C8B-B14F-4D97-AF65-F5344CB8AC3E}">
        <p14:creationId xmlns:p14="http://schemas.microsoft.com/office/powerpoint/2010/main" val="39651224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133350" y="3381022"/>
            <a:ext cx="4724400" cy="5305779"/>
          </a:xfrm>
        </p:spPr>
        <p:txBody>
          <a:bodyPr/>
          <a:lstStyle/>
          <a:p>
            <a:pPr marL="0" algn="r" defTabSz="914400" rtl="1" eaLnBrk="1" latinLnBrk="0" hangingPunct="1"/>
            <a:endParaRPr lang="en-IL"/>
          </a:p>
        </p:txBody>
      </p:sp>
      <p:sp>
        <p:nvSpPr>
          <p:cNvPr id="4" name="Slide Number Placeholder 3"/>
          <p:cNvSpPr>
            <a:spLocks noGrp="1"/>
          </p:cNvSpPr>
          <p:nvPr>
            <p:ph type="sldNum" sz="quarter" idx="5"/>
          </p:nvPr>
        </p:nvSpPr>
        <p:spPr/>
        <p:txBody>
          <a:bodyPr/>
          <a:lstStyle/>
          <a:p>
            <a:fld id="{79BBB273-ED2E-2840-AC7B-A59E28EC39A1}" type="slidenum">
              <a:rPr lang="en-IL" smtClean="0"/>
              <a:t>50</a:t>
            </a:fld>
            <a:endParaRPr lang="en-IL"/>
          </a:p>
        </p:txBody>
      </p:sp>
    </p:spTree>
    <p:extLst>
      <p:ext uri="{BB962C8B-B14F-4D97-AF65-F5344CB8AC3E}">
        <p14:creationId xmlns:p14="http://schemas.microsoft.com/office/powerpoint/2010/main" val="7259664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In this section, we introduce the Gaussian (Normal) distribution, which is a key tool for anomaly detection.</a:t>
            </a:r>
          </a:p>
          <a:p>
            <a:r>
              <a:rPr lang="en-US" dirty="0"/>
              <a:t>To detect anomalies, we need to model the probability p(x) of normal data. The Gaussian distribution is commonly used for this purpose because many real-world measurements follow a bell-shaped pattern around a mean value.</a:t>
            </a:r>
          </a:p>
          <a:p>
            <a:r>
              <a:rPr lang="en-US" dirty="0"/>
              <a:t>The Gaussian distribution is defined by two main parameters: the mean, which represents the average value, and the variance, which measures how spread out the data is around the mean.</a:t>
            </a:r>
          </a:p>
          <a:p>
            <a:r>
              <a:rPr lang="en-US" dirty="0"/>
              <a:t>In the next slides, we will learn the formula of the Gaussian distribution and see how to estimate its parameters from data in order to compute p(x) for anomaly detection.</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51</a:t>
            </a:fld>
            <a:endParaRPr lang="en-IL"/>
          </a:p>
        </p:txBody>
      </p:sp>
    </p:spTree>
    <p:extLst>
      <p:ext uri="{BB962C8B-B14F-4D97-AF65-F5344CB8AC3E}">
        <p14:creationId xmlns:p14="http://schemas.microsoft.com/office/powerpoint/2010/main" val="30829957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r>
              <a:rPr lang="en-US" dirty="0"/>
              <a:t>This slide introduces the Gaussian, also called the Normal distribution.</a:t>
            </a:r>
          </a:p>
          <a:p>
            <a:r>
              <a:rPr lang="en-US" dirty="0"/>
              <a:t>Suppose x is a real number. We assume that x follows a Gaussian distribution defined by two parameters: mu and sigma squared. Mu is the mean, which represents the average value of the data. Sigma squared is the variance, which measures how spread out the data is around the mean. The square root of the variance is called sigma, which is the standard deviation.</a:t>
            </a:r>
          </a:p>
          <a:p>
            <a:r>
              <a:rPr lang="en-US" dirty="0"/>
              <a:t>The probability density function is written as:</a:t>
            </a:r>
          </a:p>
          <a:p>
            <a:r>
              <a:rPr lang="en-US" dirty="0"/>
              <a:t>p(x) equals one divided by the square root of 2 times pi times sigma squared, multiplied by e raised to the power of minus (x minus mu) squared divided by 2 times sigma squared.</a:t>
            </a:r>
          </a:p>
          <a:p>
            <a:r>
              <a:rPr lang="en-US" dirty="0"/>
              <a:t>In simple terms, this formula gives the probability density of x. The curve has a bell shape centered at mu. Most values are concentrated near the mean, and the probability decreases as we move farther away from mu.</a:t>
            </a:r>
          </a:p>
          <a:p>
            <a:r>
              <a:rPr lang="en-US" dirty="0"/>
              <a:t>The parameter sigma controls the width of the curve. If sigma is small, the curve is narrow and tall. If sigma is large, the curve is wider and flatter.</a:t>
            </a:r>
          </a:p>
          <a:p>
            <a:r>
              <a:rPr lang="en-US" dirty="0"/>
              <a:t>This Gaussian model will be used to estimate p(x) in anomaly detection, so that we can determine whether a new example is likely or unlikely.</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52</a:t>
            </a:fld>
            <a:endParaRPr lang="en-IL"/>
          </a:p>
        </p:txBody>
      </p:sp>
    </p:spTree>
    <p:extLst>
      <p:ext uri="{BB962C8B-B14F-4D97-AF65-F5344CB8AC3E}">
        <p14:creationId xmlns:p14="http://schemas.microsoft.com/office/powerpoint/2010/main" val="28417547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r>
              <a:rPr lang="en-US" dirty="0"/>
              <a:t>This slide shows how changing the parameters mu and sigma affects the shape of the Gaussian distribution.</a:t>
            </a:r>
          </a:p>
          <a:p>
            <a:r>
              <a:rPr lang="en-US" dirty="0"/>
              <a:t>In the first example, mu equals 0 and sigma equals 1. The curve is centered at 0 and has a standard spread.</a:t>
            </a:r>
          </a:p>
          <a:p>
            <a:r>
              <a:rPr lang="en-US" dirty="0"/>
              <a:t>In the second example, mu equals 0 and sigma equals 2. Since sigma is larger, the curve becomes wider and flatter. The variance sigma squared equals 4 in this case. This means the data is more spread out around the mean.</a:t>
            </a:r>
          </a:p>
          <a:p>
            <a:r>
              <a:rPr lang="en-US" dirty="0"/>
              <a:t>In the third example, mu equals 0 and sigma equals 0.5. Here sigma squared equals 0.25, so the curve becomes narrower and taller. This means the data is more concentrated around the mean.</a:t>
            </a:r>
          </a:p>
          <a:p>
            <a:r>
              <a:rPr lang="en-US" dirty="0"/>
              <a:t>In the last example, mu equals 3 and sigma equals 0.5. The shape is narrow like before, but the entire curve is shifted to the right because the mean has changed from 0 to 3.</a:t>
            </a:r>
          </a:p>
          <a:p>
            <a:r>
              <a:rPr lang="en-US" dirty="0"/>
              <a:t>This slide helps students understand that mu controls the center of the distribution, while sigma controls how wide or narrow the distribution is.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53</a:t>
            </a:fld>
            <a:endParaRPr lang="en-IL"/>
          </a:p>
        </p:txBody>
      </p:sp>
    </p:spTree>
    <p:extLst>
      <p:ext uri="{BB962C8B-B14F-4D97-AF65-F5344CB8AC3E}">
        <p14:creationId xmlns:p14="http://schemas.microsoft.com/office/powerpoint/2010/main" val="32990017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 y="228600"/>
            <a:ext cx="5010150" cy="2819400"/>
          </a:xfrm>
        </p:spPr>
      </p:sp>
      <p:sp>
        <p:nvSpPr>
          <p:cNvPr id="3" name="Notes Placeholder 2"/>
          <p:cNvSpPr>
            <a:spLocks noGrp="1"/>
          </p:cNvSpPr>
          <p:nvPr>
            <p:ph type="body" idx="1"/>
          </p:nvPr>
        </p:nvSpPr>
        <p:spPr/>
        <p:txBody>
          <a:bodyPr/>
          <a:lstStyle/>
          <a:p>
            <a:r>
              <a:rPr lang="en-US" dirty="0"/>
              <a:t>This slide explains how we estimate the parameters of the Gaussian distribution from data.</a:t>
            </a:r>
          </a:p>
          <a:p>
            <a:r>
              <a:rPr lang="en-US" dirty="0"/>
              <a:t>Suppose we have a dataset x^(1), x^(2), …, x^(m), where each x is a number (one feature). We want to estimate the parameters mu and sigma squared that best describe the data.</a:t>
            </a:r>
          </a:p>
          <a:p>
            <a:r>
              <a:rPr lang="en-US" dirty="0"/>
              <a:t>The mean mu is calculated as:</a:t>
            </a:r>
          </a:p>
          <a:p>
            <a:r>
              <a:rPr lang="en-US" dirty="0"/>
              <a:t>mu equals one divided by m times the sum from </a:t>
            </a:r>
            <a:r>
              <a:rPr lang="en-US" dirty="0" err="1"/>
              <a:t>i</a:t>
            </a:r>
            <a:r>
              <a:rPr lang="en-US" dirty="0"/>
              <a:t> equals 1 to m of x^(</a:t>
            </a:r>
            <a:r>
              <a:rPr lang="en-US" dirty="0" err="1"/>
              <a:t>i</a:t>
            </a:r>
            <a:r>
              <a:rPr lang="en-US" dirty="0"/>
              <a:t>).</a:t>
            </a:r>
          </a:p>
          <a:p>
            <a:r>
              <a:rPr lang="en-US" dirty="0"/>
              <a:t>In simple words, mu is the average of all training examples.</a:t>
            </a:r>
          </a:p>
          <a:p>
            <a:r>
              <a:rPr lang="en-US" dirty="0"/>
              <a:t>The variance sigma squared is calculated as:</a:t>
            </a:r>
          </a:p>
          <a:p>
            <a:r>
              <a:rPr lang="en-US" dirty="0"/>
              <a:t>sigma squared equals one divided by m times the sum from </a:t>
            </a:r>
            <a:r>
              <a:rPr lang="en-US" dirty="0" err="1"/>
              <a:t>i</a:t>
            </a:r>
            <a:r>
              <a:rPr lang="en-US" dirty="0"/>
              <a:t> equals 1 to m of (x^(</a:t>
            </a:r>
            <a:r>
              <a:rPr lang="en-US" dirty="0" err="1"/>
              <a:t>i</a:t>
            </a:r>
            <a:r>
              <a:rPr lang="en-US" dirty="0"/>
              <a:t>) minus mu) squared.</a:t>
            </a:r>
          </a:p>
          <a:p>
            <a:r>
              <a:rPr lang="en-US" dirty="0"/>
              <a:t>This measures how far the data points are spread around the mean.</a:t>
            </a:r>
          </a:p>
          <a:p>
            <a:r>
              <a:rPr lang="en-US" dirty="0"/>
              <a:t>These formulas come from maximum likelihood estimation, which chooses the parameters mu and sigma squared that make the observed data most likely under the Gaussian model.</a:t>
            </a:r>
          </a:p>
          <a:p>
            <a:r>
              <a:rPr lang="en-US" dirty="0"/>
              <a:t>Once we estimate mu and sigma squared from normal data, we can compute p(x) for any new example and decide whether it is normal or anomalous.</a:t>
            </a:r>
          </a:p>
          <a:p>
            <a:pPr marL="0" algn="r" defTabSz="914400" rtl="1" eaLnBrk="1" latinLnBrk="0" hangingPunct="1"/>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54</a:t>
            </a:fld>
            <a:endParaRPr lang="en-IL"/>
          </a:p>
        </p:txBody>
      </p:sp>
    </p:spTree>
    <p:extLst>
      <p:ext uri="{BB962C8B-B14F-4D97-AF65-F5344CB8AC3E}">
        <p14:creationId xmlns:p14="http://schemas.microsoft.com/office/powerpoint/2010/main" val="16294381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 y="228600"/>
            <a:ext cx="5010150" cy="28194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section, we will bring everything together and present the full anomaly detection algorithm. After learning about Gaussian distributions and parameter estimation, we are now ready to see how to combine these ideas into a practical method that can detect unusual or abnormal examples in a dataset.</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56</a:t>
            </a:fld>
            <a:endParaRPr lang="en-IL"/>
          </a:p>
        </p:txBody>
      </p:sp>
    </p:spTree>
    <p:extLst>
      <p:ext uri="{BB962C8B-B14F-4D97-AF65-F5344CB8AC3E}">
        <p14:creationId xmlns:p14="http://schemas.microsoft.com/office/powerpoint/2010/main" val="7831859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 y="228600"/>
            <a:ext cx="5010150" cy="2819400"/>
          </a:xfrm>
        </p:spPr>
      </p:sp>
      <p:sp>
        <p:nvSpPr>
          <p:cNvPr id="3" name="Notes Placeholder 2"/>
          <p:cNvSpPr>
            <a:spLocks noGrp="1"/>
          </p:cNvSpPr>
          <p:nvPr>
            <p:ph type="body" idx="1"/>
          </p:nvPr>
        </p:nvSpPr>
        <p:spPr/>
        <p:txBody>
          <a:bodyPr/>
          <a:lstStyle/>
          <a:p>
            <a:r>
              <a:rPr lang="en-US" dirty="0"/>
              <a:t>In anomaly detection, each example x usually has multiple features, not just one. So instead of x being a single number, we write it as a vector:</a:t>
            </a:r>
          </a:p>
          <a:p>
            <a:r>
              <a:rPr lang="en-US" dirty="0"/>
              <a:t>x = [x1, x2, ..., </a:t>
            </a:r>
            <a:r>
              <a:rPr lang="en-US" dirty="0" err="1"/>
              <a:t>xn</a:t>
            </a:r>
            <a:r>
              <a:rPr lang="en-US" dirty="0"/>
              <a:t>]</a:t>
            </a:r>
          </a:p>
          <a:p>
            <a:r>
              <a:rPr lang="en-US" dirty="0"/>
              <a:t>For example, in an aircraft engine, x1 could represent heat generated, x2 could represent vibration intensity, and other features could describe additional measurements. The training set contains m examples, written as {x^(1), x^(2), ..., x^(m)}, and each example has n features.</a:t>
            </a:r>
          </a:p>
          <a:p>
            <a:r>
              <a:rPr lang="en-US" dirty="0"/>
              <a:t>To decide whether a new example is normal or anomalous, we need to compute its probability p(x). The main idea in density estimation is to model each feature separately using its own Gaussian distribution. For each feature </a:t>
            </a:r>
            <a:r>
              <a:rPr lang="en-US" dirty="0" err="1"/>
              <a:t>xj</a:t>
            </a:r>
            <a:r>
              <a:rPr lang="en-US" dirty="0"/>
              <a:t>, we estimate a mean </a:t>
            </a:r>
            <a:r>
              <a:rPr lang="en-US" dirty="0" err="1"/>
              <a:t>mu_j</a:t>
            </a:r>
            <a:r>
              <a:rPr lang="en-US" dirty="0"/>
              <a:t> and a variance sigma_j^2 from the training data. Then we compute the probability of that feature using the Gaussian formula.</a:t>
            </a:r>
          </a:p>
          <a:p>
            <a:r>
              <a:rPr lang="en-US" dirty="0"/>
              <a:t>To compute the probability of the whole example x, we assume that the features are independent. This means the joint probability can be written as a product of individual probabilities:</a:t>
            </a:r>
          </a:p>
          <a:p>
            <a:r>
              <a:rPr lang="en-US" dirty="0"/>
              <a:t>p(x) = p(x1; mu1, sigma1^2) * p(x2; mu2, sigma2^2) * ... * p(</a:t>
            </a:r>
            <a:r>
              <a:rPr lang="en-US" dirty="0" err="1"/>
              <a:t>xn</a:t>
            </a:r>
            <a:r>
              <a:rPr lang="en-US" dirty="0"/>
              <a:t>; </a:t>
            </a:r>
            <a:r>
              <a:rPr lang="en-US" dirty="0" err="1"/>
              <a:t>mun</a:t>
            </a:r>
            <a:r>
              <a:rPr lang="en-US" dirty="0"/>
              <a:t>, sigman^2)</a:t>
            </a:r>
          </a:p>
          <a:p>
            <a:r>
              <a:rPr lang="en-US" dirty="0"/>
              <a:t>In short, p(x) is the product from j = 1 to n of p(</a:t>
            </a:r>
            <a:r>
              <a:rPr lang="en-US" dirty="0" err="1"/>
              <a:t>xj</a:t>
            </a:r>
            <a:r>
              <a:rPr lang="en-US" dirty="0"/>
              <a:t>; </a:t>
            </a:r>
            <a:r>
              <a:rPr lang="en-US" dirty="0" err="1"/>
              <a:t>mu_j</a:t>
            </a:r>
            <a:r>
              <a:rPr lang="en-US" dirty="0"/>
              <a:t>, sigma_j^2). We multiply the probabilities, not add them.</a:t>
            </a:r>
          </a:p>
          <a:p>
            <a:r>
              <a:rPr lang="en-US" dirty="0"/>
              <a:t>For example, if the probability of high temperature is 1/10 and the probability of high vibration is 1/20, then the combined probability is 1/10 times 1/20, which equals 1/200. When several unusual features occur together, the overall probability becomes very small.</a:t>
            </a:r>
          </a:p>
          <a:p>
            <a:r>
              <a:rPr lang="en-US" dirty="0"/>
              <a:t>This is the key idea behind multi-feature anomaly detection: if p(x) is large, the example is likely normal. If p(x) is very small (less than a threshold epsilon), we classify it as an anomaly.</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57</a:t>
            </a:fld>
            <a:endParaRPr lang="en-IL"/>
          </a:p>
        </p:txBody>
      </p:sp>
    </p:spTree>
    <p:extLst>
      <p:ext uri="{BB962C8B-B14F-4D97-AF65-F5344CB8AC3E}">
        <p14:creationId xmlns:p14="http://schemas.microsoft.com/office/powerpoint/2010/main" val="30221508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 y="228600"/>
            <a:ext cx="5010150" cy="2819400"/>
          </a:xfrm>
        </p:spPr>
      </p:sp>
      <p:sp>
        <p:nvSpPr>
          <p:cNvPr id="3" name="Notes Placeholder 2"/>
          <p:cNvSpPr>
            <a:spLocks noGrp="1"/>
          </p:cNvSpPr>
          <p:nvPr>
            <p:ph type="body" idx="1"/>
          </p:nvPr>
        </p:nvSpPr>
        <p:spPr/>
        <p:txBody>
          <a:bodyPr/>
          <a:lstStyle/>
          <a:p>
            <a:r>
              <a:rPr lang="en-US" dirty="0"/>
              <a:t>In the anomaly detection algorithm, the first step is to choose the n features that you believe may help detect unusual or abnormal examples. These features should describe normal behavior clearly. For example, in a machine system, features might include temperature, vibration, memory usage, or CPU load. The quality of anomaly detection strongly depends on choosing meaningful features.</a:t>
            </a:r>
          </a:p>
          <a:p>
            <a:r>
              <a:rPr lang="en-US" dirty="0"/>
              <a:t>After selecting the features, we estimate the parameters of the Gaussian distribution for each feature. For every feature </a:t>
            </a:r>
            <a:r>
              <a:rPr lang="en-US" dirty="0" err="1"/>
              <a:t>xj</a:t>
            </a:r>
            <a:r>
              <a:rPr lang="en-US" dirty="0"/>
              <a:t>, we compute the mean </a:t>
            </a:r>
            <a:r>
              <a:rPr lang="en-US" dirty="0" err="1"/>
              <a:t>mu_j</a:t>
            </a:r>
            <a:r>
              <a:rPr lang="en-US" dirty="0"/>
              <a:t> and the variance sigma_j^2 using the training data. The mean is calculated as </a:t>
            </a:r>
            <a:r>
              <a:rPr lang="en-US" dirty="0" err="1"/>
              <a:t>mu_j</a:t>
            </a:r>
            <a:r>
              <a:rPr lang="en-US" dirty="0"/>
              <a:t> = (1/m) times the sum from </a:t>
            </a:r>
            <a:r>
              <a:rPr lang="en-US" dirty="0" err="1"/>
              <a:t>i</a:t>
            </a:r>
            <a:r>
              <a:rPr lang="en-US" dirty="0"/>
              <a:t> = 1 to m of </a:t>
            </a:r>
            <a:r>
              <a:rPr lang="en-US" dirty="0" err="1"/>
              <a:t>x_j</a:t>
            </a:r>
            <a:r>
              <a:rPr lang="en-US" dirty="0"/>
              <a:t>^(</a:t>
            </a:r>
            <a:r>
              <a:rPr lang="en-US" dirty="0" err="1"/>
              <a:t>i</a:t>
            </a:r>
            <a:r>
              <a:rPr lang="en-US" dirty="0"/>
              <a:t>). The variance is calculated as sigma_j^2 = (1/m) times the sum from </a:t>
            </a:r>
            <a:r>
              <a:rPr lang="en-US" dirty="0" err="1"/>
              <a:t>i</a:t>
            </a:r>
            <a:r>
              <a:rPr lang="en-US" dirty="0"/>
              <a:t> = 1 to m of (</a:t>
            </a:r>
            <a:r>
              <a:rPr lang="en-US" dirty="0" err="1"/>
              <a:t>x_j</a:t>
            </a:r>
            <a:r>
              <a:rPr lang="en-US" dirty="0"/>
              <a:t>^(</a:t>
            </a:r>
            <a:r>
              <a:rPr lang="en-US" dirty="0" err="1"/>
              <a:t>i</a:t>
            </a:r>
            <a:r>
              <a:rPr lang="en-US" dirty="0"/>
              <a:t>) − </a:t>
            </a:r>
            <a:r>
              <a:rPr lang="en-US" dirty="0" err="1"/>
              <a:t>mu_j</a:t>
            </a:r>
            <a:r>
              <a:rPr lang="en-US" dirty="0"/>
              <a:t>)^2. These parameters describe what “normal” values look like for each feature.</a:t>
            </a:r>
          </a:p>
          <a:p>
            <a:r>
              <a:rPr lang="en-US" dirty="0"/>
              <a:t>In vectorized form, we can compute all the means together. The mean vector mu is equal to (1/m) times the sum from </a:t>
            </a:r>
            <a:r>
              <a:rPr lang="en-US" dirty="0" err="1"/>
              <a:t>i</a:t>
            </a:r>
            <a:r>
              <a:rPr lang="en-US" dirty="0"/>
              <a:t> = 1 to m of x^(</a:t>
            </a:r>
            <a:r>
              <a:rPr lang="en-US" dirty="0" err="1"/>
              <a:t>i</a:t>
            </a:r>
            <a:r>
              <a:rPr lang="en-US" dirty="0"/>
              <a:t>), where mu becomes a column vector containing mu_1, mu_2, ..., </a:t>
            </a:r>
            <a:r>
              <a:rPr lang="en-US" dirty="0" err="1"/>
              <a:t>mu_n</a:t>
            </a:r>
            <a:r>
              <a:rPr lang="en-US" dirty="0"/>
              <a:t>. This makes implementation more efficient and clean in practice.</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58</a:t>
            </a:fld>
            <a:endParaRPr lang="en-IL"/>
          </a:p>
        </p:txBody>
      </p:sp>
    </p:spTree>
    <p:extLst>
      <p:ext uri="{BB962C8B-B14F-4D97-AF65-F5344CB8AC3E}">
        <p14:creationId xmlns:p14="http://schemas.microsoft.com/office/powerpoint/2010/main" val="18970210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 y="228600"/>
            <a:ext cx="5010150" cy="2819400"/>
          </a:xfrm>
        </p:spPr>
      </p:sp>
      <p:sp>
        <p:nvSpPr>
          <p:cNvPr id="3" name="Notes Placeholder 2"/>
          <p:cNvSpPr>
            <a:spLocks noGrp="1"/>
          </p:cNvSpPr>
          <p:nvPr>
            <p:ph type="body" idx="1"/>
          </p:nvPr>
        </p:nvSpPr>
        <p:spPr/>
        <p:txBody>
          <a:bodyPr/>
          <a:lstStyle/>
          <a:p>
            <a:r>
              <a:rPr lang="en-US" dirty="0"/>
              <a:t>This slide summarizes the complete anomaly detection algorithm.</a:t>
            </a:r>
          </a:p>
          <a:p>
            <a:r>
              <a:rPr lang="en-US" dirty="0"/>
              <a:t>First, we choose n features x1, x2, ..., </a:t>
            </a:r>
            <a:r>
              <a:rPr lang="en-US" dirty="0" err="1"/>
              <a:t>xn</a:t>
            </a:r>
            <a:r>
              <a:rPr lang="en-US" dirty="0"/>
              <a:t> that may help us identify anomalous examples. These features should describe normal behavior clearly and make unusual behavior stand out.</a:t>
            </a:r>
          </a:p>
          <a:p>
            <a:r>
              <a:rPr lang="en-US" dirty="0"/>
              <a:t>Second, we estimate the parameters of the Gaussian distribution for each feature using the training set {x^(1), ..., x^(m)}. For each feature </a:t>
            </a:r>
            <a:r>
              <a:rPr lang="en-US" dirty="0" err="1"/>
              <a:t>xj</a:t>
            </a:r>
            <a:r>
              <a:rPr lang="en-US" dirty="0"/>
              <a:t>, we compute the mean </a:t>
            </a:r>
            <a:r>
              <a:rPr lang="en-US" dirty="0" err="1"/>
              <a:t>mu_j</a:t>
            </a:r>
            <a:r>
              <a:rPr lang="en-US" dirty="0"/>
              <a:t> as (1/m) times the sum from </a:t>
            </a:r>
            <a:r>
              <a:rPr lang="en-US" dirty="0" err="1"/>
              <a:t>i</a:t>
            </a:r>
            <a:r>
              <a:rPr lang="en-US" dirty="0"/>
              <a:t> = 1 to m of </a:t>
            </a:r>
            <a:r>
              <a:rPr lang="en-US" dirty="0" err="1"/>
              <a:t>x_j</a:t>
            </a:r>
            <a:r>
              <a:rPr lang="en-US" dirty="0"/>
              <a:t>^(</a:t>
            </a:r>
            <a:r>
              <a:rPr lang="en-US" dirty="0" err="1"/>
              <a:t>i</a:t>
            </a:r>
            <a:r>
              <a:rPr lang="en-US" dirty="0"/>
              <a:t>). We also compute the variance sigma_j^2 as (1/m) times the sum from </a:t>
            </a:r>
            <a:r>
              <a:rPr lang="en-US" dirty="0" err="1"/>
              <a:t>i</a:t>
            </a:r>
            <a:r>
              <a:rPr lang="en-US" dirty="0"/>
              <a:t> = 1 to m of (</a:t>
            </a:r>
            <a:r>
              <a:rPr lang="en-US" dirty="0" err="1"/>
              <a:t>x_j</a:t>
            </a:r>
            <a:r>
              <a:rPr lang="en-US" dirty="0"/>
              <a:t>^(</a:t>
            </a:r>
            <a:r>
              <a:rPr lang="en-US" dirty="0" err="1"/>
              <a:t>i</a:t>
            </a:r>
            <a:r>
              <a:rPr lang="en-US" dirty="0"/>
              <a:t>) − </a:t>
            </a:r>
            <a:r>
              <a:rPr lang="en-US" dirty="0" err="1"/>
              <a:t>mu_j</a:t>
            </a:r>
            <a:r>
              <a:rPr lang="en-US" dirty="0"/>
              <a:t>)^2. These values describe the normal distribution of each feature.</a:t>
            </a:r>
          </a:p>
          <a:p>
            <a:r>
              <a:rPr lang="en-US" dirty="0"/>
              <a:t>Third, given a new example x, we compute its probability p(x). Since we assume features are independent, we calculate p(x) as the product from j = 1 to n of p(</a:t>
            </a:r>
            <a:r>
              <a:rPr lang="en-US" dirty="0" err="1"/>
              <a:t>xj</a:t>
            </a:r>
            <a:r>
              <a:rPr lang="en-US" dirty="0"/>
              <a:t>; </a:t>
            </a:r>
            <a:r>
              <a:rPr lang="en-US" dirty="0" err="1"/>
              <a:t>mu_j</a:t>
            </a:r>
            <a:r>
              <a:rPr lang="en-US" dirty="0"/>
              <a:t>, sigma_j^2). Each term p(</a:t>
            </a:r>
            <a:r>
              <a:rPr lang="en-US" dirty="0" err="1"/>
              <a:t>xj</a:t>
            </a:r>
            <a:r>
              <a:rPr lang="en-US" dirty="0"/>
              <a:t>; </a:t>
            </a:r>
            <a:r>
              <a:rPr lang="en-US" dirty="0" err="1"/>
              <a:t>mu_j</a:t>
            </a:r>
            <a:r>
              <a:rPr lang="en-US" dirty="0"/>
              <a:t>, sigma_j^2) is computed using the Gaussian formula:</a:t>
            </a:r>
          </a:p>
          <a:p>
            <a:r>
              <a:rPr lang="en-US" dirty="0"/>
              <a:t>p(</a:t>
            </a:r>
            <a:r>
              <a:rPr lang="en-US" dirty="0" err="1"/>
              <a:t>xj</a:t>
            </a:r>
            <a:r>
              <a:rPr lang="en-US" dirty="0"/>
              <a:t>) = 1 / (sqrt(2</a:t>
            </a:r>
            <a:r>
              <a:rPr lang="el-GR" dirty="0"/>
              <a:t>π) </a:t>
            </a:r>
            <a:r>
              <a:rPr lang="en-US" dirty="0" err="1"/>
              <a:t>sigma_j</a:t>
            </a:r>
            <a:r>
              <a:rPr lang="en-US" dirty="0"/>
              <a:t>) times exp( − (</a:t>
            </a:r>
            <a:r>
              <a:rPr lang="en-US" dirty="0" err="1"/>
              <a:t>xj</a:t>
            </a:r>
            <a:r>
              <a:rPr lang="en-US" dirty="0"/>
              <a:t> − </a:t>
            </a:r>
            <a:r>
              <a:rPr lang="en-US" dirty="0" err="1"/>
              <a:t>mu_j</a:t>
            </a:r>
            <a:r>
              <a:rPr lang="en-US" dirty="0"/>
              <a:t>)^2 / (2 sigma_j^2) )</a:t>
            </a:r>
          </a:p>
          <a:p>
            <a:r>
              <a:rPr lang="en-US" dirty="0"/>
              <a:t>Finally, we compare p(x) with a small threshold epsilon.</a:t>
            </a:r>
            <a:br>
              <a:rPr lang="en-US" dirty="0"/>
            </a:br>
            <a:r>
              <a:rPr lang="en-US" dirty="0"/>
              <a:t>If p(x) is less than epsilon, we classify the example as an anomaly. Otherwise, we consider it normal.</a:t>
            </a:r>
          </a:p>
          <a:p>
            <a:pPr marL="0" algn="l" defTabSz="914400" rtl="0" eaLnBrk="1" latinLnBrk="0" hangingPunct="1"/>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59</a:t>
            </a:fld>
            <a:endParaRPr lang="en-IL"/>
          </a:p>
        </p:txBody>
      </p:sp>
    </p:spTree>
    <p:extLst>
      <p:ext uri="{BB962C8B-B14F-4D97-AF65-F5344CB8AC3E}">
        <p14:creationId xmlns:p14="http://schemas.microsoft.com/office/powerpoint/2010/main" val="18637361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 y="228600"/>
            <a:ext cx="5010150" cy="2819400"/>
          </a:xfrm>
        </p:spPr>
      </p:sp>
      <p:sp>
        <p:nvSpPr>
          <p:cNvPr id="3" name="Notes Placeholder 2"/>
          <p:cNvSpPr>
            <a:spLocks noGrp="1"/>
          </p:cNvSpPr>
          <p:nvPr>
            <p:ph type="body" idx="1"/>
          </p:nvPr>
        </p:nvSpPr>
        <p:spPr/>
        <p:txBody>
          <a:bodyPr/>
          <a:lstStyle/>
          <a:p>
            <a:r>
              <a:rPr lang="en-US" dirty="0"/>
              <a:t>This slide shows a complete example of anomaly detection using two features, x1 and x2.</a:t>
            </a:r>
          </a:p>
          <a:p>
            <a:r>
              <a:rPr lang="en-US" dirty="0"/>
              <a:t>From the training data, we estimate the Gaussian parameters for each feature. For example, we have mu1 = 5 and sigma1 = 2 for feature x1, and mu2 = 3 and sigma2 = 1 for feature x2. These values describe what “normal” data looks like along each dimension.</a:t>
            </a:r>
          </a:p>
          <a:p>
            <a:r>
              <a:rPr lang="en-US" dirty="0"/>
              <a:t>For a new test example </a:t>
            </a:r>
            <a:r>
              <a:rPr lang="en-US" dirty="0" err="1"/>
              <a:t>x_test</a:t>
            </a:r>
            <a:r>
              <a:rPr lang="en-US" dirty="0"/>
              <a:t>, we compute its probability p(x). Since we assume independence, we compute p(x) as p(x1) multiplied by p(x2). Each of these probabilities is obtained from its corresponding Gaussian distribution.</a:t>
            </a:r>
          </a:p>
          <a:p>
            <a:r>
              <a:rPr lang="en-US" dirty="0"/>
              <a:t>We then compare the final probability p(</a:t>
            </a:r>
            <a:r>
              <a:rPr lang="en-US" dirty="0" err="1"/>
              <a:t>x_test</a:t>
            </a:r>
            <a:r>
              <a:rPr lang="en-US" dirty="0"/>
              <a:t>) with a threshold epsilon. In this example, epsilon = 0.02. For the first test example, p(</a:t>
            </a:r>
            <a:r>
              <a:rPr lang="en-US" dirty="0" err="1"/>
              <a:t>x_test</a:t>
            </a:r>
            <a:r>
              <a:rPr lang="en-US" dirty="0"/>
              <a:t>^(1)) = 0.0426, which is greater than 0.02, so it is classified as normal (“OK”). For the second test example, p(</a:t>
            </a:r>
            <a:r>
              <a:rPr lang="en-US" dirty="0" err="1"/>
              <a:t>x_test</a:t>
            </a:r>
            <a:r>
              <a:rPr lang="en-US" dirty="0"/>
              <a:t>^(2)) = 0.0021, which is less than 0.02, so it is classified as an anomaly.</a:t>
            </a:r>
          </a:p>
          <a:p>
            <a:r>
              <a:rPr lang="en-US" dirty="0"/>
              <a:t>The 3D plot illustrates how p(x) forms a surface over the feature space. Points near the center of the distribution have high probability, while points far from the center have low probability and are more likely to be detected as anomalies.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60</a:t>
            </a:fld>
            <a:endParaRPr lang="en-IL"/>
          </a:p>
        </p:txBody>
      </p:sp>
    </p:spTree>
    <p:extLst>
      <p:ext uri="{BB962C8B-B14F-4D97-AF65-F5344CB8AC3E}">
        <p14:creationId xmlns:p14="http://schemas.microsoft.com/office/powerpoint/2010/main" val="149676451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section, we will focus on how to properly develop and evaluate an anomaly detection system. Building the model is only part of the work. We also need to choose the threshold epsilon carefully and measure how well the system detects anomalies. We will learn how to split the data, tune the parameters, and evaluate performance to make sure the system works reliably in real applications.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62</a:t>
            </a:fld>
            <a:endParaRPr lang="en-IL"/>
          </a:p>
        </p:txBody>
      </p:sp>
    </p:spTree>
    <p:extLst>
      <p:ext uri="{BB962C8B-B14F-4D97-AF65-F5344CB8AC3E}">
        <p14:creationId xmlns:p14="http://schemas.microsoft.com/office/powerpoint/2010/main" val="20133803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explains why real-number evaluation is important when building an anomaly detection system.</a:t>
            </a:r>
          </a:p>
          <a:p>
            <a:r>
              <a:rPr lang="en-US" dirty="0"/>
              <a:t>When developing a learning algorithm, such as choosing features or selecting epsilon, we need a clear way to measure performance. Without evaluation, we cannot know whether the system is improving or not.</a:t>
            </a:r>
          </a:p>
          <a:p>
            <a:r>
              <a:rPr lang="en-US" dirty="0"/>
              <a:t>In anomaly detection, we usually train the model using mostly normal examples. So in the training set, we typically assume y = 0 for all examples, meaning they are normal. We use this data to estimate the Gaussian parameters.</a:t>
            </a:r>
          </a:p>
          <a:p>
            <a:r>
              <a:rPr lang="en-US" dirty="0"/>
              <a:t>However, for evaluation, we need labeled data that includes both normal examples (y = 0) and some anomalous examples (y = 1). Therefore, we create a cross-validation set and a test set that contain mostly normal examples but also a few anomalies.</a:t>
            </a:r>
          </a:p>
          <a:p>
            <a:r>
              <a:rPr lang="en-US" dirty="0"/>
              <a:t>The cross-validation set is used to choose parameters such as epsilon. The test set is used to evaluate the final performance of the system. This setup allows us to make objective, quantitative decisions about how well the anomaly detection system is working.</a:t>
            </a:r>
          </a:p>
          <a:p>
            <a:r>
              <a:rPr lang="en-US" dirty="0"/>
              <a:t>In anomaly detection, the model evaluates each example with </a:t>
            </a:r>
            <a:r>
              <a:rPr lang="en-US" dirty="0">
                <a:solidFill>
                  <a:srgbClr val="1501FE"/>
                </a:solidFill>
              </a:rPr>
              <a:t>a real number (probability)</a:t>
            </a:r>
            <a:r>
              <a:rPr lang="en-US" dirty="0"/>
              <a:t>. That’s why we call it real-number evaluation. The classification happens only after we apply the threshold.</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63</a:t>
            </a:fld>
            <a:endParaRPr lang="en-IL"/>
          </a:p>
        </p:txBody>
      </p:sp>
    </p:spTree>
    <p:extLst>
      <p:ext uri="{BB962C8B-B14F-4D97-AF65-F5344CB8AC3E}">
        <p14:creationId xmlns:p14="http://schemas.microsoft.com/office/powerpoint/2010/main" val="41993208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gives a practical example of how to split data when building an anomaly detection system, using aircraft engine monitoring.</a:t>
            </a:r>
          </a:p>
          <a:p>
            <a:r>
              <a:rPr lang="en-US" dirty="0"/>
              <a:t>Suppose we have 10,000 engines. Most of them are good (normal), and only a small number are flawed (anomalous). In anomaly detection, normal examples are labeled y = 0, and anomalous examples are labeled y = 1. Usually, the number of anomalies is very small compared to normal examples.</a:t>
            </a:r>
          </a:p>
          <a:p>
            <a:r>
              <a:rPr lang="en-US" dirty="0"/>
              <a:t>We first create a training set that contains only normal engines, for example 6,000 good engines. We use this training set to fit the Gaussian parameters of the model. The model learns what “normal” engines look like.</a:t>
            </a:r>
          </a:p>
          <a:p>
            <a:r>
              <a:rPr lang="en-US" dirty="0"/>
              <a:t>Next, we create a </a:t>
            </a:r>
            <a:r>
              <a:rPr lang="en-US" dirty="0">
                <a:solidFill>
                  <a:srgbClr val="1501FE"/>
                </a:solidFill>
              </a:rPr>
              <a:t>cross-validation (CV) </a:t>
            </a:r>
            <a:r>
              <a:rPr lang="en-US" dirty="0"/>
              <a:t>set that includes mostly normal engines, for example </a:t>
            </a:r>
            <a:r>
              <a:rPr lang="en-US" dirty="0">
                <a:solidFill>
                  <a:srgbClr val="1501FE"/>
                </a:solidFill>
              </a:rPr>
              <a:t>2,000 good engines</a:t>
            </a:r>
            <a:r>
              <a:rPr lang="en-US" dirty="0"/>
              <a:t>, and a </a:t>
            </a:r>
            <a:r>
              <a:rPr lang="en-US" dirty="0">
                <a:solidFill>
                  <a:srgbClr val="1501FE"/>
                </a:solidFill>
              </a:rPr>
              <a:t>small number of anomalous engines</a:t>
            </a:r>
            <a:r>
              <a:rPr lang="en-US" dirty="0"/>
              <a:t>, such as 10 flawed ones. We use this set to tune epsilon and possibly improve the choice of features. This helps us choose the threshold that best separates normal from anomalous engines.</a:t>
            </a:r>
          </a:p>
          <a:p>
            <a:pPr>
              <a:spcBef>
                <a:spcPts val="600"/>
              </a:spcBef>
            </a:pPr>
            <a:r>
              <a:rPr lang="en-US" dirty="0"/>
              <a:t>Finally, we use a test set, which again contains mostly normal engines and a few anomalous ones, to evaluate the final performance of the system. This gives us an unbiased estimate of how well the model works.</a:t>
            </a:r>
          </a:p>
          <a:p>
            <a:pPr>
              <a:spcBef>
                <a:spcPts val="600"/>
              </a:spcBef>
            </a:pPr>
            <a:r>
              <a:rPr lang="en-US" dirty="0"/>
              <a:t>An alternative approach, when there are very few labeled anomalous examples, is to skip the separate test set and use a larger cross-validation set. However, this increases the risk of overfitting, because we use the same data for tuning and evaluation.</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64</a:t>
            </a:fld>
            <a:endParaRPr lang="en-IL"/>
          </a:p>
        </p:txBody>
      </p:sp>
    </p:spTree>
    <p:extLst>
      <p:ext uri="{BB962C8B-B14F-4D97-AF65-F5344CB8AC3E}">
        <p14:creationId xmlns:p14="http://schemas.microsoft.com/office/powerpoint/2010/main" val="22868522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explains how to evaluate an anomaly detection algorithm.</a:t>
            </a:r>
          </a:p>
          <a:p>
            <a:r>
              <a:rPr lang="en-US" dirty="0"/>
              <a:t>First, we train the model p(x) using the training set, which contains mostly normal examples. we train the model by calculating the average and spread of each feature using normal data. And we do that for all features using all data points.</a:t>
            </a:r>
          </a:p>
          <a:p>
            <a:r>
              <a:rPr lang="en-US" dirty="0"/>
              <a:t> After learning the parameters (average and variance), we use the cross-validation or test set to make predictions. For each example x, we compute p(x). If p(x) is less than or equal to epsilon, we predict y = 1, meaning anomaly. If p(x) is greater than epsilon, we predict y = 0, meaning normal.</a:t>
            </a:r>
          </a:p>
          <a:p>
            <a:r>
              <a:rPr lang="en-US" dirty="0"/>
              <a:t>Since anomaly detection problems usually have very skewed datasets (many normal examples and very few anomalies), accuracy alone is not a good metric. Instead, we use evaluation metrics such as true positive, false positive, false negative, and true negative. From these, we compute precision and recall, and often the F1-score, which balances both.</a:t>
            </a:r>
          </a:p>
          <a:p>
            <a:r>
              <a:rPr lang="en-US" dirty="0"/>
              <a:t>We use the cross-validation set to choose the best value of epsilon. The goal is to select the threshold that gives good detection of anomalies while keeping false alarms low.</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65</a:t>
            </a:fld>
            <a:endParaRPr lang="en-IL"/>
          </a:p>
        </p:txBody>
      </p:sp>
    </p:spTree>
    <p:extLst>
      <p:ext uri="{BB962C8B-B14F-4D97-AF65-F5344CB8AC3E}">
        <p14:creationId xmlns:p14="http://schemas.microsoft.com/office/powerpoint/2010/main" val="1470907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endParaRPr lang="en-IL"/>
          </a:p>
        </p:txBody>
      </p:sp>
      <p:sp>
        <p:nvSpPr>
          <p:cNvPr id="4" name="Slide Number Placeholder 3"/>
          <p:cNvSpPr>
            <a:spLocks noGrp="1"/>
          </p:cNvSpPr>
          <p:nvPr>
            <p:ph type="sldNum" sz="quarter" idx="5"/>
          </p:nvPr>
        </p:nvSpPr>
        <p:spPr/>
        <p:txBody>
          <a:bodyPr/>
          <a:lstStyle/>
          <a:p>
            <a:fld id="{79BBB273-ED2E-2840-AC7B-A59E28EC39A1}" type="slidenum">
              <a:rPr lang="en-IL" smtClean="0"/>
              <a:t>66</a:t>
            </a:fld>
            <a:endParaRPr lang="en-IL"/>
          </a:p>
        </p:txBody>
      </p:sp>
    </p:spTree>
    <p:extLst>
      <p:ext uri="{BB962C8B-B14F-4D97-AF65-F5344CB8AC3E}">
        <p14:creationId xmlns:p14="http://schemas.microsoft.com/office/powerpoint/2010/main" val="14135146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section, we will compare anomaly detection with supervised learning. Although both can be used to identify unusual or abnormal examples, they are designed for different situations.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will discuss the differences between them and understand when anomaly detection is more appropriate, and when supervised learning is the better choice.</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67</a:t>
            </a:fld>
            <a:endParaRPr lang="en-IL"/>
          </a:p>
        </p:txBody>
      </p:sp>
    </p:spTree>
    <p:extLst>
      <p:ext uri="{BB962C8B-B14F-4D97-AF65-F5344CB8AC3E}">
        <p14:creationId xmlns:p14="http://schemas.microsoft.com/office/powerpoint/2010/main" val="407419632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r>
              <a:rPr lang="en-US" dirty="0"/>
              <a:t>This slide compares anomaly detection and supervised learning and explains when to use each approach.</a:t>
            </a:r>
          </a:p>
          <a:p>
            <a:r>
              <a:rPr lang="en-US" dirty="0"/>
              <a:t>In anomaly detection, we usually have a very small number of positive examples (y = 1), sometimes only 0 to 20. We mostly have negative examples (y = 0), which represent normal behavior. </a:t>
            </a:r>
          </a:p>
          <a:p>
            <a:r>
              <a:rPr lang="en-US" dirty="0"/>
              <a:t>In addition, anomalies can be very different from each other. Future anomalies may look completely different from the few anomalous examples we have seen before. Because of this, it is difficult to learn a reliable decision boundary from the positive examples alone. Instead, anomaly detection focuses on modeling normal behavior p(x) and flags anything very unlikely as an anomaly. A typical example is fraud detection, where new fraud patterns may appear that are different from past cases.</a:t>
            </a:r>
          </a:p>
          <a:p>
            <a:r>
              <a:rPr lang="en-US" dirty="0"/>
              <a:t>In supervised learning, we usually have a larger number of both positive and negative examples. There are enough positive examples for the algorithm to learn what they look like. Also, future positive examples are likely to be similar to the ones seen during training. In this case, a supervised classifier can learn to distinguish between the two classes directly. A common example is spam detection, where spam emails often follow similar patterns over time.</a:t>
            </a:r>
          </a:p>
          <a:p>
            <a:r>
              <a:rPr lang="en-US" dirty="0">
                <a:solidFill>
                  <a:srgbClr val="1501FE"/>
                </a:solidFill>
              </a:rPr>
              <a:t>The key difference is this: </a:t>
            </a:r>
            <a:r>
              <a:rPr lang="en-US" dirty="0"/>
              <a:t>anomaly detection is preferred when anomalies are rare and diverse, while supervised learning is preferred when we have enough labeled examples of both classes and future examples are expected to look similar to the training data.</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68</a:t>
            </a:fld>
            <a:endParaRPr lang="en-IL"/>
          </a:p>
        </p:txBody>
      </p:sp>
    </p:spTree>
    <p:extLst>
      <p:ext uri="{BB962C8B-B14F-4D97-AF65-F5344CB8AC3E}">
        <p14:creationId xmlns:p14="http://schemas.microsoft.com/office/powerpoint/2010/main" val="361368857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gives practical examples to clarify the difference between anomaly detection and supervised learning.</a:t>
            </a:r>
          </a:p>
          <a:p>
            <a:r>
              <a:rPr lang="en-US" dirty="0"/>
              <a:t>Anomaly detection is used when we want to detect rare or previously unseen problems. Examples include fraud detection, where new fraud patterns may appear that were not seen before. In manufacturing, it is used to detect new or previously unseen defects, such as unexpected failures in aircraft engines. It is also used for monitoring machines in data centers, where we want to detect unusual system behavior that may indicate a new type of failure.</a:t>
            </a:r>
          </a:p>
          <a:p>
            <a:r>
              <a:rPr lang="en-US" dirty="0"/>
              <a:t>Supervised learning, on the other hand, is used when we want to classify known categories that we have already seen in the training data. For example, email spam classification works because we have many labeled examples of spam and non-spam emails. In manufacturing, supervised learning can be used to detect known defects, such as specific types of scratches. Other examples include weather prediction (sunny, rainy, etc.) and disease classification, where the classes are predefined and well represented in the training data.</a:t>
            </a:r>
          </a:p>
          <a:p>
            <a:r>
              <a:rPr lang="en-US" dirty="0"/>
              <a:t>The key idea is that anomaly detection focuses on identifying unusual or new patterns, while supervised learning focuses on distinguishing between known and well-defined classes.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69</a:t>
            </a:fld>
            <a:endParaRPr lang="en-IL"/>
          </a:p>
        </p:txBody>
      </p:sp>
    </p:spTree>
    <p:extLst>
      <p:ext uri="{BB962C8B-B14F-4D97-AF65-F5344CB8AC3E}">
        <p14:creationId xmlns:p14="http://schemas.microsoft.com/office/powerpoint/2010/main" val="322320752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79BBB273-ED2E-2840-AC7B-A59E28EC39A1}" type="slidenum">
              <a:rPr lang="en-IL" smtClean="0"/>
              <a:t>70</a:t>
            </a:fld>
            <a:endParaRPr lang="en-IL"/>
          </a:p>
        </p:txBody>
      </p:sp>
    </p:spTree>
    <p:extLst>
      <p:ext uri="{BB962C8B-B14F-4D97-AF65-F5344CB8AC3E}">
        <p14:creationId xmlns:p14="http://schemas.microsoft.com/office/powerpoint/2010/main" val="38342520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section, we focus on one of the most important parts of building an anomaly detection system: choosing the right features. The performance of the algorithm depends heavily on the features we select, because the model learns what is “normal” based on them. </a:t>
            </a:r>
            <a:endParaRPr lang="ar-SA"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will discuss how to design meaningful features that help the system clearly distinguish between normal and anomalous behavior.</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71</a:t>
            </a:fld>
            <a:endParaRPr lang="en-IL"/>
          </a:p>
        </p:txBody>
      </p:sp>
    </p:spTree>
    <p:extLst>
      <p:ext uri="{BB962C8B-B14F-4D97-AF65-F5344CB8AC3E}">
        <p14:creationId xmlns:p14="http://schemas.microsoft.com/office/powerpoint/2010/main" val="2129728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r>
              <a:rPr lang="en-US" dirty="0"/>
              <a:t>This slide explains an important practical issue in anomaly detection: sometimes features are not Gaussian.</a:t>
            </a:r>
          </a:p>
          <a:p>
            <a:r>
              <a:rPr lang="en-US" dirty="0"/>
              <a:t>Our anomaly detection algorithm assumes that each feature follows a Gaussian (normal) distribution. However, in practice, some features may be highly skewed. For example, a feature like transaction amount, response time, or number of clicks may have many small values and a few very large values. This produces a distribution that is not symmetric and does not look like a bell curve.</a:t>
            </a:r>
          </a:p>
          <a:p>
            <a:r>
              <a:rPr lang="en-US" dirty="0"/>
              <a:t>If we directly apply a Gaussian model to such a skewed feature, the model will not fit the data well. As a result, p(x) will not be accurate, and anomaly detection performance may suffer.</a:t>
            </a:r>
          </a:p>
          <a:p>
            <a:r>
              <a:rPr lang="en-US" dirty="0"/>
              <a:t>To fix this, we can transform the feature to make it more Gaussian-like. Common transformations include:</a:t>
            </a:r>
          </a:p>
          <a:p>
            <a:pPr marL="171450" indent="-171450">
              <a:buFont typeface="Arial" panose="020B0604020202020204" pitchFamily="34" charset="0"/>
              <a:buChar char="•"/>
            </a:pPr>
            <a:r>
              <a:rPr lang="en-US" dirty="0"/>
              <a:t>Taking the logarithm: x becomes log(x)</a:t>
            </a:r>
          </a:p>
          <a:p>
            <a:pPr marL="171450" indent="-171450">
              <a:buFont typeface="Arial" panose="020B0604020202020204" pitchFamily="34" charset="0"/>
              <a:buChar char="•"/>
            </a:pPr>
            <a:r>
              <a:rPr lang="en-US" dirty="0"/>
              <a:t>Using log(x + c) if x can be zero</a:t>
            </a:r>
          </a:p>
          <a:p>
            <a:pPr marL="171450" indent="-171450">
              <a:buFont typeface="Arial" panose="020B0604020202020204" pitchFamily="34" charset="0"/>
              <a:buChar char="•"/>
            </a:pPr>
            <a:r>
              <a:rPr lang="en-US" dirty="0"/>
              <a:t>Taking the square root: x becomes sqrt(x)</a:t>
            </a:r>
          </a:p>
          <a:p>
            <a:pPr marL="171450" indent="-171450">
              <a:buFont typeface="Arial" panose="020B0604020202020204" pitchFamily="34" charset="0"/>
              <a:buChar char="•"/>
            </a:pPr>
            <a:r>
              <a:rPr lang="en-US" dirty="0"/>
              <a:t>Taking the cube root: x becomes x^(1/3)</a:t>
            </a:r>
          </a:p>
          <a:p>
            <a:r>
              <a:rPr lang="en-US" dirty="0"/>
              <a:t>After applying such a transformation, the histogram of the feature often becomes more symmetric and closer to a normal distribution. Then the Gaussian model will fit better.</a:t>
            </a:r>
          </a:p>
          <a:p>
            <a:r>
              <a:rPr lang="en-US" dirty="0"/>
              <a:t>The key idea is: before fitting the anomaly detection model, always check the distribution of each feature (</a:t>
            </a:r>
            <a:r>
              <a:rPr lang="en-US" dirty="0">
                <a:solidFill>
                  <a:srgbClr val="1501FE"/>
                </a:solidFill>
              </a:rPr>
              <a:t>for example using a histogram</a:t>
            </a:r>
            <a:r>
              <a:rPr lang="en-US" dirty="0"/>
              <a:t>). If it is highly skewed, apply a transformation to make it closer to Gaussian. This simple step can significantly improve performance.</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72</a:t>
            </a:fld>
            <a:endParaRPr lang="en-IL"/>
          </a:p>
        </p:txBody>
      </p:sp>
    </p:spTree>
    <p:extLst>
      <p:ext uri="{BB962C8B-B14F-4D97-AF65-F5344CB8AC3E}">
        <p14:creationId xmlns:p14="http://schemas.microsoft.com/office/powerpoint/2010/main" val="269141691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r>
              <a:rPr lang="en-US" dirty="0"/>
              <a:t>This slide shows an example of generating a skewed (non-Gaussian) dataset and visualizing it using a histogram.</a:t>
            </a:r>
          </a:p>
          <a:p>
            <a:r>
              <a:rPr lang="en-US" dirty="0"/>
              <a:t>In the code, we generate random values using a skewed distribution. The parameter “skewness” controls whether the data is left-skewed or right-skewed. In this case, the data is right-skewed, meaning most values are small, and a few values are very large. After generating the data, we normalize or scale it and then plot a histogram using </a:t>
            </a:r>
            <a:r>
              <a:rPr lang="en-US" dirty="0" err="1">
                <a:solidFill>
                  <a:srgbClr val="1501FE"/>
                </a:solidFill>
              </a:rPr>
              <a:t>plt.hist</a:t>
            </a:r>
            <a:r>
              <a:rPr lang="en-US" dirty="0">
                <a:solidFill>
                  <a:srgbClr val="1501FE"/>
                </a:solidFill>
              </a:rPr>
              <a:t>().</a:t>
            </a:r>
          </a:p>
          <a:p>
            <a:r>
              <a:rPr lang="en-US" dirty="0"/>
              <a:t>The histogram clearly shows that the distribution is not symmetric and does not look like a bell-shaped Gaussian curve. Instead, it has a long tail on one side. This is exactly the type of feature that does not fit well with a Gaussian model.</a:t>
            </a:r>
          </a:p>
          <a:p>
            <a:r>
              <a:rPr lang="en-US" dirty="0"/>
              <a:t>The purpose of this example is to show how we can detect non-Gaussian features by visualizing them. Once we identify a skewed feature, we can apply a transformation such as log(x) to make the distribution more symmetric and better suited for anomaly detection using a Gaussian model.</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73</a:t>
            </a:fld>
            <a:endParaRPr lang="en-IL"/>
          </a:p>
        </p:txBody>
      </p:sp>
    </p:spTree>
    <p:extLst>
      <p:ext uri="{BB962C8B-B14F-4D97-AF65-F5344CB8AC3E}">
        <p14:creationId xmlns:p14="http://schemas.microsoft.com/office/powerpoint/2010/main" val="32560326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shows the effect of applying a transformation to a non-Gaussian feature.</a:t>
            </a:r>
          </a:p>
          <a:p>
            <a:r>
              <a:rPr lang="en-US" dirty="0"/>
              <a:t>The first histogram (in red) shows a highly skewed distribution. Most values are small, and there is a long tail toward larger values. This type of distribution does not match the Gaussian assumption used in anomaly detection, so modeling it directly with a normal distribution would not be accurate.</a:t>
            </a:r>
          </a:p>
          <a:p>
            <a:r>
              <a:rPr lang="en-US" dirty="0"/>
              <a:t>After applying a transformation, such as taking the logarithm of the data, we get the second histogram (in blue). Now the distribution looks much more symmetric and bell-shaped. It is closer to a Gaussian distribution.</a:t>
            </a:r>
          </a:p>
          <a:p>
            <a:r>
              <a:rPr lang="en-US" dirty="0"/>
              <a:t>This example demonstrates why feature transformation is important in anomaly detection. If a feature is skewed, applying transformations like log(x), log(x + c), square root, or cube root can make the data more Gaussian-like. This improves the quality of the probability estimation p(x) and leads to better anomaly detection performance.</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74</a:t>
            </a:fld>
            <a:endParaRPr lang="en-IL"/>
          </a:p>
        </p:txBody>
      </p:sp>
    </p:spTree>
    <p:extLst>
      <p:ext uri="{BB962C8B-B14F-4D97-AF65-F5344CB8AC3E}">
        <p14:creationId xmlns:p14="http://schemas.microsoft.com/office/powerpoint/2010/main" val="5077896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p:txBody>
          <a:bodyPr/>
          <a:lstStyle/>
          <a:p>
            <a:r>
              <a:rPr lang="en-US" dirty="0"/>
              <a:t>This slide shows a practical example of applying a logarithmic transformation to a skewed feature.</a:t>
            </a:r>
          </a:p>
          <a:p>
            <a:r>
              <a:rPr lang="en-US" dirty="0"/>
              <a:t>In the first histogram (red), the data is clearly right-skewed. Most values are small, and there is a long tail toward larger values. This type of distribution does not fit well with the Gaussian assumption used in anomaly detection.</a:t>
            </a:r>
          </a:p>
          <a:p>
            <a:r>
              <a:rPr lang="en-US" dirty="0"/>
              <a:t>In the code, we apply a transformation using:</a:t>
            </a:r>
          </a:p>
          <a:p>
            <a:r>
              <a:rPr lang="en-US" dirty="0" err="1"/>
              <a:t>np.log</a:t>
            </a:r>
            <a:r>
              <a:rPr lang="en-US" dirty="0"/>
              <a:t>(x + 1)</a:t>
            </a:r>
          </a:p>
          <a:p>
            <a:r>
              <a:rPr lang="en-US" dirty="0"/>
              <a:t>We add 1 before taking the logarithm to avoid problems when x = 0. After applying this transformation, we plot the histogram again. The second histogram (blue) now looks much more symmetric and closer to a bell-shaped Gaussian distribution.</a:t>
            </a:r>
          </a:p>
          <a:p>
            <a:r>
              <a:rPr lang="en-US" dirty="0"/>
              <a:t>This demonstrates an important practical lesson: before applying the anomaly detection algorithm, we should visualize each feature using a histogram. If a feature is highly skewed, applying a transformation such as log(x + c) can make it more Gaussian-like and improve the accuracy of probability estimation and anomaly detection.</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75</a:t>
            </a:fld>
            <a:endParaRPr lang="en-IL"/>
          </a:p>
        </p:txBody>
      </p:sp>
    </p:spTree>
    <p:extLst>
      <p:ext uri="{BB962C8B-B14F-4D97-AF65-F5344CB8AC3E}">
        <p14:creationId xmlns:p14="http://schemas.microsoft.com/office/powerpoint/2010/main" val="373891624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discusses error analysis in anomaly detection.</a:t>
            </a:r>
          </a:p>
          <a:p>
            <a:r>
              <a:rPr lang="en-US" dirty="0"/>
              <a:t>Our goal is clear: we want p(x) to be large for normal examples and small for anomalous examples. In other words, normal data should have probability greater than or equal to epsilon, and anomalies should have probability less than epsilon.</a:t>
            </a:r>
          </a:p>
          <a:p>
            <a:r>
              <a:rPr lang="en-US" dirty="0"/>
              <a:t>However, a common problem occurs when p(x) is similar for both normal and anomalous examples. In this case, p(x) may be large for both, making it difficult to distinguish anomalies from normal data. This usually means that the chosen features are not good enough to separate the two cases.</a:t>
            </a:r>
          </a:p>
          <a:p>
            <a:r>
              <a:rPr lang="en-US" dirty="0"/>
              <a:t>For example, if we only use one feature such as number of transactions, an anomalous example might still fall inside the normal range. But if we combine multiple features, such as number of transactions and typing speed, we may better separate normal behavior from anomalies in a two-dimensional space.</a:t>
            </a:r>
          </a:p>
          <a:p>
            <a:r>
              <a:rPr lang="en-US" dirty="0"/>
              <a:t>The key idea of error analysis is this: when the model fails to detect anomalies correctly, we should examine the features. Often, the solution is not just tuning epsilon, but designing better or additional features that make anomalies clearly different from normal examples.</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76</a:t>
            </a:fld>
            <a:endParaRPr lang="en-IL"/>
          </a:p>
        </p:txBody>
      </p:sp>
    </p:spTree>
    <p:extLst>
      <p:ext uri="{BB962C8B-B14F-4D97-AF65-F5344CB8AC3E}">
        <p14:creationId xmlns:p14="http://schemas.microsoft.com/office/powerpoint/2010/main" val="389442550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228600"/>
            <a:ext cx="5010150" cy="2819400"/>
          </a:xfrm>
        </p:spPr>
      </p:sp>
      <p:sp>
        <p:nvSpPr>
          <p:cNvPr id="3" name="Notes Placeholder 2"/>
          <p:cNvSpPr>
            <a:spLocks noGrp="1"/>
          </p:cNvSpPr>
          <p:nvPr>
            <p:ph type="body" idx="1"/>
          </p:nvPr>
        </p:nvSpPr>
        <p:spPr>
          <a:xfrm>
            <a:off x="209550" y="3381022"/>
            <a:ext cx="4724400" cy="5305779"/>
          </a:xfrm>
        </p:spPr>
        <p:txBody>
          <a:bodyPr/>
          <a:lstStyle/>
          <a:p>
            <a:r>
              <a:rPr lang="en-US" dirty="0"/>
              <a:t>This slide explains how to design good features for anomaly detection using a data center monitoring example.</a:t>
            </a:r>
          </a:p>
          <a:p>
            <a:r>
              <a:rPr lang="en-US" dirty="0"/>
              <a:t>When monitoring computers in a data center, we should choose features that might take unusually large or unusually small values when something abnormal happens. Examples of basic features include memory usage, number of disk accesses per second, CPU load, and network traffic.</a:t>
            </a:r>
          </a:p>
          <a:p>
            <a:r>
              <a:rPr lang="en-US" dirty="0"/>
              <a:t>However, sometimes a single feature alone may not clearly indicate an anomaly. For example, high CPU load by itself may not be unusual if network traffic is also high. So instead of using only basic features, we can create new features that capture relationships between them. For example, we can use a ratio such as CPU load divided by network traffic, or even (CPU load)^2 divided by network traffic. These engineered features may highlight abnormal behavior more clearly.</a:t>
            </a:r>
          </a:p>
          <a:p>
            <a:r>
              <a:rPr lang="en-US" dirty="0"/>
              <a:t>To decide whether a feature is useful, we look at p(x). A good feature should produce large p(x) values for normal examples and small p(x) values for anomalies in the cross-validation set.</a:t>
            </a:r>
          </a:p>
          <a:p>
            <a:r>
              <a:rPr lang="en-US" dirty="0"/>
              <a:t>The key idea is that feature engineering is critical in anomaly detection. Often, creating meaningful combinations of existing features can significantly improve performance.</a:t>
            </a:r>
          </a:p>
          <a:p>
            <a:endParaRPr lang="en-IL" dirty="0"/>
          </a:p>
        </p:txBody>
      </p:sp>
      <p:sp>
        <p:nvSpPr>
          <p:cNvPr id="4" name="Slide Number Placeholder 3"/>
          <p:cNvSpPr>
            <a:spLocks noGrp="1"/>
          </p:cNvSpPr>
          <p:nvPr>
            <p:ph type="sldNum" sz="quarter" idx="5"/>
          </p:nvPr>
        </p:nvSpPr>
        <p:spPr/>
        <p:txBody>
          <a:bodyPr/>
          <a:lstStyle/>
          <a:p>
            <a:fld id="{79BBB273-ED2E-2840-AC7B-A59E28EC39A1}" type="slidenum">
              <a:rPr lang="en-IL" smtClean="0"/>
              <a:t>77</a:t>
            </a:fld>
            <a:endParaRPr lang="en-IL"/>
          </a:p>
        </p:txBody>
      </p:sp>
    </p:spTree>
    <p:extLst>
      <p:ext uri="{BB962C8B-B14F-4D97-AF65-F5344CB8AC3E}">
        <p14:creationId xmlns:p14="http://schemas.microsoft.com/office/powerpoint/2010/main" val="38814830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694432" cy="5141975"/>
          </a:xfrm>
          <a:prstGeom prst="rect">
            <a:avLst/>
          </a:prstGeom>
          <a:blipFill>
            <a:blip r:embed="rId2" cstate="print"/>
            <a:stretch>
              <a:fillRect/>
            </a:stretch>
          </a:blipFill>
        </p:spPr>
        <p:txBody>
          <a:bodyPr wrap="square" lIns="0" tIns="0" rIns="0" bIns="0" rtlCol="0"/>
          <a:lstStyle/>
          <a:p>
            <a:endParaRPr/>
          </a:p>
        </p:txBody>
      </p:sp>
      <p:sp>
        <p:nvSpPr>
          <p:cNvPr id="17" name="bg object 17"/>
          <p:cNvSpPr/>
          <p:nvPr/>
        </p:nvSpPr>
        <p:spPr>
          <a:xfrm>
            <a:off x="246888" y="777240"/>
            <a:ext cx="2179320" cy="490727"/>
          </a:xfrm>
          <a:prstGeom prst="rect">
            <a:avLst/>
          </a:prstGeom>
          <a:blipFill>
            <a:blip r:embed="rId3" cstate="print"/>
            <a:stretch>
              <a:fillRect/>
            </a:stretch>
          </a:blipFill>
        </p:spPr>
        <p:txBody>
          <a:bodyPr wrap="square" lIns="0" tIns="0" rIns="0" bIns="0" rtlCol="0"/>
          <a:lstStyle/>
          <a:p>
            <a:endParaRPr/>
          </a:p>
        </p:txBody>
      </p:sp>
      <p:sp>
        <p:nvSpPr>
          <p:cNvPr id="18" name="bg object 18"/>
          <p:cNvSpPr/>
          <p:nvPr/>
        </p:nvSpPr>
        <p:spPr>
          <a:xfrm>
            <a:off x="893063" y="1399032"/>
            <a:ext cx="886968" cy="332232"/>
          </a:xfrm>
          <a:prstGeom prst="rect">
            <a:avLst/>
          </a:prstGeom>
          <a:blipFill>
            <a:blip r:embed="rId4" cstate="print"/>
            <a:stretch>
              <a:fillRect/>
            </a:stretch>
          </a:blipFill>
        </p:spPr>
        <p:txBody>
          <a:bodyPr wrap="square" lIns="0" tIns="0" rIns="0" bIns="0" rtlCol="0"/>
          <a:lstStyle/>
          <a:p>
            <a:endParaRPr/>
          </a:p>
        </p:txBody>
      </p:sp>
      <p:sp>
        <p:nvSpPr>
          <p:cNvPr id="19" name="bg object 19"/>
          <p:cNvSpPr/>
          <p:nvPr/>
        </p:nvSpPr>
        <p:spPr>
          <a:xfrm>
            <a:off x="386520" y="2183028"/>
            <a:ext cx="2428853" cy="2960471"/>
          </a:xfrm>
          <a:prstGeom prst="rect">
            <a:avLst/>
          </a:prstGeom>
          <a:blipFill>
            <a:blip r:embed="rId5" cstate="print"/>
            <a:stretch>
              <a:fillRect/>
            </a:stretch>
          </a:blipFill>
        </p:spPr>
        <p:txBody>
          <a:bodyPr wrap="square" lIns="0" tIns="0" rIns="0" bIns="0" rtlCol="0"/>
          <a:lstStyle/>
          <a:p>
            <a:endParaRPr/>
          </a:p>
        </p:txBody>
      </p:sp>
      <p:sp>
        <p:nvSpPr>
          <p:cNvPr id="2" name="Holder 2"/>
          <p:cNvSpPr>
            <a:spLocks noGrp="1"/>
          </p:cNvSpPr>
          <p:nvPr>
            <p:ph type="ctrTitle"/>
          </p:nvPr>
        </p:nvSpPr>
        <p:spPr>
          <a:xfrm>
            <a:off x="2375090" y="1570735"/>
            <a:ext cx="4393819" cy="436880"/>
          </a:xfrm>
          <a:prstGeom prst="rect">
            <a:avLst/>
          </a:prstGeom>
        </p:spPr>
        <p:txBody>
          <a:bodyPr wrap="square" lIns="0" tIns="0" rIns="0" bIns="0">
            <a:spAutoFit/>
          </a:bodyPr>
          <a:lstStyle>
            <a:lvl1pPr>
              <a:defRPr sz="2700" b="0" i="0">
                <a:solidFill>
                  <a:srgbClr val="8C1515"/>
                </a:solidFill>
                <a:latin typeface="Arial Black"/>
                <a:cs typeface="Arial Black"/>
              </a:defRPr>
            </a:lvl1pPr>
          </a:lstStyle>
          <a:p>
            <a:endParaRPr/>
          </a:p>
        </p:txBody>
      </p:sp>
      <p:sp>
        <p:nvSpPr>
          <p:cNvPr id="3" name="Holder 3"/>
          <p:cNvSpPr>
            <a:spLocks noGrp="1"/>
          </p:cNvSpPr>
          <p:nvPr>
            <p:ph type="subTitle" idx="4"/>
          </p:nvPr>
        </p:nvSpPr>
        <p:spPr>
          <a:xfrm>
            <a:off x="655040" y="3136899"/>
            <a:ext cx="7833918" cy="543560"/>
          </a:xfrm>
          <a:prstGeom prst="rect">
            <a:avLst/>
          </a:prstGeom>
        </p:spPr>
        <p:txBody>
          <a:bodyPr wrap="square" lIns="0" tIns="0" rIns="0" bIns="0">
            <a:spAutoFit/>
          </a:bodyPr>
          <a:lstStyle>
            <a:lvl1pPr>
              <a:defRPr sz="3400" b="1" i="0">
                <a:solidFill>
                  <a:srgbClr val="595959"/>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F8F8F8"/>
                </a:solidFill>
                <a:latin typeface="Arial Black"/>
                <a:cs typeface="Arial Black"/>
              </a:defRPr>
            </a:lvl1pPr>
          </a:lstStyle>
          <a:p>
            <a:pPr marL="12700">
              <a:lnSpc>
                <a:spcPct val="100000"/>
              </a:lnSpc>
              <a:spcBef>
                <a:spcPts val="170"/>
              </a:spcBef>
            </a:pPr>
            <a:r>
              <a:rPr spc="-80" dirty="0"/>
              <a:t>Andrew</a:t>
            </a:r>
            <a:r>
              <a:rPr spc="-165" dirty="0"/>
              <a:t> </a:t>
            </a:r>
            <a:r>
              <a:rPr spc="-75" dirty="0"/>
              <a:t>Ng</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UKIJ Tughra"/>
                <a:cs typeface="UKIJ Tughra"/>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DejaVu Sans"/>
                <a:cs typeface="DejaVu Sans"/>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F8F8F8"/>
                </a:solidFill>
                <a:latin typeface="Arial Black"/>
                <a:cs typeface="Arial Black"/>
              </a:defRPr>
            </a:lvl1pPr>
          </a:lstStyle>
          <a:p>
            <a:pPr marL="12700">
              <a:lnSpc>
                <a:spcPct val="100000"/>
              </a:lnSpc>
              <a:spcBef>
                <a:spcPts val="170"/>
              </a:spcBef>
            </a:pPr>
            <a:r>
              <a:rPr spc="-80" dirty="0"/>
              <a:t>Andrew</a:t>
            </a:r>
            <a:r>
              <a:rPr spc="-165" dirty="0"/>
              <a:t> </a:t>
            </a:r>
            <a:r>
              <a:rPr spc="-75" dirty="0"/>
              <a:t>Ng</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UKIJ Tughra"/>
                <a:cs typeface="UKIJ Tughra"/>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F8F8F8"/>
                </a:solidFill>
                <a:latin typeface="Arial Black"/>
                <a:cs typeface="Arial Black"/>
              </a:defRPr>
            </a:lvl1pPr>
          </a:lstStyle>
          <a:p>
            <a:pPr marL="12700">
              <a:lnSpc>
                <a:spcPct val="100000"/>
              </a:lnSpc>
              <a:spcBef>
                <a:spcPts val="170"/>
              </a:spcBef>
            </a:pPr>
            <a:r>
              <a:rPr spc="-80" dirty="0"/>
              <a:t>Andrew</a:t>
            </a:r>
            <a:r>
              <a:rPr spc="-165" dirty="0"/>
              <a:t> </a:t>
            </a:r>
            <a:r>
              <a:rPr spc="-75" dirty="0"/>
              <a:t>Ng</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UKIJ Tughra"/>
                <a:cs typeface="UKIJ Tughra"/>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F8F8F8"/>
                </a:solidFill>
                <a:latin typeface="Arial Black"/>
                <a:cs typeface="Arial Black"/>
              </a:defRPr>
            </a:lvl1pPr>
          </a:lstStyle>
          <a:p>
            <a:pPr marL="12700">
              <a:lnSpc>
                <a:spcPct val="100000"/>
              </a:lnSpc>
              <a:spcBef>
                <a:spcPts val="170"/>
              </a:spcBef>
            </a:pPr>
            <a:r>
              <a:rPr spc="-80" dirty="0"/>
              <a:t>Andrew</a:t>
            </a:r>
            <a:r>
              <a:rPr spc="-165" dirty="0"/>
              <a:t> </a:t>
            </a:r>
            <a:r>
              <a:rPr spc="-75" dirty="0"/>
              <a:t>Ng</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0" i="0">
                <a:solidFill>
                  <a:srgbClr val="F8F8F8"/>
                </a:solidFill>
                <a:latin typeface="Arial Black"/>
                <a:cs typeface="Arial Black"/>
              </a:defRPr>
            </a:lvl1pPr>
          </a:lstStyle>
          <a:p>
            <a:pPr marL="12700">
              <a:lnSpc>
                <a:spcPct val="100000"/>
              </a:lnSpc>
              <a:spcBef>
                <a:spcPts val="170"/>
              </a:spcBef>
            </a:pPr>
            <a:r>
              <a:rPr spc="-80" dirty="0"/>
              <a:t>Andrew</a:t>
            </a:r>
            <a:r>
              <a:rPr spc="-165" dirty="0"/>
              <a:t> </a:t>
            </a:r>
            <a:r>
              <a:rPr spc="-75" dirty="0"/>
              <a:t>Ng</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539625"/>
            <a:ext cx="9144000" cy="603885"/>
          </a:xfrm>
          <a:custGeom>
            <a:avLst/>
            <a:gdLst/>
            <a:ahLst/>
            <a:cxnLst/>
            <a:rect l="l" t="t" r="r" b="b"/>
            <a:pathLst>
              <a:path w="9144000" h="603885">
                <a:moveTo>
                  <a:pt x="0" y="603874"/>
                </a:moveTo>
                <a:lnTo>
                  <a:pt x="0" y="0"/>
                </a:lnTo>
                <a:lnTo>
                  <a:pt x="9144000" y="0"/>
                </a:lnTo>
                <a:lnTo>
                  <a:pt x="9144000" y="603874"/>
                </a:lnTo>
                <a:lnTo>
                  <a:pt x="0" y="603874"/>
                </a:lnTo>
                <a:close/>
              </a:path>
            </a:pathLst>
          </a:custGeom>
          <a:solidFill>
            <a:srgbClr val="8C1515"/>
          </a:solidFill>
        </p:spPr>
        <p:txBody>
          <a:bodyPr wrap="square" lIns="0" tIns="0" rIns="0" bIns="0" rtlCol="0"/>
          <a:lstStyle/>
          <a:p>
            <a:endParaRPr/>
          </a:p>
        </p:txBody>
      </p:sp>
      <p:sp>
        <p:nvSpPr>
          <p:cNvPr id="17" name="bg object 17"/>
          <p:cNvSpPr/>
          <p:nvPr/>
        </p:nvSpPr>
        <p:spPr>
          <a:xfrm>
            <a:off x="310895" y="4693919"/>
            <a:ext cx="1475231" cy="332232"/>
          </a:xfrm>
          <a:prstGeom prst="rect">
            <a:avLst/>
          </a:prstGeom>
          <a:blipFill>
            <a:blip r:embed="rId7" cstate="print"/>
            <a:stretch>
              <a:fillRect/>
            </a:stretch>
          </a:blipFill>
        </p:spPr>
        <p:txBody>
          <a:bodyPr wrap="square" lIns="0" tIns="0" rIns="0" bIns="0" rtlCol="0"/>
          <a:lstStyle/>
          <a:p>
            <a:endParaRPr/>
          </a:p>
        </p:txBody>
      </p:sp>
      <p:sp>
        <p:nvSpPr>
          <p:cNvPr id="18" name="bg object 18"/>
          <p:cNvSpPr/>
          <p:nvPr/>
        </p:nvSpPr>
        <p:spPr>
          <a:xfrm>
            <a:off x="2042160" y="4754880"/>
            <a:ext cx="1277112" cy="210311"/>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79730" y="190500"/>
            <a:ext cx="8384539" cy="330200"/>
          </a:xfrm>
          <a:prstGeom prst="rect">
            <a:avLst/>
          </a:prstGeom>
        </p:spPr>
        <p:txBody>
          <a:bodyPr wrap="square" lIns="0" tIns="0" rIns="0" bIns="0">
            <a:spAutoFit/>
          </a:bodyPr>
          <a:lstStyle>
            <a:lvl1pPr>
              <a:defRPr sz="2000" b="0" i="0">
                <a:solidFill>
                  <a:schemeClr val="tx1"/>
                </a:solidFill>
                <a:latin typeface="UKIJ Tughra"/>
                <a:cs typeface="UKIJ Tughra"/>
              </a:defRPr>
            </a:lvl1pPr>
          </a:lstStyle>
          <a:p>
            <a:endParaRPr/>
          </a:p>
        </p:txBody>
      </p:sp>
      <p:sp>
        <p:nvSpPr>
          <p:cNvPr id="3" name="Holder 3"/>
          <p:cNvSpPr>
            <a:spLocks noGrp="1"/>
          </p:cNvSpPr>
          <p:nvPr>
            <p:ph type="body" idx="1"/>
          </p:nvPr>
        </p:nvSpPr>
        <p:spPr>
          <a:xfrm>
            <a:off x="477196" y="1373123"/>
            <a:ext cx="8143240" cy="1056639"/>
          </a:xfrm>
          <a:prstGeom prst="rect">
            <a:avLst/>
          </a:prstGeom>
        </p:spPr>
        <p:txBody>
          <a:bodyPr wrap="square" lIns="0" tIns="0" rIns="0" bIns="0">
            <a:spAutoFit/>
          </a:bodyPr>
          <a:lstStyle>
            <a:lvl1pPr>
              <a:defRPr sz="2400" b="0" i="0">
                <a:solidFill>
                  <a:schemeClr val="tx1"/>
                </a:solidFill>
                <a:latin typeface="DejaVu Sans"/>
                <a:cs typeface="DejaVu Sans"/>
              </a:defRPr>
            </a:lvl1pPr>
          </a:lstStyle>
          <a:p>
            <a:endParaRPr/>
          </a:p>
        </p:txBody>
      </p:sp>
      <p:sp>
        <p:nvSpPr>
          <p:cNvPr id="4" name="Holder 4"/>
          <p:cNvSpPr>
            <a:spLocks noGrp="1"/>
          </p:cNvSpPr>
          <p:nvPr>
            <p:ph type="ftr" sz="quarter" idx="5"/>
          </p:nvPr>
        </p:nvSpPr>
        <p:spPr>
          <a:xfrm>
            <a:off x="7784248" y="4717034"/>
            <a:ext cx="1005204" cy="274320"/>
          </a:xfrm>
          <a:prstGeom prst="rect">
            <a:avLst/>
          </a:prstGeom>
        </p:spPr>
        <p:txBody>
          <a:bodyPr wrap="square" lIns="0" tIns="0" rIns="0" bIns="0">
            <a:spAutoFit/>
          </a:bodyPr>
          <a:lstStyle>
            <a:lvl1pPr>
              <a:defRPr sz="1400" b="0" i="0">
                <a:solidFill>
                  <a:srgbClr val="F8F8F8"/>
                </a:solidFill>
                <a:latin typeface="Arial Black"/>
                <a:cs typeface="Arial Black"/>
              </a:defRPr>
            </a:lvl1pPr>
          </a:lstStyle>
          <a:p>
            <a:pPr marL="12700">
              <a:lnSpc>
                <a:spcPct val="100000"/>
              </a:lnSpc>
              <a:spcBef>
                <a:spcPts val="170"/>
              </a:spcBef>
            </a:pPr>
            <a:r>
              <a:rPr spc="-80" dirty="0"/>
              <a:t>Andrew</a:t>
            </a:r>
            <a:r>
              <a:rPr spc="-165" dirty="0"/>
              <a:t> </a:t>
            </a:r>
            <a:r>
              <a:rPr spc="-75" dirty="0"/>
              <a:t>Ng</a:t>
            </a: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2/26/26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microsoft.com/office/2007/relationships/hdphoto" Target="../media/hdphoto3.wdp"/></Relationships>
</file>

<file path=ppt/slides/_rels/slide2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customXml" Target="../ink/ink5.xml"/><Relationship Id="rId18" Type="http://schemas.openxmlformats.org/officeDocument/2006/relationships/image" Target="../media/image33.png"/><Relationship Id="rId3" Type="http://schemas.openxmlformats.org/officeDocument/2006/relationships/image" Target="../media/image26.png"/><Relationship Id="rId21" Type="http://schemas.openxmlformats.org/officeDocument/2006/relationships/customXml" Target="../ink/ink9.xml"/><Relationship Id="rId7" Type="http://schemas.openxmlformats.org/officeDocument/2006/relationships/customXml" Target="../ink/ink2.xml"/><Relationship Id="rId12" Type="http://schemas.openxmlformats.org/officeDocument/2006/relationships/image" Target="../media/image30.png"/><Relationship Id="rId17" Type="http://schemas.openxmlformats.org/officeDocument/2006/relationships/customXml" Target="../ink/ink7.xml"/><Relationship Id="rId2" Type="http://schemas.openxmlformats.org/officeDocument/2006/relationships/notesSlide" Target="../notesSlides/notesSlide22.xml"/><Relationship Id="rId16" Type="http://schemas.openxmlformats.org/officeDocument/2006/relationships/image" Target="../media/image32.png"/><Relationship Id="rId20"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customXml" Target="../ink/ink4.xml"/><Relationship Id="rId24" Type="http://schemas.openxmlformats.org/officeDocument/2006/relationships/image" Target="../media/image36.png"/><Relationship Id="rId5" Type="http://schemas.openxmlformats.org/officeDocument/2006/relationships/customXml" Target="../ink/ink1.xml"/><Relationship Id="rId15" Type="http://schemas.openxmlformats.org/officeDocument/2006/relationships/customXml" Target="../ink/ink6.xml"/><Relationship Id="rId23" Type="http://schemas.openxmlformats.org/officeDocument/2006/relationships/customXml" Target="../ink/ink10.xml"/><Relationship Id="rId10" Type="http://schemas.openxmlformats.org/officeDocument/2006/relationships/image" Target="../media/image29.png"/><Relationship Id="rId19" Type="http://schemas.openxmlformats.org/officeDocument/2006/relationships/customXml" Target="../ink/ink8.xml"/><Relationship Id="rId4" Type="http://schemas.microsoft.com/office/2007/relationships/hdphoto" Target="../media/hdphoto4.wdp"/><Relationship Id="rId9" Type="http://schemas.openxmlformats.org/officeDocument/2006/relationships/customXml" Target="../ink/ink3.xml"/><Relationship Id="rId14" Type="http://schemas.openxmlformats.org/officeDocument/2006/relationships/image" Target="../media/image31.png"/><Relationship Id="rId22"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microsoft.com/office/2007/relationships/hdphoto" Target="../media/hdphoto5.wdp"/></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customXml" Target="../ink/ink12.xml"/><Relationship Id="rId5" Type="http://schemas.openxmlformats.org/officeDocument/2006/relationships/image" Target="../media/image44.png"/><Relationship Id="rId4" Type="http://schemas.openxmlformats.org/officeDocument/2006/relationships/customXml" Target="../ink/ink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media/image52.png"/><Relationship Id="rId18" Type="http://schemas.openxmlformats.org/officeDocument/2006/relationships/customXml" Target="../ink/ink20.xml"/><Relationship Id="rId3" Type="http://schemas.openxmlformats.org/officeDocument/2006/relationships/image" Target="../media/image47.png"/><Relationship Id="rId7" Type="http://schemas.openxmlformats.org/officeDocument/2006/relationships/image" Target="../media/image49.png"/><Relationship Id="rId12" Type="http://schemas.openxmlformats.org/officeDocument/2006/relationships/customXml" Target="../ink/ink17.xml"/><Relationship Id="rId17" Type="http://schemas.openxmlformats.org/officeDocument/2006/relationships/image" Target="../media/image54.png"/><Relationship Id="rId2" Type="http://schemas.openxmlformats.org/officeDocument/2006/relationships/notesSlide" Target="../notesSlides/notesSlide35.xml"/><Relationship Id="rId16" Type="http://schemas.openxmlformats.org/officeDocument/2006/relationships/customXml" Target="../ink/ink19.xml"/><Relationship Id="rId1" Type="http://schemas.openxmlformats.org/officeDocument/2006/relationships/slideLayout" Target="../slideLayouts/slideLayout2.xml"/><Relationship Id="rId6" Type="http://schemas.openxmlformats.org/officeDocument/2006/relationships/customXml" Target="../ink/ink14.xml"/><Relationship Id="rId11" Type="http://schemas.openxmlformats.org/officeDocument/2006/relationships/image" Target="../media/image51.png"/><Relationship Id="rId5" Type="http://schemas.openxmlformats.org/officeDocument/2006/relationships/image" Target="../media/image48.png"/><Relationship Id="rId15" Type="http://schemas.openxmlformats.org/officeDocument/2006/relationships/image" Target="../media/image53.png"/><Relationship Id="rId10" Type="http://schemas.openxmlformats.org/officeDocument/2006/relationships/customXml" Target="../ink/ink16.xml"/><Relationship Id="rId19" Type="http://schemas.openxmlformats.org/officeDocument/2006/relationships/image" Target="../media/image55.png"/><Relationship Id="rId4" Type="http://schemas.openxmlformats.org/officeDocument/2006/relationships/customXml" Target="../ink/ink13.xml"/><Relationship Id="rId9" Type="http://schemas.openxmlformats.org/officeDocument/2006/relationships/image" Target="../media/image50.png"/><Relationship Id="rId14" Type="http://schemas.openxmlformats.org/officeDocument/2006/relationships/customXml" Target="../ink/ink18.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8.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customXml" Target="../ink/ink22.xml"/><Relationship Id="rId5" Type="http://schemas.openxmlformats.org/officeDocument/2006/relationships/image" Target="../media/image57.png"/><Relationship Id="rId4" Type="http://schemas.openxmlformats.org/officeDocument/2006/relationships/customXml" Target="../ink/ink21.xml"/></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microsoft.com/office/2007/relationships/hdphoto" Target="../media/hdphoto6.wdp"/></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microsoft.com/office/2007/relationships/hdphoto" Target="../media/hdphoto7.wdp"/></Relationships>
</file>

<file path=ppt/slides/_rels/slide4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microsoft.com/office/2007/relationships/hdphoto" Target="../media/hdphoto8.wdp"/></Relationships>
</file>

<file path=ppt/slides/_rels/slide49.xml.rels><?xml version="1.0" encoding="UTF-8" standalone="yes"?>
<Relationships xmlns="http://schemas.openxmlformats.org/package/2006/relationships"><Relationship Id="rId8" Type="http://schemas.openxmlformats.org/officeDocument/2006/relationships/customXml" Target="../ink/ink25.xml"/><Relationship Id="rId3" Type="http://schemas.openxmlformats.org/officeDocument/2006/relationships/image" Target="../media/image68.png"/><Relationship Id="rId7" Type="http://schemas.openxmlformats.org/officeDocument/2006/relationships/image" Target="../media/image70.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customXml" Target="../ink/ink24.xml"/><Relationship Id="rId5" Type="http://schemas.openxmlformats.org/officeDocument/2006/relationships/image" Target="../media/image69.png"/><Relationship Id="rId4" Type="http://schemas.openxmlformats.org/officeDocument/2006/relationships/customXml" Target="../ink/ink23.xml"/><Relationship Id="rId9" Type="http://schemas.openxmlformats.org/officeDocument/2006/relationships/image" Target="../media/image7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microsoft.com/office/2007/relationships/hdphoto" Target="../media/hdphoto9.wdp"/></Relationships>
</file>

<file path=ppt/slides/_rels/slide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microsoft.com/office/2007/relationships/hdphoto" Target="../media/hdphoto10.wdp"/></Relationships>
</file>

<file path=ppt/slides/_rels/slide5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microsoft.com/office/2007/relationships/hdphoto" Target="../media/hdphoto11.wdp"/></Relationships>
</file>

<file path=ppt/slides/_rels/slide6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microsoft.com/office/2007/relationships/hdphoto" Target="../media/hdphoto12.wdp"/></Relationships>
</file>

<file path=ppt/slides/_rels/slide6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microsoft.com/office/2007/relationships/hdphoto" Target="../media/hdphoto13.wdp"/></Relationships>
</file>

<file path=ppt/slides/_rels/slide7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microsoft.com/office/2007/relationships/hdphoto" Target="../media/hdphoto14.wdp"/></Relationships>
</file>

<file path=ppt/slides/_rels/slide7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microsoft.com/office/2007/relationships/hdphoto" Target="../media/hdphoto15.wdp"/></Relationships>
</file>

<file path=ppt/slides/_rels/slide7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microsoft.com/office/2007/relationships/hdphoto" Target="../media/hdphoto16.wdp"/></Relationships>
</file>

<file path=ppt/slides/_rels/slide7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2800" y="1504950"/>
            <a:ext cx="4775200" cy="1263015"/>
          </a:xfrm>
          <a:prstGeom prst="rect">
            <a:avLst/>
          </a:prstGeom>
        </p:spPr>
        <p:txBody>
          <a:bodyPr vert="horz" wrap="square" lIns="0" tIns="10795" rIns="0" bIns="0" rtlCol="0">
            <a:spAutoFit/>
          </a:bodyPr>
          <a:lstStyle/>
          <a:p>
            <a:pPr marL="12700" marR="5080" indent="-635" algn="ctr">
              <a:lnSpc>
                <a:spcPct val="100400"/>
              </a:lnSpc>
              <a:spcBef>
                <a:spcPts val="85"/>
              </a:spcBef>
            </a:pPr>
            <a:r>
              <a:rPr sz="2700" spc="-135" dirty="0">
                <a:solidFill>
                  <a:srgbClr val="8C1515"/>
                </a:solidFill>
                <a:latin typeface="Arial Black"/>
                <a:cs typeface="Arial Black"/>
              </a:rPr>
              <a:t>Unsupervised </a:t>
            </a:r>
            <a:r>
              <a:rPr sz="2700" spc="-120" dirty="0">
                <a:solidFill>
                  <a:srgbClr val="8C1515"/>
                </a:solidFill>
                <a:latin typeface="Arial Black"/>
                <a:cs typeface="Arial Black"/>
              </a:rPr>
              <a:t>learning,  </a:t>
            </a:r>
            <a:r>
              <a:rPr lang="en-US" sz="2700" spc="-75" dirty="0">
                <a:solidFill>
                  <a:srgbClr val="8C1515"/>
                </a:solidFill>
                <a:latin typeface="Arial Black"/>
                <a:cs typeface="Arial Black"/>
              </a:rPr>
              <a:t>recommender </a:t>
            </a:r>
            <a:r>
              <a:rPr lang="en-US" sz="2700" spc="-140" dirty="0">
                <a:solidFill>
                  <a:srgbClr val="8C1515"/>
                </a:solidFill>
                <a:latin typeface="Arial Black"/>
                <a:cs typeface="Arial Black"/>
              </a:rPr>
              <a:t>systems  </a:t>
            </a:r>
            <a:r>
              <a:rPr lang="en-US" sz="2700" spc="-5" dirty="0">
                <a:solidFill>
                  <a:srgbClr val="8C1515"/>
                </a:solidFill>
                <a:latin typeface="Arial Black"/>
                <a:cs typeface="Arial Black"/>
              </a:rPr>
              <a:t>and </a:t>
            </a:r>
            <a:r>
              <a:rPr lang="en-US" sz="2700" spc="-120" dirty="0">
                <a:solidFill>
                  <a:srgbClr val="8C1515"/>
                </a:solidFill>
                <a:latin typeface="Arial Black"/>
                <a:cs typeface="Arial Black"/>
              </a:rPr>
              <a:t>reinforcement</a:t>
            </a:r>
            <a:r>
              <a:rPr lang="en-US" sz="2700" spc="-484" dirty="0">
                <a:solidFill>
                  <a:srgbClr val="8C1515"/>
                </a:solidFill>
                <a:latin typeface="Arial Black"/>
                <a:cs typeface="Arial Black"/>
              </a:rPr>
              <a:t> </a:t>
            </a:r>
            <a:r>
              <a:rPr lang="en-US" sz="2700" spc="-95" dirty="0">
                <a:solidFill>
                  <a:srgbClr val="8C1515"/>
                </a:solidFill>
                <a:latin typeface="Arial Black"/>
                <a:cs typeface="Arial Black"/>
              </a:rPr>
              <a:t>learning</a:t>
            </a:r>
            <a:endParaRPr sz="2700" dirty="0">
              <a:latin typeface="Arial Black"/>
              <a:cs typeface="Arial Black"/>
            </a:endParaRPr>
          </a:p>
        </p:txBody>
      </p:sp>
      <p:sp>
        <p:nvSpPr>
          <p:cNvPr id="3" name="object 3"/>
          <p:cNvSpPr txBox="1"/>
          <p:nvPr/>
        </p:nvSpPr>
        <p:spPr>
          <a:xfrm>
            <a:off x="4597527" y="3164331"/>
            <a:ext cx="2654935" cy="635000"/>
          </a:xfrm>
          <a:prstGeom prst="rect">
            <a:avLst/>
          </a:prstGeom>
        </p:spPr>
        <p:txBody>
          <a:bodyPr vert="horz" wrap="square" lIns="0" tIns="12700" rIns="0" bIns="0" rtlCol="0">
            <a:spAutoFit/>
          </a:bodyPr>
          <a:lstStyle/>
          <a:p>
            <a:pPr marL="12700">
              <a:lnSpc>
                <a:spcPct val="100000"/>
              </a:lnSpc>
              <a:spcBef>
                <a:spcPts val="100"/>
              </a:spcBef>
            </a:pPr>
            <a:r>
              <a:rPr sz="4000" b="1" spc="220" dirty="0">
                <a:solidFill>
                  <a:srgbClr val="595959"/>
                </a:solidFill>
                <a:latin typeface="Arial"/>
                <a:cs typeface="Arial"/>
              </a:rPr>
              <a:t>Welcome!</a:t>
            </a:r>
            <a:endParaRPr sz="4000">
              <a:latin typeface="Arial"/>
              <a:cs typeface="Arial"/>
            </a:endParaRPr>
          </a:p>
        </p:txBody>
      </p:sp>
      <p:sp>
        <p:nvSpPr>
          <p:cNvPr id="4" name="TextBox 3">
            <a:extLst>
              <a:ext uri="{FF2B5EF4-FFF2-40B4-BE49-F238E27FC236}">
                <a16:creationId xmlns:a16="http://schemas.microsoft.com/office/drawing/2014/main" id="{1093E2E7-5968-484A-AF01-7AF505AD0E59}"/>
              </a:ext>
            </a:extLst>
          </p:cNvPr>
          <p:cNvSpPr txBox="1"/>
          <p:nvPr/>
        </p:nvSpPr>
        <p:spPr>
          <a:xfrm>
            <a:off x="3808207" y="602428"/>
            <a:ext cx="1055930" cy="369332"/>
          </a:xfrm>
          <a:prstGeom prst="rect">
            <a:avLst/>
          </a:prstGeom>
          <a:noFill/>
        </p:spPr>
        <p:txBody>
          <a:bodyPr wrap="none" rtlCol="0">
            <a:spAutoFit/>
          </a:bodyPr>
          <a:lstStyle/>
          <a:p>
            <a:r>
              <a:rPr lang="en-IL" dirty="0"/>
              <a:t>Course 3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784248" y="4725923"/>
            <a:ext cx="1005205" cy="238760"/>
          </a:xfrm>
          <a:prstGeom prst="rect">
            <a:avLst/>
          </a:prstGeom>
        </p:spPr>
        <p:txBody>
          <a:bodyPr vert="horz" wrap="square" lIns="0" tIns="12700" rIns="0" bIns="0" rtlCol="0">
            <a:spAutoFit/>
          </a:bodyPr>
          <a:lstStyle/>
          <a:p>
            <a:pPr marL="12700">
              <a:lnSpc>
                <a:spcPct val="100000"/>
              </a:lnSpc>
              <a:spcBef>
                <a:spcPts val="100"/>
              </a:spcBef>
            </a:pPr>
            <a:r>
              <a:rPr sz="1400" spc="-80" dirty="0">
                <a:solidFill>
                  <a:srgbClr val="F8F8F8"/>
                </a:solidFill>
                <a:latin typeface="Arial Black"/>
                <a:cs typeface="Arial Black"/>
              </a:rPr>
              <a:t>Andrew</a:t>
            </a:r>
            <a:r>
              <a:rPr sz="1400" spc="-165" dirty="0">
                <a:solidFill>
                  <a:srgbClr val="F8F8F8"/>
                </a:solidFill>
                <a:latin typeface="Arial Black"/>
                <a:cs typeface="Arial Black"/>
              </a:rPr>
              <a:t> </a:t>
            </a:r>
            <a:r>
              <a:rPr sz="1400" spc="-75" dirty="0">
                <a:solidFill>
                  <a:srgbClr val="F8F8F8"/>
                </a:solidFill>
                <a:latin typeface="Arial Black"/>
                <a:cs typeface="Arial Black"/>
              </a:rPr>
              <a:t>Ng</a:t>
            </a:r>
            <a:endParaRPr sz="1400">
              <a:latin typeface="Arial Black"/>
              <a:cs typeface="Arial Black"/>
            </a:endParaRPr>
          </a:p>
        </p:txBody>
      </p:sp>
      <p:sp>
        <p:nvSpPr>
          <p:cNvPr id="3" name="object 3"/>
          <p:cNvSpPr txBox="1">
            <a:spLocks noGrp="1"/>
          </p:cNvSpPr>
          <p:nvPr>
            <p:ph type="title"/>
          </p:nvPr>
        </p:nvSpPr>
        <p:spPr>
          <a:xfrm>
            <a:off x="1281112" y="142747"/>
            <a:ext cx="6582409"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8C1515"/>
                </a:solidFill>
                <a:latin typeface="Verdana"/>
                <a:cs typeface="Verdana"/>
              </a:rPr>
              <a:t>Beyond Supervised</a:t>
            </a:r>
            <a:r>
              <a:rPr sz="3600" spc="-55" dirty="0">
                <a:solidFill>
                  <a:srgbClr val="8C1515"/>
                </a:solidFill>
                <a:latin typeface="Verdana"/>
                <a:cs typeface="Verdana"/>
              </a:rPr>
              <a:t> </a:t>
            </a:r>
            <a:r>
              <a:rPr sz="3600" spc="-5" dirty="0">
                <a:solidFill>
                  <a:srgbClr val="8C1515"/>
                </a:solidFill>
                <a:latin typeface="Verdana"/>
                <a:cs typeface="Verdana"/>
              </a:rPr>
              <a:t>Learning</a:t>
            </a:r>
            <a:endParaRPr sz="3600">
              <a:latin typeface="Verdana"/>
              <a:cs typeface="Verdana"/>
            </a:endParaRPr>
          </a:p>
        </p:txBody>
      </p:sp>
      <p:sp>
        <p:nvSpPr>
          <p:cNvPr id="4" name="object 4"/>
          <p:cNvSpPr txBox="1"/>
          <p:nvPr/>
        </p:nvSpPr>
        <p:spPr>
          <a:xfrm>
            <a:off x="711094" y="1227835"/>
            <a:ext cx="3051810" cy="1391285"/>
          </a:xfrm>
          <a:prstGeom prst="rect">
            <a:avLst/>
          </a:prstGeom>
        </p:spPr>
        <p:txBody>
          <a:bodyPr vert="horz" wrap="square" lIns="0" tIns="12700" rIns="0" bIns="0" rtlCol="0">
            <a:spAutoFit/>
          </a:bodyPr>
          <a:lstStyle/>
          <a:p>
            <a:pPr marL="298450" indent="-285750">
              <a:lnSpc>
                <a:spcPts val="2135"/>
              </a:lnSpc>
              <a:spcBef>
                <a:spcPts val="100"/>
              </a:spcBef>
              <a:buFont typeface="Arial"/>
              <a:buChar char="•"/>
              <a:tabLst>
                <a:tab pos="297815" algn="l"/>
                <a:tab pos="298450" algn="l"/>
              </a:tabLst>
            </a:pPr>
            <a:r>
              <a:rPr sz="1800" spc="-5" dirty="0">
                <a:latin typeface="Verdana"/>
                <a:cs typeface="Verdana"/>
              </a:rPr>
              <a:t>Unsupervised</a:t>
            </a:r>
            <a:r>
              <a:rPr sz="1800" spc="-20" dirty="0">
                <a:latin typeface="Verdana"/>
                <a:cs typeface="Verdana"/>
              </a:rPr>
              <a:t> </a:t>
            </a:r>
            <a:r>
              <a:rPr sz="1800" spc="-5" dirty="0">
                <a:latin typeface="Verdana"/>
                <a:cs typeface="Verdana"/>
              </a:rPr>
              <a:t>Learning</a:t>
            </a:r>
            <a:endParaRPr sz="1800" dirty="0">
              <a:latin typeface="Verdana"/>
              <a:cs typeface="Verdana"/>
            </a:endParaRPr>
          </a:p>
          <a:p>
            <a:pPr marL="755650" lvl="1" indent="-286385">
              <a:lnSpc>
                <a:spcPts val="2135"/>
              </a:lnSpc>
              <a:buFont typeface="Arial"/>
              <a:buChar char="•"/>
              <a:tabLst>
                <a:tab pos="755015" algn="l"/>
                <a:tab pos="755650" algn="l"/>
              </a:tabLst>
            </a:pPr>
            <a:r>
              <a:rPr sz="1800" spc="-5" dirty="0">
                <a:latin typeface="Verdana"/>
                <a:cs typeface="Verdana"/>
              </a:rPr>
              <a:t>Clustering</a:t>
            </a:r>
            <a:endParaRPr sz="1800" dirty="0">
              <a:latin typeface="Verdana"/>
              <a:cs typeface="Verdana"/>
            </a:endParaRPr>
          </a:p>
          <a:p>
            <a:pPr marL="755650" lvl="1" indent="-286385">
              <a:lnSpc>
                <a:spcPct val="100000"/>
              </a:lnSpc>
              <a:spcBef>
                <a:spcPts val="25"/>
              </a:spcBef>
              <a:buFont typeface="Arial"/>
              <a:buChar char="•"/>
              <a:tabLst>
                <a:tab pos="755015" algn="l"/>
                <a:tab pos="755650" algn="l"/>
              </a:tabLst>
            </a:pPr>
            <a:r>
              <a:rPr sz="1800" spc="-5" dirty="0">
                <a:latin typeface="Verdana"/>
                <a:cs typeface="Verdana"/>
              </a:rPr>
              <a:t>Anomaly</a:t>
            </a:r>
            <a:r>
              <a:rPr sz="1800" spc="-20" dirty="0">
                <a:latin typeface="Verdana"/>
                <a:cs typeface="Verdana"/>
              </a:rPr>
              <a:t> </a:t>
            </a:r>
            <a:r>
              <a:rPr sz="1800" spc="-5" dirty="0">
                <a:latin typeface="Verdana"/>
                <a:cs typeface="Verdana"/>
              </a:rPr>
              <a:t>detection</a:t>
            </a:r>
            <a:endParaRPr sz="1800" dirty="0">
              <a:latin typeface="Verdana"/>
              <a:cs typeface="Verdana"/>
            </a:endParaRPr>
          </a:p>
          <a:p>
            <a:pPr marL="298450" indent="-285750">
              <a:lnSpc>
                <a:spcPts val="2125"/>
              </a:lnSpc>
              <a:spcBef>
                <a:spcPts val="45"/>
              </a:spcBef>
              <a:buFont typeface="Arial"/>
              <a:buChar char="•"/>
              <a:tabLst>
                <a:tab pos="297815" algn="l"/>
                <a:tab pos="298450" algn="l"/>
              </a:tabLst>
            </a:pPr>
            <a:r>
              <a:rPr sz="1800" spc="-5" dirty="0">
                <a:latin typeface="Verdana"/>
                <a:cs typeface="Verdana"/>
              </a:rPr>
              <a:t>Recommender</a:t>
            </a:r>
            <a:r>
              <a:rPr sz="1800" spc="-75" dirty="0">
                <a:latin typeface="Verdana"/>
                <a:cs typeface="Verdana"/>
              </a:rPr>
              <a:t> </a:t>
            </a:r>
            <a:r>
              <a:rPr sz="1800" spc="-5" dirty="0">
                <a:latin typeface="Verdana"/>
                <a:cs typeface="Verdana"/>
              </a:rPr>
              <a:t>Systems</a:t>
            </a:r>
            <a:endParaRPr sz="1800" dirty="0">
              <a:latin typeface="Verdana"/>
              <a:cs typeface="Verdana"/>
            </a:endParaRPr>
          </a:p>
          <a:p>
            <a:pPr marL="298450" indent="-285750">
              <a:lnSpc>
                <a:spcPts val="2125"/>
              </a:lnSpc>
              <a:buFont typeface="Arial"/>
              <a:buChar char="•"/>
              <a:tabLst>
                <a:tab pos="297815" algn="l"/>
                <a:tab pos="298450" algn="l"/>
              </a:tabLst>
            </a:pPr>
            <a:r>
              <a:rPr sz="1800" spc="-5" dirty="0">
                <a:latin typeface="Verdana"/>
                <a:cs typeface="Verdana"/>
              </a:rPr>
              <a:t>Reinforcement</a:t>
            </a:r>
            <a:r>
              <a:rPr sz="1800" spc="-50" dirty="0">
                <a:latin typeface="Verdana"/>
                <a:cs typeface="Verdana"/>
              </a:rPr>
              <a:t> </a:t>
            </a:r>
            <a:r>
              <a:rPr sz="1800" spc="-5" dirty="0">
                <a:latin typeface="Verdana"/>
                <a:cs typeface="Verdana"/>
              </a:rPr>
              <a:t>Learning</a:t>
            </a:r>
            <a:endParaRPr sz="1800" dirty="0">
              <a:latin typeface="Verdana"/>
              <a:cs typeface="Verdana"/>
            </a:endParaRPr>
          </a:p>
        </p:txBody>
      </p:sp>
      <p:sp>
        <p:nvSpPr>
          <p:cNvPr id="5" name="object 5"/>
          <p:cNvSpPr/>
          <p:nvPr/>
        </p:nvSpPr>
        <p:spPr>
          <a:xfrm>
            <a:off x="460312" y="1300543"/>
            <a:ext cx="329662" cy="177876"/>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805187" y="1589265"/>
            <a:ext cx="454947" cy="1690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813824" y="1868627"/>
            <a:ext cx="414961" cy="198386"/>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373545" y="2128786"/>
            <a:ext cx="433349" cy="222872"/>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387584" y="2435491"/>
            <a:ext cx="402746" cy="203200"/>
          </a:xfrm>
          <a:prstGeom prst="rect">
            <a:avLst/>
          </a:prstGeom>
          <a:blipFill>
            <a:blip r:embed="rId7" cstate="print"/>
            <a:stretch>
              <a:fillRect/>
            </a:stretch>
          </a:blip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1819C-642A-D540-AB4A-FC413E260826}"/>
              </a:ext>
            </a:extLst>
          </p:cNvPr>
          <p:cNvSpPr>
            <a:spLocks noGrp="1"/>
          </p:cNvSpPr>
          <p:nvPr>
            <p:ph type="title"/>
          </p:nvPr>
        </p:nvSpPr>
        <p:spPr>
          <a:xfrm>
            <a:off x="477196" y="514350"/>
            <a:ext cx="8384539" cy="615553"/>
          </a:xfrm>
        </p:spPr>
        <p:txBody>
          <a:bodyPr/>
          <a:lstStyle/>
          <a:p>
            <a:pPr rtl="0"/>
            <a:r>
              <a:rPr lang="en-US" sz="4000" dirty="0">
                <a:solidFill>
                  <a:schemeClr val="accent2">
                    <a:lumMod val="75000"/>
                  </a:schemeClr>
                </a:solidFill>
              </a:rPr>
              <a:t>Clustering – Content</a:t>
            </a:r>
            <a:endParaRPr lang="en-IL" sz="4000" dirty="0">
              <a:solidFill>
                <a:schemeClr val="accent2">
                  <a:lumMod val="75000"/>
                </a:schemeClr>
              </a:solidFill>
            </a:endParaRPr>
          </a:p>
        </p:txBody>
      </p:sp>
      <p:sp>
        <p:nvSpPr>
          <p:cNvPr id="3" name="Text Placeholder 2">
            <a:extLst>
              <a:ext uri="{FF2B5EF4-FFF2-40B4-BE49-F238E27FC236}">
                <a16:creationId xmlns:a16="http://schemas.microsoft.com/office/drawing/2014/main" id="{A35EB200-3EC7-4146-AC2C-3D2A4AB52C00}"/>
              </a:ext>
            </a:extLst>
          </p:cNvPr>
          <p:cNvSpPr>
            <a:spLocks noGrp="1"/>
          </p:cNvSpPr>
          <p:nvPr>
            <p:ph type="body" idx="1"/>
          </p:nvPr>
        </p:nvSpPr>
        <p:spPr>
          <a:xfrm>
            <a:off x="477196" y="1373123"/>
            <a:ext cx="8143240" cy="2215991"/>
          </a:xfrm>
        </p:spPr>
        <p:txBody>
          <a:bodyPr/>
          <a:lstStyle/>
          <a:p>
            <a:pPr marL="342900" indent="-342900" algn="l" rtl="0">
              <a:buFont typeface="Arial" panose="020B0604020202020204" pitchFamily="34" charset="0"/>
              <a:buChar char="•"/>
            </a:pPr>
            <a:r>
              <a:rPr lang="en-US" dirty="0"/>
              <a:t>W</a:t>
            </a:r>
            <a:r>
              <a:rPr lang="en-IL" dirty="0"/>
              <a:t>hat is clustering</a:t>
            </a:r>
          </a:p>
          <a:p>
            <a:pPr marL="342900" indent="-342900" algn="l" rtl="0">
              <a:buFont typeface="Arial" panose="020B0604020202020204" pitchFamily="34" charset="0"/>
              <a:buChar char="•"/>
            </a:pPr>
            <a:r>
              <a:rPr lang="en-IL" dirty="0"/>
              <a:t>K-means intution</a:t>
            </a:r>
          </a:p>
          <a:p>
            <a:pPr marL="342900" indent="-342900" algn="l" rtl="0">
              <a:buFont typeface="Arial" panose="020B0604020202020204" pitchFamily="34" charset="0"/>
              <a:buChar char="•"/>
            </a:pPr>
            <a:r>
              <a:rPr lang="en-IL" dirty="0"/>
              <a:t>K-means algorithm</a:t>
            </a:r>
          </a:p>
          <a:p>
            <a:pPr marL="342900" indent="-342900" algn="l" rtl="0">
              <a:buFont typeface="Arial" panose="020B0604020202020204" pitchFamily="34" charset="0"/>
              <a:buChar char="•"/>
            </a:pPr>
            <a:r>
              <a:rPr lang="en-IL" dirty="0"/>
              <a:t>Optimization Algorithm</a:t>
            </a:r>
          </a:p>
          <a:p>
            <a:pPr marL="342900" indent="-342900" algn="l" rtl="0">
              <a:buFont typeface="Arial" panose="020B0604020202020204" pitchFamily="34" charset="0"/>
              <a:buChar char="•"/>
            </a:pPr>
            <a:r>
              <a:rPr lang="en-IL" dirty="0"/>
              <a:t>Initializing K-means</a:t>
            </a:r>
          </a:p>
          <a:p>
            <a:pPr marL="342900" indent="-342900" algn="l" rtl="0">
              <a:buFont typeface="Arial" panose="020B0604020202020204" pitchFamily="34" charset="0"/>
              <a:buChar char="•"/>
            </a:pPr>
            <a:r>
              <a:rPr lang="en-IL" dirty="0"/>
              <a:t>Choosing the number of clusters </a:t>
            </a:r>
          </a:p>
        </p:txBody>
      </p:sp>
    </p:spTree>
    <p:extLst>
      <p:ext uri="{BB962C8B-B14F-4D97-AF65-F5344CB8AC3E}">
        <p14:creationId xmlns:p14="http://schemas.microsoft.com/office/powerpoint/2010/main" val="236223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75090" y="1570735"/>
            <a:ext cx="4863910" cy="436880"/>
          </a:xfrm>
          <a:prstGeom prst="rect">
            <a:avLst/>
          </a:prstGeom>
        </p:spPr>
        <p:txBody>
          <a:bodyPr vert="horz" wrap="square" lIns="0" tIns="12700" rIns="0" bIns="0" rtlCol="0">
            <a:spAutoFit/>
          </a:bodyPr>
          <a:lstStyle/>
          <a:p>
            <a:pPr marL="2604770">
              <a:lnSpc>
                <a:spcPct val="100000"/>
              </a:lnSpc>
              <a:spcBef>
                <a:spcPts val="100"/>
              </a:spcBef>
            </a:pPr>
            <a:r>
              <a:rPr spc="-80" dirty="0"/>
              <a:t>Cl</a:t>
            </a:r>
            <a:r>
              <a:rPr spc="-100" dirty="0"/>
              <a:t>u</a:t>
            </a:r>
            <a:r>
              <a:rPr spc="-220" dirty="0"/>
              <a:t>s</a:t>
            </a:r>
            <a:r>
              <a:rPr spc="-204" dirty="0"/>
              <a:t>t</a:t>
            </a:r>
            <a:r>
              <a:rPr spc="-140" dirty="0"/>
              <a:t>e</a:t>
            </a:r>
            <a:r>
              <a:rPr spc="-110" dirty="0"/>
              <a:t>ri</a:t>
            </a:r>
            <a:r>
              <a:rPr spc="-190" dirty="0"/>
              <a:t>n</a:t>
            </a:r>
            <a:r>
              <a:rPr spc="25" dirty="0"/>
              <a:t>g</a:t>
            </a:r>
          </a:p>
        </p:txBody>
      </p:sp>
      <p:sp>
        <p:nvSpPr>
          <p:cNvPr id="3" name="object 3"/>
          <p:cNvSpPr txBox="1"/>
          <p:nvPr/>
        </p:nvSpPr>
        <p:spPr>
          <a:xfrm>
            <a:off x="3448177" y="3164331"/>
            <a:ext cx="4953635" cy="635000"/>
          </a:xfrm>
          <a:prstGeom prst="rect">
            <a:avLst/>
          </a:prstGeom>
        </p:spPr>
        <p:txBody>
          <a:bodyPr vert="horz" wrap="square" lIns="0" tIns="12700" rIns="0" bIns="0" rtlCol="0">
            <a:spAutoFit/>
          </a:bodyPr>
          <a:lstStyle/>
          <a:p>
            <a:pPr marL="12700">
              <a:lnSpc>
                <a:spcPct val="100000"/>
              </a:lnSpc>
              <a:spcBef>
                <a:spcPts val="100"/>
              </a:spcBef>
            </a:pPr>
            <a:r>
              <a:rPr sz="4000" b="1" spc="305" dirty="0">
                <a:solidFill>
                  <a:srgbClr val="595959"/>
                </a:solidFill>
                <a:latin typeface="Arial"/>
                <a:cs typeface="Arial"/>
              </a:rPr>
              <a:t>What </a:t>
            </a:r>
            <a:r>
              <a:rPr sz="4000" b="1" spc="-25" dirty="0">
                <a:solidFill>
                  <a:srgbClr val="595959"/>
                </a:solidFill>
                <a:latin typeface="Arial"/>
                <a:cs typeface="Arial"/>
              </a:rPr>
              <a:t>is</a:t>
            </a:r>
            <a:r>
              <a:rPr sz="4000" b="1" spc="-685" dirty="0">
                <a:solidFill>
                  <a:srgbClr val="595959"/>
                </a:solidFill>
                <a:latin typeface="Arial"/>
                <a:cs typeface="Arial"/>
              </a:rPr>
              <a:t> </a:t>
            </a:r>
            <a:r>
              <a:rPr sz="4000" b="1" spc="90" dirty="0">
                <a:solidFill>
                  <a:srgbClr val="595959"/>
                </a:solidFill>
                <a:latin typeface="Arial"/>
                <a:cs typeface="Arial"/>
              </a:rPr>
              <a:t>clustering?</a:t>
            </a:r>
            <a:endParaRPr sz="40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ED0752A4-9AF6-A146-A1A5-5F59C5EEC3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69362"/>
            <a:ext cx="7760606" cy="41787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51584800-36AE-1F4A-AD2D-FC29154218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08438"/>
            <a:ext cx="6113008" cy="42921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FC25A4-E6E9-A642-AEAC-E9B57CDB05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361949"/>
            <a:ext cx="7315200" cy="3986373"/>
          </a:xfrm>
          <a:prstGeom prst="rect">
            <a:avLst/>
          </a:prstGeom>
        </p:spPr>
      </p:pic>
    </p:spTree>
    <p:extLst>
      <p:ext uri="{BB962C8B-B14F-4D97-AF65-F5344CB8AC3E}">
        <p14:creationId xmlns:p14="http://schemas.microsoft.com/office/powerpoint/2010/main" val="16901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AE002D3F-EDA7-D44F-9183-03305BA7C3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09550"/>
            <a:ext cx="8001000" cy="4165810"/>
          </a:xfrm>
          <a:prstGeom prst="rect">
            <a:avLst/>
          </a:prstGeom>
        </p:spPr>
      </p:pic>
      <p:cxnSp>
        <p:nvCxnSpPr>
          <p:cNvPr id="5" name="Straight Arrow Connector 4">
            <a:extLst>
              <a:ext uri="{FF2B5EF4-FFF2-40B4-BE49-F238E27FC236}">
                <a16:creationId xmlns:a16="http://schemas.microsoft.com/office/drawing/2014/main" id="{D4470231-B35F-DC48-8A82-7CE16F9A1DC6}"/>
              </a:ext>
            </a:extLst>
          </p:cNvPr>
          <p:cNvCxnSpPr/>
          <p:nvPr/>
        </p:nvCxnSpPr>
        <p:spPr>
          <a:xfrm>
            <a:off x="4876800" y="1200150"/>
            <a:ext cx="12954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9DAA902-378C-E247-BEDB-5CE2EE9220F0}"/>
              </a:ext>
            </a:extLst>
          </p:cNvPr>
          <p:cNvCxnSpPr>
            <a:cxnSpLocks/>
          </p:cNvCxnSpPr>
          <p:nvPr/>
        </p:nvCxnSpPr>
        <p:spPr>
          <a:xfrm>
            <a:off x="4953000" y="1581150"/>
            <a:ext cx="190500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438EC49-60CE-AF4F-9FCD-D66056023BA9}"/>
              </a:ext>
            </a:extLst>
          </p:cNvPr>
          <p:cNvCxnSpPr>
            <a:cxnSpLocks/>
          </p:cNvCxnSpPr>
          <p:nvPr/>
        </p:nvCxnSpPr>
        <p:spPr>
          <a:xfrm flipV="1">
            <a:off x="6019800" y="1581150"/>
            <a:ext cx="182880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8543" y="2548801"/>
            <a:ext cx="5709920" cy="46355"/>
          </a:xfrm>
          <a:custGeom>
            <a:avLst/>
            <a:gdLst/>
            <a:ahLst/>
            <a:cxnLst/>
            <a:rect l="l" t="t" r="r" b="b"/>
            <a:pathLst>
              <a:path w="5709920" h="46355">
                <a:moveTo>
                  <a:pt x="5709907" y="0"/>
                </a:moveTo>
                <a:lnTo>
                  <a:pt x="0" y="0"/>
                </a:lnTo>
                <a:lnTo>
                  <a:pt x="0" y="45897"/>
                </a:lnTo>
                <a:lnTo>
                  <a:pt x="5709907" y="45897"/>
                </a:lnTo>
                <a:lnTo>
                  <a:pt x="5709907" y="0"/>
                </a:lnTo>
                <a:close/>
              </a:path>
            </a:pathLst>
          </a:custGeom>
          <a:solidFill>
            <a:srgbClr val="0070EA"/>
          </a:solidFill>
        </p:spPr>
        <p:txBody>
          <a:bodyPr wrap="square" lIns="0" tIns="0" rIns="0" bIns="0" rtlCol="0"/>
          <a:lstStyle/>
          <a:p>
            <a:endParaRPr/>
          </a:p>
        </p:txBody>
      </p:sp>
      <p:sp>
        <p:nvSpPr>
          <p:cNvPr id="3" name="object 3"/>
          <p:cNvSpPr txBox="1"/>
          <p:nvPr/>
        </p:nvSpPr>
        <p:spPr>
          <a:xfrm>
            <a:off x="4580953" y="1314195"/>
            <a:ext cx="2606675" cy="635000"/>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8C1515"/>
                </a:solidFill>
                <a:latin typeface="Verdana"/>
                <a:cs typeface="Verdana"/>
              </a:rPr>
              <a:t>Clustering</a:t>
            </a:r>
            <a:endParaRPr sz="4000">
              <a:latin typeface="Verdana"/>
              <a:cs typeface="Verdana"/>
            </a:endParaRPr>
          </a:p>
        </p:txBody>
      </p:sp>
      <p:sp>
        <p:nvSpPr>
          <p:cNvPr id="4" name="object 4"/>
          <p:cNvSpPr txBox="1"/>
          <p:nvPr/>
        </p:nvSpPr>
        <p:spPr>
          <a:xfrm>
            <a:off x="3598290" y="3228338"/>
            <a:ext cx="4570095" cy="635000"/>
          </a:xfrm>
          <a:prstGeom prst="rect">
            <a:avLst/>
          </a:prstGeom>
        </p:spPr>
        <p:txBody>
          <a:bodyPr vert="horz" wrap="square" lIns="0" tIns="12700" rIns="0" bIns="0" rtlCol="0">
            <a:spAutoFit/>
          </a:bodyPr>
          <a:lstStyle/>
          <a:p>
            <a:pPr marL="12700">
              <a:lnSpc>
                <a:spcPct val="100000"/>
              </a:lnSpc>
              <a:spcBef>
                <a:spcPts val="100"/>
              </a:spcBef>
            </a:pPr>
            <a:r>
              <a:rPr sz="4000" spc="-5" dirty="0">
                <a:latin typeface="Verdana"/>
                <a:cs typeface="Verdana"/>
              </a:rPr>
              <a:t>K-means</a:t>
            </a:r>
            <a:r>
              <a:rPr sz="4000" spc="-30" dirty="0">
                <a:latin typeface="Verdana"/>
                <a:cs typeface="Verdana"/>
              </a:rPr>
              <a:t> </a:t>
            </a:r>
            <a:r>
              <a:rPr sz="4000" spc="-5" dirty="0">
                <a:latin typeface="Verdana"/>
                <a:cs typeface="Verdana"/>
              </a:rPr>
              <a:t>intuition</a:t>
            </a:r>
            <a:endParaRPr sz="4000" dirty="0">
              <a:latin typeface="Verdana"/>
              <a:cs typeface="Verdana"/>
            </a:endParaRPr>
          </a:p>
        </p:txBody>
      </p:sp>
      <p:sp>
        <p:nvSpPr>
          <p:cNvPr id="6" name="TextBox 5">
            <a:extLst>
              <a:ext uri="{FF2B5EF4-FFF2-40B4-BE49-F238E27FC236}">
                <a16:creationId xmlns:a16="http://schemas.microsoft.com/office/drawing/2014/main" id="{CCFD9E4A-3EC7-D245-8706-8D6DF1C59C71}"/>
              </a:ext>
            </a:extLst>
          </p:cNvPr>
          <p:cNvSpPr txBox="1"/>
          <p:nvPr/>
        </p:nvSpPr>
        <p:spPr>
          <a:xfrm>
            <a:off x="2819400" y="4552950"/>
            <a:ext cx="5919063" cy="338554"/>
          </a:xfrm>
          <a:prstGeom prst="rect">
            <a:avLst/>
          </a:prstGeom>
          <a:noFill/>
        </p:spPr>
        <p:txBody>
          <a:bodyPr wrap="square">
            <a:spAutoFit/>
          </a:bodyPr>
          <a:lstStyle/>
          <a:p>
            <a:r>
              <a:rPr lang="en-US" sz="1600" dirty="0"/>
              <a:t>Understand the idea behind the algorithm before seeing formulas</a:t>
            </a:r>
            <a:endParaRPr lang="en-IL"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80379EC0-9C4C-8B48-BA36-FA4FB2FFC3C6}"/>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762000" y="0"/>
            <a:ext cx="6019800" cy="45090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E496201-B077-824E-BB82-B65E3AA7E6A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609600" y="209549"/>
            <a:ext cx="5410200" cy="42079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AF9F5ADA-A2DC-9447-81BA-F027F1991A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09549"/>
            <a:ext cx="7924800" cy="39569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CDD19B9B-66CF-764A-86C3-1723D084FA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09550"/>
            <a:ext cx="8077200" cy="4185078"/>
          </a:xfrm>
          <a:prstGeom prst="rect">
            <a:avLst/>
          </a:prstGeom>
        </p:spPr>
      </p:pic>
      <p:sp>
        <p:nvSpPr>
          <p:cNvPr id="2" name="TextBox 1">
            <a:extLst>
              <a:ext uri="{FF2B5EF4-FFF2-40B4-BE49-F238E27FC236}">
                <a16:creationId xmlns:a16="http://schemas.microsoft.com/office/drawing/2014/main" id="{207BD3DF-8839-DE49-AE4F-41DE9C45B659}"/>
              </a:ext>
            </a:extLst>
          </p:cNvPr>
          <p:cNvSpPr txBox="1"/>
          <p:nvPr/>
        </p:nvSpPr>
        <p:spPr>
          <a:xfrm>
            <a:off x="2895600" y="1428750"/>
            <a:ext cx="325730" cy="400110"/>
          </a:xfrm>
          <a:prstGeom prst="rect">
            <a:avLst/>
          </a:prstGeom>
          <a:noFill/>
        </p:spPr>
        <p:txBody>
          <a:bodyPr wrap="none" rtlCol="0">
            <a:spAutoFit/>
          </a:bodyPr>
          <a:lstStyle/>
          <a:p>
            <a:r>
              <a:rPr lang="en-IL" sz="2000" b="1" dirty="0">
                <a:solidFill>
                  <a:srgbClr val="C00000"/>
                </a:solidFill>
              </a:rPr>
              <a:t>X</a:t>
            </a:r>
          </a:p>
        </p:txBody>
      </p:sp>
      <p:sp>
        <p:nvSpPr>
          <p:cNvPr id="4" name="TextBox 3">
            <a:extLst>
              <a:ext uri="{FF2B5EF4-FFF2-40B4-BE49-F238E27FC236}">
                <a16:creationId xmlns:a16="http://schemas.microsoft.com/office/drawing/2014/main" id="{942D0EA4-9304-ED40-A894-C856ECB21B97}"/>
              </a:ext>
            </a:extLst>
          </p:cNvPr>
          <p:cNvSpPr txBox="1"/>
          <p:nvPr/>
        </p:nvSpPr>
        <p:spPr>
          <a:xfrm>
            <a:off x="4724400" y="2876550"/>
            <a:ext cx="325730" cy="400110"/>
          </a:xfrm>
          <a:prstGeom prst="rect">
            <a:avLst/>
          </a:prstGeom>
          <a:noFill/>
        </p:spPr>
        <p:txBody>
          <a:bodyPr wrap="none" rtlCol="0">
            <a:spAutoFit/>
          </a:bodyPr>
          <a:lstStyle/>
          <a:p>
            <a:r>
              <a:rPr lang="en-IL" sz="2000" b="1" dirty="0">
                <a:solidFill>
                  <a:srgbClr val="0070C0"/>
                </a:solidFill>
              </a:rPr>
              <a:t>X</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15886A7-70B1-BB49-907C-32C068A16A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438150"/>
            <a:ext cx="7634312" cy="3886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8CA50538-885A-934E-80E8-55CF93D911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285749"/>
            <a:ext cx="7696200" cy="39278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BE3D4F5B-D054-154B-A608-B2C82BD282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85749"/>
            <a:ext cx="7924800" cy="4106863"/>
          </a:xfrm>
          <a:prstGeom prst="rect">
            <a:avLst/>
          </a:prstGeom>
        </p:spPr>
      </p:pic>
      <p:sp>
        <p:nvSpPr>
          <p:cNvPr id="3" name="TextBox 2">
            <a:extLst>
              <a:ext uri="{FF2B5EF4-FFF2-40B4-BE49-F238E27FC236}">
                <a16:creationId xmlns:a16="http://schemas.microsoft.com/office/drawing/2014/main" id="{81A782F2-B1F4-C541-A549-CDBD73C19A14}"/>
              </a:ext>
            </a:extLst>
          </p:cNvPr>
          <p:cNvSpPr txBox="1"/>
          <p:nvPr/>
        </p:nvSpPr>
        <p:spPr>
          <a:xfrm>
            <a:off x="5715000" y="2800350"/>
            <a:ext cx="2143279" cy="369332"/>
          </a:xfrm>
          <a:prstGeom prst="rect">
            <a:avLst/>
          </a:prstGeom>
          <a:noFill/>
        </p:spPr>
        <p:txBody>
          <a:bodyPr wrap="none" rtlCol="0">
            <a:spAutoFit/>
          </a:bodyPr>
          <a:lstStyle/>
          <a:p>
            <a:r>
              <a:rPr lang="en-IL" dirty="0"/>
              <a:t>Algorithm converged</a:t>
            </a:r>
          </a:p>
        </p:txBody>
      </p:sp>
      <p:sp>
        <p:nvSpPr>
          <p:cNvPr id="4" name="Oval 3">
            <a:extLst>
              <a:ext uri="{FF2B5EF4-FFF2-40B4-BE49-F238E27FC236}">
                <a16:creationId xmlns:a16="http://schemas.microsoft.com/office/drawing/2014/main" id="{990AAF3E-A79C-4241-9EC1-79B14C0C9E13}"/>
              </a:ext>
            </a:extLst>
          </p:cNvPr>
          <p:cNvSpPr/>
          <p:nvPr/>
        </p:nvSpPr>
        <p:spPr>
          <a:xfrm>
            <a:off x="3581400" y="438150"/>
            <a:ext cx="2590800" cy="2133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Oval 5">
            <a:extLst>
              <a:ext uri="{FF2B5EF4-FFF2-40B4-BE49-F238E27FC236}">
                <a16:creationId xmlns:a16="http://schemas.microsoft.com/office/drawing/2014/main" id="{49C79FB8-32C1-D840-9F3D-0F3BA602D958}"/>
              </a:ext>
            </a:extLst>
          </p:cNvPr>
          <p:cNvSpPr/>
          <p:nvPr/>
        </p:nvSpPr>
        <p:spPr>
          <a:xfrm>
            <a:off x="1828800" y="2258623"/>
            <a:ext cx="2286000" cy="2133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883B77-F011-DD49-87BE-D688C4909EB9}"/>
              </a:ext>
            </a:extLst>
          </p:cNvPr>
          <p:cNvSpPr>
            <a:spLocks noGrp="1"/>
          </p:cNvSpPr>
          <p:nvPr>
            <p:ph type="title"/>
          </p:nvPr>
        </p:nvSpPr>
        <p:spPr>
          <a:xfrm>
            <a:off x="379730" y="190500"/>
            <a:ext cx="8384539" cy="492443"/>
          </a:xfrm>
        </p:spPr>
        <p:txBody>
          <a:bodyPr/>
          <a:lstStyle/>
          <a:p>
            <a:pPr rtl="0"/>
            <a:r>
              <a:rPr lang="en-US" sz="3200" b="1" dirty="0">
                <a:solidFill>
                  <a:srgbClr val="C00000"/>
                </a:solidFill>
              </a:rPr>
              <a:t>K-means Summary and Next Step</a:t>
            </a:r>
            <a:endParaRPr lang="en-IL" sz="3200" dirty="0">
              <a:solidFill>
                <a:srgbClr val="C00000"/>
              </a:solidFill>
            </a:endParaRPr>
          </a:p>
        </p:txBody>
      </p:sp>
      <p:sp>
        <p:nvSpPr>
          <p:cNvPr id="6" name="Text Placeholder 5">
            <a:extLst>
              <a:ext uri="{FF2B5EF4-FFF2-40B4-BE49-F238E27FC236}">
                <a16:creationId xmlns:a16="http://schemas.microsoft.com/office/drawing/2014/main" id="{3F6CCEC1-B654-DA4B-B40A-29FE004BCC4F}"/>
              </a:ext>
            </a:extLst>
          </p:cNvPr>
          <p:cNvSpPr>
            <a:spLocks noGrp="1"/>
          </p:cNvSpPr>
          <p:nvPr>
            <p:ph type="body" idx="1"/>
          </p:nvPr>
        </p:nvSpPr>
        <p:spPr>
          <a:xfrm>
            <a:off x="189856" y="819151"/>
            <a:ext cx="8801744" cy="4062651"/>
          </a:xfrm>
        </p:spPr>
        <p:txBody>
          <a:bodyPr/>
          <a:lstStyle/>
          <a:p>
            <a:pPr marL="342900" indent="-342900">
              <a:buFont typeface="Arial" panose="020B0604020202020204" pitchFamily="34" charset="0"/>
              <a:buChar char="•"/>
            </a:pPr>
            <a:r>
              <a:rPr lang="en-US" dirty="0"/>
              <a:t>K-means works using two repeated steps.</a:t>
            </a:r>
          </a:p>
          <a:p>
            <a:pPr marL="635000" indent="-369888">
              <a:buFont typeface="Arial" panose="020B0604020202020204" pitchFamily="34" charset="0"/>
              <a:buChar char="•"/>
            </a:pPr>
            <a:r>
              <a:rPr lang="en-US" dirty="0"/>
              <a:t>Step 1: </a:t>
            </a:r>
            <a:r>
              <a:rPr lang="en-US" dirty="0">
                <a:solidFill>
                  <a:srgbClr val="1501FE"/>
                </a:solidFill>
              </a:rPr>
              <a:t>Assign</a:t>
            </a:r>
            <a:r>
              <a:rPr lang="en-US" dirty="0"/>
              <a:t> each point x^(</a:t>
            </a:r>
            <a:r>
              <a:rPr lang="en-US" dirty="0" err="1"/>
              <a:t>i</a:t>
            </a:r>
            <a:r>
              <a:rPr lang="en-US" dirty="0"/>
              <a:t>) to the nearest centroid.</a:t>
            </a:r>
          </a:p>
          <a:p>
            <a:pPr marL="635000" indent="-369888">
              <a:buFont typeface="Arial" panose="020B0604020202020204" pitchFamily="34" charset="0"/>
              <a:buChar char="•"/>
            </a:pPr>
            <a:r>
              <a:rPr lang="en-US" dirty="0"/>
              <a:t>Step 2: </a:t>
            </a:r>
            <a:r>
              <a:rPr lang="en-US" dirty="0">
                <a:solidFill>
                  <a:srgbClr val="1501FE"/>
                </a:solidFill>
              </a:rPr>
              <a:t>Update</a:t>
            </a:r>
            <a:r>
              <a:rPr lang="en-US" dirty="0"/>
              <a:t> each centroid to be the mean (average) of the points assigned to it.</a:t>
            </a:r>
          </a:p>
          <a:p>
            <a:pPr marL="635000" indent="-369888">
              <a:buFont typeface="Arial" panose="020B0604020202020204" pitchFamily="34" charset="0"/>
              <a:buChar char="•"/>
            </a:pPr>
            <a:r>
              <a:rPr lang="en-US" dirty="0"/>
              <a:t>Repeat until the centroids stop changing (convergence).</a:t>
            </a:r>
          </a:p>
          <a:p>
            <a:pPr marL="342900" indent="-342900">
              <a:buFont typeface="Arial" panose="020B0604020202020204" pitchFamily="34" charset="0"/>
              <a:buChar char="•"/>
            </a:pPr>
            <a:r>
              <a:rPr lang="en-US" dirty="0"/>
              <a:t>Next, we will formalize K-means mathematically by defining its objective function and writing the algorithm in a precise form.</a:t>
            </a:r>
          </a:p>
          <a:p>
            <a:pPr marL="0" algn="l" rtl="0"/>
            <a:endParaRPr lang="en-IL" dirty="0"/>
          </a:p>
        </p:txBody>
      </p:sp>
    </p:spTree>
    <p:extLst>
      <p:ext uri="{BB962C8B-B14F-4D97-AF65-F5344CB8AC3E}">
        <p14:creationId xmlns:p14="http://schemas.microsoft.com/office/powerpoint/2010/main" val="664342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8543" y="2548801"/>
            <a:ext cx="5709920" cy="46355"/>
          </a:xfrm>
          <a:custGeom>
            <a:avLst/>
            <a:gdLst/>
            <a:ahLst/>
            <a:cxnLst/>
            <a:rect l="l" t="t" r="r" b="b"/>
            <a:pathLst>
              <a:path w="5709920" h="46355">
                <a:moveTo>
                  <a:pt x="5709907" y="0"/>
                </a:moveTo>
                <a:lnTo>
                  <a:pt x="0" y="0"/>
                </a:lnTo>
                <a:lnTo>
                  <a:pt x="0" y="45897"/>
                </a:lnTo>
                <a:lnTo>
                  <a:pt x="5709907" y="45897"/>
                </a:lnTo>
                <a:lnTo>
                  <a:pt x="5709907" y="0"/>
                </a:lnTo>
                <a:close/>
              </a:path>
            </a:pathLst>
          </a:custGeom>
          <a:solidFill>
            <a:srgbClr val="0070EA"/>
          </a:solidFill>
        </p:spPr>
        <p:txBody>
          <a:bodyPr wrap="square" lIns="0" tIns="0" rIns="0" bIns="0" rtlCol="0"/>
          <a:lstStyle/>
          <a:p>
            <a:endParaRPr/>
          </a:p>
        </p:txBody>
      </p:sp>
      <p:sp>
        <p:nvSpPr>
          <p:cNvPr id="3" name="object 3"/>
          <p:cNvSpPr txBox="1"/>
          <p:nvPr/>
        </p:nvSpPr>
        <p:spPr>
          <a:xfrm>
            <a:off x="4092803" y="1200150"/>
            <a:ext cx="3581400" cy="689932"/>
          </a:xfrm>
          <a:prstGeom prst="rect">
            <a:avLst/>
          </a:prstGeom>
        </p:spPr>
        <p:txBody>
          <a:bodyPr vert="horz" wrap="square" lIns="0" tIns="12700" rIns="0" bIns="0" rtlCol="0">
            <a:spAutoFit/>
          </a:bodyPr>
          <a:lstStyle/>
          <a:p>
            <a:pPr marL="12700">
              <a:lnSpc>
                <a:spcPct val="100000"/>
              </a:lnSpc>
              <a:spcBef>
                <a:spcPts val="100"/>
              </a:spcBef>
            </a:pPr>
            <a:r>
              <a:rPr lang="en-US" sz="4400" spc="-150" dirty="0">
                <a:solidFill>
                  <a:srgbClr val="8C1515"/>
                </a:solidFill>
                <a:latin typeface="Arial Black"/>
                <a:cs typeface="Arial Black"/>
              </a:rPr>
              <a:t>Clustering</a:t>
            </a:r>
            <a:endParaRPr sz="4400" dirty="0">
              <a:latin typeface="Arial Black"/>
              <a:cs typeface="Arial Black"/>
            </a:endParaRPr>
          </a:p>
        </p:txBody>
      </p:sp>
      <p:sp>
        <p:nvSpPr>
          <p:cNvPr id="4" name="object 4"/>
          <p:cNvSpPr txBox="1"/>
          <p:nvPr/>
        </p:nvSpPr>
        <p:spPr>
          <a:xfrm>
            <a:off x="3352800" y="2939686"/>
            <a:ext cx="4884396" cy="628377"/>
          </a:xfrm>
          <a:prstGeom prst="rect">
            <a:avLst/>
          </a:prstGeom>
        </p:spPr>
        <p:txBody>
          <a:bodyPr vert="horz" wrap="square" lIns="0" tIns="12700" rIns="0" bIns="0" rtlCol="0">
            <a:spAutoFit/>
          </a:bodyPr>
          <a:lstStyle/>
          <a:p>
            <a:pPr marL="12700">
              <a:lnSpc>
                <a:spcPct val="100000"/>
              </a:lnSpc>
              <a:spcBef>
                <a:spcPts val="100"/>
              </a:spcBef>
            </a:pPr>
            <a:r>
              <a:rPr sz="4000" spc="215" dirty="0">
                <a:latin typeface="Arial"/>
                <a:cs typeface="Arial"/>
              </a:rPr>
              <a:t>K-means</a:t>
            </a:r>
            <a:r>
              <a:rPr sz="4000" spc="-165" dirty="0">
                <a:latin typeface="Arial"/>
                <a:cs typeface="Arial"/>
              </a:rPr>
              <a:t> </a:t>
            </a:r>
            <a:r>
              <a:rPr sz="4000" spc="145" dirty="0">
                <a:latin typeface="Arial"/>
                <a:cs typeface="Arial"/>
              </a:rPr>
              <a:t>algorithm</a:t>
            </a:r>
            <a:endParaRPr sz="4000" dirty="0">
              <a:latin typeface="Arial"/>
              <a:cs typeface="Arial"/>
            </a:endParaRPr>
          </a:p>
        </p:txBody>
      </p:sp>
      <p:sp>
        <p:nvSpPr>
          <p:cNvPr id="6" name="TextBox 5">
            <a:extLst>
              <a:ext uri="{FF2B5EF4-FFF2-40B4-BE49-F238E27FC236}">
                <a16:creationId xmlns:a16="http://schemas.microsoft.com/office/drawing/2014/main" id="{C2EDB111-2A2D-294E-96C5-1E2D228D43E9}"/>
              </a:ext>
            </a:extLst>
          </p:cNvPr>
          <p:cNvSpPr txBox="1"/>
          <p:nvPr/>
        </p:nvSpPr>
        <p:spPr>
          <a:xfrm>
            <a:off x="3352800" y="3978729"/>
            <a:ext cx="5257800" cy="923330"/>
          </a:xfrm>
          <a:prstGeom prst="rect">
            <a:avLst/>
          </a:prstGeom>
          <a:noFill/>
        </p:spPr>
        <p:txBody>
          <a:bodyPr wrap="square">
            <a:spAutoFit/>
          </a:bodyPr>
          <a:lstStyle/>
          <a:p>
            <a:r>
              <a:rPr lang="en-US" dirty="0"/>
              <a:t>formalize K-means mathematically by defining its objective function and writing the algorithm in a precise form.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97BF4C43-0ED3-B642-8E13-223305F1EE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027" y="438150"/>
            <a:ext cx="8390573" cy="3505200"/>
          </a:xfrm>
          <a:prstGeom prst="rect">
            <a:avLst/>
          </a:prstGeom>
        </p:spPr>
      </p:pic>
      <p:sp>
        <p:nvSpPr>
          <p:cNvPr id="2" name="TextBox 1">
            <a:extLst>
              <a:ext uri="{FF2B5EF4-FFF2-40B4-BE49-F238E27FC236}">
                <a16:creationId xmlns:a16="http://schemas.microsoft.com/office/drawing/2014/main" id="{C8A1BE14-7752-EA4C-9369-98D034E6FC5D}"/>
              </a:ext>
            </a:extLst>
          </p:cNvPr>
          <p:cNvSpPr txBox="1"/>
          <p:nvPr/>
        </p:nvSpPr>
        <p:spPr>
          <a:xfrm>
            <a:off x="555171" y="2571750"/>
            <a:ext cx="4680833" cy="369332"/>
          </a:xfrm>
          <a:prstGeom prst="rect">
            <a:avLst/>
          </a:prstGeom>
          <a:noFill/>
        </p:spPr>
        <p:txBody>
          <a:bodyPr wrap="none" rtlCol="0">
            <a:spAutoFit/>
          </a:bodyPr>
          <a:lstStyle/>
          <a:p>
            <a:r>
              <a:rPr lang="en-IL" dirty="0">
                <a:latin typeface="Symbol" pitchFamily="2" charset="2"/>
              </a:rPr>
              <a:t>m1, m2  </a:t>
            </a:r>
            <a:r>
              <a:rPr lang="en-IL" dirty="0">
                <a:latin typeface="+mj-lt"/>
              </a:rPr>
              <a:t>are vectors of the same dimension as x</a:t>
            </a:r>
            <a:r>
              <a:rPr lang="en-IL" baseline="30000" dirty="0">
                <a:latin typeface="+mj-lt"/>
              </a:rPr>
              <a:t>(i)</a:t>
            </a:r>
            <a:endParaRPr lang="en-IL" dirty="0">
              <a:latin typeface="Symbol" pitchFamily="2" charset="2"/>
            </a:endParaRPr>
          </a:p>
        </p:txBody>
      </p:sp>
      <p:sp>
        <p:nvSpPr>
          <p:cNvPr id="3" name="TextBox 2">
            <a:extLst>
              <a:ext uri="{FF2B5EF4-FFF2-40B4-BE49-F238E27FC236}">
                <a16:creationId xmlns:a16="http://schemas.microsoft.com/office/drawing/2014/main" id="{9FD00DE9-C939-9F4E-B351-889D9F49E788}"/>
              </a:ext>
            </a:extLst>
          </p:cNvPr>
          <p:cNvSpPr txBox="1"/>
          <p:nvPr/>
        </p:nvSpPr>
        <p:spPr>
          <a:xfrm>
            <a:off x="790282" y="3181350"/>
            <a:ext cx="3625031" cy="369332"/>
          </a:xfrm>
          <a:prstGeom prst="rect">
            <a:avLst/>
          </a:prstGeom>
          <a:noFill/>
        </p:spPr>
        <p:txBody>
          <a:bodyPr wrap="none" rtlCol="0">
            <a:spAutoFit/>
          </a:bodyPr>
          <a:lstStyle/>
          <a:p>
            <a:r>
              <a:rPr lang="en-US" dirty="0"/>
              <a:t>n = 2 :  number of features x1 and x2</a:t>
            </a:r>
            <a:endParaRPr lang="en-IL"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333B434B-D815-264C-A034-A67C32F981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85750"/>
            <a:ext cx="8583246" cy="3505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DB5895D2-793F-7140-B692-1FD7B524F228}"/>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52400" y="285750"/>
            <a:ext cx="8830408" cy="3505200"/>
          </a:xfrm>
          <a:prstGeom prst="rect">
            <a:avLst/>
          </a:prstGeom>
        </p:spPr>
      </p:pic>
      <p:sp>
        <p:nvSpPr>
          <p:cNvPr id="2" name="TextBox 1">
            <a:extLst>
              <a:ext uri="{FF2B5EF4-FFF2-40B4-BE49-F238E27FC236}">
                <a16:creationId xmlns:a16="http://schemas.microsoft.com/office/drawing/2014/main" id="{203E713F-9ABD-4441-9DE0-BC10258A7C09}"/>
              </a:ext>
            </a:extLst>
          </p:cNvPr>
          <p:cNvSpPr txBox="1"/>
          <p:nvPr/>
        </p:nvSpPr>
        <p:spPr>
          <a:xfrm>
            <a:off x="381000" y="3606284"/>
            <a:ext cx="3376374" cy="646331"/>
          </a:xfrm>
          <a:prstGeom prst="rect">
            <a:avLst/>
          </a:prstGeom>
          <a:noFill/>
        </p:spPr>
        <p:txBody>
          <a:bodyPr wrap="none" rtlCol="0">
            <a:spAutoFit/>
          </a:bodyPr>
          <a:lstStyle/>
          <a:p>
            <a:r>
              <a:rPr lang="en-US" dirty="0"/>
              <a:t>F</a:t>
            </a:r>
            <a:r>
              <a:rPr lang="en-IL" dirty="0"/>
              <a:t>ind k that minimizes the distance</a:t>
            </a:r>
          </a:p>
          <a:p>
            <a:r>
              <a:rPr lang="en-US" dirty="0"/>
              <a:t>A</a:t>
            </a:r>
            <a:r>
              <a:rPr lang="en-IL" dirty="0"/>
              <a:t>nd then k will set to the index c</a:t>
            </a:r>
            <a:r>
              <a:rPr lang="en-IL" baseline="30000" dirty="0"/>
              <a:t>(i)</a:t>
            </a:r>
            <a:endParaRPr lang="en-IL" dirty="0"/>
          </a:p>
        </p:txBody>
      </p:sp>
      <p:sp>
        <p:nvSpPr>
          <p:cNvPr id="3" name="Oval 2">
            <a:extLst>
              <a:ext uri="{FF2B5EF4-FFF2-40B4-BE49-F238E27FC236}">
                <a16:creationId xmlns:a16="http://schemas.microsoft.com/office/drawing/2014/main" id="{15F27205-FF1D-8741-8949-96C31E348B83}"/>
              </a:ext>
            </a:extLst>
          </p:cNvPr>
          <p:cNvSpPr/>
          <p:nvPr/>
        </p:nvSpPr>
        <p:spPr>
          <a:xfrm>
            <a:off x="7543800" y="1428750"/>
            <a:ext cx="1143000" cy="457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5" name="Straight Arrow Connector 4">
            <a:extLst>
              <a:ext uri="{FF2B5EF4-FFF2-40B4-BE49-F238E27FC236}">
                <a16:creationId xmlns:a16="http://schemas.microsoft.com/office/drawing/2014/main" id="{9C3917A1-6178-0345-A2F2-B748B20B2E13}"/>
              </a:ext>
            </a:extLst>
          </p:cNvPr>
          <p:cNvCxnSpPr>
            <a:cxnSpLocks/>
          </p:cNvCxnSpPr>
          <p:nvPr/>
        </p:nvCxnSpPr>
        <p:spPr>
          <a:xfrm flipV="1">
            <a:off x="7772400" y="1885950"/>
            <a:ext cx="2286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F33B6E45-3464-8C4C-A8AD-628A742AD7BD}"/>
              </a:ext>
            </a:extLst>
          </p:cNvPr>
          <p:cNvSpPr/>
          <p:nvPr/>
        </p:nvSpPr>
        <p:spPr>
          <a:xfrm>
            <a:off x="7886700" y="2952750"/>
            <a:ext cx="1257300" cy="38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C0D152B-21BE-2243-980B-A6BD7E9DE42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457200" y="57150"/>
            <a:ext cx="8091551" cy="4292600"/>
          </a:xfrm>
          <a:prstGeom prst="rect">
            <a:avLst/>
          </a:prstGeom>
        </p:spPr>
      </p:pic>
      <p:grpSp>
        <p:nvGrpSpPr>
          <p:cNvPr id="4" name="Group 3">
            <a:extLst>
              <a:ext uri="{FF2B5EF4-FFF2-40B4-BE49-F238E27FC236}">
                <a16:creationId xmlns:a16="http://schemas.microsoft.com/office/drawing/2014/main" id="{8EA2B034-B3A1-4740-91A4-59363D8A424C}"/>
              </a:ext>
            </a:extLst>
          </p:cNvPr>
          <p:cNvGrpSpPr/>
          <p:nvPr/>
        </p:nvGrpSpPr>
        <p:grpSpPr>
          <a:xfrm>
            <a:off x="6964641" y="2047276"/>
            <a:ext cx="150840" cy="139680"/>
            <a:chOff x="6964641" y="2047276"/>
            <a:chExt cx="150840" cy="139680"/>
          </a:xfrm>
        </p:grpSpPr>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73A2439D-957A-464A-A1DD-D7AE12FCE5C3}"/>
                    </a:ext>
                  </a:extLst>
                </p14:cNvPr>
                <p14:cNvContentPartPr/>
                <p14:nvPr/>
              </p14:nvContentPartPr>
              <p14:xfrm>
                <a:off x="6982281" y="2047276"/>
                <a:ext cx="69840" cy="139680"/>
              </p14:xfrm>
            </p:contentPart>
          </mc:Choice>
          <mc:Fallback xmlns="">
            <p:pic>
              <p:nvPicPr>
                <p:cNvPr id="2" name="Ink 1">
                  <a:extLst>
                    <a:ext uri="{FF2B5EF4-FFF2-40B4-BE49-F238E27FC236}">
                      <a16:creationId xmlns:a16="http://schemas.microsoft.com/office/drawing/2014/main" id="{73A2439D-957A-464A-A1DD-D7AE12FCE5C3}"/>
                    </a:ext>
                  </a:extLst>
                </p:cNvPr>
                <p:cNvPicPr/>
                <p:nvPr/>
              </p:nvPicPr>
              <p:blipFill>
                <a:blip r:embed="rId6"/>
                <a:stretch>
                  <a:fillRect/>
                </a:stretch>
              </p:blipFill>
              <p:spPr>
                <a:xfrm>
                  <a:off x="6973641" y="2038636"/>
                  <a:ext cx="874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C8DBAE09-0F13-8E48-9A48-DABD02DCD1A6}"/>
                    </a:ext>
                  </a:extLst>
                </p14:cNvPr>
                <p14:cNvContentPartPr/>
                <p14:nvPr/>
              </p14:nvContentPartPr>
              <p14:xfrm>
                <a:off x="6964641" y="2088676"/>
                <a:ext cx="150840" cy="42120"/>
              </p14:xfrm>
            </p:contentPart>
          </mc:Choice>
          <mc:Fallback xmlns="">
            <p:pic>
              <p:nvPicPr>
                <p:cNvPr id="3" name="Ink 2">
                  <a:extLst>
                    <a:ext uri="{FF2B5EF4-FFF2-40B4-BE49-F238E27FC236}">
                      <a16:creationId xmlns:a16="http://schemas.microsoft.com/office/drawing/2014/main" id="{C8DBAE09-0F13-8E48-9A48-DABD02DCD1A6}"/>
                    </a:ext>
                  </a:extLst>
                </p:cNvPr>
                <p:cNvPicPr/>
                <p:nvPr/>
              </p:nvPicPr>
              <p:blipFill>
                <a:blip r:embed="rId8"/>
                <a:stretch>
                  <a:fillRect/>
                </a:stretch>
              </p:blipFill>
              <p:spPr>
                <a:xfrm>
                  <a:off x="6956001" y="2079676"/>
                  <a:ext cx="168480" cy="59760"/>
                </a:xfrm>
                <a:prstGeom prst="rect">
                  <a:avLst/>
                </a:prstGeom>
              </p:spPr>
            </p:pic>
          </mc:Fallback>
        </mc:AlternateContent>
      </p:grpSp>
      <p:grpSp>
        <p:nvGrpSpPr>
          <p:cNvPr id="11" name="Group 10">
            <a:extLst>
              <a:ext uri="{FF2B5EF4-FFF2-40B4-BE49-F238E27FC236}">
                <a16:creationId xmlns:a16="http://schemas.microsoft.com/office/drawing/2014/main" id="{232595B9-C52A-3A42-9166-4469DBE7FD3F}"/>
              </a:ext>
            </a:extLst>
          </p:cNvPr>
          <p:cNvGrpSpPr/>
          <p:nvPr/>
        </p:nvGrpSpPr>
        <p:grpSpPr>
          <a:xfrm>
            <a:off x="6963921" y="1986436"/>
            <a:ext cx="294480" cy="214200"/>
            <a:chOff x="6963921" y="1986436"/>
            <a:chExt cx="294480" cy="214200"/>
          </a:xfrm>
        </p:grpSpPr>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3E649DAC-5B83-664E-BA8A-9B3A45539FF8}"/>
                    </a:ext>
                  </a:extLst>
                </p14:cNvPr>
                <p14:cNvContentPartPr/>
                <p14:nvPr/>
              </p14:nvContentPartPr>
              <p14:xfrm>
                <a:off x="6963921" y="2099476"/>
                <a:ext cx="178200" cy="22320"/>
              </p14:xfrm>
            </p:contentPart>
          </mc:Choice>
          <mc:Fallback xmlns="">
            <p:pic>
              <p:nvPicPr>
                <p:cNvPr id="5" name="Ink 4">
                  <a:extLst>
                    <a:ext uri="{FF2B5EF4-FFF2-40B4-BE49-F238E27FC236}">
                      <a16:creationId xmlns:a16="http://schemas.microsoft.com/office/drawing/2014/main" id="{3E649DAC-5B83-664E-BA8A-9B3A45539FF8}"/>
                    </a:ext>
                  </a:extLst>
                </p:cNvPr>
                <p:cNvPicPr/>
                <p:nvPr/>
              </p:nvPicPr>
              <p:blipFill>
                <a:blip r:embed="rId10"/>
                <a:stretch>
                  <a:fillRect/>
                </a:stretch>
              </p:blipFill>
              <p:spPr>
                <a:xfrm>
                  <a:off x="6955281" y="2090836"/>
                  <a:ext cx="1958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Ink 5">
                  <a:extLst>
                    <a:ext uri="{FF2B5EF4-FFF2-40B4-BE49-F238E27FC236}">
                      <a16:creationId xmlns:a16="http://schemas.microsoft.com/office/drawing/2014/main" id="{53981F1B-FA49-5F4E-B71E-5F14FB3FB8FD}"/>
                    </a:ext>
                  </a:extLst>
                </p14:cNvPr>
                <p14:cNvContentPartPr/>
                <p14:nvPr/>
              </p14:nvContentPartPr>
              <p14:xfrm>
                <a:off x="7002441" y="2052316"/>
                <a:ext cx="55080" cy="148320"/>
              </p14:xfrm>
            </p:contentPart>
          </mc:Choice>
          <mc:Fallback xmlns="">
            <p:pic>
              <p:nvPicPr>
                <p:cNvPr id="6" name="Ink 5">
                  <a:extLst>
                    <a:ext uri="{FF2B5EF4-FFF2-40B4-BE49-F238E27FC236}">
                      <a16:creationId xmlns:a16="http://schemas.microsoft.com/office/drawing/2014/main" id="{53981F1B-FA49-5F4E-B71E-5F14FB3FB8FD}"/>
                    </a:ext>
                  </a:extLst>
                </p:cNvPr>
                <p:cNvPicPr/>
                <p:nvPr/>
              </p:nvPicPr>
              <p:blipFill>
                <a:blip r:embed="rId12"/>
                <a:stretch>
                  <a:fillRect/>
                </a:stretch>
              </p:blipFill>
              <p:spPr>
                <a:xfrm>
                  <a:off x="6993801" y="2043676"/>
                  <a:ext cx="727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A2BB273F-0B59-984F-956A-D180080643CA}"/>
                    </a:ext>
                  </a:extLst>
                </p14:cNvPr>
                <p14:cNvContentPartPr/>
                <p14:nvPr/>
              </p14:nvContentPartPr>
              <p14:xfrm>
                <a:off x="7118001" y="2001556"/>
                <a:ext cx="104400" cy="57240"/>
              </p14:xfrm>
            </p:contentPart>
          </mc:Choice>
          <mc:Fallback xmlns="">
            <p:pic>
              <p:nvPicPr>
                <p:cNvPr id="8" name="Ink 7">
                  <a:extLst>
                    <a:ext uri="{FF2B5EF4-FFF2-40B4-BE49-F238E27FC236}">
                      <a16:creationId xmlns:a16="http://schemas.microsoft.com/office/drawing/2014/main" id="{A2BB273F-0B59-984F-956A-D180080643CA}"/>
                    </a:ext>
                  </a:extLst>
                </p:cNvPr>
                <p:cNvPicPr/>
                <p:nvPr/>
              </p:nvPicPr>
              <p:blipFill>
                <a:blip r:embed="rId14"/>
                <a:stretch>
                  <a:fillRect/>
                </a:stretch>
              </p:blipFill>
              <p:spPr>
                <a:xfrm>
                  <a:off x="7109361" y="1992916"/>
                  <a:ext cx="1220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163B8A6E-0031-2442-A684-98D36C6BEC0B}"/>
                    </a:ext>
                  </a:extLst>
                </p14:cNvPr>
                <p14:cNvContentPartPr/>
                <p14:nvPr/>
              </p14:nvContentPartPr>
              <p14:xfrm>
                <a:off x="7161201" y="1986436"/>
                <a:ext cx="97200" cy="75960"/>
              </p14:xfrm>
            </p:contentPart>
          </mc:Choice>
          <mc:Fallback xmlns="">
            <p:pic>
              <p:nvPicPr>
                <p:cNvPr id="10" name="Ink 9">
                  <a:extLst>
                    <a:ext uri="{FF2B5EF4-FFF2-40B4-BE49-F238E27FC236}">
                      <a16:creationId xmlns:a16="http://schemas.microsoft.com/office/drawing/2014/main" id="{163B8A6E-0031-2442-A684-98D36C6BEC0B}"/>
                    </a:ext>
                  </a:extLst>
                </p:cNvPr>
                <p:cNvPicPr/>
                <p:nvPr/>
              </p:nvPicPr>
              <p:blipFill>
                <a:blip r:embed="rId16"/>
                <a:stretch>
                  <a:fillRect/>
                </a:stretch>
              </p:blipFill>
              <p:spPr>
                <a:xfrm>
                  <a:off x="7152561" y="1977436"/>
                  <a:ext cx="114840" cy="93600"/>
                </a:xfrm>
                <a:prstGeom prst="rect">
                  <a:avLst/>
                </a:prstGeom>
              </p:spPr>
            </p:pic>
          </mc:Fallback>
        </mc:AlternateContent>
      </p:grpSp>
      <p:grpSp>
        <p:nvGrpSpPr>
          <p:cNvPr id="17" name="Group 16">
            <a:extLst>
              <a:ext uri="{FF2B5EF4-FFF2-40B4-BE49-F238E27FC236}">
                <a16:creationId xmlns:a16="http://schemas.microsoft.com/office/drawing/2014/main" id="{AE74FBA8-0BCB-1E4D-82B8-E90888BBBA4A}"/>
              </a:ext>
            </a:extLst>
          </p:cNvPr>
          <p:cNvGrpSpPr/>
          <p:nvPr/>
        </p:nvGrpSpPr>
        <p:grpSpPr>
          <a:xfrm>
            <a:off x="7524081" y="2483236"/>
            <a:ext cx="489960" cy="330480"/>
            <a:chOff x="7524081" y="2483236"/>
            <a:chExt cx="489960" cy="330480"/>
          </a:xfrm>
        </p:grpSpPr>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B7A204A9-7F49-1247-9D1F-F4B2B697A4D1}"/>
                    </a:ext>
                  </a:extLst>
                </p14:cNvPr>
                <p14:cNvContentPartPr/>
                <p14:nvPr/>
              </p14:nvContentPartPr>
              <p14:xfrm>
                <a:off x="7558281" y="2592316"/>
                <a:ext cx="128880" cy="221400"/>
              </p14:xfrm>
            </p:contentPart>
          </mc:Choice>
          <mc:Fallback xmlns="">
            <p:pic>
              <p:nvPicPr>
                <p:cNvPr id="12" name="Ink 11">
                  <a:extLst>
                    <a:ext uri="{FF2B5EF4-FFF2-40B4-BE49-F238E27FC236}">
                      <a16:creationId xmlns:a16="http://schemas.microsoft.com/office/drawing/2014/main" id="{B7A204A9-7F49-1247-9D1F-F4B2B697A4D1}"/>
                    </a:ext>
                  </a:extLst>
                </p:cNvPr>
                <p:cNvPicPr/>
                <p:nvPr/>
              </p:nvPicPr>
              <p:blipFill>
                <a:blip r:embed="rId18"/>
                <a:stretch>
                  <a:fillRect/>
                </a:stretch>
              </p:blipFill>
              <p:spPr>
                <a:xfrm>
                  <a:off x="7549281" y="2583676"/>
                  <a:ext cx="1465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BE418F43-E0E1-7743-8822-194CBC9E3BF5}"/>
                    </a:ext>
                  </a:extLst>
                </p14:cNvPr>
                <p14:cNvContentPartPr/>
                <p14:nvPr/>
              </p14:nvContentPartPr>
              <p14:xfrm>
                <a:off x="7524081" y="2673676"/>
                <a:ext cx="213120" cy="100800"/>
              </p14:xfrm>
            </p:contentPart>
          </mc:Choice>
          <mc:Fallback xmlns="">
            <p:pic>
              <p:nvPicPr>
                <p:cNvPr id="13" name="Ink 12">
                  <a:extLst>
                    <a:ext uri="{FF2B5EF4-FFF2-40B4-BE49-F238E27FC236}">
                      <a16:creationId xmlns:a16="http://schemas.microsoft.com/office/drawing/2014/main" id="{BE418F43-E0E1-7743-8822-194CBC9E3BF5}"/>
                    </a:ext>
                  </a:extLst>
                </p:cNvPr>
                <p:cNvPicPr/>
                <p:nvPr/>
              </p:nvPicPr>
              <p:blipFill>
                <a:blip r:embed="rId20"/>
                <a:stretch>
                  <a:fillRect/>
                </a:stretch>
              </p:blipFill>
              <p:spPr>
                <a:xfrm>
                  <a:off x="7515081" y="2665036"/>
                  <a:ext cx="2307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1501802A-91AC-F845-844A-51BACD387B01}"/>
                    </a:ext>
                  </a:extLst>
                </p14:cNvPr>
                <p14:cNvContentPartPr/>
                <p14:nvPr/>
              </p14:nvContentPartPr>
              <p14:xfrm>
                <a:off x="7742961" y="2532916"/>
                <a:ext cx="223560" cy="26280"/>
              </p14:xfrm>
            </p:contentPart>
          </mc:Choice>
          <mc:Fallback xmlns="">
            <p:pic>
              <p:nvPicPr>
                <p:cNvPr id="15" name="Ink 14">
                  <a:extLst>
                    <a:ext uri="{FF2B5EF4-FFF2-40B4-BE49-F238E27FC236}">
                      <a16:creationId xmlns:a16="http://schemas.microsoft.com/office/drawing/2014/main" id="{1501802A-91AC-F845-844A-51BACD387B01}"/>
                    </a:ext>
                  </a:extLst>
                </p:cNvPr>
                <p:cNvPicPr/>
                <p:nvPr/>
              </p:nvPicPr>
              <p:blipFill>
                <a:blip r:embed="rId22"/>
                <a:stretch>
                  <a:fillRect/>
                </a:stretch>
              </p:blipFill>
              <p:spPr>
                <a:xfrm>
                  <a:off x="7733961" y="2524276"/>
                  <a:ext cx="2412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3E85029F-2CD2-2546-9F22-6CE8F9CB4278}"/>
                    </a:ext>
                  </a:extLst>
                </p14:cNvPr>
                <p14:cNvContentPartPr/>
                <p14:nvPr/>
              </p14:nvContentPartPr>
              <p14:xfrm>
                <a:off x="7913961" y="2483236"/>
                <a:ext cx="100080" cy="131040"/>
              </p14:xfrm>
            </p:contentPart>
          </mc:Choice>
          <mc:Fallback xmlns="">
            <p:pic>
              <p:nvPicPr>
                <p:cNvPr id="16" name="Ink 15">
                  <a:extLst>
                    <a:ext uri="{FF2B5EF4-FFF2-40B4-BE49-F238E27FC236}">
                      <a16:creationId xmlns:a16="http://schemas.microsoft.com/office/drawing/2014/main" id="{3E85029F-2CD2-2546-9F22-6CE8F9CB4278}"/>
                    </a:ext>
                  </a:extLst>
                </p:cNvPr>
                <p:cNvPicPr/>
                <p:nvPr/>
              </p:nvPicPr>
              <p:blipFill>
                <a:blip r:embed="rId24"/>
                <a:stretch>
                  <a:fillRect/>
                </a:stretch>
              </p:blipFill>
              <p:spPr>
                <a:xfrm>
                  <a:off x="7905321" y="2474596"/>
                  <a:ext cx="117720" cy="148680"/>
                </a:xfrm>
                <a:prstGeom prst="rect">
                  <a:avLst/>
                </a:prstGeom>
              </p:spPr>
            </p:pic>
          </mc:Fallback>
        </mc:AlternateContent>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75">
            <a:extLst>
              <a:ext uri="{FF2B5EF4-FFF2-40B4-BE49-F238E27FC236}">
                <a16:creationId xmlns:a16="http://schemas.microsoft.com/office/drawing/2014/main" id="{A9B62C2F-6025-A940-98F3-D4D8095E6C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361950"/>
            <a:ext cx="8837316" cy="4124081"/>
          </a:xfrm>
          <a:prstGeom prst="rect">
            <a:avLst/>
          </a:prstGeom>
        </p:spPr>
      </p:pic>
      <p:sp>
        <p:nvSpPr>
          <p:cNvPr id="2" name="TextBox 1">
            <a:extLst>
              <a:ext uri="{FF2B5EF4-FFF2-40B4-BE49-F238E27FC236}">
                <a16:creationId xmlns:a16="http://schemas.microsoft.com/office/drawing/2014/main" id="{A4C17BF7-705F-6245-9B79-2D432ADA22DD}"/>
              </a:ext>
            </a:extLst>
          </p:cNvPr>
          <p:cNvSpPr txBox="1"/>
          <p:nvPr/>
        </p:nvSpPr>
        <p:spPr>
          <a:xfrm>
            <a:off x="7010400" y="3747367"/>
            <a:ext cx="1879232" cy="954107"/>
          </a:xfrm>
          <a:prstGeom prst="rect">
            <a:avLst/>
          </a:prstGeom>
          <a:solidFill>
            <a:schemeClr val="bg1"/>
          </a:solidFill>
        </p:spPr>
        <p:txBody>
          <a:bodyPr wrap="none" rtlCol="0">
            <a:spAutoFit/>
          </a:bodyPr>
          <a:lstStyle/>
          <a:p>
            <a:r>
              <a:rPr lang="en-US" sz="1400" dirty="0">
                <a:solidFill>
                  <a:srgbClr val="1501FE"/>
                </a:solidFill>
              </a:rPr>
              <a:t>W</a:t>
            </a:r>
            <a:r>
              <a:rPr lang="en-IL" sz="1400" dirty="0">
                <a:solidFill>
                  <a:srgbClr val="1501FE"/>
                </a:solidFill>
              </a:rPr>
              <a:t>hat happened if </a:t>
            </a:r>
          </a:p>
          <a:p>
            <a:r>
              <a:rPr lang="en-US" sz="1400" dirty="0">
                <a:solidFill>
                  <a:srgbClr val="1501FE"/>
                </a:solidFill>
              </a:rPr>
              <a:t>a centroid has 0 points </a:t>
            </a:r>
          </a:p>
          <a:p>
            <a:r>
              <a:rPr lang="en-US" sz="1400" dirty="0">
                <a:solidFill>
                  <a:srgbClr val="1501FE"/>
                </a:solidFill>
              </a:rPr>
              <a:t>Assigned to it.</a:t>
            </a:r>
          </a:p>
          <a:p>
            <a:r>
              <a:rPr lang="en-US" sz="1400" dirty="0">
                <a:solidFill>
                  <a:srgbClr val="1501FE"/>
                </a:solidFill>
              </a:rPr>
              <a:t>Eliminate that cluster </a:t>
            </a:r>
            <a:endParaRPr lang="en-IL" sz="1400" dirty="0">
              <a:solidFill>
                <a:srgbClr val="1501FE"/>
              </a:solidFill>
            </a:endParaRPr>
          </a:p>
        </p:txBody>
      </p:sp>
      <p:cxnSp>
        <p:nvCxnSpPr>
          <p:cNvPr id="4" name="Straight Arrow Connector 3">
            <a:extLst>
              <a:ext uri="{FF2B5EF4-FFF2-40B4-BE49-F238E27FC236}">
                <a16:creationId xmlns:a16="http://schemas.microsoft.com/office/drawing/2014/main" id="{E025B699-C346-0D42-BFF0-419F599A87BB}"/>
              </a:ext>
            </a:extLst>
          </p:cNvPr>
          <p:cNvCxnSpPr/>
          <p:nvPr/>
        </p:nvCxnSpPr>
        <p:spPr>
          <a:xfrm flipH="1" flipV="1">
            <a:off x="7010400" y="3333750"/>
            <a:ext cx="533400" cy="413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9669C3-D49C-B349-9F97-38BB8CE44F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09550"/>
            <a:ext cx="7848600" cy="4199111"/>
          </a:xfrm>
          <a:prstGeom prst="rect">
            <a:avLst/>
          </a:prstGeom>
        </p:spPr>
      </p:pic>
    </p:spTree>
    <p:extLst>
      <p:ext uri="{BB962C8B-B14F-4D97-AF65-F5344CB8AC3E}">
        <p14:creationId xmlns:p14="http://schemas.microsoft.com/office/powerpoint/2010/main" val="3392921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2EBAC8-F3A5-C848-A1C4-7227F06C6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09550"/>
            <a:ext cx="8077200" cy="4173220"/>
          </a:xfrm>
          <a:prstGeom prst="rect">
            <a:avLst/>
          </a:prstGeom>
        </p:spPr>
      </p:pic>
    </p:spTree>
    <p:extLst>
      <p:ext uri="{BB962C8B-B14F-4D97-AF65-F5344CB8AC3E}">
        <p14:creationId xmlns:p14="http://schemas.microsoft.com/office/powerpoint/2010/main" val="7283955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DA7984A-C61F-CD4D-8F4F-8E3F4D987226}"/>
              </a:ext>
            </a:extLst>
          </p:cNvPr>
          <p:cNvSpPr>
            <a:spLocks noGrp="1"/>
          </p:cNvSpPr>
          <p:nvPr>
            <p:ph type="body" idx="1"/>
          </p:nvPr>
        </p:nvSpPr>
        <p:spPr>
          <a:xfrm>
            <a:off x="304800" y="171093"/>
            <a:ext cx="8143240" cy="4153257"/>
          </a:xfrm>
        </p:spPr>
        <p:txBody>
          <a:bodyPr/>
          <a:lstStyle/>
          <a:p>
            <a:pPr>
              <a:buFont typeface="Arial" panose="020B0604020202020204" pitchFamily="34" charset="0"/>
              <a:buChar char="•"/>
            </a:pPr>
            <a:r>
              <a:rPr lang="en-US" sz="2200" dirty="0"/>
              <a:t>K-means starts by randomly initializing the cluster centroids, then repeatedly assigns each point to the nearest centroid and updates the centroids.</a:t>
            </a:r>
          </a:p>
          <a:p>
            <a:pPr>
              <a:buFont typeface="Arial" panose="020B0604020202020204" pitchFamily="34" charset="0"/>
              <a:buChar char="•"/>
            </a:pPr>
            <a:r>
              <a:rPr lang="en-US" sz="2200" dirty="0"/>
              <a:t>A key question is: what is this algorithm really doing behind the scenes, and will it always converge or could it run forever?</a:t>
            </a:r>
          </a:p>
          <a:p>
            <a:pPr>
              <a:buFont typeface="Arial" panose="020B0604020202020204" pitchFamily="34" charset="0"/>
              <a:buChar char="•"/>
            </a:pPr>
            <a:r>
              <a:rPr lang="en-US" sz="2200" dirty="0"/>
              <a:t>To better understand why k-means converges, we need to see that it is actually minimizing a specific cost function.</a:t>
            </a:r>
          </a:p>
          <a:p>
            <a:r>
              <a:rPr lang="en-US" sz="2200" b="1" dirty="0"/>
              <a:t>Next topic:</a:t>
            </a:r>
            <a:br>
              <a:rPr lang="en-US" sz="2200" dirty="0"/>
            </a:br>
            <a:r>
              <a:rPr lang="en-US" sz="2200" dirty="0"/>
              <a:t>K-means Optimization Objective – understanding the cost function that k-means is trying to minimize.</a:t>
            </a:r>
          </a:p>
          <a:p>
            <a:pPr marL="0" algn="l" rtl="0"/>
            <a:endParaRPr lang="en-IL" sz="2200" dirty="0"/>
          </a:p>
        </p:txBody>
      </p:sp>
    </p:spTree>
    <p:extLst>
      <p:ext uri="{BB962C8B-B14F-4D97-AF65-F5344CB8AC3E}">
        <p14:creationId xmlns:p14="http://schemas.microsoft.com/office/powerpoint/2010/main" val="2410152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8543" y="2548801"/>
            <a:ext cx="5709920" cy="46355"/>
          </a:xfrm>
          <a:custGeom>
            <a:avLst/>
            <a:gdLst/>
            <a:ahLst/>
            <a:cxnLst/>
            <a:rect l="l" t="t" r="r" b="b"/>
            <a:pathLst>
              <a:path w="5709920" h="46355">
                <a:moveTo>
                  <a:pt x="5709907" y="0"/>
                </a:moveTo>
                <a:lnTo>
                  <a:pt x="0" y="0"/>
                </a:lnTo>
                <a:lnTo>
                  <a:pt x="0" y="45897"/>
                </a:lnTo>
                <a:lnTo>
                  <a:pt x="5709907" y="45897"/>
                </a:lnTo>
                <a:lnTo>
                  <a:pt x="5709907" y="0"/>
                </a:lnTo>
                <a:close/>
              </a:path>
            </a:pathLst>
          </a:custGeom>
          <a:solidFill>
            <a:srgbClr val="0070EA"/>
          </a:solidFill>
        </p:spPr>
        <p:txBody>
          <a:bodyPr wrap="square" lIns="0" tIns="0" rIns="0" bIns="0" rtlCol="0"/>
          <a:lstStyle/>
          <a:p>
            <a:endParaRPr/>
          </a:p>
        </p:txBody>
      </p:sp>
      <p:sp>
        <p:nvSpPr>
          <p:cNvPr id="3" name="object 3"/>
          <p:cNvSpPr txBox="1"/>
          <p:nvPr/>
        </p:nvSpPr>
        <p:spPr>
          <a:xfrm>
            <a:off x="4735639" y="1463547"/>
            <a:ext cx="2265680" cy="543560"/>
          </a:xfrm>
          <a:prstGeom prst="rect">
            <a:avLst/>
          </a:prstGeom>
        </p:spPr>
        <p:txBody>
          <a:bodyPr vert="horz" wrap="square" lIns="0" tIns="12700" rIns="0" bIns="0" rtlCol="0">
            <a:spAutoFit/>
          </a:bodyPr>
          <a:lstStyle/>
          <a:p>
            <a:pPr marL="12700">
              <a:lnSpc>
                <a:spcPct val="100000"/>
              </a:lnSpc>
              <a:spcBef>
                <a:spcPts val="100"/>
              </a:spcBef>
            </a:pPr>
            <a:r>
              <a:rPr sz="3400" spc="-150" dirty="0">
                <a:solidFill>
                  <a:srgbClr val="8C1515"/>
                </a:solidFill>
                <a:latin typeface="Arial Black"/>
                <a:cs typeface="Arial Black"/>
              </a:rPr>
              <a:t>Clustering</a:t>
            </a:r>
            <a:endParaRPr sz="3400">
              <a:latin typeface="Arial Black"/>
              <a:cs typeface="Arial Black"/>
            </a:endParaRPr>
          </a:p>
        </p:txBody>
      </p:sp>
      <p:sp>
        <p:nvSpPr>
          <p:cNvPr id="4" name="object 4"/>
          <p:cNvSpPr txBox="1"/>
          <p:nvPr/>
        </p:nvSpPr>
        <p:spPr>
          <a:xfrm>
            <a:off x="3875023" y="3177032"/>
            <a:ext cx="3971290" cy="436880"/>
          </a:xfrm>
          <a:prstGeom prst="rect">
            <a:avLst/>
          </a:prstGeom>
        </p:spPr>
        <p:txBody>
          <a:bodyPr vert="horz" wrap="square" lIns="0" tIns="12700" rIns="0" bIns="0" rtlCol="0">
            <a:spAutoFit/>
          </a:bodyPr>
          <a:lstStyle/>
          <a:p>
            <a:pPr marL="12700">
              <a:lnSpc>
                <a:spcPct val="100000"/>
              </a:lnSpc>
              <a:spcBef>
                <a:spcPts val="100"/>
              </a:spcBef>
            </a:pPr>
            <a:r>
              <a:rPr sz="2700" b="1" spc="114" dirty="0">
                <a:latin typeface="Arial"/>
                <a:cs typeface="Arial"/>
              </a:rPr>
              <a:t>Optimization</a:t>
            </a:r>
            <a:r>
              <a:rPr sz="2700" b="1" spc="-195" dirty="0">
                <a:latin typeface="Arial"/>
                <a:cs typeface="Arial"/>
              </a:rPr>
              <a:t> </a:t>
            </a:r>
            <a:r>
              <a:rPr sz="2700" b="1" spc="105" dirty="0">
                <a:latin typeface="Arial"/>
                <a:cs typeface="Arial"/>
              </a:rPr>
              <a:t>objective</a:t>
            </a:r>
            <a:endParaRPr sz="2700" dirty="0">
              <a:latin typeface="Arial"/>
              <a:cs typeface="Arial"/>
            </a:endParaRPr>
          </a:p>
        </p:txBody>
      </p:sp>
      <p:sp>
        <p:nvSpPr>
          <p:cNvPr id="6" name="TextBox 5">
            <a:extLst>
              <a:ext uri="{FF2B5EF4-FFF2-40B4-BE49-F238E27FC236}">
                <a16:creationId xmlns:a16="http://schemas.microsoft.com/office/drawing/2014/main" id="{AC4B56CD-D296-7E41-AC15-8CDF8FE64222}"/>
              </a:ext>
            </a:extLst>
          </p:cNvPr>
          <p:cNvSpPr txBox="1"/>
          <p:nvPr/>
        </p:nvSpPr>
        <p:spPr>
          <a:xfrm>
            <a:off x="3124200" y="3867150"/>
            <a:ext cx="5257800" cy="923330"/>
          </a:xfrm>
          <a:prstGeom prst="rect">
            <a:avLst/>
          </a:prstGeom>
          <a:noFill/>
        </p:spPr>
        <p:txBody>
          <a:bodyPr wrap="square">
            <a:spAutoFit/>
          </a:bodyPr>
          <a:lstStyle/>
          <a:p>
            <a:r>
              <a:rPr lang="en-US" sz="1800" dirty="0"/>
              <a:t>What is the K-means Optimization Objective –understanding the cost function that k-means is trying to minimize.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CAF0C253-B2B5-E34F-A17A-7ACBADE66FA8}"/>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27440" y="128204"/>
            <a:ext cx="7696200" cy="4150760"/>
          </a:xfrm>
          <a:prstGeom prst="rect">
            <a:avLst/>
          </a:prstGeom>
        </p:spPr>
      </p:pic>
      <p:sp>
        <p:nvSpPr>
          <p:cNvPr id="3" name="TextBox 2">
            <a:extLst>
              <a:ext uri="{FF2B5EF4-FFF2-40B4-BE49-F238E27FC236}">
                <a16:creationId xmlns:a16="http://schemas.microsoft.com/office/drawing/2014/main" id="{9BCC6769-4F6C-F941-AAD4-4EA314F4C4CF}"/>
              </a:ext>
            </a:extLst>
          </p:cNvPr>
          <p:cNvSpPr txBox="1"/>
          <p:nvPr/>
        </p:nvSpPr>
        <p:spPr>
          <a:xfrm>
            <a:off x="5804944" y="3817299"/>
            <a:ext cx="3339056" cy="923330"/>
          </a:xfrm>
          <a:prstGeom prst="rect">
            <a:avLst/>
          </a:prstGeom>
          <a:solidFill>
            <a:schemeClr val="bg1"/>
          </a:solidFill>
        </p:spPr>
        <p:txBody>
          <a:bodyPr wrap="none" rtlCol="0">
            <a:spAutoFit/>
          </a:bodyPr>
          <a:lstStyle/>
          <a:p>
            <a:r>
              <a:rPr lang="en-US" dirty="0">
                <a:solidFill>
                  <a:srgbClr val="1501FE"/>
                </a:solidFill>
              </a:rPr>
              <a:t>D</a:t>
            </a:r>
            <a:r>
              <a:rPr lang="en-IL" dirty="0">
                <a:solidFill>
                  <a:srgbClr val="1501FE"/>
                </a:solidFill>
              </a:rPr>
              <a:t>istance between data point (i)</a:t>
            </a:r>
          </a:p>
          <a:p>
            <a:r>
              <a:rPr lang="en-US" dirty="0">
                <a:solidFill>
                  <a:srgbClr val="1501FE"/>
                </a:solidFill>
              </a:rPr>
              <a:t>and the cluster centroid to which </a:t>
            </a:r>
          </a:p>
          <a:p>
            <a:r>
              <a:rPr lang="en-US" dirty="0">
                <a:solidFill>
                  <a:srgbClr val="1501FE"/>
                </a:solidFill>
              </a:rPr>
              <a:t>it belongs</a:t>
            </a:r>
            <a:r>
              <a:rPr lang="en-IL" dirty="0">
                <a:solidFill>
                  <a:srgbClr val="1501FE"/>
                </a:solidFill>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E45054-4746-3541-83DA-5EF58ACA99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09550"/>
            <a:ext cx="7010400" cy="4319101"/>
          </a:xfrm>
          <a:prstGeom prst="rect">
            <a:avLst/>
          </a:prstGeom>
        </p:spPr>
      </p:pic>
      <p:sp>
        <p:nvSpPr>
          <p:cNvPr id="4" name="TextBox 3">
            <a:extLst>
              <a:ext uri="{FF2B5EF4-FFF2-40B4-BE49-F238E27FC236}">
                <a16:creationId xmlns:a16="http://schemas.microsoft.com/office/drawing/2014/main" id="{9FE5F5F8-BE26-9843-946F-BC39801162D4}"/>
              </a:ext>
            </a:extLst>
          </p:cNvPr>
          <p:cNvSpPr txBox="1"/>
          <p:nvPr/>
        </p:nvSpPr>
        <p:spPr>
          <a:xfrm>
            <a:off x="5378116" y="361950"/>
            <a:ext cx="3537284" cy="1477328"/>
          </a:xfrm>
          <a:prstGeom prst="rect">
            <a:avLst/>
          </a:prstGeom>
          <a:noFill/>
        </p:spPr>
        <p:txBody>
          <a:bodyPr wrap="square">
            <a:spAutoFit/>
          </a:bodyPr>
          <a:lstStyle/>
          <a:p>
            <a:r>
              <a:rPr lang="en-US" dirty="0"/>
              <a:t>The goal of K-means is to adjust the cluster assignments c^(1), …, c^(m) and the centroids mu^(1), mu^(m), … so that these arrows become as short as possible</a:t>
            </a:r>
            <a:endParaRPr lang="en-IL" dirty="0"/>
          </a:p>
        </p:txBody>
      </p:sp>
      <p:sp>
        <p:nvSpPr>
          <p:cNvPr id="2" name="TextBox 1">
            <a:extLst>
              <a:ext uri="{FF2B5EF4-FFF2-40B4-BE49-F238E27FC236}">
                <a16:creationId xmlns:a16="http://schemas.microsoft.com/office/drawing/2014/main" id="{D19DC80F-146F-DD4A-BAD3-E63707893DC7}"/>
              </a:ext>
            </a:extLst>
          </p:cNvPr>
          <p:cNvSpPr txBox="1"/>
          <p:nvPr/>
        </p:nvSpPr>
        <p:spPr>
          <a:xfrm>
            <a:off x="4876800" y="1839278"/>
            <a:ext cx="1997342" cy="369332"/>
          </a:xfrm>
          <a:prstGeom prst="rect">
            <a:avLst/>
          </a:prstGeom>
          <a:noFill/>
        </p:spPr>
        <p:txBody>
          <a:bodyPr wrap="none" rtlCol="0">
            <a:spAutoFit/>
          </a:bodyPr>
          <a:lstStyle/>
          <a:p>
            <a:r>
              <a:rPr lang="en-US" dirty="0">
                <a:solidFill>
                  <a:srgbClr val="1501FE"/>
                </a:solidFill>
              </a:rPr>
              <a:t>U</a:t>
            </a:r>
            <a:r>
              <a:rPr lang="en-IL" dirty="0">
                <a:solidFill>
                  <a:srgbClr val="1501FE"/>
                </a:solidFill>
              </a:rPr>
              <a:t>pdate assignment</a:t>
            </a:r>
          </a:p>
        </p:txBody>
      </p:sp>
      <p:sp>
        <p:nvSpPr>
          <p:cNvPr id="5" name="TextBox 4">
            <a:extLst>
              <a:ext uri="{FF2B5EF4-FFF2-40B4-BE49-F238E27FC236}">
                <a16:creationId xmlns:a16="http://schemas.microsoft.com/office/drawing/2014/main" id="{71E246ED-BA40-AF43-9D91-CEC6BB7E30DD}"/>
              </a:ext>
            </a:extLst>
          </p:cNvPr>
          <p:cNvSpPr txBox="1"/>
          <p:nvPr/>
        </p:nvSpPr>
        <p:spPr>
          <a:xfrm>
            <a:off x="5791200" y="3089468"/>
            <a:ext cx="2283959" cy="369332"/>
          </a:xfrm>
          <a:prstGeom prst="rect">
            <a:avLst/>
          </a:prstGeom>
          <a:noFill/>
        </p:spPr>
        <p:txBody>
          <a:bodyPr wrap="none" rtlCol="0">
            <a:spAutoFit/>
          </a:bodyPr>
          <a:lstStyle/>
          <a:p>
            <a:r>
              <a:rPr lang="en-US" dirty="0">
                <a:solidFill>
                  <a:srgbClr val="1501FE"/>
                </a:solidFill>
              </a:rPr>
              <a:t>U</a:t>
            </a:r>
            <a:r>
              <a:rPr lang="en-IL" dirty="0">
                <a:solidFill>
                  <a:srgbClr val="1501FE"/>
                </a:solidFill>
              </a:rPr>
              <a:t>pdate location of mu</a:t>
            </a:r>
          </a:p>
        </p:txBody>
      </p:sp>
    </p:spTree>
    <p:extLst>
      <p:ext uri="{BB962C8B-B14F-4D97-AF65-F5344CB8AC3E}">
        <p14:creationId xmlns:p14="http://schemas.microsoft.com/office/powerpoint/2010/main" val="1446507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40F304-B5A6-A246-BB10-AD042BEBE3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33349"/>
            <a:ext cx="8458200" cy="4185501"/>
          </a:xfrm>
          <a:prstGeom prst="rect">
            <a:avLst/>
          </a:prstGeom>
        </p:spPr>
      </p:pic>
      <p:sp>
        <p:nvSpPr>
          <p:cNvPr id="2" name="TextBox 1">
            <a:extLst>
              <a:ext uri="{FF2B5EF4-FFF2-40B4-BE49-F238E27FC236}">
                <a16:creationId xmlns:a16="http://schemas.microsoft.com/office/drawing/2014/main" id="{1BA0AF46-169D-F94B-A780-6E990BA8BECB}"/>
              </a:ext>
            </a:extLst>
          </p:cNvPr>
          <p:cNvSpPr txBox="1"/>
          <p:nvPr/>
        </p:nvSpPr>
        <p:spPr>
          <a:xfrm>
            <a:off x="1555" y="2114550"/>
            <a:ext cx="1012457" cy="646331"/>
          </a:xfrm>
          <a:prstGeom prst="rect">
            <a:avLst/>
          </a:prstGeom>
          <a:noFill/>
        </p:spPr>
        <p:txBody>
          <a:bodyPr wrap="none" rtlCol="0">
            <a:spAutoFit/>
          </a:bodyPr>
          <a:lstStyle/>
          <a:p>
            <a:r>
              <a:rPr lang="en-US" dirty="0">
                <a:solidFill>
                  <a:srgbClr val="1501FE"/>
                </a:solidFill>
              </a:rPr>
              <a:t>K</a:t>
            </a:r>
            <a:r>
              <a:rPr lang="en-IL" dirty="0">
                <a:solidFill>
                  <a:srgbClr val="1501FE"/>
                </a:solidFill>
              </a:rPr>
              <a:t>eep mu</a:t>
            </a:r>
          </a:p>
          <a:p>
            <a:r>
              <a:rPr lang="en-IL" dirty="0">
                <a:solidFill>
                  <a:srgbClr val="1501FE"/>
                </a:solidFill>
              </a:rPr>
              <a:t>fixed</a:t>
            </a:r>
          </a:p>
        </p:txBody>
      </p:sp>
      <p:sp>
        <p:nvSpPr>
          <p:cNvPr id="4" name="TextBox 3">
            <a:extLst>
              <a:ext uri="{FF2B5EF4-FFF2-40B4-BE49-F238E27FC236}">
                <a16:creationId xmlns:a16="http://schemas.microsoft.com/office/drawing/2014/main" id="{A235281F-5317-E34F-80B6-650E09E6609B}"/>
              </a:ext>
            </a:extLst>
          </p:cNvPr>
          <p:cNvSpPr txBox="1"/>
          <p:nvPr/>
        </p:nvSpPr>
        <p:spPr>
          <a:xfrm>
            <a:off x="-136849" y="3216700"/>
            <a:ext cx="1289264" cy="646331"/>
          </a:xfrm>
          <a:prstGeom prst="rect">
            <a:avLst/>
          </a:prstGeom>
          <a:noFill/>
        </p:spPr>
        <p:txBody>
          <a:bodyPr wrap="none" rtlCol="0">
            <a:spAutoFit/>
          </a:bodyPr>
          <a:lstStyle/>
          <a:p>
            <a:r>
              <a:rPr lang="en-US" dirty="0">
                <a:solidFill>
                  <a:srgbClr val="1501FE"/>
                </a:solidFill>
              </a:rPr>
              <a:t>K</a:t>
            </a:r>
            <a:r>
              <a:rPr lang="en-IL" dirty="0">
                <a:solidFill>
                  <a:srgbClr val="1501FE"/>
                </a:solidFill>
              </a:rPr>
              <a:t>eep points</a:t>
            </a:r>
          </a:p>
          <a:p>
            <a:r>
              <a:rPr lang="en-IL" dirty="0">
                <a:solidFill>
                  <a:srgbClr val="1501FE"/>
                </a:solidFill>
              </a:rPr>
              <a:t>fixed</a:t>
            </a:r>
          </a:p>
        </p:txBody>
      </p:sp>
    </p:spTree>
    <p:extLst>
      <p:ext uri="{BB962C8B-B14F-4D97-AF65-F5344CB8AC3E}">
        <p14:creationId xmlns:p14="http://schemas.microsoft.com/office/powerpoint/2010/main" val="1811186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95C5A6-AA34-F54E-9AB7-C388568B62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324553"/>
            <a:ext cx="8153400" cy="4189593"/>
          </a:xfrm>
          <a:prstGeom prst="rect">
            <a:avLst/>
          </a:prstGeom>
        </p:spPr>
      </p:pic>
      <p:sp>
        <p:nvSpPr>
          <p:cNvPr id="5" name="TextBox 4">
            <a:extLst>
              <a:ext uri="{FF2B5EF4-FFF2-40B4-BE49-F238E27FC236}">
                <a16:creationId xmlns:a16="http://schemas.microsoft.com/office/drawing/2014/main" id="{38D5D5C0-6809-E149-B814-8DA858A137D8}"/>
              </a:ext>
            </a:extLst>
          </p:cNvPr>
          <p:cNvSpPr txBox="1"/>
          <p:nvPr/>
        </p:nvSpPr>
        <p:spPr>
          <a:xfrm>
            <a:off x="749312" y="1177601"/>
            <a:ext cx="3653629" cy="646331"/>
          </a:xfrm>
          <a:prstGeom prst="rect">
            <a:avLst/>
          </a:prstGeom>
          <a:noFill/>
        </p:spPr>
        <p:txBody>
          <a:bodyPr wrap="none" rtlCol="0">
            <a:spAutoFit/>
          </a:bodyPr>
          <a:lstStyle/>
          <a:p>
            <a:r>
              <a:rPr lang="en-US" dirty="0">
                <a:solidFill>
                  <a:srgbClr val="1501FE"/>
                </a:solidFill>
              </a:rPr>
              <a:t>Move the centroid to a</a:t>
            </a:r>
            <a:r>
              <a:rPr lang="en-IL" dirty="0">
                <a:solidFill>
                  <a:srgbClr val="1501FE"/>
                </a:solidFill>
              </a:rPr>
              <a:t>verage </a:t>
            </a:r>
          </a:p>
          <a:p>
            <a:r>
              <a:rPr lang="en-IL" dirty="0">
                <a:solidFill>
                  <a:srgbClr val="1501FE"/>
                </a:solidFill>
              </a:rPr>
              <a:t>the 2 points </a:t>
            </a:r>
            <a:r>
              <a:rPr lang="en-US" dirty="0">
                <a:solidFill>
                  <a:srgbClr val="1501FE"/>
                </a:solidFill>
              </a:rPr>
              <a:t>to find the new location</a:t>
            </a:r>
            <a:r>
              <a:rPr lang="en-IL" dirty="0">
                <a:solidFill>
                  <a:srgbClr val="1501FE"/>
                </a:solidFill>
              </a:rPr>
              <a:t> </a:t>
            </a:r>
          </a:p>
        </p:txBody>
      </p:sp>
      <p:cxnSp>
        <p:nvCxnSpPr>
          <p:cNvPr id="7" name="Straight Arrow Connector 6">
            <a:extLst>
              <a:ext uri="{FF2B5EF4-FFF2-40B4-BE49-F238E27FC236}">
                <a16:creationId xmlns:a16="http://schemas.microsoft.com/office/drawing/2014/main" id="{86B9341C-E0FF-7745-A869-E4CE5BA94533}"/>
              </a:ext>
            </a:extLst>
          </p:cNvPr>
          <p:cNvCxnSpPr>
            <a:cxnSpLocks/>
          </p:cNvCxnSpPr>
          <p:nvPr/>
        </p:nvCxnSpPr>
        <p:spPr>
          <a:xfrm>
            <a:off x="2270122" y="1823932"/>
            <a:ext cx="168278" cy="101260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FCA3A1FF-DE38-F840-B16D-050F6AAD8F00}"/>
              </a:ext>
            </a:extLst>
          </p:cNvPr>
          <p:cNvGrpSpPr/>
          <p:nvPr/>
        </p:nvGrpSpPr>
        <p:grpSpPr>
          <a:xfrm>
            <a:off x="1350801" y="2551636"/>
            <a:ext cx="1098360" cy="340200"/>
            <a:chOff x="1350801" y="2551636"/>
            <a:chExt cx="1098360" cy="340200"/>
          </a:xfrm>
        </p:grpSpPr>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CAE2C90-87B8-8345-845A-92204680FF1F}"/>
                    </a:ext>
                  </a:extLst>
                </p14:cNvPr>
                <p14:cNvContentPartPr/>
                <p14:nvPr/>
              </p14:nvContentPartPr>
              <p14:xfrm>
                <a:off x="1350801" y="2551636"/>
                <a:ext cx="1098360" cy="340200"/>
              </p14:xfrm>
            </p:contentPart>
          </mc:Choice>
          <mc:Fallback xmlns="">
            <p:pic>
              <p:nvPicPr>
                <p:cNvPr id="11" name="Ink 10">
                  <a:extLst>
                    <a:ext uri="{FF2B5EF4-FFF2-40B4-BE49-F238E27FC236}">
                      <a16:creationId xmlns:a16="http://schemas.microsoft.com/office/drawing/2014/main" id="{1CAE2C90-87B8-8345-845A-92204680FF1F}"/>
                    </a:ext>
                  </a:extLst>
                </p:cNvPr>
                <p:cNvPicPr/>
                <p:nvPr/>
              </p:nvPicPr>
              <p:blipFill>
                <a:blip r:embed="rId5"/>
                <a:stretch>
                  <a:fillRect/>
                </a:stretch>
              </p:blipFill>
              <p:spPr>
                <a:xfrm>
                  <a:off x="1341801" y="2542636"/>
                  <a:ext cx="111600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03274FD-FF38-894A-B0E5-6C0CCF27ADB1}"/>
                    </a:ext>
                  </a:extLst>
                </p14:cNvPr>
                <p14:cNvContentPartPr/>
                <p14:nvPr/>
              </p14:nvContentPartPr>
              <p14:xfrm>
                <a:off x="2203641" y="2664676"/>
                <a:ext cx="206280" cy="181080"/>
              </p14:xfrm>
            </p:contentPart>
          </mc:Choice>
          <mc:Fallback xmlns="">
            <p:pic>
              <p:nvPicPr>
                <p:cNvPr id="12" name="Ink 11">
                  <a:extLst>
                    <a:ext uri="{FF2B5EF4-FFF2-40B4-BE49-F238E27FC236}">
                      <a16:creationId xmlns:a16="http://schemas.microsoft.com/office/drawing/2014/main" id="{403274FD-FF38-894A-B0E5-6C0CCF27ADB1}"/>
                    </a:ext>
                  </a:extLst>
                </p:cNvPr>
                <p:cNvPicPr/>
                <p:nvPr/>
              </p:nvPicPr>
              <p:blipFill>
                <a:blip r:embed="rId7"/>
                <a:stretch>
                  <a:fillRect/>
                </a:stretch>
              </p:blipFill>
              <p:spPr>
                <a:xfrm>
                  <a:off x="2194641" y="2656036"/>
                  <a:ext cx="223920" cy="198720"/>
                </a:xfrm>
                <a:prstGeom prst="rect">
                  <a:avLst/>
                </a:prstGeom>
              </p:spPr>
            </p:pic>
          </mc:Fallback>
        </mc:AlternateContent>
      </p:grpSp>
    </p:spTree>
    <p:extLst>
      <p:ext uri="{BB962C8B-B14F-4D97-AF65-F5344CB8AC3E}">
        <p14:creationId xmlns:p14="http://schemas.microsoft.com/office/powerpoint/2010/main" val="1581109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F812F-4131-024D-B347-4069FAB3384E}"/>
              </a:ext>
            </a:extLst>
          </p:cNvPr>
          <p:cNvSpPr>
            <a:spLocks noGrp="1"/>
          </p:cNvSpPr>
          <p:nvPr>
            <p:ph type="title"/>
          </p:nvPr>
        </p:nvSpPr>
        <p:spPr>
          <a:xfrm>
            <a:off x="379730" y="190500"/>
            <a:ext cx="8384539" cy="615553"/>
          </a:xfrm>
        </p:spPr>
        <p:txBody>
          <a:bodyPr/>
          <a:lstStyle/>
          <a:p>
            <a:pPr rtl="0"/>
            <a:r>
              <a:rPr lang="en-IL" sz="4000" dirty="0">
                <a:solidFill>
                  <a:srgbClr val="C00000"/>
                </a:solidFill>
              </a:rPr>
              <a:t>Sum-up</a:t>
            </a:r>
          </a:p>
        </p:txBody>
      </p:sp>
      <p:sp>
        <p:nvSpPr>
          <p:cNvPr id="4" name="Text Placeholder 3">
            <a:extLst>
              <a:ext uri="{FF2B5EF4-FFF2-40B4-BE49-F238E27FC236}">
                <a16:creationId xmlns:a16="http://schemas.microsoft.com/office/drawing/2014/main" id="{2479B7F6-60FE-364F-8B66-D1BD8AE0D05A}"/>
              </a:ext>
            </a:extLst>
          </p:cNvPr>
          <p:cNvSpPr>
            <a:spLocks noGrp="1"/>
          </p:cNvSpPr>
          <p:nvPr>
            <p:ph type="body" idx="1"/>
          </p:nvPr>
        </p:nvSpPr>
        <p:spPr>
          <a:xfrm>
            <a:off x="379730" y="742950"/>
            <a:ext cx="8764270" cy="4062651"/>
          </a:xfrm>
        </p:spPr>
        <p:txBody>
          <a:bodyPr/>
          <a:lstStyle/>
          <a:p>
            <a:pPr>
              <a:buFont typeface="Arial" panose="020B0604020202020204" pitchFamily="34" charset="0"/>
              <a:buChar char="•"/>
            </a:pPr>
            <a:r>
              <a:rPr lang="en-US" dirty="0"/>
              <a:t>K-means has converged when the cost function J stops decreasing or decreases very slowly.</a:t>
            </a:r>
          </a:p>
          <a:p>
            <a:pPr>
              <a:buFont typeface="Arial" panose="020B0604020202020204" pitchFamily="34" charset="0"/>
              <a:buChar char="•"/>
            </a:pPr>
            <a:r>
              <a:rPr lang="en-US" dirty="0"/>
              <a:t>Monitoring the cost function helps us decide when to stop the algorithm.</a:t>
            </a:r>
          </a:p>
          <a:p>
            <a:pPr>
              <a:buFont typeface="Arial" panose="020B0604020202020204" pitchFamily="34" charset="0"/>
              <a:buChar char="•"/>
            </a:pPr>
            <a:r>
              <a:rPr lang="en-US" dirty="0"/>
              <a:t>Running K-means multiple times with different random initializations and choosing the lowest cost often gives better clusters.</a:t>
            </a:r>
          </a:p>
          <a:p>
            <a:r>
              <a:rPr lang="en-US" dirty="0">
                <a:solidFill>
                  <a:srgbClr val="1501FE"/>
                </a:solidFill>
              </a:rPr>
              <a:t>Next</a:t>
            </a:r>
            <a:r>
              <a:rPr lang="en-US" dirty="0"/>
              <a:t>, we will study how to choose the number of clusters K and how to improve the practical performance of K-means.</a:t>
            </a:r>
          </a:p>
          <a:p>
            <a:pPr marL="0" algn="l" rtl="0"/>
            <a:endParaRPr lang="en-IL" dirty="0"/>
          </a:p>
        </p:txBody>
      </p:sp>
    </p:spTree>
    <p:extLst>
      <p:ext uri="{BB962C8B-B14F-4D97-AF65-F5344CB8AC3E}">
        <p14:creationId xmlns:p14="http://schemas.microsoft.com/office/powerpoint/2010/main" val="981134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364039" y="3176522"/>
            <a:ext cx="5121275" cy="635000"/>
          </a:xfrm>
          <a:prstGeom prst="rect">
            <a:avLst/>
          </a:prstGeom>
        </p:spPr>
        <p:txBody>
          <a:bodyPr vert="horz" wrap="square" lIns="0" tIns="12700" rIns="0" bIns="0" rtlCol="0">
            <a:spAutoFit/>
          </a:bodyPr>
          <a:lstStyle/>
          <a:p>
            <a:pPr marL="12700">
              <a:lnSpc>
                <a:spcPct val="100000"/>
              </a:lnSpc>
              <a:spcBef>
                <a:spcPts val="100"/>
              </a:spcBef>
            </a:pPr>
            <a:r>
              <a:rPr sz="4000" spc="-5" dirty="0">
                <a:latin typeface="Verdana"/>
                <a:cs typeface="Verdana"/>
              </a:rPr>
              <a:t>Initializing</a:t>
            </a:r>
            <a:r>
              <a:rPr sz="4000" spc="-15" dirty="0">
                <a:latin typeface="Verdana"/>
                <a:cs typeface="Verdana"/>
              </a:rPr>
              <a:t> </a:t>
            </a:r>
            <a:r>
              <a:rPr sz="4000" spc="-5" dirty="0">
                <a:latin typeface="Verdana"/>
                <a:cs typeface="Verdana"/>
              </a:rPr>
              <a:t>K-means</a:t>
            </a:r>
            <a:endParaRPr sz="4000">
              <a:latin typeface="Verdana"/>
              <a:cs typeface="Verdana"/>
            </a:endParaRPr>
          </a:p>
        </p:txBody>
      </p:sp>
      <p:sp>
        <p:nvSpPr>
          <p:cNvPr id="5" name="Title 4">
            <a:extLst>
              <a:ext uri="{FF2B5EF4-FFF2-40B4-BE49-F238E27FC236}">
                <a16:creationId xmlns:a16="http://schemas.microsoft.com/office/drawing/2014/main" id="{2749E27C-F927-E346-8430-C9F1E72FC154}"/>
              </a:ext>
            </a:extLst>
          </p:cNvPr>
          <p:cNvSpPr>
            <a:spLocks noGrp="1"/>
          </p:cNvSpPr>
          <p:nvPr>
            <p:ph type="ctrTitle"/>
          </p:nvPr>
        </p:nvSpPr>
        <p:spPr>
          <a:xfrm>
            <a:off x="3200400" y="1200150"/>
            <a:ext cx="4393819" cy="615553"/>
          </a:xfrm>
        </p:spPr>
        <p:txBody>
          <a:bodyPr/>
          <a:lstStyle/>
          <a:p>
            <a:pPr algn="ctr" rtl="0"/>
            <a:r>
              <a:rPr lang="en-IL" sz="4000" b="1" dirty="0">
                <a:latin typeface="+mj-lt"/>
              </a:rPr>
              <a:t>Clustering </a:t>
            </a:r>
          </a:p>
        </p:txBody>
      </p:sp>
      <p:sp>
        <p:nvSpPr>
          <p:cNvPr id="6" name="object 2">
            <a:extLst>
              <a:ext uri="{FF2B5EF4-FFF2-40B4-BE49-F238E27FC236}">
                <a16:creationId xmlns:a16="http://schemas.microsoft.com/office/drawing/2014/main" id="{5743E6E6-AE27-AD47-B28D-BC5C228701CB}"/>
              </a:ext>
            </a:extLst>
          </p:cNvPr>
          <p:cNvSpPr/>
          <p:nvPr/>
        </p:nvSpPr>
        <p:spPr>
          <a:xfrm>
            <a:off x="3028543" y="2548801"/>
            <a:ext cx="5709920" cy="46355"/>
          </a:xfrm>
          <a:custGeom>
            <a:avLst/>
            <a:gdLst/>
            <a:ahLst/>
            <a:cxnLst/>
            <a:rect l="l" t="t" r="r" b="b"/>
            <a:pathLst>
              <a:path w="5709920" h="46355">
                <a:moveTo>
                  <a:pt x="5709907" y="0"/>
                </a:moveTo>
                <a:lnTo>
                  <a:pt x="0" y="0"/>
                </a:lnTo>
                <a:lnTo>
                  <a:pt x="0" y="45897"/>
                </a:lnTo>
                <a:lnTo>
                  <a:pt x="5709907" y="45897"/>
                </a:lnTo>
                <a:lnTo>
                  <a:pt x="5709907" y="0"/>
                </a:lnTo>
                <a:close/>
              </a:path>
            </a:pathLst>
          </a:custGeom>
          <a:solidFill>
            <a:srgbClr val="0070EA"/>
          </a:solidFill>
        </p:spPr>
        <p:txBody>
          <a:bodyPr wrap="square" lIns="0" tIns="0" rIns="0" bIns="0" rtlCol="0"/>
          <a:lstStyle/>
          <a:p>
            <a:endParaRPr/>
          </a:p>
        </p:txBody>
      </p:sp>
      <p:sp>
        <p:nvSpPr>
          <p:cNvPr id="7" name="TextBox 6">
            <a:extLst>
              <a:ext uri="{FF2B5EF4-FFF2-40B4-BE49-F238E27FC236}">
                <a16:creationId xmlns:a16="http://schemas.microsoft.com/office/drawing/2014/main" id="{4EBEDFCE-C215-0940-992A-963F91029397}"/>
              </a:ext>
            </a:extLst>
          </p:cNvPr>
          <p:cNvSpPr txBox="1"/>
          <p:nvPr/>
        </p:nvSpPr>
        <p:spPr>
          <a:xfrm>
            <a:off x="3364039" y="4069722"/>
            <a:ext cx="4539704" cy="646331"/>
          </a:xfrm>
          <a:prstGeom prst="rect">
            <a:avLst/>
          </a:prstGeom>
          <a:noFill/>
        </p:spPr>
        <p:txBody>
          <a:bodyPr wrap="none" rtlCol="0">
            <a:spAutoFit/>
          </a:bodyPr>
          <a:lstStyle/>
          <a:p>
            <a:r>
              <a:rPr lang="en-US" dirty="0">
                <a:solidFill>
                  <a:srgbClr val="1501FE"/>
                </a:solidFill>
              </a:rPr>
              <a:t>H</a:t>
            </a:r>
            <a:r>
              <a:rPr lang="en-IL" dirty="0">
                <a:solidFill>
                  <a:srgbClr val="1501FE"/>
                </a:solidFill>
              </a:rPr>
              <a:t>ow do we actually take the random guess i.e </a:t>
            </a:r>
          </a:p>
          <a:p>
            <a:r>
              <a:rPr lang="en-US" dirty="0">
                <a:solidFill>
                  <a:srgbClr val="1501FE"/>
                </a:solidFill>
              </a:rPr>
              <a:t>T</a:t>
            </a:r>
            <a:r>
              <a:rPr lang="en-IL" dirty="0">
                <a:solidFill>
                  <a:srgbClr val="1501FE"/>
                </a:solidFill>
              </a:rPr>
              <a:t>he initial locations of the cluster centriod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06D462A-A5FB-A04F-A862-DC4F7D5D2D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99" y="209550"/>
            <a:ext cx="8550687" cy="32004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80A91C-A764-3B4F-A624-67DF58217F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09550"/>
            <a:ext cx="8001000" cy="4118477"/>
          </a:xfrm>
          <a:prstGeom prst="rect">
            <a:avLst/>
          </a:prstGeom>
        </p:spPr>
      </p:pic>
      <p:sp>
        <p:nvSpPr>
          <p:cNvPr id="2" name="TextBox 1">
            <a:extLst>
              <a:ext uri="{FF2B5EF4-FFF2-40B4-BE49-F238E27FC236}">
                <a16:creationId xmlns:a16="http://schemas.microsoft.com/office/drawing/2014/main" id="{CB9076A1-BEF9-2746-B7B9-90931BB5F467}"/>
              </a:ext>
            </a:extLst>
          </p:cNvPr>
          <p:cNvSpPr txBox="1"/>
          <p:nvPr/>
        </p:nvSpPr>
        <p:spPr>
          <a:xfrm>
            <a:off x="4876800" y="285750"/>
            <a:ext cx="2062744" cy="646331"/>
          </a:xfrm>
          <a:prstGeom prst="rect">
            <a:avLst/>
          </a:prstGeom>
          <a:solidFill>
            <a:schemeClr val="bg1"/>
          </a:solidFill>
        </p:spPr>
        <p:txBody>
          <a:bodyPr wrap="none" rtlCol="0">
            <a:spAutoFit/>
          </a:bodyPr>
          <a:lstStyle/>
          <a:p>
            <a:r>
              <a:rPr lang="en-US" dirty="0">
                <a:solidFill>
                  <a:srgbClr val="1501FE"/>
                </a:solidFill>
              </a:rPr>
              <a:t>O</a:t>
            </a:r>
            <a:r>
              <a:rPr lang="en-IL" dirty="0">
                <a:solidFill>
                  <a:srgbClr val="1501FE"/>
                </a:solidFill>
              </a:rPr>
              <a:t>ne possibility is to </a:t>
            </a:r>
          </a:p>
          <a:p>
            <a:r>
              <a:rPr lang="en-IL" dirty="0">
                <a:solidFill>
                  <a:srgbClr val="1501FE"/>
                </a:solidFill>
              </a:rPr>
              <a:t>make this choice</a:t>
            </a:r>
          </a:p>
        </p:txBody>
      </p:sp>
      <p:grpSp>
        <p:nvGrpSpPr>
          <p:cNvPr id="6" name="Group 5">
            <a:extLst>
              <a:ext uri="{FF2B5EF4-FFF2-40B4-BE49-F238E27FC236}">
                <a16:creationId xmlns:a16="http://schemas.microsoft.com/office/drawing/2014/main" id="{9E59409E-2DF0-6E4A-A0D1-134810E499A7}"/>
              </a:ext>
            </a:extLst>
          </p:cNvPr>
          <p:cNvGrpSpPr/>
          <p:nvPr/>
        </p:nvGrpSpPr>
        <p:grpSpPr>
          <a:xfrm>
            <a:off x="5655321" y="850276"/>
            <a:ext cx="166680" cy="893520"/>
            <a:chOff x="5655321" y="850276"/>
            <a:chExt cx="166680" cy="893520"/>
          </a:xfrm>
        </p:grpSpPr>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9E90137-EBF5-6541-8B16-DE7F38938C78}"/>
                    </a:ext>
                  </a:extLst>
                </p14:cNvPr>
                <p14:cNvContentPartPr/>
                <p14:nvPr/>
              </p14:nvContentPartPr>
              <p14:xfrm>
                <a:off x="5655321" y="850276"/>
                <a:ext cx="166320" cy="849600"/>
              </p14:xfrm>
            </p:contentPart>
          </mc:Choice>
          <mc:Fallback xmlns="">
            <p:pic>
              <p:nvPicPr>
                <p:cNvPr id="4" name="Ink 3">
                  <a:extLst>
                    <a:ext uri="{FF2B5EF4-FFF2-40B4-BE49-F238E27FC236}">
                      <a16:creationId xmlns:a16="http://schemas.microsoft.com/office/drawing/2014/main" id="{49E90137-EBF5-6541-8B16-DE7F38938C78}"/>
                    </a:ext>
                  </a:extLst>
                </p:cNvPr>
                <p:cNvPicPr/>
                <p:nvPr/>
              </p:nvPicPr>
              <p:blipFill>
                <a:blip r:embed="rId5"/>
                <a:stretch>
                  <a:fillRect/>
                </a:stretch>
              </p:blipFill>
              <p:spPr>
                <a:xfrm>
                  <a:off x="5646681" y="841276"/>
                  <a:ext cx="183960" cy="867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EC2787E4-1846-0847-AD31-BF490F76B887}"/>
                    </a:ext>
                  </a:extLst>
                </p14:cNvPr>
                <p14:cNvContentPartPr/>
                <p14:nvPr/>
              </p14:nvContentPartPr>
              <p14:xfrm>
                <a:off x="5724801" y="1591516"/>
                <a:ext cx="97200" cy="152280"/>
              </p14:xfrm>
            </p:contentPart>
          </mc:Choice>
          <mc:Fallback xmlns="">
            <p:pic>
              <p:nvPicPr>
                <p:cNvPr id="5" name="Ink 4">
                  <a:extLst>
                    <a:ext uri="{FF2B5EF4-FFF2-40B4-BE49-F238E27FC236}">
                      <a16:creationId xmlns:a16="http://schemas.microsoft.com/office/drawing/2014/main" id="{EC2787E4-1846-0847-AD31-BF490F76B887}"/>
                    </a:ext>
                  </a:extLst>
                </p:cNvPr>
                <p:cNvPicPr/>
                <p:nvPr/>
              </p:nvPicPr>
              <p:blipFill>
                <a:blip r:embed="rId7"/>
                <a:stretch>
                  <a:fillRect/>
                </a:stretch>
              </p:blipFill>
              <p:spPr>
                <a:xfrm>
                  <a:off x="5715801" y="1582876"/>
                  <a:ext cx="114840" cy="169920"/>
                </a:xfrm>
                <a:prstGeom prst="rect">
                  <a:avLst/>
                </a:prstGeom>
              </p:spPr>
            </p:pic>
          </mc:Fallback>
        </mc:AlternateContent>
      </p:grpSp>
      <p:grpSp>
        <p:nvGrpSpPr>
          <p:cNvPr id="9" name="Group 8">
            <a:extLst>
              <a:ext uri="{FF2B5EF4-FFF2-40B4-BE49-F238E27FC236}">
                <a16:creationId xmlns:a16="http://schemas.microsoft.com/office/drawing/2014/main" id="{9D12EE1A-2897-1E4E-B568-9BEA36F2908B}"/>
              </a:ext>
            </a:extLst>
          </p:cNvPr>
          <p:cNvGrpSpPr/>
          <p:nvPr/>
        </p:nvGrpSpPr>
        <p:grpSpPr>
          <a:xfrm>
            <a:off x="5882121" y="890596"/>
            <a:ext cx="1612440" cy="167760"/>
            <a:chOff x="5882121" y="890596"/>
            <a:chExt cx="1612440" cy="167760"/>
          </a:xfrm>
        </p:grpSpPr>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818640AD-7D05-C145-A314-067263C87858}"/>
                    </a:ext>
                  </a:extLst>
                </p14:cNvPr>
                <p14:cNvContentPartPr/>
                <p14:nvPr/>
              </p14:nvContentPartPr>
              <p14:xfrm>
                <a:off x="5882121" y="890596"/>
                <a:ext cx="1523160" cy="167760"/>
              </p14:xfrm>
            </p:contentPart>
          </mc:Choice>
          <mc:Fallback xmlns="">
            <p:pic>
              <p:nvPicPr>
                <p:cNvPr id="7" name="Ink 6">
                  <a:extLst>
                    <a:ext uri="{FF2B5EF4-FFF2-40B4-BE49-F238E27FC236}">
                      <a16:creationId xmlns:a16="http://schemas.microsoft.com/office/drawing/2014/main" id="{818640AD-7D05-C145-A314-067263C87858}"/>
                    </a:ext>
                  </a:extLst>
                </p:cNvPr>
                <p:cNvPicPr/>
                <p:nvPr/>
              </p:nvPicPr>
              <p:blipFill>
                <a:blip r:embed="rId9"/>
                <a:stretch>
                  <a:fillRect/>
                </a:stretch>
              </p:blipFill>
              <p:spPr>
                <a:xfrm>
                  <a:off x="5873481" y="881596"/>
                  <a:ext cx="15408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C414F674-E78C-A849-9DAC-2E95906D99F4}"/>
                    </a:ext>
                  </a:extLst>
                </p14:cNvPr>
                <p14:cNvContentPartPr/>
                <p14:nvPr/>
              </p14:nvContentPartPr>
              <p14:xfrm>
                <a:off x="7280721" y="908596"/>
                <a:ext cx="213840" cy="98280"/>
              </p14:xfrm>
            </p:contentPart>
          </mc:Choice>
          <mc:Fallback xmlns="">
            <p:pic>
              <p:nvPicPr>
                <p:cNvPr id="8" name="Ink 7">
                  <a:extLst>
                    <a:ext uri="{FF2B5EF4-FFF2-40B4-BE49-F238E27FC236}">
                      <a16:creationId xmlns:a16="http://schemas.microsoft.com/office/drawing/2014/main" id="{C414F674-E78C-A849-9DAC-2E95906D99F4}"/>
                    </a:ext>
                  </a:extLst>
                </p:cNvPr>
                <p:cNvPicPr/>
                <p:nvPr/>
              </p:nvPicPr>
              <p:blipFill>
                <a:blip r:embed="rId11"/>
                <a:stretch>
                  <a:fillRect/>
                </a:stretch>
              </p:blipFill>
              <p:spPr>
                <a:xfrm>
                  <a:off x="7272081" y="899596"/>
                  <a:ext cx="231480" cy="115920"/>
                </a:xfrm>
                <a:prstGeom prst="rect">
                  <a:avLst/>
                </a:prstGeom>
              </p:spPr>
            </p:pic>
          </mc:Fallback>
        </mc:AlternateContent>
      </p:grpSp>
      <p:sp>
        <p:nvSpPr>
          <p:cNvPr id="10" name="TextBox 9">
            <a:extLst>
              <a:ext uri="{FF2B5EF4-FFF2-40B4-BE49-F238E27FC236}">
                <a16:creationId xmlns:a16="http://schemas.microsoft.com/office/drawing/2014/main" id="{A7CEB5AC-5C7F-394B-A129-3DEA6B9B7955}"/>
              </a:ext>
            </a:extLst>
          </p:cNvPr>
          <p:cNvSpPr txBox="1"/>
          <p:nvPr/>
        </p:nvSpPr>
        <p:spPr>
          <a:xfrm>
            <a:off x="5185443" y="2409063"/>
            <a:ext cx="2219838" cy="646331"/>
          </a:xfrm>
          <a:prstGeom prst="rect">
            <a:avLst/>
          </a:prstGeom>
          <a:solidFill>
            <a:schemeClr val="bg1"/>
          </a:solidFill>
        </p:spPr>
        <p:txBody>
          <a:bodyPr wrap="none" rtlCol="0">
            <a:spAutoFit/>
          </a:bodyPr>
          <a:lstStyle/>
          <a:p>
            <a:r>
              <a:rPr lang="en-US" dirty="0">
                <a:solidFill>
                  <a:srgbClr val="1501FE"/>
                </a:solidFill>
              </a:rPr>
              <a:t>O</a:t>
            </a:r>
            <a:r>
              <a:rPr lang="en-IL" dirty="0">
                <a:solidFill>
                  <a:srgbClr val="1501FE"/>
                </a:solidFill>
              </a:rPr>
              <a:t>ther possibility is to </a:t>
            </a:r>
          </a:p>
          <a:p>
            <a:r>
              <a:rPr lang="en-IL" dirty="0">
                <a:solidFill>
                  <a:srgbClr val="1501FE"/>
                </a:solidFill>
              </a:rPr>
              <a:t>make this choice</a:t>
            </a:r>
          </a:p>
        </p:txBody>
      </p:sp>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4FB243D3-FFAB-F048-99A5-24FDEE12DE8B}"/>
                  </a:ext>
                </a:extLst>
              </p14:cNvPr>
              <p14:cNvContentPartPr/>
              <p14:nvPr/>
            </p14:nvContentPartPr>
            <p14:xfrm>
              <a:off x="5591601" y="2970316"/>
              <a:ext cx="282240" cy="899640"/>
            </p14:xfrm>
          </p:contentPart>
        </mc:Choice>
        <mc:Fallback xmlns="">
          <p:pic>
            <p:nvPicPr>
              <p:cNvPr id="11" name="Ink 10">
                <a:extLst>
                  <a:ext uri="{FF2B5EF4-FFF2-40B4-BE49-F238E27FC236}">
                    <a16:creationId xmlns:a16="http://schemas.microsoft.com/office/drawing/2014/main" id="{4FB243D3-FFAB-F048-99A5-24FDEE12DE8B}"/>
                  </a:ext>
                </a:extLst>
              </p:cNvPr>
              <p:cNvPicPr/>
              <p:nvPr/>
            </p:nvPicPr>
            <p:blipFill>
              <a:blip r:embed="rId13"/>
              <a:stretch>
                <a:fillRect/>
              </a:stretch>
            </p:blipFill>
            <p:spPr>
              <a:xfrm>
                <a:off x="5582961" y="2961676"/>
                <a:ext cx="299880" cy="917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B7A08631-2667-7341-8657-6C2F82FC248E}"/>
                  </a:ext>
                </a:extLst>
              </p14:cNvPr>
              <p14:cNvContentPartPr/>
              <p14:nvPr/>
            </p14:nvContentPartPr>
            <p14:xfrm>
              <a:off x="5725161" y="3778156"/>
              <a:ext cx="157680" cy="128520"/>
            </p14:xfrm>
          </p:contentPart>
        </mc:Choice>
        <mc:Fallback xmlns="">
          <p:pic>
            <p:nvPicPr>
              <p:cNvPr id="12" name="Ink 11">
                <a:extLst>
                  <a:ext uri="{FF2B5EF4-FFF2-40B4-BE49-F238E27FC236}">
                    <a16:creationId xmlns:a16="http://schemas.microsoft.com/office/drawing/2014/main" id="{B7A08631-2667-7341-8657-6C2F82FC248E}"/>
                  </a:ext>
                </a:extLst>
              </p:cNvPr>
              <p:cNvPicPr/>
              <p:nvPr/>
            </p:nvPicPr>
            <p:blipFill>
              <a:blip r:embed="rId15"/>
              <a:stretch>
                <a:fillRect/>
              </a:stretch>
            </p:blipFill>
            <p:spPr>
              <a:xfrm>
                <a:off x="5716161" y="3769516"/>
                <a:ext cx="17532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9DFD49AF-AF43-F240-AF89-077ED8EF78CA}"/>
                  </a:ext>
                </a:extLst>
              </p14:cNvPr>
              <p14:cNvContentPartPr/>
              <p14:nvPr/>
            </p14:nvContentPartPr>
            <p14:xfrm>
              <a:off x="6643161" y="2998756"/>
              <a:ext cx="263520" cy="849600"/>
            </p14:xfrm>
          </p:contentPart>
        </mc:Choice>
        <mc:Fallback xmlns="">
          <p:pic>
            <p:nvPicPr>
              <p:cNvPr id="13" name="Ink 12">
                <a:extLst>
                  <a:ext uri="{FF2B5EF4-FFF2-40B4-BE49-F238E27FC236}">
                    <a16:creationId xmlns:a16="http://schemas.microsoft.com/office/drawing/2014/main" id="{9DFD49AF-AF43-F240-AF89-077ED8EF78CA}"/>
                  </a:ext>
                </a:extLst>
              </p:cNvPr>
              <p:cNvPicPr/>
              <p:nvPr/>
            </p:nvPicPr>
            <p:blipFill>
              <a:blip r:embed="rId17"/>
              <a:stretch>
                <a:fillRect/>
              </a:stretch>
            </p:blipFill>
            <p:spPr>
              <a:xfrm>
                <a:off x="6634161" y="2989756"/>
                <a:ext cx="281160" cy="867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50C729A2-F700-8441-911B-A87E0CAA85D4}"/>
                  </a:ext>
                </a:extLst>
              </p14:cNvPr>
              <p14:cNvContentPartPr/>
              <p14:nvPr/>
            </p14:nvContentPartPr>
            <p14:xfrm>
              <a:off x="6655041" y="3788596"/>
              <a:ext cx="127440" cy="93240"/>
            </p14:xfrm>
          </p:contentPart>
        </mc:Choice>
        <mc:Fallback xmlns="">
          <p:pic>
            <p:nvPicPr>
              <p:cNvPr id="14" name="Ink 13">
                <a:extLst>
                  <a:ext uri="{FF2B5EF4-FFF2-40B4-BE49-F238E27FC236}">
                    <a16:creationId xmlns:a16="http://schemas.microsoft.com/office/drawing/2014/main" id="{50C729A2-F700-8441-911B-A87E0CAA85D4}"/>
                  </a:ext>
                </a:extLst>
              </p:cNvPr>
              <p:cNvPicPr/>
              <p:nvPr/>
            </p:nvPicPr>
            <p:blipFill>
              <a:blip r:embed="rId19"/>
              <a:stretch>
                <a:fillRect/>
              </a:stretch>
            </p:blipFill>
            <p:spPr>
              <a:xfrm>
                <a:off x="6646041" y="3779596"/>
                <a:ext cx="145080" cy="110880"/>
              </a:xfrm>
              <a:prstGeom prst="rect">
                <a:avLst/>
              </a:prstGeom>
            </p:spPr>
          </p:pic>
        </mc:Fallback>
      </mc:AlternateContent>
    </p:spTree>
    <p:extLst>
      <p:ext uri="{BB962C8B-B14F-4D97-AF65-F5344CB8AC3E}">
        <p14:creationId xmlns:p14="http://schemas.microsoft.com/office/powerpoint/2010/main" val="684669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AEF570-2A31-F64E-94BB-BEFD14ADAE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85056"/>
            <a:ext cx="8629002" cy="4139293"/>
          </a:xfrm>
          <a:prstGeom prst="rect">
            <a:avLst/>
          </a:prstGeom>
        </p:spPr>
      </p:pic>
      <p:sp>
        <p:nvSpPr>
          <p:cNvPr id="2" name="TextBox 1">
            <a:extLst>
              <a:ext uri="{FF2B5EF4-FFF2-40B4-BE49-F238E27FC236}">
                <a16:creationId xmlns:a16="http://schemas.microsoft.com/office/drawing/2014/main" id="{F827F35C-E74D-2B4A-B98B-EF046E025821}"/>
              </a:ext>
            </a:extLst>
          </p:cNvPr>
          <p:cNvSpPr txBox="1"/>
          <p:nvPr/>
        </p:nvSpPr>
        <p:spPr>
          <a:xfrm>
            <a:off x="5334000" y="185056"/>
            <a:ext cx="1356462" cy="369332"/>
          </a:xfrm>
          <a:prstGeom prst="rect">
            <a:avLst/>
          </a:prstGeom>
          <a:noFill/>
        </p:spPr>
        <p:txBody>
          <a:bodyPr wrap="none" rtlCol="0">
            <a:spAutoFit/>
          </a:bodyPr>
          <a:lstStyle/>
          <a:p>
            <a:r>
              <a:rPr lang="en-IL" dirty="0">
                <a:solidFill>
                  <a:srgbClr val="1501FE"/>
                </a:solidFill>
              </a:rPr>
              <a:t>Good choice</a:t>
            </a:r>
          </a:p>
        </p:txBody>
      </p:sp>
      <p:sp>
        <p:nvSpPr>
          <p:cNvPr id="4" name="TextBox 3">
            <a:extLst>
              <a:ext uri="{FF2B5EF4-FFF2-40B4-BE49-F238E27FC236}">
                <a16:creationId xmlns:a16="http://schemas.microsoft.com/office/drawing/2014/main" id="{6A21097A-3B57-1F4D-9A66-90A01C21A511}"/>
              </a:ext>
            </a:extLst>
          </p:cNvPr>
          <p:cNvSpPr txBox="1"/>
          <p:nvPr/>
        </p:nvSpPr>
        <p:spPr>
          <a:xfrm>
            <a:off x="4724400" y="2387084"/>
            <a:ext cx="1199367" cy="369332"/>
          </a:xfrm>
          <a:prstGeom prst="rect">
            <a:avLst/>
          </a:prstGeom>
          <a:noFill/>
        </p:spPr>
        <p:txBody>
          <a:bodyPr wrap="none" rtlCol="0">
            <a:spAutoFit/>
          </a:bodyPr>
          <a:lstStyle/>
          <a:p>
            <a:r>
              <a:rPr lang="en-IL" dirty="0">
                <a:solidFill>
                  <a:srgbClr val="1501FE"/>
                </a:solidFill>
              </a:rPr>
              <a:t>bad choice</a:t>
            </a:r>
          </a:p>
        </p:txBody>
      </p:sp>
      <p:grpSp>
        <p:nvGrpSpPr>
          <p:cNvPr id="7" name="Group 6">
            <a:extLst>
              <a:ext uri="{FF2B5EF4-FFF2-40B4-BE49-F238E27FC236}">
                <a16:creationId xmlns:a16="http://schemas.microsoft.com/office/drawing/2014/main" id="{4D649DE6-E1FB-B047-BECF-5190BDA64321}"/>
              </a:ext>
            </a:extLst>
          </p:cNvPr>
          <p:cNvGrpSpPr/>
          <p:nvPr/>
        </p:nvGrpSpPr>
        <p:grpSpPr>
          <a:xfrm>
            <a:off x="2362761" y="3645316"/>
            <a:ext cx="1740960" cy="437760"/>
            <a:chOff x="2362761" y="3645316"/>
            <a:chExt cx="1740960" cy="43776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B4874985-6DF1-D340-AF10-636443194570}"/>
                    </a:ext>
                  </a:extLst>
                </p14:cNvPr>
                <p14:cNvContentPartPr/>
                <p14:nvPr/>
              </p14:nvContentPartPr>
              <p14:xfrm>
                <a:off x="2362761" y="3685636"/>
                <a:ext cx="1622880" cy="397440"/>
              </p14:xfrm>
            </p:contentPart>
          </mc:Choice>
          <mc:Fallback xmlns="">
            <p:pic>
              <p:nvPicPr>
                <p:cNvPr id="5" name="Ink 4">
                  <a:extLst>
                    <a:ext uri="{FF2B5EF4-FFF2-40B4-BE49-F238E27FC236}">
                      <a16:creationId xmlns:a16="http://schemas.microsoft.com/office/drawing/2014/main" id="{B4874985-6DF1-D340-AF10-636443194570}"/>
                    </a:ext>
                  </a:extLst>
                </p:cNvPr>
                <p:cNvPicPr/>
                <p:nvPr/>
              </p:nvPicPr>
              <p:blipFill>
                <a:blip r:embed="rId5"/>
                <a:stretch>
                  <a:fillRect/>
                </a:stretch>
              </p:blipFill>
              <p:spPr>
                <a:xfrm>
                  <a:off x="2353761" y="3676996"/>
                  <a:ext cx="1640520" cy="415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11C1FDF0-BBFF-BE4F-A2DB-D94BE6EB6861}"/>
                    </a:ext>
                  </a:extLst>
                </p14:cNvPr>
                <p14:cNvContentPartPr/>
                <p14:nvPr/>
              </p14:nvContentPartPr>
              <p14:xfrm>
                <a:off x="3890601" y="3645316"/>
                <a:ext cx="213120" cy="142560"/>
              </p14:xfrm>
            </p:contentPart>
          </mc:Choice>
          <mc:Fallback xmlns="">
            <p:pic>
              <p:nvPicPr>
                <p:cNvPr id="6" name="Ink 5">
                  <a:extLst>
                    <a:ext uri="{FF2B5EF4-FFF2-40B4-BE49-F238E27FC236}">
                      <a16:creationId xmlns:a16="http://schemas.microsoft.com/office/drawing/2014/main" id="{11C1FDF0-BBFF-BE4F-A2DB-D94BE6EB6861}"/>
                    </a:ext>
                  </a:extLst>
                </p:cNvPr>
                <p:cNvPicPr/>
                <p:nvPr/>
              </p:nvPicPr>
              <p:blipFill>
                <a:blip r:embed="rId7"/>
                <a:stretch>
                  <a:fillRect/>
                </a:stretch>
              </p:blipFill>
              <p:spPr>
                <a:xfrm>
                  <a:off x="3881961" y="3636316"/>
                  <a:ext cx="230760" cy="160200"/>
                </a:xfrm>
                <a:prstGeom prst="rect">
                  <a:avLst/>
                </a:prstGeom>
              </p:spPr>
            </p:pic>
          </mc:Fallback>
        </mc:AlternateContent>
      </p:grpSp>
      <p:sp>
        <p:nvSpPr>
          <p:cNvPr id="8" name="TextBox 7">
            <a:extLst>
              <a:ext uri="{FF2B5EF4-FFF2-40B4-BE49-F238E27FC236}">
                <a16:creationId xmlns:a16="http://schemas.microsoft.com/office/drawing/2014/main" id="{69C8BBCD-D11C-4547-9D9D-7E867EAD84F1}"/>
              </a:ext>
            </a:extLst>
          </p:cNvPr>
          <p:cNvSpPr txBox="1"/>
          <p:nvPr/>
        </p:nvSpPr>
        <p:spPr>
          <a:xfrm>
            <a:off x="2636393" y="3955017"/>
            <a:ext cx="1133324" cy="369332"/>
          </a:xfrm>
          <a:prstGeom prst="rect">
            <a:avLst/>
          </a:prstGeom>
          <a:noFill/>
        </p:spPr>
        <p:txBody>
          <a:bodyPr wrap="none" rtlCol="0">
            <a:spAutoFit/>
          </a:bodyPr>
          <a:lstStyle/>
          <a:p>
            <a:r>
              <a:rPr lang="en-US" dirty="0"/>
              <a:t>L</a:t>
            </a:r>
            <a:r>
              <a:rPr lang="en-IL" dirty="0"/>
              <a:t>ocal min.</a:t>
            </a:r>
          </a:p>
        </p:txBody>
      </p:sp>
      <p:sp>
        <p:nvSpPr>
          <p:cNvPr id="9" name="TextBox 8">
            <a:extLst>
              <a:ext uri="{FF2B5EF4-FFF2-40B4-BE49-F238E27FC236}">
                <a16:creationId xmlns:a16="http://schemas.microsoft.com/office/drawing/2014/main" id="{9B4CE3CB-43DA-1848-90E9-768CE1FE63CD}"/>
              </a:ext>
            </a:extLst>
          </p:cNvPr>
          <p:cNvSpPr txBox="1"/>
          <p:nvPr/>
        </p:nvSpPr>
        <p:spPr>
          <a:xfrm>
            <a:off x="7239000" y="2200865"/>
            <a:ext cx="1199367" cy="369332"/>
          </a:xfrm>
          <a:prstGeom prst="rect">
            <a:avLst/>
          </a:prstGeom>
          <a:noFill/>
        </p:spPr>
        <p:txBody>
          <a:bodyPr wrap="none" rtlCol="0">
            <a:spAutoFit/>
          </a:bodyPr>
          <a:lstStyle/>
          <a:p>
            <a:r>
              <a:rPr lang="en-IL" dirty="0">
                <a:solidFill>
                  <a:srgbClr val="1501FE"/>
                </a:solidFill>
              </a:rPr>
              <a:t>bad choice</a:t>
            </a:r>
          </a:p>
        </p:txBody>
      </p:sp>
    </p:spTree>
    <p:extLst>
      <p:ext uri="{BB962C8B-B14F-4D97-AF65-F5344CB8AC3E}">
        <p14:creationId xmlns:p14="http://schemas.microsoft.com/office/powerpoint/2010/main" val="29775572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8B5D1B-5B22-0E4D-8796-0E4750673F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133350"/>
            <a:ext cx="8763000" cy="4337242"/>
          </a:xfrm>
          <a:prstGeom prst="rect">
            <a:avLst/>
          </a:prstGeom>
        </p:spPr>
      </p:pic>
      <p:sp>
        <p:nvSpPr>
          <p:cNvPr id="2" name="TextBox 1">
            <a:extLst>
              <a:ext uri="{FF2B5EF4-FFF2-40B4-BE49-F238E27FC236}">
                <a16:creationId xmlns:a16="http://schemas.microsoft.com/office/drawing/2014/main" id="{7DE26222-B521-9645-A685-11D1A3D2CC7F}"/>
              </a:ext>
            </a:extLst>
          </p:cNvPr>
          <p:cNvSpPr txBox="1"/>
          <p:nvPr/>
        </p:nvSpPr>
        <p:spPr>
          <a:xfrm>
            <a:off x="1447800" y="133350"/>
            <a:ext cx="3552511" cy="923330"/>
          </a:xfrm>
          <a:prstGeom prst="rect">
            <a:avLst/>
          </a:prstGeom>
          <a:noFill/>
        </p:spPr>
        <p:txBody>
          <a:bodyPr wrap="none" rtlCol="0">
            <a:spAutoFit/>
          </a:bodyPr>
          <a:lstStyle/>
          <a:p>
            <a:r>
              <a:rPr lang="en-US" dirty="0">
                <a:solidFill>
                  <a:srgbClr val="1501FE"/>
                </a:solidFill>
              </a:rPr>
              <a:t>D</a:t>
            </a:r>
            <a:r>
              <a:rPr lang="en-IL" dirty="0">
                <a:solidFill>
                  <a:srgbClr val="1501FE"/>
                </a:solidFill>
              </a:rPr>
              <a:t>istance between points</a:t>
            </a:r>
          </a:p>
          <a:p>
            <a:r>
              <a:rPr lang="en-US" dirty="0">
                <a:solidFill>
                  <a:srgbClr val="1501FE"/>
                </a:solidFill>
              </a:rPr>
              <a:t>and centroids (cost J) is the smallest</a:t>
            </a:r>
          </a:p>
          <a:p>
            <a:r>
              <a:rPr lang="en-US" dirty="0">
                <a:solidFill>
                  <a:srgbClr val="1501FE"/>
                </a:solidFill>
              </a:rPr>
              <a:t>Among then all </a:t>
            </a:r>
            <a:endParaRPr lang="en-IL" dirty="0">
              <a:solidFill>
                <a:srgbClr val="1501FE"/>
              </a:solidFill>
            </a:endParaRPr>
          </a:p>
        </p:txBody>
      </p:sp>
      <p:cxnSp>
        <p:nvCxnSpPr>
          <p:cNvPr id="13" name="Straight Arrow Connector 12">
            <a:extLst>
              <a:ext uri="{FF2B5EF4-FFF2-40B4-BE49-F238E27FC236}">
                <a16:creationId xmlns:a16="http://schemas.microsoft.com/office/drawing/2014/main" id="{96035974-6E1B-C64B-B924-9D0FC3BF47E4}"/>
              </a:ext>
            </a:extLst>
          </p:cNvPr>
          <p:cNvCxnSpPr/>
          <p:nvPr/>
        </p:nvCxnSpPr>
        <p:spPr>
          <a:xfrm>
            <a:off x="3200400" y="1123950"/>
            <a:ext cx="2057400" cy="2286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49B2955B-2392-4548-8527-90D1FE47DB1F}"/>
              </a:ext>
            </a:extLst>
          </p:cNvPr>
          <p:cNvCxnSpPr>
            <a:cxnSpLocks/>
          </p:cNvCxnSpPr>
          <p:nvPr/>
        </p:nvCxnSpPr>
        <p:spPr>
          <a:xfrm>
            <a:off x="3200400" y="1132880"/>
            <a:ext cx="3505200" cy="181987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9A3D3414-EF52-E744-AA0F-352B6B10759E}"/>
              </a:ext>
            </a:extLst>
          </p:cNvPr>
          <p:cNvCxnSpPr>
            <a:cxnSpLocks/>
          </p:cNvCxnSpPr>
          <p:nvPr/>
        </p:nvCxnSpPr>
        <p:spPr>
          <a:xfrm>
            <a:off x="3200400" y="1132880"/>
            <a:ext cx="1143000" cy="174367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85226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355A52-6F68-614E-878A-08638009FEC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381000" y="209550"/>
            <a:ext cx="7924800" cy="4212897"/>
          </a:xfrm>
          <a:prstGeom prst="rect">
            <a:avLst/>
          </a:prstGeom>
        </p:spPr>
      </p:pic>
      <p:sp>
        <p:nvSpPr>
          <p:cNvPr id="2" name="TextBox 1">
            <a:extLst>
              <a:ext uri="{FF2B5EF4-FFF2-40B4-BE49-F238E27FC236}">
                <a16:creationId xmlns:a16="http://schemas.microsoft.com/office/drawing/2014/main" id="{793C5249-A5D6-F14C-8351-6DCA5E98BE9A}"/>
              </a:ext>
            </a:extLst>
          </p:cNvPr>
          <p:cNvSpPr txBox="1"/>
          <p:nvPr/>
        </p:nvSpPr>
        <p:spPr>
          <a:xfrm>
            <a:off x="533400" y="666750"/>
            <a:ext cx="2394053" cy="369332"/>
          </a:xfrm>
          <a:prstGeom prst="rect">
            <a:avLst/>
          </a:prstGeom>
          <a:noFill/>
        </p:spPr>
        <p:txBody>
          <a:bodyPr wrap="none" rtlCol="0">
            <a:spAutoFit/>
          </a:bodyPr>
          <a:lstStyle/>
          <a:p>
            <a:r>
              <a:rPr lang="en-IL" dirty="0">
                <a:solidFill>
                  <a:srgbClr val="FF0000"/>
                </a:solidFill>
              </a:rPr>
              <a:t>100 times initializations</a:t>
            </a:r>
          </a:p>
        </p:txBody>
      </p:sp>
    </p:spTree>
    <p:extLst>
      <p:ext uri="{BB962C8B-B14F-4D97-AF65-F5344CB8AC3E}">
        <p14:creationId xmlns:p14="http://schemas.microsoft.com/office/powerpoint/2010/main" val="41390700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B6F5C4-9513-FF46-BE53-1E9981EC3A66}"/>
              </a:ext>
            </a:extLst>
          </p:cNvPr>
          <p:cNvSpPr txBox="1"/>
          <p:nvPr/>
        </p:nvSpPr>
        <p:spPr>
          <a:xfrm>
            <a:off x="381000" y="895350"/>
            <a:ext cx="8382000" cy="3693319"/>
          </a:xfrm>
          <a:prstGeom prst="rect">
            <a:avLst/>
          </a:prstGeom>
          <a:noFill/>
        </p:spPr>
        <p:txBody>
          <a:bodyPr wrap="square">
            <a:spAutoFit/>
          </a:bodyPr>
          <a:lstStyle/>
          <a:p>
            <a:pPr marL="457200" indent="-457200">
              <a:buFont typeface="Arial" panose="020B0604020202020204" pitchFamily="34" charset="0"/>
              <a:buChar char="•"/>
            </a:pPr>
            <a:r>
              <a:rPr lang="en-US" sz="2600" dirty="0"/>
              <a:t>In practice, we usually run K-means multiple times with different random initializations because this helps minimize the distortion cost function and find better cluster centroids.</a:t>
            </a:r>
          </a:p>
          <a:p>
            <a:pPr marL="457200" indent="-457200">
              <a:buFont typeface="Arial" panose="020B0604020202020204" pitchFamily="34" charset="0"/>
              <a:buChar char="•"/>
            </a:pPr>
            <a:r>
              <a:rPr lang="en-US" sz="2600" dirty="0"/>
              <a:t>Using more than one initialization increases the chance of getting a better clustering result.</a:t>
            </a:r>
          </a:p>
          <a:p>
            <a:pPr marL="457200" indent="-457200">
              <a:buFont typeface="Arial" panose="020B0604020202020204" pitchFamily="34" charset="0"/>
              <a:buChar char="•"/>
            </a:pPr>
            <a:r>
              <a:rPr lang="en-US" sz="2600" dirty="0"/>
              <a:t>Next, we will discuss </a:t>
            </a:r>
            <a:r>
              <a:rPr lang="en-US" sz="2600" dirty="0">
                <a:solidFill>
                  <a:srgbClr val="1501FE"/>
                </a:solidFill>
              </a:rPr>
              <a:t>how to choose the number of clusters K</a:t>
            </a:r>
            <a:r>
              <a:rPr lang="en-US" sz="2600" dirty="0"/>
              <a:t> and how to decide the best value for K in practice.</a:t>
            </a:r>
          </a:p>
        </p:txBody>
      </p:sp>
      <p:sp>
        <p:nvSpPr>
          <p:cNvPr id="6" name="TextBox 5">
            <a:extLst>
              <a:ext uri="{FF2B5EF4-FFF2-40B4-BE49-F238E27FC236}">
                <a16:creationId xmlns:a16="http://schemas.microsoft.com/office/drawing/2014/main" id="{E4285CD8-A884-2841-A2EA-D0B6D3720005}"/>
              </a:ext>
            </a:extLst>
          </p:cNvPr>
          <p:cNvSpPr txBox="1"/>
          <p:nvPr/>
        </p:nvSpPr>
        <p:spPr>
          <a:xfrm>
            <a:off x="1066800" y="133350"/>
            <a:ext cx="1664238" cy="646331"/>
          </a:xfrm>
          <a:prstGeom prst="rect">
            <a:avLst/>
          </a:prstGeom>
          <a:noFill/>
        </p:spPr>
        <p:txBody>
          <a:bodyPr wrap="none" rtlCol="0">
            <a:spAutoFit/>
          </a:bodyPr>
          <a:lstStyle/>
          <a:p>
            <a:pPr marL="0" defTabSz="914400" rtl="1" eaLnBrk="1" latinLnBrk="0" hangingPunct="1"/>
            <a:r>
              <a:rPr lang="en-US" sz="3600" b="1" dirty="0">
                <a:solidFill>
                  <a:schemeClr val="accent2">
                    <a:lumMod val="75000"/>
                  </a:schemeClr>
                </a:solidFill>
              </a:rPr>
              <a:t>Sum-up</a:t>
            </a:r>
            <a:endParaRPr lang="en-IL" sz="3600" b="1" dirty="0">
              <a:solidFill>
                <a:schemeClr val="accent2">
                  <a:lumMod val="75000"/>
                </a:schemeClr>
              </a:solidFill>
            </a:endParaRPr>
          </a:p>
        </p:txBody>
      </p:sp>
    </p:spTree>
    <p:extLst>
      <p:ext uri="{BB962C8B-B14F-4D97-AF65-F5344CB8AC3E}">
        <p14:creationId xmlns:p14="http://schemas.microsoft.com/office/powerpoint/2010/main" val="41946455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2604770">
              <a:lnSpc>
                <a:spcPct val="100000"/>
              </a:lnSpc>
              <a:spcBef>
                <a:spcPts val="100"/>
              </a:spcBef>
            </a:pPr>
            <a:r>
              <a:rPr spc="-80" dirty="0"/>
              <a:t>Cl</a:t>
            </a:r>
            <a:r>
              <a:rPr spc="-100" dirty="0"/>
              <a:t>u</a:t>
            </a:r>
            <a:r>
              <a:rPr spc="-220" dirty="0"/>
              <a:t>s</a:t>
            </a:r>
            <a:r>
              <a:rPr spc="-204" dirty="0"/>
              <a:t>t</a:t>
            </a:r>
            <a:r>
              <a:rPr spc="-140" dirty="0"/>
              <a:t>e</a:t>
            </a:r>
            <a:r>
              <a:rPr spc="-110" dirty="0"/>
              <a:t>ri</a:t>
            </a:r>
            <a:r>
              <a:rPr spc="-190" dirty="0"/>
              <a:t>n</a:t>
            </a:r>
            <a:r>
              <a:rPr spc="25" dirty="0"/>
              <a:t>g</a:t>
            </a:r>
          </a:p>
        </p:txBody>
      </p:sp>
      <p:sp>
        <p:nvSpPr>
          <p:cNvPr id="3" name="object 3"/>
          <p:cNvSpPr txBox="1"/>
          <p:nvPr/>
        </p:nvSpPr>
        <p:spPr>
          <a:xfrm>
            <a:off x="3238626" y="3126231"/>
            <a:ext cx="5372735" cy="406400"/>
          </a:xfrm>
          <a:prstGeom prst="rect">
            <a:avLst/>
          </a:prstGeom>
        </p:spPr>
        <p:txBody>
          <a:bodyPr vert="horz" wrap="square" lIns="0" tIns="12700" rIns="0" bIns="0" rtlCol="0">
            <a:spAutoFit/>
          </a:bodyPr>
          <a:lstStyle/>
          <a:p>
            <a:pPr marL="12700">
              <a:lnSpc>
                <a:spcPct val="100000"/>
              </a:lnSpc>
              <a:spcBef>
                <a:spcPts val="100"/>
              </a:spcBef>
            </a:pPr>
            <a:r>
              <a:rPr sz="2500" b="1" spc="80" dirty="0">
                <a:solidFill>
                  <a:srgbClr val="595959"/>
                </a:solidFill>
                <a:latin typeface="Arial"/>
                <a:cs typeface="Arial"/>
              </a:rPr>
              <a:t>Choosing</a:t>
            </a:r>
            <a:r>
              <a:rPr sz="2500" b="1" spc="-100" dirty="0">
                <a:solidFill>
                  <a:srgbClr val="595959"/>
                </a:solidFill>
                <a:latin typeface="Arial"/>
                <a:cs typeface="Arial"/>
              </a:rPr>
              <a:t> </a:t>
            </a:r>
            <a:r>
              <a:rPr sz="2500" b="1" spc="135" dirty="0">
                <a:solidFill>
                  <a:srgbClr val="595959"/>
                </a:solidFill>
                <a:latin typeface="Arial"/>
                <a:cs typeface="Arial"/>
              </a:rPr>
              <a:t>the</a:t>
            </a:r>
            <a:r>
              <a:rPr sz="2500" b="1" spc="-105" dirty="0">
                <a:solidFill>
                  <a:srgbClr val="595959"/>
                </a:solidFill>
                <a:latin typeface="Arial"/>
                <a:cs typeface="Arial"/>
              </a:rPr>
              <a:t> </a:t>
            </a:r>
            <a:r>
              <a:rPr sz="2500" b="1" spc="150" dirty="0">
                <a:solidFill>
                  <a:srgbClr val="595959"/>
                </a:solidFill>
                <a:latin typeface="Arial"/>
                <a:cs typeface="Arial"/>
              </a:rPr>
              <a:t>Number</a:t>
            </a:r>
            <a:r>
              <a:rPr sz="2500" b="1" spc="-100" dirty="0">
                <a:solidFill>
                  <a:srgbClr val="595959"/>
                </a:solidFill>
                <a:latin typeface="Arial"/>
                <a:cs typeface="Arial"/>
              </a:rPr>
              <a:t> </a:t>
            </a:r>
            <a:r>
              <a:rPr sz="2500" b="1" spc="50" dirty="0">
                <a:solidFill>
                  <a:srgbClr val="595959"/>
                </a:solidFill>
                <a:latin typeface="Arial"/>
                <a:cs typeface="Arial"/>
              </a:rPr>
              <a:t>of</a:t>
            </a:r>
            <a:r>
              <a:rPr sz="2500" b="1" spc="-105" dirty="0">
                <a:solidFill>
                  <a:srgbClr val="595959"/>
                </a:solidFill>
                <a:latin typeface="Arial"/>
                <a:cs typeface="Arial"/>
              </a:rPr>
              <a:t> </a:t>
            </a:r>
            <a:r>
              <a:rPr sz="2500" b="1" spc="60" dirty="0">
                <a:solidFill>
                  <a:srgbClr val="595959"/>
                </a:solidFill>
                <a:latin typeface="Arial"/>
                <a:cs typeface="Arial"/>
              </a:rPr>
              <a:t>Clusters</a:t>
            </a:r>
            <a:endParaRPr sz="2500">
              <a:latin typeface="Arial"/>
              <a:cs typeface="Arial"/>
            </a:endParaRPr>
          </a:p>
        </p:txBody>
      </p:sp>
      <p:sp>
        <p:nvSpPr>
          <p:cNvPr id="4" name="TextBox 3">
            <a:extLst>
              <a:ext uri="{FF2B5EF4-FFF2-40B4-BE49-F238E27FC236}">
                <a16:creationId xmlns:a16="http://schemas.microsoft.com/office/drawing/2014/main" id="{AB1BAF61-93A5-6649-B024-4849BF5184CA}"/>
              </a:ext>
            </a:extLst>
          </p:cNvPr>
          <p:cNvSpPr txBox="1"/>
          <p:nvPr/>
        </p:nvSpPr>
        <p:spPr>
          <a:xfrm>
            <a:off x="3962400" y="4171950"/>
            <a:ext cx="3409651" cy="369332"/>
          </a:xfrm>
          <a:prstGeom prst="rect">
            <a:avLst/>
          </a:prstGeom>
          <a:noFill/>
        </p:spPr>
        <p:txBody>
          <a:bodyPr wrap="none" rtlCol="0">
            <a:spAutoFit/>
          </a:bodyPr>
          <a:lstStyle/>
          <a:p>
            <a:r>
              <a:rPr lang="en-IL" dirty="0"/>
              <a:t>How many clusters do we choose?</a:t>
            </a:r>
          </a:p>
        </p:txBody>
      </p:sp>
      <p:sp>
        <p:nvSpPr>
          <p:cNvPr id="5" name="object 2">
            <a:extLst>
              <a:ext uri="{FF2B5EF4-FFF2-40B4-BE49-F238E27FC236}">
                <a16:creationId xmlns:a16="http://schemas.microsoft.com/office/drawing/2014/main" id="{2208F8A0-A5AB-C94D-8AE1-B7892BF48FE6}"/>
              </a:ext>
            </a:extLst>
          </p:cNvPr>
          <p:cNvSpPr/>
          <p:nvPr/>
        </p:nvSpPr>
        <p:spPr>
          <a:xfrm>
            <a:off x="3028543" y="2548801"/>
            <a:ext cx="5709920" cy="46355"/>
          </a:xfrm>
          <a:custGeom>
            <a:avLst/>
            <a:gdLst/>
            <a:ahLst/>
            <a:cxnLst/>
            <a:rect l="l" t="t" r="r" b="b"/>
            <a:pathLst>
              <a:path w="5709920" h="46355">
                <a:moveTo>
                  <a:pt x="5709907" y="0"/>
                </a:moveTo>
                <a:lnTo>
                  <a:pt x="0" y="0"/>
                </a:lnTo>
                <a:lnTo>
                  <a:pt x="0" y="45897"/>
                </a:lnTo>
                <a:lnTo>
                  <a:pt x="5709907" y="45897"/>
                </a:lnTo>
                <a:lnTo>
                  <a:pt x="5709907" y="0"/>
                </a:lnTo>
                <a:close/>
              </a:path>
            </a:pathLst>
          </a:custGeom>
          <a:solidFill>
            <a:srgbClr val="0070EA"/>
          </a:solidFill>
        </p:spPr>
        <p:txBody>
          <a:bodyPr wrap="square" lIns="0" tIns="0" rIns="0" bIns="0" rtlCol="0"/>
          <a:lstStyle/>
          <a:p>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5A9D2F-4205-4649-9451-F19B0A36D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971550"/>
            <a:ext cx="3689350" cy="2933700"/>
          </a:xfrm>
          <a:prstGeom prst="rect">
            <a:avLst/>
          </a:prstGeom>
        </p:spPr>
      </p:pic>
      <p:pic>
        <p:nvPicPr>
          <p:cNvPr id="5" name="Picture 4">
            <a:extLst>
              <a:ext uri="{FF2B5EF4-FFF2-40B4-BE49-F238E27FC236}">
                <a16:creationId xmlns:a16="http://schemas.microsoft.com/office/drawing/2014/main" id="{3B3F320E-7B0E-9343-BFF7-8919093131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3400" y="996745"/>
            <a:ext cx="3949700" cy="2930126"/>
          </a:xfrm>
          <a:prstGeom prst="rect">
            <a:avLst/>
          </a:prstGeom>
        </p:spPr>
      </p:pic>
      <p:sp>
        <p:nvSpPr>
          <p:cNvPr id="6" name="Title 5">
            <a:extLst>
              <a:ext uri="{FF2B5EF4-FFF2-40B4-BE49-F238E27FC236}">
                <a16:creationId xmlns:a16="http://schemas.microsoft.com/office/drawing/2014/main" id="{48B54A5B-5512-F446-A98A-DAE17C07E0D4}"/>
              </a:ext>
            </a:extLst>
          </p:cNvPr>
          <p:cNvSpPr>
            <a:spLocks noGrp="1"/>
          </p:cNvSpPr>
          <p:nvPr>
            <p:ph type="title"/>
          </p:nvPr>
        </p:nvSpPr>
        <p:spPr>
          <a:xfrm>
            <a:off x="379730" y="190500"/>
            <a:ext cx="8384539" cy="492443"/>
          </a:xfrm>
        </p:spPr>
        <p:txBody>
          <a:bodyPr/>
          <a:lstStyle/>
          <a:p>
            <a:pPr algn="l" rtl="1"/>
            <a:r>
              <a:rPr lang="en-US" sz="3200" dirty="0">
                <a:solidFill>
                  <a:schemeClr val="accent2">
                    <a:lumMod val="75000"/>
                  </a:schemeClr>
                </a:solidFill>
              </a:rPr>
              <a:t>What is the right value of K</a:t>
            </a:r>
            <a:endParaRPr lang="en-IL" sz="3200" dirty="0">
              <a:solidFill>
                <a:schemeClr val="accent2">
                  <a:lumMod val="75000"/>
                </a:schemeClr>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3C68E3ED-545E-3044-B93C-ADAD605C2C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114" y="209549"/>
            <a:ext cx="7884886" cy="394244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a:extLst>
              <a:ext uri="{FF2B5EF4-FFF2-40B4-BE49-F238E27FC236}">
                <a16:creationId xmlns:a16="http://schemas.microsoft.com/office/drawing/2014/main" id="{5363F99A-5C79-1043-B29C-D28CD55C2D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33350"/>
            <a:ext cx="7010400" cy="418450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EFC5B49-7A9F-0948-8489-4FA27AF949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0085"/>
            <a:ext cx="6972300" cy="4486835"/>
          </a:xfrm>
          <a:prstGeom prst="rect">
            <a:avLst/>
          </a:prstGeom>
        </p:spPr>
      </p:pic>
    </p:spTree>
    <p:extLst>
      <p:ext uri="{BB962C8B-B14F-4D97-AF65-F5344CB8AC3E}">
        <p14:creationId xmlns:p14="http://schemas.microsoft.com/office/powerpoint/2010/main" val="22404550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722AE6-797B-4A45-B380-2578B1B75F95}"/>
              </a:ext>
            </a:extLst>
          </p:cNvPr>
          <p:cNvSpPr txBox="1"/>
          <p:nvPr/>
        </p:nvSpPr>
        <p:spPr>
          <a:xfrm>
            <a:off x="457200" y="819150"/>
            <a:ext cx="8229600" cy="3754874"/>
          </a:xfrm>
          <a:prstGeom prst="rect">
            <a:avLst/>
          </a:prstGeom>
          <a:noFill/>
        </p:spPr>
        <p:txBody>
          <a:bodyPr wrap="square">
            <a:spAutoFit/>
          </a:bodyPr>
          <a:lstStyle/>
          <a:p>
            <a:pPr marL="285750" indent="-285750">
              <a:buFont typeface="Arial" panose="020B0604020202020204" pitchFamily="34" charset="0"/>
              <a:buChar char="•"/>
            </a:pPr>
            <a:r>
              <a:rPr lang="en-US" sz="2000" dirty="0"/>
              <a:t>We have completed the K-means clustering algorithm, which is our first unsupervised learning method.</a:t>
            </a:r>
          </a:p>
          <a:p>
            <a:pPr marL="285750" indent="-285750">
              <a:buFont typeface="Arial" panose="020B0604020202020204" pitchFamily="34" charset="0"/>
              <a:buChar char="•"/>
            </a:pPr>
            <a:r>
              <a:rPr lang="en-US" sz="2000" dirty="0"/>
              <a:t>Now you understand both supervised learning and unsupervised learning.</a:t>
            </a:r>
          </a:p>
          <a:p>
            <a:pPr marL="285750" indent="-285750">
              <a:buFont typeface="Arial" panose="020B0604020202020204" pitchFamily="34" charset="0"/>
              <a:buChar char="•"/>
            </a:pPr>
            <a:r>
              <a:rPr lang="en-US" sz="2000" dirty="0"/>
              <a:t>K-means is widely used and very practical, especially in applications like image compression.</a:t>
            </a:r>
          </a:p>
          <a:p>
            <a:pPr marL="285750" indent="-285750">
              <a:buFont typeface="Arial" panose="020B0604020202020204" pitchFamily="34" charset="0"/>
              <a:buChar char="•"/>
            </a:pPr>
            <a:r>
              <a:rPr lang="en-US" sz="2000" dirty="0"/>
              <a:t>Next, we move to our second unsupervised learning algorithm: </a:t>
            </a:r>
            <a:r>
              <a:rPr lang="en-US" sz="2000" b="1" dirty="0"/>
              <a:t>Anomaly Detection</a:t>
            </a:r>
            <a:r>
              <a:rPr lang="en-US" sz="2000" dirty="0"/>
              <a:t>.</a:t>
            </a:r>
          </a:p>
          <a:p>
            <a:pPr marL="285750" indent="-285750">
              <a:buFont typeface="Arial" panose="020B0604020202020204" pitchFamily="34" charset="0"/>
              <a:buChar char="•"/>
            </a:pPr>
            <a:r>
              <a:rPr lang="en-US" sz="2000" dirty="0"/>
              <a:t>In anomaly detection, the goal is different from clustering. Instead of grouping similar points, we try to detect unusual or abnormal data points in a dataset. This is very important in real-world applications such as fraud detection, network security, medical diagnosis, and system monitoring.</a:t>
            </a:r>
          </a:p>
          <a:p>
            <a:pPr algn="l"/>
            <a:endParaRPr lang="en-US" b="0" i="0" dirty="0">
              <a:effectLst/>
              <a:latin typeface="ui-sans-serif"/>
            </a:endParaRPr>
          </a:p>
        </p:txBody>
      </p:sp>
      <p:sp>
        <p:nvSpPr>
          <p:cNvPr id="6" name="TextBox 5">
            <a:extLst>
              <a:ext uri="{FF2B5EF4-FFF2-40B4-BE49-F238E27FC236}">
                <a16:creationId xmlns:a16="http://schemas.microsoft.com/office/drawing/2014/main" id="{63C3F649-C8F8-0A43-83D3-A40DB61ABC99}"/>
              </a:ext>
            </a:extLst>
          </p:cNvPr>
          <p:cNvSpPr txBox="1"/>
          <p:nvPr/>
        </p:nvSpPr>
        <p:spPr>
          <a:xfrm>
            <a:off x="838200" y="234375"/>
            <a:ext cx="1587294" cy="584775"/>
          </a:xfrm>
          <a:prstGeom prst="rect">
            <a:avLst/>
          </a:prstGeom>
          <a:noFill/>
        </p:spPr>
        <p:txBody>
          <a:bodyPr wrap="none" rtlCol="0">
            <a:spAutoFit/>
          </a:bodyPr>
          <a:lstStyle/>
          <a:p>
            <a:r>
              <a:rPr lang="en-IL" sz="3200" dirty="0">
                <a:solidFill>
                  <a:schemeClr val="accent2">
                    <a:lumMod val="75000"/>
                  </a:schemeClr>
                </a:solidFill>
              </a:rPr>
              <a:t>SUM-UP</a:t>
            </a:r>
          </a:p>
        </p:txBody>
      </p:sp>
    </p:spTree>
    <p:extLst>
      <p:ext uri="{BB962C8B-B14F-4D97-AF65-F5344CB8AC3E}">
        <p14:creationId xmlns:p14="http://schemas.microsoft.com/office/powerpoint/2010/main" val="4931772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00400" y="1581150"/>
            <a:ext cx="4714049" cy="566822"/>
          </a:xfrm>
          <a:prstGeom prst="rect">
            <a:avLst/>
          </a:prstGeom>
        </p:spPr>
        <p:txBody>
          <a:bodyPr vert="horz" wrap="square" lIns="0" tIns="12700" rIns="0" bIns="0" rtlCol="0">
            <a:spAutoFit/>
          </a:bodyPr>
          <a:lstStyle/>
          <a:p>
            <a:pPr marL="12700">
              <a:lnSpc>
                <a:spcPct val="100000"/>
              </a:lnSpc>
              <a:spcBef>
                <a:spcPts val="100"/>
              </a:spcBef>
            </a:pPr>
            <a:r>
              <a:rPr sz="3600" spc="-75" dirty="0">
                <a:solidFill>
                  <a:srgbClr val="8C1515"/>
                </a:solidFill>
                <a:latin typeface="Arial Black"/>
                <a:cs typeface="Arial Black"/>
              </a:rPr>
              <a:t>Anomaly</a:t>
            </a:r>
            <a:r>
              <a:rPr sz="3600" spc="-240" dirty="0">
                <a:solidFill>
                  <a:srgbClr val="8C1515"/>
                </a:solidFill>
                <a:latin typeface="Arial Black"/>
                <a:cs typeface="Arial Black"/>
              </a:rPr>
              <a:t> </a:t>
            </a:r>
            <a:r>
              <a:rPr sz="3600" spc="-155" dirty="0">
                <a:solidFill>
                  <a:srgbClr val="8C1515"/>
                </a:solidFill>
                <a:latin typeface="Arial Black"/>
                <a:cs typeface="Arial Black"/>
              </a:rPr>
              <a:t>Detection</a:t>
            </a:r>
            <a:endParaRPr sz="3600" dirty="0">
              <a:latin typeface="Arial Black"/>
              <a:cs typeface="Arial Black"/>
            </a:endParaRPr>
          </a:p>
        </p:txBody>
      </p:sp>
      <p:sp>
        <p:nvSpPr>
          <p:cNvPr id="3" name="object 3"/>
          <p:cNvSpPr txBox="1">
            <a:spLocks noGrp="1"/>
          </p:cNvSpPr>
          <p:nvPr>
            <p:ph type="subTitle" idx="4"/>
          </p:nvPr>
        </p:nvSpPr>
        <p:spPr>
          <a:prstGeom prst="rect">
            <a:avLst/>
          </a:prstGeom>
        </p:spPr>
        <p:txBody>
          <a:bodyPr vert="horz" wrap="square" lIns="0" tIns="12700" rIns="0" bIns="0" rtlCol="0">
            <a:spAutoFit/>
          </a:bodyPr>
          <a:lstStyle/>
          <a:p>
            <a:pPr marL="2717165" algn="ctr" rtl="0">
              <a:lnSpc>
                <a:spcPct val="100000"/>
              </a:lnSpc>
              <a:spcBef>
                <a:spcPts val="100"/>
              </a:spcBef>
            </a:pPr>
            <a:r>
              <a:rPr spc="70" dirty="0"/>
              <a:t>Finding </a:t>
            </a:r>
            <a:r>
              <a:rPr spc="145" dirty="0"/>
              <a:t>unusual</a:t>
            </a:r>
            <a:r>
              <a:rPr spc="-380" dirty="0"/>
              <a:t> </a:t>
            </a:r>
            <a:r>
              <a:rPr spc="145" dirty="0"/>
              <a:t>events</a:t>
            </a:r>
          </a:p>
        </p:txBody>
      </p:sp>
      <p:sp>
        <p:nvSpPr>
          <p:cNvPr id="4" name="object 2">
            <a:extLst>
              <a:ext uri="{FF2B5EF4-FFF2-40B4-BE49-F238E27FC236}">
                <a16:creationId xmlns:a16="http://schemas.microsoft.com/office/drawing/2014/main" id="{01D7A421-8A68-0840-9F7C-E88B522981F2}"/>
              </a:ext>
            </a:extLst>
          </p:cNvPr>
          <p:cNvSpPr/>
          <p:nvPr/>
        </p:nvSpPr>
        <p:spPr>
          <a:xfrm>
            <a:off x="3028543" y="2548801"/>
            <a:ext cx="5709920" cy="46355"/>
          </a:xfrm>
          <a:custGeom>
            <a:avLst/>
            <a:gdLst/>
            <a:ahLst/>
            <a:cxnLst/>
            <a:rect l="l" t="t" r="r" b="b"/>
            <a:pathLst>
              <a:path w="5709920" h="46355">
                <a:moveTo>
                  <a:pt x="5709907" y="0"/>
                </a:moveTo>
                <a:lnTo>
                  <a:pt x="0" y="0"/>
                </a:lnTo>
                <a:lnTo>
                  <a:pt x="0" y="45897"/>
                </a:lnTo>
                <a:lnTo>
                  <a:pt x="5709907" y="45897"/>
                </a:lnTo>
                <a:lnTo>
                  <a:pt x="5709907" y="0"/>
                </a:lnTo>
                <a:close/>
              </a:path>
            </a:pathLst>
          </a:custGeom>
          <a:solidFill>
            <a:srgbClr val="0070EA"/>
          </a:solidFill>
        </p:spPr>
        <p:txBody>
          <a:bodyPr wrap="square" lIns="0" tIns="0" rIns="0" bIns="0" rtlCol="0"/>
          <a:lstStyle/>
          <a:p>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458128D-2989-5847-87BD-E5E6E6FF33B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04800" y="57150"/>
            <a:ext cx="8001000" cy="438850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a:extLst>
              <a:ext uri="{FF2B5EF4-FFF2-40B4-BE49-F238E27FC236}">
                <a16:creationId xmlns:a16="http://schemas.microsoft.com/office/drawing/2014/main" id="{1A5F6F85-7253-C24D-9030-85A2627F716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04800" y="133349"/>
            <a:ext cx="8153400" cy="403929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A6934E44-A226-2D49-86B0-06E5C6E564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14" y="285750"/>
            <a:ext cx="8509000" cy="4038600"/>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AC59011-7561-B142-A54A-A220EC8AD17C}"/>
                  </a:ext>
                </a:extLst>
              </p14:cNvPr>
              <p14:cNvContentPartPr/>
              <p14:nvPr/>
            </p14:nvContentPartPr>
            <p14:xfrm>
              <a:off x="5190296" y="371627"/>
              <a:ext cx="345600" cy="1549080"/>
            </p14:xfrm>
          </p:contentPart>
        </mc:Choice>
        <mc:Fallback xmlns="">
          <p:pic>
            <p:nvPicPr>
              <p:cNvPr id="2" name="Ink 1">
                <a:extLst>
                  <a:ext uri="{FF2B5EF4-FFF2-40B4-BE49-F238E27FC236}">
                    <a16:creationId xmlns:a16="http://schemas.microsoft.com/office/drawing/2014/main" id="{EAC59011-7561-B142-A54A-A220EC8AD17C}"/>
                  </a:ext>
                </a:extLst>
              </p:cNvPr>
              <p:cNvPicPr/>
              <p:nvPr/>
            </p:nvPicPr>
            <p:blipFill>
              <a:blip r:embed="rId5"/>
              <a:stretch>
                <a:fillRect/>
              </a:stretch>
            </p:blipFill>
            <p:spPr>
              <a:xfrm>
                <a:off x="5185976" y="367307"/>
                <a:ext cx="354240" cy="1557720"/>
              </a:xfrm>
              <a:prstGeom prst="rect">
                <a:avLst/>
              </a:prstGeom>
            </p:spPr>
          </p:pic>
        </mc:Fallback>
      </mc:AlternateContent>
      <p:grpSp>
        <p:nvGrpSpPr>
          <p:cNvPr id="5" name="Group 4">
            <a:extLst>
              <a:ext uri="{FF2B5EF4-FFF2-40B4-BE49-F238E27FC236}">
                <a16:creationId xmlns:a16="http://schemas.microsoft.com/office/drawing/2014/main" id="{5F3E188A-7E1E-AC47-821E-07E092BF16DA}"/>
              </a:ext>
            </a:extLst>
          </p:cNvPr>
          <p:cNvGrpSpPr/>
          <p:nvPr/>
        </p:nvGrpSpPr>
        <p:grpSpPr>
          <a:xfrm>
            <a:off x="4556336" y="1097027"/>
            <a:ext cx="576360" cy="344160"/>
            <a:chOff x="4556336" y="1097027"/>
            <a:chExt cx="576360" cy="344160"/>
          </a:xfrm>
        </p:grpSpPr>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1D1F5905-5B96-D74E-B0E8-79D3E0B30A17}"/>
                    </a:ext>
                  </a:extLst>
                </p14:cNvPr>
                <p14:cNvContentPartPr/>
                <p14:nvPr/>
              </p14:nvContentPartPr>
              <p14:xfrm>
                <a:off x="4556336" y="1124747"/>
                <a:ext cx="514800" cy="316440"/>
              </p14:xfrm>
            </p:contentPart>
          </mc:Choice>
          <mc:Fallback xmlns="">
            <p:pic>
              <p:nvPicPr>
                <p:cNvPr id="3" name="Ink 2">
                  <a:extLst>
                    <a:ext uri="{FF2B5EF4-FFF2-40B4-BE49-F238E27FC236}">
                      <a16:creationId xmlns:a16="http://schemas.microsoft.com/office/drawing/2014/main" id="{1D1F5905-5B96-D74E-B0E8-79D3E0B30A17}"/>
                    </a:ext>
                  </a:extLst>
                </p:cNvPr>
                <p:cNvPicPr/>
                <p:nvPr/>
              </p:nvPicPr>
              <p:blipFill>
                <a:blip r:embed="rId7"/>
                <a:stretch>
                  <a:fillRect/>
                </a:stretch>
              </p:blipFill>
              <p:spPr>
                <a:xfrm>
                  <a:off x="4552016" y="1120427"/>
                  <a:ext cx="52344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18006E41-4D57-1E4C-83EF-EFB5A20F9EE7}"/>
                    </a:ext>
                  </a:extLst>
                </p14:cNvPr>
                <p14:cNvContentPartPr/>
                <p14:nvPr/>
              </p14:nvContentPartPr>
              <p14:xfrm>
                <a:off x="4849736" y="1097027"/>
                <a:ext cx="282960" cy="214920"/>
              </p14:xfrm>
            </p:contentPart>
          </mc:Choice>
          <mc:Fallback xmlns="">
            <p:pic>
              <p:nvPicPr>
                <p:cNvPr id="4" name="Ink 3">
                  <a:extLst>
                    <a:ext uri="{FF2B5EF4-FFF2-40B4-BE49-F238E27FC236}">
                      <a16:creationId xmlns:a16="http://schemas.microsoft.com/office/drawing/2014/main" id="{18006E41-4D57-1E4C-83EF-EFB5A20F9EE7}"/>
                    </a:ext>
                  </a:extLst>
                </p:cNvPr>
                <p:cNvPicPr/>
                <p:nvPr/>
              </p:nvPicPr>
              <p:blipFill>
                <a:blip r:embed="rId9"/>
                <a:stretch>
                  <a:fillRect/>
                </a:stretch>
              </p:blipFill>
              <p:spPr>
                <a:xfrm>
                  <a:off x="4845416" y="1092707"/>
                  <a:ext cx="291600" cy="223560"/>
                </a:xfrm>
                <a:prstGeom prst="rect">
                  <a:avLst/>
                </a:prstGeom>
              </p:spPr>
            </p:pic>
          </mc:Fallback>
        </mc:AlternateContent>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A7DCB2-0F2E-7544-9902-7305CBDD1AA6}"/>
              </a:ext>
            </a:extLst>
          </p:cNvPr>
          <p:cNvSpPr txBox="1"/>
          <p:nvPr/>
        </p:nvSpPr>
        <p:spPr>
          <a:xfrm>
            <a:off x="304800" y="895350"/>
            <a:ext cx="8305800" cy="3046988"/>
          </a:xfrm>
          <a:prstGeom prst="rect">
            <a:avLst/>
          </a:prstGeom>
          <a:noFill/>
        </p:spPr>
        <p:txBody>
          <a:bodyPr wrap="square">
            <a:spAutoFit/>
          </a:bodyPr>
          <a:lstStyle/>
          <a:p>
            <a:pPr marL="342900" indent="-342900">
              <a:buFont typeface="Wingdings" pitchFamily="2" charset="2"/>
              <a:buChar char="Ø"/>
            </a:pPr>
            <a:r>
              <a:rPr lang="en-US" sz="2400" dirty="0"/>
              <a:t>Anomaly detection is a very useful tool for identifying unusual or rare events in data.</a:t>
            </a:r>
          </a:p>
          <a:p>
            <a:pPr marL="342900" indent="-342900">
              <a:buFont typeface="Wingdings" pitchFamily="2" charset="2"/>
              <a:buChar char="Ø"/>
            </a:pPr>
            <a:r>
              <a:rPr lang="en-US" sz="2400" dirty="0"/>
              <a:t>To build an anomaly detection model, we need to model the probability distribution p(x) of the data.</a:t>
            </a:r>
          </a:p>
          <a:p>
            <a:pPr marL="342900" indent="-342900">
              <a:buFont typeface="Wingdings" pitchFamily="2" charset="2"/>
              <a:buChar char="Ø"/>
            </a:pPr>
            <a:r>
              <a:rPr lang="en-US" sz="2400" dirty="0"/>
              <a:t>A common approach is to use the Gaussian (normal) distribution to model normal behavior.</a:t>
            </a:r>
          </a:p>
          <a:p>
            <a:r>
              <a:rPr lang="en-US" sz="2400" dirty="0">
                <a:solidFill>
                  <a:srgbClr val="1501FE"/>
                </a:solidFill>
              </a:rPr>
              <a:t>Next</a:t>
            </a:r>
            <a:r>
              <a:rPr lang="en-US" sz="2400" dirty="0"/>
              <a:t>, we will study the Gaussian distribution and understand how it is used to model p(x) in anomaly detection.</a:t>
            </a:r>
          </a:p>
        </p:txBody>
      </p:sp>
      <p:sp>
        <p:nvSpPr>
          <p:cNvPr id="2" name="TextBox 1">
            <a:extLst>
              <a:ext uri="{FF2B5EF4-FFF2-40B4-BE49-F238E27FC236}">
                <a16:creationId xmlns:a16="http://schemas.microsoft.com/office/drawing/2014/main" id="{3E54D305-2875-2949-9E31-9226A490349C}"/>
              </a:ext>
            </a:extLst>
          </p:cNvPr>
          <p:cNvSpPr txBox="1"/>
          <p:nvPr/>
        </p:nvSpPr>
        <p:spPr>
          <a:xfrm>
            <a:off x="685800" y="209550"/>
            <a:ext cx="1476686" cy="584775"/>
          </a:xfrm>
          <a:prstGeom prst="rect">
            <a:avLst/>
          </a:prstGeom>
          <a:noFill/>
        </p:spPr>
        <p:txBody>
          <a:bodyPr wrap="none" rtlCol="0">
            <a:spAutoFit/>
          </a:bodyPr>
          <a:lstStyle/>
          <a:p>
            <a:r>
              <a:rPr lang="en-IL" sz="3200" dirty="0">
                <a:solidFill>
                  <a:schemeClr val="accent2">
                    <a:lumMod val="75000"/>
                  </a:schemeClr>
                </a:solidFill>
              </a:rPr>
              <a:t>Sum-up</a:t>
            </a:r>
          </a:p>
        </p:txBody>
      </p:sp>
    </p:spTree>
    <p:extLst>
      <p:ext uri="{BB962C8B-B14F-4D97-AF65-F5344CB8AC3E}">
        <p14:creationId xmlns:p14="http://schemas.microsoft.com/office/powerpoint/2010/main" val="34883681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374351" y="3126231"/>
            <a:ext cx="5101590" cy="406400"/>
          </a:xfrm>
          <a:prstGeom prst="rect">
            <a:avLst/>
          </a:prstGeom>
        </p:spPr>
        <p:txBody>
          <a:bodyPr vert="horz" wrap="square" lIns="0" tIns="12700" rIns="0" bIns="0" rtlCol="0">
            <a:spAutoFit/>
          </a:bodyPr>
          <a:lstStyle/>
          <a:p>
            <a:pPr marL="12700">
              <a:lnSpc>
                <a:spcPct val="100000"/>
              </a:lnSpc>
              <a:spcBef>
                <a:spcPts val="100"/>
              </a:spcBef>
            </a:pPr>
            <a:r>
              <a:rPr sz="2500" b="1" spc="95" dirty="0">
                <a:latin typeface="Arial"/>
                <a:cs typeface="Arial"/>
              </a:rPr>
              <a:t>Gaussian </a:t>
            </a:r>
            <a:r>
              <a:rPr sz="2500" b="1" spc="200" dirty="0">
                <a:latin typeface="Arial"/>
                <a:cs typeface="Arial"/>
              </a:rPr>
              <a:t>(Normal)</a:t>
            </a:r>
            <a:r>
              <a:rPr sz="2500" b="1" spc="-330" dirty="0">
                <a:latin typeface="Arial"/>
                <a:cs typeface="Arial"/>
              </a:rPr>
              <a:t> </a:t>
            </a:r>
            <a:r>
              <a:rPr sz="2500" b="1" spc="65" dirty="0">
                <a:latin typeface="Arial"/>
                <a:cs typeface="Arial"/>
              </a:rPr>
              <a:t>Distribution</a:t>
            </a:r>
            <a:endParaRPr sz="2500" b="1" dirty="0">
              <a:latin typeface="Arial"/>
              <a:cs typeface="Arial"/>
            </a:endParaRPr>
          </a:p>
        </p:txBody>
      </p:sp>
      <p:sp>
        <p:nvSpPr>
          <p:cNvPr id="4" name="TextBox 3">
            <a:extLst>
              <a:ext uri="{FF2B5EF4-FFF2-40B4-BE49-F238E27FC236}">
                <a16:creationId xmlns:a16="http://schemas.microsoft.com/office/drawing/2014/main" id="{BC92D764-44D9-5742-9A4A-1B6429C3E145}"/>
              </a:ext>
            </a:extLst>
          </p:cNvPr>
          <p:cNvSpPr txBox="1"/>
          <p:nvPr/>
        </p:nvSpPr>
        <p:spPr>
          <a:xfrm>
            <a:off x="3886200" y="1463704"/>
            <a:ext cx="3552767" cy="584775"/>
          </a:xfrm>
          <a:prstGeom prst="rect">
            <a:avLst/>
          </a:prstGeom>
          <a:noFill/>
        </p:spPr>
        <p:txBody>
          <a:bodyPr wrap="none" rtlCol="0">
            <a:spAutoFit/>
          </a:bodyPr>
          <a:lstStyle/>
          <a:p>
            <a:r>
              <a:rPr lang="en-IL" sz="3200" b="1" dirty="0">
                <a:solidFill>
                  <a:schemeClr val="accent2">
                    <a:lumMod val="75000"/>
                  </a:schemeClr>
                </a:solidFill>
              </a:rPr>
              <a:t>Anomaly Detection </a:t>
            </a:r>
          </a:p>
        </p:txBody>
      </p:sp>
      <p:sp>
        <p:nvSpPr>
          <p:cNvPr id="5" name="object 2">
            <a:extLst>
              <a:ext uri="{FF2B5EF4-FFF2-40B4-BE49-F238E27FC236}">
                <a16:creationId xmlns:a16="http://schemas.microsoft.com/office/drawing/2014/main" id="{07880F93-0339-8945-83D6-76FDBBA86B27}"/>
              </a:ext>
            </a:extLst>
          </p:cNvPr>
          <p:cNvSpPr/>
          <p:nvPr/>
        </p:nvSpPr>
        <p:spPr>
          <a:xfrm>
            <a:off x="3028543" y="2548801"/>
            <a:ext cx="5709920" cy="46355"/>
          </a:xfrm>
          <a:custGeom>
            <a:avLst/>
            <a:gdLst/>
            <a:ahLst/>
            <a:cxnLst/>
            <a:rect l="l" t="t" r="r" b="b"/>
            <a:pathLst>
              <a:path w="5709920" h="46355">
                <a:moveTo>
                  <a:pt x="5709907" y="0"/>
                </a:moveTo>
                <a:lnTo>
                  <a:pt x="0" y="0"/>
                </a:lnTo>
                <a:lnTo>
                  <a:pt x="0" y="45897"/>
                </a:lnTo>
                <a:lnTo>
                  <a:pt x="5709907" y="45897"/>
                </a:lnTo>
                <a:lnTo>
                  <a:pt x="5709907" y="0"/>
                </a:lnTo>
                <a:close/>
              </a:path>
            </a:pathLst>
          </a:custGeom>
          <a:solidFill>
            <a:srgbClr val="0070EA"/>
          </a:solidFill>
        </p:spPr>
        <p:txBody>
          <a:bodyPr wrap="square" lIns="0" tIns="0" rIns="0" bIns="0" rtlCol="0"/>
          <a:lstStyle/>
          <a:p>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id="{829C0BCA-70E3-DA4F-AE1F-FA3981DA2B44}"/>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28600" y="133350"/>
            <a:ext cx="8458200" cy="4361259"/>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4C95E9-685A-D348-8183-44E6F3544B5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28600" y="133350"/>
            <a:ext cx="8686800" cy="4316254"/>
          </a:xfrm>
          <a:prstGeom prst="rect">
            <a:avLst/>
          </a:prstGeom>
        </p:spPr>
      </p:pic>
    </p:spTree>
    <p:extLst>
      <p:ext uri="{BB962C8B-B14F-4D97-AF65-F5344CB8AC3E}">
        <p14:creationId xmlns:p14="http://schemas.microsoft.com/office/powerpoint/2010/main" val="10768680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0DBA2D-92F5-A041-BB65-7087BB3F35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85750"/>
            <a:ext cx="8305800" cy="4088614"/>
          </a:xfrm>
          <a:prstGeom prst="rect">
            <a:avLst/>
          </a:prstGeom>
        </p:spPr>
      </p:pic>
    </p:spTree>
    <p:extLst>
      <p:ext uri="{BB962C8B-B14F-4D97-AF65-F5344CB8AC3E}">
        <p14:creationId xmlns:p14="http://schemas.microsoft.com/office/powerpoint/2010/main" val="41802364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1491E5-0429-B648-ADE3-4314F219F746}"/>
              </a:ext>
            </a:extLst>
          </p:cNvPr>
          <p:cNvSpPr txBox="1"/>
          <p:nvPr/>
        </p:nvSpPr>
        <p:spPr>
          <a:xfrm>
            <a:off x="152400" y="819150"/>
            <a:ext cx="8686800" cy="3416320"/>
          </a:xfrm>
          <a:prstGeom prst="rect">
            <a:avLst/>
          </a:prstGeom>
          <a:noFill/>
        </p:spPr>
        <p:txBody>
          <a:bodyPr wrap="square">
            <a:spAutoFit/>
          </a:bodyPr>
          <a:lstStyle/>
          <a:p>
            <a:pPr marL="342900" indent="-342900">
              <a:buFont typeface="Arial" panose="020B0604020202020204" pitchFamily="34" charset="0"/>
              <a:buChar char="•"/>
            </a:pPr>
            <a:r>
              <a:rPr lang="en-US" sz="2400" dirty="0"/>
              <a:t>So far, we modeled anomaly detection using </a:t>
            </a:r>
            <a:r>
              <a:rPr lang="en-US" sz="2400" b="1" dirty="0">
                <a:solidFill>
                  <a:srgbClr val="1501FE"/>
                </a:solidFill>
              </a:rPr>
              <a:t>one feature only</a:t>
            </a:r>
            <a:r>
              <a:rPr lang="en-US" sz="2400" dirty="0"/>
              <a:t>, where x is a single number and we used a single Gaussian distribution.</a:t>
            </a:r>
          </a:p>
          <a:p>
            <a:pPr marL="342900" indent="-342900">
              <a:buFont typeface="Arial" panose="020B0604020202020204" pitchFamily="34" charset="0"/>
              <a:buChar char="•"/>
            </a:pPr>
            <a:r>
              <a:rPr lang="en-US" sz="2400" dirty="0"/>
              <a:t>In real applications, we usually have </a:t>
            </a:r>
            <a:r>
              <a:rPr lang="en-US" sz="2400" b="1" dirty="0"/>
              <a:t>multiple features</a:t>
            </a:r>
            <a:r>
              <a:rPr lang="en-US" sz="2400" dirty="0"/>
              <a:t>, so x becomes a vector, and we need a model that can handle many variables together.</a:t>
            </a:r>
          </a:p>
          <a:p>
            <a:r>
              <a:rPr lang="en-US" sz="2400" b="1" dirty="0"/>
              <a:t>Next topic:</a:t>
            </a:r>
            <a:br>
              <a:rPr lang="en-US" sz="2400" dirty="0"/>
            </a:br>
            <a:r>
              <a:rPr lang="en-US" sz="2400" dirty="0"/>
              <a:t>We will extend the Gaussian model to handle multiple features and build a more practical anomaly detection algorithm.</a:t>
            </a:r>
          </a:p>
        </p:txBody>
      </p:sp>
      <p:sp>
        <p:nvSpPr>
          <p:cNvPr id="2" name="TextBox 1">
            <a:extLst>
              <a:ext uri="{FF2B5EF4-FFF2-40B4-BE49-F238E27FC236}">
                <a16:creationId xmlns:a16="http://schemas.microsoft.com/office/drawing/2014/main" id="{AA8E4899-C790-EC4B-B558-31C4850B93E8}"/>
              </a:ext>
            </a:extLst>
          </p:cNvPr>
          <p:cNvSpPr txBox="1"/>
          <p:nvPr/>
        </p:nvSpPr>
        <p:spPr>
          <a:xfrm>
            <a:off x="838200" y="106805"/>
            <a:ext cx="1795684" cy="707886"/>
          </a:xfrm>
          <a:prstGeom prst="rect">
            <a:avLst/>
          </a:prstGeom>
          <a:noFill/>
        </p:spPr>
        <p:txBody>
          <a:bodyPr wrap="none" rtlCol="0">
            <a:spAutoFit/>
          </a:bodyPr>
          <a:lstStyle/>
          <a:p>
            <a:r>
              <a:rPr lang="en-IL" sz="4000" dirty="0">
                <a:solidFill>
                  <a:schemeClr val="accent2">
                    <a:lumMod val="75000"/>
                  </a:schemeClr>
                </a:solidFill>
              </a:rPr>
              <a:t>Sum-up</a:t>
            </a:r>
          </a:p>
        </p:txBody>
      </p:sp>
    </p:spTree>
    <p:extLst>
      <p:ext uri="{BB962C8B-B14F-4D97-AF65-F5344CB8AC3E}">
        <p14:creationId xmlns:p14="http://schemas.microsoft.com/office/powerpoint/2010/main" val="32694113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57789" y="1570735"/>
            <a:ext cx="3331210" cy="436880"/>
          </a:xfrm>
          <a:prstGeom prst="rect">
            <a:avLst/>
          </a:prstGeom>
        </p:spPr>
        <p:txBody>
          <a:bodyPr vert="horz" wrap="square" lIns="0" tIns="12700" rIns="0" bIns="0" rtlCol="0">
            <a:spAutoFit/>
          </a:bodyPr>
          <a:lstStyle/>
          <a:p>
            <a:pPr marL="12700">
              <a:lnSpc>
                <a:spcPct val="100000"/>
              </a:lnSpc>
              <a:spcBef>
                <a:spcPts val="100"/>
              </a:spcBef>
            </a:pPr>
            <a:r>
              <a:rPr sz="2700" spc="-75" dirty="0">
                <a:solidFill>
                  <a:srgbClr val="8C1515"/>
                </a:solidFill>
                <a:latin typeface="Arial Black"/>
                <a:cs typeface="Arial Black"/>
              </a:rPr>
              <a:t>Anomaly</a:t>
            </a:r>
            <a:r>
              <a:rPr sz="2700" spc="-240" dirty="0">
                <a:solidFill>
                  <a:srgbClr val="8C1515"/>
                </a:solidFill>
                <a:latin typeface="Arial Black"/>
                <a:cs typeface="Arial Black"/>
              </a:rPr>
              <a:t> </a:t>
            </a:r>
            <a:r>
              <a:rPr sz="2700" spc="-155" dirty="0">
                <a:solidFill>
                  <a:srgbClr val="8C1515"/>
                </a:solidFill>
                <a:latin typeface="Arial Black"/>
                <a:cs typeface="Arial Black"/>
              </a:rPr>
              <a:t>Detection</a:t>
            </a:r>
            <a:endParaRPr sz="2700">
              <a:latin typeface="Arial Black"/>
              <a:cs typeface="Arial Black"/>
            </a:endParaRPr>
          </a:p>
        </p:txBody>
      </p:sp>
      <p:sp>
        <p:nvSpPr>
          <p:cNvPr id="3" name="object 3"/>
          <p:cNvSpPr txBox="1"/>
          <p:nvPr/>
        </p:nvSpPr>
        <p:spPr>
          <a:xfrm>
            <a:off x="4619752" y="3164331"/>
            <a:ext cx="2611120" cy="635000"/>
          </a:xfrm>
          <a:prstGeom prst="rect">
            <a:avLst/>
          </a:prstGeom>
        </p:spPr>
        <p:txBody>
          <a:bodyPr vert="horz" wrap="square" lIns="0" tIns="12700" rIns="0" bIns="0" rtlCol="0">
            <a:spAutoFit/>
          </a:bodyPr>
          <a:lstStyle/>
          <a:p>
            <a:pPr marL="12700">
              <a:lnSpc>
                <a:spcPct val="100000"/>
              </a:lnSpc>
              <a:spcBef>
                <a:spcPts val="100"/>
              </a:spcBef>
            </a:pPr>
            <a:r>
              <a:rPr sz="4000" b="1" spc="-25" dirty="0">
                <a:solidFill>
                  <a:srgbClr val="595959"/>
                </a:solidFill>
                <a:latin typeface="Arial"/>
                <a:cs typeface="Arial"/>
              </a:rPr>
              <a:t>A</a:t>
            </a:r>
            <a:r>
              <a:rPr sz="4000" b="1" spc="-10" dirty="0">
                <a:solidFill>
                  <a:srgbClr val="595959"/>
                </a:solidFill>
                <a:latin typeface="Arial"/>
                <a:cs typeface="Arial"/>
              </a:rPr>
              <a:t>l</a:t>
            </a:r>
            <a:r>
              <a:rPr sz="4000" b="1" spc="265" dirty="0">
                <a:solidFill>
                  <a:srgbClr val="595959"/>
                </a:solidFill>
                <a:latin typeface="Arial"/>
                <a:cs typeface="Arial"/>
              </a:rPr>
              <a:t>g</a:t>
            </a:r>
            <a:r>
              <a:rPr sz="4000" b="1" spc="95" dirty="0">
                <a:solidFill>
                  <a:srgbClr val="595959"/>
                </a:solidFill>
                <a:latin typeface="Arial"/>
                <a:cs typeface="Arial"/>
              </a:rPr>
              <a:t>o</a:t>
            </a:r>
            <a:r>
              <a:rPr sz="4000" b="1" spc="55" dirty="0">
                <a:solidFill>
                  <a:srgbClr val="595959"/>
                </a:solidFill>
                <a:latin typeface="Arial"/>
                <a:cs typeface="Arial"/>
              </a:rPr>
              <a:t>r</a:t>
            </a:r>
            <a:r>
              <a:rPr sz="4000" b="1" dirty="0">
                <a:solidFill>
                  <a:srgbClr val="595959"/>
                </a:solidFill>
                <a:latin typeface="Arial"/>
                <a:cs typeface="Arial"/>
              </a:rPr>
              <a:t>i</a:t>
            </a:r>
            <a:r>
              <a:rPr sz="4000" b="1" spc="140" dirty="0">
                <a:solidFill>
                  <a:srgbClr val="595959"/>
                </a:solidFill>
                <a:latin typeface="Arial"/>
                <a:cs typeface="Arial"/>
              </a:rPr>
              <a:t>t</a:t>
            </a:r>
            <a:r>
              <a:rPr sz="4000" b="1" spc="275" dirty="0">
                <a:solidFill>
                  <a:srgbClr val="595959"/>
                </a:solidFill>
                <a:latin typeface="Arial"/>
                <a:cs typeface="Arial"/>
              </a:rPr>
              <a:t>h</a:t>
            </a:r>
            <a:r>
              <a:rPr sz="4000" b="1" spc="635" dirty="0">
                <a:solidFill>
                  <a:srgbClr val="595959"/>
                </a:solidFill>
                <a:latin typeface="Arial"/>
                <a:cs typeface="Arial"/>
              </a:rPr>
              <a:t>m</a:t>
            </a:r>
            <a:endParaRPr sz="4000">
              <a:latin typeface="Arial"/>
              <a:cs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DE3E6F28-2B5A-CD48-A1E3-E3ED13E347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09550"/>
            <a:ext cx="8382000" cy="4191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770FC5-AF5A-C24F-8D3B-2557ECC77D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85750"/>
            <a:ext cx="8382000" cy="4090012"/>
          </a:xfrm>
          <a:prstGeom prst="rect">
            <a:avLst/>
          </a:prstGeom>
        </p:spPr>
      </p:pic>
    </p:spTree>
    <p:extLst>
      <p:ext uri="{BB962C8B-B14F-4D97-AF65-F5344CB8AC3E}">
        <p14:creationId xmlns:p14="http://schemas.microsoft.com/office/powerpoint/2010/main" val="353664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9F48E0-AAE0-524D-B8AD-D29164BFA1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599" y="133350"/>
            <a:ext cx="8488101" cy="4191000"/>
          </a:xfrm>
          <a:prstGeom prst="rect">
            <a:avLst/>
          </a:prstGeom>
        </p:spPr>
      </p:pic>
    </p:spTree>
    <p:extLst>
      <p:ext uri="{BB962C8B-B14F-4D97-AF65-F5344CB8AC3E}">
        <p14:creationId xmlns:p14="http://schemas.microsoft.com/office/powerpoint/2010/main" val="8709105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8AD19F-11F5-304C-AE3C-1AFE4C8382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33350"/>
            <a:ext cx="8458200" cy="4215843"/>
          </a:xfrm>
          <a:prstGeom prst="rect">
            <a:avLst/>
          </a:prstGeom>
        </p:spPr>
      </p:pic>
    </p:spTree>
    <p:extLst>
      <p:ext uri="{BB962C8B-B14F-4D97-AF65-F5344CB8AC3E}">
        <p14:creationId xmlns:p14="http://schemas.microsoft.com/office/powerpoint/2010/main" val="12148740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1B053E-351B-5344-961B-9C1DDB876885}"/>
              </a:ext>
            </a:extLst>
          </p:cNvPr>
          <p:cNvSpPr txBox="1"/>
          <p:nvPr/>
        </p:nvSpPr>
        <p:spPr>
          <a:xfrm>
            <a:off x="495300" y="819150"/>
            <a:ext cx="8153400" cy="3046988"/>
          </a:xfrm>
          <a:prstGeom prst="rect">
            <a:avLst/>
          </a:prstGeom>
          <a:noFill/>
        </p:spPr>
        <p:txBody>
          <a:bodyPr wrap="square">
            <a:spAutoFit/>
          </a:bodyPr>
          <a:lstStyle/>
          <a:p>
            <a:pPr>
              <a:buFont typeface="Arial" panose="020B0604020202020204" pitchFamily="34" charset="0"/>
              <a:buChar char="•"/>
            </a:pPr>
            <a:r>
              <a:rPr lang="en-US" sz="2400" dirty="0"/>
              <a:t>We have learned how to build an anomaly detection system and compute p(x), but we still need to decide how to choose the threshold epsilon.</a:t>
            </a:r>
          </a:p>
          <a:p>
            <a:pPr>
              <a:buFont typeface="Arial" panose="020B0604020202020204" pitchFamily="34" charset="0"/>
              <a:buChar char="•"/>
            </a:pPr>
            <a:r>
              <a:rPr lang="en-US" sz="2400" dirty="0"/>
              <a:t>We also need a way to evaluate whether the system is working well and detecting anomalies correctly.</a:t>
            </a:r>
          </a:p>
          <a:p>
            <a:r>
              <a:rPr lang="en-US" sz="2400" b="1" dirty="0"/>
              <a:t>Next topic:</a:t>
            </a:r>
            <a:br>
              <a:rPr lang="en-US" sz="2400" dirty="0"/>
            </a:br>
            <a:r>
              <a:rPr lang="en-US" sz="2400" dirty="0">
                <a:solidFill>
                  <a:srgbClr val="1501FE"/>
                </a:solidFill>
              </a:rPr>
              <a:t>How to select epsilon </a:t>
            </a:r>
            <a:r>
              <a:rPr lang="en-US" sz="2400" dirty="0"/>
              <a:t>and evaluate the performance of an anomaly detection system using proper evaluation methods.</a:t>
            </a:r>
          </a:p>
        </p:txBody>
      </p:sp>
      <p:sp>
        <p:nvSpPr>
          <p:cNvPr id="2" name="TextBox 1">
            <a:extLst>
              <a:ext uri="{FF2B5EF4-FFF2-40B4-BE49-F238E27FC236}">
                <a16:creationId xmlns:a16="http://schemas.microsoft.com/office/drawing/2014/main" id="{083131A0-8BA1-7B4D-B394-0502C4A147A7}"/>
              </a:ext>
            </a:extLst>
          </p:cNvPr>
          <p:cNvSpPr txBox="1"/>
          <p:nvPr/>
        </p:nvSpPr>
        <p:spPr>
          <a:xfrm>
            <a:off x="685800" y="111264"/>
            <a:ext cx="1795684" cy="707886"/>
          </a:xfrm>
          <a:prstGeom prst="rect">
            <a:avLst/>
          </a:prstGeom>
          <a:noFill/>
        </p:spPr>
        <p:txBody>
          <a:bodyPr wrap="none" rtlCol="0">
            <a:spAutoFit/>
          </a:bodyPr>
          <a:lstStyle/>
          <a:p>
            <a:r>
              <a:rPr lang="en-IL" sz="4000" dirty="0">
                <a:solidFill>
                  <a:srgbClr val="C00000"/>
                </a:solidFill>
              </a:rPr>
              <a:t>Sum-up</a:t>
            </a:r>
          </a:p>
        </p:txBody>
      </p:sp>
    </p:spTree>
    <p:extLst>
      <p:ext uri="{BB962C8B-B14F-4D97-AF65-F5344CB8AC3E}">
        <p14:creationId xmlns:p14="http://schemas.microsoft.com/office/powerpoint/2010/main" val="928089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815590" cy="5143500"/>
            <a:chOff x="0" y="0"/>
            <a:chExt cx="2815590" cy="5143500"/>
          </a:xfrm>
        </p:grpSpPr>
        <p:sp>
          <p:nvSpPr>
            <p:cNvPr id="3" name="object 3"/>
            <p:cNvSpPr/>
            <p:nvPr/>
          </p:nvSpPr>
          <p:spPr>
            <a:xfrm>
              <a:off x="0" y="0"/>
              <a:ext cx="2694432" cy="5141975"/>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246888" y="777240"/>
              <a:ext cx="2179320" cy="490727"/>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893063" y="1399032"/>
              <a:ext cx="886968" cy="332232"/>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386520" y="2183028"/>
              <a:ext cx="2428853" cy="2960471"/>
            </a:xfrm>
            <a:prstGeom prst="rect">
              <a:avLst/>
            </a:prstGeom>
            <a:blipFill>
              <a:blip r:embed="rId6" cstate="print"/>
              <a:stretch>
                <a:fillRect/>
              </a:stretch>
            </a:blipFill>
          </p:spPr>
          <p:txBody>
            <a:bodyPr wrap="square" lIns="0" tIns="0" rIns="0" bIns="0" rtlCol="0"/>
            <a:lstStyle/>
            <a:p>
              <a:endParaRPr/>
            </a:p>
          </p:txBody>
        </p:sp>
      </p:grpSp>
      <p:sp>
        <p:nvSpPr>
          <p:cNvPr id="7" name="object 7"/>
          <p:cNvSpPr txBox="1">
            <a:spLocks noGrp="1"/>
          </p:cNvSpPr>
          <p:nvPr>
            <p:ph type="title"/>
          </p:nvPr>
        </p:nvSpPr>
        <p:spPr>
          <a:xfrm>
            <a:off x="4157789" y="1570735"/>
            <a:ext cx="3331210" cy="436880"/>
          </a:xfrm>
          <a:prstGeom prst="rect">
            <a:avLst/>
          </a:prstGeom>
        </p:spPr>
        <p:txBody>
          <a:bodyPr vert="horz" wrap="square" lIns="0" tIns="12700" rIns="0" bIns="0" rtlCol="0">
            <a:spAutoFit/>
          </a:bodyPr>
          <a:lstStyle/>
          <a:p>
            <a:pPr marL="12700">
              <a:lnSpc>
                <a:spcPct val="100000"/>
              </a:lnSpc>
              <a:spcBef>
                <a:spcPts val="100"/>
              </a:spcBef>
            </a:pPr>
            <a:r>
              <a:rPr sz="2700" spc="-75" dirty="0">
                <a:solidFill>
                  <a:srgbClr val="8C1515"/>
                </a:solidFill>
                <a:latin typeface="Arial Black"/>
                <a:cs typeface="Arial Black"/>
              </a:rPr>
              <a:t>Anomaly</a:t>
            </a:r>
            <a:r>
              <a:rPr sz="2700" spc="-240" dirty="0">
                <a:solidFill>
                  <a:srgbClr val="8C1515"/>
                </a:solidFill>
                <a:latin typeface="Arial Black"/>
                <a:cs typeface="Arial Black"/>
              </a:rPr>
              <a:t> </a:t>
            </a:r>
            <a:r>
              <a:rPr sz="2700" spc="-155" dirty="0">
                <a:solidFill>
                  <a:srgbClr val="8C1515"/>
                </a:solidFill>
                <a:latin typeface="Arial Black"/>
                <a:cs typeface="Arial Black"/>
              </a:rPr>
              <a:t>Detection</a:t>
            </a:r>
            <a:endParaRPr sz="2700">
              <a:latin typeface="Arial Black"/>
              <a:cs typeface="Arial Black"/>
            </a:endParaRPr>
          </a:p>
        </p:txBody>
      </p:sp>
      <p:sp>
        <p:nvSpPr>
          <p:cNvPr id="8" name="object 8"/>
          <p:cNvSpPr txBox="1"/>
          <p:nvPr/>
        </p:nvSpPr>
        <p:spPr>
          <a:xfrm>
            <a:off x="3236493" y="3126231"/>
            <a:ext cx="4906010" cy="702756"/>
          </a:xfrm>
          <a:prstGeom prst="rect">
            <a:avLst/>
          </a:prstGeom>
        </p:spPr>
        <p:txBody>
          <a:bodyPr vert="horz" wrap="square" lIns="0" tIns="86360" rIns="0" bIns="0" rtlCol="0">
            <a:spAutoFit/>
          </a:bodyPr>
          <a:lstStyle/>
          <a:p>
            <a:pPr marL="354965" marR="5080" indent="-342900">
              <a:lnSpc>
                <a:spcPts val="2400"/>
              </a:lnSpc>
              <a:spcBef>
                <a:spcPts val="680"/>
              </a:spcBef>
            </a:pPr>
            <a:r>
              <a:rPr sz="2400" b="1" spc="90" dirty="0">
                <a:solidFill>
                  <a:srgbClr val="404040"/>
                </a:solidFill>
                <a:latin typeface="Arial"/>
                <a:cs typeface="Arial"/>
              </a:rPr>
              <a:t>Developing</a:t>
            </a:r>
            <a:r>
              <a:rPr sz="2400" b="1" spc="-100" dirty="0">
                <a:solidFill>
                  <a:srgbClr val="404040"/>
                </a:solidFill>
                <a:latin typeface="Arial"/>
                <a:cs typeface="Arial"/>
              </a:rPr>
              <a:t> </a:t>
            </a:r>
            <a:r>
              <a:rPr sz="2400" b="1" spc="195" dirty="0">
                <a:solidFill>
                  <a:srgbClr val="404040"/>
                </a:solidFill>
                <a:latin typeface="Arial"/>
                <a:cs typeface="Arial"/>
              </a:rPr>
              <a:t>and</a:t>
            </a:r>
            <a:r>
              <a:rPr sz="2400" b="1" spc="-95" dirty="0">
                <a:solidFill>
                  <a:srgbClr val="404040"/>
                </a:solidFill>
                <a:latin typeface="Arial"/>
                <a:cs typeface="Arial"/>
              </a:rPr>
              <a:t> </a:t>
            </a:r>
            <a:r>
              <a:rPr sz="2400" b="1" spc="140" dirty="0">
                <a:solidFill>
                  <a:srgbClr val="404040"/>
                </a:solidFill>
                <a:latin typeface="Arial"/>
                <a:cs typeface="Arial"/>
              </a:rPr>
              <a:t>evaluating</a:t>
            </a:r>
            <a:r>
              <a:rPr sz="2400" b="1" spc="-95" dirty="0">
                <a:solidFill>
                  <a:srgbClr val="404040"/>
                </a:solidFill>
                <a:latin typeface="Arial"/>
                <a:cs typeface="Arial"/>
              </a:rPr>
              <a:t> </a:t>
            </a:r>
            <a:r>
              <a:rPr sz="2400" b="1" spc="215" dirty="0">
                <a:solidFill>
                  <a:srgbClr val="404040"/>
                </a:solidFill>
                <a:latin typeface="Arial"/>
                <a:cs typeface="Arial"/>
              </a:rPr>
              <a:t>an  </a:t>
            </a:r>
            <a:r>
              <a:rPr sz="2400" b="1" spc="190" dirty="0">
                <a:solidFill>
                  <a:srgbClr val="404040"/>
                </a:solidFill>
                <a:latin typeface="Arial"/>
                <a:cs typeface="Arial"/>
              </a:rPr>
              <a:t>anomaly </a:t>
            </a:r>
            <a:r>
              <a:rPr sz="2400" b="1" spc="114" dirty="0">
                <a:solidFill>
                  <a:srgbClr val="404040"/>
                </a:solidFill>
                <a:latin typeface="Arial"/>
                <a:cs typeface="Arial"/>
              </a:rPr>
              <a:t>detection</a:t>
            </a:r>
            <a:r>
              <a:rPr sz="2400" b="1" spc="-409" dirty="0">
                <a:solidFill>
                  <a:srgbClr val="404040"/>
                </a:solidFill>
                <a:latin typeface="Arial"/>
                <a:cs typeface="Arial"/>
              </a:rPr>
              <a:t> </a:t>
            </a:r>
            <a:r>
              <a:rPr sz="2400" b="1" spc="125" dirty="0">
                <a:solidFill>
                  <a:srgbClr val="404040"/>
                </a:solidFill>
                <a:latin typeface="Arial"/>
                <a:cs typeface="Arial"/>
              </a:rPr>
              <a:t>system</a:t>
            </a:r>
            <a:endParaRPr sz="2400" dirty="0">
              <a:latin typeface="Arial"/>
              <a:cs typeface="Arial"/>
            </a:endParaRPr>
          </a:p>
        </p:txBody>
      </p:sp>
      <p:sp>
        <p:nvSpPr>
          <p:cNvPr id="9" name="TextBox 8">
            <a:extLst>
              <a:ext uri="{FF2B5EF4-FFF2-40B4-BE49-F238E27FC236}">
                <a16:creationId xmlns:a16="http://schemas.microsoft.com/office/drawing/2014/main" id="{4D18D3A2-D308-E840-989C-BA376EC87A44}"/>
              </a:ext>
            </a:extLst>
          </p:cNvPr>
          <p:cNvSpPr txBox="1"/>
          <p:nvPr/>
        </p:nvSpPr>
        <p:spPr>
          <a:xfrm>
            <a:off x="3124200" y="4248150"/>
            <a:ext cx="4985980" cy="369332"/>
          </a:xfrm>
          <a:prstGeom prst="rect">
            <a:avLst/>
          </a:prstGeom>
          <a:noFill/>
        </p:spPr>
        <p:txBody>
          <a:bodyPr wrap="none" rtlCol="0">
            <a:spAutoFit/>
          </a:bodyPr>
          <a:lstStyle/>
          <a:p>
            <a:r>
              <a:rPr lang="en-US" dirty="0">
                <a:solidFill>
                  <a:srgbClr val="1501FE"/>
                </a:solidFill>
              </a:rPr>
              <a:t>P</a:t>
            </a:r>
            <a:r>
              <a:rPr lang="en-IL" dirty="0">
                <a:solidFill>
                  <a:srgbClr val="1501FE"/>
                </a:solidFill>
              </a:rPr>
              <a:t>ractical tips to develop anomaly detection system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Picture 62">
            <a:extLst>
              <a:ext uri="{FF2B5EF4-FFF2-40B4-BE49-F238E27FC236}">
                <a16:creationId xmlns:a16="http://schemas.microsoft.com/office/drawing/2014/main" id="{ED7B5BCE-A738-AC4A-9735-3F075AA3041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48106" y="209549"/>
            <a:ext cx="8538694" cy="3962401"/>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CC248F-D91A-424C-A11E-8743A77BC3DA}"/>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28600" y="133349"/>
            <a:ext cx="8382000" cy="4297777"/>
          </a:xfrm>
          <a:prstGeom prst="rect">
            <a:avLst/>
          </a:prstGeom>
        </p:spPr>
      </p:pic>
    </p:spTree>
    <p:extLst>
      <p:ext uri="{BB962C8B-B14F-4D97-AF65-F5344CB8AC3E}">
        <p14:creationId xmlns:p14="http://schemas.microsoft.com/office/powerpoint/2010/main" val="25917075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5EF7E1-0014-634F-BD39-41AF162EE0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308" y="133350"/>
            <a:ext cx="8835292" cy="4267200"/>
          </a:xfrm>
          <a:prstGeom prst="rect">
            <a:avLst/>
          </a:prstGeom>
        </p:spPr>
      </p:pic>
    </p:spTree>
    <p:extLst>
      <p:ext uri="{BB962C8B-B14F-4D97-AF65-F5344CB8AC3E}">
        <p14:creationId xmlns:p14="http://schemas.microsoft.com/office/powerpoint/2010/main" val="20902308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EFFBD1-76CF-864F-BB08-937582D3B75F}"/>
              </a:ext>
            </a:extLst>
          </p:cNvPr>
          <p:cNvSpPr txBox="1"/>
          <p:nvPr/>
        </p:nvSpPr>
        <p:spPr>
          <a:xfrm>
            <a:off x="381000" y="798076"/>
            <a:ext cx="8382000" cy="3477875"/>
          </a:xfrm>
          <a:prstGeom prst="rect">
            <a:avLst/>
          </a:prstGeom>
          <a:noFill/>
        </p:spPr>
        <p:txBody>
          <a:bodyPr wrap="square">
            <a:spAutoFit/>
          </a:bodyPr>
          <a:lstStyle/>
          <a:p>
            <a:pPr marL="342900" indent="-342900">
              <a:buFont typeface="Arial" panose="020B0604020202020204" pitchFamily="34" charset="0"/>
              <a:buChar char="•"/>
            </a:pPr>
            <a:r>
              <a:rPr lang="en-US" sz="2000" dirty="0"/>
              <a:t>Use the cross-validation set to measure how many anomalies are correctly detected and how many normal examples are incorrectly flagged. This helps you choose a good value of epsilon.</a:t>
            </a:r>
          </a:p>
          <a:p>
            <a:pPr marL="342900" indent="-342900">
              <a:buFont typeface="Arial" panose="020B0604020202020204" pitchFamily="34" charset="0"/>
              <a:buChar char="•"/>
            </a:pPr>
            <a:r>
              <a:rPr lang="en-US" sz="2000" dirty="0"/>
              <a:t>When you have at least a small number of labeled anomalous examples, evaluation becomes easier and more practical.</a:t>
            </a:r>
          </a:p>
          <a:p>
            <a:r>
              <a:rPr lang="en-US" sz="2000" b="1" dirty="0"/>
              <a:t>Link to next topic:</a:t>
            </a:r>
            <a:br>
              <a:rPr lang="en-US" sz="2000" dirty="0"/>
            </a:br>
            <a:r>
              <a:rPr lang="en-US" sz="2000" dirty="0">
                <a:solidFill>
                  <a:srgbClr val="1501FE"/>
                </a:solidFill>
              </a:rPr>
              <a:t>This raises an important question</a:t>
            </a:r>
            <a:r>
              <a:rPr lang="en-US" sz="2000" dirty="0"/>
              <a:t>: if we already have labeled examples of anomalies, should we continue using anomaly detection (unsupervised learning), or should we switch to a supervised learning algorithm instead?</a:t>
            </a:r>
          </a:p>
          <a:p>
            <a:r>
              <a:rPr lang="en-US" sz="2000" dirty="0"/>
              <a:t>In the next section, we will compare anomaly detection and supervised learning, and discuss when to prefer one over the other.</a:t>
            </a:r>
          </a:p>
        </p:txBody>
      </p:sp>
      <p:sp>
        <p:nvSpPr>
          <p:cNvPr id="2" name="TextBox 1">
            <a:extLst>
              <a:ext uri="{FF2B5EF4-FFF2-40B4-BE49-F238E27FC236}">
                <a16:creationId xmlns:a16="http://schemas.microsoft.com/office/drawing/2014/main" id="{93773A67-9A7E-9447-B1BD-4A07ACB2106E}"/>
              </a:ext>
            </a:extLst>
          </p:cNvPr>
          <p:cNvSpPr txBox="1"/>
          <p:nvPr/>
        </p:nvSpPr>
        <p:spPr>
          <a:xfrm>
            <a:off x="609600" y="133350"/>
            <a:ext cx="1415772" cy="523220"/>
          </a:xfrm>
          <a:prstGeom prst="rect">
            <a:avLst/>
          </a:prstGeom>
          <a:noFill/>
        </p:spPr>
        <p:txBody>
          <a:bodyPr wrap="none" rtlCol="0">
            <a:spAutoFit/>
          </a:bodyPr>
          <a:lstStyle/>
          <a:p>
            <a:r>
              <a:rPr lang="en-IL" sz="2800" dirty="0">
                <a:solidFill>
                  <a:srgbClr val="C00000"/>
                </a:solidFill>
              </a:rPr>
              <a:t>SUM-UP</a:t>
            </a:r>
          </a:p>
        </p:txBody>
      </p:sp>
    </p:spTree>
    <p:extLst>
      <p:ext uri="{BB962C8B-B14F-4D97-AF65-F5344CB8AC3E}">
        <p14:creationId xmlns:p14="http://schemas.microsoft.com/office/powerpoint/2010/main" val="29224058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815590" cy="5143500"/>
            <a:chOff x="0" y="0"/>
            <a:chExt cx="2815590" cy="5143500"/>
          </a:xfrm>
        </p:grpSpPr>
        <p:sp>
          <p:nvSpPr>
            <p:cNvPr id="3" name="object 3"/>
            <p:cNvSpPr/>
            <p:nvPr/>
          </p:nvSpPr>
          <p:spPr>
            <a:xfrm>
              <a:off x="0" y="0"/>
              <a:ext cx="2694432" cy="5141975"/>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246888" y="777240"/>
              <a:ext cx="2179320" cy="490727"/>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893063" y="1399032"/>
              <a:ext cx="886968" cy="332232"/>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386520" y="2183028"/>
              <a:ext cx="2428853" cy="2960471"/>
            </a:xfrm>
            <a:prstGeom prst="rect">
              <a:avLst/>
            </a:prstGeom>
            <a:blipFill>
              <a:blip r:embed="rId6" cstate="print"/>
              <a:stretch>
                <a:fillRect/>
              </a:stretch>
            </a:blipFill>
          </p:spPr>
          <p:txBody>
            <a:bodyPr wrap="square" lIns="0" tIns="0" rIns="0" bIns="0" rtlCol="0"/>
            <a:lstStyle/>
            <a:p>
              <a:endParaRPr/>
            </a:p>
          </p:txBody>
        </p:sp>
      </p:grpSp>
      <p:sp>
        <p:nvSpPr>
          <p:cNvPr id="7" name="object 7"/>
          <p:cNvSpPr txBox="1">
            <a:spLocks noGrp="1"/>
          </p:cNvSpPr>
          <p:nvPr>
            <p:ph type="title"/>
          </p:nvPr>
        </p:nvSpPr>
        <p:spPr>
          <a:xfrm>
            <a:off x="4157789" y="1570735"/>
            <a:ext cx="3331210" cy="436880"/>
          </a:xfrm>
          <a:prstGeom prst="rect">
            <a:avLst/>
          </a:prstGeom>
        </p:spPr>
        <p:txBody>
          <a:bodyPr vert="horz" wrap="square" lIns="0" tIns="12700" rIns="0" bIns="0" rtlCol="0">
            <a:spAutoFit/>
          </a:bodyPr>
          <a:lstStyle/>
          <a:p>
            <a:pPr marL="12700">
              <a:lnSpc>
                <a:spcPct val="100000"/>
              </a:lnSpc>
              <a:spcBef>
                <a:spcPts val="100"/>
              </a:spcBef>
            </a:pPr>
            <a:r>
              <a:rPr sz="2700" spc="-75" dirty="0">
                <a:solidFill>
                  <a:srgbClr val="8C1515"/>
                </a:solidFill>
                <a:latin typeface="Arial Black"/>
                <a:cs typeface="Arial Black"/>
              </a:rPr>
              <a:t>Anomaly</a:t>
            </a:r>
            <a:r>
              <a:rPr sz="2700" spc="-240" dirty="0">
                <a:solidFill>
                  <a:srgbClr val="8C1515"/>
                </a:solidFill>
                <a:latin typeface="Arial Black"/>
                <a:cs typeface="Arial Black"/>
              </a:rPr>
              <a:t> </a:t>
            </a:r>
            <a:r>
              <a:rPr sz="2700" spc="-155" dirty="0">
                <a:solidFill>
                  <a:srgbClr val="8C1515"/>
                </a:solidFill>
                <a:latin typeface="Arial Black"/>
                <a:cs typeface="Arial Black"/>
              </a:rPr>
              <a:t>Detection</a:t>
            </a:r>
            <a:endParaRPr sz="2700">
              <a:latin typeface="Arial Black"/>
              <a:cs typeface="Arial Black"/>
            </a:endParaRPr>
          </a:p>
        </p:txBody>
      </p:sp>
      <p:sp>
        <p:nvSpPr>
          <p:cNvPr id="8" name="object 8"/>
          <p:cNvSpPr txBox="1"/>
          <p:nvPr/>
        </p:nvSpPr>
        <p:spPr>
          <a:xfrm>
            <a:off x="4214393" y="3126231"/>
            <a:ext cx="3761740" cy="711200"/>
          </a:xfrm>
          <a:prstGeom prst="rect">
            <a:avLst/>
          </a:prstGeom>
        </p:spPr>
        <p:txBody>
          <a:bodyPr vert="horz" wrap="square" lIns="0" tIns="86360" rIns="0" bIns="0" rtlCol="0">
            <a:spAutoFit/>
          </a:bodyPr>
          <a:lstStyle/>
          <a:p>
            <a:pPr marL="12700" marR="5080" indent="150495">
              <a:lnSpc>
                <a:spcPts val="2400"/>
              </a:lnSpc>
              <a:spcBef>
                <a:spcPts val="680"/>
              </a:spcBef>
            </a:pPr>
            <a:r>
              <a:rPr sz="2500" b="1" spc="140" dirty="0">
                <a:solidFill>
                  <a:srgbClr val="404040"/>
                </a:solidFill>
                <a:latin typeface="Arial"/>
                <a:cs typeface="Arial"/>
              </a:rPr>
              <a:t>Anomaly </a:t>
            </a:r>
            <a:r>
              <a:rPr sz="2500" b="1" spc="114" dirty="0">
                <a:solidFill>
                  <a:srgbClr val="404040"/>
                </a:solidFill>
                <a:latin typeface="Arial"/>
                <a:cs typeface="Arial"/>
              </a:rPr>
              <a:t>detection  </a:t>
            </a:r>
            <a:r>
              <a:rPr sz="2500" b="1" spc="10" dirty="0">
                <a:solidFill>
                  <a:srgbClr val="404040"/>
                </a:solidFill>
                <a:latin typeface="Arial"/>
                <a:cs typeface="Arial"/>
              </a:rPr>
              <a:t>vs. </a:t>
            </a:r>
            <a:r>
              <a:rPr sz="2500" b="1" spc="80" dirty="0">
                <a:solidFill>
                  <a:srgbClr val="404040"/>
                </a:solidFill>
                <a:latin typeface="Arial"/>
                <a:cs typeface="Arial"/>
              </a:rPr>
              <a:t>supervised</a:t>
            </a:r>
            <a:r>
              <a:rPr sz="2500" b="1" spc="-210" dirty="0">
                <a:solidFill>
                  <a:srgbClr val="404040"/>
                </a:solidFill>
                <a:latin typeface="Arial"/>
                <a:cs typeface="Arial"/>
              </a:rPr>
              <a:t> </a:t>
            </a:r>
            <a:r>
              <a:rPr sz="2500" b="1" spc="110" dirty="0">
                <a:solidFill>
                  <a:srgbClr val="404040"/>
                </a:solidFill>
                <a:latin typeface="Arial"/>
                <a:cs typeface="Arial"/>
              </a:rPr>
              <a:t>learning</a:t>
            </a:r>
            <a:endParaRPr sz="2500">
              <a:latin typeface="Arial"/>
              <a:cs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BC2FE175-C2A5-3843-8829-2AD8062C8C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100" y="0"/>
            <a:ext cx="7989500" cy="432435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2BAA1F0-CE00-B64F-AD7C-0FFCBDC6E6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209550"/>
            <a:ext cx="8711852" cy="39624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0589C2D-37B0-4C41-BD7F-4DAFBDA508C4}"/>
              </a:ext>
            </a:extLst>
          </p:cNvPr>
          <p:cNvSpPr txBox="1"/>
          <p:nvPr/>
        </p:nvSpPr>
        <p:spPr>
          <a:xfrm>
            <a:off x="381000" y="1123950"/>
            <a:ext cx="8077200" cy="3170099"/>
          </a:xfrm>
          <a:prstGeom prst="rect">
            <a:avLst/>
          </a:prstGeom>
          <a:noFill/>
        </p:spPr>
        <p:txBody>
          <a:bodyPr wrap="square">
            <a:spAutoFit/>
          </a:bodyPr>
          <a:lstStyle/>
          <a:p>
            <a:pPr>
              <a:buFont typeface="Arial" panose="020B0604020202020204" pitchFamily="34" charset="0"/>
              <a:buChar char="•"/>
            </a:pPr>
            <a:r>
              <a:rPr lang="en-US" sz="2000" dirty="0"/>
              <a:t>Anomaly detection is used when positive examples are rare and future anomalies may look very different from past ones. Supervised learning is used when we have enough labeled positive examples and future cases are similar to training data.</a:t>
            </a:r>
          </a:p>
          <a:p>
            <a:pPr>
              <a:buFont typeface="Arial" panose="020B0604020202020204" pitchFamily="34" charset="0"/>
              <a:buChar char="•"/>
            </a:pPr>
            <a:r>
              <a:rPr lang="en-US" sz="2000" dirty="0"/>
              <a:t>In anomaly detection, the choice of features is very important, because the algorithm learns what is “normal” based on these features.</a:t>
            </a:r>
          </a:p>
          <a:p>
            <a:r>
              <a:rPr lang="en-US" sz="2000" b="1" dirty="0"/>
              <a:t>Link to next topic:</a:t>
            </a:r>
            <a:br>
              <a:rPr lang="en-US" sz="2000" dirty="0"/>
            </a:br>
            <a:r>
              <a:rPr lang="en-US" sz="2000" dirty="0"/>
              <a:t>Since features play a critical role in anomaly detection, the next section will focus on practical tips for selecting and tuning features to improve the performance of the anomaly detection system.</a:t>
            </a:r>
          </a:p>
        </p:txBody>
      </p:sp>
      <p:sp>
        <p:nvSpPr>
          <p:cNvPr id="2" name="TextBox 1">
            <a:extLst>
              <a:ext uri="{FF2B5EF4-FFF2-40B4-BE49-F238E27FC236}">
                <a16:creationId xmlns:a16="http://schemas.microsoft.com/office/drawing/2014/main" id="{1882AC6A-CD9F-AB43-A464-1503038560FE}"/>
              </a:ext>
            </a:extLst>
          </p:cNvPr>
          <p:cNvSpPr txBox="1"/>
          <p:nvPr/>
        </p:nvSpPr>
        <p:spPr>
          <a:xfrm>
            <a:off x="762000" y="264676"/>
            <a:ext cx="1476686" cy="584775"/>
          </a:xfrm>
          <a:prstGeom prst="rect">
            <a:avLst/>
          </a:prstGeom>
          <a:noFill/>
        </p:spPr>
        <p:txBody>
          <a:bodyPr wrap="none" rtlCol="0">
            <a:spAutoFit/>
          </a:bodyPr>
          <a:lstStyle/>
          <a:p>
            <a:pPr marL="0" algn="r" defTabSz="914400" rtl="1" eaLnBrk="1" latinLnBrk="0" hangingPunct="1"/>
            <a:r>
              <a:rPr lang="en-US" sz="3200" dirty="0">
                <a:solidFill>
                  <a:srgbClr val="C00000"/>
                </a:solidFill>
              </a:rPr>
              <a:t>Sum-up</a:t>
            </a:r>
            <a:endParaRPr lang="en-IL" sz="3200" dirty="0">
              <a:solidFill>
                <a:srgbClr val="C00000"/>
              </a:solidFill>
            </a:endParaRPr>
          </a:p>
        </p:txBody>
      </p:sp>
    </p:spTree>
    <p:extLst>
      <p:ext uri="{BB962C8B-B14F-4D97-AF65-F5344CB8AC3E}">
        <p14:creationId xmlns:p14="http://schemas.microsoft.com/office/powerpoint/2010/main" val="35737484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57789" y="1570735"/>
            <a:ext cx="3331210" cy="436880"/>
          </a:xfrm>
          <a:prstGeom prst="rect">
            <a:avLst/>
          </a:prstGeom>
        </p:spPr>
        <p:txBody>
          <a:bodyPr vert="horz" wrap="square" lIns="0" tIns="12700" rIns="0" bIns="0" rtlCol="0">
            <a:spAutoFit/>
          </a:bodyPr>
          <a:lstStyle/>
          <a:p>
            <a:pPr marL="12700">
              <a:lnSpc>
                <a:spcPct val="100000"/>
              </a:lnSpc>
              <a:spcBef>
                <a:spcPts val="100"/>
              </a:spcBef>
            </a:pPr>
            <a:r>
              <a:rPr sz="2700" spc="-75" dirty="0">
                <a:solidFill>
                  <a:srgbClr val="8C1515"/>
                </a:solidFill>
                <a:latin typeface="Arial Black"/>
                <a:cs typeface="Arial Black"/>
              </a:rPr>
              <a:t>Anomaly</a:t>
            </a:r>
            <a:r>
              <a:rPr sz="2700" spc="-240" dirty="0">
                <a:solidFill>
                  <a:srgbClr val="8C1515"/>
                </a:solidFill>
                <a:latin typeface="Arial Black"/>
                <a:cs typeface="Arial Black"/>
              </a:rPr>
              <a:t> </a:t>
            </a:r>
            <a:r>
              <a:rPr sz="2700" spc="-155" dirty="0">
                <a:solidFill>
                  <a:srgbClr val="8C1515"/>
                </a:solidFill>
                <a:latin typeface="Arial Black"/>
                <a:cs typeface="Arial Black"/>
              </a:rPr>
              <a:t>Detection</a:t>
            </a:r>
            <a:endParaRPr sz="2700">
              <a:latin typeface="Arial Black"/>
              <a:cs typeface="Arial Black"/>
            </a:endParaRPr>
          </a:p>
        </p:txBody>
      </p:sp>
      <p:sp>
        <p:nvSpPr>
          <p:cNvPr id="3" name="object 3"/>
          <p:cNvSpPr txBox="1"/>
          <p:nvPr/>
        </p:nvSpPr>
        <p:spPr>
          <a:xfrm>
            <a:off x="3236493" y="3126231"/>
            <a:ext cx="4952365" cy="406400"/>
          </a:xfrm>
          <a:prstGeom prst="rect">
            <a:avLst/>
          </a:prstGeom>
        </p:spPr>
        <p:txBody>
          <a:bodyPr vert="horz" wrap="square" lIns="0" tIns="12700" rIns="0" bIns="0" rtlCol="0">
            <a:spAutoFit/>
          </a:bodyPr>
          <a:lstStyle/>
          <a:p>
            <a:pPr marL="12700">
              <a:lnSpc>
                <a:spcPct val="100000"/>
              </a:lnSpc>
              <a:spcBef>
                <a:spcPts val="100"/>
              </a:spcBef>
            </a:pPr>
            <a:r>
              <a:rPr sz="2500" b="1" spc="80" dirty="0">
                <a:solidFill>
                  <a:srgbClr val="404040"/>
                </a:solidFill>
                <a:latin typeface="Arial"/>
                <a:cs typeface="Arial"/>
              </a:rPr>
              <a:t>Choosing</a:t>
            </a:r>
            <a:r>
              <a:rPr sz="2500" b="1" spc="-105" dirty="0">
                <a:solidFill>
                  <a:srgbClr val="404040"/>
                </a:solidFill>
                <a:latin typeface="Arial"/>
                <a:cs typeface="Arial"/>
              </a:rPr>
              <a:t> </a:t>
            </a:r>
            <a:r>
              <a:rPr sz="2500" b="1" spc="180" dirty="0">
                <a:solidFill>
                  <a:srgbClr val="404040"/>
                </a:solidFill>
                <a:latin typeface="Arial"/>
                <a:cs typeface="Arial"/>
              </a:rPr>
              <a:t>what</a:t>
            </a:r>
            <a:r>
              <a:rPr sz="2500" b="1" spc="-100" dirty="0">
                <a:solidFill>
                  <a:srgbClr val="404040"/>
                </a:solidFill>
                <a:latin typeface="Arial"/>
                <a:cs typeface="Arial"/>
              </a:rPr>
              <a:t> </a:t>
            </a:r>
            <a:r>
              <a:rPr sz="2500" b="1" spc="110" dirty="0">
                <a:solidFill>
                  <a:srgbClr val="404040"/>
                </a:solidFill>
                <a:latin typeface="Arial"/>
                <a:cs typeface="Arial"/>
              </a:rPr>
              <a:t>features</a:t>
            </a:r>
            <a:r>
              <a:rPr sz="2500" b="1" spc="-105" dirty="0">
                <a:solidFill>
                  <a:srgbClr val="404040"/>
                </a:solidFill>
                <a:latin typeface="Arial"/>
                <a:cs typeface="Arial"/>
              </a:rPr>
              <a:t> </a:t>
            </a:r>
            <a:r>
              <a:rPr sz="2500" b="1" spc="105" dirty="0">
                <a:solidFill>
                  <a:srgbClr val="404040"/>
                </a:solidFill>
                <a:latin typeface="Arial"/>
                <a:cs typeface="Arial"/>
              </a:rPr>
              <a:t>to</a:t>
            </a:r>
            <a:r>
              <a:rPr sz="2500" b="1" spc="-100" dirty="0">
                <a:solidFill>
                  <a:srgbClr val="404040"/>
                </a:solidFill>
                <a:latin typeface="Arial"/>
                <a:cs typeface="Arial"/>
              </a:rPr>
              <a:t> </a:t>
            </a:r>
            <a:r>
              <a:rPr sz="2500" b="1" spc="80" dirty="0">
                <a:solidFill>
                  <a:srgbClr val="404040"/>
                </a:solidFill>
                <a:latin typeface="Arial"/>
                <a:cs typeface="Arial"/>
              </a:rPr>
              <a:t>use</a:t>
            </a:r>
            <a:endParaRPr sz="2500">
              <a:latin typeface="Arial"/>
              <a:cs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45FE6B-A82B-D744-8C3B-D40B7F1D814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52400" y="247768"/>
            <a:ext cx="8229600" cy="4076582"/>
          </a:xfrm>
          <a:prstGeom prst="rect">
            <a:avLst/>
          </a:prstGeom>
        </p:spPr>
      </p:pic>
    </p:spTree>
    <p:extLst>
      <p:ext uri="{BB962C8B-B14F-4D97-AF65-F5344CB8AC3E}">
        <p14:creationId xmlns:p14="http://schemas.microsoft.com/office/powerpoint/2010/main" val="40466202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889F5D-0FB4-5348-8C7C-82000A3F4E5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8100" y="133832"/>
            <a:ext cx="7124700" cy="4419118"/>
          </a:xfrm>
          <a:prstGeom prst="rect">
            <a:avLst/>
          </a:prstGeom>
        </p:spPr>
      </p:pic>
    </p:spTree>
    <p:extLst>
      <p:ext uri="{BB962C8B-B14F-4D97-AF65-F5344CB8AC3E}">
        <p14:creationId xmlns:p14="http://schemas.microsoft.com/office/powerpoint/2010/main" val="10853847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123E2C-5005-F444-BECC-7BA2345048A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533400" y="2720"/>
            <a:ext cx="5105400" cy="4555117"/>
          </a:xfrm>
          <a:prstGeom prst="rect">
            <a:avLst/>
          </a:prstGeom>
        </p:spPr>
      </p:pic>
    </p:spTree>
    <p:extLst>
      <p:ext uri="{BB962C8B-B14F-4D97-AF65-F5344CB8AC3E}">
        <p14:creationId xmlns:p14="http://schemas.microsoft.com/office/powerpoint/2010/main" val="21189419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203D37-F746-5D48-A931-25059EFDDF1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1219200" y="13607"/>
            <a:ext cx="4876800" cy="4475544"/>
          </a:xfrm>
          <a:prstGeom prst="rect">
            <a:avLst/>
          </a:prstGeom>
        </p:spPr>
      </p:pic>
    </p:spTree>
    <p:extLst>
      <p:ext uri="{BB962C8B-B14F-4D97-AF65-F5344CB8AC3E}">
        <p14:creationId xmlns:p14="http://schemas.microsoft.com/office/powerpoint/2010/main" val="10146839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7B7E4A-DF07-4446-B70C-696CDFB993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09550"/>
            <a:ext cx="7620000" cy="4254276"/>
          </a:xfrm>
          <a:prstGeom prst="rect">
            <a:avLst/>
          </a:prstGeom>
        </p:spPr>
      </p:pic>
    </p:spTree>
    <p:extLst>
      <p:ext uri="{BB962C8B-B14F-4D97-AF65-F5344CB8AC3E}">
        <p14:creationId xmlns:p14="http://schemas.microsoft.com/office/powerpoint/2010/main" val="6230210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3E38CB-E4E9-BD48-A5D8-A5F0641A7F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09550"/>
            <a:ext cx="7772400" cy="4159144"/>
          </a:xfrm>
          <a:prstGeom prst="rect">
            <a:avLst/>
          </a:prstGeom>
        </p:spPr>
      </p:pic>
    </p:spTree>
    <p:extLst>
      <p:ext uri="{BB962C8B-B14F-4D97-AF65-F5344CB8AC3E}">
        <p14:creationId xmlns:p14="http://schemas.microsoft.com/office/powerpoint/2010/main" val="834460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6224</TotalTime>
  <Words>13331</Words>
  <Application>Microsoft Macintosh PowerPoint</Application>
  <PresentationFormat>On-screen Show (16:9)</PresentationFormat>
  <Paragraphs>535</Paragraphs>
  <Slides>77</Slides>
  <Notes>75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77</vt:i4>
      </vt:variant>
    </vt:vector>
  </HeadingPairs>
  <TitlesOfParts>
    <vt:vector size="87" baseType="lpstr">
      <vt:lpstr>Arial</vt:lpstr>
      <vt:lpstr>Arial Black</vt:lpstr>
      <vt:lpstr>Calibri</vt:lpstr>
      <vt:lpstr>DejaVu Sans</vt:lpstr>
      <vt:lpstr>Symbol</vt:lpstr>
      <vt:lpstr>ui-sans-serif</vt:lpstr>
      <vt:lpstr>UKIJ Tughra</vt:lpstr>
      <vt:lpstr>Verdana</vt:lpstr>
      <vt:lpstr>Wingdings</vt:lpstr>
      <vt:lpstr>Office Theme</vt:lpstr>
      <vt:lpstr>PowerPoint Presentation</vt:lpstr>
      <vt:lpstr>Beyond Supervised Learning</vt:lpstr>
      <vt:lpstr>Clustering – Content</vt:lpstr>
      <vt:lpstr>Clustering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K-means Summary and Next Step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Sum-up</vt:lpstr>
      <vt:lpstr>Clustering </vt:lpstr>
      <vt:lpstr>PowerPoint Presentation</vt:lpstr>
      <vt:lpstr>PowerPoint Presentation</vt:lpstr>
      <vt:lpstr>PowerPoint Presentation</vt:lpstr>
      <vt:lpstr>PowerPoint Presentation</vt:lpstr>
      <vt:lpstr>PowerPoint Presentation</vt:lpstr>
      <vt:lpstr>PowerPoint Presentation</vt:lpstr>
      <vt:lpstr>Clustering</vt:lpstr>
      <vt:lpstr>What is the right value of 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Anomaly Detection</vt:lpstr>
      <vt:lpstr>PowerPoint Presentation</vt:lpstr>
      <vt:lpstr>PowerPoint Presentation</vt:lpstr>
      <vt:lpstr>PowerPoint Presentation</vt:lpstr>
      <vt:lpstr>PowerPoint Presentation</vt:lpstr>
      <vt:lpstr>Anomaly Detection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Copyright Notice</dc:title>
  <cp:lastModifiedBy>Khalid Said Hussien Rabaya</cp:lastModifiedBy>
  <cp:revision>72</cp:revision>
  <dcterms:created xsi:type="dcterms:W3CDTF">2023-10-27T19:00:20Z</dcterms:created>
  <dcterms:modified xsi:type="dcterms:W3CDTF">2026-02-26T15:18:56Z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2022-08-04T00:00:00Z</vt:filetime>
  </property>
  <property fmtid="{D5CDD505-2E9C-101B-9397-08002B2CF9AE}" pid="3" name="LastSaved">
    <vt:filetime>2023-10-27T00:00:00Z</vt:filetime>
  </property>
</Properties>
</file>