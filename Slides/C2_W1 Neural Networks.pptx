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7"/>
  </p:notesMasterIdLst>
  <p:sldIdLst>
    <p:sldId id="257" r:id="rId2"/>
    <p:sldId id="258" r:id="rId3"/>
    <p:sldId id="376" r:id="rId4"/>
    <p:sldId id="262" r:id="rId5"/>
    <p:sldId id="263" r:id="rId6"/>
    <p:sldId id="296" r:id="rId7"/>
    <p:sldId id="299" r:id="rId8"/>
    <p:sldId id="298" r:id="rId9"/>
    <p:sldId id="301" r:id="rId10"/>
    <p:sldId id="300" r:id="rId11"/>
    <p:sldId id="302" r:id="rId12"/>
    <p:sldId id="303" r:id="rId13"/>
    <p:sldId id="264" r:id="rId14"/>
    <p:sldId id="304" r:id="rId15"/>
    <p:sldId id="306" r:id="rId16"/>
    <p:sldId id="307" r:id="rId17"/>
    <p:sldId id="308" r:id="rId18"/>
    <p:sldId id="305" r:id="rId19"/>
    <p:sldId id="265" r:id="rId20"/>
    <p:sldId id="348" r:id="rId21"/>
    <p:sldId id="266" r:id="rId22"/>
    <p:sldId id="267" r:id="rId23"/>
    <p:sldId id="315" r:id="rId24"/>
    <p:sldId id="268" r:id="rId25"/>
    <p:sldId id="269" r:id="rId26"/>
    <p:sldId id="270" r:id="rId27"/>
    <p:sldId id="317" r:id="rId28"/>
    <p:sldId id="271" r:id="rId29"/>
    <p:sldId id="272" r:id="rId30"/>
    <p:sldId id="318" r:id="rId31"/>
    <p:sldId id="319" r:id="rId32"/>
    <p:sldId id="320" r:id="rId33"/>
    <p:sldId id="321" r:id="rId34"/>
    <p:sldId id="322" r:id="rId35"/>
    <p:sldId id="323" r:id="rId36"/>
    <p:sldId id="324" r:id="rId37"/>
    <p:sldId id="325" r:id="rId38"/>
    <p:sldId id="326" r:id="rId39"/>
    <p:sldId id="327" r:id="rId40"/>
    <p:sldId id="328" r:id="rId41"/>
    <p:sldId id="329" r:id="rId42"/>
    <p:sldId id="330" r:id="rId43"/>
    <p:sldId id="331" r:id="rId44"/>
    <p:sldId id="332" r:id="rId45"/>
    <p:sldId id="333" r:id="rId46"/>
    <p:sldId id="334" r:id="rId47"/>
    <p:sldId id="335" r:id="rId48"/>
    <p:sldId id="337" r:id="rId49"/>
    <p:sldId id="336" r:id="rId50"/>
    <p:sldId id="338" r:id="rId51"/>
    <p:sldId id="339" r:id="rId52"/>
    <p:sldId id="340" r:id="rId53"/>
    <p:sldId id="341" r:id="rId54"/>
    <p:sldId id="342" r:id="rId55"/>
    <p:sldId id="343" r:id="rId56"/>
    <p:sldId id="344" r:id="rId57"/>
    <p:sldId id="345" r:id="rId58"/>
    <p:sldId id="346" r:id="rId59"/>
    <p:sldId id="347" r:id="rId60"/>
    <p:sldId id="349" r:id="rId61"/>
    <p:sldId id="350" r:id="rId62"/>
    <p:sldId id="351" r:id="rId63"/>
    <p:sldId id="352" r:id="rId64"/>
    <p:sldId id="353" r:id="rId65"/>
    <p:sldId id="354" r:id="rId66"/>
    <p:sldId id="355" r:id="rId67"/>
    <p:sldId id="356" r:id="rId68"/>
    <p:sldId id="357" r:id="rId69"/>
    <p:sldId id="358" r:id="rId70"/>
    <p:sldId id="359" r:id="rId71"/>
    <p:sldId id="360" r:id="rId72"/>
    <p:sldId id="362" r:id="rId73"/>
    <p:sldId id="363" r:id="rId74"/>
    <p:sldId id="364" r:id="rId75"/>
    <p:sldId id="365" r:id="rId76"/>
    <p:sldId id="366" r:id="rId77"/>
    <p:sldId id="367" r:id="rId78"/>
    <p:sldId id="368" r:id="rId79"/>
    <p:sldId id="369" r:id="rId80"/>
    <p:sldId id="370" r:id="rId81"/>
    <p:sldId id="371" r:id="rId82"/>
    <p:sldId id="372" r:id="rId83"/>
    <p:sldId id="373" r:id="rId84"/>
    <p:sldId id="374" r:id="rId85"/>
    <p:sldId id="375" r:id="rId86"/>
  </p:sldIdLst>
  <p:sldSz cx="9144000" cy="5143500" type="screen16x9"/>
  <p:notesSz cx="5143500" cy="9144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111A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14"/>
    <p:restoredTop sz="87127"/>
  </p:normalViewPr>
  <p:slideViewPr>
    <p:cSldViewPr>
      <p:cViewPr varScale="1">
        <p:scale>
          <a:sx n="121" d="100"/>
          <a:sy n="121" d="100"/>
        </p:scale>
        <p:origin x="2152" y="16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90" d="100"/>
        <a:sy n="190" d="100"/>
      </p:scale>
      <p:origin x="0" y="0"/>
    </p:cViewPr>
  </p:sorterViewPr>
  <p:notesViewPr>
    <p:cSldViewPr>
      <p:cViewPr>
        <p:scale>
          <a:sx n="170" d="100"/>
          <a:sy n="170" d="100"/>
        </p:scale>
        <p:origin x="3592" y="-72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85750" y="152400"/>
            <a:ext cx="4572000" cy="3006527"/>
          </a:xfrm>
          <a:prstGeom prst="rect">
            <a:avLst/>
          </a:prstGeom>
          <a:noFill/>
          <a:ln w="12700">
            <a:solidFill>
              <a:prstClr val="black"/>
            </a:solidFill>
          </a:ln>
        </p:spPr>
        <p:txBody>
          <a:bodyPr vert="horz" lIns="91440" tIns="45720" rIns="91440" bIns="45720" rtlCol="0" anchor="ctr"/>
          <a:lstStyle/>
          <a:p>
            <a:pPr marL="0" algn="l" defTabSz="914400" rtl="1" eaLnBrk="1" latinLnBrk="0" hangingPunct="1"/>
            <a:endParaRPr lang="en-IL"/>
          </a:p>
        </p:txBody>
      </p:sp>
      <p:sp>
        <p:nvSpPr>
          <p:cNvPr id="5" name="Notes Placeholder 4"/>
          <p:cNvSpPr>
            <a:spLocks noGrp="1"/>
          </p:cNvSpPr>
          <p:nvPr>
            <p:ph type="body" sz="quarter" idx="3"/>
          </p:nvPr>
        </p:nvSpPr>
        <p:spPr>
          <a:xfrm>
            <a:off x="171450" y="3352800"/>
            <a:ext cx="4800600" cy="5638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Tree>
    <p:extLst>
      <p:ext uri="{BB962C8B-B14F-4D97-AF65-F5344CB8AC3E}">
        <p14:creationId xmlns:p14="http://schemas.microsoft.com/office/powerpoint/2010/main" val="1754231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152400"/>
            <a:ext cx="5283201" cy="2971800"/>
          </a:xfrm>
        </p:spPr>
      </p:sp>
      <p:sp>
        <p:nvSpPr>
          <p:cNvPr id="3" name="Notes Placeholder 2"/>
          <p:cNvSpPr>
            <a:spLocks noGrp="1"/>
          </p:cNvSpPr>
          <p:nvPr>
            <p:ph type="body" idx="1"/>
          </p:nvPr>
        </p:nvSpPr>
        <p:spPr/>
        <p:txBody>
          <a:bodyPr/>
          <a:lstStyle/>
          <a:p>
            <a:r>
              <a:rPr lang="en-US" b="1" dirty="0"/>
              <a:t>Neural Networks – An Evolution of Machine Learning</a:t>
            </a:r>
          </a:p>
          <a:p>
            <a:r>
              <a:rPr lang="en-US" dirty="0"/>
              <a:t>Machine learning started with simple models such as </a:t>
            </a:r>
            <a:r>
              <a:rPr lang="en-US" b="1" dirty="0"/>
              <a:t>linear regression</a:t>
            </a:r>
            <a:r>
              <a:rPr lang="en-US" dirty="0"/>
              <a:t> and </a:t>
            </a:r>
            <a:r>
              <a:rPr lang="en-US" b="1" dirty="0"/>
              <a:t>logistic regression</a:t>
            </a:r>
            <a:r>
              <a:rPr lang="en-US" dirty="0"/>
              <a:t>, where we manually designed features and asked the model to learn the best weights. These models work well for simple problems, but they struggle when the data becomes </a:t>
            </a:r>
            <a:r>
              <a:rPr lang="en-US" b="1" dirty="0"/>
              <a:t>large, complex, or unstructured</a:t>
            </a:r>
            <a:r>
              <a:rPr lang="en-US" dirty="0"/>
              <a:t>, such as images, speech, and text.</a:t>
            </a:r>
          </a:p>
          <a:p>
            <a:r>
              <a:rPr lang="en-US" dirty="0"/>
              <a:t>As real-world problems became more complex, traditional machine learning models reached their limits. Tasks like recognizing faces, understanding spoken language, or translating text are very difficult to solve using hand-crafted rules or shallow models. We needed models that could </a:t>
            </a:r>
            <a:r>
              <a:rPr lang="en-US" b="1" dirty="0"/>
              <a:t>automatically learn complex patterns</a:t>
            </a:r>
            <a:r>
              <a:rPr lang="en-US" dirty="0"/>
              <a:t> directly from data.</a:t>
            </a:r>
          </a:p>
          <a:p>
            <a:r>
              <a:rPr lang="en-US" dirty="0"/>
              <a:t>Neural networks were introduced as the next step in this evolution. Instead of using one simple equation, neural networks </a:t>
            </a:r>
            <a:r>
              <a:rPr lang="en-US" b="1" dirty="0"/>
              <a:t>stack many layers of simple models together</a:t>
            </a:r>
            <a:r>
              <a:rPr lang="en-US" dirty="0"/>
              <a:t>. Each layer learns a different level of representation, starting from simple patterns and gradually building more meaningful features.</a:t>
            </a:r>
          </a:p>
          <a:p>
            <a:r>
              <a:rPr lang="en-US" dirty="0"/>
              <a:t>In this chapter, we will see how neural networks extend what we already know from logistic regression. We will learn how adding layers, nonlinear activation functions, and more parameters allows models to become </a:t>
            </a:r>
            <a:r>
              <a:rPr lang="en-US" b="1" dirty="0"/>
              <a:t>more powerful, more flexible, and better suited for modern AI applications</a:t>
            </a:r>
            <a:r>
              <a:rPr lang="en-US" dirty="0"/>
              <a:t>.</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1</a:t>
            </a:fld>
            <a:endParaRPr lang="en-IL"/>
          </a:p>
        </p:txBody>
      </p:sp>
    </p:spTree>
    <p:extLst>
      <p:ext uri="{BB962C8B-B14F-4D97-AF65-F5344CB8AC3E}">
        <p14:creationId xmlns:p14="http://schemas.microsoft.com/office/powerpoint/2010/main" val="4097058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Neural Networks: Origins and Historical Development</a:t>
            </a:r>
          </a:p>
          <a:p>
            <a:r>
              <a:rPr lang="en-US" dirty="0"/>
              <a:t>Neural networks started as an idea inspired by the </a:t>
            </a:r>
            <a:r>
              <a:rPr lang="en-US" b="1" dirty="0"/>
              <a:t>human brain</a:t>
            </a:r>
            <a:r>
              <a:rPr lang="en-US" dirty="0"/>
              <a:t>. Researchers asked a simple question: </a:t>
            </a:r>
            <a:r>
              <a:rPr lang="en-US" i="1" dirty="0"/>
              <a:t>Can we design algorithms that learn in a way similar to how neurons in the brain work?</a:t>
            </a:r>
            <a:r>
              <a:rPr lang="en-US" dirty="0"/>
              <a:t> This idea led to early models that tried to imitate how biological neurons receive signals, process them, and produce outputs.</a:t>
            </a:r>
          </a:p>
          <a:p>
            <a:r>
              <a:rPr lang="en-US" dirty="0"/>
              <a:t>Neural networks were first actively used in the </a:t>
            </a:r>
            <a:r>
              <a:rPr lang="en-US" b="1" dirty="0"/>
              <a:t>1980s and early 1990s</a:t>
            </a:r>
            <a:r>
              <a:rPr lang="en-US" dirty="0"/>
              <a:t>. At that time, they showed promise, but they faced serious limitations. Computers were slow, datasets were small, and training deep models was very difficult. Because of these challenges, neural networks </a:t>
            </a:r>
            <a:r>
              <a:rPr lang="en-US" b="1" dirty="0"/>
              <a:t>fell out of favor in the late 1990s</a:t>
            </a:r>
            <a:r>
              <a:rPr lang="en-US" dirty="0"/>
              <a:t>, and many researchers returned to simpler machine learning models.</a:t>
            </a:r>
          </a:p>
          <a:p>
            <a:r>
              <a:rPr lang="en-US" dirty="0"/>
              <a:t>Around </a:t>
            </a:r>
            <a:r>
              <a:rPr lang="en-US" b="1" dirty="0"/>
              <a:t>2005</a:t>
            </a:r>
            <a:r>
              <a:rPr lang="en-US" dirty="0"/>
              <a:t>, neural networks made a strong comeback. This resurgence happened because three key things changed: we had much </a:t>
            </a:r>
            <a:r>
              <a:rPr lang="en-US" b="1" dirty="0"/>
              <a:t>more data</a:t>
            </a:r>
            <a:r>
              <a:rPr lang="en-US" dirty="0"/>
              <a:t>, much </a:t>
            </a:r>
            <a:r>
              <a:rPr lang="en-US" b="1" dirty="0"/>
              <a:t>faster computers (GPUs)</a:t>
            </a:r>
            <a:r>
              <a:rPr lang="en-US" dirty="0"/>
              <a:t>, and </a:t>
            </a:r>
            <a:r>
              <a:rPr lang="en-US" b="1" dirty="0"/>
              <a:t>better training algorithms</a:t>
            </a:r>
            <a:r>
              <a:rPr lang="en-US" dirty="0"/>
              <a:t>. These advances made it possible to train larger and deeper networks effectively.</a:t>
            </a:r>
          </a:p>
          <a:p>
            <a:r>
              <a:rPr lang="en-US" dirty="0"/>
              <a:t>Since then, neural networks have achieved major breakthroughs in </a:t>
            </a:r>
            <a:r>
              <a:rPr lang="en-US" b="1" dirty="0"/>
              <a:t>speech recognition</a:t>
            </a:r>
            <a:r>
              <a:rPr lang="en-US" dirty="0"/>
              <a:t>, then </a:t>
            </a:r>
            <a:r>
              <a:rPr lang="en-US" b="1" dirty="0"/>
              <a:t>image recognition</a:t>
            </a:r>
            <a:r>
              <a:rPr lang="en-US" dirty="0"/>
              <a:t>, and later </a:t>
            </a:r>
            <a:r>
              <a:rPr lang="en-US" b="1" dirty="0"/>
              <a:t>text and natural language processing (NLP)</a:t>
            </a:r>
            <a:r>
              <a:rPr lang="en-US" dirty="0"/>
              <a:t>. Today, they are the core technology behind modern AI systems, and their applications continue to expand into many other fields.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2</a:t>
            </a:fld>
            <a:endParaRPr lang="en-IL"/>
          </a:p>
        </p:txBody>
      </p:sp>
    </p:spTree>
    <p:extLst>
      <p:ext uri="{BB962C8B-B14F-4D97-AF65-F5344CB8AC3E}">
        <p14:creationId xmlns:p14="http://schemas.microsoft.com/office/powerpoint/2010/main" val="3536755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Biological Neuron: How the Brain Processes Information</a:t>
            </a:r>
          </a:p>
          <a:p>
            <a:r>
              <a:rPr lang="en-US" dirty="0"/>
              <a:t>This slide shows a </a:t>
            </a:r>
            <a:r>
              <a:rPr lang="en-US" b="1" dirty="0"/>
              <a:t>biological neuron</a:t>
            </a:r>
            <a:r>
              <a:rPr lang="en-US" dirty="0"/>
              <a:t>, which is the basic building block of the human brain. A neuron’s job is to </a:t>
            </a:r>
            <a:r>
              <a:rPr lang="en-US" b="1" dirty="0"/>
              <a:t>receive information</a:t>
            </a:r>
            <a:r>
              <a:rPr lang="en-US" dirty="0"/>
              <a:t>, </a:t>
            </a:r>
            <a:r>
              <a:rPr lang="en-US" b="1" dirty="0"/>
              <a:t>process it</a:t>
            </a:r>
            <a:r>
              <a:rPr lang="en-US" dirty="0"/>
              <a:t>, and then </a:t>
            </a:r>
            <a:r>
              <a:rPr lang="en-US" b="1" dirty="0"/>
              <a:t>send an output signal</a:t>
            </a:r>
            <a:r>
              <a:rPr lang="en-US" dirty="0"/>
              <a:t> to other neurons. This simple idea is the inspiration behind artificial neural networks.</a:t>
            </a:r>
          </a:p>
          <a:p>
            <a:r>
              <a:rPr lang="en-US" dirty="0"/>
              <a:t>The </a:t>
            </a:r>
            <a:r>
              <a:rPr lang="en-US" b="1" dirty="0"/>
              <a:t>inputs</a:t>
            </a:r>
            <a:r>
              <a:rPr lang="en-US" dirty="0"/>
              <a:t> to the neuron come through the </a:t>
            </a:r>
            <a:r>
              <a:rPr lang="en-US" b="1" dirty="0"/>
              <a:t>dendrites</a:t>
            </a:r>
            <a:r>
              <a:rPr lang="en-US" dirty="0"/>
              <a:t>. These are like small branches that receive signals from other neurons. Each signal can be strong or weak, and many signals arrive at the neuron at the same time. The neuron does not react to just one input; it considers </a:t>
            </a:r>
            <a:r>
              <a:rPr lang="en-US" b="1" dirty="0"/>
              <a:t>all inputs together</a:t>
            </a:r>
            <a:r>
              <a:rPr lang="en-US" dirty="0"/>
              <a:t>.</a:t>
            </a:r>
          </a:p>
          <a:p>
            <a:r>
              <a:rPr lang="en-US" dirty="0"/>
              <a:t>Inside the neuron, these input signals are combined in the </a:t>
            </a:r>
            <a:r>
              <a:rPr lang="en-US" b="1" dirty="0"/>
              <a:t>cell body (soma)</a:t>
            </a:r>
            <a:r>
              <a:rPr lang="en-US" dirty="0"/>
              <a:t>. Here, the neuron decides whether the total signal is strong enough to take action. If the combined input passes a certain threshold, the neuron becomes active. If it does not, the neuron stays quiet. This idea of combining inputs and making a decision is </a:t>
            </a:r>
            <a:r>
              <a:rPr lang="en-US" b="1" dirty="0"/>
              <a:t>very important</a:t>
            </a:r>
            <a:r>
              <a:rPr lang="en-US" dirty="0"/>
              <a:t> in machine learning.</a:t>
            </a:r>
          </a:p>
          <a:p>
            <a:r>
              <a:rPr lang="en-US" dirty="0"/>
              <a:t>If the neuron activates, it sends an </a:t>
            </a:r>
            <a:r>
              <a:rPr lang="en-US" b="1" dirty="0"/>
              <a:t>output signal</a:t>
            </a:r>
            <a:r>
              <a:rPr lang="en-US" dirty="0"/>
              <a:t> through the </a:t>
            </a:r>
            <a:r>
              <a:rPr lang="en-US" b="1" dirty="0"/>
              <a:t>axon</a:t>
            </a:r>
            <a:r>
              <a:rPr lang="en-US" dirty="0"/>
              <a:t>. This output travels to other neurons and affects them. In this way, information flows through the brain as a network of connected neurons, where each neuron performs a small, simple computation.</a:t>
            </a:r>
          </a:p>
          <a:p>
            <a:r>
              <a:rPr lang="en-US" dirty="0"/>
              <a:t>Neural networks in machine learning are inspired by this process. Just like biological neurons, artificial neurons take inputs, combine them, apply a decision rule, and produce an output. By connecting many such neurons together, we can build powerful models that learn complex patterns from data.</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4</a:t>
            </a:fld>
            <a:endParaRPr lang="en-IL"/>
          </a:p>
        </p:txBody>
      </p:sp>
    </p:spTree>
    <p:extLst>
      <p:ext uri="{BB962C8B-B14F-4D97-AF65-F5344CB8AC3E}">
        <p14:creationId xmlns:p14="http://schemas.microsoft.com/office/powerpoint/2010/main" val="3393173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381000"/>
            <a:ext cx="5011738" cy="2819400"/>
          </a:xfrm>
        </p:spPr>
      </p:sp>
      <p:sp>
        <p:nvSpPr>
          <p:cNvPr id="3" name="Notes Placeholder 2"/>
          <p:cNvSpPr>
            <a:spLocks noGrp="1"/>
          </p:cNvSpPr>
          <p:nvPr>
            <p:ph type="body" idx="1"/>
          </p:nvPr>
        </p:nvSpPr>
        <p:spPr/>
        <p:txBody>
          <a:bodyPr/>
          <a:lstStyle/>
          <a:p>
            <a:r>
              <a:rPr lang="en-US" b="1" dirty="0"/>
              <a:t>Biological Neurons vs. Artificial Neurons</a:t>
            </a:r>
          </a:p>
          <a:p>
            <a:r>
              <a:rPr lang="en-US" dirty="0"/>
              <a:t>This slide compares how a </a:t>
            </a:r>
            <a:r>
              <a:rPr lang="en-US" b="1" dirty="0"/>
              <a:t>real neuron in the brain</a:t>
            </a:r>
            <a:r>
              <a:rPr lang="en-US" dirty="0"/>
              <a:t> works with how we model a neuron </a:t>
            </a:r>
            <a:r>
              <a:rPr lang="en-US" b="1" dirty="0"/>
              <a:t>mathematically</a:t>
            </a:r>
            <a:r>
              <a:rPr lang="en-US" dirty="0"/>
              <a:t> in neural networks. The goal is not to copy the brain exactly, but to capture the </a:t>
            </a:r>
            <a:r>
              <a:rPr lang="en-US" b="1" dirty="0"/>
              <a:t>main idea of information processing</a:t>
            </a:r>
            <a:r>
              <a:rPr lang="en-US" dirty="0"/>
              <a:t> in a simple and useful way.</a:t>
            </a:r>
          </a:p>
          <a:p>
            <a:r>
              <a:rPr lang="en-US" dirty="0"/>
              <a:t>A </a:t>
            </a:r>
            <a:r>
              <a:rPr lang="en-US" b="1" dirty="0"/>
              <a:t>biological neuron</a:t>
            </a:r>
            <a:r>
              <a:rPr lang="en-US" dirty="0"/>
              <a:t> receives inputs through its </a:t>
            </a:r>
            <a:r>
              <a:rPr lang="en-US" b="1" dirty="0"/>
              <a:t>dendrites</a:t>
            </a:r>
            <a:r>
              <a:rPr lang="en-US" dirty="0"/>
              <a:t>. These inputs are signals coming from other neurons. Inside the </a:t>
            </a:r>
            <a:r>
              <a:rPr lang="en-US" b="1" dirty="0"/>
              <a:t>cell body</a:t>
            </a:r>
            <a:r>
              <a:rPr lang="en-US" dirty="0"/>
              <a:t>, the neuron combines all incoming signals. If the combined signal is strong enough, the neuron becomes active and sends an </a:t>
            </a:r>
            <a:r>
              <a:rPr lang="en-US" b="1" dirty="0"/>
              <a:t>output signal</a:t>
            </a:r>
            <a:r>
              <a:rPr lang="en-US" dirty="0"/>
              <a:t> through the </a:t>
            </a:r>
            <a:r>
              <a:rPr lang="en-US" b="1" dirty="0"/>
              <a:t>axon</a:t>
            </a:r>
            <a:r>
              <a:rPr lang="en-US" dirty="0"/>
              <a:t> to another neuron. This process allows information to flow through the brain.</a:t>
            </a:r>
          </a:p>
          <a:p>
            <a:r>
              <a:rPr lang="en-US" dirty="0"/>
              <a:t>An </a:t>
            </a:r>
            <a:r>
              <a:rPr lang="en-US" b="1" dirty="0"/>
              <a:t>artificial neuron</a:t>
            </a:r>
            <a:r>
              <a:rPr lang="en-US" dirty="0"/>
              <a:t> follows the same high-level idea, but in a simplified mathematical form. Instead of biological signals, the inputs are </a:t>
            </a:r>
            <a:r>
              <a:rPr lang="en-US" b="1" dirty="0"/>
              <a:t>numbers</a:t>
            </a:r>
            <a:r>
              <a:rPr lang="en-US" dirty="0"/>
              <a:t> (for example: pixel values, prices, or sensor readings). Each input represents information coming into the neuron.</a:t>
            </a:r>
          </a:p>
          <a:p>
            <a:r>
              <a:rPr lang="en-US" dirty="0"/>
              <a:t>Inside the artificial neuron, these input numbers are combined using a mathematical rule. The neuron then produces a </a:t>
            </a:r>
            <a:r>
              <a:rPr lang="en-US" b="1" dirty="0"/>
              <a:t>single numerical output</a:t>
            </a:r>
            <a:r>
              <a:rPr lang="en-US" dirty="0"/>
              <a:t>, often a value between 0 and 1. This output is passed to the next neuron, just like signals move from one biological neuron to another.</a:t>
            </a:r>
          </a:p>
          <a:p>
            <a:r>
              <a:rPr lang="en-US" dirty="0"/>
              <a:t>The key takeaway is that </a:t>
            </a:r>
            <a:r>
              <a:rPr lang="en-US" b="1" dirty="0"/>
              <a:t>both types of neurons do the same job conceptually</a:t>
            </a:r>
            <a:r>
              <a:rPr lang="en-US" dirty="0"/>
              <a:t>: they take multiple inputs, process them together, and produce an output. By connecting many artificial neurons together, we create neural networks that can learn complex patterns from data.</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5</a:t>
            </a:fld>
            <a:endParaRPr lang="en-IL"/>
          </a:p>
        </p:txBody>
      </p:sp>
    </p:spTree>
    <p:extLst>
      <p:ext uri="{BB962C8B-B14F-4D97-AF65-F5344CB8AC3E}">
        <p14:creationId xmlns:p14="http://schemas.microsoft.com/office/powerpoint/2010/main" val="3892637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4938" y="304800"/>
            <a:ext cx="4875212" cy="2743200"/>
          </a:xfrm>
        </p:spPr>
      </p:sp>
      <p:sp>
        <p:nvSpPr>
          <p:cNvPr id="3" name="Notes Placeholder 2"/>
          <p:cNvSpPr>
            <a:spLocks noGrp="1"/>
          </p:cNvSpPr>
          <p:nvPr>
            <p:ph type="body" idx="1"/>
          </p:nvPr>
        </p:nvSpPr>
        <p:spPr/>
        <p:txBody>
          <a:bodyPr/>
          <a:lstStyle/>
          <a:p>
            <a:r>
              <a:rPr lang="en-US" b="1" dirty="0"/>
              <a:t>Why Now? Why Neural Networks Work Well Today</a:t>
            </a:r>
          </a:p>
          <a:p>
            <a:r>
              <a:rPr lang="en-US" dirty="0"/>
              <a:t>This slide explains why neural networks are successful </a:t>
            </a:r>
            <a:r>
              <a:rPr lang="en-US" b="1" dirty="0"/>
              <a:t>now</a:t>
            </a:r>
            <a:r>
              <a:rPr lang="en-US" dirty="0"/>
              <a:t>, even though the idea is old.</a:t>
            </a:r>
          </a:p>
          <a:p>
            <a:r>
              <a:rPr lang="en-US" dirty="0"/>
              <a:t>The amount of data has increased a lot in recent years (</a:t>
            </a:r>
            <a:r>
              <a:rPr lang="en-US" b="1" dirty="0"/>
              <a:t>Big Data</a:t>
            </a:r>
            <a:r>
              <a:rPr lang="en-US" dirty="0"/>
              <a:t>). At the same time, computers have become much faster, especially with </a:t>
            </a:r>
            <a:r>
              <a:rPr lang="en-US" b="1" dirty="0"/>
              <a:t>GPUs</a:t>
            </a:r>
            <a:r>
              <a:rPr lang="en-US" dirty="0"/>
              <a:t>.</a:t>
            </a:r>
          </a:p>
          <a:p>
            <a:r>
              <a:rPr lang="en-US" dirty="0"/>
              <a:t>Traditional AI models and small machine learning models improve only a little when more data is added. Their performance reaches a limit quickly.</a:t>
            </a:r>
          </a:p>
          <a:p>
            <a:r>
              <a:rPr lang="en-US" dirty="0"/>
              <a:t>Neural networks, especially </a:t>
            </a:r>
            <a:r>
              <a:rPr lang="en-US" b="1" dirty="0"/>
              <a:t>larger and deeper networks</a:t>
            </a:r>
            <a:r>
              <a:rPr lang="en-US" dirty="0"/>
              <a:t>, continue to improve as we give them more data and more computing power.</a:t>
            </a:r>
          </a:p>
          <a:p>
            <a:r>
              <a:rPr lang="en-US" b="1" dirty="0"/>
              <a:t>Key idea:</a:t>
            </a:r>
            <a:r>
              <a:rPr lang="en-US" dirty="0"/>
              <a:t> Neural networks can take advantage of </a:t>
            </a:r>
            <a:r>
              <a:rPr lang="en-US" b="1" dirty="0"/>
              <a:t>big data</a:t>
            </a:r>
            <a:r>
              <a:rPr lang="en-US" dirty="0"/>
              <a:t> and </a:t>
            </a:r>
            <a:r>
              <a:rPr lang="en-US" b="1" dirty="0"/>
              <a:t>fast computers</a:t>
            </a:r>
            <a:r>
              <a:rPr lang="en-US" dirty="0"/>
              <a:t>, which is why they perform so well today.</a:t>
            </a:r>
          </a:p>
          <a:p>
            <a:endParaRPr lang="en-IL" dirty="0"/>
          </a:p>
        </p:txBody>
      </p:sp>
    </p:spTree>
    <p:extLst>
      <p:ext uri="{BB962C8B-B14F-4D97-AF65-F5344CB8AC3E}">
        <p14:creationId xmlns:p14="http://schemas.microsoft.com/office/powerpoint/2010/main" val="1748078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152400"/>
            <a:ext cx="4957763" cy="2789238"/>
          </a:xfrm>
        </p:spPr>
      </p:sp>
      <p:sp>
        <p:nvSpPr>
          <p:cNvPr id="3" name="Notes Placeholder 2"/>
          <p:cNvSpPr>
            <a:spLocks noGrp="1"/>
          </p:cNvSpPr>
          <p:nvPr>
            <p:ph type="body" idx="1"/>
          </p:nvPr>
        </p:nvSpPr>
        <p:spPr/>
        <p:txBody>
          <a:bodyPr/>
          <a:lstStyle/>
          <a:p>
            <a:r>
              <a:rPr lang="en-US" b="1" dirty="0"/>
              <a:t>Neural Network Intuition: Demand Prediction</a:t>
            </a:r>
          </a:p>
          <a:p>
            <a:r>
              <a:rPr lang="en-US" dirty="0"/>
              <a:t>This section introduces </a:t>
            </a:r>
            <a:r>
              <a:rPr lang="en-US" b="1" dirty="0"/>
              <a:t>neural networks through intuition</a:t>
            </a:r>
            <a:r>
              <a:rPr lang="en-US" dirty="0"/>
              <a:t>, using a simple and practical example: </a:t>
            </a:r>
            <a:r>
              <a:rPr lang="en-US" b="1" dirty="0"/>
              <a:t>demand prediction</a:t>
            </a:r>
            <a:r>
              <a:rPr lang="en-US" dirty="0"/>
              <a:t>.</a:t>
            </a:r>
          </a:p>
          <a:p>
            <a:r>
              <a:rPr lang="en-US" dirty="0"/>
              <a:t>The goal is to understand </a:t>
            </a:r>
            <a:r>
              <a:rPr lang="en-US" b="1" dirty="0"/>
              <a:t>how a neural network thinks</a:t>
            </a:r>
            <a:r>
              <a:rPr lang="en-US" dirty="0"/>
              <a:t>, not to focus on formulas yet. We want to see how a network can take several inputs, combine them, and make a useful prediction.</a:t>
            </a:r>
          </a:p>
          <a:p>
            <a:r>
              <a:rPr lang="en-US" dirty="0"/>
              <a:t>Demand prediction is a good example because it is familiar and easy to understand. A neural network can look at factors such as price, marketing, or other features and decide whether the demand for a product will be </a:t>
            </a:r>
            <a:r>
              <a:rPr lang="en-US" b="1" dirty="0"/>
              <a:t>high or low</a:t>
            </a:r>
            <a:r>
              <a:rPr lang="en-US" dirty="0"/>
              <a:t>.</a:t>
            </a:r>
          </a:p>
          <a:p>
            <a:r>
              <a:rPr lang="en-US" dirty="0"/>
              <a:t>In the next slides, we will see how a neural network:</a:t>
            </a:r>
          </a:p>
          <a:p>
            <a:pPr>
              <a:buFont typeface="Arial" panose="020B0604020202020204" pitchFamily="34" charset="0"/>
              <a:buChar char="•"/>
            </a:pPr>
            <a:r>
              <a:rPr lang="en-US" dirty="0"/>
              <a:t>takes real-world inputs</a:t>
            </a:r>
          </a:p>
          <a:p>
            <a:pPr>
              <a:buFont typeface="Arial" panose="020B0604020202020204" pitchFamily="34" charset="0"/>
              <a:buChar char="•"/>
            </a:pPr>
            <a:r>
              <a:rPr lang="en-US" dirty="0"/>
              <a:t>processes them step by step</a:t>
            </a:r>
          </a:p>
          <a:p>
            <a:pPr>
              <a:buFont typeface="Arial" panose="020B0604020202020204" pitchFamily="34" charset="0"/>
              <a:buChar char="•"/>
            </a:pPr>
            <a:r>
              <a:rPr lang="en-US" dirty="0"/>
              <a:t>outputs a clear prediction</a:t>
            </a:r>
          </a:p>
          <a:p>
            <a:r>
              <a:rPr lang="en-US" dirty="0"/>
              <a:t>This example will help build intuition before moving to more complex cases like images, speech, and text.</a:t>
            </a:r>
          </a:p>
          <a:p>
            <a:endParaRPr lang="en-IL" dirty="0"/>
          </a:p>
        </p:txBody>
      </p:sp>
    </p:spTree>
    <p:extLst>
      <p:ext uri="{BB962C8B-B14F-4D97-AF65-F5344CB8AC3E}">
        <p14:creationId xmlns:p14="http://schemas.microsoft.com/office/powerpoint/2010/main" val="3216377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 y="152400"/>
            <a:ext cx="4875213" cy="2743200"/>
          </a:xfrm>
        </p:spPr>
      </p:sp>
      <p:sp>
        <p:nvSpPr>
          <p:cNvPr id="3" name="Notes Placeholder 2"/>
          <p:cNvSpPr>
            <a:spLocks noGrp="1"/>
          </p:cNvSpPr>
          <p:nvPr>
            <p:ph type="body" idx="1"/>
          </p:nvPr>
        </p:nvSpPr>
        <p:spPr/>
        <p:txBody>
          <a:bodyPr/>
          <a:lstStyle/>
          <a:p>
            <a:r>
              <a:rPr lang="en-US" b="1" dirty="0"/>
              <a:t>Demand Prediction: Neural Network Intuition (Single Neuron)</a:t>
            </a:r>
          </a:p>
          <a:p>
            <a:r>
              <a:rPr lang="en-US" dirty="0"/>
              <a:t>This slide shows how a </a:t>
            </a:r>
            <a:r>
              <a:rPr lang="en-US" b="1" dirty="0"/>
              <a:t>single neuron</a:t>
            </a:r>
            <a:r>
              <a:rPr lang="en-US" dirty="0"/>
              <a:t> can be used to solve a </a:t>
            </a:r>
            <a:r>
              <a:rPr lang="en-US" b="1" dirty="0"/>
              <a:t>demand prediction</a:t>
            </a:r>
            <a:r>
              <a:rPr lang="en-US" dirty="0"/>
              <a:t> problem. The goal is to predict whether a T-shirt will be a </a:t>
            </a:r>
            <a:r>
              <a:rPr lang="en-US" b="1" dirty="0"/>
              <a:t>top seller (yes or no)</a:t>
            </a:r>
            <a:r>
              <a:rPr lang="en-US" dirty="0"/>
              <a:t> based on its </a:t>
            </a:r>
            <a:r>
              <a:rPr lang="en-US" b="1" dirty="0"/>
              <a:t>price</a:t>
            </a:r>
            <a:r>
              <a:rPr lang="en-US" dirty="0"/>
              <a:t>.</a:t>
            </a:r>
          </a:p>
          <a:p>
            <a:r>
              <a:rPr lang="en-US" dirty="0"/>
              <a:t>The </a:t>
            </a:r>
            <a:r>
              <a:rPr lang="en-US" b="1" dirty="0"/>
              <a:t>input x</a:t>
            </a:r>
            <a:r>
              <a:rPr lang="en-US" dirty="0"/>
              <a:t> is the price of the T-shirt. This input is given to one neuron. Inside the neuron, the price is multiplied by a weight, a bias is added, and the result is passed through the </a:t>
            </a:r>
            <a:r>
              <a:rPr lang="en-US" b="1" dirty="0"/>
              <a:t>sigmoid function</a:t>
            </a:r>
            <a:r>
              <a:rPr lang="en-US" dirty="0"/>
              <a:t>.</a:t>
            </a:r>
          </a:p>
          <a:p>
            <a:r>
              <a:rPr lang="en-US" dirty="0"/>
              <a:t>The sigmoid function produces an </a:t>
            </a:r>
            <a:r>
              <a:rPr lang="en-US" b="1" dirty="0"/>
              <a:t>output a</a:t>
            </a:r>
            <a:r>
              <a:rPr lang="en-US" dirty="0"/>
              <a:t> between 0 and 1. This output is interpreted as the </a:t>
            </a:r>
            <a:r>
              <a:rPr lang="en-US" b="1" dirty="0"/>
              <a:t>probability of being a top seller</a:t>
            </a:r>
            <a:r>
              <a:rPr lang="en-US" dirty="0"/>
              <a:t>. For example, a value close to 1 means high demand, while a value close to 0 means low demand.</a:t>
            </a:r>
          </a:p>
          <a:p>
            <a:r>
              <a:rPr lang="en-US" dirty="0"/>
              <a:t>Because the output is a probability, we can apply a threshold (such as 0.5) to make a final decision:</a:t>
            </a:r>
          </a:p>
          <a:p>
            <a:pPr>
              <a:buFont typeface="Arial" panose="020B0604020202020204" pitchFamily="34" charset="0"/>
              <a:buChar char="•"/>
            </a:pPr>
            <a:r>
              <a:rPr lang="en-US" dirty="0"/>
              <a:t>a ≥ 0.5 → top seller (yes)</a:t>
            </a:r>
          </a:p>
          <a:p>
            <a:pPr>
              <a:buFont typeface="Arial" panose="020B0604020202020204" pitchFamily="34" charset="0"/>
              <a:buChar char="•"/>
            </a:pPr>
            <a:r>
              <a:rPr lang="en-US" dirty="0"/>
              <a:t>a &lt; 0.5 → not a top seller (no)</a:t>
            </a:r>
          </a:p>
          <a:p>
            <a:r>
              <a:rPr lang="en-US" dirty="0"/>
              <a:t>The key idea of this slide is that </a:t>
            </a:r>
            <a:r>
              <a:rPr lang="en-US" b="1" dirty="0"/>
              <a:t>a single neuron with a sigmoid activation is enough to perform binary classification</a:t>
            </a:r>
            <a:r>
              <a:rPr lang="en-US" dirty="0"/>
              <a:t>. This is exactly the same idea as </a:t>
            </a:r>
            <a:r>
              <a:rPr lang="en-US" b="1" dirty="0"/>
              <a:t>logistic regression</a:t>
            </a:r>
            <a:r>
              <a:rPr lang="en-US" dirty="0"/>
              <a:t>, and it is the basic building block of neural networks.</a:t>
            </a:r>
          </a:p>
          <a:p>
            <a:endParaRPr lang="en-IL" dirty="0"/>
          </a:p>
        </p:txBody>
      </p:sp>
    </p:spTree>
    <p:extLst>
      <p:ext uri="{BB962C8B-B14F-4D97-AF65-F5344CB8AC3E}">
        <p14:creationId xmlns:p14="http://schemas.microsoft.com/office/powerpoint/2010/main" val="910072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Demand Prediction: Neural Network Intuition (Multiple Neurons)</a:t>
            </a:r>
          </a:p>
          <a:p>
            <a:r>
              <a:rPr lang="en-US" dirty="0"/>
              <a:t>This slide shows how a neural network can make a </a:t>
            </a:r>
            <a:r>
              <a:rPr lang="en-US" b="1" dirty="0"/>
              <a:t>demand prediction</a:t>
            </a:r>
            <a:r>
              <a:rPr lang="en-US" dirty="0"/>
              <a:t> using </a:t>
            </a:r>
            <a:r>
              <a:rPr lang="en-US" b="1" dirty="0"/>
              <a:t>multiple inputs and multiple neurons</a:t>
            </a:r>
            <a:r>
              <a:rPr lang="en-US" dirty="0"/>
              <a:t>, instead of just one neuron.</a:t>
            </a:r>
          </a:p>
          <a:p>
            <a:r>
              <a:rPr lang="en-US" dirty="0"/>
              <a:t>The </a:t>
            </a:r>
            <a:r>
              <a:rPr lang="en-US" b="1" dirty="0"/>
              <a:t>input layer</a:t>
            </a:r>
            <a:r>
              <a:rPr lang="en-US" dirty="0"/>
              <a:t> contains several input features. In this example, the inputs are </a:t>
            </a:r>
            <a:r>
              <a:rPr lang="en-US" b="1" dirty="0"/>
              <a:t>price</a:t>
            </a:r>
            <a:r>
              <a:rPr lang="en-US" dirty="0"/>
              <a:t>, </a:t>
            </a:r>
            <a:r>
              <a:rPr lang="en-US" b="1" dirty="0"/>
              <a:t>shipping cost</a:t>
            </a:r>
            <a:r>
              <a:rPr lang="en-US" dirty="0"/>
              <a:t>, </a:t>
            </a:r>
            <a:r>
              <a:rPr lang="en-US" b="1" dirty="0"/>
              <a:t>marketing</a:t>
            </a:r>
            <a:r>
              <a:rPr lang="en-US" dirty="0"/>
              <a:t>, and </a:t>
            </a:r>
            <a:r>
              <a:rPr lang="en-US" b="1" dirty="0"/>
              <a:t>material</a:t>
            </a:r>
            <a:r>
              <a:rPr lang="en-US" dirty="0"/>
              <a:t>. These are four numbers that describe the product. Each input feature provides different information that may affect demand.</a:t>
            </a:r>
          </a:p>
          <a:p>
            <a:r>
              <a:rPr lang="en-US" dirty="0"/>
              <a:t>The next layer is a </a:t>
            </a:r>
            <a:r>
              <a:rPr lang="en-US" b="1" dirty="0"/>
              <a:t>hidden layer</a:t>
            </a:r>
            <a:r>
              <a:rPr lang="en-US" dirty="0"/>
              <a:t>, and it can have </a:t>
            </a:r>
            <a:r>
              <a:rPr lang="en-US" b="1" dirty="0"/>
              <a:t>multiple neurons</a:t>
            </a:r>
            <a:r>
              <a:rPr lang="en-US" dirty="0"/>
              <a:t>. Each neuron in this layer looks at the same input features, but each one focuses on a </a:t>
            </a:r>
            <a:r>
              <a:rPr lang="en-US" b="1" dirty="0"/>
              <a:t>different idea</a:t>
            </a:r>
            <a:r>
              <a:rPr lang="en-US" dirty="0"/>
              <a:t>. For example, one neuron may learn </a:t>
            </a:r>
            <a:r>
              <a:rPr lang="en-US" b="1" dirty="0"/>
              <a:t>affordability</a:t>
            </a:r>
            <a:r>
              <a:rPr lang="en-US" dirty="0"/>
              <a:t>, another may learn </a:t>
            </a:r>
            <a:r>
              <a:rPr lang="en-US" b="1" dirty="0"/>
              <a:t>awareness</a:t>
            </a:r>
            <a:r>
              <a:rPr lang="en-US" dirty="0"/>
              <a:t>, and another may learn </a:t>
            </a:r>
            <a:r>
              <a:rPr lang="en-US" b="1" dirty="0"/>
              <a:t>perceived quality</a:t>
            </a:r>
            <a:r>
              <a:rPr lang="en-US" dirty="0"/>
              <a:t>.</a:t>
            </a:r>
          </a:p>
          <a:p>
            <a:r>
              <a:rPr lang="en-US" dirty="0"/>
              <a:t>Each neuron combines the input features using weights and a bias, then produces an </a:t>
            </a:r>
            <a:r>
              <a:rPr lang="en-US" b="1" dirty="0"/>
              <a:t>activation value</a:t>
            </a:r>
            <a:r>
              <a:rPr lang="en-US" dirty="0"/>
              <a:t>. This activation value is a number that represents how strong that concept is. These activation values are the </a:t>
            </a:r>
            <a:r>
              <a:rPr lang="en-US" b="1" dirty="0"/>
              <a:t>outputs of the hidden layer</a:t>
            </a:r>
            <a:r>
              <a:rPr lang="en-US" dirty="0"/>
              <a:t>.</a:t>
            </a:r>
          </a:p>
          <a:p>
            <a:r>
              <a:rPr lang="en-US" dirty="0"/>
              <a:t>The </a:t>
            </a:r>
            <a:r>
              <a:rPr lang="en-US" b="1" dirty="0"/>
              <a:t>output layer</a:t>
            </a:r>
            <a:r>
              <a:rPr lang="en-US" dirty="0"/>
              <a:t> takes these activation values as input and produces </a:t>
            </a:r>
            <a:r>
              <a:rPr lang="en-US" b="1" dirty="0"/>
              <a:t>one final number</a:t>
            </a:r>
            <a:r>
              <a:rPr lang="en-US" dirty="0"/>
              <a:t>. This number represents the </a:t>
            </a:r>
            <a:r>
              <a:rPr lang="en-US" b="1" dirty="0"/>
              <a:t>probability that the product will be a top seller</a:t>
            </a:r>
            <a:r>
              <a:rPr lang="en-US" dirty="0"/>
              <a:t>.</a:t>
            </a:r>
          </a:p>
          <a:p>
            <a:r>
              <a:rPr lang="en-US" dirty="0"/>
              <a:t>The key idea is that </a:t>
            </a:r>
            <a:r>
              <a:rPr lang="en-US" b="1" dirty="0"/>
              <a:t>hidden layer neurons automatically learn useful concepts</a:t>
            </a:r>
            <a:r>
              <a:rPr lang="en-US" dirty="0"/>
              <a:t> from the input features. Instead of manually defining affordability or quality, the neural network </a:t>
            </a:r>
            <a:r>
              <a:rPr lang="en-US" b="1" dirty="0"/>
              <a:t>learns them by itself</a:t>
            </a:r>
            <a:r>
              <a:rPr lang="en-US" dirty="0"/>
              <a:t> through activations. This is what makes neural networks powerful for real-world prediction problems.</a:t>
            </a:r>
          </a:p>
          <a:p>
            <a:endParaRPr lang="en-IL" dirty="0"/>
          </a:p>
        </p:txBody>
      </p:sp>
    </p:spTree>
    <p:extLst>
      <p:ext uri="{BB962C8B-B14F-4D97-AF65-F5344CB8AC3E}">
        <p14:creationId xmlns:p14="http://schemas.microsoft.com/office/powerpoint/2010/main" val="2123116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52400"/>
            <a:ext cx="4875213" cy="2743200"/>
          </a:xfrm>
        </p:spPr>
      </p:sp>
      <p:sp>
        <p:nvSpPr>
          <p:cNvPr id="3" name="Notes Placeholder 2"/>
          <p:cNvSpPr>
            <a:spLocks noGrp="1"/>
          </p:cNvSpPr>
          <p:nvPr>
            <p:ph type="body" idx="1"/>
          </p:nvPr>
        </p:nvSpPr>
        <p:spPr/>
        <p:txBody>
          <a:bodyPr/>
          <a:lstStyle/>
          <a:p>
            <a:r>
              <a:rPr lang="en-US" b="1" dirty="0"/>
              <a:t>Demand Prediction: Let the Network Learn What Matters</a:t>
            </a:r>
          </a:p>
          <a:p>
            <a:r>
              <a:rPr lang="en-US" dirty="0"/>
              <a:t>This slide explains an important idea in neural networks: </a:t>
            </a:r>
            <a:r>
              <a:rPr lang="en-US" b="1" dirty="0"/>
              <a:t>we do not manually decide which input features affect each neuron</a:t>
            </a:r>
            <a:r>
              <a:rPr lang="en-US" dirty="0"/>
              <a:t>. Instead, we give </a:t>
            </a:r>
            <a:r>
              <a:rPr lang="en-US" b="1" dirty="0"/>
              <a:t>all input features to every neuron</a:t>
            </a:r>
            <a:r>
              <a:rPr lang="en-US" dirty="0"/>
              <a:t>, and let the network learn what is important by itself.</a:t>
            </a:r>
          </a:p>
          <a:p>
            <a:r>
              <a:rPr lang="en-US" dirty="0"/>
              <a:t>The </a:t>
            </a:r>
            <a:r>
              <a:rPr lang="en-US" b="1" dirty="0"/>
              <a:t>input layer</a:t>
            </a:r>
            <a:r>
              <a:rPr lang="en-US" dirty="0"/>
              <a:t> contains four features: </a:t>
            </a:r>
            <a:r>
              <a:rPr lang="en-US" b="1" dirty="0"/>
              <a:t>price</a:t>
            </a:r>
            <a:r>
              <a:rPr lang="en-US" dirty="0"/>
              <a:t>, </a:t>
            </a:r>
            <a:r>
              <a:rPr lang="en-US" b="1" dirty="0"/>
              <a:t>shipping cost</a:t>
            </a:r>
            <a:r>
              <a:rPr lang="en-US" dirty="0"/>
              <a:t>, </a:t>
            </a:r>
            <a:r>
              <a:rPr lang="en-US" b="1" dirty="0"/>
              <a:t>marketing</a:t>
            </a:r>
            <a:r>
              <a:rPr lang="en-US" dirty="0"/>
              <a:t>, and </a:t>
            </a:r>
            <a:r>
              <a:rPr lang="en-US" b="1" dirty="0"/>
              <a:t>material</a:t>
            </a:r>
            <a:r>
              <a:rPr lang="en-US" dirty="0"/>
              <a:t>. These are four numbers that describe the product. All of these inputs are connected to </a:t>
            </a:r>
            <a:r>
              <a:rPr lang="en-US" b="1" dirty="0"/>
              <a:t>every neuron</a:t>
            </a:r>
            <a:r>
              <a:rPr lang="en-US" dirty="0"/>
              <a:t> in the hidden layer.</a:t>
            </a:r>
          </a:p>
          <a:p>
            <a:r>
              <a:rPr lang="en-US" dirty="0"/>
              <a:t>The </a:t>
            </a:r>
            <a:r>
              <a:rPr lang="en-US" b="1" dirty="0"/>
              <a:t>hidden layer</a:t>
            </a:r>
            <a:r>
              <a:rPr lang="en-US" dirty="0"/>
              <a:t> has multiple neurons. Each neuron receives </a:t>
            </a:r>
            <a:r>
              <a:rPr lang="en-US" b="1" dirty="0"/>
              <a:t>all input features</a:t>
            </a:r>
            <a:r>
              <a:rPr lang="en-US" dirty="0"/>
              <a:t>, but each neuron learns </a:t>
            </a:r>
            <a:r>
              <a:rPr lang="en-US" b="1" dirty="0"/>
              <a:t>different weights</a:t>
            </a:r>
            <a:r>
              <a:rPr lang="en-US" dirty="0"/>
              <a:t>. Because of this, one neuron may become sensitive to </a:t>
            </a:r>
            <a:r>
              <a:rPr lang="en-US" b="1" dirty="0"/>
              <a:t>affordability</a:t>
            </a:r>
            <a:r>
              <a:rPr lang="en-US" dirty="0"/>
              <a:t>, another to </a:t>
            </a:r>
            <a:r>
              <a:rPr lang="en-US" b="1" dirty="0"/>
              <a:t>awareness</a:t>
            </a:r>
            <a:r>
              <a:rPr lang="en-US" dirty="0"/>
              <a:t>, and another to </a:t>
            </a:r>
            <a:r>
              <a:rPr lang="en-US" b="1" dirty="0"/>
              <a:t>perceived quality</a:t>
            </a:r>
            <a:r>
              <a:rPr lang="en-US" dirty="0"/>
              <a:t>. These concepts are </a:t>
            </a:r>
            <a:r>
              <a:rPr lang="en-US" b="1" dirty="0"/>
              <a:t>not programmed by us</a:t>
            </a:r>
            <a:r>
              <a:rPr lang="en-US" dirty="0"/>
              <a:t>; they are learned automatically during training.</a:t>
            </a:r>
          </a:p>
          <a:p>
            <a:r>
              <a:rPr lang="en-US" dirty="0"/>
              <a:t>Each hidden neuron produces an </a:t>
            </a:r>
            <a:r>
              <a:rPr lang="en-US" b="1" dirty="0"/>
              <a:t>activation value</a:t>
            </a:r>
            <a:r>
              <a:rPr lang="en-US" dirty="0"/>
              <a:t>, which is a number representing how strong that learned concept is. Together, these activation values form the output of the hidden layer.</a:t>
            </a:r>
          </a:p>
          <a:p>
            <a:r>
              <a:rPr lang="en-US" dirty="0"/>
              <a:t>The </a:t>
            </a:r>
            <a:r>
              <a:rPr lang="en-US" b="1" dirty="0"/>
              <a:t>output layer</a:t>
            </a:r>
            <a:r>
              <a:rPr lang="en-US" dirty="0"/>
              <a:t> takes these activation values and produces </a:t>
            </a:r>
            <a:r>
              <a:rPr lang="en-US" b="1" dirty="0"/>
              <a:t>one final number</a:t>
            </a:r>
            <a:r>
              <a:rPr lang="en-US" dirty="0"/>
              <a:t>. This number represents the </a:t>
            </a:r>
            <a:r>
              <a:rPr lang="en-US" b="1" dirty="0"/>
              <a:t>probability that the product will be a top seller</a:t>
            </a:r>
            <a:r>
              <a:rPr lang="en-US" dirty="0"/>
              <a:t>.</a:t>
            </a:r>
          </a:p>
          <a:p>
            <a:r>
              <a:rPr lang="en-US" dirty="0"/>
              <a:t>The key idea of this slide is that neural networks </a:t>
            </a:r>
            <a:r>
              <a:rPr lang="en-US" b="1" dirty="0"/>
              <a:t>learn feature importance automatically</a:t>
            </a:r>
            <a:r>
              <a:rPr lang="en-US" dirty="0"/>
              <a:t>. We do not tell the model which inputs matter more. Instead, we provide all inputs, and the network decides—through learning—which features influence each neuron the most.</a:t>
            </a:r>
          </a:p>
          <a:p>
            <a:endParaRPr lang="en-IL" dirty="0"/>
          </a:p>
        </p:txBody>
      </p:sp>
    </p:spTree>
    <p:extLst>
      <p:ext uri="{BB962C8B-B14F-4D97-AF65-F5344CB8AC3E}">
        <p14:creationId xmlns:p14="http://schemas.microsoft.com/office/powerpoint/2010/main" val="1461241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Demand Prediction: Inputs, Hidden Layer, and Output as Vectors</a:t>
            </a:r>
          </a:p>
          <a:p>
            <a:r>
              <a:rPr lang="en-US" dirty="0"/>
              <a:t>This slide highlights an important way to think about neural networks: </a:t>
            </a:r>
            <a:r>
              <a:rPr lang="en-US" b="1" dirty="0"/>
              <a:t>inputs and hidden layers are vectors, while the output is a single value</a:t>
            </a:r>
            <a:r>
              <a:rPr lang="en-US" dirty="0"/>
              <a:t>.</a:t>
            </a:r>
          </a:p>
          <a:p>
            <a:r>
              <a:rPr lang="en-US" dirty="0"/>
              <a:t>The </a:t>
            </a:r>
            <a:r>
              <a:rPr lang="en-US" b="1" dirty="0"/>
              <a:t>input layer</a:t>
            </a:r>
            <a:r>
              <a:rPr lang="en-US" dirty="0"/>
              <a:t> contains several features: </a:t>
            </a:r>
            <a:r>
              <a:rPr lang="en-US" b="1" dirty="0"/>
              <a:t>price</a:t>
            </a:r>
            <a:r>
              <a:rPr lang="en-US" dirty="0"/>
              <a:t>, </a:t>
            </a:r>
            <a:r>
              <a:rPr lang="en-US" b="1" dirty="0"/>
              <a:t>shipping cost</a:t>
            </a:r>
            <a:r>
              <a:rPr lang="en-US" dirty="0"/>
              <a:t>, </a:t>
            </a:r>
            <a:r>
              <a:rPr lang="en-US" b="1" dirty="0"/>
              <a:t>marketing</a:t>
            </a:r>
            <a:r>
              <a:rPr lang="en-US" dirty="0"/>
              <a:t>, and </a:t>
            </a:r>
            <a:r>
              <a:rPr lang="en-US" b="1" dirty="0"/>
              <a:t>material</a:t>
            </a:r>
            <a:r>
              <a:rPr lang="en-US" dirty="0"/>
              <a:t>. These four values are grouped together and treated as </a:t>
            </a:r>
            <a:r>
              <a:rPr lang="en-US" b="1" dirty="0"/>
              <a:t>one input vector x</a:t>
            </a:r>
            <a:r>
              <a:rPr lang="en-US" dirty="0"/>
              <a:t>. The network does not see them as separate items, but as a single vector of numbers.</a:t>
            </a:r>
          </a:p>
          <a:p>
            <a:r>
              <a:rPr lang="en-US" dirty="0"/>
              <a:t>The </a:t>
            </a:r>
            <a:r>
              <a:rPr lang="en-US" b="1" dirty="0"/>
              <a:t>hidden layer</a:t>
            </a:r>
            <a:r>
              <a:rPr lang="en-US" dirty="0"/>
              <a:t> also produces a </a:t>
            </a:r>
            <a:r>
              <a:rPr lang="en-US" b="1" dirty="0"/>
              <a:t>vector of values</a:t>
            </a:r>
            <a:r>
              <a:rPr lang="en-US" dirty="0"/>
              <a:t>. Each neuron in the hidden layer computes an activation value, such as affordability, awareness, or perceived quality. All these activation values together form the </a:t>
            </a:r>
            <a:r>
              <a:rPr lang="en-US" b="1" dirty="0"/>
              <a:t>activation vector a</a:t>
            </a:r>
            <a:r>
              <a:rPr lang="en-US" dirty="0"/>
              <a:t> of the hidden layer.</a:t>
            </a:r>
          </a:p>
          <a:p>
            <a:r>
              <a:rPr lang="en-US" dirty="0"/>
              <a:t>The </a:t>
            </a:r>
            <a:r>
              <a:rPr lang="en-US" b="1" dirty="0"/>
              <a:t>output layer</a:t>
            </a:r>
            <a:r>
              <a:rPr lang="en-US" dirty="0"/>
              <a:t> is different. It produces </a:t>
            </a:r>
            <a:r>
              <a:rPr lang="en-US" b="1" dirty="0"/>
              <a:t>one single number</a:t>
            </a:r>
            <a:r>
              <a:rPr lang="en-US" dirty="0"/>
              <a:t>, not a vector. This value represents the </a:t>
            </a:r>
            <a:r>
              <a:rPr lang="en-US" b="1" dirty="0"/>
              <a:t>probability that the product will be a top seller</a:t>
            </a:r>
            <a:r>
              <a:rPr lang="en-US" dirty="0"/>
              <a:t>.</a:t>
            </a:r>
          </a:p>
          <a:p>
            <a:r>
              <a:rPr lang="en-US" dirty="0"/>
              <a:t>The key idea is:</a:t>
            </a:r>
          </a:p>
          <a:p>
            <a:pPr>
              <a:buFont typeface="Arial" panose="020B0604020202020204" pitchFamily="34" charset="0"/>
              <a:buChar char="•"/>
            </a:pPr>
            <a:r>
              <a:rPr lang="en-US" dirty="0"/>
              <a:t>Input layer → </a:t>
            </a:r>
            <a:r>
              <a:rPr lang="en-US" b="1" dirty="0"/>
              <a:t>vector of numbers</a:t>
            </a:r>
            <a:endParaRPr lang="en-US" dirty="0"/>
          </a:p>
          <a:p>
            <a:pPr>
              <a:buFont typeface="Arial" panose="020B0604020202020204" pitchFamily="34" charset="0"/>
              <a:buChar char="•"/>
            </a:pPr>
            <a:r>
              <a:rPr lang="en-US" dirty="0"/>
              <a:t>Hidden layer → </a:t>
            </a:r>
            <a:r>
              <a:rPr lang="en-US" b="1" dirty="0"/>
              <a:t>vector of activation values</a:t>
            </a:r>
            <a:endParaRPr lang="en-US" dirty="0"/>
          </a:p>
          <a:p>
            <a:pPr>
              <a:buFont typeface="Arial" panose="020B0604020202020204" pitchFamily="34" charset="0"/>
              <a:buChar char="•"/>
            </a:pPr>
            <a:r>
              <a:rPr lang="en-US" dirty="0"/>
              <a:t>Output layer → </a:t>
            </a:r>
            <a:r>
              <a:rPr lang="en-US" b="1" dirty="0"/>
              <a:t>single scalar value</a:t>
            </a:r>
            <a:endParaRPr lang="en-US" dirty="0"/>
          </a:p>
          <a:p>
            <a:r>
              <a:rPr lang="en-US" dirty="0"/>
              <a:t>This vector-based view makes neural networks easier to understand and prepares students for writing neural networks using mathematical notation and code.</a:t>
            </a:r>
          </a:p>
          <a:p>
            <a:endParaRPr lang="en-IL" dirty="0"/>
          </a:p>
        </p:txBody>
      </p:sp>
    </p:spTree>
    <p:extLst>
      <p:ext uri="{BB962C8B-B14F-4D97-AF65-F5344CB8AC3E}">
        <p14:creationId xmlns:p14="http://schemas.microsoft.com/office/powerpoint/2010/main" val="1830457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Demand Prediction: Hidden Layer as Automatic Feature Engineering</a:t>
            </a:r>
          </a:p>
          <a:p>
            <a:r>
              <a:rPr lang="en-US" dirty="0"/>
              <a:t>This slide explains a key intuition about neural networks: the </a:t>
            </a:r>
            <a:r>
              <a:rPr lang="en-US" b="1" dirty="0"/>
              <a:t>hidden layer acts as a form of feature engineering</a:t>
            </a:r>
            <a:r>
              <a:rPr lang="en-US" dirty="0"/>
              <a:t>.</a:t>
            </a:r>
          </a:p>
          <a:p>
            <a:r>
              <a:rPr lang="en-US" dirty="0"/>
              <a:t>In traditional machine learning, we often create new features by hand. For example, from raw inputs we may design features such as affordability or quality. This process is called </a:t>
            </a:r>
            <a:r>
              <a:rPr lang="en-US" b="1" dirty="0"/>
              <a:t>feature engineering</a:t>
            </a:r>
            <a:r>
              <a:rPr lang="en-US" dirty="0"/>
              <a:t>, and it requires human effort and domain knowledge.</a:t>
            </a:r>
          </a:p>
          <a:p>
            <a:r>
              <a:rPr lang="en-US" dirty="0"/>
              <a:t>In a neural network, the </a:t>
            </a:r>
            <a:r>
              <a:rPr lang="en-US" b="1" dirty="0"/>
              <a:t>hidden layer performs this automatically</a:t>
            </a:r>
            <a:r>
              <a:rPr lang="en-US" dirty="0"/>
              <a:t>. The input features (price, shipping cost, marketing, material) are given directly to the network. Each neuron in the hidden layer combines these inputs and produces an </a:t>
            </a:r>
            <a:r>
              <a:rPr lang="en-US" b="1" dirty="0"/>
              <a:t>activation value</a:t>
            </a:r>
            <a:r>
              <a:rPr lang="en-US" dirty="0"/>
              <a:t>. These activation values represent </a:t>
            </a:r>
            <a:r>
              <a:rPr lang="en-US" b="1" dirty="0"/>
              <a:t>new, learned features</a:t>
            </a:r>
            <a:r>
              <a:rPr lang="en-US" dirty="0"/>
              <a:t> such as affordability, awareness, or perceived quality.</a:t>
            </a:r>
          </a:p>
          <a:p>
            <a:r>
              <a:rPr lang="en-US" dirty="0"/>
              <a:t>These learned features are not explicitly defined by us. The network discovers them during training by adjusting weights and biases. The set of activation values produced by the hidden layer becomes a </a:t>
            </a:r>
            <a:r>
              <a:rPr lang="en-US" b="1" dirty="0"/>
              <a:t>new feature vector</a:t>
            </a:r>
            <a:r>
              <a:rPr lang="en-US" dirty="0"/>
              <a:t> that is more useful for prediction than the raw inputs.</a:t>
            </a:r>
          </a:p>
          <a:p>
            <a:r>
              <a:rPr lang="en-US" dirty="0"/>
              <a:t>The </a:t>
            </a:r>
            <a:r>
              <a:rPr lang="en-US" b="1" dirty="0"/>
              <a:t>output layer</a:t>
            </a:r>
            <a:r>
              <a:rPr lang="en-US" dirty="0"/>
              <a:t> then uses these learned features to produce </a:t>
            </a:r>
            <a:r>
              <a:rPr lang="en-US" b="1" dirty="0"/>
              <a:t>one final number</a:t>
            </a:r>
            <a:r>
              <a:rPr lang="en-US" dirty="0"/>
              <a:t>, which is the probability that the product will be a top seller.</a:t>
            </a:r>
          </a:p>
          <a:p>
            <a:r>
              <a:rPr lang="en-US" dirty="0"/>
              <a:t>The key idea of this slide is simple:</a:t>
            </a:r>
            <a:br>
              <a:rPr lang="en-US" dirty="0"/>
            </a:br>
            <a:r>
              <a:rPr lang="en-US" b="1" dirty="0"/>
              <a:t>Hidden layers automatically learn better features</a:t>
            </a:r>
            <a:r>
              <a:rPr lang="en-US" dirty="0"/>
              <a:t>, which is why neural networks are powerful and reduce the need for manual feature engineering.</a:t>
            </a:r>
          </a:p>
          <a:p>
            <a:endParaRPr lang="en-IL" dirty="0"/>
          </a:p>
        </p:txBody>
      </p:sp>
    </p:spTree>
    <p:extLst>
      <p:ext uri="{BB962C8B-B14F-4D97-AF65-F5344CB8AC3E}">
        <p14:creationId xmlns:p14="http://schemas.microsoft.com/office/powerpoint/2010/main" val="3993295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Multiple Hidden Layers: Building Deeper Neural Networks</a:t>
            </a:r>
          </a:p>
          <a:p>
            <a:r>
              <a:rPr lang="en-US" dirty="0"/>
              <a:t>This slide shows how a neural network can have </a:t>
            </a:r>
            <a:r>
              <a:rPr lang="en-US" b="1" dirty="0"/>
              <a:t>more than one hidden layer</a:t>
            </a:r>
            <a:r>
              <a:rPr lang="en-US" dirty="0"/>
              <a:t> between the input and the output. A network with one hidden layer is already useful, but adding more hidden layers makes the model </a:t>
            </a:r>
            <a:r>
              <a:rPr lang="en-US" b="1" dirty="0"/>
              <a:t>deeper</a:t>
            </a:r>
            <a:r>
              <a:rPr lang="en-US" dirty="0"/>
              <a:t> and more powerful. This type of model is often called a </a:t>
            </a:r>
            <a:r>
              <a:rPr lang="en-US" b="1" dirty="0"/>
              <a:t>multilayer perceptron</a:t>
            </a:r>
            <a:r>
              <a:rPr lang="en-US" dirty="0"/>
              <a:t>.</a:t>
            </a:r>
          </a:p>
          <a:p>
            <a:r>
              <a:rPr lang="en-US" dirty="0"/>
              <a:t>The </a:t>
            </a:r>
            <a:r>
              <a:rPr lang="en-US" b="1" dirty="0"/>
              <a:t>input layer</a:t>
            </a:r>
            <a:r>
              <a:rPr lang="en-US" dirty="0"/>
              <a:t> receives the original data, such as numbers representing an image, sound, or other features. This input is passed to the </a:t>
            </a:r>
            <a:r>
              <a:rPr lang="en-US" b="1" dirty="0"/>
              <a:t>first hidden layer</a:t>
            </a:r>
            <a:r>
              <a:rPr lang="en-US" dirty="0"/>
              <a:t>, where neurons start to learn simple patterns from the data. Each neuron performs a small calculation and produces an activation value.</a:t>
            </a:r>
          </a:p>
          <a:p>
            <a:r>
              <a:rPr lang="en-US" dirty="0"/>
              <a:t>The output of the first hidden layer becomes the input to the </a:t>
            </a:r>
            <a:r>
              <a:rPr lang="en-US" b="1" dirty="0"/>
              <a:t>second hidden layer</a:t>
            </a:r>
            <a:r>
              <a:rPr lang="en-US" dirty="0"/>
              <a:t>, and possibly a </a:t>
            </a:r>
            <a:r>
              <a:rPr lang="en-US" b="1" dirty="0"/>
              <a:t>third hidden layer</a:t>
            </a:r>
            <a:r>
              <a:rPr lang="en-US" dirty="0"/>
              <a:t>, and so on. Each new hidden layer learns </a:t>
            </a:r>
            <a:r>
              <a:rPr lang="en-US" b="1" dirty="0"/>
              <a:t>more abstract and higher-level patterns</a:t>
            </a:r>
            <a:r>
              <a:rPr lang="en-US" dirty="0"/>
              <a:t>. For example, in image data, early layers may detect edges, middle layers may detect shapes, and deeper layers may detect objects.</a:t>
            </a:r>
          </a:p>
          <a:p>
            <a:r>
              <a:rPr lang="en-US" dirty="0"/>
              <a:t>Finally, the information reaches the </a:t>
            </a:r>
            <a:r>
              <a:rPr lang="en-US" b="1" dirty="0"/>
              <a:t>output layer</a:t>
            </a:r>
            <a:r>
              <a:rPr lang="en-US" dirty="0"/>
              <a:t>, which produces the final prediction. This could be a probability (such as yes/no), a class label, or a numerical value, depending on the task.</a:t>
            </a:r>
          </a:p>
          <a:p>
            <a:r>
              <a:rPr lang="en-US" dirty="0"/>
              <a:t>The key idea is that </a:t>
            </a:r>
            <a:r>
              <a:rPr lang="en-US" b="1" dirty="0"/>
              <a:t>depth matters</a:t>
            </a:r>
            <a:r>
              <a:rPr lang="en-US" dirty="0"/>
              <a:t>. By stacking multiple hidden layers, neural networks can represent very complex functions. This is what allows deep learning models to solve difficult real-world problems that traditional machine learning models cannot handle easily.</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13</a:t>
            </a:fld>
            <a:endParaRPr lang="en-IL"/>
          </a:p>
        </p:txBody>
      </p:sp>
    </p:spTree>
    <p:extLst>
      <p:ext uri="{BB962C8B-B14F-4D97-AF65-F5344CB8AC3E}">
        <p14:creationId xmlns:p14="http://schemas.microsoft.com/office/powerpoint/2010/main" val="911377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Neural Networks Intuition: Recognizing Images</a:t>
            </a:r>
          </a:p>
          <a:p>
            <a:r>
              <a:rPr lang="en-US" dirty="0"/>
              <a:t>This section introduces how neural networks </a:t>
            </a:r>
            <a:r>
              <a:rPr lang="en-US" b="1" dirty="0"/>
              <a:t>recognize images</a:t>
            </a:r>
            <a:r>
              <a:rPr lang="en-US" dirty="0"/>
              <a:t>.</a:t>
            </a:r>
            <a:br>
              <a:rPr lang="en-US" dirty="0"/>
            </a:br>
            <a:r>
              <a:rPr lang="en-US" dirty="0"/>
              <a:t>The goal is to build intuition for how a network can look at raw pixel values and gradually learn meaningful patterns, such as edges, shapes, and objects, to make a correct prediction.</a:t>
            </a:r>
          </a:p>
          <a:p>
            <a:endParaRPr lang="en-IL" dirty="0"/>
          </a:p>
        </p:txBody>
      </p:sp>
    </p:spTree>
    <p:extLst>
      <p:ext uri="{BB962C8B-B14F-4D97-AF65-F5344CB8AC3E}">
        <p14:creationId xmlns:p14="http://schemas.microsoft.com/office/powerpoint/2010/main" val="36840066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Face Recognition: From Image to Numbers</a:t>
            </a:r>
          </a:p>
          <a:p>
            <a:r>
              <a:rPr lang="en-US" dirty="0"/>
              <a:t>This slide explains how an </a:t>
            </a:r>
            <a:r>
              <a:rPr lang="en-US" b="1" dirty="0"/>
              <a:t>image is represented as numbers</a:t>
            </a:r>
            <a:r>
              <a:rPr lang="en-US" dirty="0"/>
              <a:t> so that a neural network can process it.</a:t>
            </a:r>
          </a:p>
          <a:p>
            <a:r>
              <a:rPr lang="en-US" dirty="0"/>
              <a:t>An image is made of </a:t>
            </a:r>
            <a:r>
              <a:rPr lang="en-US" b="1" dirty="0"/>
              <a:t>pixels</a:t>
            </a:r>
            <a:r>
              <a:rPr lang="en-US" dirty="0"/>
              <a:t>. In this example, the image has about </a:t>
            </a:r>
            <a:r>
              <a:rPr lang="en-US" b="1" dirty="0"/>
              <a:t>1000 rows and 1000 columns</a:t>
            </a:r>
            <a:r>
              <a:rPr lang="en-US" dirty="0"/>
              <a:t>, which means around </a:t>
            </a:r>
            <a:r>
              <a:rPr lang="en-US" b="1" dirty="0"/>
              <a:t>1 million pixels</a:t>
            </a:r>
            <a:r>
              <a:rPr lang="en-US" dirty="0"/>
              <a:t>. Each pixel is represented by a number that shows its brightness or color intensity.</a:t>
            </a:r>
          </a:p>
          <a:p>
            <a:r>
              <a:rPr lang="en-US" dirty="0"/>
              <a:t>These pixel values are first arranged in a </a:t>
            </a:r>
            <a:r>
              <a:rPr lang="en-US" b="1" dirty="0"/>
              <a:t>matrix</a:t>
            </a:r>
            <a:r>
              <a:rPr lang="en-US" dirty="0"/>
              <a:t>, where each cell contains one number (for example, 197, 185, 203, etc.). This matrix represents the full image.</a:t>
            </a:r>
          </a:p>
          <a:p>
            <a:r>
              <a:rPr lang="en-US" dirty="0"/>
              <a:t>To feed the image into a neural network, the matrix is then </a:t>
            </a:r>
            <a:r>
              <a:rPr lang="en-US" b="1" dirty="0"/>
              <a:t>flattened into a single vector</a:t>
            </a:r>
            <a:r>
              <a:rPr lang="en-US" dirty="0"/>
              <a:t>. This vector is written as </a:t>
            </a:r>
            <a:r>
              <a:rPr lang="en-US" b="1" dirty="0"/>
              <a:t>x</a:t>
            </a:r>
            <a:r>
              <a:rPr lang="en-US" dirty="0"/>
              <a:t> and contains all pixel values one after another. In this example, </a:t>
            </a:r>
            <a:r>
              <a:rPr lang="en-US" b="1" dirty="0"/>
              <a:t>x has about 1 million numbers</a:t>
            </a:r>
            <a:r>
              <a:rPr lang="en-US" dirty="0"/>
              <a:t>.</a:t>
            </a:r>
          </a:p>
          <a:p>
            <a:r>
              <a:rPr lang="en-US" dirty="0"/>
              <a:t>The key idea is that a neural network does not see a face or an image. It only sees a </a:t>
            </a:r>
            <a:r>
              <a:rPr lang="en-US" b="1" dirty="0"/>
              <a:t>large vector of numbers</a:t>
            </a:r>
            <a:r>
              <a:rPr lang="en-US" dirty="0"/>
              <a:t>. Learning face recognition means learning patterns from these numbers that correspond to facial features.</a:t>
            </a:r>
          </a:p>
          <a:p>
            <a:endParaRPr lang="en-IL" dirty="0"/>
          </a:p>
        </p:txBody>
      </p:sp>
    </p:spTree>
    <p:extLst>
      <p:ext uri="{BB962C8B-B14F-4D97-AF65-F5344CB8AC3E}">
        <p14:creationId xmlns:p14="http://schemas.microsoft.com/office/powerpoint/2010/main" val="502087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Face Recognition: How Neural Networks Learn Images</a:t>
            </a:r>
          </a:p>
          <a:p>
            <a:r>
              <a:rPr lang="en-US" dirty="0"/>
              <a:t>This slide shows how a neural network performs </a:t>
            </a:r>
            <a:r>
              <a:rPr lang="en-US" b="1" dirty="0"/>
              <a:t>face recognition</a:t>
            </a:r>
            <a:r>
              <a:rPr lang="en-US" dirty="0"/>
              <a:t> step by step.</a:t>
            </a:r>
          </a:p>
          <a:p>
            <a:r>
              <a:rPr lang="en-US" dirty="0"/>
              <a:t>The process starts with the </a:t>
            </a:r>
            <a:r>
              <a:rPr lang="en-US" b="1" dirty="0"/>
              <a:t>input image</a:t>
            </a:r>
            <a:r>
              <a:rPr lang="en-US" dirty="0"/>
              <a:t>, which is converted into a large vector </a:t>
            </a:r>
            <a:r>
              <a:rPr lang="en-US" b="1" dirty="0"/>
              <a:t>x</a:t>
            </a:r>
            <a:r>
              <a:rPr lang="en-US" dirty="0"/>
              <a:t> containing pixel values. At this stage, the network does not understand faces; it only receives </a:t>
            </a:r>
            <a:r>
              <a:rPr lang="en-US" b="1" dirty="0"/>
              <a:t>numbers</a:t>
            </a:r>
            <a:r>
              <a:rPr lang="en-US" dirty="0"/>
              <a:t>.</a:t>
            </a:r>
          </a:p>
          <a:p>
            <a:r>
              <a:rPr lang="en-US" dirty="0"/>
              <a:t>The first hidden layers learn </a:t>
            </a:r>
            <a:r>
              <a:rPr lang="en-US" b="1" dirty="0"/>
              <a:t>very simple features</a:t>
            </a:r>
            <a:r>
              <a:rPr lang="en-US" dirty="0"/>
              <a:t> from the pixels, such as edges, corners, and basic shapes. These features are small patterns found in many places in the image.</a:t>
            </a:r>
          </a:p>
          <a:p>
            <a:r>
              <a:rPr lang="en-US" dirty="0"/>
              <a:t>As the data moves deeper into the network, the next hidden layers combine these simple features into </a:t>
            </a:r>
            <a:r>
              <a:rPr lang="en-US" b="1" dirty="0"/>
              <a:t>more complex features</a:t>
            </a:r>
            <a:r>
              <a:rPr lang="en-US" dirty="0"/>
              <a:t>, such as eyes, noses, mouths, and facial parts.</a:t>
            </a:r>
          </a:p>
          <a:p>
            <a:r>
              <a:rPr lang="en-US" dirty="0"/>
              <a:t>In deeper layers, the network learns </a:t>
            </a:r>
            <a:r>
              <a:rPr lang="en-US" b="1" dirty="0"/>
              <a:t>high-level features</a:t>
            </a:r>
            <a:r>
              <a:rPr lang="en-US" dirty="0"/>
              <a:t>, such as the overall structure of a face and how facial parts are arranged together. These layers capture what makes one person’s face different from another.</a:t>
            </a:r>
          </a:p>
          <a:p>
            <a:r>
              <a:rPr lang="en-US" dirty="0"/>
              <a:t>Finally, the </a:t>
            </a:r>
            <a:r>
              <a:rPr lang="en-US" b="1" dirty="0"/>
              <a:t>output layer</a:t>
            </a:r>
            <a:r>
              <a:rPr lang="en-US" dirty="0"/>
              <a:t> produces a single value: the </a:t>
            </a:r>
            <a:r>
              <a:rPr lang="en-US" b="1" dirty="0"/>
              <a:t>probability that the image belongs to a specific person (for example, person XYZ)</a:t>
            </a:r>
            <a:r>
              <a:rPr lang="en-US" dirty="0"/>
              <a:t>.</a:t>
            </a:r>
          </a:p>
          <a:p>
            <a:r>
              <a:rPr lang="en-US" dirty="0"/>
              <a:t>The key idea is that neural networks recognize images by learning features </a:t>
            </a:r>
            <a:r>
              <a:rPr lang="en-US" b="1" dirty="0"/>
              <a:t>gradually</a:t>
            </a:r>
            <a:r>
              <a:rPr lang="en-US" dirty="0"/>
              <a:t>, from simple patterns to complex concepts, layer by layer.</a:t>
            </a:r>
          </a:p>
          <a:p>
            <a:endParaRPr lang="en-IL" dirty="0"/>
          </a:p>
        </p:txBody>
      </p:sp>
    </p:spTree>
    <p:extLst>
      <p:ext uri="{BB962C8B-B14F-4D97-AF65-F5344CB8AC3E}">
        <p14:creationId xmlns:p14="http://schemas.microsoft.com/office/powerpoint/2010/main" val="39850425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Car Classification: How Neural Networks Understand Images</a:t>
            </a:r>
          </a:p>
          <a:p>
            <a:r>
              <a:rPr lang="en-US" dirty="0"/>
              <a:t>This slide explains how a neural network performs </a:t>
            </a:r>
            <a:r>
              <a:rPr lang="en-US" b="1" dirty="0"/>
              <a:t>car classification</a:t>
            </a:r>
            <a:r>
              <a:rPr lang="en-US" dirty="0"/>
              <a:t> from an image. The process begins with the </a:t>
            </a:r>
            <a:r>
              <a:rPr lang="en-US" b="1" dirty="0"/>
              <a:t>input image</a:t>
            </a:r>
            <a:r>
              <a:rPr lang="en-US" dirty="0"/>
              <a:t>, which is converted into a large set of pixel values. At this stage, the network only sees numbers, not a car.</a:t>
            </a:r>
          </a:p>
          <a:p>
            <a:r>
              <a:rPr lang="en-US" dirty="0"/>
              <a:t>In the first hidden layers, the network learns </a:t>
            </a:r>
            <a:r>
              <a:rPr lang="en-US" b="1" dirty="0"/>
              <a:t>simple visual features</a:t>
            </a:r>
            <a:r>
              <a:rPr lang="en-US" dirty="0"/>
              <a:t> such as edges, lines, and basic textures. These features are common patterns that appear in many images and form the building blocks for understanding visual content.</a:t>
            </a:r>
          </a:p>
          <a:p>
            <a:r>
              <a:rPr lang="en-US" dirty="0"/>
              <a:t>As the data moves through deeper layers, the network starts to combine simple features into </a:t>
            </a:r>
            <a:r>
              <a:rPr lang="en-US" b="1" dirty="0"/>
              <a:t>more meaningful patterns</a:t>
            </a:r>
            <a:r>
              <a:rPr lang="en-US" dirty="0"/>
              <a:t>, such as wheels, windows, and car body parts. These features are more specific and help the network distinguish cars from other objects.</a:t>
            </a:r>
          </a:p>
          <a:p>
            <a:r>
              <a:rPr lang="en-US" dirty="0"/>
              <a:t>In the final hidden layers, the network learns </a:t>
            </a:r>
            <a:r>
              <a:rPr lang="en-US" b="1" dirty="0"/>
              <a:t>high-level features</a:t>
            </a:r>
            <a:r>
              <a:rPr lang="en-US" dirty="0"/>
              <a:t> that represent the overall shape and structure of a car. These features capture what makes a car a car, regardless of color, background, or small variations.</a:t>
            </a:r>
          </a:p>
          <a:p>
            <a:r>
              <a:rPr lang="en-US" dirty="0"/>
              <a:t>The </a:t>
            </a:r>
            <a:r>
              <a:rPr lang="en-US" b="1" dirty="0"/>
              <a:t>output layer</a:t>
            </a:r>
            <a:r>
              <a:rPr lang="en-US" dirty="0"/>
              <a:t> then uses these high-level features to produce a </a:t>
            </a:r>
            <a:r>
              <a:rPr lang="en-US" b="1" dirty="0"/>
              <a:t>probability that a car is present in the image</a:t>
            </a:r>
            <a:r>
              <a:rPr lang="en-US" dirty="0"/>
              <a:t>. This probability can be compared to a threshold to make the final classification decision.</a:t>
            </a:r>
          </a:p>
          <a:p>
            <a:endParaRPr lang="en-IL" dirty="0"/>
          </a:p>
        </p:txBody>
      </p:sp>
    </p:spTree>
    <p:extLst>
      <p:ext uri="{BB962C8B-B14F-4D97-AF65-F5344CB8AC3E}">
        <p14:creationId xmlns:p14="http://schemas.microsoft.com/office/powerpoint/2010/main" val="819067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Neural Network Model: Neural Network Layer</a:t>
            </a:r>
          </a:p>
          <a:p>
            <a:r>
              <a:rPr lang="en-US" dirty="0"/>
              <a:t>This section focuses on the </a:t>
            </a:r>
            <a:r>
              <a:rPr lang="en-US" b="1" dirty="0"/>
              <a:t>neural network layer</a:t>
            </a:r>
            <a:r>
              <a:rPr lang="en-US" dirty="0"/>
              <a:t>, which is the main building block of a neural network.</a:t>
            </a:r>
            <a:br>
              <a:rPr lang="en-US" dirty="0"/>
            </a:br>
            <a:r>
              <a:rPr lang="en-US" dirty="0"/>
              <a:t>We will see how a layer takes inputs, applies weights and an activation function, and produces outputs that are passed to the next layer.</a:t>
            </a:r>
          </a:p>
          <a:p>
            <a:endParaRPr lang="en-IL" dirty="0"/>
          </a:p>
        </p:txBody>
      </p:sp>
    </p:spTree>
    <p:extLst>
      <p:ext uri="{BB962C8B-B14F-4D97-AF65-F5344CB8AC3E}">
        <p14:creationId xmlns:p14="http://schemas.microsoft.com/office/powerpoint/2010/main" val="22612140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Neural Network Layer: What Happens Inside One Layer</a:t>
            </a:r>
          </a:p>
          <a:p>
            <a:r>
              <a:rPr lang="en-US" dirty="0"/>
              <a:t>This slide zooms into </a:t>
            </a:r>
            <a:r>
              <a:rPr lang="en-US" b="1" dirty="0"/>
              <a:t>one hidden layer</a:t>
            </a:r>
            <a:r>
              <a:rPr lang="en-US" dirty="0"/>
              <a:t> of a neural network and explains how it works internally. A neural network is built from layers, and each layer is made of several </a:t>
            </a:r>
            <a:r>
              <a:rPr lang="en-US" b="1" dirty="0"/>
              <a:t>neurons working in parallel</a:t>
            </a:r>
            <a:r>
              <a:rPr lang="en-US" dirty="0"/>
              <a:t>. All neurons in the same layer receive the </a:t>
            </a:r>
            <a:r>
              <a:rPr lang="en-US" b="1" dirty="0"/>
              <a:t>same input vector</a:t>
            </a:r>
            <a:r>
              <a:rPr lang="en-US" dirty="0"/>
              <a:t>, but each neuron processes it differently.</a:t>
            </a:r>
          </a:p>
          <a:p>
            <a:r>
              <a:rPr lang="en-US" dirty="0"/>
              <a:t>The input to this layer is a vector </a:t>
            </a:r>
            <a:r>
              <a:rPr lang="en-US" b="1" dirty="0"/>
              <a:t>x</a:t>
            </a:r>
            <a:r>
              <a:rPr lang="en-US" dirty="0"/>
              <a:t> (or </a:t>
            </a:r>
            <a:r>
              <a:rPr lang="en-US" b="1" dirty="0"/>
              <a:t>a⁽⁰⁾</a:t>
            </a:r>
            <a:r>
              <a:rPr lang="en-US" dirty="0"/>
              <a:t> if it comes from the previous layer). This vector contains numbers, such as pixel values in an image or feature values in a dataset. These numbers are sent to </a:t>
            </a:r>
            <a:r>
              <a:rPr lang="en-US" b="1" dirty="0"/>
              <a:t>every neuron</a:t>
            </a:r>
            <a:r>
              <a:rPr lang="en-US" dirty="0"/>
              <a:t> in the layer.</a:t>
            </a:r>
          </a:p>
          <a:p>
            <a:r>
              <a:rPr lang="en-US" dirty="0"/>
              <a:t>Each neuron has its own </a:t>
            </a:r>
            <a:r>
              <a:rPr lang="en-US" b="1" dirty="0"/>
              <a:t>weights (w)</a:t>
            </a:r>
            <a:r>
              <a:rPr lang="en-US" dirty="0"/>
              <a:t> and </a:t>
            </a:r>
            <a:r>
              <a:rPr lang="en-US" b="1" dirty="0"/>
              <a:t>bias (b)</a:t>
            </a:r>
            <a:r>
              <a:rPr lang="en-US" dirty="0"/>
              <a:t>. The neuron first computes a value called </a:t>
            </a:r>
            <a:r>
              <a:rPr lang="en-US" b="1" dirty="0"/>
              <a:t>z</a:t>
            </a:r>
            <a:r>
              <a:rPr lang="en-US" dirty="0"/>
              <a:t>, which is a weighted sum of the inputs plus the bias:</a:t>
            </a:r>
          </a:p>
          <a:p>
            <a:pPr>
              <a:buFont typeface="Arial" panose="020B0604020202020204" pitchFamily="34" charset="0"/>
              <a:buChar char="•"/>
            </a:pPr>
            <a:r>
              <a:rPr lang="en-US" dirty="0"/>
              <a:t>multiply each input by its weight</a:t>
            </a:r>
          </a:p>
          <a:p>
            <a:pPr>
              <a:buFont typeface="Arial" panose="020B0604020202020204" pitchFamily="34" charset="0"/>
              <a:buChar char="•"/>
            </a:pPr>
            <a:r>
              <a:rPr lang="en-US" dirty="0"/>
              <a:t>add all the results</a:t>
            </a:r>
          </a:p>
          <a:p>
            <a:pPr>
              <a:buFont typeface="Arial" panose="020B0604020202020204" pitchFamily="34" charset="0"/>
              <a:buChar char="•"/>
            </a:pPr>
            <a:r>
              <a:rPr lang="en-US" dirty="0"/>
              <a:t>add the bias</a:t>
            </a:r>
          </a:p>
          <a:p>
            <a:r>
              <a:rPr lang="en-US" dirty="0"/>
              <a:t>This value </a:t>
            </a:r>
            <a:r>
              <a:rPr lang="en-US" b="1" dirty="0"/>
              <a:t>z</a:t>
            </a:r>
            <a:r>
              <a:rPr lang="en-US" dirty="0"/>
              <a:t> is not yet the output. It is just an intermediate value that measures how strong the signal is.</a:t>
            </a:r>
          </a:p>
          <a:p>
            <a:r>
              <a:rPr lang="en-US" dirty="0"/>
              <a:t>Next, the neuron applies an </a:t>
            </a:r>
            <a:r>
              <a:rPr lang="en-US" b="1" dirty="0"/>
              <a:t>activation function</a:t>
            </a:r>
            <a:r>
              <a:rPr lang="en-US" dirty="0"/>
              <a:t> to z. In this slide, the activation function is the </a:t>
            </a:r>
            <a:r>
              <a:rPr lang="en-US" b="1" dirty="0"/>
              <a:t>sigmoid function</a:t>
            </a:r>
            <a:br>
              <a:rPr lang="en-US" dirty="0"/>
            </a:br>
            <a:r>
              <a:rPr lang="en-US" dirty="0"/>
              <a:t>g(z) = 1 / (1 + e⁻ᶻ).</a:t>
            </a:r>
            <a:br>
              <a:rPr lang="en-US" dirty="0"/>
            </a:br>
            <a:r>
              <a:rPr lang="en-US" dirty="0"/>
              <a:t>This function squashes the value into a range between </a:t>
            </a:r>
            <a:r>
              <a:rPr lang="en-US" b="1" dirty="0"/>
              <a:t>0 and 1</a:t>
            </a:r>
            <a:r>
              <a:rPr lang="en-US" dirty="0"/>
              <a:t>, which makes the neuron’s output easier to interpret and helps the network learn non-linear patterns.</a:t>
            </a:r>
          </a:p>
          <a:p>
            <a:r>
              <a:rPr lang="en-US" dirty="0"/>
              <a:t>The result after applying the activation function is called the </a:t>
            </a:r>
            <a:r>
              <a:rPr lang="en-US" b="1" dirty="0"/>
              <a:t>activation value a</a:t>
            </a:r>
            <a:r>
              <a:rPr lang="en-US" dirty="0"/>
              <a:t>. Each neuron produces one activation value. All activation values from the layer are collected into a new vector </a:t>
            </a:r>
            <a:r>
              <a:rPr lang="en-US" b="1" dirty="0"/>
              <a:t>a⁽¹⁾</a:t>
            </a:r>
            <a:r>
              <a:rPr lang="en-US" dirty="0"/>
              <a:t>, which becomes the </a:t>
            </a:r>
            <a:r>
              <a:rPr lang="en-US" b="1" dirty="0"/>
              <a:t>input to the next layer</a:t>
            </a:r>
            <a:r>
              <a:rPr lang="en-US" dirty="0"/>
              <a:t>.</a:t>
            </a:r>
          </a:p>
          <a:p>
            <a:r>
              <a:rPr lang="en-US" dirty="0"/>
              <a:t>An important idea shown here is </a:t>
            </a:r>
            <a:r>
              <a:rPr lang="en-US" b="1" dirty="0"/>
              <a:t>layer numbering</a:t>
            </a:r>
            <a:r>
              <a:rPr lang="en-US" dirty="0"/>
              <a:t>. The input layer is called </a:t>
            </a:r>
            <a:r>
              <a:rPr lang="en-US" b="1" dirty="0"/>
              <a:t>layer 0</a:t>
            </a:r>
            <a:r>
              <a:rPr lang="en-US" dirty="0"/>
              <a:t>, the first hidden layer is </a:t>
            </a:r>
            <a:r>
              <a:rPr lang="en-US" b="1" dirty="0"/>
              <a:t>layer 1</a:t>
            </a:r>
            <a:r>
              <a:rPr lang="en-US" dirty="0"/>
              <a:t>, and so on. This notation helps us write neural networks clearly and consistently, especially when networks become deep.</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19</a:t>
            </a:fld>
            <a:endParaRPr lang="en-IL"/>
          </a:p>
        </p:txBody>
      </p:sp>
    </p:spTree>
    <p:extLst>
      <p:ext uri="{BB962C8B-B14F-4D97-AF65-F5344CB8AC3E}">
        <p14:creationId xmlns:p14="http://schemas.microsoft.com/office/powerpoint/2010/main" val="3222038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814611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Output Layer Neuron: Interpreting the Value a[2] = 0.8</a:t>
            </a:r>
          </a:p>
          <a:p>
            <a:r>
              <a:rPr lang="en-US" dirty="0"/>
              <a:t>This slide focuses on the </a:t>
            </a:r>
            <a:r>
              <a:rPr lang="en-US" b="1" dirty="0"/>
              <a:t>output layer neuron</a:t>
            </a:r>
            <a:r>
              <a:rPr lang="en-US" dirty="0"/>
              <a:t> and the value it produces, written as </a:t>
            </a:r>
            <a:r>
              <a:rPr lang="en-US" b="1" dirty="0"/>
              <a:t>a[2]</a:t>
            </a:r>
            <a:r>
              <a:rPr lang="en-US" dirty="0"/>
              <a:t>. Because this neuron is in the </a:t>
            </a:r>
            <a:r>
              <a:rPr lang="en-US" b="1" dirty="0"/>
              <a:t>output layer</a:t>
            </a:r>
            <a:r>
              <a:rPr lang="en-US" dirty="0"/>
              <a:t>, its activation represents the </a:t>
            </a:r>
            <a:r>
              <a:rPr lang="en-US" b="1" dirty="0"/>
              <a:t>final prediction</a:t>
            </a:r>
            <a:r>
              <a:rPr lang="en-US" dirty="0"/>
              <a:t> of the neural network.</a:t>
            </a:r>
          </a:p>
          <a:p>
            <a:r>
              <a:rPr lang="en-US" dirty="0"/>
              <a:t>After the input data passes through all hidden layers, the output neuron receives the activation vector from the previous layer, written as </a:t>
            </a:r>
            <a:r>
              <a:rPr lang="en-US" b="1" dirty="0"/>
              <a:t>a[1]</a:t>
            </a:r>
            <a:r>
              <a:rPr lang="en-US" dirty="0"/>
              <a:t>. These values are already high-level features learned by the network. The output neuron combines these values using its </a:t>
            </a:r>
            <a:r>
              <a:rPr lang="en-US" b="1" dirty="0"/>
              <a:t>weights w[2]</a:t>
            </a:r>
            <a:r>
              <a:rPr lang="en-US" dirty="0"/>
              <a:t> and </a:t>
            </a:r>
            <a:r>
              <a:rPr lang="en-US" b="1" dirty="0"/>
              <a:t>bias b[2]</a:t>
            </a:r>
            <a:r>
              <a:rPr lang="en-US" dirty="0"/>
              <a:t> to compute an intermediate value called </a:t>
            </a:r>
            <a:r>
              <a:rPr lang="en-US" b="1" dirty="0"/>
              <a:t>z</a:t>
            </a:r>
            <a:r>
              <a:rPr lang="en-US" dirty="0"/>
              <a:t>.</a:t>
            </a:r>
          </a:p>
          <a:p>
            <a:r>
              <a:rPr lang="en-US" dirty="0"/>
              <a:t>The neuron then applies the </a:t>
            </a:r>
            <a:r>
              <a:rPr lang="en-US" b="1" dirty="0"/>
              <a:t>sigmoid activation function</a:t>
            </a:r>
            <a:r>
              <a:rPr lang="en-US" dirty="0"/>
              <a:t>:</a:t>
            </a:r>
          </a:p>
          <a:p>
            <a:r>
              <a:rPr lang="en-US" dirty="0"/>
              <a:t>g(z) = 1 / (1 + e^(−z))</a:t>
            </a:r>
          </a:p>
          <a:p>
            <a:r>
              <a:rPr lang="en-US" dirty="0"/>
              <a:t>This function converts z into a value between </a:t>
            </a:r>
            <a:r>
              <a:rPr lang="en-US" b="1" dirty="0"/>
              <a:t>0 and 1</a:t>
            </a:r>
            <a:r>
              <a:rPr lang="en-US" dirty="0"/>
              <a:t>. The result is the activation </a:t>
            </a:r>
            <a:r>
              <a:rPr lang="en-US" b="1" dirty="0"/>
              <a:t>a[2]</a:t>
            </a:r>
            <a:r>
              <a:rPr lang="en-US" dirty="0"/>
              <a:t>.</a:t>
            </a:r>
          </a:p>
          <a:p>
            <a:r>
              <a:rPr lang="en-US" dirty="0"/>
              <a:t>In this example, the output is:</a:t>
            </a:r>
          </a:p>
          <a:p>
            <a:r>
              <a:rPr lang="en-US" dirty="0"/>
              <a:t>a[2] = 0.8</a:t>
            </a:r>
          </a:p>
          <a:p>
            <a:r>
              <a:rPr lang="en-US" dirty="0"/>
              <a:t>This means the neural network is </a:t>
            </a:r>
            <a:r>
              <a:rPr lang="en-US" b="1" dirty="0"/>
              <a:t>80% confident</a:t>
            </a:r>
            <a:r>
              <a:rPr lang="en-US" dirty="0"/>
              <a:t> that the input belongs to the </a:t>
            </a:r>
            <a:r>
              <a:rPr lang="en-US" b="1" dirty="0"/>
              <a:t>positive class</a:t>
            </a:r>
            <a:r>
              <a:rPr lang="en-US" dirty="0"/>
              <a:t>. For example, this could mean “there is an 80% probability that the email is spam” or “an 80% chance that the image contains the target object,” depending on the application.</a:t>
            </a:r>
          </a:p>
          <a:p>
            <a:r>
              <a:rPr lang="en-US" dirty="0"/>
              <a:t>Since this is a </a:t>
            </a:r>
            <a:r>
              <a:rPr lang="en-US" b="1" dirty="0"/>
              <a:t>binary classification problem</a:t>
            </a:r>
            <a:r>
              <a:rPr lang="en-US" dirty="0"/>
              <a:t>, we usually use a </a:t>
            </a:r>
            <a:r>
              <a:rPr lang="en-US" b="1" dirty="0"/>
              <a:t>decision threshold</a:t>
            </a:r>
            <a:r>
              <a:rPr lang="en-US" dirty="0"/>
              <a:t>, commonly 0.5. Because a[2] = 0.8 is greater than 0.5, the model predicts the </a:t>
            </a:r>
            <a:r>
              <a:rPr lang="en-US" b="1" dirty="0"/>
              <a:t>positive class (output = 1)</a:t>
            </a:r>
            <a:r>
              <a:rPr lang="en-US" dirty="0"/>
              <a:t>. If the value were below 0.5, the prediction would be the </a:t>
            </a:r>
            <a:r>
              <a:rPr lang="en-US" b="1" dirty="0"/>
              <a:t>negative class (output = 0)</a:t>
            </a:r>
            <a:r>
              <a:rPr lang="en-US" dirty="0"/>
              <a:t>.</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21</a:t>
            </a:fld>
            <a:endParaRPr lang="en-IL"/>
          </a:p>
        </p:txBody>
      </p:sp>
    </p:spTree>
    <p:extLst>
      <p:ext uri="{BB962C8B-B14F-4D97-AF65-F5344CB8AC3E}">
        <p14:creationId xmlns:p14="http://schemas.microsoft.com/office/powerpoint/2010/main" val="3483938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Neural Network Output Layer: From Probability to Final Prediction</a:t>
            </a:r>
          </a:p>
          <a:p>
            <a:r>
              <a:rPr lang="en-US" dirty="0"/>
              <a:t>This slide explains how a neural network converts the </a:t>
            </a:r>
            <a:r>
              <a:rPr lang="en-US" b="1" dirty="0"/>
              <a:t>output layer activation</a:t>
            </a:r>
            <a:r>
              <a:rPr lang="en-US" dirty="0"/>
              <a:t> into a </a:t>
            </a:r>
            <a:r>
              <a:rPr lang="en-US" b="1" dirty="0"/>
              <a:t>final class prediction</a:t>
            </a:r>
            <a:r>
              <a:rPr lang="en-US" dirty="0"/>
              <a:t>. The output neuron produces a value called </a:t>
            </a:r>
            <a:r>
              <a:rPr lang="en-US" b="1" dirty="0"/>
              <a:t>a[2]</a:t>
            </a:r>
            <a:r>
              <a:rPr lang="en-US" dirty="0"/>
              <a:t>, which represents the model’s confidence in the positive class.</a:t>
            </a:r>
          </a:p>
          <a:p>
            <a:r>
              <a:rPr lang="en-US" dirty="0"/>
              <a:t>After the input x passes through the hidden layers, the network computes the output activation </a:t>
            </a:r>
            <a:r>
              <a:rPr lang="en-US" b="1" dirty="0"/>
              <a:t>a[2]</a:t>
            </a:r>
            <a:r>
              <a:rPr lang="en-US" dirty="0"/>
              <a:t> using the sigmoid function. This value is always between </a:t>
            </a:r>
            <a:r>
              <a:rPr lang="en-US" b="1" dirty="0"/>
              <a:t>0 and 1</a:t>
            </a:r>
            <a:r>
              <a:rPr lang="en-US" dirty="0"/>
              <a:t> and is interpreted as a </a:t>
            </a:r>
            <a:r>
              <a:rPr lang="en-US" b="1" dirty="0"/>
              <a:t>probability</a:t>
            </a:r>
            <a:r>
              <a:rPr lang="en-US" dirty="0"/>
              <a:t>, not a direct class label.</a:t>
            </a:r>
          </a:p>
          <a:p>
            <a:r>
              <a:rPr lang="en-US" dirty="0"/>
              <a:t>In this example, the output value is:</a:t>
            </a:r>
          </a:p>
          <a:p>
            <a:r>
              <a:rPr lang="en-US" dirty="0"/>
              <a:t>a[2] = 0.84</a:t>
            </a:r>
          </a:p>
          <a:p>
            <a:r>
              <a:rPr lang="en-US" dirty="0"/>
              <a:t>This means the neural network estimates an </a:t>
            </a:r>
            <a:r>
              <a:rPr lang="en-US" b="1" dirty="0"/>
              <a:t>84% probability</a:t>
            </a:r>
            <a:r>
              <a:rPr lang="en-US" dirty="0"/>
              <a:t> that the input belongs to </a:t>
            </a:r>
            <a:r>
              <a:rPr lang="en-US" b="1" dirty="0"/>
              <a:t>category 1</a:t>
            </a:r>
            <a:r>
              <a:rPr lang="en-US" dirty="0"/>
              <a:t> (the “yes” or positive class).</a:t>
            </a:r>
          </a:p>
          <a:p>
            <a:r>
              <a:rPr lang="en-US" dirty="0"/>
              <a:t>To convert this probability into a final decision, we apply a </a:t>
            </a:r>
            <a:r>
              <a:rPr lang="en-US" b="1" dirty="0"/>
              <a:t>decision rule</a:t>
            </a:r>
            <a:r>
              <a:rPr lang="en-US" dirty="0"/>
              <a:t> using a threshold, typically </a:t>
            </a:r>
            <a:r>
              <a:rPr lang="en-US" b="1" dirty="0"/>
              <a:t>0.5</a:t>
            </a:r>
            <a:r>
              <a:rPr lang="en-US" dirty="0"/>
              <a:t>:</a:t>
            </a:r>
          </a:p>
          <a:p>
            <a:pPr>
              <a:buFont typeface="Arial" panose="020B0604020202020204" pitchFamily="34" charset="0"/>
              <a:buChar char="•"/>
            </a:pPr>
            <a:r>
              <a:rPr lang="en-US" dirty="0"/>
              <a:t>If a[2] &gt;= 0.5, then predict </a:t>
            </a:r>
            <a:r>
              <a:rPr lang="en-US" dirty="0" err="1"/>
              <a:t>y_hat</a:t>
            </a:r>
            <a:r>
              <a:rPr lang="en-US" dirty="0"/>
              <a:t> = 1 (yes)</a:t>
            </a:r>
          </a:p>
          <a:p>
            <a:pPr>
              <a:buFont typeface="Arial" panose="020B0604020202020204" pitchFamily="34" charset="0"/>
              <a:buChar char="•"/>
            </a:pPr>
            <a:r>
              <a:rPr lang="en-US" dirty="0"/>
              <a:t>If a[2] &lt; 0.5, then predict </a:t>
            </a:r>
            <a:r>
              <a:rPr lang="en-US" dirty="0" err="1"/>
              <a:t>y_hat</a:t>
            </a:r>
            <a:r>
              <a:rPr lang="en-US" dirty="0"/>
              <a:t> = 0 (no)</a:t>
            </a:r>
          </a:p>
          <a:p>
            <a:r>
              <a:rPr lang="en-US" dirty="0"/>
              <a:t>Since a[2] = 0.84 is greater than 0.5, the network predicts </a:t>
            </a:r>
            <a:r>
              <a:rPr lang="en-US" b="1" dirty="0"/>
              <a:t>category 1</a:t>
            </a:r>
            <a:r>
              <a:rPr lang="en-US" dirty="0"/>
              <a:t>.</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22</a:t>
            </a:fld>
            <a:endParaRPr lang="en-IL"/>
          </a:p>
        </p:txBody>
      </p:sp>
    </p:spTree>
    <p:extLst>
      <p:ext uri="{BB962C8B-B14F-4D97-AF65-F5344CB8AC3E}">
        <p14:creationId xmlns:p14="http://schemas.microsoft.com/office/powerpoint/2010/main" val="2953527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Neural Network Model: More Complex Neural Networks</a:t>
            </a:r>
          </a:p>
          <a:p>
            <a:r>
              <a:rPr lang="en-US" dirty="0"/>
              <a:t>This section introduces </a:t>
            </a:r>
            <a:r>
              <a:rPr lang="en-US" b="1" dirty="0"/>
              <a:t>more complex neural networks</a:t>
            </a:r>
            <a:r>
              <a:rPr lang="en-US" dirty="0"/>
              <a:t> with multiple hidden layers, showing how stacking layers allows the model to learn richer and more abstract features.</a:t>
            </a:r>
          </a:p>
          <a:p>
            <a:endParaRPr lang="en-IL" dirty="0"/>
          </a:p>
        </p:txBody>
      </p:sp>
    </p:spTree>
    <p:extLst>
      <p:ext uri="{BB962C8B-B14F-4D97-AF65-F5344CB8AC3E}">
        <p14:creationId xmlns:p14="http://schemas.microsoft.com/office/powerpoint/2010/main" val="5086024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More Complex Neural Network: Learning in Multiple Stages</a:t>
            </a:r>
          </a:p>
          <a:p>
            <a:r>
              <a:rPr lang="en-US" dirty="0"/>
              <a:t>This slide shows a </a:t>
            </a:r>
            <a:r>
              <a:rPr lang="en-US" b="1" dirty="0"/>
              <a:t>more complex neural network</a:t>
            </a:r>
            <a:r>
              <a:rPr lang="en-US" dirty="0"/>
              <a:t> made of several layers stacked together. The network starts with the </a:t>
            </a:r>
            <a:r>
              <a:rPr lang="en-US" b="1" dirty="0"/>
              <a:t>input layer (layer 0)</a:t>
            </a:r>
            <a:r>
              <a:rPr lang="en-US" dirty="0"/>
              <a:t>, passes through multiple </a:t>
            </a:r>
            <a:r>
              <a:rPr lang="en-US" b="1" dirty="0"/>
              <a:t>hidden layers</a:t>
            </a:r>
            <a:r>
              <a:rPr lang="en-US" dirty="0"/>
              <a:t>, and ends with a single </a:t>
            </a:r>
            <a:r>
              <a:rPr lang="en-US" b="1" dirty="0"/>
              <a:t>output layer</a:t>
            </a:r>
            <a:r>
              <a:rPr lang="en-US" dirty="0"/>
              <a:t> that produces the final prediction.</a:t>
            </a:r>
          </a:p>
          <a:p>
            <a:r>
              <a:rPr lang="en-US" dirty="0"/>
              <a:t>The </a:t>
            </a:r>
            <a:r>
              <a:rPr lang="en-US" b="1" dirty="0"/>
              <a:t>input layer (layer 0)</a:t>
            </a:r>
            <a:r>
              <a:rPr lang="en-US" dirty="0"/>
              <a:t> receives the raw input data x. This could be pixel values of an image, numerical features from a dataset, or any other input representation. At this stage, the network does not make decisions; it only passes information forward.</a:t>
            </a:r>
          </a:p>
          <a:p>
            <a:r>
              <a:rPr lang="en-US" dirty="0"/>
              <a:t>The </a:t>
            </a:r>
            <a:r>
              <a:rPr lang="en-US" b="1" dirty="0"/>
              <a:t>hidden layers (layer 1, layer 2, and layer 3)</a:t>
            </a:r>
            <a:r>
              <a:rPr lang="en-US" dirty="0"/>
              <a:t> are where learning really happens. Each hidden layer takes the output (activations) from the previous layer and transforms it into a new representation. These layers gradually learn </a:t>
            </a:r>
            <a:r>
              <a:rPr lang="en-US" b="1" dirty="0"/>
              <a:t>more complex and abstract features</a:t>
            </a:r>
            <a:r>
              <a:rPr lang="en-US" dirty="0"/>
              <a:t>. Early hidden layers usually learn simple patterns, while deeper hidden layers combine these patterns into more meaningful concepts.</a:t>
            </a:r>
          </a:p>
          <a:p>
            <a:r>
              <a:rPr lang="en-US" dirty="0"/>
              <a:t>The activations are written as:</a:t>
            </a:r>
          </a:p>
          <a:p>
            <a:pPr>
              <a:buFont typeface="Arial" panose="020B0604020202020204" pitchFamily="34" charset="0"/>
              <a:buChar char="•"/>
            </a:pPr>
            <a:r>
              <a:rPr lang="en-US" dirty="0"/>
              <a:t>a[1] for layer 1</a:t>
            </a:r>
          </a:p>
          <a:p>
            <a:pPr>
              <a:buFont typeface="Arial" panose="020B0604020202020204" pitchFamily="34" charset="0"/>
              <a:buChar char="•"/>
            </a:pPr>
            <a:r>
              <a:rPr lang="en-US" dirty="0"/>
              <a:t>a[2] for layer 2</a:t>
            </a:r>
          </a:p>
          <a:p>
            <a:pPr>
              <a:buFont typeface="Arial" panose="020B0604020202020204" pitchFamily="34" charset="0"/>
              <a:buChar char="•"/>
            </a:pPr>
            <a:r>
              <a:rPr lang="en-US" dirty="0"/>
              <a:t>a[3] for layer 3</a:t>
            </a:r>
          </a:p>
          <a:p>
            <a:r>
              <a:rPr lang="en-US" dirty="0"/>
              <a:t>Each activation vector summarizes what the network has learned so far about the input.</a:t>
            </a:r>
          </a:p>
          <a:p>
            <a:r>
              <a:rPr lang="en-US" dirty="0"/>
              <a:t>The </a:t>
            </a:r>
            <a:r>
              <a:rPr lang="en-US" b="1" dirty="0"/>
              <a:t>output layer (layer 4)</a:t>
            </a:r>
            <a:r>
              <a:rPr lang="en-US" dirty="0"/>
              <a:t> receives the final activation vector a[3] and produces the output a[4]. This value represents the </a:t>
            </a:r>
            <a:r>
              <a:rPr lang="en-US" b="1" dirty="0"/>
              <a:t>final prediction</a:t>
            </a:r>
            <a:r>
              <a:rPr lang="en-US" dirty="0"/>
              <a:t> of the network. In binary classification, a[4] is usually a number between 0 and 1 and is interpreted as a probability.</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24</a:t>
            </a:fld>
            <a:endParaRPr lang="en-IL"/>
          </a:p>
        </p:txBody>
      </p:sp>
    </p:spTree>
    <p:extLst>
      <p:ext uri="{BB962C8B-B14F-4D97-AF65-F5344CB8AC3E}">
        <p14:creationId xmlns:p14="http://schemas.microsoft.com/office/powerpoint/2010/main" val="36344553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More Complex Neural Network: Inside a Hidden Layer</a:t>
            </a:r>
          </a:p>
          <a:p>
            <a:r>
              <a:rPr lang="en-US" dirty="0"/>
              <a:t>This slide zooms into a </a:t>
            </a:r>
            <a:r>
              <a:rPr lang="en-US" b="1" dirty="0"/>
              <a:t>hidden layer inside a deep neural network</a:t>
            </a:r>
            <a:r>
              <a:rPr lang="en-US" dirty="0"/>
              <a:t> and explains how the activations of that layer are computed. The network receives the input x, passes it through several layers, and each layer transforms the information before sending it forward.</a:t>
            </a:r>
          </a:p>
          <a:p>
            <a:r>
              <a:rPr lang="en-US" dirty="0"/>
              <a:t>At this stage, the input to </a:t>
            </a:r>
            <a:r>
              <a:rPr lang="en-US" b="1" dirty="0"/>
              <a:t>layer 3</a:t>
            </a:r>
            <a:r>
              <a:rPr lang="en-US" dirty="0"/>
              <a:t> is the activation vector from the previous layer, written as </a:t>
            </a:r>
            <a:r>
              <a:rPr lang="en-US" b="1" dirty="0"/>
              <a:t>a[2]</a:t>
            </a:r>
            <a:r>
              <a:rPr lang="en-US" dirty="0"/>
              <a:t>. This vector contains values that represent features learned so far by the network. Every neuron in layer 3 receives the </a:t>
            </a:r>
            <a:r>
              <a:rPr lang="en-US" b="1" dirty="0"/>
              <a:t>same input vector a[2]</a:t>
            </a:r>
            <a:r>
              <a:rPr lang="en-US" dirty="0"/>
              <a:t>, but each neuron processes it using </a:t>
            </a:r>
            <a:r>
              <a:rPr lang="en-US" b="1" dirty="0"/>
              <a:t>different weights and a different bias</a:t>
            </a:r>
            <a:r>
              <a:rPr lang="en-US" dirty="0"/>
              <a:t>.</a:t>
            </a:r>
          </a:p>
          <a:p>
            <a:r>
              <a:rPr lang="en-US" dirty="0"/>
              <a:t>Each neuron in layer 3 computes its own value:</a:t>
            </a:r>
          </a:p>
          <a:p>
            <a:r>
              <a:rPr lang="en-US" dirty="0"/>
              <a:t>z = w[3] · a[2] + b[3]</a:t>
            </a:r>
          </a:p>
          <a:p>
            <a:r>
              <a:rPr lang="en-US" dirty="0"/>
              <a:t>This is a weighted sum of the inputs plus a bias. The neuron then applies the </a:t>
            </a:r>
            <a:r>
              <a:rPr lang="en-US" b="1" dirty="0"/>
              <a:t>activation function g</a:t>
            </a:r>
            <a:r>
              <a:rPr lang="en-US" dirty="0"/>
              <a:t>, which in this slide is the sigmoid function, to produce an activation value.</a:t>
            </a:r>
          </a:p>
          <a:p>
            <a:r>
              <a:rPr lang="en-US" dirty="0"/>
              <a:t>For example:</a:t>
            </a:r>
          </a:p>
          <a:p>
            <a:pPr>
              <a:buFont typeface="Arial" panose="020B0604020202020204" pitchFamily="34" charset="0"/>
              <a:buChar char="•"/>
            </a:pPr>
            <a:r>
              <a:rPr lang="en-US" dirty="0"/>
              <a:t>a1[3] = g(w1[3] · a[2] + b1[3])</a:t>
            </a:r>
          </a:p>
          <a:p>
            <a:pPr>
              <a:buFont typeface="Arial" panose="020B0604020202020204" pitchFamily="34" charset="0"/>
              <a:buChar char="•"/>
            </a:pPr>
            <a:r>
              <a:rPr lang="en-US" dirty="0"/>
              <a:t>a2[3] = g(w2[3] · a[2] + b2[3])</a:t>
            </a:r>
          </a:p>
          <a:p>
            <a:pPr>
              <a:buFont typeface="Arial" panose="020B0604020202020204" pitchFamily="34" charset="0"/>
              <a:buChar char="•"/>
            </a:pPr>
            <a:r>
              <a:rPr lang="en-US" dirty="0"/>
              <a:t>a3[3] = g(w3[3] · a[2] + b3[3])</a:t>
            </a:r>
          </a:p>
          <a:p>
            <a:r>
              <a:rPr lang="en-US" dirty="0"/>
              <a:t>Each of these values is a </a:t>
            </a:r>
            <a:r>
              <a:rPr lang="en-US" b="1" dirty="0"/>
              <a:t>single number</a:t>
            </a:r>
            <a:r>
              <a:rPr lang="en-US" dirty="0"/>
              <a:t>, produced by one neuron in the layer.</a:t>
            </a:r>
          </a:p>
          <a:p>
            <a:r>
              <a:rPr lang="en-US" dirty="0"/>
              <a:t>All activation values from layer 3 are then </a:t>
            </a:r>
            <a:r>
              <a:rPr lang="en-US" b="1" dirty="0"/>
              <a:t>stacked together</a:t>
            </a:r>
            <a:r>
              <a:rPr lang="en-US" dirty="0"/>
              <a:t> to form the activation vector:</a:t>
            </a:r>
          </a:p>
          <a:p>
            <a:r>
              <a:rPr lang="en-US" dirty="0"/>
              <a:t>a[3] = [a1[3], a2[3], a3[3]]^T</a:t>
            </a:r>
          </a:p>
          <a:p>
            <a:r>
              <a:rPr lang="en-US" dirty="0"/>
              <a:t>This vector a[3] becomes the </a:t>
            </a:r>
            <a:r>
              <a:rPr lang="en-US" b="1" dirty="0"/>
              <a:t>input to the next layer</a:t>
            </a:r>
            <a:r>
              <a:rPr lang="en-US" dirty="0"/>
              <a:t> in the network.</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25</a:t>
            </a:fld>
            <a:endParaRPr lang="en-IL"/>
          </a:p>
        </p:txBody>
      </p:sp>
    </p:spTree>
    <p:extLst>
      <p:ext uri="{BB962C8B-B14F-4D97-AF65-F5344CB8AC3E}">
        <p14:creationId xmlns:p14="http://schemas.microsoft.com/office/powerpoint/2010/main" val="22779217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Neural Network Notation: Understanding the Symbols</a:t>
            </a:r>
          </a:p>
          <a:p>
            <a:r>
              <a:rPr lang="en-US" dirty="0"/>
              <a:t>This slide explains the </a:t>
            </a:r>
            <a:r>
              <a:rPr lang="en-US" b="1" dirty="0"/>
              <a:t>notation</a:t>
            </a:r>
            <a:r>
              <a:rPr lang="en-US" dirty="0"/>
              <a:t> used to describe neural networks. Learning this notation is very important because it allows us to describe complex neural networks in a clear, short, and consistent way. Once students understand this notation, reading formulas, slides, and code becomes much easier.</a:t>
            </a:r>
          </a:p>
          <a:p>
            <a:r>
              <a:rPr lang="en-US" dirty="0"/>
              <a:t>In neural networks, layers are numbered using </a:t>
            </a:r>
            <a:r>
              <a:rPr lang="en-US" b="1" dirty="0"/>
              <a:t>superscripts inside square brackets</a:t>
            </a:r>
            <a:r>
              <a:rPr lang="en-US" dirty="0"/>
              <a:t>. The input layer is called </a:t>
            </a:r>
            <a:r>
              <a:rPr lang="en-US" b="1" dirty="0"/>
              <a:t>layer 0</a:t>
            </a:r>
            <a:r>
              <a:rPr lang="en-US" dirty="0"/>
              <a:t>, and its values are written as </a:t>
            </a:r>
            <a:r>
              <a:rPr lang="en-US" b="1" dirty="0"/>
              <a:t>x</a:t>
            </a:r>
            <a:r>
              <a:rPr lang="en-US" dirty="0"/>
              <a:t> or </a:t>
            </a:r>
            <a:r>
              <a:rPr lang="en-US" b="1" dirty="0"/>
              <a:t>a[0]</a:t>
            </a:r>
            <a:r>
              <a:rPr lang="en-US" dirty="0"/>
              <a:t>. The first hidden layer is </a:t>
            </a:r>
            <a:r>
              <a:rPr lang="en-US" b="1" dirty="0"/>
              <a:t>layer 1</a:t>
            </a:r>
            <a:r>
              <a:rPr lang="en-US" dirty="0"/>
              <a:t>, and its output is written as </a:t>
            </a:r>
            <a:r>
              <a:rPr lang="en-US" b="1" dirty="0"/>
              <a:t>a[1]</a:t>
            </a:r>
            <a:r>
              <a:rPr lang="en-US" dirty="0"/>
              <a:t>. The second hidden layer is </a:t>
            </a:r>
            <a:r>
              <a:rPr lang="en-US" b="1" dirty="0"/>
              <a:t>layer 2</a:t>
            </a:r>
            <a:r>
              <a:rPr lang="en-US" dirty="0"/>
              <a:t> with output </a:t>
            </a:r>
            <a:r>
              <a:rPr lang="en-US" b="1" dirty="0"/>
              <a:t>a[2]</a:t>
            </a:r>
            <a:r>
              <a:rPr lang="en-US" dirty="0"/>
              <a:t>, and the third hidden layer is </a:t>
            </a:r>
            <a:r>
              <a:rPr lang="en-US" b="1" dirty="0"/>
              <a:t>layer 3</a:t>
            </a:r>
            <a:r>
              <a:rPr lang="en-US" dirty="0"/>
              <a:t> with output </a:t>
            </a:r>
            <a:r>
              <a:rPr lang="en-US" b="1" dirty="0"/>
              <a:t>a[3]</a:t>
            </a:r>
            <a:r>
              <a:rPr lang="en-US" dirty="0"/>
              <a:t>. The final output layer is </a:t>
            </a:r>
            <a:r>
              <a:rPr lang="en-US" b="1" dirty="0"/>
              <a:t>layer 4</a:t>
            </a:r>
            <a:r>
              <a:rPr lang="en-US" dirty="0"/>
              <a:t>, and its output is written as </a:t>
            </a:r>
            <a:r>
              <a:rPr lang="en-US" b="1" dirty="0"/>
              <a:t>a[4]</a:t>
            </a:r>
            <a:r>
              <a:rPr lang="en-US" dirty="0"/>
              <a:t>. In general, </a:t>
            </a:r>
            <a:r>
              <a:rPr lang="en-US" b="1" dirty="0"/>
              <a:t>a[l]</a:t>
            </a:r>
            <a:r>
              <a:rPr lang="en-US" dirty="0"/>
              <a:t> means the activation vector produced by layer </a:t>
            </a:r>
            <a:r>
              <a:rPr lang="en-US" b="1" dirty="0"/>
              <a:t>l</a:t>
            </a:r>
            <a:r>
              <a:rPr lang="en-US" dirty="0"/>
              <a:t>.</a:t>
            </a:r>
          </a:p>
          <a:p>
            <a:r>
              <a:rPr lang="en-US" dirty="0"/>
              <a:t>Inside each layer, there are multiple neurons. To refer to a specific neuron inside a layer, we use a </a:t>
            </a:r>
            <a:r>
              <a:rPr lang="en-US" b="1" dirty="0"/>
              <a:t>subscript</a:t>
            </a:r>
            <a:r>
              <a:rPr lang="en-US" dirty="0"/>
              <a:t>. For example, </a:t>
            </a:r>
            <a:r>
              <a:rPr lang="en-US" b="1" dirty="0"/>
              <a:t>a1[3]</a:t>
            </a:r>
            <a:r>
              <a:rPr lang="en-US" dirty="0"/>
              <a:t> means the activation of neuron 1 in layer 3, while </a:t>
            </a:r>
            <a:r>
              <a:rPr lang="en-US" b="1" dirty="0"/>
              <a:t>a2[3]</a:t>
            </a:r>
            <a:r>
              <a:rPr lang="en-US" dirty="0"/>
              <a:t> and </a:t>
            </a:r>
            <a:r>
              <a:rPr lang="en-US" b="1" dirty="0"/>
              <a:t>a3[3]</a:t>
            </a:r>
            <a:r>
              <a:rPr lang="en-US" dirty="0"/>
              <a:t> refer to neurons 2 and 3 in the same layer. Each neuron computes its activation by taking the activation vector from the previous layer, multiplying it by its own weights, adding a bias, and then applying an activation function.</a:t>
            </a:r>
          </a:p>
          <a:p>
            <a:r>
              <a:rPr lang="en-US" dirty="0"/>
              <a:t>The computation performed by a neuron in layer 3 can be written as</a:t>
            </a:r>
            <a:br>
              <a:rPr lang="en-US" dirty="0"/>
            </a:br>
            <a:r>
              <a:rPr lang="en-US" dirty="0" err="1"/>
              <a:t>a_j</a:t>
            </a:r>
            <a:r>
              <a:rPr lang="en-US" dirty="0"/>
              <a:t>[3] = g( </a:t>
            </a:r>
            <a:r>
              <a:rPr lang="en-US" dirty="0" err="1"/>
              <a:t>w_j</a:t>
            </a:r>
            <a:r>
              <a:rPr lang="en-US" dirty="0"/>
              <a:t>[3] · a[2] + </a:t>
            </a:r>
            <a:r>
              <a:rPr lang="en-US" dirty="0" err="1"/>
              <a:t>b_j</a:t>
            </a:r>
            <a:r>
              <a:rPr lang="en-US" dirty="0"/>
              <a:t>[3] ).</a:t>
            </a:r>
            <a:br>
              <a:rPr lang="en-US" dirty="0"/>
            </a:br>
            <a:r>
              <a:rPr lang="en-US" dirty="0"/>
              <a:t>Here, </a:t>
            </a:r>
            <a:r>
              <a:rPr lang="en-US" b="1" dirty="0"/>
              <a:t>a[2]</a:t>
            </a:r>
            <a:r>
              <a:rPr lang="en-US" dirty="0"/>
              <a:t> is the activation vector from the previous layer, </a:t>
            </a:r>
            <a:r>
              <a:rPr lang="en-US" b="1" dirty="0" err="1"/>
              <a:t>w_j</a:t>
            </a:r>
            <a:r>
              <a:rPr lang="en-US" b="1" dirty="0"/>
              <a:t>[3]</a:t>
            </a:r>
            <a:r>
              <a:rPr lang="en-US" dirty="0"/>
              <a:t> represents the weights of neuron j in layer 3, </a:t>
            </a:r>
            <a:r>
              <a:rPr lang="en-US" b="1" dirty="0" err="1"/>
              <a:t>b_j</a:t>
            </a:r>
            <a:r>
              <a:rPr lang="en-US" b="1" dirty="0"/>
              <a:t>[3]</a:t>
            </a:r>
            <a:r>
              <a:rPr lang="en-US" dirty="0"/>
              <a:t> is its bias, and </a:t>
            </a:r>
            <a:r>
              <a:rPr lang="en-US" b="1" dirty="0"/>
              <a:t>g(.)</a:t>
            </a:r>
            <a:r>
              <a:rPr lang="en-US" dirty="0"/>
              <a:t> is the activation function, such as the sigmoid function.</a:t>
            </a:r>
          </a:p>
          <a:p>
            <a:r>
              <a:rPr lang="en-US" dirty="0"/>
              <a:t>All activation values produced by neurons in the same layer are then grouped together to form an </a:t>
            </a:r>
            <a:r>
              <a:rPr lang="en-US" b="1" dirty="0"/>
              <a:t>activation vector</a:t>
            </a:r>
            <a:r>
              <a:rPr lang="en-US" dirty="0"/>
              <a:t>. For example, the activation vector of layer 3 is written as</a:t>
            </a:r>
            <a:br>
              <a:rPr lang="en-US" dirty="0"/>
            </a:br>
            <a:r>
              <a:rPr lang="en-US" dirty="0"/>
              <a:t>a[3] = [ a1[3], a2[3], a3[3] ]^T.</a:t>
            </a:r>
            <a:br>
              <a:rPr lang="en-US" dirty="0"/>
            </a:br>
            <a:r>
              <a:rPr lang="en-US" dirty="0"/>
              <a:t>This vector becomes the input to the next layer in the network.</a:t>
            </a:r>
          </a:p>
          <a:p>
            <a:r>
              <a:rPr lang="en-US" dirty="0"/>
              <a:t>The key idea to remember is that </a:t>
            </a:r>
            <a:r>
              <a:rPr lang="en-US" b="1" dirty="0"/>
              <a:t>superscripts indicate layer numbers</a:t>
            </a:r>
            <a:r>
              <a:rPr lang="en-US" dirty="0"/>
              <a:t>, </a:t>
            </a:r>
            <a:r>
              <a:rPr lang="en-US" b="1" dirty="0"/>
              <a:t>subscripts indicate neuron numbers</a:t>
            </a:r>
            <a:r>
              <a:rPr lang="en-US" dirty="0"/>
              <a:t>, and </a:t>
            </a:r>
            <a:r>
              <a:rPr lang="en-US" b="1" dirty="0"/>
              <a:t>activation vectors flow forward from one layer to the next</a:t>
            </a:r>
            <a:r>
              <a:rPr lang="en-US" dirty="0"/>
              <a:t>. This notation allows us to describe very large and deep neural networks in a simple and organized way, and it forms the foundation for understanding forward propagation, backpropagation, and neural network implementation in code.</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26</a:t>
            </a:fld>
            <a:endParaRPr lang="en-IL"/>
          </a:p>
        </p:txBody>
      </p:sp>
    </p:spTree>
    <p:extLst>
      <p:ext uri="{BB962C8B-B14F-4D97-AF65-F5344CB8AC3E}">
        <p14:creationId xmlns:p14="http://schemas.microsoft.com/office/powerpoint/2010/main" val="8729049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question checks whether students correctly understand neural network notation by identifying the correct layer index, neuron index, and input activation vector for the second neuron in the hidden layer.</a:t>
            </a:r>
          </a:p>
          <a:p>
            <a:endParaRPr lang="en-IL" dirty="0"/>
          </a:p>
        </p:txBody>
      </p:sp>
    </p:spTree>
    <p:extLst>
      <p:ext uri="{BB962C8B-B14F-4D97-AF65-F5344CB8AC3E}">
        <p14:creationId xmlns:p14="http://schemas.microsoft.com/office/powerpoint/2010/main" val="28889280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The network starts with the </a:t>
            </a:r>
            <a:r>
              <a:rPr lang="en-US" b="1" dirty="0"/>
              <a:t>input x</a:t>
            </a:r>
            <a:r>
              <a:rPr lang="en-US" dirty="0"/>
              <a:t>, which is also called </a:t>
            </a:r>
            <a:r>
              <a:rPr lang="en-US" b="1" dirty="0"/>
              <a:t>a[0]</a:t>
            </a:r>
            <a:r>
              <a:rPr lang="en-US" dirty="0"/>
              <a:t>. This input is passed to layer 1, producing the activation vector </a:t>
            </a:r>
            <a:r>
              <a:rPr lang="en-US" b="1" dirty="0"/>
              <a:t>a[1]</a:t>
            </a:r>
            <a:r>
              <a:rPr lang="en-US" dirty="0"/>
              <a:t>. The activations then flow forward through layer 2, layer 3, and finally reach the </a:t>
            </a:r>
            <a:r>
              <a:rPr lang="en-US" b="1" dirty="0"/>
              <a:t>output layer (layer 4)</a:t>
            </a:r>
            <a:r>
              <a:rPr lang="en-US" dirty="0"/>
              <a:t>, producing </a:t>
            </a:r>
            <a:r>
              <a:rPr lang="en-US" b="1" dirty="0"/>
              <a:t>a[4]</a:t>
            </a:r>
            <a:r>
              <a:rPr lang="en-US" dirty="0"/>
              <a:t>. In general, </a:t>
            </a:r>
            <a:r>
              <a:rPr lang="en-US" b="1" dirty="0"/>
              <a:t>a[l]</a:t>
            </a:r>
            <a:r>
              <a:rPr lang="en-US" dirty="0"/>
              <a:t> represents the output (activation vector) of layer </a:t>
            </a:r>
            <a:r>
              <a:rPr lang="en-US" b="1" dirty="0"/>
              <a:t>l</a:t>
            </a:r>
            <a:r>
              <a:rPr lang="en-US" dirty="0"/>
              <a:t>, and it always comes from processing the output of the previous layer </a:t>
            </a:r>
            <a:r>
              <a:rPr lang="en-US" b="1" dirty="0"/>
              <a:t>a[l−1]</a:t>
            </a:r>
            <a:r>
              <a:rPr lang="en-US" dirty="0"/>
              <a:t>.</a:t>
            </a:r>
          </a:p>
          <a:p>
            <a:r>
              <a:rPr lang="en-US" dirty="0"/>
              <a:t>Inside a layer, each neuron is identified using a </a:t>
            </a:r>
            <a:r>
              <a:rPr lang="en-US" b="1" dirty="0"/>
              <a:t>subscript j</a:t>
            </a:r>
            <a:r>
              <a:rPr lang="en-US" dirty="0"/>
              <a:t>. For example, </a:t>
            </a:r>
            <a:r>
              <a:rPr lang="en-US" b="1" dirty="0" err="1"/>
              <a:t>a_j</a:t>
            </a:r>
            <a:r>
              <a:rPr lang="en-US" b="1" dirty="0"/>
              <a:t>[l]</a:t>
            </a:r>
            <a:r>
              <a:rPr lang="en-US" dirty="0"/>
              <a:t> means the activation value of </a:t>
            </a:r>
            <a:r>
              <a:rPr lang="en-US" b="1" dirty="0"/>
              <a:t>neuron j in layer l</a:t>
            </a:r>
            <a:r>
              <a:rPr lang="en-US" dirty="0"/>
              <a:t>. This is a single number produced by one neuron. The slide highlights one such neuron and shows how its activation is computed.</a:t>
            </a:r>
          </a:p>
          <a:p>
            <a:r>
              <a:rPr lang="en-US" dirty="0"/>
              <a:t>The key formula in this slide is:</a:t>
            </a:r>
          </a:p>
          <a:p>
            <a:r>
              <a:rPr lang="en-US" dirty="0" err="1"/>
              <a:t>a_j</a:t>
            </a:r>
            <a:r>
              <a:rPr lang="en-US" dirty="0"/>
              <a:t>[l] = g( </a:t>
            </a:r>
            <a:r>
              <a:rPr lang="en-US" dirty="0" err="1"/>
              <a:t>w_j</a:t>
            </a:r>
            <a:r>
              <a:rPr lang="en-US" dirty="0"/>
              <a:t>[l] · a[l−1] + </a:t>
            </a:r>
            <a:r>
              <a:rPr lang="en-US" dirty="0" err="1"/>
              <a:t>b_j</a:t>
            </a:r>
            <a:r>
              <a:rPr lang="en-US" dirty="0"/>
              <a:t>[l] )</a:t>
            </a:r>
          </a:p>
          <a:p>
            <a:r>
              <a:rPr lang="en-US" dirty="0"/>
              <a:t>This formula tells us exactly what one neuron does. First, the neuron takes the activation vector from the </a:t>
            </a:r>
            <a:r>
              <a:rPr lang="en-US" b="1" dirty="0"/>
              <a:t>previous layer</a:t>
            </a:r>
            <a:r>
              <a:rPr lang="en-US" dirty="0"/>
              <a:t>, written as </a:t>
            </a:r>
            <a:r>
              <a:rPr lang="en-US" b="1" dirty="0"/>
              <a:t>a[l−1]</a:t>
            </a:r>
            <a:r>
              <a:rPr lang="en-US" dirty="0"/>
              <a:t>. It multiplies this vector by its own </a:t>
            </a:r>
            <a:r>
              <a:rPr lang="en-US" b="1" dirty="0"/>
              <a:t>weight vector </a:t>
            </a:r>
            <a:r>
              <a:rPr lang="en-US" b="1" dirty="0" err="1"/>
              <a:t>w_j</a:t>
            </a:r>
            <a:r>
              <a:rPr lang="en-US" b="1" dirty="0"/>
              <a:t>[l]</a:t>
            </a:r>
            <a:r>
              <a:rPr lang="en-US" dirty="0"/>
              <a:t>, then adds a </a:t>
            </a:r>
            <a:r>
              <a:rPr lang="en-US" b="1" dirty="0"/>
              <a:t>bias term </a:t>
            </a:r>
            <a:r>
              <a:rPr lang="en-US" b="1" dirty="0" err="1"/>
              <a:t>b_j</a:t>
            </a:r>
            <a:r>
              <a:rPr lang="en-US" b="1" dirty="0"/>
              <a:t>[l]</a:t>
            </a:r>
            <a:r>
              <a:rPr lang="en-US" dirty="0"/>
              <a:t>. This produces an intermediate value called </a:t>
            </a:r>
            <a:r>
              <a:rPr lang="en-US" b="1" dirty="0"/>
              <a:t>z</a:t>
            </a:r>
            <a:r>
              <a:rPr lang="en-US" dirty="0"/>
              <a:t>. Next, the neuron applies an </a:t>
            </a:r>
            <a:r>
              <a:rPr lang="en-US" b="1" dirty="0"/>
              <a:t>activation function g(.)</a:t>
            </a:r>
            <a:r>
              <a:rPr lang="en-US" dirty="0"/>
              <a:t>, which in this slide is the </a:t>
            </a:r>
            <a:r>
              <a:rPr lang="en-US" b="1" dirty="0"/>
              <a:t>sigmoid function</a:t>
            </a:r>
            <a:r>
              <a:rPr lang="en-US" dirty="0"/>
              <a:t>. The output of this function is the activation value </a:t>
            </a:r>
            <a:r>
              <a:rPr lang="en-US" b="1" dirty="0" err="1"/>
              <a:t>a_j</a:t>
            </a:r>
            <a:r>
              <a:rPr lang="en-US" b="1" dirty="0"/>
              <a:t>[l]</a:t>
            </a:r>
            <a:r>
              <a:rPr lang="en-US" dirty="0"/>
              <a:t>.</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28</a:t>
            </a:fld>
            <a:endParaRPr lang="en-IL"/>
          </a:p>
        </p:txBody>
      </p:sp>
    </p:spTree>
    <p:extLst>
      <p:ext uri="{BB962C8B-B14F-4D97-AF65-F5344CB8AC3E}">
        <p14:creationId xmlns:p14="http://schemas.microsoft.com/office/powerpoint/2010/main" val="24320431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Forward Propagation: A Brief Explanation</a:t>
            </a:r>
          </a:p>
          <a:p>
            <a:r>
              <a:rPr lang="en-US" dirty="0"/>
              <a:t>Forward propagation is the process by which a neural network </a:t>
            </a:r>
            <a:r>
              <a:rPr lang="en-US" b="1" dirty="0"/>
              <a:t>computes its output</a:t>
            </a:r>
            <a:r>
              <a:rPr lang="en-US" dirty="0"/>
              <a:t> by moving information </a:t>
            </a:r>
            <a:r>
              <a:rPr lang="en-US" b="1" dirty="0"/>
              <a:t>from the input layer to the output layer</a:t>
            </a:r>
            <a:r>
              <a:rPr lang="en-US" dirty="0"/>
              <a:t>. It is the step the network uses to </a:t>
            </a:r>
            <a:r>
              <a:rPr lang="en-US" b="1" dirty="0"/>
              <a:t>make a prediction</a:t>
            </a:r>
            <a:r>
              <a:rPr lang="en-US" dirty="0"/>
              <a:t>.</a:t>
            </a:r>
          </a:p>
          <a:p>
            <a:r>
              <a:rPr lang="en-US" dirty="0"/>
              <a:t>The process starts with the input </a:t>
            </a:r>
            <a:r>
              <a:rPr lang="en-US" b="1" dirty="0"/>
              <a:t>x</a:t>
            </a:r>
            <a:r>
              <a:rPr lang="en-US" dirty="0"/>
              <a:t>, also written as </a:t>
            </a:r>
            <a:r>
              <a:rPr lang="en-US" b="1" dirty="0"/>
              <a:t>a[0]</a:t>
            </a:r>
            <a:r>
              <a:rPr lang="en-US" dirty="0"/>
              <a:t>. This input is passed to the first hidden layer, where each neuron computes an activation using weights, a bias, and an activation function. This produces the activation vector </a:t>
            </a:r>
            <a:r>
              <a:rPr lang="en-US" b="1" dirty="0"/>
              <a:t>a[1]</a:t>
            </a:r>
            <a:r>
              <a:rPr lang="en-US" dirty="0"/>
              <a:t>.</a:t>
            </a:r>
          </a:p>
          <a:p>
            <a:r>
              <a:rPr lang="en-US" dirty="0"/>
              <a:t>The same computation is repeated layer by layer. The output of each layer </a:t>
            </a:r>
            <a:r>
              <a:rPr lang="en-US" b="1" dirty="0"/>
              <a:t>a[l−1]</a:t>
            </a:r>
            <a:r>
              <a:rPr lang="en-US" dirty="0"/>
              <a:t> becomes the input to the next layer </a:t>
            </a:r>
            <a:r>
              <a:rPr lang="en-US" b="1" dirty="0"/>
              <a:t>a[l]</a:t>
            </a:r>
            <a:r>
              <a:rPr lang="en-US" dirty="0"/>
              <a:t>, using the formula:</a:t>
            </a:r>
          </a:p>
          <a:p>
            <a:r>
              <a:rPr lang="en-US" dirty="0" err="1"/>
              <a:t>a_j</a:t>
            </a:r>
            <a:r>
              <a:rPr lang="en-US" dirty="0"/>
              <a:t>[l] = g( </a:t>
            </a:r>
            <a:r>
              <a:rPr lang="en-US" dirty="0" err="1"/>
              <a:t>w_j</a:t>
            </a:r>
            <a:r>
              <a:rPr lang="en-US" dirty="0"/>
              <a:t>[l] · a[l−1] + </a:t>
            </a:r>
            <a:r>
              <a:rPr lang="en-US" dirty="0" err="1"/>
              <a:t>b_j</a:t>
            </a:r>
            <a:r>
              <a:rPr lang="en-US" dirty="0"/>
              <a:t>[l] )</a:t>
            </a:r>
          </a:p>
          <a:p>
            <a:r>
              <a:rPr lang="en-US" dirty="0"/>
              <a:t>This continues until the output layer produces </a:t>
            </a:r>
            <a:r>
              <a:rPr lang="en-US" b="1" dirty="0"/>
              <a:t>a[L]</a:t>
            </a:r>
            <a:r>
              <a:rPr lang="en-US" dirty="0"/>
              <a:t>, which is the </a:t>
            </a:r>
            <a:r>
              <a:rPr lang="en-US" b="1" dirty="0"/>
              <a:t>final prediction</a:t>
            </a:r>
            <a:r>
              <a:rPr lang="en-US" dirty="0"/>
              <a:t> of the network. In classification, this value is often interpreted as a probability.</a:t>
            </a:r>
          </a:p>
          <a:p>
            <a:r>
              <a:rPr lang="en-US" dirty="0"/>
              <a:t>Forward propagation always moves in </a:t>
            </a:r>
            <a:r>
              <a:rPr lang="en-US" b="1" dirty="0"/>
              <a:t>one direction only</a:t>
            </a:r>
            <a:r>
              <a:rPr lang="en-US" dirty="0"/>
              <a:t> and does </a:t>
            </a:r>
            <a:r>
              <a:rPr lang="en-US" b="1" dirty="0"/>
              <a:t>not change any parameters</a:t>
            </a:r>
            <a:r>
              <a:rPr lang="en-US" dirty="0"/>
              <a:t>. It simply applies the current weights and biases to compute the output.</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7D54C0DA-7D4B-8445-885A-557843FBF450}" type="slidenum">
              <a:rPr lang="en-IL" smtClean="0"/>
              <a:t>29</a:t>
            </a:fld>
            <a:endParaRPr lang="en-IL"/>
          </a:p>
        </p:txBody>
      </p:sp>
    </p:spTree>
    <p:extLst>
      <p:ext uri="{BB962C8B-B14F-4D97-AF65-F5344CB8AC3E}">
        <p14:creationId xmlns:p14="http://schemas.microsoft.com/office/powerpoint/2010/main" val="4907093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Neural Network Model: Inference (Making Predictions)</a:t>
            </a:r>
          </a:p>
          <a:p>
            <a:r>
              <a:rPr lang="en-US" dirty="0"/>
              <a:t>This section explains </a:t>
            </a:r>
            <a:r>
              <a:rPr lang="en-US" b="1" dirty="0"/>
              <a:t>inference</a:t>
            </a:r>
            <a:r>
              <a:rPr lang="en-US" dirty="0"/>
              <a:t>, which is the process of making predictions using a neural network through </a:t>
            </a:r>
            <a:r>
              <a:rPr lang="en-US" b="1" dirty="0"/>
              <a:t>forward propagation</a:t>
            </a:r>
            <a:r>
              <a:rPr lang="en-US" dirty="0"/>
              <a:t>, from input to output.</a:t>
            </a:r>
          </a:p>
          <a:p>
            <a:endParaRPr lang="en-IL" dirty="0"/>
          </a:p>
        </p:txBody>
      </p:sp>
    </p:spTree>
    <p:extLst>
      <p:ext uri="{BB962C8B-B14F-4D97-AF65-F5344CB8AC3E}">
        <p14:creationId xmlns:p14="http://schemas.microsoft.com/office/powerpoint/2010/main" val="21354976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Handwritten Digit Recognition: Neural Network Inference</a:t>
            </a:r>
          </a:p>
          <a:p>
            <a:r>
              <a:rPr lang="en-US" dirty="0"/>
              <a:t>The input to the neural network is a </a:t>
            </a:r>
            <a:r>
              <a:rPr lang="en-US" b="1" dirty="0"/>
              <a:t>digit image</a:t>
            </a:r>
            <a:r>
              <a:rPr lang="en-US" dirty="0"/>
              <a:t>, represented as an </a:t>
            </a:r>
            <a:r>
              <a:rPr lang="en-US" b="1" dirty="0"/>
              <a:t>8 × 8 grid of pixel values</a:t>
            </a:r>
            <a:r>
              <a:rPr lang="en-US" dirty="0"/>
              <a:t> (numbers from 0 to 255). These pixel values are flattened into a single input vector </a:t>
            </a:r>
            <a:r>
              <a:rPr lang="en-US" b="1" dirty="0"/>
              <a:t>x</a:t>
            </a:r>
            <a:r>
              <a:rPr lang="en-US" dirty="0"/>
              <a:t>.</a:t>
            </a:r>
          </a:p>
          <a:p>
            <a:r>
              <a:rPr lang="en-US" dirty="0"/>
              <a:t>The network has </a:t>
            </a:r>
            <a:r>
              <a:rPr lang="en-US" b="1" dirty="0"/>
              <a:t>two hidden layers</a:t>
            </a:r>
            <a:r>
              <a:rPr lang="en-US" dirty="0"/>
              <a:t> with </a:t>
            </a:r>
            <a:r>
              <a:rPr lang="en-US" b="1" dirty="0"/>
              <a:t>25</a:t>
            </a:r>
            <a:r>
              <a:rPr lang="en-US" dirty="0"/>
              <a:t> and </a:t>
            </a:r>
            <a:r>
              <a:rPr lang="en-US" b="1" dirty="0"/>
              <a:t>15 neurons</a:t>
            </a:r>
            <a:r>
              <a:rPr lang="en-US" dirty="0"/>
              <a:t>. These layers process the pixel values and learn useful patterns related to handwritten digits.</a:t>
            </a:r>
          </a:p>
          <a:p>
            <a:r>
              <a:rPr lang="en-US" dirty="0"/>
              <a:t>The </a:t>
            </a:r>
            <a:r>
              <a:rPr lang="en-US" b="1" dirty="0"/>
              <a:t>output layer</a:t>
            </a:r>
            <a:r>
              <a:rPr lang="en-US" dirty="0"/>
              <a:t> has </a:t>
            </a:r>
            <a:r>
              <a:rPr lang="en-US" b="1" dirty="0"/>
              <a:t>one neuron</a:t>
            </a:r>
            <a:r>
              <a:rPr lang="en-US" dirty="0"/>
              <a:t> that produces a value </a:t>
            </a:r>
            <a:r>
              <a:rPr lang="en-US" b="1" dirty="0"/>
              <a:t>a[3]</a:t>
            </a:r>
            <a:r>
              <a:rPr lang="en-US" dirty="0"/>
              <a:t>, which represents the </a:t>
            </a:r>
            <a:r>
              <a:rPr lang="en-US" b="1" dirty="0"/>
              <a:t>probability that the image is the handwritten digit “1”</a:t>
            </a:r>
            <a:r>
              <a:rPr lang="en-US" dirty="0"/>
              <a:t>.</a:t>
            </a:r>
          </a:p>
          <a:p>
            <a:r>
              <a:rPr lang="en-US" dirty="0"/>
              <a:t>During inference, the input is passed forward through the network using the learned weights and biases. A threshold (such as 0.5) is used to convert the probability into the final prediction.</a:t>
            </a:r>
          </a:p>
          <a:p>
            <a:endParaRPr lang="en-IL" dirty="0"/>
          </a:p>
        </p:txBody>
      </p:sp>
    </p:spTree>
    <p:extLst>
      <p:ext uri="{BB962C8B-B14F-4D97-AF65-F5344CB8AC3E}">
        <p14:creationId xmlns:p14="http://schemas.microsoft.com/office/powerpoint/2010/main" val="37027755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Handwritten Digit Recognition: Key Idea</a:t>
            </a:r>
          </a:p>
          <a:p>
            <a:r>
              <a:rPr lang="en-US" dirty="0"/>
              <a:t>This slide shows how a neural network recognizes a </a:t>
            </a:r>
            <a:r>
              <a:rPr lang="en-US" b="1" dirty="0"/>
              <a:t>handwritten digit</a:t>
            </a:r>
            <a:r>
              <a:rPr lang="en-US" dirty="0"/>
              <a:t> using </a:t>
            </a:r>
            <a:r>
              <a:rPr lang="en-US" b="1" dirty="0"/>
              <a:t>forward propagation</a:t>
            </a:r>
            <a:r>
              <a:rPr lang="en-US" dirty="0"/>
              <a:t>.</a:t>
            </a:r>
          </a:p>
          <a:p>
            <a:r>
              <a:rPr lang="en-US" dirty="0"/>
              <a:t>The input is an </a:t>
            </a:r>
            <a:r>
              <a:rPr lang="en-US" b="1" dirty="0"/>
              <a:t>8 × 8 digit image</a:t>
            </a:r>
            <a:r>
              <a:rPr lang="en-US" dirty="0"/>
              <a:t>, where each pixel is a number between </a:t>
            </a:r>
            <a:r>
              <a:rPr lang="en-US" b="1" dirty="0"/>
              <a:t>0 and 255</a:t>
            </a:r>
            <a:r>
              <a:rPr lang="en-US" dirty="0"/>
              <a:t>. These pixel values are flattened into one input vector </a:t>
            </a:r>
            <a:r>
              <a:rPr lang="en-US" b="1" dirty="0"/>
              <a:t>x = a[0]</a:t>
            </a:r>
            <a:r>
              <a:rPr lang="en-US" dirty="0"/>
              <a:t>.</a:t>
            </a:r>
          </a:p>
          <a:p>
            <a:r>
              <a:rPr lang="en-US" dirty="0"/>
              <a:t>The network has </a:t>
            </a:r>
            <a:r>
              <a:rPr lang="en-US" b="1" dirty="0"/>
              <a:t>two hidden layers</a:t>
            </a:r>
            <a:r>
              <a:rPr lang="en-US" dirty="0"/>
              <a:t>:</a:t>
            </a:r>
          </a:p>
          <a:p>
            <a:pPr>
              <a:buFont typeface="Arial" panose="020B0604020202020204" pitchFamily="34" charset="0"/>
              <a:buChar char="•"/>
            </a:pPr>
            <a:r>
              <a:rPr lang="en-US" b="1" dirty="0"/>
              <a:t>Layer 1</a:t>
            </a:r>
            <a:r>
              <a:rPr lang="en-US" dirty="0"/>
              <a:t> with </a:t>
            </a:r>
            <a:r>
              <a:rPr lang="en-US" b="1" dirty="0"/>
              <a:t>25 neurons</a:t>
            </a:r>
            <a:endParaRPr lang="en-US" dirty="0"/>
          </a:p>
          <a:p>
            <a:pPr>
              <a:buFont typeface="Arial" panose="020B0604020202020204" pitchFamily="34" charset="0"/>
              <a:buChar char="•"/>
            </a:pPr>
            <a:r>
              <a:rPr lang="en-US" b="1" dirty="0"/>
              <a:t>Layer 2</a:t>
            </a:r>
            <a:r>
              <a:rPr lang="en-US" dirty="0"/>
              <a:t> with </a:t>
            </a:r>
            <a:r>
              <a:rPr lang="en-US" b="1" dirty="0"/>
              <a:t>15 neurons</a:t>
            </a:r>
            <a:endParaRPr lang="en-US" dirty="0"/>
          </a:p>
          <a:p>
            <a:r>
              <a:rPr lang="en-US" dirty="0"/>
              <a:t>Each hidden layer computes activation values using weights, bias, and an activation function, learning patterns such as strokes and shapes in the digit.</a:t>
            </a:r>
          </a:p>
          <a:p>
            <a:r>
              <a:rPr lang="en-US" dirty="0"/>
              <a:t>The </a:t>
            </a:r>
            <a:r>
              <a:rPr lang="en-US" b="1" dirty="0"/>
              <a:t>output layer (layer 3)</a:t>
            </a:r>
            <a:r>
              <a:rPr lang="en-US" dirty="0"/>
              <a:t> has </a:t>
            </a:r>
            <a:r>
              <a:rPr lang="en-US" b="1" dirty="0"/>
              <a:t>one neuron</a:t>
            </a:r>
            <a:r>
              <a:rPr lang="en-US" dirty="0"/>
              <a:t> that produces </a:t>
            </a:r>
            <a:r>
              <a:rPr lang="en-US" b="1" dirty="0"/>
              <a:t>a[3]</a:t>
            </a:r>
            <a:r>
              <a:rPr lang="en-US" dirty="0"/>
              <a:t>, which represents the </a:t>
            </a:r>
            <a:r>
              <a:rPr lang="en-US" b="1" dirty="0"/>
              <a:t>probability that the image is the digit “1”</a:t>
            </a:r>
            <a:r>
              <a:rPr lang="en-US" dirty="0"/>
              <a:t>.</a:t>
            </a:r>
            <a:br>
              <a:rPr lang="en-US" dirty="0"/>
            </a:br>
            <a:r>
              <a:rPr lang="en-US" dirty="0"/>
              <a:t>This probability is then used to decide whether the digit is </a:t>
            </a:r>
            <a:r>
              <a:rPr lang="en-US" b="1" dirty="0"/>
              <a:t>1 or not</a:t>
            </a:r>
            <a:r>
              <a:rPr lang="en-US" dirty="0"/>
              <a:t>.</a:t>
            </a:r>
          </a:p>
          <a:p>
            <a:r>
              <a:rPr lang="en-US" b="1" dirty="0"/>
              <a:t>Key point:</a:t>
            </a:r>
            <a:r>
              <a:rPr lang="en-US" dirty="0"/>
              <a:t> raw pixel values → hidden layers learn features → output gives a probability prediction.</a:t>
            </a:r>
          </a:p>
          <a:p>
            <a:endParaRPr lang="en-IL" dirty="0"/>
          </a:p>
        </p:txBody>
      </p:sp>
    </p:spTree>
    <p:extLst>
      <p:ext uri="{BB962C8B-B14F-4D97-AF65-F5344CB8AC3E}">
        <p14:creationId xmlns:p14="http://schemas.microsoft.com/office/powerpoint/2010/main" val="14013937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Handwritten Digit Recognition: What This Slide Shows</a:t>
            </a:r>
          </a:p>
          <a:p>
            <a:r>
              <a:rPr lang="en-US" dirty="0"/>
              <a:t>This slide explains how a neural network predicts whether an image is the handwritten digit </a:t>
            </a:r>
            <a:r>
              <a:rPr lang="en-US" b="1" dirty="0"/>
              <a:t>“1”</a:t>
            </a:r>
            <a:r>
              <a:rPr lang="en-US" dirty="0"/>
              <a:t>.</a:t>
            </a:r>
          </a:p>
          <a:p>
            <a:r>
              <a:rPr lang="en-US" dirty="0"/>
              <a:t>The input is an </a:t>
            </a:r>
            <a:r>
              <a:rPr lang="en-US" b="1" dirty="0"/>
              <a:t>8 × 8 image</a:t>
            </a:r>
            <a:r>
              <a:rPr lang="en-US" dirty="0"/>
              <a:t> of a digit. Each pixel has a value between </a:t>
            </a:r>
            <a:r>
              <a:rPr lang="en-US" b="1" dirty="0"/>
              <a:t>0 and 255</a:t>
            </a:r>
            <a:r>
              <a:rPr lang="en-US" dirty="0"/>
              <a:t>, and all pixel values are flattened into one input vector </a:t>
            </a:r>
            <a:r>
              <a:rPr lang="en-US" b="1" dirty="0"/>
              <a:t>x</a:t>
            </a:r>
            <a:r>
              <a:rPr lang="en-US" dirty="0"/>
              <a:t>.</a:t>
            </a:r>
          </a:p>
          <a:p>
            <a:r>
              <a:rPr lang="en-US" dirty="0"/>
              <a:t>The network has </a:t>
            </a:r>
            <a:r>
              <a:rPr lang="en-US" b="1" dirty="0"/>
              <a:t>two hidden layers</a:t>
            </a:r>
            <a:r>
              <a:rPr lang="en-US" dirty="0"/>
              <a:t>:</a:t>
            </a:r>
          </a:p>
          <a:p>
            <a:pPr>
              <a:buFont typeface="Arial" panose="020B0604020202020204" pitchFamily="34" charset="0"/>
              <a:buChar char="•"/>
            </a:pPr>
            <a:r>
              <a:rPr lang="en-US" b="1" dirty="0"/>
              <a:t>Layer 1</a:t>
            </a:r>
            <a:r>
              <a:rPr lang="en-US" dirty="0"/>
              <a:t> with </a:t>
            </a:r>
            <a:r>
              <a:rPr lang="en-US" b="1" dirty="0"/>
              <a:t>25 neurons</a:t>
            </a:r>
            <a:endParaRPr lang="en-US" dirty="0"/>
          </a:p>
          <a:p>
            <a:pPr>
              <a:buFont typeface="Arial" panose="020B0604020202020204" pitchFamily="34" charset="0"/>
              <a:buChar char="•"/>
            </a:pPr>
            <a:r>
              <a:rPr lang="en-US" b="1" dirty="0"/>
              <a:t>Layer 2</a:t>
            </a:r>
            <a:r>
              <a:rPr lang="en-US" dirty="0"/>
              <a:t> with </a:t>
            </a:r>
            <a:r>
              <a:rPr lang="en-US" b="1" dirty="0"/>
              <a:t>15 neurons</a:t>
            </a:r>
            <a:endParaRPr lang="en-US" dirty="0"/>
          </a:p>
          <a:p>
            <a:r>
              <a:rPr lang="en-US" dirty="0"/>
              <a:t>Each hidden layer takes the activations from the previous layer and computes new activation values using </a:t>
            </a:r>
            <a:r>
              <a:rPr lang="en-US" b="1" dirty="0"/>
              <a:t>weights, bias, and an activation function</a:t>
            </a:r>
            <a:r>
              <a:rPr lang="en-US" dirty="0"/>
              <a:t>. These layers learn important patterns in the digit, such as strokes and shapes.</a:t>
            </a:r>
          </a:p>
          <a:p>
            <a:r>
              <a:rPr lang="en-US" dirty="0"/>
              <a:t>The </a:t>
            </a:r>
            <a:r>
              <a:rPr lang="en-US" b="1" dirty="0"/>
              <a:t>output layer (layer 3)</a:t>
            </a:r>
            <a:r>
              <a:rPr lang="en-US" dirty="0"/>
              <a:t> has </a:t>
            </a:r>
            <a:r>
              <a:rPr lang="en-US" b="1" dirty="0"/>
              <a:t>one neuron</a:t>
            </a:r>
            <a:r>
              <a:rPr lang="en-US" dirty="0"/>
              <a:t>. It produces </a:t>
            </a:r>
            <a:r>
              <a:rPr lang="en-US" b="1" dirty="0"/>
              <a:t>a[3]</a:t>
            </a:r>
            <a:r>
              <a:rPr lang="en-US" dirty="0"/>
              <a:t>, which represents the </a:t>
            </a:r>
            <a:r>
              <a:rPr lang="en-US" b="1" dirty="0"/>
              <a:t>probability that the image is the handwritten digit “1”</a:t>
            </a:r>
            <a:r>
              <a:rPr lang="en-US" dirty="0"/>
              <a:t>.</a:t>
            </a:r>
          </a:p>
          <a:p>
            <a:r>
              <a:rPr lang="en-US" b="1" dirty="0"/>
              <a:t>Key idea:</a:t>
            </a:r>
            <a:r>
              <a:rPr lang="en-US" dirty="0"/>
              <a:t> the network transforms pixel values step by step through hidden layers, and the output layer gives a probability used to make the final prediction.</a:t>
            </a:r>
          </a:p>
          <a:p>
            <a:endParaRPr lang="en-IL" dirty="0"/>
          </a:p>
        </p:txBody>
      </p:sp>
    </p:spTree>
    <p:extLst>
      <p:ext uri="{BB962C8B-B14F-4D97-AF65-F5344CB8AC3E}">
        <p14:creationId xmlns:p14="http://schemas.microsoft.com/office/powerpoint/2010/main" val="33976749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Handwritten Digit Recognition: Final Decision</a:t>
            </a:r>
          </a:p>
          <a:p>
            <a:r>
              <a:rPr lang="en-US" dirty="0"/>
              <a:t>This slide shows how the neural network makes the </a:t>
            </a:r>
            <a:r>
              <a:rPr lang="en-US" b="1" dirty="0"/>
              <a:t>final prediction</a:t>
            </a:r>
            <a:r>
              <a:rPr lang="en-US" dirty="0"/>
              <a:t> for handwritten digit recognition.</a:t>
            </a:r>
          </a:p>
          <a:p>
            <a:r>
              <a:rPr lang="en-US" dirty="0"/>
              <a:t>The input image is processed through </a:t>
            </a:r>
            <a:r>
              <a:rPr lang="en-US" b="1" dirty="0"/>
              <a:t>two hidden layers</a:t>
            </a:r>
            <a:r>
              <a:rPr lang="en-US" dirty="0"/>
              <a:t> (25 neurons, then 15 neurons). Each layer computes activation values that capture patterns in the image.</a:t>
            </a:r>
          </a:p>
          <a:p>
            <a:r>
              <a:rPr lang="en-US" dirty="0"/>
              <a:t>The </a:t>
            </a:r>
            <a:r>
              <a:rPr lang="en-US" b="1" dirty="0"/>
              <a:t>output layer</a:t>
            </a:r>
            <a:r>
              <a:rPr lang="en-US" dirty="0"/>
              <a:t> has </a:t>
            </a:r>
            <a:r>
              <a:rPr lang="en-US" b="1" dirty="0"/>
              <a:t>one neuron</a:t>
            </a:r>
            <a:r>
              <a:rPr lang="en-US" dirty="0"/>
              <a:t>. It computes</a:t>
            </a:r>
            <a:br>
              <a:rPr lang="en-US" dirty="0"/>
            </a:br>
            <a:r>
              <a:rPr lang="en-US" dirty="0"/>
              <a:t>a[3] = f(x),</a:t>
            </a:r>
            <a:br>
              <a:rPr lang="en-US" dirty="0"/>
            </a:br>
            <a:r>
              <a:rPr lang="en-US" dirty="0"/>
              <a:t>which represents the </a:t>
            </a:r>
            <a:r>
              <a:rPr lang="en-US" b="1" dirty="0"/>
              <a:t>probability that the image is the digit “1”</a:t>
            </a:r>
            <a:r>
              <a:rPr lang="en-US" dirty="0"/>
              <a:t>.</a:t>
            </a:r>
          </a:p>
          <a:p>
            <a:r>
              <a:rPr lang="en-US" dirty="0"/>
              <a:t>To make a clear decision, this probability is compared to a threshold:</a:t>
            </a:r>
          </a:p>
          <a:p>
            <a:pPr>
              <a:buFont typeface="Arial" panose="020B0604020202020204" pitchFamily="34" charset="0"/>
              <a:buChar char="•"/>
            </a:pPr>
            <a:r>
              <a:rPr lang="en-US" dirty="0"/>
              <a:t>If a[3] ≥ 0.5 → predict </a:t>
            </a:r>
            <a:r>
              <a:rPr lang="en-US" dirty="0" err="1"/>
              <a:t>y_hat</a:t>
            </a:r>
            <a:r>
              <a:rPr lang="en-US" dirty="0"/>
              <a:t> = 1 (the image is digit 1)</a:t>
            </a:r>
          </a:p>
          <a:p>
            <a:pPr>
              <a:buFont typeface="Arial" panose="020B0604020202020204" pitchFamily="34" charset="0"/>
              <a:buChar char="•"/>
            </a:pPr>
            <a:r>
              <a:rPr lang="en-US" dirty="0"/>
              <a:t>If a[3] &lt; 0.5 → predict </a:t>
            </a:r>
            <a:r>
              <a:rPr lang="en-US" dirty="0" err="1"/>
              <a:t>y_hat</a:t>
            </a:r>
            <a:r>
              <a:rPr lang="en-US" dirty="0"/>
              <a:t> = 0 (the image is not digit 1)</a:t>
            </a:r>
          </a:p>
          <a:p>
            <a:r>
              <a:rPr lang="en-US" b="1" dirty="0"/>
              <a:t>Key idea:</a:t>
            </a:r>
            <a:r>
              <a:rPr lang="en-US" dirty="0"/>
              <a:t> the network turns an image into a probability, then uses a simple threshold to decide yes or no.</a:t>
            </a:r>
          </a:p>
          <a:p>
            <a:endParaRPr lang="en-IL" dirty="0"/>
          </a:p>
        </p:txBody>
      </p:sp>
    </p:spTree>
    <p:extLst>
      <p:ext uri="{BB962C8B-B14F-4D97-AF65-F5344CB8AC3E}">
        <p14:creationId xmlns:p14="http://schemas.microsoft.com/office/powerpoint/2010/main" val="31726312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Handwritten Digit Recognition: Forward Propagation</a:t>
            </a:r>
          </a:p>
          <a:p>
            <a:r>
              <a:rPr lang="en-US" dirty="0"/>
              <a:t>This slide shows </a:t>
            </a:r>
            <a:r>
              <a:rPr lang="en-US" b="1" dirty="0"/>
              <a:t>forward propagation</a:t>
            </a:r>
            <a:r>
              <a:rPr lang="en-US" dirty="0"/>
              <a:t> for handwritten digit recognition.</a:t>
            </a:r>
            <a:br>
              <a:rPr lang="en-US" dirty="0"/>
            </a:br>
            <a:r>
              <a:rPr lang="en-US" dirty="0"/>
              <a:t>The input image is passed through the network </a:t>
            </a:r>
            <a:r>
              <a:rPr lang="en-US" b="1" dirty="0"/>
              <a:t>from left to right</a:t>
            </a:r>
            <a:r>
              <a:rPr lang="en-US" dirty="0"/>
              <a:t>, layer by layer.</a:t>
            </a:r>
          </a:p>
          <a:p>
            <a:r>
              <a:rPr lang="en-US" dirty="0"/>
              <a:t>The image pixels form the input </a:t>
            </a:r>
            <a:r>
              <a:rPr lang="en-US" b="1" dirty="0"/>
              <a:t>x</a:t>
            </a:r>
            <a:r>
              <a:rPr lang="en-US" dirty="0"/>
              <a:t>, which is processed by </a:t>
            </a:r>
            <a:r>
              <a:rPr lang="en-US" b="1" dirty="0"/>
              <a:t>layer 1 (25 neurons)</a:t>
            </a:r>
            <a:r>
              <a:rPr lang="en-US" dirty="0"/>
              <a:t> and then </a:t>
            </a:r>
            <a:r>
              <a:rPr lang="en-US" b="1" dirty="0"/>
              <a:t>layer 2 (15 neurons)</a:t>
            </a:r>
            <a:r>
              <a:rPr lang="en-US" dirty="0"/>
              <a:t>. Each layer computes activation values using weights, bias, and an activation function.</a:t>
            </a:r>
          </a:p>
          <a:p>
            <a:r>
              <a:rPr lang="en-US" dirty="0"/>
              <a:t>The </a:t>
            </a:r>
            <a:r>
              <a:rPr lang="en-US" b="1" dirty="0"/>
              <a:t>output layer (1 neuron)</a:t>
            </a:r>
            <a:r>
              <a:rPr lang="en-US" dirty="0"/>
              <a:t> computes</a:t>
            </a:r>
            <a:br>
              <a:rPr lang="en-US" dirty="0"/>
            </a:br>
            <a:r>
              <a:rPr lang="en-US" dirty="0"/>
              <a:t>a[3] = f(x),</a:t>
            </a:r>
            <a:br>
              <a:rPr lang="en-US" dirty="0"/>
            </a:br>
            <a:r>
              <a:rPr lang="en-US" dirty="0"/>
              <a:t>which represents the </a:t>
            </a:r>
            <a:r>
              <a:rPr lang="en-US" b="1" dirty="0"/>
              <a:t>probability that the image is the handwritten digit “1”</a:t>
            </a:r>
            <a:r>
              <a:rPr lang="en-US" dirty="0"/>
              <a:t>.</a:t>
            </a:r>
          </a:p>
          <a:p>
            <a:r>
              <a:rPr lang="en-US" dirty="0"/>
              <a:t>This probability is then compared to a threshold:</a:t>
            </a:r>
          </a:p>
          <a:p>
            <a:pPr>
              <a:buFont typeface="Arial" panose="020B0604020202020204" pitchFamily="34" charset="0"/>
              <a:buChar char="•"/>
            </a:pPr>
            <a:r>
              <a:rPr lang="en-US" dirty="0"/>
              <a:t>If a[3] ≥ 0.5 → predict </a:t>
            </a:r>
            <a:r>
              <a:rPr lang="en-US" dirty="0" err="1"/>
              <a:t>y_hat</a:t>
            </a:r>
            <a:r>
              <a:rPr lang="en-US" dirty="0"/>
              <a:t> = 1 (image is digit 1)</a:t>
            </a:r>
          </a:p>
          <a:p>
            <a:pPr>
              <a:buFont typeface="Arial" panose="020B0604020202020204" pitchFamily="34" charset="0"/>
              <a:buChar char="•"/>
            </a:pPr>
            <a:r>
              <a:rPr lang="en-US" dirty="0"/>
              <a:t>If a[3] &lt; 0.5 → predict </a:t>
            </a:r>
            <a:r>
              <a:rPr lang="en-US" dirty="0" err="1"/>
              <a:t>y_hat</a:t>
            </a:r>
            <a:r>
              <a:rPr lang="en-US" dirty="0"/>
              <a:t> = 0 (image is not digit 1)</a:t>
            </a:r>
          </a:p>
          <a:p>
            <a:r>
              <a:rPr lang="en-US" b="1" dirty="0"/>
              <a:t>Key idea:</a:t>
            </a:r>
            <a:r>
              <a:rPr lang="en-US" dirty="0"/>
              <a:t> forward propagation takes the input image and produces a probability, which is then converted into a final yes/no prediction.</a:t>
            </a:r>
          </a:p>
          <a:p>
            <a:endParaRPr lang="en-IL" dirty="0"/>
          </a:p>
        </p:txBody>
      </p:sp>
    </p:spTree>
    <p:extLst>
      <p:ext uri="{BB962C8B-B14F-4D97-AF65-F5344CB8AC3E}">
        <p14:creationId xmlns:p14="http://schemas.microsoft.com/office/powerpoint/2010/main" val="19708085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TensorFlow Implementation: Inference in Code</a:t>
            </a:r>
          </a:p>
          <a:p>
            <a:r>
              <a:rPr lang="en-US" dirty="0"/>
              <a:t>This section shows how </a:t>
            </a:r>
            <a:r>
              <a:rPr lang="en-US" b="1" dirty="0"/>
              <a:t>forward propagation (inference)</a:t>
            </a:r>
            <a:r>
              <a:rPr lang="en-US" dirty="0"/>
              <a:t> is implemented </a:t>
            </a:r>
            <a:r>
              <a:rPr lang="en-US" b="1" dirty="0"/>
              <a:t>in TensorFlow code</a:t>
            </a:r>
            <a:r>
              <a:rPr lang="en-US" dirty="0"/>
              <a:t> to make predictions using a trained neural network.</a:t>
            </a:r>
          </a:p>
          <a:p>
            <a:endParaRPr lang="en-IL" dirty="0"/>
          </a:p>
        </p:txBody>
      </p:sp>
    </p:spTree>
    <p:extLst>
      <p:ext uri="{BB962C8B-B14F-4D97-AF65-F5344CB8AC3E}">
        <p14:creationId xmlns:p14="http://schemas.microsoft.com/office/powerpoint/2010/main" val="36296215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152400"/>
            <a:ext cx="5343525" cy="3006725"/>
          </a:xfrm>
        </p:spPr>
      </p:sp>
      <p:sp>
        <p:nvSpPr>
          <p:cNvPr id="3" name="Notes Placeholder 2"/>
          <p:cNvSpPr>
            <a:spLocks noGrp="1"/>
          </p:cNvSpPr>
          <p:nvPr>
            <p:ph type="body" idx="1"/>
          </p:nvPr>
        </p:nvSpPr>
        <p:spPr/>
        <p:txBody>
          <a:bodyPr/>
          <a:lstStyle/>
          <a:p>
            <a:r>
              <a:rPr lang="en-US" b="1" dirty="0"/>
              <a:t>Coffee Roasting: Neural Network Inference Example</a:t>
            </a:r>
          </a:p>
          <a:p>
            <a:r>
              <a:rPr lang="en-US" dirty="0"/>
              <a:t>This slide uses </a:t>
            </a:r>
            <a:r>
              <a:rPr lang="en-US" b="1" dirty="0"/>
              <a:t>coffee roasting</a:t>
            </a:r>
            <a:r>
              <a:rPr lang="en-US" dirty="0"/>
              <a:t> as a simple real-world example to explain </a:t>
            </a:r>
            <a:r>
              <a:rPr lang="en-US" b="1" dirty="0"/>
              <a:t>inference (making predictions)</a:t>
            </a:r>
            <a:r>
              <a:rPr lang="en-US" dirty="0"/>
              <a:t> with a neural network.</a:t>
            </a:r>
          </a:p>
          <a:p>
            <a:r>
              <a:rPr lang="en-US" dirty="0"/>
              <a:t>Each data point represents one coffee roast. The </a:t>
            </a:r>
            <a:r>
              <a:rPr lang="en-US" b="1" dirty="0"/>
              <a:t>input features</a:t>
            </a:r>
            <a:r>
              <a:rPr lang="en-US" dirty="0"/>
              <a:t> are:</a:t>
            </a:r>
          </a:p>
          <a:p>
            <a:pPr>
              <a:buFont typeface="Arial" panose="020B0604020202020204" pitchFamily="34" charset="0"/>
              <a:buChar char="•"/>
            </a:pPr>
            <a:r>
              <a:rPr lang="en-US" b="1" dirty="0"/>
              <a:t>Temperature (Celsius)</a:t>
            </a:r>
            <a:endParaRPr lang="en-US" dirty="0"/>
          </a:p>
          <a:p>
            <a:pPr>
              <a:buFont typeface="Arial" panose="020B0604020202020204" pitchFamily="34" charset="0"/>
              <a:buChar char="•"/>
            </a:pPr>
            <a:r>
              <a:rPr lang="en-US" b="1" dirty="0"/>
              <a:t>Duration (minutes)</a:t>
            </a:r>
            <a:endParaRPr lang="en-US" dirty="0"/>
          </a:p>
          <a:p>
            <a:r>
              <a:rPr lang="en-US" dirty="0"/>
              <a:t>Together, these two values form the input vector </a:t>
            </a:r>
            <a:r>
              <a:rPr lang="en-US" b="1" dirty="0"/>
              <a:t>x</a:t>
            </a:r>
            <a:r>
              <a:rPr lang="en-US" dirty="0"/>
              <a:t>.</a:t>
            </a:r>
          </a:p>
          <a:p>
            <a:r>
              <a:rPr lang="en-US" dirty="0"/>
              <a:t>The points are labeled as:</a:t>
            </a:r>
          </a:p>
          <a:p>
            <a:pPr>
              <a:buFont typeface="Arial" panose="020B0604020202020204" pitchFamily="34" charset="0"/>
              <a:buChar char="•"/>
            </a:pPr>
            <a:r>
              <a:rPr lang="en-US" b="1" dirty="0"/>
              <a:t>Good coffee</a:t>
            </a:r>
            <a:endParaRPr lang="en-US" dirty="0"/>
          </a:p>
          <a:p>
            <a:pPr>
              <a:buFont typeface="Arial" panose="020B0604020202020204" pitchFamily="34" charset="0"/>
              <a:buChar char="•"/>
            </a:pPr>
            <a:r>
              <a:rPr lang="en-US" b="1" dirty="0"/>
              <a:t>Bad coffee</a:t>
            </a:r>
            <a:endParaRPr lang="en-US" dirty="0"/>
          </a:p>
          <a:p>
            <a:r>
              <a:rPr lang="en-US" dirty="0"/>
              <a:t>The goal of the neural network is to learn from past roasting examples and then </a:t>
            </a:r>
            <a:r>
              <a:rPr lang="en-US" b="1" dirty="0"/>
              <a:t>predict whether a new roast will be good or not</a:t>
            </a:r>
            <a:r>
              <a:rPr lang="en-US" dirty="0"/>
              <a:t>.</a:t>
            </a:r>
          </a:p>
          <a:p>
            <a:r>
              <a:rPr lang="en-US" dirty="0"/>
              <a:t>The input vector </a:t>
            </a:r>
            <a:r>
              <a:rPr lang="en-US" b="1" dirty="0"/>
              <a:t>x</a:t>
            </a:r>
            <a:r>
              <a:rPr lang="en-US" dirty="0"/>
              <a:t> is passed into a small neural network. The network computes an output value </a:t>
            </a:r>
            <a:r>
              <a:rPr lang="en-US" b="1" dirty="0"/>
              <a:t>a[2]</a:t>
            </a:r>
            <a:r>
              <a:rPr lang="en-US" dirty="0"/>
              <a:t>, which represents the </a:t>
            </a:r>
            <a:r>
              <a:rPr lang="en-US" b="1" dirty="0"/>
              <a:t>probability that the coffee roast is good</a:t>
            </a:r>
            <a:r>
              <a:rPr lang="en-US" dirty="0"/>
              <a:t>.</a:t>
            </a:r>
          </a:p>
          <a:p>
            <a:r>
              <a:rPr lang="en-US" dirty="0"/>
              <a:t>To make a final decision, the network applies a threshold:</a:t>
            </a:r>
          </a:p>
          <a:p>
            <a:pPr>
              <a:buFont typeface="Arial" panose="020B0604020202020204" pitchFamily="34" charset="0"/>
              <a:buChar char="•"/>
            </a:pPr>
            <a:r>
              <a:rPr lang="en-US" dirty="0"/>
              <a:t>If </a:t>
            </a:r>
            <a:r>
              <a:rPr lang="en-US" b="1" dirty="0"/>
              <a:t>a[2] ≥ 0.5</a:t>
            </a:r>
            <a:r>
              <a:rPr lang="en-US" dirty="0"/>
              <a:t>, predict </a:t>
            </a:r>
            <a:r>
              <a:rPr lang="en-US" b="1" dirty="0"/>
              <a:t>good coffee</a:t>
            </a:r>
            <a:endParaRPr lang="en-US" dirty="0"/>
          </a:p>
          <a:p>
            <a:pPr>
              <a:buFont typeface="Arial" panose="020B0604020202020204" pitchFamily="34" charset="0"/>
              <a:buChar char="•"/>
            </a:pPr>
            <a:r>
              <a:rPr lang="en-US" dirty="0"/>
              <a:t>If </a:t>
            </a:r>
            <a:r>
              <a:rPr lang="en-US" b="1" dirty="0"/>
              <a:t>a[2] &lt; 0.5</a:t>
            </a:r>
            <a:r>
              <a:rPr lang="en-US" dirty="0"/>
              <a:t>, predict </a:t>
            </a:r>
            <a:r>
              <a:rPr lang="en-US" b="1" dirty="0"/>
              <a:t>bad coffee</a:t>
            </a:r>
            <a:endParaRPr lang="en-US" dirty="0"/>
          </a:p>
          <a:p>
            <a:r>
              <a:rPr lang="en-US" b="1" dirty="0"/>
              <a:t>Key idea:</a:t>
            </a:r>
            <a:r>
              <a:rPr lang="en-US" dirty="0"/>
              <a:t> the neural network learns a decision boundary based on temperature and time, and then uses forward propagation to predict coffee quality.</a:t>
            </a:r>
          </a:p>
          <a:p>
            <a:endParaRPr lang="en-IL" dirty="0"/>
          </a:p>
        </p:txBody>
      </p:sp>
    </p:spTree>
    <p:extLst>
      <p:ext uri="{BB962C8B-B14F-4D97-AF65-F5344CB8AC3E}">
        <p14:creationId xmlns:p14="http://schemas.microsoft.com/office/powerpoint/2010/main" val="29522231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Coffee Roasting: Decision Boundary and Prediction</a:t>
            </a:r>
          </a:p>
          <a:p>
            <a:r>
              <a:rPr lang="en-US" dirty="0"/>
              <a:t>This slide shows how a neural network learns a </a:t>
            </a:r>
            <a:r>
              <a:rPr lang="en-US" b="1" dirty="0"/>
              <a:t>decision boundary</a:t>
            </a:r>
            <a:r>
              <a:rPr lang="en-US" dirty="0"/>
              <a:t> for the coffee roasting problem.</a:t>
            </a:r>
          </a:p>
          <a:p>
            <a:r>
              <a:rPr lang="en-US" dirty="0"/>
              <a:t>Each point represents one coffee roast, described by two inputs:</a:t>
            </a:r>
          </a:p>
          <a:p>
            <a:pPr>
              <a:buFont typeface="Arial" panose="020B0604020202020204" pitchFamily="34" charset="0"/>
              <a:buChar char="•"/>
            </a:pPr>
            <a:r>
              <a:rPr lang="en-US" b="1" dirty="0"/>
              <a:t>Temperature (Celsius)</a:t>
            </a:r>
            <a:endParaRPr lang="en-US" dirty="0"/>
          </a:p>
          <a:p>
            <a:pPr>
              <a:buFont typeface="Arial" panose="020B0604020202020204" pitchFamily="34" charset="0"/>
              <a:buChar char="•"/>
            </a:pPr>
            <a:r>
              <a:rPr lang="en-US" b="1" dirty="0"/>
              <a:t>Duration (minutes)</a:t>
            </a:r>
            <a:endParaRPr lang="en-US" dirty="0"/>
          </a:p>
          <a:p>
            <a:r>
              <a:rPr lang="en-US" dirty="0"/>
              <a:t>Roasts can be </a:t>
            </a:r>
            <a:r>
              <a:rPr lang="en-US" b="1" dirty="0"/>
              <a:t>good coffee</a:t>
            </a:r>
            <a:r>
              <a:rPr lang="en-US" dirty="0"/>
              <a:t> or </a:t>
            </a:r>
            <a:r>
              <a:rPr lang="en-US" b="1" dirty="0"/>
              <a:t>bad coffee</a:t>
            </a:r>
            <a:r>
              <a:rPr lang="en-US" dirty="0"/>
              <a:t>. Bad coffee may happen because the roast is </a:t>
            </a:r>
            <a:r>
              <a:rPr lang="en-US" b="1" dirty="0"/>
              <a:t>undercooked</a:t>
            </a:r>
            <a:r>
              <a:rPr lang="en-US" dirty="0"/>
              <a:t> (low temperature or short time) or </a:t>
            </a:r>
            <a:r>
              <a:rPr lang="en-US" b="1" dirty="0"/>
              <a:t>overcooked</a:t>
            </a:r>
            <a:r>
              <a:rPr lang="en-US" dirty="0"/>
              <a:t> (high temperature or long time).</a:t>
            </a:r>
          </a:p>
          <a:p>
            <a:r>
              <a:rPr lang="en-US" dirty="0"/>
              <a:t>The diagonal line represents the </a:t>
            </a:r>
            <a:r>
              <a:rPr lang="en-US" b="1" dirty="0"/>
              <a:t>decision boundary</a:t>
            </a:r>
            <a:r>
              <a:rPr lang="en-US" dirty="0"/>
              <a:t> learned by the model. This boundary separates regions where the network predicts good coffee from regions where it predicts bad coffee.</a:t>
            </a:r>
          </a:p>
          <a:p>
            <a:r>
              <a:rPr lang="en-US" dirty="0"/>
              <a:t>For a new roast, the input vector </a:t>
            </a:r>
            <a:r>
              <a:rPr lang="en-US" b="1" dirty="0"/>
              <a:t>x</a:t>
            </a:r>
            <a:r>
              <a:rPr lang="en-US" dirty="0"/>
              <a:t> (temperature and duration) is passed through the neural network. The network produces </a:t>
            </a:r>
            <a:r>
              <a:rPr lang="en-US" b="1" dirty="0"/>
              <a:t>a[2]</a:t>
            </a:r>
            <a:r>
              <a:rPr lang="en-US" dirty="0"/>
              <a:t>, which is the </a:t>
            </a:r>
            <a:r>
              <a:rPr lang="en-US" b="1" dirty="0"/>
              <a:t>probability that the coffee is good</a:t>
            </a:r>
            <a:r>
              <a:rPr lang="en-US" dirty="0"/>
              <a:t>.</a:t>
            </a:r>
          </a:p>
          <a:p>
            <a:r>
              <a:rPr lang="en-US" dirty="0"/>
              <a:t>The final decision is made using a threshold:</a:t>
            </a:r>
          </a:p>
          <a:p>
            <a:pPr>
              <a:buFont typeface="Arial" panose="020B0604020202020204" pitchFamily="34" charset="0"/>
              <a:buChar char="•"/>
            </a:pPr>
            <a:r>
              <a:rPr lang="en-US" dirty="0"/>
              <a:t>If </a:t>
            </a:r>
            <a:r>
              <a:rPr lang="en-US" b="1" dirty="0"/>
              <a:t>a[2] ≥ 0.5</a:t>
            </a:r>
            <a:r>
              <a:rPr lang="en-US" dirty="0"/>
              <a:t>, predict </a:t>
            </a:r>
            <a:r>
              <a:rPr lang="en-US" b="1" dirty="0"/>
              <a:t>good coffee</a:t>
            </a:r>
            <a:endParaRPr lang="en-US" dirty="0"/>
          </a:p>
          <a:p>
            <a:pPr>
              <a:buFont typeface="Arial" panose="020B0604020202020204" pitchFamily="34" charset="0"/>
              <a:buChar char="•"/>
            </a:pPr>
            <a:r>
              <a:rPr lang="en-US" dirty="0"/>
              <a:t>If </a:t>
            </a:r>
            <a:r>
              <a:rPr lang="en-US" b="1" dirty="0"/>
              <a:t>a[2] &lt; 0.5</a:t>
            </a:r>
            <a:r>
              <a:rPr lang="en-US" dirty="0"/>
              <a:t>, predict </a:t>
            </a:r>
            <a:r>
              <a:rPr lang="en-US" b="1" dirty="0"/>
              <a:t>bad coffee</a:t>
            </a:r>
            <a:endParaRPr lang="en-US" dirty="0"/>
          </a:p>
          <a:p>
            <a:r>
              <a:rPr lang="en-US" b="1" dirty="0"/>
              <a:t>Key idea:</a:t>
            </a:r>
            <a:r>
              <a:rPr lang="en-US" dirty="0"/>
              <a:t> the neural network learns how temperature and time together affect coffee quality and uses a learned decision boundary to make predictions.</a:t>
            </a:r>
          </a:p>
          <a:p>
            <a:endParaRPr lang="en-IL" dirty="0"/>
          </a:p>
        </p:txBody>
      </p:sp>
    </p:spTree>
    <p:extLst>
      <p:ext uri="{BB962C8B-B14F-4D97-AF65-F5344CB8AC3E}">
        <p14:creationId xmlns:p14="http://schemas.microsoft.com/office/powerpoint/2010/main" val="28953343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Coffee Roasting: Making a Prediction with a Neural Network</a:t>
            </a:r>
          </a:p>
          <a:p>
            <a:r>
              <a:rPr lang="en-US" dirty="0"/>
              <a:t>This slide shows how a neural network makes a </a:t>
            </a:r>
            <a:r>
              <a:rPr lang="en-US" b="1" dirty="0"/>
              <a:t>prediction for one specific coffee roast</a:t>
            </a:r>
            <a:r>
              <a:rPr lang="en-US" dirty="0"/>
              <a:t> using </a:t>
            </a:r>
            <a:r>
              <a:rPr lang="en-US" b="1" dirty="0"/>
              <a:t>forward propagation</a:t>
            </a:r>
            <a:r>
              <a:rPr lang="en-US" dirty="0"/>
              <a:t> and a </a:t>
            </a:r>
            <a:r>
              <a:rPr lang="en-US" b="1" dirty="0"/>
              <a:t>decision boundary</a:t>
            </a:r>
            <a:r>
              <a:rPr lang="en-US" dirty="0"/>
              <a:t>.</a:t>
            </a:r>
          </a:p>
          <a:p>
            <a:r>
              <a:rPr lang="en-US" dirty="0"/>
              <a:t>Each coffee roast is described by two input features:</a:t>
            </a:r>
          </a:p>
          <a:p>
            <a:pPr>
              <a:buFont typeface="Arial" panose="020B0604020202020204" pitchFamily="34" charset="0"/>
              <a:buChar char="•"/>
            </a:pPr>
            <a:r>
              <a:rPr lang="en-US" b="1" dirty="0"/>
              <a:t>Temperature (Celsius)</a:t>
            </a:r>
            <a:endParaRPr lang="en-US" dirty="0"/>
          </a:p>
          <a:p>
            <a:pPr>
              <a:buFont typeface="Arial" panose="020B0604020202020204" pitchFamily="34" charset="0"/>
              <a:buChar char="•"/>
            </a:pPr>
            <a:r>
              <a:rPr lang="en-US" b="1" dirty="0"/>
              <a:t>Duration (minutes)</a:t>
            </a:r>
            <a:endParaRPr lang="en-US" dirty="0"/>
          </a:p>
          <a:p>
            <a:r>
              <a:rPr lang="en-US" dirty="0"/>
              <a:t>From the data, we see three main regions:</a:t>
            </a:r>
          </a:p>
          <a:p>
            <a:pPr>
              <a:buFont typeface="Arial" panose="020B0604020202020204" pitchFamily="34" charset="0"/>
              <a:buChar char="•"/>
            </a:pPr>
            <a:r>
              <a:rPr lang="en-US" b="1" dirty="0"/>
              <a:t>Undercooked</a:t>
            </a:r>
            <a:r>
              <a:rPr lang="en-US" dirty="0"/>
              <a:t> coffee (low temperature or short time)</a:t>
            </a:r>
          </a:p>
          <a:p>
            <a:pPr>
              <a:buFont typeface="Arial" panose="020B0604020202020204" pitchFamily="34" charset="0"/>
              <a:buChar char="•"/>
            </a:pPr>
            <a:r>
              <a:rPr lang="en-US" b="1" dirty="0"/>
              <a:t>Overcooked</a:t>
            </a:r>
            <a:r>
              <a:rPr lang="en-US" dirty="0"/>
              <a:t> coffee (high temperature or long time)</a:t>
            </a:r>
          </a:p>
          <a:p>
            <a:pPr>
              <a:buFont typeface="Arial" panose="020B0604020202020204" pitchFamily="34" charset="0"/>
              <a:buChar char="•"/>
            </a:pPr>
            <a:r>
              <a:rPr lang="en-US" b="1" dirty="0"/>
              <a:t>Good coffee</a:t>
            </a:r>
            <a:r>
              <a:rPr lang="en-US" dirty="0"/>
              <a:t> in the middle region</a:t>
            </a:r>
          </a:p>
          <a:p>
            <a:r>
              <a:rPr lang="en-US" dirty="0"/>
              <a:t>The diagonal line represents the </a:t>
            </a:r>
            <a:r>
              <a:rPr lang="en-US" b="1" dirty="0"/>
              <a:t>decision boundary</a:t>
            </a:r>
            <a:r>
              <a:rPr lang="en-US" dirty="0"/>
              <a:t> learned by the neural network. This boundary separates the region where coffee is predicted to be good from the region where it is predicted to be bad.</a:t>
            </a:r>
          </a:p>
          <a:p>
            <a:r>
              <a:rPr lang="en-US" dirty="0"/>
              <a:t>For a new roast, the input vector </a:t>
            </a:r>
            <a:r>
              <a:rPr lang="en-US" b="1" dirty="0"/>
              <a:t>x</a:t>
            </a:r>
            <a:r>
              <a:rPr lang="en-US" dirty="0"/>
              <a:t> (for example, temperature = 200°C and duration = 17 minutes) is fed into the neural network. The network computes an output value </a:t>
            </a:r>
            <a:r>
              <a:rPr lang="en-US" b="1" dirty="0"/>
              <a:t>a[2]</a:t>
            </a:r>
            <a:r>
              <a:rPr lang="en-US" dirty="0"/>
              <a:t>, which represents the </a:t>
            </a:r>
            <a:r>
              <a:rPr lang="en-US" b="1" dirty="0"/>
              <a:t>probability that the coffee is good</a:t>
            </a:r>
            <a:r>
              <a:rPr lang="en-US" dirty="0"/>
              <a:t>.</a:t>
            </a:r>
          </a:p>
          <a:p>
            <a:r>
              <a:rPr lang="en-US" dirty="0"/>
              <a:t>The final decision is made using a threshold:</a:t>
            </a:r>
          </a:p>
          <a:p>
            <a:pPr>
              <a:buFont typeface="Arial" panose="020B0604020202020204" pitchFamily="34" charset="0"/>
              <a:buChar char="•"/>
            </a:pPr>
            <a:r>
              <a:rPr lang="en-US" dirty="0"/>
              <a:t>If </a:t>
            </a:r>
            <a:r>
              <a:rPr lang="en-US" b="1" dirty="0"/>
              <a:t>a[2] ≥ 0.5</a:t>
            </a:r>
            <a:r>
              <a:rPr lang="en-US" dirty="0"/>
              <a:t>, then </a:t>
            </a:r>
            <a:r>
              <a:rPr lang="en-US" b="1" dirty="0" err="1"/>
              <a:t>y_hat</a:t>
            </a:r>
            <a:r>
              <a:rPr lang="en-US" b="1" dirty="0"/>
              <a:t> = 1</a:t>
            </a:r>
            <a:r>
              <a:rPr lang="en-US" dirty="0"/>
              <a:t> → good coffee</a:t>
            </a:r>
          </a:p>
          <a:p>
            <a:pPr>
              <a:buFont typeface="Arial" panose="020B0604020202020204" pitchFamily="34" charset="0"/>
              <a:buChar char="•"/>
            </a:pPr>
            <a:r>
              <a:rPr lang="en-US" dirty="0"/>
              <a:t>If </a:t>
            </a:r>
            <a:r>
              <a:rPr lang="en-US" b="1" dirty="0"/>
              <a:t>a[2] &lt; 0.5</a:t>
            </a:r>
            <a:r>
              <a:rPr lang="en-US" dirty="0"/>
              <a:t>, then </a:t>
            </a:r>
            <a:r>
              <a:rPr lang="en-US" b="1" dirty="0" err="1"/>
              <a:t>y_hat</a:t>
            </a:r>
            <a:r>
              <a:rPr lang="en-US" b="1" dirty="0"/>
              <a:t> = 0</a:t>
            </a:r>
            <a:r>
              <a:rPr lang="en-US" dirty="0"/>
              <a:t> → bad coffee</a:t>
            </a:r>
          </a:p>
          <a:p>
            <a:r>
              <a:rPr lang="en-US" dirty="0"/>
              <a:t>In this example, the point falls in the </a:t>
            </a:r>
            <a:r>
              <a:rPr lang="en-US" b="1" dirty="0"/>
              <a:t>good coffee region</a:t>
            </a:r>
            <a:r>
              <a:rPr lang="en-US" dirty="0"/>
              <a:t>, so the network predicts </a:t>
            </a:r>
            <a:r>
              <a:rPr lang="en-US" b="1" dirty="0"/>
              <a:t>good coffee</a:t>
            </a:r>
            <a:r>
              <a:rPr lang="en-US" dirty="0"/>
              <a:t>.</a:t>
            </a:r>
          </a:p>
          <a:p>
            <a:r>
              <a:rPr lang="en-US" b="1" dirty="0"/>
              <a:t>Key idea:</a:t>
            </a:r>
            <a:r>
              <a:rPr lang="en-US" dirty="0"/>
              <a:t> the neural network combines temperature and time, learns a decision boundary, and uses it to predict whether a coffee roast will be good or bad.</a:t>
            </a:r>
          </a:p>
          <a:p>
            <a:endParaRPr lang="en-IL" dirty="0"/>
          </a:p>
        </p:txBody>
      </p:sp>
    </p:spTree>
    <p:extLst>
      <p:ext uri="{BB962C8B-B14F-4D97-AF65-F5344CB8AC3E}">
        <p14:creationId xmlns:p14="http://schemas.microsoft.com/office/powerpoint/2010/main" val="15593689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Build the Model Using TensorFlow (Inference Example)</a:t>
            </a:r>
          </a:p>
          <a:p>
            <a:r>
              <a:rPr lang="en-US" dirty="0"/>
              <a:t>This slide shows how to build the same small neural network in </a:t>
            </a:r>
            <a:r>
              <a:rPr lang="en-US" b="1" dirty="0"/>
              <a:t>TensorFlow</a:t>
            </a:r>
            <a:r>
              <a:rPr lang="en-US" dirty="0"/>
              <a:t> and use it to make a prediction.</a:t>
            </a:r>
          </a:p>
          <a:p>
            <a:r>
              <a:rPr lang="en-US" dirty="0"/>
              <a:t>The input </a:t>
            </a:r>
            <a:r>
              <a:rPr lang="en-US" b="1" dirty="0"/>
              <a:t>x</a:t>
            </a:r>
            <a:r>
              <a:rPr lang="en-US" dirty="0"/>
              <a:t> is one example with two features: </a:t>
            </a:r>
            <a:r>
              <a:rPr lang="en-US" b="1" dirty="0"/>
              <a:t>temperature and duration</a:t>
            </a:r>
            <a:r>
              <a:rPr lang="en-US" dirty="0"/>
              <a:t>, written as:</a:t>
            </a:r>
            <a:br>
              <a:rPr lang="en-US" dirty="0"/>
            </a:br>
            <a:r>
              <a:rPr lang="en-US" dirty="0"/>
              <a:t>x = [200.0, 17.0]</a:t>
            </a:r>
          </a:p>
          <a:p>
            <a:r>
              <a:rPr lang="en-US" dirty="0"/>
              <a:t>The model has two layers:</a:t>
            </a:r>
          </a:p>
          <a:p>
            <a:pPr>
              <a:buFont typeface="Arial" panose="020B0604020202020204" pitchFamily="34" charset="0"/>
              <a:buChar char="•"/>
            </a:pPr>
            <a:r>
              <a:rPr lang="en-US" b="1" dirty="0"/>
              <a:t>Layer 1</a:t>
            </a:r>
            <a:r>
              <a:rPr lang="en-US" dirty="0"/>
              <a:t>: Dense(units=3, activation='sigmoid')</a:t>
            </a:r>
            <a:br>
              <a:rPr lang="en-US" dirty="0"/>
            </a:br>
            <a:r>
              <a:rPr lang="en-US" dirty="0"/>
              <a:t>This layer takes x and produces </a:t>
            </a:r>
            <a:r>
              <a:rPr lang="en-US" b="1" dirty="0"/>
              <a:t>a1</a:t>
            </a:r>
            <a:r>
              <a:rPr lang="en-US" dirty="0"/>
              <a:t>, a vector of 3 activation values (for example [0.2, 0.7, 0.3]).</a:t>
            </a:r>
          </a:p>
          <a:p>
            <a:pPr>
              <a:buFont typeface="Arial" panose="020B0604020202020204" pitchFamily="34" charset="0"/>
              <a:buChar char="•"/>
            </a:pPr>
            <a:r>
              <a:rPr lang="en-US" b="1" dirty="0"/>
              <a:t>Layer 2</a:t>
            </a:r>
            <a:r>
              <a:rPr lang="en-US" dirty="0"/>
              <a:t>: Dense(units=1, activation='sigmoid')</a:t>
            </a:r>
            <a:br>
              <a:rPr lang="en-US" dirty="0"/>
            </a:br>
            <a:r>
              <a:rPr lang="en-US" dirty="0"/>
              <a:t>This layer takes a1 and produces </a:t>
            </a:r>
            <a:r>
              <a:rPr lang="en-US" b="1" dirty="0"/>
              <a:t>a2</a:t>
            </a:r>
            <a:r>
              <a:rPr lang="en-US" dirty="0"/>
              <a:t>, a single value (for example 0.8).</a:t>
            </a:r>
          </a:p>
          <a:p>
            <a:r>
              <a:rPr lang="en-US" dirty="0"/>
              <a:t>The output </a:t>
            </a:r>
            <a:r>
              <a:rPr lang="en-US" b="1" dirty="0"/>
              <a:t>a2</a:t>
            </a:r>
            <a:r>
              <a:rPr lang="en-US" dirty="0"/>
              <a:t> is interpreted as the </a:t>
            </a:r>
            <a:r>
              <a:rPr lang="en-US" b="1" dirty="0"/>
              <a:t>probability of good coffee</a:t>
            </a:r>
            <a:r>
              <a:rPr lang="en-US" dirty="0"/>
              <a:t>. To convert it into a final decision, we use a threshold:</a:t>
            </a:r>
          </a:p>
          <a:p>
            <a:pPr>
              <a:buFont typeface="Arial" panose="020B0604020202020204" pitchFamily="34" charset="0"/>
              <a:buChar char="•"/>
            </a:pPr>
            <a:r>
              <a:rPr lang="en-US" dirty="0"/>
              <a:t>If </a:t>
            </a:r>
            <a:r>
              <a:rPr lang="en-US" b="1" dirty="0"/>
              <a:t>a2 &gt;= 0.5</a:t>
            </a:r>
            <a:r>
              <a:rPr lang="en-US" dirty="0"/>
              <a:t> → </a:t>
            </a:r>
            <a:r>
              <a:rPr lang="en-US" dirty="0" err="1"/>
              <a:t>yhat</a:t>
            </a:r>
            <a:r>
              <a:rPr lang="en-US" dirty="0"/>
              <a:t> = 1 (good coffee)</a:t>
            </a:r>
          </a:p>
          <a:p>
            <a:pPr>
              <a:buFont typeface="Arial" panose="020B0604020202020204" pitchFamily="34" charset="0"/>
              <a:buChar char="•"/>
            </a:pPr>
            <a:r>
              <a:rPr lang="en-US" dirty="0"/>
              <a:t>Else → </a:t>
            </a:r>
            <a:r>
              <a:rPr lang="en-US" dirty="0" err="1"/>
              <a:t>yhat</a:t>
            </a:r>
            <a:r>
              <a:rPr lang="en-US" dirty="0"/>
              <a:t> = 0 (bad coffee)</a:t>
            </a:r>
          </a:p>
          <a:p>
            <a:r>
              <a:rPr lang="en-US" b="1" dirty="0"/>
              <a:t>Key idea:</a:t>
            </a:r>
            <a:r>
              <a:rPr lang="en-US" dirty="0"/>
              <a:t> TensorFlow layers compute activations step by step (x → a1 → a2), and then we use a threshold to get the final class prediction.</a:t>
            </a:r>
          </a:p>
          <a:p>
            <a:endParaRPr lang="en-IL" dirty="0"/>
          </a:p>
        </p:txBody>
      </p:sp>
    </p:spTree>
    <p:extLst>
      <p:ext uri="{BB962C8B-B14F-4D97-AF65-F5344CB8AC3E}">
        <p14:creationId xmlns:p14="http://schemas.microsoft.com/office/powerpoint/2010/main" val="23266584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Model for Digit Classification (Inference Only)</a:t>
            </a:r>
          </a:p>
          <a:p>
            <a:r>
              <a:rPr lang="en-US" dirty="0"/>
              <a:t>This slide shows a </a:t>
            </a:r>
            <a:r>
              <a:rPr lang="en-US" b="1" dirty="0"/>
              <a:t>neural network model used to classify handwritten digits</a:t>
            </a:r>
            <a:r>
              <a:rPr lang="en-US" dirty="0"/>
              <a:t>, focusing on </a:t>
            </a:r>
            <a:r>
              <a:rPr lang="en-US" b="1" dirty="0"/>
              <a:t>forward propagation (inference)</a:t>
            </a:r>
            <a:r>
              <a:rPr lang="en-US" dirty="0"/>
              <a:t>.</a:t>
            </a:r>
          </a:p>
          <a:p>
            <a:r>
              <a:rPr lang="en-US" dirty="0"/>
              <a:t>The input </a:t>
            </a:r>
            <a:r>
              <a:rPr lang="en-US" b="1" dirty="0"/>
              <a:t>x</a:t>
            </a:r>
            <a:r>
              <a:rPr lang="en-US" dirty="0"/>
              <a:t> is a vector of pixel values from a digit image (for example, 28×28 pixels flattened into one vector).</a:t>
            </a:r>
          </a:p>
          <a:p>
            <a:r>
              <a:rPr lang="en-US" dirty="0"/>
              <a:t>The network has </a:t>
            </a:r>
            <a:r>
              <a:rPr lang="en-US" b="1" dirty="0"/>
              <a:t>three layers</a:t>
            </a:r>
            <a:r>
              <a:rPr lang="en-US" dirty="0"/>
              <a:t>:</a:t>
            </a:r>
          </a:p>
          <a:p>
            <a:pPr>
              <a:buFont typeface="Arial" panose="020B0604020202020204" pitchFamily="34" charset="0"/>
              <a:buChar char="•"/>
            </a:pPr>
            <a:r>
              <a:rPr lang="en-US" b="1" dirty="0"/>
              <a:t>Layer 1 (25 units)</a:t>
            </a:r>
            <a:r>
              <a:rPr lang="en-US" dirty="0"/>
              <a:t>: takes the image pixels and computes activations </a:t>
            </a:r>
            <a:r>
              <a:rPr lang="en-US" b="1" dirty="0"/>
              <a:t>a1</a:t>
            </a:r>
            <a:r>
              <a:rPr lang="en-US" dirty="0"/>
              <a:t> using a sigmoid function.</a:t>
            </a:r>
          </a:p>
          <a:p>
            <a:pPr>
              <a:buFont typeface="Arial" panose="020B0604020202020204" pitchFamily="34" charset="0"/>
              <a:buChar char="•"/>
            </a:pPr>
            <a:r>
              <a:rPr lang="en-US" b="1" dirty="0"/>
              <a:t>Layer 2 (15 units)</a:t>
            </a:r>
            <a:r>
              <a:rPr lang="en-US" dirty="0"/>
              <a:t>: takes </a:t>
            </a:r>
            <a:r>
              <a:rPr lang="en-US" b="1" dirty="0"/>
              <a:t>a1</a:t>
            </a:r>
            <a:r>
              <a:rPr lang="en-US" dirty="0"/>
              <a:t> and computes new activations </a:t>
            </a:r>
            <a:r>
              <a:rPr lang="en-US" b="1" dirty="0"/>
              <a:t>a2</a:t>
            </a:r>
            <a:r>
              <a:rPr lang="en-US" dirty="0"/>
              <a:t>.</a:t>
            </a:r>
          </a:p>
          <a:p>
            <a:pPr>
              <a:buFont typeface="Arial" panose="020B0604020202020204" pitchFamily="34" charset="0"/>
              <a:buChar char="•"/>
            </a:pPr>
            <a:r>
              <a:rPr lang="en-US" b="1" dirty="0"/>
              <a:t>Layer 3 (1 unit – output layer)</a:t>
            </a:r>
            <a:r>
              <a:rPr lang="en-US" dirty="0"/>
              <a:t>: takes </a:t>
            </a:r>
            <a:r>
              <a:rPr lang="en-US" b="1" dirty="0"/>
              <a:t>a2</a:t>
            </a:r>
            <a:r>
              <a:rPr lang="en-US" dirty="0"/>
              <a:t> and produces </a:t>
            </a:r>
            <a:r>
              <a:rPr lang="en-US" b="1" dirty="0"/>
              <a:t>a3</a:t>
            </a:r>
            <a:r>
              <a:rPr lang="en-US" dirty="0"/>
              <a:t>, a single value.</a:t>
            </a:r>
          </a:p>
          <a:p>
            <a:r>
              <a:rPr lang="en-US" dirty="0"/>
              <a:t>The output </a:t>
            </a:r>
            <a:r>
              <a:rPr lang="en-US" b="1" dirty="0"/>
              <a:t>a3</a:t>
            </a:r>
            <a:r>
              <a:rPr lang="en-US" dirty="0"/>
              <a:t> represents the </a:t>
            </a:r>
            <a:r>
              <a:rPr lang="en-US" b="1" dirty="0"/>
              <a:t>probability that the image belongs to a specific digit class</a:t>
            </a:r>
            <a:r>
              <a:rPr lang="en-US" dirty="0"/>
              <a:t> (for example, digit “1”).</a:t>
            </a:r>
          </a:p>
          <a:p>
            <a:r>
              <a:rPr lang="en-US" dirty="0"/>
              <a:t>To make the final prediction:</a:t>
            </a:r>
          </a:p>
          <a:p>
            <a:pPr>
              <a:buFont typeface="Arial" panose="020B0604020202020204" pitchFamily="34" charset="0"/>
              <a:buChar char="•"/>
            </a:pPr>
            <a:r>
              <a:rPr lang="en-US" dirty="0"/>
              <a:t>If </a:t>
            </a:r>
            <a:r>
              <a:rPr lang="en-US" b="1" dirty="0"/>
              <a:t>a3 ≥ 0.5</a:t>
            </a:r>
            <a:r>
              <a:rPr lang="en-US" dirty="0"/>
              <a:t>, predict </a:t>
            </a:r>
            <a:r>
              <a:rPr lang="en-US" b="1" dirty="0" err="1"/>
              <a:t>y_hat</a:t>
            </a:r>
            <a:r>
              <a:rPr lang="en-US" b="1" dirty="0"/>
              <a:t> = 1</a:t>
            </a:r>
            <a:r>
              <a:rPr lang="en-US" dirty="0"/>
              <a:t> (digit detected)</a:t>
            </a:r>
          </a:p>
          <a:p>
            <a:pPr>
              <a:buFont typeface="Arial" panose="020B0604020202020204" pitchFamily="34" charset="0"/>
              <a:buChar char="•"/>
            </a:pPr>
            <a:r>
              <a:rPr lang="en-US" dirty="0"/>
              <a:t>If </a:t>
            </a:r>
            <a:r>
              <a:rPr lang="en-US" b="1" dirty="0"/>
              <a:t>a3 &lt; 0.5</a:t>
            </a:r>
            <a:r>
              <a:rPr lang="en-US" dirty="0"/>
              <a:t>, predict </a:t>
            </a:r>
            <a:r>
              <a:rPr lang="en-US" b="1" dirty="0" err="1"/>
              <a:t>y_hat</a:t>
            </a:r>
            <a:r>
              <a:rPr lang="en-US" b="1" dirty="0"/>
              <a:t> = 0</a:t>
            </a:r>
            <a:r>
              <a:rPr lang="en-US" dirty="0"/>
              <a:t> (digit not detected)</a:t>
            </a:r>
          </a:p>
          <a:p>
            <a:r>
              <a:rPr lang="en-US" b="1" dirty="0"/>
              <a:t>Key idea:</a:t>
            </a:r>
            <a:r>
              <a:rPr lang="en-US" dirty="0"/>
              <a:t> the image is passed layer by layer through the network, and the final neuron outputs a probability that is converted into a yes/no classification.</a:t>
            </a:r>
          </a:p>
          <a:p>
            <a:endParaRPr lang="en-IL" dirty="0"/>
          </a:p>
        </p:txBody>
      </p:sp>
    </p:spTree>
    <p:extLst>
      <p:ext uri="{BB962C8B-B14F-4D97-AF65-F5344CB8AC3E}">
        <p14:creationId xmlns:p14="http://schemas.microsoft.com/office/powerpoint/2010/main" val="30387373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TensorFlow Implementation: Data in TensorFlow</a:t>
            </a:r>
          </a:p>
          <a:p>
            <a:r>
              <a:rPr lang="en-US" dirty="0"/>
              <a:t>This section explains how </a:t>
            </a:r>
            <a:r>
              <a:rPr lang="en-US" b="1" dirty="0"/>
              <a:t>input data, labels, and parameters</a:t>
            </a:r>
            <a:r>
              <a:rPr lang="en-US" dirty="0"/>
              <a:t> are stored in TensorFlow as </a:t>
            </a:r>
            <a:r>
              <a:rPr lang="en-US" b="1" dirty="0"/>
              <a:t>tensors</a:t>
            </a:r>
            <a:r>
              <a:rPr lang="en-US" dirty="0"/>
              <a:t> (multi-dimensional arrays).</a:t>
            </a:r>
            <a:br>
              <a:rPr lang="en-US" dirty="0"/>
            </a:br>
            <a:r>
              <a:rPr lang="en-US" dirty="0"/>
              <a:t>It also shows how data shapes must match the model layers so TensorFlow can perform computations correctly during training and inference.</a:t>
            </a:r>
          </a:p>
          <a:p>
            <a:endParaRPr lang="en-IL" dirty="0"/>
          </a:p>
        </p:txBody>
      </p:sp>
    </p:spTree>
    <p:extLst>
      <p:ext uri="{BB962C8B-B14F-4D97-AF65-F5344CB8AC3E}">
        <p14:creationId xmlns:p14="http://schemas.microsoft.com/office/powerpoint/2010/main" val="13274582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Feature Vectors (Why this format?)</a:t>
            </a:r>
          </a:p>
          <a:p>
            <a:r>
              <a:rPr lang="en-US" dirty="0"/>
              <a:t>Each training example is described by </a:t>
            </a:r>
            <a:r>
              <a:rPr lang="en-US" b="1" dirty="0"/>
              <a:t>multiple features</a:t>
            </a:r>
            <a:r>
              <a:rPr lang="en-US" dirty="0"/>
              <a:t>, here:</a:t>
            </a:r>
          </a:p>
          <a:p>
            <a:pPr>
              <a:buFont typeface="Arial" panose="020B0604020202020204" pitchFamily="34" charset="0"/>
              <a:buChar char="•"/>
            </a:pPr>
            <a:r>
              <a:rPr lang="en-US" dirty="0"/>
              <a:t>temperature (200.0)</a:t>
            </a:r>
          </a:p>
          <a:p>
            <a:pPr>
              <a:buFont typeface="Arial" panose="020B0604020202020204" pitchFamily="34" charset="0"/>
              <a:buChar char="•"/>
            </a:pPr>
            <a:r>
              <a:rPr lang="en-US" dirty="0"/>
              <a:t>duration (17.0)</a:t>
            </a:r>
          </a:p>
          <a:p>
            <a:r>
              <a:rPr lang="en-US" dirty="0"/>
              <a:t>These values are grouped into </a:t>
            </a:r>
            <a:r>
              <a:rPr lang="en-US" b="1" dirty="0"/>
              <a:t>one feature vector</a:t>
            </a:r>
            <a:r>
              <a:rPr lang="en-US" dirty="0"/>
              <a:t>:</a:t>
            </a:r>
            <a:br>
              <a:rPr lang="en-US" dirty="0"/>
            </a:br>
            <a:r>
              <a:rPr lang="en-US" dirty="0"/>
              <a:t>x = [200.0, 17.0]</a:t>
            </a:r>
          </a:p>
          <a:p>
            <a:r>
              <a:rPr lang="en-US" dirty="0"/>
              <a:t>In TensorFlow, we write it as:</a:t>
            </a:r>
            <a:br>
              <a:rPr lang="en-US" dirty="0"/>
            </a:br>
            <a:r>
              <a:rPr lang="en-US" dirty="0"/>
              <a:t>x = </a:t>
            </a:r>
            <a:r>
              <a:rPr lang="en-US" dirty="0" err="1"/>
              <a:t>np.array</a:t>
            </a:r>
            <a:r>
              <a:rPr lang="en-US" dirty="0"/>
              <a:t>([[200.0, 17.0]])</a:t>
            </a:r>
          </a:p>
          <a:p>
            <a:r>
              <a:rPr lang="en-US" dirty="0"/>
              <a:t>because:</a:t>
            </a:r>
          </a:p>
          <a:p>
            <a:pPr>
              <a:buFont typeface="Arial" panose="020B0604020202020204" pitchFamily="34" charset="0"/>
              <a:buChar char="•"/>
            </a:pPr>
            <a:r>
              <a:rPr lang="en-US" dirty="0"/>
              <a:t>the </a:t>
            </a:r>
            <a:r>
              <a:rPr lang="en-US" b="1" dirty="0"/>
              <a:t>inner brackets</a:t>
            </a:r>
            <a:r>
              <a:rPr lang="en-US" dirty="0"/>
              <a:t> [200.0, 17.0] represent </a:t>
            </a:r>
            <a:r>
              <a:rPr lang="en-US" b="1" dirty="0"/>
              <a:t>one example</a:t>
            </a:r>
            <a:endParaRPr lang="en-US" dirty="0"/>
          </a:p>
          <a:p>
            <a:pPr>
              <a:buFont typeface="Arial" panose="020B0604020202020204" pitchFamily="34" charset="0"/>
              <a:buChar char="•"/>
            </a:pPr>
            <a:r>
              <a:rPr lang="en-US" dirty="0"/>
              <a:t>the </a:t>
            </a:r>
            <a:r>
              <a:rPr lang="en-US" b="1" dirty="0"/>
              <a:t>outer brackets</a:t>
            </a:r>
            <a:r>
              <a:rPr lang="en-US" dirty="0"/>
              <a:t> [[ ... ]] represent a </a:t>
            </a:r>
            <a:r>
              <a:rPr lang="en-US" b="1" dirty="0"/>
              <a:t>batch of examples</a:t>
            </a:r>
            <a:endParaRPr lang="en-US" dirty="0"/>
          </a:p>
          <a:p>
            <a:r>
              <a:rPr lang="en-US" b="1" dirty="0"/>
              <a:t>Key idea:</a:t>
            </a:r>
            <a:r>
              <a:rPr lang="en-US" dirty="0"/>
              <a:t> even one data point must be written as a 2D array so it matches TensorFlow’s expected input shape.</a:t>
            </a:r>
          </a:p>
          <a:p>
            <a:endParaRPr lang="en-IL" dirty="0"/>
          </a:p>
        </p:txBody>
      </p:sp>
    </p:spTree>
    <p:extLst>
      <p:ext uri="{BB962C8B-B14F-4D97-AF65-F5344CB8AC3E}">
        <p14:creationId xmlns:p14="http://schemas.microsoft.com/office/powerpoint/2010/main" val="3962869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Note about NumPy Arrays (Simple Explanation)</a:t>
            </a:r>
          </a:p>
          <a:p>
            <a:r>
              <a:rPr lang="en-US" dirty="0"/>
              <a:t>A </a:t>
            </a:r>
            <a:r>
              <a:rPr lang="en-US" b="1" dirty="0"/>
              <a:t>NumPy array</a:t>
            </a:r>
            <a:r>
              <a:rPr lang="en-US" dirty="0"/>
              <a:t> stores data in rows and columns, like a table (matrix).</a:t>
            </a:r>
          </a:p>
          <a:p>
            <a:pPr>
              <a:buFont typeface="Arial" panose="020B0604020202020204" pitchFamily="34" charset="0"/>
              <a:buChar char="•"/>
            </a:pPr>
            <a:r>
              <a:rPr lang="en-US" dirty="0"/>
              <a:t>x = </a:t>
            </a:r>
            <a:r>
              <a:rPr lang="en-US" dirty="0" err="1"/>
              <a:t>np.array</a:t>
            </a:r>
            <a:r>
              <a:rPr lang="en-US" dirty="0"/>
              <a:t>([[1, 2, 3], [4, 5, 6]])</a:t>
            </a:r>
            <a:br>
              <a:rPr lang="en-US" dirty="0"/>
            </a:br>
            <a:r>
              <a:rPr lang="en-US" dirty="0"/>
              <a:t>This is a </a:t>
            </a:r>
            <a:r>
              <a:rPr lang="en-US" b="1" dirty="0"/>
              <a:t>2D array</a:t>
            </a:r>
            <a:r>
              <a:rPr lang="en-US" dirty="0"/>
              <a:t> with </a:t>
            </a:r>
            <a:r>
              <a:rPr lang="en-US" b="1" dirty="0"/>
              <a:t>2 rows and 3 columns</a:t>
            </a:r>
            <a:r>
              <a:rPr lang="en-US" dirty="0"/>
              <a:t> → shape </a:t>
            </a:r>
            <a:r>
              <a:rPr lang="en-US" b="1" dirty="0"/>
              <a:t>(2 × 3)</a:t>
            </a:r>
            <a:r>
              <a:rPr lang="en-US" dirty="0"/>
              <a:t>.</a:t>
            </a:r>
          </a:p>
          <a:p>
            <a:pPr>
              <a:buFont typeface="Arial" panose="020B0604020202020204" pitchFamily="34" charset="0"/>
              <a:buChar char="•"/>
            </a:pPr>
            <a:r>
              <a:rPr lang="en-US" dirty="0"/>
              <a:t>Each </a:t>
            </a:r>
            <a:r>
              <a:rPr lang="en-US" b="1" dirty="0"/>
              <a:t>inner list</a:t>
            </a:r>
            <a:r>
              <a:rPr lang="en-US" dirty="0"/>
              <a:t> is one row.</a:t>
            </a:r>
          </a:p>
          <a:p>
            <a:pPr>
              <a:buFont typeface="Arial" panose="020B0604020202020204" pitchFamily="34" charset="0"/>
              <a:buChar char="•"/>
            </a:pPr>
            <a:r>
              <a:rPr lang="en-US" dirty="0"/>
              <a:t>The number of values in each row = number of columns.</a:t>
            </a:r>
          </a:p>
          <a:p>
            <a:r>
              <a:rPr lang="en-US" dirty="0"/>
              <a:t>Another example:</a:t>
            </a:r>
          </a:p>
          <a:p>
            <a:pPr>
              <a:buFont typeface="Arial" panose="020B0604020202020204" pitchFamily="34" charset="0"/>
              <a:buChar char="•"/>
            </a:pPr>
            <a:r>
              <a:rPr lang="en-US" dirty="0"/>
              <a:t>x = </a:t>
            </a:r>
            <a:r>
              <a:rPr lang="en-US" dirty="0" err="1"/>
              <a:t>np.array</a:t>
            </a:r>
            <a:r>
              <a:rPr lang="en-US" dirty="0"/>
              <a:t>([[0.1, 0.2], [-3.0, -4.0], [-0.5, -0.6], [7.0, 8.0]])</a:t>
            </a:r>
            <a:br>
              <a:rPr lang="en-US" dirty="0"/>
            </a:br>
            <a:r>
              <a:rPr lang="en-US" dirty="0"/>
              <a:t>This is </a:t>
            </a:r>
            <a:r>
              <a:rPr lang="en-US" b="1" dirty="0"/>
              <a:t>4 rows and 2 columns</a:t>
            </a:r>
            <a:r>
              <a:rPr lang="en-US" dirty="0"/>
              <a:t> → shape </a:t>
            </a:r>
            <a:r>
              <a:rPr lang="en-US" b="1" dirty="0"/>
              <a:t>(4 × 2)</a:t>
            </a:r>
            <a:r>
              <a:rPr lang="en-US" dirty="0"/>
              <a:t>.</a:t>
            </a:r>
          </a:p>
          <a:p>
            <a:r>
              <a:rPr lang="en-US" b="1" dirty="0"/>
              <a:t>Key idea:</a:t>
            </a:r>
            <a:br>
              <a:rPr lang="en-US" dirty="0"/>
            </a:br>
            <a:r>
              <a:rPr lang="en-US" dirty="0"/>
              <a:t>NumPy arrays must have a clear shape (rows × columns), and this shape is very important when working with TensorFlow and neural networks.</a:t>
            </a:r>
          </a:p>
          <a:p>
            <a:endParaRPr lang="en-IL" dirty="0"/>
          </a:p>
        </p:txBody>
      </p:sp>
    </p:spTree>
    <p:extLst>
      <p:ext uri="{BB962C8B-B14F-4D97-AF65-F5344CB8AC3E}">
        <p14:creationId xmlns:p14="http://schemas.microsoft.com/office/powerpoint/2010/main" val="42616836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Note about NumPy Arrays</a:t>
            </a:r>
          </a:p>
          <a:p>
            <a:r>
              <a:rPr lang="en-US" dirty="0"/>
              <a:t>In NumPy, the </a:t>
            </a:r>
            <a:r>
              <a:rPr lang="en-US" b="1" dirty="0"/>
              <a:t>way we write brackets determines the shape of the array</a:t>
            </a:r>
            <a:r>
              <a:rPr lang="en-US" dirty="0"/>
              <a:t>, and the shape is very important when working with neural networks.</a:t>
            </a:r>
          </a:p>
          <a:p>
            <a:r>
              <a:rPr lang="en-US" dirty="0"/>
              <a:t>When we write</a:t>
            </a:r>
            <a:br>
              <a:rPr lang="en-US" dirty="0"/>
            </a:br>
            <a:r>
              <a:rPr lang="en-US" dirty="0"/>
              <a:t>x = </a:t>
            </a:r>
            <a:r>
              <a:rPr lang="en-US" dirty="0" err="1"/>
              <a:t>np.array</a:t>
            </a:r>
            <a:r>
              <a:rPr lang="en-US" dirty="0"/>
              <a:t>([[200, 17]])</a:t>
            </a:r>
            <a:br>
              <a:rPr lang="en-US" dirty="0"/>
            </a:br>
            <a:r>
              <a:rPr lang="en-US" dirty="0"/>
              <a:t>this creates a </a:t>
            </a:r>
            <a:r>
              <a:rPr lang="en-US" b="1" dirty="0"/>
              <a:t>2D array with shape (1 × 2)</a:t>
            </a:r>
            <a:r>
              <a:rPr lang="en-US" dirty="0"/>
              <a:t>. It means </a:t>
            </a:r>
            <a:r>
              <a:rPr lang="en-US" b="1" dirty="0"/>
              <a:t>one example (one row) with two features</a:t>
            </a:r>
            <a:r>
              <a:rPr lang="en-US" dirty="0"/>
              <a:t>. This is the correct and expected format when we give a single input example to a neural network in TensorFlow.</a:t>
            </a:r>
          </a:p>
          <a:p>
            <a:r>
              <a:rPr lang="en-US" dirty="0"/>
              <a:t>When we write</a:t>
            </a:r>
            <a:br>
              <a:rPr lang="en-US" dirty="0"/>
            </a:br>
            <a:r>
              <a:rPr lang="en-US" dirty="0"/>
              <a:t>x = </a:t>
            </a:r>
            <a:r>
              <a:rPr lang="en-US" dirty="0" err="1"/>
              <a:t>np.array</a:t>
            </a:r>
            <a:r>
              <a:rPr lang="en-US" dirty="0"/>
              <a:t>([[200], [17]])</a:t>
            </a:r>
            <a:br>
              <a:rPr lang="en-US" dirty="0"/>
            </a:br>
            <a:r>
              <a:rPr lang="en-US" dirty="0"/>
              <a:t>this creates a </a:t>
            </a:r>
            <a:r>
              <a:rPr lang="en-US" b="1" dirty="0"/>
              <a:t>2D array with shape (2 × 1)</a:t>
            </a:r>
            <a:r>
              <a:rPr lang="en-US" dirty="0"/>
              <a:t>. It means </a:t>
            </a:r>
            <a:r>
              <a:rPr lang="en-US" b="1" dirty="0"/>
              <a:t>two rows and one column</a:t>
            </a:r>
            <a:r>
              <a:rPr lang="en-US" dirty="0"/>
              <a:t>, which is </a:t>
            </a:r>
            <a:r>
              <a:rPr lang="en-US" b="1" dirty="0"/>
              <a:t>not the same</a:t>
            </a:r>
            <a:r>
              <a:rPr lang="en-US" dirty="0"/>
              <a:t> as one example with two features. Even though the numbers are the same, the meaning is different, and this format is usually not suitable as model input.</a:t>
            </a:r>
          </a:p>
          <a:p>
            <a:r>
              <a:rPr lang="en-US" dirty="0"/>
              <a:t>When we write</a:t>
            </a:r>
            <a:br>
              <a:rPr lang="en-US" dirty="0"/>
            </a:br>
            <a:r>
              <a:rPr lang="en-US" dirty="0"/>
              <a:t>x = </a:t>
            </a:r>
            <a:r>
              <a:rPr lang="en-US" dirty="0" err="1"/>
              <a:t>np.array</a:t>
            </a:r>
            <a:r>
              <a:rPr lang="en-US" dirty="0"/>
              <a:t>([200, 17])</a:t>
            </a:r>
            <a:br>
              <a:rPr lang="en-US" dirty="0"/>
            </a:br>
            <a:r>
              <a:rPr lang="en-US" dirty="0"/>
              <a:t>this creates a </a:t>
            </a:r>
            <a:r>
              <a:rPr lang="en-US" b="1" dirty="0"/>
              <a:t>1D array (a vector)</a:t>
            </a:r>
            <a:r>
              <a:rPr lang="en-US" dirty="0"/>
              <a:t> with shape (2,). This array has </a:t>
            </a:r>
            <a:r>
              <a:rPr lang="en-US" b="1" dirty="0"/>
              <a:t>no row–column structure</a:t>
            </a:r>
            <a:r>
              <a:rPr lang="en-US" dirty="0"/>
              <a:t>, so TensorFlow often cannot use it directly as input to a neural network.</a:t>
            </a:r>
          </a:p>
          <a:p>
            <a:r>
              <a:rPr lang="en-US" dirty="0"/>
              <a:t>The key idea is that </a:t>
            </a:r>
            <a:r>
              <a:rPr lang="en-US" b="1" dirty="0"/>
              <a:t>neural networks expect input data in 2D form</a:t>
            </a:r>
            <a:r>
              <a:rPr lang="en-US" dirty="0"/>
              <a:t>:</a:t>
            </a:r>
            <a:br>
              <a:rPr lang="en-US" dirty="0"/>
            </a:br>
            <a:r>
              <a:rPr lang="en-US" dirty="0"/>
              <a:t>(number of examples, number of features).</a:t>
            </a:r>
            <a:br>
              <a:rPr lang="en-US" dirty="0"/>
            </a:br>
            <a:r>
              <a:rPr lang="en-US" dirty="0"/>
              <a:t>So for one example with two features, the correct format is always:</a:t>
            </a:r>
            <a:br>
              <a:rPr lang="en-US" dirty="0"/>
            </a:br>
            <a:r>
              <a:rPr lang="en-US" dirty="0"/>
              <a:t>x = </a:t>
            </a:r>
            <a:r>
              <a:rPr lang="en-US" dirty="0" err="1"/>
              <a:t>np.array</a:t>
            </a:r>
            <a:r>
              <a:rPr lang="en-US" dirty="0"/>
              <a:t>([[200, 17]]).</a:t>
            </a:r>
          </a:p>
          <a:p>
            <a:endParaRPr lang="en-IL" dirty="0"/>
          </a:p>
        </p:txBody>
      </p:sp>
    </p:spTree>
    <p:extLst>
      <p:ext uri="{BB962C8B-B14F-4D97-AF65-F5344CB8AC3E}">
        <p14:creationId xmlns:p14="http://schemas.microsoft.com/office/powerpoint/2010/main" val="25696969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Feature Vectors</a:t>
            </a:r>
          </a:p>
          <a:p>
            <a:r>
              <a:rPr lang="en-US" dirty="0"/>
              <a:t>Each training example is described by </a:t>
            </a:r>
            <a:r>
              <a:rPr lang="en-US" b="1" dirty="0"/>
              <a:t>input features</a:t>
            </a:r>
            <a:r>
              <a:rPr lang="en-US" dirty="0"/>
              <a:t>. In this example, the features are </a:t>
            </a:r>
            <a:r>
              <a:rPr lang="en-US" b="1" dirty="0"/>
              <a:t>temperature (Celsius)</a:t>
            </a:r>
            <a:r>
              <a:rPr lang="en-US" dirty="0"/>
              <a:t> and </a:t>
            </a:r>
            <a:r>
              <a:rPr lang="en-US" b="1" dirty="0"/>
              <a:t>duration (minutes)</a:t>
            </a:r>
            <a:r>
              <a:rPr lang="en-US" dirty="0"/>
              <a:t>, and the label tells us whether the coffee is good (1) or not (0).</a:t>
            </a:r>
          </a:p>
          <a:p>
            <a:r>
              <a:rPr lang="en-US" dirty="0"/>
              <a:t>For one example, the feature values are </a:t>
            </a:r>
            <a:r>
              <a:rPr lang="en-US" b="1" dirty="0"/>
              <a:t>200.0</a:t>
            </a:r>
            <a:r>
              <a:rPr lang="en-US" dirty="0"/>
              <a:t> and </a:t>
            </a:r>
            <a:r>
              <a:rPr lang="en-US" b="1" dirty="0"/>
              <a:t>17.0</a:t>
            </a:r>
            <a:r>
              <a:rPr lang="en-US" dirty="0"/>
              <a:t>. These two numbers are grouped together to form a </a:t>
            </a:r>
            <a:r>
              <a:rPr lang="en-US" b="1" dirty="0"/>
              <a:t>feature vector</a:t>
            </a:r>
            <a:r>
              <a:rPr lang="en-US" dirty="0"/>
              <a:t>, written as:</a:t>
            </a:r>
            <a:br>
              <a:rPr lang="en-US" dirty="0"/>
            </a:br>
            <a:r>
              <a:rPr lang="en-US" dirty="0"/>
              <a:t>[200.0, 17.0].</a:t>
            </a:r>
          </a:p>
          <a:p>
            <a:r>
              <a:rPr lang="en-US" dirty="0"/>
              <a:t>In NumPy and TensorFlow, we must represent this feature vector as a </a:t>
            </a:r>
            <a:r>
              <a:rPr lang="en-US" b="1" dirty="0"/>
              <a:t>2D array</a:t>
            </a:r>
            <a:r>
              <a:rPr lang="en-US" dirty="0"/>
              <a:t>:</a:t>
            </a:r>
            <a:br>
              <a:rPr lang="en-US" dirty="0"/>
            </a:br>
            <a:r>
              <a:rPr lang="en-US" dirty="0"/>
              <a:t>x = </a:t>
            </a:r>
            <a:r>
              <a:rPr lang="en-US" dirty="0" err="1"/>
              <a:t>np.array</a:t>
            </a:r>
            <a:r>
              <a:rPr lang="en-US" dirty="0"/>
              <a:t>([[200.0, 17.0]]).</a:t>
            </a:r>
          </a:p>
          <a:p>
            <a:r>
              <a:rPr lang="en-US" dirty="0"/>
              <a:t>The inner brackets [200.0, 17.0] represent </a:t>
            </a:r>
            <a:r>
              <a:rPr lang="en-US" b="1" dirty="0"/>
              <a:t>one example</a:t>
            </a:r>
            <a:r>
              <a:rPr lang="en-US" dirty="0"/>
              <a:t>, and the outer brackets [[ ... ]] represent a </a:t>
            </a:r>
            <a:r>
              <a:rPr lang="en-US" b="1" dirty="0"/>
              <a:t>batch of examples</a:t>
            </a:r>
            <a:r>
              <a:rPr lang="en-US" dirty="0"/>
              <a:t>. The resulting shape is </a:t>
            </a:r>
            <a:r>
              <a:rPr lang="en-US" b="1" dirty="0"/>
              <a:t>1 × 2</a:t>
            </a:r>
            <a:r>
              <a:rPr lang="en-US" dirty="0"/>
              <a:t>, meaning </a:t>
            </a:r>
            <a:r>
              <a:rPr lang="en-US" b="1" dirty="0"/>
              <a:t>one example with two features</a:t>
            </a:r>
            <a:r>
              <a:rPr lang="en-US" dirty="0"/>
              <a:t>.</a:t>
            </a:r>
          </a:p>
          <a:p>
            <a:r>
              <a:rPr lang="en-US" dirty="0"/>
              <a:t>The key idea is that </a:t>
            </a:r>
            <a:r>
              <a:rPr lang="en-US" b="1" dirty="0"/>
              <a:t>each row is one data example</a:t>
            </a:r>
            <a:r>
              <a:rPr lang="en-US" dirty="0"/>
              <a:t>, and </a:t>
            </a:r>
            <a:r>
              <a:rPr lang="en-US" b="1" dirty="0"/>
              <a:t>each column is one feature</a:t>
            </a:r>
            <a:r>
              <a:rPr lang="en-US" dirty="0"/>
              <a:t>. This format allows the neural network to correctly process the input data.</a:t>
            </a:r>
          </a:p>
          <a:p>
            <a:endParaRPr lang="en-IL" dirty="0"/>
          </a:p>
        </p:txBody>
      </p:sp>
    </p:spTree>
    <p:extLst>
      <p:ext uri="{BB962C8B-B14F-4D97-AF65-F5344CB8AC3E}">
        <p14:creationId xmlns:p14="http://schemas.microsoft.com/office/powerpoint/2010/main" val="11604096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Activation Vector</a:t>
            </a:r>
          </a:p>
          <a:p>
            <a:r>
              <a:rPr lang="en-US" dirty="0"/>
              <a:t>After the input feature vector </a:t>
            </a:r>
            <a:r>
              <a:rPr lang="en-US" b="1" dirty="0"/>
              <a:t>x</a:t>
            </a:r>
            <a:r>
              <a:rPr lang="en-US" dirty="0"/>
              <a:t> is given to a neural network layer, the layer computes </a:t>
            </a:r>
            <a:r>
              <a:rPr lang="en-US" b="1" dirty="0"/>
              <a:t>activation values</a:t>
            </a:r>
            <a:r>
              <a:rPr lang="en-US" dirty="0"/>
              <a:t>. These values are the </a:t>
            </a:r>
            <a:r>
              <a:rPr lang="en-US" b="1" dirty="0"/>
              <a:t>outputs of the neurons in that layer</a:t>
            </a:r>
            <a:r>
              <a:rPr lang="en-US" dirty="0"/>
              <a:t>.</a:t>
            </a:r>
          </a:p>
          <a:p>
            <a:r>
              <a:rPr lang="en-US" dirty="0"/>
              <a:t>In this example, the input is:</a:t>
            </a:r>
            <a:br>
              <a:rPr lang="en-US" dirty="0"/>
            </a:br>
            <a:r>
              <a:rPr lang="en-US" dirty="0"/>
              <a:t>x = </a:t>
            </a:r>
            <a:r>
              <a:rPr lang="en-US" dirty="0" err="1"/>
              <a:t>np.array</a:t>
            </a:r>
            <a:r>
              <a:rPr lang="en-US" dirty="0"/>
              <a:t>([[200.0, 17.0]])</a:t>
            </a:r>
            <a:br>
              <a:rPr lang="en-US" dirty="0"/>
            </a:br>
            <a:r>
              <a:rPr lang="en-US" dirty="0"/>
              <a:t>This is one example with two features.</a:t>
            </a:r>
          </a:p>
          <a:p>
            <a:r>
              <a:rPr lang="en-US" dirty="0"/>
              <a:t>The first layer is defined as:</a:t>
            </a:r>
            <a:br>
              <a:rPr lang="en-US" dirty="0"/>
            </a:br>
            <a:r>
              <a:rPr lang="en-US" dirty="0"/>
              <a:t>layer_1 = Dense(units=3, activation='sigmoid')</a:t>
            </a:r>
            <a:br>
              <a:rPr lang="en-US" dirty="0"/>
            </a:br>
            <a:r>
              <a:rPr lang="en-US" dirty="0"/>
              <a:t>This means the layer has </a:t>
            </a:r>
            <a:r>
              <a:rPr lang="en-US" b="1" dirty="0"/>
              <a:t>3 neurons</a:t>
            </a:r>
            <a:r>
              <a:rPr lang="en-US" dirty="0"/>
              <a:t>, so it will produce </a:t>
            </a:r>
            <a:r>
              <a:rPr lang="en-US" b="1" dirty="0"/>
              <a:t>3 activation values</a:t>
            </a:r>
            <a:r>
              <a:rPr lang="en-US" dirty="0"/>
              <a:t>.</a:t>
            </a:r>
          </a:p>
          <a:p>
            <a:r>
              <a:rPr lang="en-US" dirty="0"/>
              <a:t>When we apply the layer:</a:t>
            </a:r>
            <a:br>
              <a:rPr lang="en-US" dirty="0"/>
            </a:br>
            <a:r>
              <a:rPr lang="en-US" dirty="0"/>
              <a:t>a1 = layer_1(x)</a:t>
            </a:r>
            <a:br>
              <a:rPr lang="en-US" dirty="0"/>
            </a:br>
            <a:r>
              <a:rPr lang="en-US" dirty="0"/>
              <a:t>the result is an </a:t>
            </a:r>
            <a:r>
              <a:rPr lang="en-US" b="1" dirty="0"/>
              <a:t>activation vector</a:t>
            </a:r>
            <a:r>
              <a:rPr lang="en-US" dirty="0"/>
              <a:t>:</a:t>
            </a:r>
            <a:br>
              <a:rPr lang="en-US" dirty="0"/>
            </a:br>
            <a:r>
              <a:rPr lang="en-US" dirty="0"/>
              <a:t>[[0.2, 0.7, 0.3]]</a:t>
            </a:r>
          </a:p>
          <a:p>
            <a:r>
              <a:rPr lang="en-US" dirty="0"/>
              <a:t>This vector has shape </a:t>
            </a:r>
            <a:r>
              <a:rPr lang="en-US" b="1" dirty="0"/>
              <a:t>(1 × 3)</a:t>
            </a:r>
            <a:r>
              <a:rPr lang="en-US" dirty="0"/>
              <a:t>, which means:</a:t>
            </a:r>
          </a:p>
          <a:p>
            <a:pPr>
              <a:buFont typeface="Arial" panose="020B0604020202020204" pitchFamily="34" charset="0"/>
              <a:buChar char="•"/>
            </a:pPr>
            <a:r>
              <a:rPr lang="en-US" b="1" dirty="0"/>
              <a:t>1 row</a:t>
            </a:r>
            <a:r>
              <a:rPr lang="en-US" dirty="0"/>
              <a:t> → one input example</a:t>
            </a:r>
          </a:p>
          <a:p>
            <a:pPr>
              <a:buFont typeface="Arial" panose="020B0604020202020204" pitchFamily="34" charset="0"/>
              <a:buChar char="•"/>
            </a:pPr>
            <a:r>
              <a:rPr lang="en-US" b="1" dirty="0"/>
              <a:t>3 columns</a:t>
            </a:r>
            <a:r>
              <a:rPr lang="en-US" dirty="0"/>
              <a:t> → one activation value from each neuron in the layer</a:t>
            </a:r>
          </a:p>
          <a:p>
            <a:r>
              <a:rPr lang="en-US" dirty="0"/>
              <a:t>In TensorFlow, this result is stored as a </a:t>
            </a:r>
            <a:r>
              <a:rPr lang="en-US" b="1" dirty="0"/>
              <a:t>tensor</a:t>
            </a:r>
            <a:r>
              <a:rPr lang="en-US" dirty="0"/>
              <a:t>:</a:t>
            </a:r>
            <a:br>
              <a:rPr lang="en-US" dirty="0"/>
            </a:br>
            <a:r>
              <a:rPr lang="en-US" dirty="0" err="1"/>
              <a:t>tf.Tensor</a:t>
            </a:r>
            <a:r>
              <a:rPr lang="en-US" dirty="0"/>
              <a:t>([[0.2, 0.7, 0.3]], shape=(1, 3))</a:t>
            </a:r>
          </a:p>
          <a:p>
            <a:r>
              <a:rPr lang="en-US" dirty="0"/>
              <a:t>When we call:</a:t>
            </a:r>
            <a:br>
              <a:rPr lang="en-US" dirty="0"/>
            </a:br>
            <a:r>
              <a:rPr lang="en-US" dirty="0"/>
              <a:t>a1.numpy()</a:t>
            </a:r>
            <a:br>
              <a:rPr lang="en-US" dirty="0"/>
            </a:br>
            <a:r>
              <a:rPr lang="en-US" dirty="0"/>
              <a:t>we convert the tensor into a </a:t>
            </a:r>
            <a:r>
              <a:rPr lang="en-US" b="1" dirty="0"/>
              <a:t>NumPy array</a:t>
            </a:r>
            <a:r>
              <a:rPr lang="en-US" dirty="0"/>
              <a:t>:</a:t>
            </a:r>
            <a:br>
              <a:rPr lang="en-US" dirty="0"/>
            </a:br>
            <a:r>
              <a:rPr lang="en-US" dirty="0"/>
              <a:t>array([[0.2, 0.7, 0.3]])</a:t>
            </a:r>
          </a:p>
          <a:p>
            <a:r>
              <a:rPr lang="en-US" dirty="0"/>
              <a:t>The key idea is that </a:t>
            </a:r>
            <a:r>
              <a:rPr lang="en-US" b="1" dirty="0"/>
              <a:t>the activation vector represents what the network has learned from the input at this layer</a:t>
            </a:r>
            <a:r>
              <a:rPr lang="en-US" dirty="0"/>
              <a:t>. Each number shows how strongly one neuron is activated, and this vector is then passed to the next layer.</a:t>
            </a:r>
          </a:p>
          <a:p>
            <a:endParaRPr lang="en-IL" dirty="0"/>
          </a:p>
        </p:txBody>
      </p:sp>
    </p:spTree>
    <p:extLst>
      <p:ext uri="{BB962C8B-B14F-4D97-AF65-F5344CB8AC3E}">
        <p14:creationId xmlns:p14="http://schemas.microsoft.com/office/powerpoint/2010/main" val="15451363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Activation Vector (Output Layer)</a:t>
            </a:r>
          </a:p>
          <a:p>
            <a:r>
              <a:rPr lang="en-US" dirty="0"/>
              <a:t>In this slide, we look at the </a:t>
            </a:r>
            <a:r>
              <a:rPr lang="en-US" b="1" dirty="0"/>
              <a:t>activation vector of the output layer</a:t>
            </a:r>
            <a:r>
              <a:rPr lang="en-US" dirty="0"/>
              <a:t>.</a:t>
            </a:r>
          </a:p>
          <a:p>
            <a:r>
              <a:rPr lang="en-US" dirty="0"/>
              <a:t>The second layer is defined as:</a:t>
            </a:r>
            <a:br>
              <a:rPr lang="en-US" dirty="0"/>
            </a:br>
            <a:r>
              <a:rPr lang="en-US" dirty="0"/>
              <a:t>layer_2 = Dense(units=1, activation='sigmoid')</a:t>
            </a:r>
            <a:br>
              <a:rPr lang="en-US" dirty="0"/>
            </a:br>
            <a:r>
              <a:rPr lang="en-US" dirty="0"/>
              <a:t>This means the layer has </a:t>
            </a:r>
            <a:r>
              <a:rPr lang="en-US" b="1" dirty="0"/>
              <a:t>one neuron</a:t>
            </a:r>
            <a:r>
              <a:rPr lang="en-US" dirty="0"/>
              <a:t>, so it produces </a:t>
            </a:r>
            <a:r>
              <a:rPr lang="en-US" b="1" dirty="0"/>
              <a:t>one activation value</a:t>
            </a:r>
            <a:r>
              <a:rPr lang="en-US" dirty="0"/>
              <a:t>.</a:t>
            </a:r>
          </a:p>
          <a:p>
            <a:r>
              <a:rPr lang="en-US" dirty="0"/>
              <a:t>When we apply this layer to the previous activation vector </a:t>
            </a:r>
            <a:r>
              <a:rPr lang="en-US" b="1" dirty="0"/>
              <a:t>a1</a:t>
            </a:r>
            <a:r>
              <a:rPr lang="en-US" dirty="0"/>
              <a:t>:</a:t>
            </a:r>
            <a:br>
              <a:rPr lang="en-US" dirty="0"/>
            </a:br>
            <a:r>
              <a:rPr lang="en-US" dirty="0"/>
              <a:t>a2 = layer_2(a1)</a:t>
            </a:r>
            <a:br>
              <a:rPr lang="en-US" dirty="0"/>
            </a:br>
            <a:r>
              <a:rPr lang="en-US" dirty="0"/>
              <a:t>the result is:</a:t>
            </a:r>
            <a:br>
              <a:rPr lang="en-US" dirty="0"/>
            </a:br>
            <a:r>
              <a:rPr lang="en-US" dirty="0"/>
              <a:t>[[0.8]]</a:t>
            </a:r>
          </a:p>
          <a:p>
            <a:r>
              <a:rPr lang="en-US" dirty="0"/>
              <a:t>This output has shape </a:t>
            </a:r>
            <a:r>
              <a:rPr lang="en-US" b="1" dirty="0"/>
              <a:t>(1 × 1)</a:t>
            </a:r>
            <a:r>
              <a:rPr lang="en-US" dirty="0"/>
              <a:t>, which means:</a:t>
            </a:r>
          </a:p>
          <a:p>
            <a:pPr>
              <a:buFont typeface="Arial" panose="020B0604020202020204" pitchFamily="34" charset="0"/>
              <a:buChar char="•"/>
            </a:pPr>
            <a:r>
              <a:rPr lang="en-US" b="1" dirty="0"/>
              <a:t>1 row</a:t>
            </a:r>
            <a:r>
              <a:rPr lang="en-US" dirty="0"/>
              <a:t> → one input example</a:t>
            </a:r>
          </a:p>
          <a:p>
            <a:pPr>
              <a:buFont typeface="Arial" panose="020B0604020202020204" pitchFamily="34" charset="0"/>
              <a:buChar char="•"/>
            </a:pPr>
            <a:r>
              <a:rPr lang="en-US" b="1" dirty="0"/>
              <a:t>1 column</a:t>
            </a:r>
            <a:r>
              <a:rPr lang="en-US" dirty="0"/>
              <a:t> → one output neuron</a:t>
            </a:r>
          </a:p>
          <a:p>
            <a:r>
              <a:rPr lang="en-US" dirty="0"/>
              <a:t>In TensorFlow, this value is stored as a </a:t>
            </a:r>
            <a:r>
              <a:rPr lang="en-US" b="1" dirty="0"/>
              <a:t>tensor</a:t>
            </a:r>
            <a:r>
              <a:rPr lang="en-US" dirty="0"/>
              <a:t>:</a:t>
            </a:r>
            <a:br>
              <a:rPr lang="en-US" dirty="0"/>
            </a:br>
            <a:r>
              <a:rPr lang="en-US" dirty="0" err="1"/>
              <a:t>tf.Tensor</a:t>
            </a:r>
            <a:r>
              <a:rPr lang="en-US" dirty="0"/>
              <a:t>([[0.8]], shape=(1, 1))</a:t>
            </a:r>
          </a:p>
          <a:p>
            <a:r>
              <a:rPr lang="en-US" dirty="0"/>
              <a:t>When we call:</a:t>
            </a:r>
            <a:br>
              <a:rPr lang="en-US" dirty="0"/>
            </a:br>
            <a:r>
              <a:rPr lang="en-US" dirty="0"/>
              <a:t>a2.numpy()</a:t>
            </a:r>
            <a:br>
              <a:rPr lang="en-US" dirty="0"/>
            </a:br>
            <a:r>
              <a:rPr lang="en-US" dirty="0"/>
              <a:t>it becomes a NumPy array:</a:t>
            </a:r>
            <a:br>
              <a:rPr lang="en-US" dirty="0"/>
            </a:br>
            <a:r>
              <a:rPr lang="en-US" dirty="0"/>
              <a:t>array([[0.8]])</a:t>
            </a:r>
          </a:p>
          <a:p>
            <a:r>
              <a:rPr lang="en-US" dirty="0"/>
              <a:t>The key idea is that </a:t>
            </a:r>
            <a:r>
              <a:rPr lang="en-US" b="1" dirty="0"/>
              <a:t>the activation vector of the output layer contains the final prediction</a:t>
            </a:r>
            <a:r>
              <a:rPr lang="en-US" dirty="0"/>
              <a:t>. In this example, the value </a:t>
            </a:r>
            <a:r>
              <a:rPr lang="en-US" b="1" dirty="0"/>
              <a:t>0.8</a:t>
            </a:r>
            <a:r>
              <a:rPr lang="en-US" dirty="0"/>
              <a:t> represents the </a:t>
            </a:r>
            <a:r>
              <a:rPr lang="en-US" b="1" dirty="0"/>
              <a:t>probability of the positive class</a:t>
            </a:r>
            <a:r>
              <a:rPr lang="en-US" dirty="0"/>
              <a:t>, which is later compared to a threshold (such as 0.5) to make a final decision.</a:t>
            </a:r>
          </a:p>
          <a:p>
            <a:endParaRPr lang="en-IL" dirty="0"/>
          </a:p>
        </p:txBody>
      </p:sp>
    </p:spTree>
    <p:extLst>
      <p:ext uri="{BB962C8B-B14F-4D97-AF65-F5344CB8AC3E}">
        <p14:creationId xmlns:p14="http://schemas.microsoft.com/office/powerpoint/2010/main" val="26191238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TensorFlow Implementation: Building a Neural Network</a:t>
            </a:r>
          </a:p>
          <a:p>
            <a:r>
              <a:rPr lang="en-US" dirty="0"/>
              <a:t>This section shows how to </a:t>
            </a:r>
            <a:r>
              <a:rPr lang="en-US" b="1" dirty="0"/>
              <a:t>build a neural network step by step in TensorFlow</a:t>
            </a:r>
            <a:r>
              <a:rPr lang="en-US" dirty="0"/>
              <a:t>, by defining layers, choosing activation functions, and connecting the layers to form a complete model.</a:t>
            </a:r>
          </a:p>
          <a:p>
            <a:endParaRPr lang="en-IL" dirty="0"/>
          </a:p>
        </p:txBody>
      </p:sp>
    </p:spTree>
    <p:extLst>
      <p:ext uri="{BB962C8B-B14F-4D97-AF65-F5344CB8AC3E}">
        <p14:creationId xmlns:p14="http://schemas.microsoft.com/office/powerpoint/2010/main" val="33597518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What You Saw Earlier</a:t>
            </a:r>
          </a:p>
          <a:p>
            <a:r>
              <a:rPr lang="en-US" dirty="0"/>
              <a:t>Earlier, you saw how </a:t>
            </a:r>
            <a:r>
              <a:rPr lang="en-US" b="1" dirty="0"/>
              <a:t>forward propagation</a:t>
            </a:r>
            <a:r>
              <a:rPr lang="en-US" dirty="0"/>
              <a:t> is written directly in TensorFlow code.</a:t>
            </a:r>
          </a:p>
          <a:p>
            <a:r>
              <a:rPr lang="en-US" dirty="0"/>
              <a:t>First, the input feature vector </a:t>
            </a:r>
            <a:r>
              <a:rPr lang="en-US" b="1" dirty="0"/>
              <a:t>x</a:t>
            </a:r>
            <a:r>
              <a:rPr lang="en-US" dirty="0"/>
              <a:t> is created as a NumPy array.</a:t>
            </a:r>
            <a:br>
              <a:rPr lang="en-US" dirty="0"/>
            </a:br>
            <a:r>
              <a:rPr lang="en-US" dirty="0"/>
              <a:t>Then, </a:t>
            </a:r>
            <a:r>
              <a:rPr lang="en-US" b="1" dirty="0"/>
              <a:t>Layer 1</a:t>
            </a:r>
            <a:r>
              <a:rPr lang="en-US" dirty="0"/>
              <a:t> is defined with 3 neurons and a sigmoid activation, and applying it to </a:t>
            </a:r>
            <a:r>
              <a:rPr lang="en-US" b="1" dirty="0"/>
              <a:t>x</a:t>
            </a:r>
            <a:r>
              <a:rPr lang="en-US" dirty="0"/>
              <a:t> produces the activation vector </a:t>
            </a:r>
            <a:r>
              <a:rPr lang="en-US" b="1" dirty="0"/>
              <a:t>a1</a:t>
            </a:r>
            <a:r>
              <a:rPr lang="en-US" dirty="0"/>
              <a:t>.</a:t>
            </a:r>
            <a:br>
              <a:rPr lang="en-US" dirty="0"/>
            </a:br>
            <a:r>
              <a:rPr lang="en-US" dirty="0"/>
              <a:t>Next, </a:t>
            </a:r>
            <a:r>
              <a:rPr lang="en-US" b="1" dirty="0"/>
              <a:t>Layer 2</a:t>
            </a:r>
            <a:r>
              <a:rPr lang="en-US" dirty="0"/>
              <a:t> is defined with 1 neuron and a sigmoid activation, and applying it to </a:t>
            </a:r>
            <a:r>
              <a:rPr lang="en-US" b="1" dirty="0"/>
              <a:t>a1</a:t>
            </a:r>
            <a:r>
              <a:rPr lang="en-US" dirty="0"/>
              <a:t> produces </a:t>
            </a:r>
            <a:r>
              <a:rPr lang="en-US" b="1" dirty="0"/>
              <a:t>a2</a:t>
            </a:r>
            <a:r>
              <a:rPr lang="en-US" dirty="0"/>
              <a:t>, the final output.</a:t>
            </a:r>
          </a:p>
          <a:p>
            <a:r>
              <a:rPr lang="en-US" dirty="0"/>
              <a:t>This code is a direct implementation of the neural network diagram:</a:t>
            </a:r>
            <a:br>
              <a:rPr lang="en-US" dirty="0"/>
            </a:br>
            <a:r>
              <a:rPr lang="en-US" b="1" dirty="0"/>
              <a:t>x → a1 → a2</a:t>
            </a:r>
            <a:r>
              <a:rPr lang="en-US" dirty="0"/>
              <a:t>.</a:t>
            </a:r>
          </a:p>
          <a:p>
            <a:endParaRPr lang="en-IL" dirty="0"/>
          </a:p>
        </p:txBody>
      </p:sp>
    </p:spTree>
    <p:extLst>
      <p:ext uri="{BB962C8B-B14F-4D97-AF65-F5344CB8AC3E}">
        <p14:creationId xmlns:p14="http://schemas.microsoft.com/office/powerpoint/2010/main" val="12523334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a:xfrm>
            <a:off x="171450" y="3200400"/>
            <a:ext cx="4838700" cy="5943600"/>
          </a:xfrm>
        </p:spPr>
        <p:txBody>
          <a:bodyPr/>
          <a:lstStyle/>
          <a:p>
            <a:r>
              <a:rPr lang="en-US" b="1" dirty="0"/>
              <a:t>Building a Neural Network Architecture</a:t>
            </a:r>
          </a:p>
          <a:p>
            <a:r>
              <a:rPr lang="en-US" dirty="0"/>
              <a:t>This slide shows how we move from </a:t>
            </a:r>
            <a:r>
              <a:rPr lang="en-US" b="1" dirty="0"/>
              <a:t>individual layers</a:t>
            </a:r>
            <a:r>
              <a:rPr lang="en-US" dirty="0"/>
              <a:t> to a </a:t>
            </a:r>
            <a:r>
              <a:rPr lang="en-US" b="1" dirty="0"/>
              <a:t>complete neural network model</a:t>
            </a:r>
            <a:r>
              <a:rPr lang="en-US" dirty="0"/>
              <a:t> in TensorFlow.</a:t>
            </a:r>
          </a:p>
          <a:p>
            <a:r>
              <a:rPr lang="en-US" dirty="0"/>
              <a:t>First, we define the layers of the network.</a:t>
            </a:r>
            <a:br>
              <a:rPr lang="en-US" dirty="0"/>
            </a:br>
            <a:r>
              <a:rPr lang="en-US" dirty="0"/>
              <a:t>layer_1 = Dense(units=3, activation="sigmoid") creates a hidden layer with 3 neurons.</a:t>
            </a:r>
            <a:br>
              <a:rPr lang="en-US" dirty="0"/>
            </a:br>
            <a:r>
              <a:rPr lang="en-US" dirty="0"/>
              <a:t>layer_2 = Dense(units=1, activation="sigmoid") creates the output layer with 1 neuron.</a:t>
            </a:r>
            <a:br>
              <a:rPr lang="en-US" dirty="0"/>
            </a:br>
            <a:r>
              <a:rPr lang="en-US" dirty="0"/>
              <a:t>These layers match the neural network diagram on the left.</a:t>
            </a:r>
          </a:p>
          <a:p>
            <a:r>
              <a:rPr lang="en-US" dirty="0"/>
              <a:t>Next, we connect the layers together using:</a:t>
            </a:r>
            <a:br>
              <a:rPr lang="en-US" dirty="0"/>
            </a:br>
            <a:r>
              <a:rPr lang="en-US" dirty="0"/>
              <a:t>model = Sequential([layer_1, layer_2]).</a:t>
            </a:r>
            <a:br>
              <a:rPr lang="en-US" dirty="0"/>
            </a:br>
            <a:r>
              <a:rPr lang="en-US" dirty="0"/>
              <a:t>The Sequential model means the data flows </a:t>
            </a:r>
            <a:r>
              <a:rPr lang="en-US" b="1" dirty="0"/>
              <a:t>in order</a:t>
            </a:r>
            <a:r>
              <a:rPr lang="en-US" dirty="0"/>
              <a:t>, from layer 1 to layer 2, exactly like forward propagation.</a:t>
            </a:r>
          </a:p>
          <a:p>
            <a:r>
              <a:rPr lang="en-US" dirty="0"/>
              <a:t>The input data </a:t>
            </a:r>
            <a:r>
              <a:rPr lang="en-US" b="1" dirty="0"/>
              <a:t>x</a:t>
            </a:r>
            <a:r>
              <a:rPr lang="en-US" dirty="0"/>
              <a:t> is a NumPy array with shape </a:t>
            </a:r>
            <a:r>
              <a:rPr lang="en-US" b="1" dirty="0"/>
              <a:t>(4 × 2)</a:t>
            </a:r>
            <a:r>
              <a:rPr lang="en-US" dirty="0"/>
              <a:t>.</a:t>
            </a:r>
            <a:br>
              <a:rPr lang="en-US" dirty="0"/>
            </a:br>
            <a:r>
              <a:rPr lang="en-US" dirty="0"/>
              <a:t>This means we have </a:t>
            </a:r>
            <a:r>
              <a:rPr lang="en-US" b="1" dirty="0"/>
              <a:t>4 training examples</a:t>
            </a:r>
            <a:r>
              <a:rPr lang="en-US" dirty="0"/>
              <a:t>, and each example has </a:t>
            </a:r>
            <a:r>
              <a:rPr lang="en-US" b="1" dirty="0"/>
              <a:t>2 features</a:t>
            </a:r>
            <a:r>
              <a:rPr lang="en-US" dirty="0"/>
              <a:t> (for example, temperature and duration).</a:t>
            </a:r>
            <a:br>
              <a:rPr lang="en-US" dirty="0"/>
            </a:br>
            <a:r>
              <a:rPr lang="en-US" dirty="0"/>
              <a:t>The target labels </a:t>
            </a:r>
            <a:r>
              <a:rPr lang="en-US" b="1" dirty="0"/>
              <a:t>y</a:t>
            </a:r>
            <a:r>
              <a:rPr lang="en-US" dirty="0"/>
              <a:t> are stored in a separate array, where each value (0 or 1) is the correct answer for one example.</a:t>
            </a:r>
          </a:p>
          <a:p>
            <a:r>
              <a:rPr lang="en-US" dirty="0"/>
              <a:t>After defining the model and data, we prepare the model using:</a:t>
            </a:r>
            <a:br>
              <a:rPr lang="en-US" dirty="0"/>
            </a:br>
            <a:r>
              <a:rPr lang="en-US" dirty="0" err="1"/>
              <a:t>model.compile</a:t>
            </a:r>
            <a:r>
              <a:rPr lang="en-US" dirty="0"/>
              <a:t>(...).</a:t>
            </a:r>
            <a:br>
              <a:rPr lang="en-US" dirty="0"/>
            </a:br>
            <a:r>
              <a:rPr lang="en-US" dirty="0"/>
              <a:t>This step tells TensorFlow how the model should learn (details will be explained later).</a:t>
            </a:r>
          </a:p>
          <a:p>
            <a:r>
              <a:rPr lang="en-US" dirty="0"/>
              <a:t>Then we train the model using:</a:t>
            </a:r>
            <a:br>
              <a:rPr lang="en-US" dirty="0"/>
            </a:br>
            <a:r>
              <a:rPr lang="en-US" dirty="0" err="1"/>
              <a:t>model.fit</a:t>
            </a:r>
            <a:r>
              <a:rPr lang="en-US" dirty="0"/>
              <a:t>(x, y).</a:t>
            </a:r>
            <a:br>
              <a:rPr lang="en-US" dirty="0"/>
            </a:br>
            <a:r>
              <a:rPr lang="en-US" dirty="0"/>
              <a:t>During training, TensorFlow adjusts the weights so the model’s predictions get closer to the target values.</a:t>
            </a:r>
          </a:p>
          <a:p>
            <a:r>
              <a:rPr lang="en-US" dirty="0"/>
              <a:t>Finally, once the model is trained, we can make predictions on new data using:</a:t>
            </a:r>
            <a:br>
              <a:rPr lang="en-US" dirty="0"/>
            </a:br>
            <a:r>
              <a:rPr lang="en-US" dirty="0" err="1"/>
              <a:t>model.predict</a:t>
            </a:r>
            <a:r>
              <a:rPr lang="en-US" dirty="0"/>
              <a:t>(</a:t>
            </a:r>
            <a:r>
              <a:rPr lang="en-US" dirty="0" err="1"/>
              <a:t>x_new</a:t>
            </a:r>
            <a:r>
              <a:rPr lang="en-US" dirty="0"/>
              <a:t>).</a:t>
            </a:r>
          </a:p>
          <a:p>
            <a:r>
              <a:rPr lang="en-US" dirty="0"/>
              <a:t>The key idea is that </a:t>
            </a:r>
            <a:r>
              <a:rPr lang="en-US" b="1" dirty="0"/>
              <a:t>TensorFlow lets us build a neural network by defining layers, stacking them into a model, training with data, and then using the model to make predictions</a:t>
            </a:r>
            <a:r>
              <a:rPr lang="en-US" dirty="0"/>
              <a:t>.</a:t>
            </a:r>
          </a:p>
          <a:p>
            <a:endParaRPr lang="en-IL" dirty="0"/>
          </a:p>
        </p:txBody>
      </p:sp>
    </p:spTree>
    <p:extLst>
      <p:ext uri="{BB962C8B-B14F-4D97-AF65-F5344CB8AC3E}">
        <p14:creationId xmlns:p14="http://schemas.microsoft.com/office/powerpoint/2010/main" val="24696960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Building a Neural Network Architecture (Alternative Way)</a:t>
            </a:r>
          </a:p>
          <a:p>
            <a:r>
              <a:rPr lang="en-US" dirty="0"/>
              <a:t>This slide shows an </a:t>
            </a:r>
            <a:r>
              <a:rPr lang="en-US" b="1" dirty="0"/>
              <a:t>alternative and common way</a:t>
            </a:r>
            <a:r>
              <a:rPr lang="en-US" dirty="0"/>
              <a:t> to build a neural network in TensorFlow using the </a:t>
            </a:r>
            <a:r>
              <a:rPr lang="en-US" b="1" dirty="0"/>
              <a:t>Sequential</a:t>
            </a:r>
            <a:r>
              <a:rPr lang="en-US" dirty="0"/>
              <a:t> model.</a:t>
            </a:r>
          </a:p>
          <a:p>
            <a:r>
              <a:rPr lang="en-US" dirty="0"/>
              <a:t>Instead of defining each layer separately, we define the whole model at once:</a:t>
            </a:r>
            <a:br>
              <a:rPr lang="en-US" dirty="0"/>
            </a:br>
            <a:r>
              <a:rPr lang="en-US" dirty="0"/>
              <a:t>model = Sequential([ Dense(...), Dense(...) ]).</a:t>
            </a:r>
            <a:br>
              <a:rPr lang="en-US" dirty="0"/>
            </a:br>
            <a:r>
              <a:rPr lang="en-US" dirty="0"/>
              <a:t>Here, the first Dense layer has </a:t>
            </a:r>
            <a:r>
              <a:rPr lang="en-US" b="1" dirty="0"/>
              <a:t>3 neurons</a:t>
            </a:r>
            <a:r>
              <a:rPr lang="en-US" dirty="0"/>
              <a:t> with a sigmoid activation (hidden layer), and the second Dense layer has </a:t>
            </a:r>
            <a:r>
              <a:rPr lang="en-US" b="1" dirty="0"/>
              <a:t>1 neuron</a:t>
            </a:r>
            <a:r>
              <a:rPr lang="en-US" dirty="0"/>
              <a:t> with a sigmoid activation (output layer). The data flows through these layers </a:t>
            </a:r>
            <a:r>
              <a:rPr lang="en-US" b="1" dirty="0"/>
              <a:t>in order</a:t>
            </a:r>
            <a:r>
              <a:rPr lang="en-US" dirty="0"/>
              <a:t>.</a:t>
            </a:r>
          </a:p>
          <a:p>
            <a:r>
              <a:rPr lang="en-US" dirty="0"/>
              <a:t>The input data </a:t>
            </a:r>
            <a:r>
              <a:rPr lang="en-US" b="1" dirty="0"/>
              <a:t>x</a:t>
            </a:r>
            <a:r>
              <a:rPr lang="en-US" dirty="0"/>
              <a:t> is a NumPy array with shape </a:t>
            </a:r>
            <a:r>
              <a:rPr lang="en-US" b="1" dirty="0"/>
              <a:t>(4 × 2)</a:t>
            </a:r>
            <a:r>
              <a:rPr lang="en-US" dirty="0"/>
              <a:t>.</a:t>
            </a:r>
            <a:br>
              <a:rPr lang="en-US" dirty="0"/>
            </a:br>
            <a:r>
              <a:rPr lang="en-US" dirty="0"/>
              <a:t>This means there are </a:t>
            </a:r>
            <a:r>
              <a:rPr lang="en-US" b="1" dirty="0"/>
              <a:t>4 training examples</a:t>
            </a:r>
            <a:r>
              <a:rPr lang="en-US" dirty="0"/>
              <a:t>, and each example has </a:t>
            </a:r>
            <a:r>
              <a:rPr lang="en-US" b="1" dirty="0"/>
              <a:t>2 features</a:t>
            </a:r>
            <a:r>
              <a:rPr lang="en-US" dirty="0"/>
              <a:t> (for example, temperature and duration).</a:t>
            </a:r>
          </a:p>
          <a:p>
            <a:r>
              <a:rPr lang="en-US" dirty="0"/>
              <a:t>The target labels </a:t>
            </a:r>
            <a:r>
              <a:rPr lang="en-US" b="1" dirty="0"/>
              <a:t>y</a:t>
            </a:r>
            <a:r>
              <a:rPr lang="en-US" dirty="0"/>
              <a:t> are stored in a separate array:</a:t>
            </a:r>
            <a:br>
              <a:rPr lang="en-US" dirty="0"/>
            </a:br>
            <a:r>
              <a:rPr lang="en-US" dirty="0"/>
              <a:t>y = [1, 0, 0, 1].</a:t>
            </a:r>
            <a:br>
              <a:rPr lang="en-US" dirty="0"/>
            </a:br>
            <a:r>
              <a:rPr lang="en-US" dirty="0"/>
              <a:t>Each value in </a:t>
            </a:r>
            <a:r>
              <a:rPr lang="en-US" b="1" dirty="0"/>
              <a:t>y</a:t>
            </a:r>
            <a:r>
              <a:rPr lang="en-US" dirty="0"/>
              <a:t> is the correct answer for the corresponding row in </a:t>
            </a:r>
            <a:r>
              <a:rPr lang="en-US" b="1" dirty="0"/>
              <a:t>x</a:t>
            </a:r>
            <a:r>
              <a:rPr lang="en-US" dirty="0"/>
              <a:t>.</a:t>
            </a:r>
          </a:p>
          <a:p>
            <a:r>
              <a:rPr lang="en-US" dirty="0"/>
              <a:t>After defining the model, we prepare it using:</a:t>
            </a:r>
            <a:br>
              <a:rPr lang="en-US" dirty="0"/>
            </a:br>
            <a:r>
              <a:rPr lang="en-US" dirty="0" err="1"/>
              <a:t>model.compile</a:t>
            </a:r>
            <a:r>
              <a:rPr lang="en-US" dirty="0"/>
              <a:t>(...).</a:t>
            </a:r>
            <a:br>
              <a:rPr lang="en-US" dirty="0"/>
            </a:br>
            <a:r>
              <a:rPr lang="en-US" dirty="0"/>
              <a:t>This step sets how the model will learn (details come later).</a:t>
            </a:r>
          </a:p>
          <a:p>
            <a:r>
              <a:rPr lang="en-US" dirty="0"/>
              <a:t>Then we train the model using:</a:t>
            </a:r>
            <a:br>
              <a:rPr lang="en-US" dirty="0"/>
            </a:br>
            <a:r>
              <a:rPr lang="en-US" dirty="0" err="1"/>
              <a:t>model.fit</a:t>
            </a:r>
            <a:r>
              <a:rPr lang="en-US" dirty="0"/>
              <a:t>(x, y).</a:t>
            </a:r>
            <a:br>
              <a:rPr lang="en-US" dirty="0"/>
            </a:br>
            <a:r>
              <a:rPr lang="en-US" dirty="0"/>
              <a:t>During training, TensorFlow adjusts the weights to match predictions with the targets.</a:t>
            </a:r>
          </a:p>
          <a:p>
            <a:r>
              <a:rPr lang="en-US" dirty="0"/>
              <a:t>Finally, we can use the trained model to make predictions on new data with:</a:t>
            </a:r>
            <a:br>
              <a:rPr lang="en-US" dirty="0"/>
            </a:br>
            <a:r>
              <a:rPr lang="en-US" dirty="0" err="1"/>
              <a:t>model.predict</a:t>
            </a:r>
            <a:r>
              <a:rPr lang="en-US" dirty="0"/>
              <a:t>(</a:t>
            </a:r>
            <a:r>
              <a:rPr lang="en-US" dirty="0" err="1"/>
              <a:t>x_new</a:t>
            </a:r>
            <a:r>
              <a:rPr lang="en-US" dirty="0"/>
              <a:t>).</a:t>
            </a:r>
          </a:p>
          <a:p>
            <a:r>
              <a:rPr lang="en-US" dirty="0"/>
              <a:t>The key idea is that </a:t>
            </a:r>
            <a:r>
              <a:rPr lang="en-US" b="1" dirty="0"/>
              <a:t>Sequential provides a clean and simple way to define, train, and use a neural network in TensorFlow</a:t>
            </a:r>
            <a:r>
              <a:rPr lang="en-US" dirty="0"/>
              <a:t>.</a:t>
            </a:r>
          </a:p>
          <a:p>
            <a:endParaRPr lang="en-IL" dirty="0"/>
          </a:p>
        </p:txBody>
      </p:sp>
    </p:spTree>
    <p:extLst>
      <p:ext uri="{BB962C8B-B14F-4D97-AF65-F5344CB8AC3E}">
        <p14:creationId xmlns:p14="http://schemas.microsoft.com/office/powerpoint/2010/main" val="23095002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Digit Classification Model</a:t>
            </a:r>
          </a:p>
          <a:p>
            <a:r>
              <a:rPr lang="en-US" dirty="0"/>
              <a:t>This slide shows a </a:t>
            </a:r>
            <a:r>
              <a:rPr lang="en-US" b="1" dirty="0"/>
              <a:t>neural network model for digit classification</a:t>
            </a:r>
            <a:r>
              <a:rPr lang="en-US" dirty="0"/>
              <a:t>, built using TensorFlow.</a:t>
            </a:r>
          </a:p>
          <a:p>
            <a:r>
              <a:rPr lang="en-US" dirty="0"/>
              <a:t>The input </a:t>
            </a:r>
            <a:r>
              <a:rPr lang="en-US" b="1" dirty="0"/>
              <a:t>x</a:t>
            </a:r>
            <a:r>
              <a:rPr lang="en-US" dirty="0"/>
              <a:t> represents digit images after preprocessing (for example, pixel values flattened into a vector). Each row in </a:t>
            </a:r>
            <a:r>
              <a:rPr lang="en-US" b="1" dirty="0"/>
              <a:t>x</a:t>
            </a:r>
            <a:r>
              <a:rPr lang="en-US" dirty="0"/>
              <a:t> is one image. The target </a:t>
            </a:r>
            <a:r>
              <a:rPr lang="en-US" b="1" dirty="0"/>
              <a:t>y</a:t>
            </a:r>
            <a:r>
              <a:rPr lang="en-US" dirty="0"/>
              <a:t> contains the correct labels (such as 0 or 1) for each image.</a:t>
            </a:r>
          </a:p>
          <a:p>
            <a:r>
              <a:rPr lang="en-US" dirty="0"/>
              <a:t>The model has </a:t>
            </a:r>
            <a:r>
              <a:rPr lang="en-US" b="1" dirty="0"/>
              <a:t>three layers</a:t>
            </a:r>
            <a:r>
              <a:rPr lang="en-US" dirty="0"/>
              <a:t>:</a:t>
            </a:r>
          </a:p>
          <a:p>
            <a:pPr>
              <a:buFont typeface="Arial" panose="020B0604020202020204" pitchFamily="34" charset="0"/>
              <a:buChar char="•"/>
            </a:pPr>
            <a:r>
              <a:rPr lang="en-US" b="1" dirty="0"/>
              <a:t>Layer 1</a:t>
            </a:r>
            <a:r>
              <a:rPr lang="en-US" dirty="0"/>
              <a:t>: Dense(units=25, activation="sigmoid")</a:t>
            </a:r>
            <a:br>
              <a:rPr lang="en-US" dirty="0"/>
            </a:br>
            <a:r>
              <a:rPr lang="en-US" dirty="0"/>
              <a:t>This is a hidden layer with 25 neurons that learns low-level patterns from the image.</a:t>
            </a:r>
          </a:p>
          <a:p>
            <a:pPr>
              <a:buFont typeface="Arial" panose="020B0604020202020204" pitchFamily="34" charset="0"/>
              <a:buChar char="•"/>
            </a:pPr>
            <a:r>
              <a:rPr lang="en-US" b="1" dirty="0"/>
              <a:t>Layer 2</a:t>
            </a:r>
            <a:r>
              <a:rPr lang="en-US" dirty="0"/>
              <a:t>: Dense(units=15, activation="sigmoid")</a:t>
            </a:r>
            <a:br>
              <a:rPr lang="en-US" dirty="0"/>
            </a:br>
            <a:r>
              <a:rPr lang="en-US" dirty="0"/>
              <a:t>This hidden layer learns higher-level features based on the first layer.</a:t>
            </a:r>
          </a:p>
          <a:p>
            <a:pPr>
              <a:buFont typeface="Arial" panose="020B0604020202020204" pitchFamily="34" charset="0"/>
              <a:buChar char="•"/>
            </a:pPr>
            <a:r>
              <a:rPr lang="en-US" b="1" dirty="0"/>
              <a:t>Layer 3</a:t>
            </a:r>
            <a:r>
              <a:rPr lang="en-US" dirty="0"/>
              <a:t>: Dense(units=1, activation="sigmoid")</a:t>
            </a:r>
            <a:br>
              <a:rPr lang="en-US" dirty="0"/>
            </a:br>
            <a:r>
              <a:rPr lang="en-US" dirty="0"/>
              <a:t>This is the output layer and produces </a:t>
            </a:r>
            <a:r>
              <a:rPr lang="en-US" b="1" dirty="0"/>
              <a:t>a[3]</a:t>
            </a:r>
            <a:r>
              <a:rPr lang="en-US" dirty="0"/>
              <a:t>, a single value representing the </a:t>
            </a:r>
            <a:r>
              <a:rPr lang="en-US" b="1" dirty="0"/>
              <a:t>probability of the digit belonging to a certain class</a:t>
            </a:r>
            <a:r>
              <a:rPr lang="en-US" dirty="0"/>
              <a:t>.</a:t>
            </a:r>
          </a:p>
          <a:p>
            <a:r>
              <a:rPr lang="en-US" dirty="0"/>
              <a:t>The layers are combined into one model using:</a:t>
            </a:r>
            <a:br>
              <a:rPr lang="en-US" dirty="0"/>
            </a:br>
            <a:r>
              <a:rPr lang="en-US" dirty="0"/>
              <a:t>model = Sequential([layer_1, layer_2, layer_3]).</a:t>
            </a:r>
          </a:p>
          <a:p>
            <a:r>
              <a:rPr lang="en-US" dirty="0"/>
              <a:t>After defining the model, we call:</a:t>
            </a:r>
            <a:br>
              <a:rPr lang="en-US" dirty="0"/>
            </a:br>
            <a:r>
              <a:rPr lang="en-US" dirty="0" err="1"/>
              <a:t>model.compile</a:t>
            </a:r>
            <a:r>
              <a:rPr lang="en-US" dirty="0"/>
              <a:t>(...)</a:t>
            </a:r>
            <a:br>
              <a:rPr lang="en-US" dirty="0"/>
            </a:br>
            <a:r>
              <a:rPr lang="en-US" dirty="0"/>
              <a:t>to prepare the model for learning.</a:t>
            </a:r>
          </a:p>
          <a:p>
            <a:r>
              <a:rPr lang="en-US" dirty="0"/>
              <a:t>Then the model is trained using:</a:t>
            </a:r>
            <a:br>
              <a:rPr lang="en-US" dirty="0"/>
            </a:br>
            <a:r>
              <a:rPr lang="en-US" dirty="0" err="1"/>
              <a:t>model.fit</a:t>
            </a:r>
            <a:r>
              <a:rPr lang="en-US" dirty="0"/>
              <a:t>(x, y),</a:t>
            </a:r>
            <a:br>
              <a:rPr lang="en-US" dirty="0"/>
            </a:br>
            <a:r>
              <a:rPr lang="en-US" dirty="0"/>
              <a:t>where TensorFlow adjusts the weights to reduce prediction errors.</a:t>
            </a:r>
          </a:p>
          <a:p>
            <a:r>
              <a:rPr lang="en-US" dirty="0"/>
              <a:t>Finally, once trained, the model can classify new digit images using:</a:t>
            </a:r>
            <a:br>
              <a:rPr lang="en-US" dirty="0"/>
            </a:br>
            <a:r>
              <a:rPr lang="en-US" dirty="0" err="1"/>
              <a:t>model.predict</a:t>
            </a:r>
            <a:r>
              <a:rPr lang="en-US" dirty="0"/>
              <a:t>(</a:t>
            </a:r>
            <a:r>
              <a:rPr lang="en-US" dirty="0" err="1"/>
              <a:t>x_new</a:t>
            </a:r>
            <a:r>
              <a:rPr lang="en-US" dirty="0"/>
              <a:t>).</a:t>
            </a:r>
          </a:p>
          <a:p>
            <a:r>
              <a:rPr lang="en-US" dirty="0"/>
              <a:t>The key idea is that </a:t>
            </a:r>
            <a:r>
              <a:rPr lang="en-US" b="1" dirty="0"/>
              <a:t>the image is processed layer by layer, from raw pixels to a final probability</a:t>
            </a:r>
            <a:r>
              <a:rPr lang="en-US" dirty="0"/>
              <a:t>, which is then used to make a classification decision.</a:t>
            </a:r>
          </a:p>
          <a:p>
            <a:endParaRPr lang="en-IL" dirty="0"/>
          </a:p>
        </p:txBody>
      </p:sp>
    </p:spTree>
    <p:extLst>
      <p:ext uri="{BB962C8B-B14F-4D97-AF65-F5344CB8AC3E}">
        <p14:creationId xmlns:p14="http://schemas.microsoft.com/office/powerpoint/2010/main" val="9839921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b="1" dirty="0"/>
              <a:t>Digit Classification Model (Putting Everything Together)</a:t>
            </a:r>
          </a:p>
          <a:p>
            <a:r>
              <a:rPr lang="en-US" dirty="0"/>
              <a:t>This slide shows how a </a:t>
            </a:r>
            <a:r>
              <a:rPr lang="en-US" b="1" dirty="0"/>
              <a:t>digit classification neural network</a:t>
            </a:r>
            <a:r>
              <a:rPr lang="en-US" dirty="0"/>
              <a:t> is fully built and used in TensorFlow.</a:t>
            </a:r>
          </a:p>
          <a:p>
            <a:r>
              <a:rPr lang="en-US" dirty="0"/>
              <a:t>The </a:t>
            </a:r>
            <a:r>
              <a:rPr lang="en-US" b="1" dirty="0"/>
              <a:t>input x</a:t>
            </a:r>
            <a:r>
              <a:rPr lang="en-US" dirty="0"/>
              <a:t> represents digit images after preprocessing. Each image is converted into a </a:t>
            </a:r>
            <a:r>
              <a:rPr lang="en-US" b="1" dirty="0"/>
              <a:t>vector of pixel values</a:t>
            </a:r>
            <a:r>
              <a:rPr lang="en-US" dirty="0"/>
              <a:t>, and each row in x corresponds to one image. The target array </a:t>
            </a:r>
            <a:r>
              <a:rPr lang="en-US" b="1" dirty="0"/>
              <a:t>y</a:t>
            </a:r>
            <a:r>
              <a:rPr lang="en-US" dirty="0"/>
              <a:t> contains the correct labels (for example, 0 or 1) for each image.</a:t>
            </a:r>
          </a:p>
          <a:p>
            <a:r>
              <a:rPr lang="en-US" dirty="0"/>
              <a:t>The model is made of </a:t>
            </a:r>
            <a:r>
              <a:rPr lang="en-US" b="1" dirty="0"/>
              <a:t>three Dense layers</a:t>
            </a:r>
            <a:r>
              <a:rPr lang="en-US" dirty="0"/>
              <a:t>:</a:t>
            </a:r>
          </a:p>
          <a:p>
            <a:pPr>
              <a:buFont typeface="Arial" panose="020B0604020202020204" pitchFamily="34" charset="0"/>
              <a:buChar char="•"/>
            </a:pPr>
            <a:r>
              <a:rPr lang="en-US" b="1" dirty="0"/>
              <a:t>Layer 1 (25 units)</a:t>
            </a:r>
            <a:r>
              <a:rPr lang="en-US" dirty="0"/>
              <a:t>:</a:t>
            </a:r>
            <a:br>
              <a:rPr lang="en-US" dirty="0"/>
            </a:br>
            <a:r>
              <a:rPr lang="en-US" dirty="0"/>
              <a:t>Dense(units=25, activation="sigmoid")</a:t>
            </a:r>
            <a:br>
              <a:rPr lang="en-US" dirty="0"/>
            </a:br>
            <a:r>
              <a:rPr lang="en-US" dirty="0"/>
              <a:t>This hidden layer learns basic patterns from the pixel values.</a:t>
            </a:r>
          </a:p>
          <a:p>
            <a:pPr>
              <a:buFont typeface="Arial" panose="020B0604020202020204" pitchFamily="34" charset="0"/>
              <a:buChar char="•"/>
            </a:pPr>
            <a:r>
              <a:rPr lang="en-US" b="1" dirty="0"/>
              <a:t>Layer 2 (15 units)</a:t>
            </a:r>
            <a:r>
              <a:rPr lang="en-US" dirty="0"/>
              <a:t>:</a:t>
            </a:r>
            <a:br>
              <a:rPr lang="en-US" dirty="0"/>
            </a:br>
            <a:r>
              <a:rPr lang="en-US" dirty="0"/>
              <a:t>Dense(units=15, activation="sigmoid")</a:t>
            </a:r>
            <a:br>
              <a:rPr lang="en-US" dirty="0"/>
            </a:br>
            <a:r>
              <a:rPr lang="en-US" dirty="0"/>
              <a:t>This hidden layer combines earlier patterns into more meaningful features.</a:t>
            </a:r>
          </a:p>
          <a:p>
            <a:pPr>
              <a:buFont typeface="Arial" panose="020B0604020202020204" pitchFamily="34" charset="0"/>
              <a:buChar char="•"/>
            </a:pPr>
            <a:r>
              <a:rPr lang="en-US" b="1" dirty="0"/>
              <a:t>Layer 3 (1 unit)</a:t>
            </a:r>
            <a:r>
              <a:rPr lang="en-US" dirty="0"/>
              <a:t>:</a:t>
            </a:r>
            <a:br>
              <a:rPr lang="en-US" dirty="0"/>
            </a:br>
            <a:r>
              <a:rPr lang="en-US" dirty="0"/>
              <a:t>Dense(units=1, activation="sigmoid")</a:t>
            </a:r>
            <a:br>
              <a:rPr lang="en-US" dirty="0"/>
            </a:br>
            <a:r>
              <a:rPr lang="en-US" dirty="0"/>
              <a:t>This is the output layer and produces </a:t>
            </a:r>
            <a:r>
              <a:rPr lang="en-US" b="1" dirty="0"/>
              <a:t>a[3]</a:t>
            </a:r>
            <a:r>
              <a:rPr lang="en-US" dirty="0"/>
              <a:t>, which represents the </a:t>
            </a:r>
            <a:r>
              <a:rPr lang="en-US" b="1" dirty="0"/>
              <a:t>probability that the image belongs to the target digit</a:t>
            </a:r>
            <a:r>
              <a:rPr lang="en-US" dirty="0"/>
              <a:t>.</a:t>
            </a:r>
          </a:p>
          <a:p>
            <a:r>
              <a:rPr lang="en-US" dirty="0"/>
              <a:t>These layers are connected together using:</a:t>
            </a:r>
            <a:br>
              <a:rPr lang="en-US" dirty="0"/>
            </a:br>
            <a:r>
              <a:rPr lang="en-US" dirty="0"/>
              <a:t>model = Sequential([layer_1, layer_2, layer_3]).</a:t>
            </a:r>
            <a:br>
              <a:rPr lang="en-US" dirty="0"/>
            </a:br>
            <a:r>
              <a:rPr lang="en-US" dirty="0"/>
              <a:t>This means data flows </a:t>
            </a:r>
            <a:r>
              <a:rPr lang="en-US" b="1" dirty="0"/>
              <a:t>in order</a:t>
            </a:r>
            <a:r>
              <a:rPr lang="en-US" dirty="0"/>
              <a:t>, from the input layer to the output layer.</a:t>
            </a:r>
          </a:p>
          <a:p>
            <a:r>
              <a:rPr lang="en-US" dirty="0"/>
              <a:t>Before training, we prepare the model using:</a:t>
            </a:r>
            <a:br>
              <a:rPr lang="en-US" dirty="0"/>
            </a:br>
            <a:r>
              <a:rPr lang="en-US" dirty="0" err="1"/>
              <a:t>model.compile</a:t>
            </a:r>
            <a:r>
              <a:rPr lang="en-US" dirty="0"/>
              <a:t>(...).</a:t>
            </a:r>
            <a:br>
              <a:rPr lang="en-US" dirty="0"/>
            </a:br>
            <a:r>
              <a:rPr lang="en-US" dirty="0"/>
              <a:t>This step tells TensorFlow how learning will happen (details are covered later).</a:t>
            </a:r>
          </a:p>
          <a:p>
            <a:r>
              <a:rPr lang="en-US" dirty="0"/>
              <a:t>The model is trained using:</a:t>
            </a:r>
            <a:br>
              <a:rPr lang="en-US" dirty="0"/>
            </a:br>
            <a:r>
              <a:rPr lang="en-US" dirty="0" err="1"/>
              <a:t>model.fit</a:t>
            </a:r>
            <a:r>
              <a:rPr lang="en-US" dirty="0"/>
              <a:t>(x, y).</a:t>
            </a:r>
            <a:br>
              <a:rPr lang="en-US" dirty="0"/>
            </a:br>
            <a:r>
              <a:rPr lang="en-US" dirty="0"/>
              <a:t>During training, TensorFlow adjusts the weights so the predictions match the correct labels.</a:t>
            </a:r>
          </a:p>
          <a:p>
            <a:r>
              <a:rPr lang="en-US" dirty="0"/>
              <a:t>After training, the model can be used to classify new images using:</a:t>
            </a:r>
            <a:br>
              <a:rPr lang="en-US" dirty="0"/>
            </a:br>
            <a:r>
              <a:rPr lang="en-US" dirty="0" err="1"/>
              <a:t>model.predict</a:t>
            </a:r>
            <a:r>
              <a:rPr lang="en-US" dirty="0"/>
              <a:t>(</a:t>
            </a:r>
            <a:r>
              <a:rPr lang="en-US" dirty="0" err="1"/>
              <a:t>x_new</a:t>
            </a:r>
            <a:r>
              <a:rPr lang="en-US" dirty="0"/>
              <a:t>).</a:t>
            </a:r>
          </a:p>
          <a:p>
            <a:r>
              <a:rPr lang="en-US" b="1" dirty="0"/>
              <a:t>Key idea:</a:t>
            </a:r>
            <a:r>
              <a:rPr lang="en-US" dirty="0"/>
              <a:t> this slide connects the </a:t>
            </a:r>
            <a:r>
              <a:rPr lang="en-US" b="1" dirty="0"/>
              <a:t>neural network diagram</a:t>
            </a:r>
            <a:r>
              <a:rPr lang="en-US" dirty="0"/>
              <a:t>, the </a:t>
            </a:r>
            <a:r>
              <a:rPr lang="en-US" b="1" dirty="0"/>
              <a:t>TensorFlow code</a:t>
            </a:r>
            <a:r>
              <a:rPr lang="en-US" dirty="0"/>
              <a:t>, and the </a:t>
            </a:r>
            <a:r>
              <a:rPr lang="en-US" b="1" dirty="0"/>
              <a:t>learning process</a:t>
            </a:r>
            <a:r>
              <a:rPr lang="en-US" dirty="0"/>
              <a:t> into one complete digit classification model.</a:t>
            </a:r>
          </a:p>
          <a:p>
            <a:endParaRPr lang="en-IL" dirty="0"/>
          </a:p>
        </p:txBody>
      </p:sp>
    </p:spTree>
    <p:extLst>
      <p:ext uri="{BB962C8B-B14F-4D97-AF65-F5344CB8AC3E}">
        <p14:creationId xmlns:p14="http://schemas.microsoft.com/office/powerpoint/2010/main" val="20276602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p:spPr>
      </p:sp>
      <p:sp>
        <p:nvSpPr>
          <p:cNvPr id="3" name="Notes Placeholder 2"/>
          <p:cNvSpPr>
            <a:spLocks noGrp="1"/>
          </p:cNvSpPr>
          <p:nvPr>
            <p:ph type="body" idx="1"/>
          </p:nvPr>
        </p:nvSpPr>
        <p:spPr/>
        <p:txBody>
          <a:bodyPr/>
          <a:lstStyle/>
          <a:p>
            <a:r>
              <a:rPr lang="en-US" b="1" dirty="0"/>
              <a:t>Neural Network Implementation in Python</a:t>
            </a:r>
          </a:p>
          <a:p>
            <a:r>
              <a:rPr lang="en-US" b="1" dirty="0"/>
              <a:t>Forward Propagation in a Single Layer</a:t>
            </a:r>
            <a:endParaRPr lang="en-US" dirty="0"/>
          </a:p>
          <a:p>
            <a:r>
              <a:rPr lang="en-US" dirty="0"/>
              <a:t>This section focuses on </a:t>
            </a:r>
            <a:r>
              <a:rPr lang="en-US" b="1" dirty="0"/>
              <a:t>how forward propagation is implemented in Python for one neural network layer</a:t>
            </a:r>
            <a:r>
              <a:rPr lang="en-US" dirty="0"/>
              <a:t>.</a:t>
            </a:r>
          </a:p>
          <a:p>
            <a:r>
              <a:rPr lang="en-US" dirty="0"/>
              <a:t>The goal here is to connect the </a:t>
            </a:r>
            <a:r>
              <a:rPr lang="en-US" b="1" dirty="0"/>
              <a:t>mathematical idea</a:t>
            </a:r>
            <a:r>
              <a:rPr lang="en-US" dirty="0"/>
              <a:t> of a neural network layer with its </a:t>
            </a:r>
            <a:r>
              <a:rPr lang="en-US" b="1" dirty="0"/>
              <a:t>actual implementation in code</a:t>
            </a:r>
            <a:r>
              <a:rPr lang="en-US" dirty="0"/>
              <a:t>. Students will see how inputs are multiplied by weights, how bias is added, and how an activation function is applied to produce the layer’s output.</a:t>
            </a:r>
          </a:p>
          <a:p>
            <a:r>
              <a:rPr lang="en-US" dirty="0"/>
              <a:t>By the end of this section, students should understand:</a:t>
            </a:r>
          </a:p>
          <a:p>
            <a:pPr marL="171450" indent="-171450">
              <a:buFont typeface="Arial" panose="020B0604020202020204" pitchFamily="34" charset="0"/>
              <a:buChar char="•"/>
            </a:pPr>
            <a:r>
              <a:rPr lang="en-US" dirty="0"/>
              <a:t>What happens </a:t>
            </a:r>
            <a:r>
              <a:rPr lang="en-US" b="1" dirty="0"/>
              <a:t>inside one neural network layer</a:t>
            </a:r>
            <a:endParaRPr lang="en-US" dirty="0"/>
          </a:p>
          <a:p>
            <a:pPr marL="171450" indent="-171450">
              <a:buFont typeface="Arial" panose="020B0604020202020204" pitchFamily="34" charset="0"/>
              <a:buChar char="•"/>
            </a:pPr>
            <a:r>
              <a:rPr lang="en-US" dirty="0"/>
              <a:t>How forward propagation works </a:t>
            </a:r>
            <a:r>
              <a:rPr lang="en-US" b="1" dirty="0"/>
              <a:t>step by step</a:t>
            </a:r>
            <a:endParaRPr lang="en-US" dirty="0"/>
          </a:p>
          <a:p>
            <a:pPr marL="171450" indent="-171450">
              <a:buFont typeface="Arial" panose="020B0604020202020204" pitchFamily="34" charset="0"/>
              <a:buChar char="•"/>
            </a:pPr>
            <a:r>
              <a:rPr lang="en-US" dirty="0"/>
              <a:t>How the same process is written and executed in </a:t>
            </a:r>
            <a:r>
              <a:rPr lang="en-US" b="1" dirty="0"/>
              <a:t>Python code</a:t>
            </a:r>
            <a:endParaRPr lang="en-US" dirty="0"/>
          </a:p>
          <a:p>
            <a:r>
              <a:rPr lang="en-US" dirty="0"/>
              <a:t>This section builds a strong foundation before moving to </a:t>
            </a:r>
            <a:r>
              <a:rPr lang="en-US" b="1" dirty="0"/>
              <a:t>multiple layers and full models</a:t>
            </a:r>
            <a:r>
              <a:rPr lang="en-US" dirty="0"/>
              <a:t>.</a:t>
            </a:r>
          </a:p>
          <a:p>
            <a:endParaRPr lang="en-IL" dirty="0"/>
          </a:p>
        </p:txBody>
      </p:sp>
    </p:spTree>
    <p:extLst>
      <p:ext uri="{BB962C8B-B14F-4D97-AF65-F5344CB8AC3E}">
        <p14:creationId xmlns:p14="http://schemas.microsoft.com/office/powerpoint/2010/main" val="19769538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050" y="152400"/>
            <a:ext cx="5146675" cy="2895600"/>
          </a:xfrm>
        </p:spPr>
      </p:sp>
      <p:sp>
        <p:nvSpPr>
          <p:cNvPr id="3" name="Notes Placeholder 2"/>
          <p:cNvSpPr>
            <a:spLocks noGrp="1"/>
          </p:cNvSpPr>
          <p:nvPr>
            <p:ph type="body" idx="1"/>
          </p:nvPr>
        </p:nvSpPr>
        <p:spPr/>
        <p:txBody>
          <a:bodyPr/>
          <a:lstStyle/>
          <a:p>
            <a:r>
              <a:rPr lang="en-US" dirty="0"/>
              <a:t>Forward Propagation (Coffee Roasting Model)</a:t>
            </a:r>
          </a:p>
          <a:p>
            <a:r>
              <a:rPr lang="en-US" dirty="0"/>
              <a:t>This slide explains forward propagation for one neuron using clear Python equations. The input is written as x = </a:t>
            </a:r>
            <a:r>
              <a:rPr lang="en-US" dirty="0" err="1"/>
              <a:t>np.array</a:t>
            </a:r>
            <a:r>
              <a:rPr lang="en-US" dirty="0"/>
              <a:t>([200, 17]), where 200 is the temperature and 17 is the roasting duration. These two values are the features given to the neuron.</a:t>
            </a:r>
          </a:p>
          <a:p>
            <a:r>
              <a:rPr lang="en-US" dirty="0"/>
              <a:t>The neuron has weights and a bias. The weights are written as w1_1 = </a:t>
            </a:r>
            <a:r>
              <a:rPr lang="en-US" dirty="0" err="1"/>
              <a:t>np.array</a:t>
            </a:r>
            <a:r>
              <a:rPr lang="en-US" dirty="0"/>
              <a:t>([1, 2]), where each weight corresponds to one input value. The bias is written as b1_1 = </a:t>
            </a:r>
            <a:r>
              <a:rPr lang="en-US" dirty="0" err="1"/>
              <a:t>np.array</a:t>
            </a:r>
            <a:r>
              <a:rPr lang="en-US" dirty="0"/>
              <a:t>([-1]). These parameters control how the neuron processes the input.</a:t>
            </a:r>
          </a:p>
          <a:p>
            <a:r>
              <a:rPr lang="en-US" dirty="0"/>
              <a:t>First, the neuron computes a weighted sum using z1_1 = </a:t>
            </a:r>
            <a:r>
              <a:rPr lang="en-US" dirty="0" err="1"/>
              <a:t>np.dot</a:t>
            </a:r>
            <a:r>
              <a:rPr lang="en-US" dirty="0"/>
              <a:t>(w1_1, x) + b1_1. This step multiplies each input by its weight, adds the results, and then adds the bias. The value z1_1 is the input to the activation function.</a:t>
            </a:r>
          </a:p>
          <a:p>
            <a:r>
              <a:rPr lang="en-US" dirty="0"/>
              <a:t>Next, the activation is computed using a1_1 = sigmoid(z1_1). The sigmoid function converts z1_1 into a number between 0 and 1. This value a1_1 is the output of the neuron. The activation a1_1 is then passed to the next layer. </a:t>
            </a:r>
          </a:p>
          <a:p>
            <a:r>
              <a:rPr lang="en-US" b="1" dirty="0"/>
              <a:t>The key idea </a:t>
            </a:r>
            <a:r>
              <a:rPr lang="en-US" dirty="0"/>
              <a:t>of this slide is that forward propagation in code follows the same steps as the equation: take x, apply w and b, compute z, apply the activation function, and pass the result forward.</a:t>
            </a:r>
          </a:p>
          <a:p>
            <a:endParaRPr lang="en-IL" dirty="0"/>
          </a:p>
        </p:txBody>
      </p:sp>
    </p:spTree>
    <p:extLst>
      <p:ext uri="{BB962C8B-B14F-4D97-AF65-F5344CB8AC3E}">
        <p14:creationId xmlns:p14="http://schemas.microsoft.com/office/powerpoint/2010/main" val="19171953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152400"/>
            <a:ext cx="5011738" cy="2819400"/>
          </a:xfrm>
        </p:spPr>
      </p:sp>
      <p:sp>
        <p:nvSpPr>
          <p:cNvPr id="3" name="Notes Placeholder 2"/>
          <p:cNvSpPr>
            <a:spLocks noGrp="1"/>
          </p:cNvSpPr>
          <p:nvPr>
            <p:ph type="body" idx="1"/>
          </p:nvPr>
        </p:nvSpPr>
        <p:spPr/>
        <p:txBody>
          <a:bodyPr/>
          <a:lstStyle/>
          <a:p>
            <a:r>
              <a:rPr lang="en-US" dirty="0"/>
              <a:t>This slide focuses on how the </a:t>
            </a:r>
            <a:r>
              <a:rPr lang="en-US" b="1" dirty="0"/>
              <a:t>second neuron in the first layer</a:t>
            </a:r>
            <a:r>
              <a:rPr lang="en-US" dirty="0"/>
              <a:t>, written as </a:t>
            </a:r>
            <a:r>
              <a:rPr lang="en-US" b="1" dirty="0"/>
              <a:t>a</a:t>
            </a:r>
            <a:r>
              <a:rPr lang="en-US" b="1" baseline="-25000" dirty="0"/>
              <a:t>2</a:t>
            </a:r>
            <a:r>
              <a:rPr lang="en-US" b="1" baseline="30000" dirty="0"/>
              <a:t>[1]</a:t>
            </a:r>
            <a:r>
              <a:rPr lang="en-US" dirty="0"/>
              <a:t>, is computed during forward propagation.</a:t>
            </a:r>
          </a:p>
          <a:p>
            <a:r>
              <a:rPr lang="en-US" dirty="0"/>
              <a:t>The input is x = </a:t>
            </a:r>
            <a:r>
              <a:rPr lang="en-US" dirty="0" err="1"/>
              <a:t>np.array</a:t>
            </a:r>
            <a:r>
              <a:rPr lang="en-US" dirty="0"/>
              <a:t>([200, 17]). This same input is sent to all neurons in the first layer. For the second neuron, the weights are w1_2 = </a:t>
            </a:r>
            <a:r>
              <a:rPr lang="en-US" dirty="0" err="1"/>
              <a:t>np.array</a:t>
            </a:r>
            <a:r>
              <a:rPr lang="en-US" dirty="0"/>
              <a:t>([-3, 4]) and the bias is b1_2 = </a:t>
            </a:r>
            <a:r>
              <a:rPr lang="en-US" dirty="0" err="1"/>
              <a:t>np.array</a:t>
            </a:r>
            <a:r>
              <a:rPr lang="en-US" dirty="0"/>
              <a:t>([1]).</a:t>
            </a:r>
          </a:p>
          <a:p>
            <a:r>
              <a:rPr lang="en-US" dirty="0"/>
              <a:t>First, the neuron computes the weighted sum using z1_2 = </a:t>
            </a:r>
            <a:r>
              <a:rPr lang="en-US" dirty="0" err="1"/>
              <a:t>np.dot</a:t>
            </a:r>
            <a:r>
              <a:rPr lang="en-US" dirty="0"/>
              <a:t>(w1_2, x) + b1_2. This means the temperature and duration values are multiplied by their corresponding weights, summed together, and then the bias is added.</a:t>
            </a:r>
          </a:p>
          <a:p>
            <a:r>
              <a:rPr lang="en-US" dirty="0"/>
              <a:t>Next, the sigmoid activation function is applied to this value: a1_2 = sigmoid(z1_2). The result is a number between 0 and 1 and represents the activation of the </a:t>
            </a:r>
            <a:r>
              <a:rPr lang="en-US" b="1" dirty="0"/>
              <a:t>second neuron in layer 1</a:t>
            </a:r>
            <a:r>
              <a:rPr lang="en-US" dirty="0"/>
              <a:t>.</a:t>
            </a:r>
          </a:p>
          <a:p>
            <a:r>
              <a:rPr lang="en-US" dirty="0"/>
              <a:t>The value a2^[1] (or a1_2) is then combined with the other activations from the first layer to form the activation vector a1, which is passed to the next layer. </a:t>
            </a:r>
          </a:p>
          <a:p>
            <a:r>
              <a:rPr lang="en-US" b="1" dirty="0"/>
              <a:t>The key idea </a:t>
            </a:r>
            <a:r>
              <a:rPr lang="en-US" dirty="0"/>
              <a:t>is that a2^[1] is computed independently, using its own weights and bias, but following the same forward propagation steps as every other neuron.</a:t>
            </a:r>
          </a:p>
          <a:p>
            <a:endParaRPr lang="en-IL" dirty="0"/>
          </a:p>
        </p:txBody>
      </p:sp>
    </p:spTree>
    <p:extLst>
      <p:ext uri="{BB962C8B-B14F-4D97-AF65-F5344CB8AC3E}">
        <p14:creationId xmlns:p14="http://schemas.microsoft.com/office/powerpoint/2010/main" val="24657680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p:spPr>
      </p:sp>
      <p:sp>
        <p:nvSpPr>
          <p:cNvPr id="3" name="Notes Placeholder 2"/>
          <p:cNvSpPr>
            <a:spLocks noGrp="1"/>
          </p:cNvSpPr>
          <p:nvPr>
            <p:ph type="body" idx="1"/>
          </p:nvPr>
        </p:nvSpPr>
        <p:spPr>
          <a:xfrm>
            <a:off x="171450" y="3124200"/>
            <a:ext cx="4800600" cy="5867400"/>
          </a:xfrm>
        </p:spPr>
        <p:txBody>
          <a:bodyPr/>
          <a:lstStyle/>
          <a:p>
            <a:r>
              <a:rPr lang="en-US" dirty="0"/>
              <a:t>This slide focuses on how the </a:t>
            </a:r>
            <a:r>
              <a:rPr lang="en-US" b="1" dirty="0"/>
              <a:t>third neuron in the first layer</a:t>
            </a:r>
            <a:r>
              <a:rPr lang="en-US" dirty="0"/>
              <a:t>, written as </a:t>
            </a:r>
            <a:r>
              <a:rPr lang="en-US" b="1" dirty="0"/>
              <a:t>a3^[1]</a:t>
            </a:r>
            <a:r>
              <a:rPr lang="en-US" dirty="0"/>
              <a:t>, is computed during forward propagation.</a:t>
            </a:r>
          </a:p>
          <a:p>
            <a:r>
              <a:rPr lang="en-US" dirty="0"/>
              <a:t>The input is x = </a:t>
            </a:r>
            <a:r>
              <a:rPr lang="en-US" dirty="0" err="1"/>
              <a:t>np.array</a:t>
            </a:r>
            <a:r>
              <a:rPr lang="en-US" dirty="0"/>
              <a:t>([200, 17]). This same input is given to </a:t>
            </a:r>
            <a:r>
              <a:rPr lang="en-US" b="1" dirty="0"/>
              <a:t>all neurons</a:t>
            </a:r>
            <a:r>
              <a:rPr lang="en-US" dirty="0"/>
              <a:t> in the first layer, including the third neuron. The third neuron has its own weights and bias, written as w1_3 = </a:t>
            </a:r>
            <a:r>
              <a:rPr lang="en-US" dirty="0" err="1"/>
              <a:t>np.array</a:t>
            </a:r>
            <a:r>
              <a:rPr lang="en-US" dirty="0"/>
              <a:t>([5, -6]) and b1_3 = </a:t>
            </a:r>
            <a:r>
              <a:rPr lang="en-US" dirty="0" err="1"/>
              <a:t>np.array</a:t>
            </a:r>
            <a:r>
              <a:rPr lang="en-US" dirty="0"/>
              <a:t>([2]).</a:t>
            </a:r>
          </a:p>
          <a:p>
            <a:r>
              <a:rPr lang="en-US" dirty="0"/>
              <a:t>First, the neuron computes a weighted sum using z1_3 = </a:t>
            </a:r>
            <a:r>
              <a:rPr lang="en-US" dirty="0" err="1"/>
              <a:t>np.dot</a:t>
            </a:r>
            <a:r>
              <a:rPr lang="en-US" dirty="0"/>
              <a:t>(w1_3, x) + b1_3. This means the input values 200 and 17 are multiplied by their corresponding weights, added together, and then the bias is added.</a:t>
            </a:r>
          </a:p>
          <a:p>
            <a:r>
              <a:rPr lang="en-US" dirty="0"/>
              <a:t>Next, the sigmoid activation function is applied: a1_3 = sigmoid(z1_3). The result a1_3 is a number between 0 and 1 and represents the activation of the </a:t>
            </a:r>
            <a:r>
              <a:rPr lang="en-US" b="1" dirty="0"/>
              <a:t>third neuron in layer 1</a:t>
            </a:r>
            <a:r>
              <a:rPr lang="en-US" dirty="0"/>
              <a:t>.</a:t>
            </a:r>
          </a:p>
          <a:p>
            <a:r>
              <a:rPr lang="en-US" dirty="0"/>
              <a:t>Finally, a1_3 is combined with the other neuron outputs a1_1 and a1_2 to form the activation vector </a:t>
            </a:r>
            <a:r>
              <a:rPr lang="en-US" b="1" dirty="0"/>
              <a:t>a1 = [a1_1, a1_2, a1_3</a:t>
            </a:r>
            <a:r>
              <a:rPr lang="en-US" dirty="0"/>
              <a:t>]. This vector is then passed to the next layer.</a:t>
            </a:r>
          </a:p>
          <a:p>
            <a:r>
              <a:rPr lang="en-US" dirty="0"/>
              <a:t>The key idea is that </a:t>
            </a:r>
            <a:r>
              <a:rPr lang="en-US" b="1" dirty="0"/>
              <a:t>a3^[1] is computed exactly like the other neurons</a:t>
            </a:r>
            <a:r>
              <a:rPr lang="en-US" dirty="0"/>
              <a:t>, but with its own weights and bias, and it becomes one element of the activation vector of layer 1.</a:t>
            </a:r>
          </a:p>
          <a:p>
            <a:endParaRPr lang="en-IL" dirty="0"/>
          </a:p>
        </p:txBody>
      </p:sp>
    </p:spTree>
    <p:extLst>
      <p:ext uri="{BB962C8B-B14F-4D97-AF65-F5344CB8AC3E}">
        <p14:creationId xmlns:p14="http://schemas.microsoft.com/office/powerpoint/2010/main" val="3635998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875" y="152400"/>
            <a:ext cx="5146675" cy="2895600"/>
          </a:xfrm>
        </p:spPr>
      </p:sp>
      <p:sp>
        <p:nvSpPr>
          <p:cNvPr id="3" name="Notes Placeholder 2"/>
          <p:cNvSpPr>
            <a:spLocks noGrp="1"/>
          </p:cNvSpPr>
          <p:nvPr>
            <p:ph type="body" idx="1"/>
          </p:nvPr>
        </p:nvSpPr>
        <p:spPr/>
        <p:txBody>
          <a:bodyPr/>
          <a:lstStyle/>
          <a:p>
            <a:r>
              <a:rPr lang="en-US" dirty="0"/>
              <a:t>This slide focuses on how the </a:t>
            </a:r>
            <a:r>
              <a:rPr lang="en-US" b="1" dirty="0"/>
              <a:t>output of the second layer</a:t>
            </a:r>
            <a:r>
              <a:rPr lang="en-US" dirty="0"/>
              <a:t>, written as </a:t>
            </a:r>
            <a:r>
              <a:rPr lang="en-US" b="1" dirty="0"/>
              <a:t>a1^[2]</a:t>
            </a:r>
            <a:r>
              <a:rPr lang="en-US" dirty="0"/>
              <a:t>, is computed during forward propagation.</a:t>
            </a:r>
          </a:p>
          <a:p>
            <a:r>
              <a:rPr lang="en-US" dirty="0"/>
              <a:t>The activation vector from the first layer, written as </a:t>
            </a:r>
            <a:r>
              <a:rPr lang="en-US" b="1" dirty="0"/>
              <a:t>a1</a:t>
            </a:r>
            <a:r>
              <a:rPr lang="en-US" dirty="0"/>
              <a:t>, is used as the input to the second layer. This vector contains the outputs of all neurons in layer 1. For the neuron in layer 2, the weights are written as w2_1 = </a:t>
            </a:r>
            <a:r>
              <a:rPr lang="en-US" dirty="0" err="1"/>
              <a:t>np.array</a:t>
            </a:r>
            <a:r>
              <a:rPr lang="en-US" dirty="0"/>
              <a:t>([-7, 8, 9]) and the bias is written as b2_1 = </a:t>
            </a:r>
            <a:r>
              <a:rPr lang="en-US" dirty="0" err="1"/>
              <a:t>np.array</a:t>
            </a:r>
            <a:r>
              <a:rPr lang="en-US" dirty="0"/>
              <a:t>([3]).</a:t>
            </a:r>
          </a:p>
          <a:p>
            <a:r>
              <a:rPr lang="en-US" dirty="0"/>
              <a:t>First, the neuron computes a weighted sum using z2_1 = </a:t>
            </a:r>
            <a:r>
              <a:rPr lang="en-US" dirty="0" err="1"/>
              <a:t>np.dot</a:t>
            </a:r>
            <a:r>
              <a:rPr lang="en-US" dirty="0"/>
              <a:t>(w2_1, a1) + b2_1. This means each value in the activation vector a1 is multiplied by its corresponding weight, the results are added together, and then the bias is added.</a:t>
            </a:r>
          </a:p>
          <a:p>
            <a:r>
              <a:rPr lang="en-US" dirty="0"/>
              <a:t>Next, the sigmoid activation function is applied: a2_1 = sigmoid(z2_1). This value is the activation of the neuron in the second layer and is written as a1^[2] in the slide.</a:t>
            </a:r>
          </a:p>
          <a:p>
            <a:r>
              <a:rPr lang="en-US" dirty="0"/>
              <a:t>The key idea is that </a:t>
            </a:r>
            <a:r>
              <a:rPr lang="en-US" b="1" dirty="0"/>
              <a:t>a1^[2] is computed from the activations of the previous layer</a:t>
            </a:r>
            <a:r>
              <a:rPr lang="en-US" dirty="0"/>
              <a:t>, not directly from the original input x, using the same forward propagation steps: dot product, add bias, and apply the activation function.</a:t>
            </a:r>
          </a:p>
          <a:p>
            <a:endParaRPr lang="en-IL" dirty="0"/>
          </a:p>
        </p:txBody>
      </p:sp>
    </p:spTree>
    <p:extLst>
      <p:ext uri="{BB962C8B-B14F-4D97-AF65-F5344CB8AC3E}">
        <p14:creationId xmlns:p14="http://schemas.microsoft.com/office/powerpoint/2010/main" val="16530630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152400"/>
            <a:ext cx="5072063" cy="2854325"/>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introduces the </a:t>
            </a:r>
            <a:r>
              <a:rPr lang="en-US" b="1" dirty="0"/>
              <a:t>general way forward propagation is implemented in Python</a:t>
            </a:r>
            <a:r>
              <a:rPr lang="en-US" dirty="0"/>
              <a:t> for neural networks. It moves from specific examples to a </a:t>
            </a:r>
            <a:r>
              <a:rPr lang="en-US" b="1" dirty="0"/>
              <a:t>generic approach</a:t>
            </a:r>
            <a:r>
              <a:rPr lang="en-US" dirty="0"/>
              <a:t> that works for any layer and any number of neurons. Students will see how the same forward propagation steps are applied repeatedly across layers in a neural network.</a:t>
            </a:r>
          </a:p>
          <a:p>
            <a:endParaRPr lang="en-IL" dirty="0"/>
          </a:p>
        </p:txBody>
      </p:sp>
    </p:spTree>
    <p:extLst>
      <p:ext uri="{BB962C8B-B14F-4D97-AF65-F5344CB8AC3E}">
        <p14:creationId xmlns:p14="http://schemas.microsoft.com/office/powerpoint/2010/main" val="40785813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p:spPr>
      </p:sp>
      <p:sp>
        <p:nvSpPr>
          <p:cNvPr id="3" name="Notes Placeholder 2"/>
          <p:cNvSpPr>
            <a:spLocks noGrp="1"/>
          </p:cNvSpPr>
          <p:nvPr>
            <p:ph type="body" idx="1"/>
          </p:nvPr>
        </p:nvSpPr>
        <p:spPr/>
        <p:txBody>
          <a:bodyPr/>
          <a:lstStyle/>
          <a:p>
            <a:r>
              <a:rPr lang="en-US" dirty="0"/>
              <a:t>This slide introduces a </a:t>
            </a:r>
            <a:r>
              <a:rPr lang="en-US" b="1" dirty="0"/>
              <a:t>general implementation of forward propagation using NumPy</a:t>
            </a:r>
            <a:r>
              <a:rPr lang="en-US" dirty="0"/>
              <a:t>, without relying on TensorFlow. The goal is to clearly show what happens inside a Dense layer using basic arrays and functions.</a:t>
            </a:r>
          </a:p>
          <a:p>
            <a:r>
              <a:rPr lang="en-US" dirty="0"/>
              <a:t>The function </a:t>
            </a:r>
            <a:r>
              <a:rPr lang="en-US" b="1" dirty="0"/>
              <a:t>dense(</a:t>
            </a:r>
            <a:r>
              <a:rPr lang="en-US" b="1" dirty="0" err="1"/>
              <a:t>a_in</a:t>
            </a:r>
            <a:r>
              <a:rPr lang="en-US" b="1" dirty="0"/>
              <a:t>, W, b) represents one neural network layer</a:t>
            </a:r>
            <a:r>
              <a:rPr lang="en-US" dirty="0"/>
              <a:t>. It takes three inputs: the activation from the previous layer </a:t>
            </a:r>
            <a:r>
              <a:rPr lang="en-US" b="1" dirty="0"/>
              <a:t>a_in</a:t>
            </a:r>
            <a:r>
              <a:rPr lang="en-US" dirty="0"/>
              <a:t>, the weight matrix </a:t>
            </a:r>
            <a:r>
              <a:rPr lang="en-US" b="1" dirty="0"/>
              <a:t>W</a:t>
            </a:r>
            <a:r>
              <a:rPr lang="en-US" dirty="0"/>
              <a:t>, and the bias vector </a:t>
            </a:r>
            <a:r>
              <a:rPr lang="en-US" b="1" dirty="0"/>
              <a:t>b.</a:t>
            </a:r>
            <a:r>
              <a:rPr lang="en-US" dirty="0"/>
              <a:t> This function will compute the output activations of the current layer.</a:t>
            </a:r>
          </a:p>
          <a:p>
            <a:r>
              <a:rPr lang="en-US" dirty="0"/>
              <a:t>The input activation </a:t>
            </a:r>
            <a:r>
              <a:rPr lang="en-US" b="1" dirty="0"/>
              <a:t>a_in </a:t>
            </a:r>
            <a:r>
              <a:rPr lang="en-US" dirty="0"/>
              <a:t>represents the values coming from the previous layer. In this example, a_in is defined as a simple NumPy array, such as a_in = </a:t>
            </a:r>
            <a:r>
              <a:rPr lang="en-US" dirty="0" err="1"/>
              <a:t>np.array</a:t>
            </a:r>
            <a:r>
              <a:rPr lang="en-US" dirty="0"/>
              <a:t>([-2, 4]). This means the previous layer has two outputs.</a:t>
            </a:r>
          </a:p>
          <a:p>
            <a:r>
              <a:rPr lang="en-US" dirty="0"/>
              <a:t>The weight matrix W stores all the weights for the layer. Each column of </a:t>
            </a:r>
            <a:r>
              <a:rPr lang="en-US" b="1" dirty="0"/>
              <a:t>W</a:t>
            </a:r>
            <a:r>
              <a:rPr lang="en-US" dirty="0"/>
              <a:t> corresponds to one neuron, and each row corresponds to one input feature. In the slide, </a:t>
            </a:r>
            <a:r>
              <a:rPr lang="en-US" b="1" dirty="0"/>
              <a:t>W</a:t>
            </a:r>
            <a:r>
              <a:rPr lang="en-US" dirty="0"/>
              <a:t> is defined as a 2 by 3 matrix, which means the layer has 2 input values and 3 neurons.</a:t>
            </a:r>
          </a:p>
          <a:p>
            <a:r>
              <a:rPr lang="en-US" dirty="0"/>
              <a:t>The bias vector b contains one bias value for each neuron in the layer. In this example, b has three values, matching the three neurons.</a:t>
            </a:r>
          </a:p>
          <a:p>
            <a:r>
              <a:rPr lang="en-US" dirty="0"/>
              <a:t>During forward propagation, the layer computes a weighted sum using the matrix multiplication of </a:t>
            </a:r>
            <a:r>
              <a:rPr lang="en-US" b="1" dirty="0"/>
              <a:t>a_in and W</a:t>
            </a:r>
            <a:r>
              <a:rPr lang="en-US" dirty="0"/>
              <a:t>, then adds the bias vector b. After that, an activation function is applied to produce the output activations.</a:t>
            </a:r>
          </a:p>
          <a:p>
            <a:endParaRPr lang="en-US" dirty="0"/>
          </a:p>
          <a:p>
            <a:r>
              <a:rPr lang="en-US" b="1" dirty="0"/>
              <a:t>The key idea </a:t>
            </a:r>
            <a:r>
              <a:rPr lang="en-US" dirty="0"/>
              <a:t>of this slide is that a Dense layer can be implemented using only NumPy by combining inputs, weights, and biases in a clear and structured way, exactly matching the neural network equations learned earlier.</a:t>
            </a:r>
          </a:p>
          <a:p>
            <a:endParaRPr lang="en-IL" dirty="0"/>
          </a:p>
        </p:txBody>
      </p:sp>
    </p:spTree>
    <p:extLst>
      <p:ext uri="{BB962C8B-B14F-4D97-AF65-F5344CB8AC3E}">
        <p14:creationId xmlns:p14="http://schemas.microsoft.com/office/powerpoint/2010/main" val="38542533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050" y="152400"/>
            <a:ext cx="5176838" cy="2913063"/>
          </a:xfrm>
        </p:spPr>
      </p:sp>
      <p:sp>
        <p:nvSpPr>
          <p:cNvPr id="3" name="Notes Placeholder 2"/>
          <p:cNvSpPr>
            <a:spLocks noGrp="1"/>
          </p:cNvSpPr>
          <p:nvPr>
            <p:ph type="body" idx="1"/>
          </p:nvPr>
        </p:nvSpPr>
        <p:spPr/>
        <p:txBody>
          <a:bodyPr/>
          <a:lstStyle/>
          <a:p>
            <a:r>
              <a:rPr lang="en-US" b="1" dirty="0"/>
              <a:t>Forward Propagation in NumPy</a:t>
            </a:r>
          </a:p>
          <a:p>
            <a:r>
              <a:rPr lang="en-US" dirty="0"/>
              <a:t>This slide shows how forward propagation for a Dense layer can be implemented using NumPy only. The goal is to understand what happens inside a neural network layer without using TensorFlow.</a:t>
            </a:r>
          </a:p>
          <a:p>
            <a:r>
              <a:rPr lang="en-US" dirty="0"/>
              <a:t>The function dense(</a:t>
            </a:r>
            <a:r>
              <a:rPr lang="en-US" b="1" dirty="0"/>
              <a:t>a_in, W, b</a:t>
            </a:r>
            <a:r>
              <a:rPr lang="en-US" dirty="0"/>
              <a:t>) represents one neural network layer. The input a_in is the activation coming from the previous layer, for example </a:t>
            </a:r>
            <a:r>
              <a:rPr lang="en-US" b="1" dirty="0"/>
              <a:t>a_in = </a:t>
            </a:r>
            <a:r>
              <a:rPr lang="en-US" b="1" dirty="0" err="1"/>
              <a:t>np.array</a:t>
            </a:r>
            <a:r>
              <a:rPr lang="en-US" b="1" dirty="0"/>
              <a:t>([-2, 4]). </a:t>
            </a:r>
            <a:r>
              <a:rPr lang="en-US" dirty="0"/>
              <a:t>This means the previous layer produced two values.</a:t>
            </a:r>
          </a:p>
          <a:p>
            <a:r>
              <a:rPr lang="en-US" dirty="0"/>
              <a:t>The weight matrix W contains all the weights of the layer. In this slide, W is a 2 by 3 matrix, which means there are 2 input values and 3 neurons. Each column of W corresponds to one neuron. The bias vector b has one value for each neuron.</a:t>
            </a:r>
          </a:p>
          <a:p>
            <a:r>
              <a:rPr lang="en-US" dirty="0"/>
              <a:t>Inside the function, the number of neurons is taken from the shape of W. An output array </a:t>
            </a:r>
            <a:r>
              <a:rPr lang="en-US" b="1" dirty="0"/>
              <a:t>a_out </a:t>
            </a:r>
            <a:r>
              <a:rPr lang="en-US" dirty="0"/>
              <a:t>is initialized with zeros. A loop goes through each neuron, computes </a:t>
            </a:r>
            <a:r>
              <a:rPr lang="en-US" b="1" dirty="0"/>
              <a:t>z</a:t>
            </a:r>
            <a:r>
              <a:rPr lang="en-US" dirty="0"/>
              <a:t> using a dot product between </a:t>
            </a:r>
            <a:r>
              <a:rPr lang="en-US" b="1" dirty="0"/>
              <a:t>a_in </a:t>
            </a:r>
            <a:r>
              <a:rPr lang="en-US" dirty="0"/>
              <a:t>and the neuron’s weights, adds the bias, and then applies the activation function.</a:t>
            </a:r>
          </a:p>
          <a:p>
            <a:r>
              <a:rPr lang="en-US" dirty="0"/>
              <a:t>The function returns </a:t>
            </a:r>
            <a:r>
              <a:rPr lang="en-US" b="1" dirty="0"/>
              <a:t>a_out</a:t>
            </a:r>
            <a:r>
              <a:rPr lang="en-US" dirty="0"/>
              <a:t>, which is the activation vector of the layer. This vector is passed to the next layer.</a:t>
            </a:r>
          </a:p>
          <a:p>
            <a:r>
              <a:rPr lang="en-US" b="1" dirty="0"/>
              <a:t>The key idea </a:t>
            </a:r>
            <a:r>
              <a:rPr lang="en-US" dirty="0"/>
              <a:t>is that a Dense layer is just repeated dot products, bias addition, and activation, implemented clearly using NumPy.</a:t>
            </a:r>
          </a:p>
          <a:p>
            <a:endParaRPr lang="en-IL" dirty="0"/>
          </a:p>
        </p:txBody>
      </p:sp>
    </p:spTree>
    <p:extLst>
      <p:ext uri="{BB962C8B-B14F-4D97-AF65-F5344CB8AC3E}">
        <p14:creationId xmlns:p14="http://schemas.microsoft.com/office/powerpoint/2010/main" val="20806577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2388" y="152400"/>
            <a:ext cx="5033962" cy="2832100"/>
          </a:xfrm>
        </p:spPr>
      </p:sp>
      <p:sp>
        <p:nvSpPr>
          <p:cNvPr id="3" name="Notes Placeholder 2"/>
          <p:cNvSpPr>
            <a:spLocks noGrp="1"/>
          </p:cNvSpPr>
          <p:nvPr>
            <p:ph type="body" idx="1"/>
          </p:nvPr>
        </p:nvSpPr>
        <p:spPr>
          <a:xfrm>
            <a:off x="171450" y="3352800"/>
            <a:ext cx="4838700" cy="5638800"/>
          </a:xfrm>
        </p:spPr>
        <p:txBody>
          <a:bodyPr/>
          <a:lstStyle/>
          <a:p>
            <a:r>
              <a:rPr lang="en-US" b="1" dirty="0">
                <a:cs typeface="Times New Roman" panose="02020603050405020304" pitchFamily="18" charset="0"/>
              </a:rPr>
              <a:t>Forward Propagation in NumPy (Sequential Function)</a:t>
            </a:r>
          </a:p>
          <a:p>
            <a:r>
              <a:rPr lang="en-US" dirty="0">
                <a:cs typeface="Times New Roman" panose="02020603050405020304" pitchFamily="18" charset="0"/>
              </a:rPr>
              <a:t>This slide shows how multiple Dense layers are connected together using a simple sequential function written in NumPy. The goal is to explain how forward propagation works across several layers, not just one layer.</a:t>
            </a:r>
          </a:p>
          <a:p>
            <a:r>
              <a:rPr lang="en-US" dirty="0">
                <a:cs typeface="Times New Roman" panose="02020603050405020304" pitchFamily="18" charset="0"/>
              </a:rPr>
              <a:t>The function </a:t>
            </a:r>
            <a:r>
              <a:rPr lang="en-US" b="1" dirty="0">
                <a:cs typeface="Times New Roman" panose="02020603050405020304" pitchFamily="18" charset="0"/>
              </a:rPr>
              <a:t>sequential(x)</a:t>
            </a:r>
            <a:r>
              <a:rPr lang="en-US" dirty="0">
                <a:cs typeface="Times New Roman" panose="02020603050405020304" pitchFamily="18" charset="0"/>
              </a:rPr>
              <a:t> represents the full neural network. The input x is the original input to the network. This input is first passed to the first Dense layer using </a:t>
            </a:r>
            <a:r>
              <a:rPr lang="en-US" b="1" dirty="0">
                <a:cs typeface="Times New Roman" panose="02020603050405020304" pitchFamily="18" charset="0"/>
              </a:rPr>
              <a:t>dense(x, w1, b1), </a:t>
            </a:r>
            <a:r>
              <a:rPr lang="en-US" dirty="0">
                <a:cs typeface="Times New Roman" panose="02020603050405020304" pitchFamily="18" charset="0"/>
              </a:rPr>
              <a:t>which produces the activation </a:t>
            </a:r>
            <a:r>
              <a:rPr lang="en-US" b="1" dirty="0">
                <a:cs typeface="Times New Roman" panose="02020603050405020304" pitchFamily="18" charset="0"/>
              </a:rPr>
              <a:t>a1</a:t>
            </a:r>
            <a:r>
              <a:rPr lang="en-US" dirty="0">
                <a:cs typeface="Times New Roman" panose="02020603050405020304" pitchFamily="18" charset="0"/>
              </a:rPr>
              <a:t>.</a:t>
            </a:r>
          </a:p>
          <a:p>
            <a:r>
              <a:rPr lang="en-US" dirty="0">
                <a:cs typeface="Times New Roman" panose="02020603050405020304" pitchFamily="18" charset="0"/>
              </a:rPr>
              <a:t>The key idea is that </a:t>
            </a:r>
            <a:r>
              <a:rPr lang="en-US" b="1" dirty="0">
                <a:cs typeface="Times New Roman" panose="02020603050405020304" pitchFamily="18" charset="0"/>
              </a:rPr>
              <a:t>the output of one layer becomes the input to the next layer</a:t>
            </a:r>
            <a:r>
              <a:rPr lang="en-US" dirty="0">
                <a:cs typeface="Times New Roman" panose="02020603050405020304" pitchFamily="18" charset="0"/>
              </a:rPr>
              <a:t>. So </a:t>
            </a:r>
            <a:r>
              <a:rPr lang="en-US" b="1" dirty="0">
                <a:cs typeface="Times New Roman" panose="02020603050405020304" pitchFamily="18" charset="0"/>
              </a:rPr>
              <a:t>a1</a:t>
            </a:r>
            <a:r>
              <a:rPr lang="en-US" dirty="0">
                <a:cs typeface="Times New Roman" panose="02020603050405020304" pitchFamily="18" charset="0"/>
              </a:rPr>
              <a:t> is passed to the second layer to produce </a:t>
            </a:r>
            <a:r>
              <a:rPr lang="en-US" b="1" dirty="0">
                <a:cs typeface="Times New Roman" panose="02020603050405020304" pitchFamily="18" charset="0"/>
              </a:rPr>
              <a:t>a2</a:t>
            </a:r>
            <a:r>
              <a:rPr lang="en-US" dirty="0">
                <a:cs typeface="Times New Roman" panose="02020603050405020304" pitchFamily="18" charset="0"/>
              </a:rPr>
              <a:t>, then </a:t>
            </a:r>
            <a:r>
              <a:rPr lang="en-US" b="1" dirty="0">
                <a:cs typeface="Times New Roman" panose="02020603050405020304" pitchFamily="18" charset="0"/>
              </a:rPr>
              <a:t>a2</a:t>
            </a:r>
            <a:r>
              <a:rPr lang="en-US" dirty="0">
                <a:cs typeface="Times New Roman" panose="02020603050405020304" pitchFamily="18" charset="0"/>
              </a:rPr>
              <a:t> is passed to the third layer to produce </a:t>
            </a:r>
            <a:r>
              <a:rPr lang="en-US" b="1" dirty="0">
                <a:cs typeface="Times New Roman" panose="02020603050405020304" pitchFamily="18" charset="0"/>
              </a:rPr>
              <a:t>a3</a:t>
            </a:r>
            <a:r>
              <a:rPr lang="en-US" dirty="0">
                <a:cs typeface="Times New Roman" panose="02020603050405020304" pitchFamily="18" charset="0"/>
              </a:rPr>
              <a:t>, and so on. Each layer applies the same steps: dot product, add bias, and apply the activation function.</a:t>
            </a:r>
          </a:p>
          <a:p>
            <a:r>
              <a:rPr lang="en-US" dirty="0">
                <a:cs typeface="Times New Roman" panose="02020603050405020304" pitchFamily="18" charset="0"/>
              </a:rPr>
              <a:t>At the end of the function, the final activation </a:t>
            </a:r>
            <a:r>
              <a:rPr lang="en-US" b="1" dirty="0">
                <a:cs typeface="Times New Roman" panose="02020603050405020304" pitchFamily="18" charset="0"/>
              </a:rPr>
              <a:t>a4</a:t>
            </a:r>
            <a:r>
              <a:rPr lang="en-US" dirty="0">
                <a:cs typeface="Times New Roman" panose="02020603050405020304" pitchFamily="18" charset="0"/>
              </a:rPr>
              <a:t> is stored as </a:t>
            </a:r>
            <a:r>
              <a:rPr lang="en-US" b="1" dirty="0" err="1">
                <a:cs typeface="Times New Roman" panose="02020603050405020304" pitchFamily="18" charset="0"/>
              </a:rPr>
              <a:t>f_x</a:t>
            </a:r>
            <a:r>
              <a:rPr lang="en-US" dirty="0">
                <a:cs typeface="Times New Roman" panose="02020603050405020304" pitchFamily="18" charset="0"/>
              </a:rPr>
              <a:t>. This value represents the </a:t>
            </a:r>
            <a:r>
              <a:rPr lang="en-US" b="1" dirty="0">
                <a:cs typeface="Times New Roman" panose="02020603050405020304" pitchFamily="18" charset="0"/>
              </a:rPr>
              <a:t>output of the neural network</a:t>
            </a:r>
            <a:r>
              <a:rPr lang="en-US" dirty="0">
                <a:cs typeface="Times New Roman" panose="02020603050405020304" pitchFamily="18" charset="0"/>
              </a:rPr>
              <a:t> for the given input </a:t>
            </a:r>
            <a:r>
              <a:rPr lang="en-US" b="1" dirty="0">
                <a:cs typeface="Times New Roman" panose="02020603050405020304" pitchFamily="18" charset="0"/>
              </a:rPr>
              <a:t>x</a:t>
            </a:r>
            <a:r>
              <a:rPr lang="en-US" dirty="0">
                <a:cs typeface="Times New Roman" panose="02020603050405020304" pitchFamily="18" charset="0"/>
              </a:rPr>
              <a:t>.</a:t>
            </a:r>
          </a:p>
          <a:p>
            <a:endParaRPr lang="en-US" dirty="0">
              <a:cs typeface="Times New Roman" panose="02020603050405020304" pitchFamily="18" charset="0"/>
            </a:endParaRPr>
          </a:p>
          <a:p>
            <a:r>
              <a:rPr lang="en-US" b="1" dirty="0">
                <a:cs typeface="Times New Roman" panose="02020603050405020304" pitchFamily="18" charset="0"/>
              </a:rPr>
              <a:t>The key idea </a:t>
            </a:r>
            <a:r>
              <a:rPr lang="en-US" dirty="0">
                <a:cs typeface="Times New Roman" panose="02020603050405020304" pitchFamily="18" charset="0"/>
              </a:rPr>
              <a:t>of this slide is that forward propagation through a neural network is just a sequence of layer computations, where each layer takes the previous layer’s output and passes its result forward until the final output is produced.</a:t>
            </a:r>
          </a:p>
          <a:p>
            <a:endParaRPr lang="en-IL" dirty="0"/>
          </a:p>
        </p:txBody>
      </p:sp>
    </p:spTree>
    <p:extLst>
      <p:ext uri="{BB962C8B-B14F-4D97-AF65-F5344CB8AC3E}">
        <p14:creationId xmlns:p14="http://schemas.microsoft.com/office/powerpoint/2010/main" val="28929206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2388" y="152400"/>
            <a:ext cx="5033962" cy="2832100"/>
          </a:xfrm>
        </p:spPr>
      </p:sp>
      <p:sp>
        <p:nvSpPr>
          <p:cNvPr id="3" name="Notes Placeholder 2"/>
          <p:cNvSpPr>
            <a:spLocks noGrp="1"/>
          </p:cNvSpPr>
          <p:nvPr>
            <p:ph type="body" idx="1"/>
          </p:nvPr>
        </p:nvSpPr>
        <p:spPr/>
        <p:txBody>
          <a:bodyPr/>
          <a:lstStyle/>
          <a:p>
            <a:r>
              <a:rPr lang="en-US" b="1" dirty="0"/>
              <a:t>Forward Propagation in NumPy (Putting Everything Together)</a:t>
            </a:r>
          </a:p>
          <a:p>
            <a:r>
              <a:rPr lang="en-US" dirty="0"/>
              <a:t>This slide shows the complete implementation of forward propagation in NumPy by combining a single Dense layer function with a sequential function that represents the full neural network.</a:t>
            </a:r>
          </a:p>
          <a:p>
            <a:r>
              <a:rPr lang="en-US" dirty="0"/>
              <a:t>The function </a:t>
            </a:r>
            <a:r>
              <a:rPr lang="en-US" b="1" dirty="0"/>
              <a:t>dense(</a:t>
            </a:r>
            <a:r>
              <a:rPr lang="en-US" b="1" dirty="0" err="1"/>
              <a:t>a_in</a:t>
            </a:r>
            <a:r>
              <a:rPr lang="en-US" b="1" dirty="0"/>
              <a:t>, W, b) </a:t>
            </a:r>
            <a:r>
              <a:rPr lang="en-US" dirty="0"/>
              <a:t>represents </a:t>
            </a:r>
            <a:r>
              <a:rPr lang="en-US" b="1" dirty="0"/>
              <a:t>one neural network layer</a:t>
            </a:r>
            <a:r>
              <a:rPr lang="en-US" dirty="0"/>
              <a:t>. The input </a:t>
            </a:r>
            <a:r>
              <a:rPr lang="en-US" b="1" dirty="0" err="1"/>
              <a:t>a_in</a:t>
            </a:r>
            <a:r>
              <a:rPr lang="en-US" b="1" dirty="0"/>
              <a:t> </a:t>
            </a:r>
            <a:r>
              <a:rPr lang="en-US" dirty="0"/>
              <a:t>is the activation coming from the previous layer. The matrix </a:t>
            </a:r>
            <a:r>
              <a:rPr lang="en-US" b="1" dirty="0"/>
              <a:t>W </a:t>
            </a:r>
            <a:r>
              <a:rPr lang="en-US" dirty="0"/>
              <a:t>contains the weights of the layer, and b contains the biases. The number of neurons in the layer is taken from W. For each neuron, the code computes a dot product between </a:t>
            </a:r>
            <a:r>
              <a:rPr lang="en-US" b="1" dirty="0" err="1"/>
              <a:t>a_in</a:t>
            </a:r>
            <a:r>
              <a:rPr lang="en-US" b="1" dirty="0"/>
              <a:t> </a:t>
            </a:r>
            <a:r>
              <a:rPr lang="en-US" dirty="0"/>
              <a:t>and the corresponding column of </a:t>
            </a:r>
            <a:r>
              <a:rPr lang="en-US" b="1" dirty="0"/>
              <a:t>W</a:t>
            </a:r>
            <a:r>
              <a:rPr lang="en-US" dirty="0"/>
              <a:t>, adds the bias, and then applies the activation function. The outputs of all neurons are collected into an activation vector </a:t>
            </a:r>
            <a:r>
              <a:rPr lang="en-US" b="1" dirty="0" err="1"/>
              <a:t>a_out</a:t>
            </a:r>
            <a:r>
              <a:rPr lang="en-US" dirty="0"/>
              <a:t>.</a:t>
            </a:r>
          </a:p>
          <a:p>
            <a:r>
              <a:rPr lang="en-US" dirty="0"/>
              <a:t>The function sequential(x) represents the whole neural network. The input x is first passed to the first Dense layer to produce a1. Then a1 is passed to the second layer to produce a2, and this continues layer by layer. Each layer takes the output of the previous layer as its input.</a:t>
            </a:r>
          </a:p>
          <a:p>
            <a:r>
              <a:rPr lang="en-US" dirty="0"/>
              <a:t>The final activation produced by the last layer is stored as </a:t>
            </a:r>
            <a:r>
              <a:rPr lang="en-US" dirty="0" err="1"/>
              <a:t>f_x</a:t>
            </a:r>
            <a:r>
              <a:rPr lang="en-US" dirty="0"/>
              <a:t>. This value is the output of the neural network for the given input x.</a:t>
            </a:r>
          </a:p>
          <a:p>
            <a:endParaRPr lang="en-US" b="1" dirty="0"/>
          </a:p>
          <a:p>
            <a:r>
              <a:rPr lang="en-US" b="1" dirty="0"/>
              <a:t>The key idea </a:t>
            </a:r>
            <a:r>
              <a:rPr lang="en-US" dirty="0"/>
              <a:t>of this slide is that a neural network is simply a sequence of Dense layers. Forward propagation moves the data step by step through these layers using the same operations: dot product, bias addition, activation function, and passing the result forward until the final output is produced.</a:t>
            </a:r>
          </a:p>
          <a:p>
            <a:endParaRPr lang="en-IL" dirty="0"/>
          </a:p>
        </p:txBody>
      </p:sp>
    </p:spTree>
    <p:extLst>
      <p:ext uri="{BB962C8B-B14F-4D97-AF65-F5344CB8AC3E}">
        <p14:creationId xmlns:p14="http://schemas.microsoft.com/office/powerpoint/2010/main" val="235308054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p:spPr>
      </p:sp>
      <p:sp>
        <p:nvSpPr>
          <p:cNvPr id="3" name="Notes Placeholder 2"/>
          <p:cNvSpPr>
            <a:spLocks noGrp="1"/>
          </p:cNvSpPr>
          <p:nvPr>
            <p:ph type="body" idx="1"/>
          </p:nvPr>
        </p:nvSpPr>
        <p:spPr/>
        <p:txBody>
          <a:bodyPr/>
          <a:lstStyle/>
          <a:p>
            <a:r>
              <a:rPr lang="en-US" dirty="0"/>
              <a:t>This section introduces a </a:t>
            </a:r>
            <a:r>
              <a:rPr lang="en-US" b="1" dirty="0"/>
              <a:t>high-level discussion about Artificial General Intelligence (AGI)</a:t>
            </a:r>
            <a:r>
              <a:rPr lang="en-US" dirty="0"/>
              <a:t>. AGI refers to a type of artificial intelligence that can understand, learn, and perform </a:t>
            </a:r>
            <a:r>
              <a:rPr lang="en-US" b="1" dirty="0"/>
              <a:t>any intellectual task that a human can do</a:t>
            </a:r>
            <a:r>
              <a:rPr lang="en-US" dirty="0"/>
              <a:t>, not just one specific task.</a:t>
            </a:r>
          </a:p>
          <a:p>
            <a:r>
              <a:rPr lang="en-US" dirty="0"/>
              <a:t>The slide raises an open question: </a:t>
            </a:r>
            <a:r>
              <a:rPr lang="en-US" b="1" dirty="0"/>
              <a:t>Is there a path to AGI?</a:t>
            </a:r>
            <a:r>
              <a:rPr lang="en-US" dirty="0"/>
              <a:t> This means researchers are still exploring whether current AI methods, such as neural networks and deep learning, can eventually lead to truly general intelligence, or whether new ideas and breakthroughs are needed.</a:t>
            </a:r>
          </a:p>
          <a:p>
            <a:endParaRPr lang="en-US" dirty="0"/>
          </a:p>
          <a:p>
            <a:r>
              <a:rPr lang="en-US" dirty="0"/>
              <a:t>The purpose of this section is not to give a final answer, but to encourage thinking about the </a:t>
            </a:r>
            <a:r>
              <a:rPr lang="en-US" b="1" dirty="0"/>
              <a:t>limits of today’s AI</a:t>
            </a:r>
            <a:r>
              <a:rPr lang="en-US" dirty="0"/>
              <a:t>, what progress has been made, and what challenges remain on the road toward AGI.</a:t>
            </a:r>
          </a:p>
          <a:p>
            <a:endParaRPr lang="en-IL" dirty="0"/>
          </a:p>
        </p:txBody>
      </p:sp>
    </p:spTree>
    <p:extLst>
      <p:ext uri="{BB962C8B-B14F-4D97-AF65-F5344CB8AC3E}">
        <p14:creationId xmlns:p14="http://schemas.microsoft.com/office/powerpoint/2010/main" val="41992014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p:spPr>
      </p:sp>
      <p:sp>
        <p:nvSpPr>
          <p:cNvPr id="3" name="Notes Placeholder 2"/>
          <p:cNvSpPr>
            <a:spLocks noGrp="1"/>
          </p:cNvSpPr>
          <p:nvPr>
            <p:ph type="body" idx="1"/>
          </p:nvPr>
        </p:nvSpPr>
        <p:spPr/>
        <p:txBody>
          <a:bodyPr/>
          <a:lstStyle/>
          <a:p>
            <a:r>
              <a:rPr lang="en-US" sz="1400" b="1" dirty="0"/>
              <a:t>Types of artificial intelligence: ANI and AGI</a:t>
            </a:r>
            <a:r>
              <a:rPr lang="en-US" dirty="0"/>
              <a:t>.</a:t>
            </a:r>
          </a:p>
          <a:p>
            <a:r>
              <a:rPr lang="en-US" dirty="0"/>
              <a:t>At the top, we have </a:t>
            </a:r>
            <a:r>
              <a:rPr lang="en-US" b="1" dirty="0"/>
              <a:t>AI (Artificial Intelligence)</a:t>
            </a:r>
            <a:r>
              <a:rPr lang="en-US" dirty="0"/>
              <a:t>, which is the general field that includes all machines designed to show intelligent behavior.</a:t>
            </a:r>
          </a:p>
          <a:p>
            <a:r>
              <a:rPr lang="en-US" b="1" dirty="0"/>
              <a:t>ANI (Artificial Narrow Intelligence)</a:t>
            </a:r>
            <a:r>
              <a:rPr lang="en-US" dirty="0"/>
              <a:t> refers to AI systems that are designed to perform </a:t>
            </a:r>
            <a:r>
              <a:rPr lang="en-US" b="1" dirty="0"/>
              <a:t>one specific task very well</a:t>
            </a:r>
            <a:r>
              <a:rPr lang="en-US" dirty="0"/>
              <a:t>. These systems cannot go beyond what they are trained for. Examples include smart speakers, self-driving cars, web search engines, and AI used in farming or factories. Almost all AI systems we use today are ANI.</a:t>
            </a:r>
          </a:p>
          <a:p>
            <a:r>
              <a:rPr lang="en-US" b="1" dirty="0"/>
              <a:t>AGI (Artificial General Intelligence)</a:t>
            </a:r>
            <a:r>
              <a:rPr lang="en-US" dirty="0"/>
              <a:t> refers to a hypothetical type of AI that can </a:t>
            </a:r>
            <a:r>
              <a:rPr lang="en-US" b="1" dirty="0"/>
              <a:t>do anything a human can do intellectually</a:t>
            </a:r>
            <a:r>
              <a:rPr lang="en-US" dirty="0"/>
              <a:t>. This includes learning new tasks, reasoning across different domains, and adapting to completely new situations. AGI does not exist yet.</a:t>
            </a:r>
          </a:p>
          <a:p>
            <a:endParaRPr lang="en-US" dirty="0"/>
          </a:p>
          <a:p>
            <a:r>
              <a:rPr lang="en-US" b="1" dirty="0"/>
              <a:t>The key idea </a:t>
            </a:r>
            <a:r>
              <a:rPr lang="en-US" dirty="0"/>
              <a:t>of this slide is that </a:t>
            </a:r>
            <a:r>
              <a:rPr lang="en-US" b="1" dirty="0"/>
              <a:t>current AI is narrow (ANI)</a:t>
            </a:r>
            <a:r>
              <a:rPr lang="en-US" dirty="0"/>
              <a:t>, while </a:t>
            </a:r>
            <a:r>
              <a:rPr lang="en-US" b="1" dirty="0"/>
              <a:t>AGI is a future goal</a:t>
            </a:r>
            <a:r>
              <a:rPr lang="en-US" dirty="0"/>
              <a:t> that researchers are still trying to understand and reach.</a:t>
            </a:r>
          </a:p>
          <a:p>
            <a:endParaRPr lang="en-IL" dirty="0"/>
          </a:p>
        </p:txBody>
      </p:sp>
    </p:spTree>
    <p:extLst>
      <p:ext uri="{BB962C8B-B14F-4D97-AF65-F5344CB8AC3E}">
        <p14:creationId xmlns:p14="http://schemas.microsoft.com/office/powerpoint/2010/main" val="41438454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4938" y="152400"/>
            <a:ext cx="4875212" cy="2743200"/>
          </a:xfrm>
        </p:spPr>
      </p:sp>
      <p:sp>
        <p:nvSpPr>
          <p:cNvPr id="3" name="Notes Placeholder 2"/>
          <p:cNvSpPr>
            <a:spLocks noGrp="1"/>
          </p:cNvSpPr>
          <p:nvPr>
            <p:ph type="body" idx="1"/>
          </p:nvPr>
        </p:nvSpPr>
        <p:spPr/>
        <p:txBody>
          <a:bodyPr/>
          <a:lstStyle/>
          <a:p>
            <a:r>
              <a:rPr lang="en-US" dirty="0"/>
              <a:t>This slide compares a </a:t>
            </a:r>
            <a:r>
              <a:rPr lang="en-US" b="1" dirty="0"/>
              <a:t>real biological neuron</a:t>
            </a:r>
            <a:r>
              <a:rPr lang="en-US" dirty="0"/>
              <a:t> with a </a:t>
            </a:r>
            <a:r>
              <a:rPr lang="en-US" b="1" dirty="0"/>
              <a:t>simplified mathematical neuron</a:t>
            </a:r>
            <a:r>
              <a:rPr lang="en-US" dirty="0"/>
              <a:t> used in neural networks.</a:t>
            </a:r>
          </a:p>
          <a:p>
            <a:r>
              <a:rPr lang="en-US" dirty="0"/>
              <a:t>On the left, the biological neuron receives signals through its dendrites. These signals are processed inside the cell body (which contains the nucleus), and then an electrical signal is sent through the axon to another neuron. The important idea is that a neuron takes many inputs and produces an output signal.</a:t>
            </a:r>
          </a:p>
          <a:p>
            <a:r>
              <a:rPr lang="en-US" dirty="0"/>
              <a:t>On the right, we see a simplified mathematical model of a neuron. Here, the inputs are just numbers instead of biological signals. These numbers go into the neuron, are combined and processed mathematically, and then produce a single numerical output, such as 0.7. This output can then be passed to another neuron in the network.</a:t>
            </a:r>
          </a:p>
          <a:p>
            <a:endParaRPr lang="en-US" b="1" dirty="0"/>
          </a:p>
          <a:p>
            <a:r>
              <a:rPr lang="en-US" b="1" dirty="0"/>
              <a:t>The key idea </a:t>
            </a:r>
            <a:r>
              <a:rPr lang="en-US" dirty="0"/>
              <a:t>of this slide is that </a:t>
            </a:r>
            <a:r>
              <a:rPr lang="en-US" b="1" dirty="0"/>
              <a:t>neural networks are inspired by biology</a:t>
            </a:r>
            <a:r>
              <a:rPr lang="en-US" dirty="0"/>
              <a:t>, but they use simple math with numbers instead of real biological processes.</a:t>
            </a:r>
          </a:p>
          <a:p>
            <a:endParaRPr lang="en-IL" dirty="0"/>
          </a:p>
        </p:txBody>
      </p:sp>
    </p:spTree>
    <p:extLst>
      <p:ext uri="{BB962C8B-B14F-4D97-AF65-F5344CB8AC3E}">
        <p14:creationId xmlns:p14="http://schemas.microsoft.com/office/powerpoint/2010/main" val="19230689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 y="152400"/>
            <a:ext cx="5010150" cy="2819400"/>
          </a:xfrm>
        </p:spPr>
      </p:sp>
      <p:sp>
        <p:nvSpPr>
          <p:cNvPr id="3" name="Notes Placeholder 2"/>
          <p:cNvSpPr>
            <a:spLocks noGrp="1"/>
          </p:cNvSpPr>
          <p:nvPr>
            <p:ph type="body" idx="1"/>
          </p:nvPr>
        </p:nvSpPr>
        <p:spPr/>
        <p:txBody>
          <a:bodyPr/>
          <a:lstStyle/>
          <a:p>
            <a:r>
              <a:rPr lang="en-US" dirty="0"/>
              <a:t>This slide asks an important question: can we really mimic the human brain using neural networks?</a:t>
            </a:r>
          </a:p>
          <a:p>
            <a:r>
              <a:rPr lang="en-US" dirty="0"/>
              <a:t>On the left, we see a biological neuron with parts like dendrites, the cell body, the nucleus, and the axon. This highlights how complex and physical the real brain is. Neurons communicate using electrical and chemical signals, and billions of them work together in ways we still do not fully understand.</a:t>
            </a:r>
          </a:p>
          <a:p>
            <a:r>
              <a:rPr lang="en-US" dirty="0"/>
              <a:t>On the right, we see a very simple mathematical model. An input x goes into a function f(x), and an output comes out. This represents an artificial neuron used in neural networks. It ignores most biological details and focuses only on mathematical input-output behavior.</a:t>
            </a:r>
          </a:p>
          <a:p>
            <a:endParaRPr lang="en-US" dirty="0"/>
          </a:p>
          <a:p>
            <a:r>
              <a:rPr lang="en-US" b="1" dirty="0"/>
              <a:t>The key message </a:t>
            </a:r>
            <a:r>
              <a:rPr lang="en-US" dirty="0"/>
              <a:t>of this slide is that neural networks are </a:t>
            </a:r>
            <a:r>
              <a:rPr lang="en-US" b="1" dirty="0"/>
              <a:t>not true models of the human brain</a:t>
            </a:r>
            <a:r>
              <a:rPr lang="en-US" dirty="0"/>
              <a:t>. We do not really know how the brain works in detail, so neural networks are better understood as useful mathematical tools inspired by biology, not accurate copies of the brain.</a:t>
            </a:r>
          </a:p>
          <a:p>
            <a:endParaRPr lang="en-IL" dirty="0"/>
          </a:p>
        </p:txBody>
      </p:sp>
    </p:spTree>
    <p:extLst>
      <p:ext uri="{BB962C8B-B14F-4D97-AF65-F5344CB8AC3E}">
        <p14:creationId xmlns:p14="http://schemas.microsoft.com/office/powerpoint/2010/main" val="27099313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p:spPr>
      </p:sp>
      <p:sp>
        <p:nvSpPr>
          <p:cNvPr id="3" name="Notes Placeholder 2"/>
          <p:cNvSpPr>
            <a:spLocks noGrp="1"/>
          </p:cNvSpPr>
          <p:nvPr>
            <p:ph type="body" idx="1"/>
          </p:nvPr>
        </p:nvSpPr>
        <p:spPr/>
        <p:txBody>
          <a:bodyPr/>
          <a:lstStyle/>
          <a:p>
            <a:r>
              <a:rPr lang="en-US" dirty="0"/>
              <a:t>This slide explains the idea called the “</a:t>
            </a:r>
            <a:r>
              <a:rPr lang="en-US" b="1" dirty="0"/>
              <a:t>one learning algorithm</a:t>
            </a:r>
            <a:r>
              <a:rPr lang="en-US" dirty="0"/>
              <a:t>” hypothesis. The main question behind this idea is whether the brain uses the same basic learning mechanism everywhere, even though different parts of the brain do different tasks.</a:t>
            </a:r>
          </a:p>
          <a:p>
            <a:r>
              <a:rPr lang="en-US" dirty="0"/>
              <a:t>The picture shows the auditory cortex, which is normally responsible for processing sound. The idea illustrated here is that if visual information (from the eye) were somehow sent to the auditory cortex, that area might learn to process vision instead of sound. In other words, the brain area is not special because of what it does, but because of the data it receives.</a:t>
            </a:r>
          </a:p>
          <a:p>
            <a:r>
              <a:rPr lang="en-US" dirty="0"/>
              <a:t>The crossed-out ear path emphasizes that the task of a brain region may depend more on its input than on its physical location. If the input changes, the function could also change through learning.</a:t>
            </a:r>
          </a:p>
          <a:p>
            <a:endParaRPr lang="en-US" dirty="0"/>
          </a:p>
          <a:p>
            <a:r>
              <a:rPr lang="en-US" b="1" dirty="0"/>
              <a:t>The key takeaway </a:t>
            </a:r>
            <a:r>
              <a:rPr lang="en-US" dirty="0"/>
              <a:t>is that learning may rely on a general-purpose algorithm that works across different brain regions. This idea strongly influenced machine learning and neural networks, where the same learning algorithm is reused for many different problems such as vision, speech, and text.</a:t>
            </a:r>
          </a:p>
          <a:p>
            <a:endParaRPr lang="en-IL" dirty="0"/>
          </a:p>
        </p:txBody>
      </p:sp>
    </p:spTree>
    <p:extLst>
      <p:ext uri="{BB962C8B-B14F-4D97-AF65-F5344CB8AC3E}">
        <p14:creationId xmlns:p14="http://schemas.microsoft.com/office/powerpoint/2010/main" val="208877353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875" y="152400"/>
            <a:ext cx="5146675" cy="2895600"/>
          </a:xfrm>
        </p:spPr>
      </p:sp>
      <p:sp>
        <p:nvSpPr>
          <p:cNvPr id="3" name="Notes Placeholder 2"/>
          <p:cNvSpPr>
            <a:spLocks noGrp="1"/>
          </p:cNvSpPr>
          <p:nvPr>
            <p:ph type="body" idx="1"/>
          </p:nvPr>
        </p:nvSpPr>
        <p:spPr/>
        <p:txBody>
          <a:bodyPr/>
          <a:lstStyle/>
          <a:p>
            <a:r>
              <a:rPr lang="en-US" dirty="0"/>
              <a:t>This slide continues explaining the “</a:t>
            </a:r>
            <a:r>
              <a:rPr lang="en-US" b="1" dirty="0"/>
              <a:t>one learning algorithm</a:t>
            </a:r>
            <a:r>
              <a:rPr lang="en-US" dirty="0"/>
              <a:t>” hypothesis, but with a different example from the brain. Here, the focus is on the somatosensory cortex, which normally processes touch information from the body, such as signals from the hand.</a:t>
            </a:r>
          </a:p>
          <a:p>
            <a:r>
              <a:rPr lang="en-US" dirty="0"/>
              <a:t>The diagram shows visual input from the eye being sent to the somatosensory cortex instead of touch input. The crossed-out hand path means that normal touch signals are not used. The idea is that if the somatosensory cortex receives visual data, it may learn to process vision rather than touch.</a:t>
            </a:r>
          </a:p>
          <a:p>
            <a:r>
              <a:rPr lang="en-US" dirty="0"/>
              <a:t>The sentence “somatosensory cortex learns to see” highlights the main message: </a:t>
            </a:r>
            <a:r>
              <a:rPr lang="en-US" b="1" dirty="0"/>
              <a:t>a brain region may not be hard-wired for a specific task. Instead, it can learn different functions depending on the type of input it receives</a:t>
            </a:r>
            <a:r>
              <a:rPr lang="en-US" dirty="0"/>
              <a:t>.</a:t>
            </a:r>
          </a:p>
          <a:p>
            <a:endParaRPr lang="ar-SA" dirty="0"/>
          </a:p>
          <a:p>
            <a:r>
              <a:rPr lang="en-US" b="1" dirty="0"/>
              <a:t>The key takeaway </a:t>
            </a:r>
            <a:r>
              <a:rPr lang="en-US" dirty="0"/>
              <a:t>for students is that learning in the brain might be driven by a general learning mechanism, not many task-specific ones. </a:t>
            </a:r>
            <a:r>
              <a:rPr lang="en-US" b="1" dirty="0"/>
              <a:t>This idea supports how neural networks work in AI</a:t>
            </a:r>
            <a:r>
              <a:rPr lang="en-US" dirty="0"/>
              <a:t>, where the same learning algorithm can be applied to very different problems just by changing the input data.</a:t>
            </a:r>
          </a:p>
          <a:p>
            <a:endParaRPr lang="en-IL" dirty="0"/>
          </a:p>
        </p:txBody>
      </p:sp>
    </p:spTree>
    <p:extLst>
      <p:ext uri="{BB962C8B-B14F-4D97-AF65-F5344CB8AC3E}">
        <p14:creationId xmlns:p14="http://schemas.microsoft.com/office/powerpoint/2010/main" val="22826124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050" y="152400"/>
            <a:ext cx="5146675" cy="2895600"/>
          </a:xfrm>
        </p:spPr>
      </p:sp>
      <p:sp>
        <p:nvSpPr>
          <p:cNvPr id="3" name="Notes Placeholder 2"/>
          <p:cNvSpPr>
            <a:spLocks noGrp="1"/>
          </p:cNvSpPr>
          <p:nvPr>
            <p:ph type="body" idx="1"/>
          </p:nvPr>
        </p:nvSpPr>
        <p:spPr/>
        <p:txBody>
          <a:bodyPr/>
          <a:lstStyle/>
          <a:p>
            <a:r>
              <a:rPr lang="en-US" dirty="0"/>
              <a:t>This slide shows that the human brain is very flexible in how it represents and understands sensory information. It highlights that the brain is not limited to the five traditional senses (vision, hearing, touch, taste, smell), but can learn to interpret new types of inputs if they are presented in a meaningful way.</a:t>
            </a:r>
          </a:p>
          <a:p>
            <a:r>
              <a:rPr lang="en-US" dirty="0"/>
              <a:t>The example “</a:t>
            </a:r>
            <a:r>
              <a:rPr lang="en-US" b="1" dirty="0">
                <a:solidFill>
                  <a:srgbClr val="0432FF"/>
                </a:solidFill>
              </a:rPr>
              <a:t>seeing with your tongue</a:t>
            </a:r>
            <a:r>
              <a:rPr lang="en-US" dirty="0"/>
              <a:t>” refers to devices that convert visual information into electrical or tactile signals on the tongue. Over time, the brain learns to interpret these tongue signals as spatial or visual information. This shows that the brain cares more about patterns in data than about where the data originally comes from.</a:t>
            </a:r>
          </a:p>
          <a:p>
            <a:r>
              <a:rPr lang="en-US" b="1" dirty="0">
                <a:solidFill>
                  <a:srgbClr val="0432FF"/>
                </a:solidFill>
              </a:rPr>
              <a:t>Human echolocation (sonar</a:t>
            </a:r>
            <a:r>
              <a:rPr lang="en-US" dirty="0"/>
              <a:t>) shows how some people, especially blind individuals, use sound reflections (clicks and echoes) to understand their surroundings. The brain learns to map sound timing and intensity into a sense of space, similar to vision.</a:t>
            </a:r>
          </a:p>
          <a:p>
            <a:r>
              <a:rPr lang="en-US" dirty="0"/>
              <a:t>The </a:t>
            </a:r>
            <a:r>
              <a:rPr lang="en-US" b="1" dirty="0">
                <a:solidFill>
                  <a:srgbClr val="0432FF"/>
                </a:solidFill>
              </a:rPr>
              <a:t>haptic belt </a:t>
            </a:r>
            <a:r>
              <a:rPr lang="en-US" dirty="0"/>
              <a:t>example shows a device that gives vibration signals around the waist to indicate direction (for example, north). After training, users develop an internal sense of direction without consciously thinking about the vibrations. The brain integrates this new signal as if it were a natural sense.</a:t>
            </a:r>
          </a:p>
          <a:p>
            <a:r>
              <a:rPr lang="en-US" dirty="0"/>
              <a:t>The “</a:t>
            </a:r>
            <a:r>
              <a:rPr lang="en-US" b="1" dirty="0">
                <a:solidFill>
                  <a:srgbClr val="0432FF"/>
                </a:solidFill>
              </a:rPr>
              <a:t>implanting a third eye</a:t>
            </a:r>
            <a:r>
              <a:rPr lang="en-US" dirty="0"/>
              <a:t>” example illustrates experiments where animals receive visual input through unconventional pathways. The brain adapts and learns to use this new information to guide behavior.</a:t>
            </a:r>
          </a:p>
          <a:p>
            <a:endParaRPr lang="ar-SA" dirty="0"/>
          </a:p>
          <a:p>
            <a:r>
              <a:rPr lang="en-US" b="1" dirty="0"/>
              <a:t>The key idea </a:t>
            </a:r>
            <a:r>
              <a:rPr lang="en-US" dirty="0"/>
              <a:t>for students is that the brain is a powerful learning system that can adapt to many different types of input. This strongly supports the idea behind neural networks and AI: the same learning mechanism can work across very different tasks, as long as the input is structured and consistent.</a:t>
            </a:r>
          </a:p>
          <a:p>
            <a:endParaRPr lang="en-IL" dirty="0"/>
          </a:p>
        </p:txBody>
      </p:sp>
    </p:spTree>
    <p:extLst>
      <p:ext uri="{BB962C8B-B14F-4D97-AF65-F5344CB8AC3E}">
        <p14:creationId xmlns:p14="http://schemas.microsoft.com/office/powerpoint/2010/main" val="150498388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050" y="152400"/>
            <a:ext cx="5146675" cy="2895600"/>
          </a:xfrm>
        </p:spPr>
      </p:sp>
      <p:sp>
        <p:nvSpPr>
          <p:cNvPr id="3" name="Notes Placeholder 2"/>
          <p:cNvSpPr>
            <a:spLocks noGrp="1"/>
          </p:cNvSpPr>
          <p:nvPr>
            <p:ph type="body" idx="1"/>
          </p:nvPr>
        </p:nvSpPr>
        <p:spPr/>
        <p:txBody>
          <a:bodyPr/>
          <a:lstStyle/>
          <a:p>
            <a:r>
              <a:rPr lang="en-US" dirty="0"/>
              <a:t>This section introduces the idea of vectorization, which is a key reason why neural networks can run fast and scale to large problems. Instead of computing values one neuron or one example at a time using loops, we represent data, weights, and activations as vectors and matrices and compute everything at once.</a:t>
            </a:r>
          </a:p>
          <a:p>
            <a:r>
              <a:rPr lang="en-US" dirty="0"/>
              <a:t>Vectorization allows neural networks to use efficient matrix operations that are highly optimized in libraries like NumPy, TensorFlow, and </a:t>
            </a:r>
            <a:r>
              <a:rPr lang="en-US" dirty="0" err="1"/>
              <a:t>PyTorch</a:t>
            </a:r>
            <a:r>
              <a:rPr lang="en-US" dirty="0"/>
              <a:t>. These operations run much faster than manual loops and can take advantage of hardware such as CPUs, GPUs, and TPUs.</a:t>
            </a:r>
          </a:p>
          <a:p>
            <a:r>
              <a:rPr lang="en-US" dirty="0"/>
              <a:t>The main idea students should remember is that neural networks are not implemented as many separate equations for each neuron. Instead, the same computations are grouped into matrix operations, which makes training and inference much faster and more practical for real-world applications.</a:t>
            </a:r>
          </a:p>
          <a:p>
            <a:endParaRPr lang="en-IL" dirty="0"/>
          </a:p>
        </p:txBody>
      </p:sp>
    </p:spTree>
    <p:extLst>
      <p:ext uri="{BB962C8B-B14F-4D97-AF65-F5344CB8AC3E}">
        <p14:creationId xmlns:p14="http://schemas.microsoft.com/office/powerpoint/2010/main" val="223891763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compares two ways of implementing forward propagation: using for-loops and using vectorization. Both approaches compute the same result, but they differ a lot in how efficient and clean the code is.</a:t>
            </a:r>
          </a:p>
          <a:p>
            <a:r>
              <a:rPr lang="en-US" dirty="0"/>
              <a:t>On the left side, forward propagation is implemented using a for-loop. The input x, the weights W, and the bias b are defined, and then we loop over each neuron. For each neuron, we take one column from W, compute the dot product with the input x, add the bias, and then apply the activation function g(z). This works correctly, but it is slow and not practical for large networks because Python loops are inefficient.</a:t>
            </a:r>
          </a:p>
          <a:p>
            <a:r>
              <a:rPr lang="en-US" dirty="0"/>
              <a:t>On the right side, the same computation is done using vectorization. Instead of looping over neurons one by one, we compute everything at once using matrix multiplication. The line z = </a:t>
            </a:r>
            <a:r>
              <a:rPr lang="en-US" dirty="0" err="1"/>
              <a:t>np.matmul</a:t>
            </a:r>
            <a:r>
              <a:rPr lang="en-US" dirty="0"/>
              <a:t>(a_in, W) + b replaces the entire for-loop. Then the activation function is applied to the whole vector at once. The output is exactly the same as before, but the code is shorter, clearer, and much faster.</a:t>
            </a:r>
          </a:p>
          <a:p>
            <a:r>
              <a:rPr lang="en-US" dirty="0"/>
              <a:t>The key idea is that vectorization removes explicit loops and replaces them with matrix operations. This is how neural networks are implemented efficiently in practice, especially when working with large datasets and many neurons.</a:t>
            </a:r>
          </a:p>
          <a:p>
            <a:endParaRPr lang="en-IL" dirty="0"/>
          </a:p>
        </p:txBody>
      </p:sp>
    </p:spTree>
    <p:extLst>
      <p:ext uri="{BB962C8B-B14F-4D97-AF65-F5344CB8AC3E}">
        <p14:creationId xmlns:p14="http://schemas.microsoft.com/office/powerpoint/2010/main" val="217694843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introduces matrix multiplication as the core idea behind vectorization in neural networks. Instead of computing each neuron’s output one by one, we use matrix operations to compute all neuron outputs at the same time.</a:t>
            </a:r>
          </a:p>
          <a:p>
            <a:r>
              <a:rPr lang="en-US" dirty="0"/>
              <a:t>In a neural network layer, the input is represented as a vector, the weights are stored in a matrix, and the biases are stored in a vector. Matrix multiplication combines the input vector with the weight matrix in one operation, producing a vector of z values for all neurons in the layer at once. Then the bias vector is added, and the activation function is applied element by element.</a:t>
            </a:r>
          </a:p>
          <a:p>
            <a:r>
              <a:rPr lang="en-US" dirty="0"/>
              <a:t>The key idea is that matrix multiplication allows us to express forward propagation in a compact and efficient mathematical form. This is much faster than using loops and is the reason why libraries like NumPy, TensorFlow, and </a:t>
            </a:r>
            <a:r>
              <a:rPr lang="en-US" dirty="0" err="1"/>
              <a:t>PyTorch</a:t>
            </a:r>
            <a:r>
              <a:rPr lang="en-US" dirty="0"/>
              <a:t> can train large neural networks efficiently.</a:t>
            </a:r>
          </a:p>
          <a:p>
            <a:endParaRPr lang="en-IL" dirty="0"/>
          </a:p>
        </p:txBody>
      </p:sp>
    </p:spTree>
    <p:extLst>
      <p:ext uri="{BB962C8B-B14F-4D97-AF65-F5344CB8AC3E}">
        <p14:creationId xmlns:p14="http://schemas.microsoft.com/office/powerpoint/2010/main" val="10591009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explains the dot product, which is a basic operation used inside neural networks. A dot product takes two vectors of the same length and combines them into a single number. It is done by multiplying corresponding elements and then adding the results together.</a:t>
            </a:r>
          </a:p>
          <a:p>
            <a:r>
              <a:rPr lang="en-US" dirty="0"/>
              <a:t>In the example, we have two vectors: [1, 2] and [3, 4]. The dot product is calculated as (1 × 3) + (2 × 4), which equals 3 + 8 = 11. This single number is the result z. In neural networks, this value represents the weighted sum before adding the bias and applying the activation function.</a:t>
            </a:r>
          </a:p>
          <a:p>
            <a:r>
              <a:rPr lang="en-US" dirty="0"/>
              <a:t>The slide also shows the dot product written in a more general and mathematical way as z = a · w, where a is the input vector and w is the weight vector. This same operation can be written using transposes as z = aᵀ w. Writing it this way helps us understand how dot products fit naturally into matrix multiplication, which is used when we compute many neurons at once using vectorization.</a:t>
            </a:r>
          </a:p>
          <a:p>
            <a:endParaRPr lang="en-IL" dirty="0"/>
          </a:p>
        </p:txBody>
      </p:sp>
    </p:spTree>
    <p:extLst>
      <p:ext uri="{BB962C8B-B14F-4D97-AF65-F5344CB8AC3E}">
        <p14:creationId xmlns:p14="http://schemas.microsoft.com/office/powerpoint/2010/main" val="398313641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explains vector–matrix multiplication, which is a key idea behind vectorization in neural networks. Instead of computing one neuron at a time, we use matrix multiplication to compute multiple neurons in a single step.</a:t>
            </a:r>
          </a:p>
          <a:p>
            <a:r>
              <a:rPr lang="en-US" dirty="0"/>
              <a:t>Here, the input vector a has two values, written as a = [1, 2]. To perform multiplication, we first write it as a transpose aᵀ = [1 2], which has shape 1 × 2. The weight matrix W contains the weights of multiple neurons and has shape 2 × 2. Each column in W represents the weights of one neuron.</a:t>
            </a:r>
          </a:p>
          <a:p>
            <a:r>
              <a:rPr lang="en-US" dirty="0"/>
              <a:t>When we compute z = aᵀ W, the result is a vector, not a single number. Each element in z is the dot product between the input vector and one column of the weight matrix. For the first column, we compute (1 × 3) + (2 × 4) = 11. For the second column, we compute (1 × 5) + (2 × 6) = 17.</a:t>
            </a:r>
          </a:p>
          <a:p>
            <a:r>
              <a:rPr lang="en-US" dirty="0"/>
              <a:t>The final result is z = [11, 17]. This means we have computed the pre-activation values for two neurons at the same time. The key idea is that vector–matrix multiplication lets us compute many neuron outputs efficiently in one operation, which is why it is heavily used in neural network implementations.</a:t>
            </a:r>
          </a:p>
          <a:p>
            <a:endParaRPr lang="en-IL" dirty="0"/>
          </a:p>
        </p:txBody>
      </p:sp>
    </p:spTree>
    <p:extLst>
      <p:ext uri="{BB962C8B-B14F-4D97-AF65-F5344CB8AC3E}">
        <p14:creationId xmlns:p14="http://schemas.microsoft.com/office/powerpoint/2010/main" val="157969634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explains matrix–matrix multiplication, which is an extension of vector–matrix multiplication and is heavily used when we process many inputs at once in neural networks.</a:t>
            </a:r>
          </a:p>
          <a:p>
            <a:r>
              <a:rPr lang="en-US" dirty="0"/>
              <a:t>Here, A represents multiple input examples grouped together in a matrix. Each row in A is one input vector. To make multiplication possible, we use A transpose (Aᵀ), so that rows and columns are aligned correctly with the weight matrix W. The matrix W contains the weights of the neurons, where each column corresponds to one neuron.</a:t>
            </a:r>
          </a:p>
          <a:p>
            <a:r>
              <a:rPr lang="en-US" dirty="0"/>
              <a:t>When we compute Z = Aᵀ W, each value in the result matrix Z is calculated as a dot product between one row of Aᵀ and one column of W. This means every row in Z corresponds to one input example, and every column in Z corresponds to one neuron. So Z contains the pre-activation values for all inputs and all neurons at the same time.</a:t>
            </a:r>
          </a:p>
          <a:p>
            <a:r>
              <a:rPr lang="en-US" dirty="0"/>
              <a:t>The numbers written under the matrix show this step by step: each entry is formed by multiplying matching elements and adding them together. For example, row 1 with column 1 gives one value, row 1 with column 2 gives another value, and so on. This is repeated for all rows.</a:t>
            </a:r>
          </a:p>
          <a:p>
            <a:r>
              <a:rPr lang="en-US" dirty="0"/>
              <a:t>The key idea is that matrix–matrix multiplication allows us to compute outputs for many inputs and many neurons in one operation. This is the mathematical foundation behind batch processing and efficient vectorized neural network implementations.</a:t>
            </a:r>
          </a:p>
          <a:p>
            <a:endParaRPr lang="en-IL" dirty="0"/>
          </a:p>
        </p:txBody>
      </p:sp>
    </p:spTree>
    <p:extLst>
      <p:ext uri="{BB962C8B-B14F-4D97-AF65-F5344CB8AC3E}">
        <p14:creationId xmlns:p14="http://schemas.microsoft.com/office/powerpoint/2010/main" val="346334412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section introduces the basic rules of matrix multiplication, which are essential for understanding vectorization in neural networks.</a:t>
            </a:r>
          </a:p>
          <a:p>
            <a:r>
              <a:rPr lang="en-US" dirty="0"/>
              <a:t>Matrix multiplication is only possible when the number of columns in the first matrix matches the number of rows in the second matrix. If A has shape (m × n) and B has shape (n × k), then the result will have shape (m × k).</a:t>
            </a:r>
          </a:p>
          <a:p>
            <a:r>
              <a:rPr lang="en-US" dirty="0"/>
              <a:t>Each value in the result matrix is computed by taking one row from the first matrix and one column from the second matrix, multiplying corresponding elements, and summing them. This operation is repeated for all row–column combinations.</a:t>
            </a:r>
          </a:p>
          <a:p>
            <a:r>
              <a:rPr lang="en-US" dirty="0"/>
              <a:t>In neural networks, these rules allow us to multiply input matrices with weight matrices efficiently, so we can process many inputs and neurons at the same time instead of using slow for-loops.</a:t>
            </a:r>
          </a:p>
          <a:p>
            <a:endParaRPr lang="en-IL" dirty="0"/>
          </a:p>
        </p:txBody>
      </p:sp>
    </p:spTree>
    <p:extLst>
      <p:ext uri="{BB962C8B-B14F-4D97-AF65-F5344CB8AC3E}">
        <p14:creationId xmlns:p14="http://schemas.microsoft.com/office/powerpoint/2010/main" val="9294732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explains the rules of matrix multiplication using a concrete example that is common in neural networks.</a:t>
            </a:r>
          </a:p>
          <a:p>
            <a:r>
              <a:rPr lang="en-US" dirty="0"/>
              <a:t>Matrix A represents multiple input vectors stacked together. Each column of A is one input example. When we take the transpose Aᵀ, each row now represents one input example. This step is important because it allows us to align inputs correctly with the weight matrix.</a:t>
            </a:r>
          </a:p>
          <a:p>
            <a:r>
              <a:rPr lang="en-US" dirty="0"/>
              <a:t>Matrix W represents the weights of the layer. Each column in W corresponds to the weights of one neuron. For the multiplication to work, the number of columns in Aᵀ must match the number of rows in W. This is the most important rule of matrix multiplication.</a:t>
            </a:r>
          </a:p>
          <a:p>
            <a:r>
              <a:rPr lang="en-US" dirty="0"/>
              <a:t>The result Z = AᵀW is a new matrix where each row corresponds to one input example, and each column corresponds to one neuron. Each value in Z is computed by taking a row from Aᵀ and a column from W, multiplying matching elements, and summing them.</a:t>
            </a:r>
          </a:p>
          <a:p>
            <a:r>
              <a:rPr lang="en-US" dirty="0"/>
              <a:t>The key idea is that matrix multiplication lets us compute the outputs of many neurons for many inputs at the same time, which is why vectorization is fast and efficient in neural networks.</a:t>
            </a:r>
          </a:p>
          <a:p>
            <a:endParaRPr lang="en-IL" dirty="0"/>
          </a:p>
        </p:txBody>
      </p:sp>
    </p:spTree>
    <p:extLst>
      <p:ext uri="{BB962C8B-B14F-4D97-AF65-F5344CB8AC3E}">
        <p14:creationId xmlns:p14="http://schemas.microsoft.com/office/powerpoint/2010/main" val="330852855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shows how each value in the result matrix Z is computed during matrix multiplication. After transposing A to get Aᵀ, each row of Aᵀ represents one input example, and each column of W represents the weights of one neuron. The size of the result Z depends on this: here it becomes a 3 by 4 matrix, meaning 3 input examples and 4 neurons.</a:t>
            </a:r>
          </a:p>
          <a:p>
            <a:r>
              <a:rPr lang="en-US" dirty="0"/>
              <a:t>To compute a single value in Z, we take one row from Aᵀ and one column from W, multiply their corresponding elements, and then add the results. For example, the value a₁ᵀ · w₂ is calculated as (1 × 3) + (2 × 4) = 11. This corresponds to row 1 and column 2 in the output matrix.</a:t>
            </a:r>
          </a:p>
          <a:p>
            <a:r>
              <a:rPr lang="en-US" dirty="0"/>
              <a:t>Another example is a₃ᵀ · w₂, which uses the third row of Aᵀ and the second column of W. The calculation is (0.1 × 5) + (0.2 × 6) = 1.7. This gives one specific cell in the result matrix.</a:t>
            </a:r>
          </a:p>
          <a:p>
            <a:r>
              <a:rPr lang="en-US" dirty="0"/>
              <a:t>The same rule applies everywhere, such as a₂ᵀ · w₃, where we multiply row 2 of Aᵀ with column 3 of W and sum the products to get −23. The key idea is simple: every cell in the output matrix is just a dot product between one row and one column.</a:t>
            </a:r>
          </a:p>
          <a:p>
            <a:endParaRPr lang="en-IL" dirty="0"/>
          </a:p>
        </p:txBody>
      </p:sp>
    </p:spTree>
    <p:extLst>
      <p:ext uri="{BB962C8B-B14F-4D97-AF65-F5344CB8AC3E}">
        <p14:creationId xmlns:p14="http://schemas.microsoft.com/office/powerpoint/2010/main" val="364445915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completes the example of matrix multiplication by showing the full result of Z = AᵀW. After transposing A, we multiply Aᵀ by W, and the output Z becomes a 3 by 4 matrix. This means we have 3 rows coming from Aᵀ and 4 columns coming from W.</a:t>
            </a:r>
          </a:p>
          <a:p>
            <a:r>
              <a:rPr lang="en-US" dirty="0"/>
              <a:t>Each number in Z is computed the same way: take one row from Aᵀ and one column from W, multiply matching elements, and then add them. For example, a₁ᵀ · w₁ is calculated as (1 × 3) + (2 × 4) = 11, which appears in the first row and first column of Z. Similarly, a₁ᵀ · w₂ gives 17, a₁ᵀ · w₃ gives 23, and a₁ᵀ · w₄ gives 9, forming the first row of the output matrix.</a:t>
            </a:r>
          </a:p>
          <a:p>
            <a:r>
              <a:rPr lang="en-US" dirty="0"/>
              <a:t>The same rule applies to the second and third rows. For instance, a₂ᵀ · w₃ is computed as (−1 × 7) + (−2 × 8) = −23, which appears in row 2, column 3. Another example is a₃ᵀ · w₂, calculated as (0.1 × 5) + (0.2 × 6) = 1.7. Repeating this process for all row–column pairs fills the entire matrix Z.</a:t>
            </a:r>
          </a:p>
          <a:p>
            <a:r>
              <a:rPr lang="en-US" dirty="0"/>
              <a:t>The key idea is that matrix multiplication is just many dot products done systematically. Once you understand how to compute one cell using a row and a column, you understand the whole matrix multiplication process.</a:t>
            </a:r>
          </a:p>
          <a:p>
            <a:endParaRPr lang="en-IL" dirty="0"/>
          </a:p>
        </p:txBody>
      </p:sp>
    </p:spTree>
    <p:extLst>
      <p:ext uri="{BB962C8B-B14F-4D97-AF65-F5344CB8AC3E}">
        <p14:creationId xmlns:p14="http://schemas.microsoft.com/office/powerpoint/2010/main" val="207008380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explains the basic rules that make matrix multiplication valid and predictable. Here, the original matrix A is transposed to form Aᵀ, which has a shape of 3 × 2. The weight matrix W has a shape of 2 × 4. Because the inner dimensions match (2 and 2), the multiplication AᵀW is allowed.</a:t>
            </a:r>
          </a:p>
          <a:p>
            <a:r>
              <a:rPr lang="en-US" dirty="0"/>
              <a:t>When two matrices are multiplied, the result always has a specific shape. The output matrix Z takes the number of rows from the first matrix (Aᵀ) and the number of columns from the second matrix (W). That is why the result Z is a 3 × 4 matrix: 3 rows from Aᵀ and 4 columns from W.</a:t>
            </a:r>
          </a:p>
          <a:p>
            <a:r>
              <a:rPr lang="en-US" dirty="0"/>
              <a:t>Each value inside Z is computed using a dot product. This means we take one row from Aᵀ and one column from W, multiply matching elements, and then add them. Dot products are only possible when the two vectors have the same length. In this example, a row like [0.1, 0.2] from Aᵀ can be dotted with a column like [5, 6] from W because both have length 2.</a:t>
            </a:r>
          </a:p>
          <a:p>
            <a:r>
              <a:rPr lang="en-US" dirty="0"/>
              <a:t>The key idea is that matrix multiplication is built from many dot products, but it only works when dimensions match correctly. Always check that the inner dimensions are equal, and remember that the output size is determined by the outer dimensions.</a:t>
            </a:r>
          </a:p>
          <a:p>
            <a:endParaRPr lang="en-IL" dirty="0"/>
          </a:p>
        </p:txBody>
      </p:sp>
    </p:spTree>
    <p:extLst>
      <p:ext uri="{BB962C8B-B14F-4D97-AF65-F5344CB8AC3E}">
        <p14:creationId xmlns:p14="http://schemas.microsoft.com/office/powerpoint/2010/main" val="228366808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introduces how matrix multiplication is written and executed directly in code, instead of computing values one by one. The idea is to translate the mathematical matrix multiplication you just learned into efficient NumPy operations.</a:t>
            </a:r>
          </a:p>
          <a:p>
            <a:r>
              <a:rPr lang="en-US" dirty="0"/>
              <a:t>In practice, we store inputs, weights, and biases as NumPy arrays (matrices and vectors). Then, instead of using for-loops, we use built-in operations like matrix multiplication to compute results in a single step. This makes the code shorter, clearer, and much faster, especially for large neural networks.</a:t>
            </a:r>
          </a:p>
          <a:p>
            <a:r>
              <a:rPr lang="en-US" dirty="0"/>
              <a:t>The key takeaway is that vectorization allows neural networks to perform many calculations at once using matrix multiplication code, which is how modern deep learning frameworks achieve high performance.</a:t>
            </a:r>
          </a:p>
          <a:p>
            <a:endParaRPr lang="en-IL" dirty="0"/>
          </a:p>
        </p:txBody>
      </p:sp>
    </p:spTree>
    <p:extLst>
      <p:ext uri="{BB962C8B-B14F-4D97-AF65-F5344CB8AC3E}">
        <p14:creationId xmlns:p14="http://schemas.microsoft.com/office/powerpoint/2010/main" val="116408427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shows how matrix multiplication is done in practice using NumPy, exactly matching the math rules you learned earlier. The matrices A and W are first written as NumPy arrays. A represents the original data, and AT is simply the transpose of A, which swaps rows and columns using A.T.</a:t>
            </a:r>
          </a:p>
          <a:p>
            <a:r>
              <a:rPr lang="en-US" dirty="0"/>
              <a:t>Once the matrices are in the correct shapes, NumPy can compute the multiplication in one step. Writing z = </a:t>
            </a:r>
            <a:r>
              <a:rPr lang="en-US" dirty="0" err="1"/>
              <a:t>np.matmul</a:t>
            </a:r>
            <a:r>
              <a:rPr lang="en-US" dirty="0"/>
              <a:t>(AT, W) or equivalently z = AT @ W performs the full matrix multiplication at once, without any loops. NumPy automatically applies the dot product between each row of AT and each column of W.</a:t>
            </a:r>
          </a:p>
          <a:p>
            <a:r>
              <a:rPr lang="en-US" dirty="0"/>
              <a:t>The result z is a new matrix whose number of rows comes from AT and number of columns comes from W. The key idea is that NumPy code directly reflects the math: transpose if needed, then multiply matrices in a single vectorized operation. This is how neural networks efficiently compute forward propagation in real implementations.</a:t>
            </a:r>
          </a:p>
          <a:p>
            <a:endParaRPr lang="en-IL" dirty="0"/>
          </a:p>
        </p:txBody>
      </p:sp>
    </p:spTree>
    <p:extLst>
      <p:ext uri="{BB962C8B-B14F-4D97-AF65-F5344CB8AC3E}">
        <p14:creationId xmlns:p14="http://schemas.microsoft.com/office/powerpoint/2010/main" val="301023683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152400"/>
            <a:ext cx="5343526" cy="3006725"/>
          </a:xfrm>
        </p:spPr>
      </p:sp>
      <p:sp>
        <p:nvSpPr>
          <p:cNvPr id="3" name="Notes Placeholder 2"/>
          <p:cNvSpPr>
            <a:spLocks noGrp="1"/>
          </p:cNvSpPr>
          <p:nvPr>
            <p:ph type="body" idx="1"/>
          </p:nvPr>
        </p:nvSpPr>
        <p:spPr/>
        <p:txBody>
          <a:bodyPr/>
          <a:lstStyle/>
          <a:p>
            <a:r>
              <a:rPr lang="en-US" dirty="0"/>
              <a:t>This slide shows how a Dense layer can be computed in a fully vectorized way using matrix operations instead of loops. The input AT represents the activation coming from the previous layer, written as a row vector with shape 1 × 2, for example AT = [200, 17]. Each value is one input feature.</a:t>
            </a:r>
          </a:p>
          <a:p>
            <a:r>
              <a:rPr lang="en-US" dirty="0"/>
              <a:t>The weight matrix W contains all the weights for the neurons in this layer. In this example, W has shape 2 × 3, which means we have 3 neurons and each neuron has 2 weights. The bias vector b has one bias value for each neuron, so its shape is 1 × 3.</a:t>
            </a:r>
          </a:p>
          <a:p>
            <a:r>
              <a:rPr lang="en-US" dirty="0"/>
              <a:t>The core computation of the Dense layer is done using the equation Z = AT W + b. This single line replaces all the individual dot products you saw earlier. NumPy computes the dot product between the input vector and all neuron weight vectors at once, then adds the bias to each result.</a:t>
            </a:r>
          </a:p>
          <a:p>
            <a:r>
              <a:rPr lang="en-US" dirty="0"/>
              <a:t>After computing Z, we apply the activation function g to get the output activations A. This gives a vector like A = [1, 0, 1], where each value corresponds to the output of one neuron in the layer.</a:t>
            </a:r>
          </a:p>
          <a:p>
            <a:r>
              <a:rPr lang="en-US" dirty="0"/>
              <a:t>The key idea of this slide is that a Dense layer is just matrix multiplication plus bias and activation. Vectorization allows us to compute all neuron outputs in one efficient step, which is exactly how neural networks are implemented in practice.</a:t>
            </a:r>
          </a:p>
          <a:p>
            <a:endParaRPr lang="en-IL" dirty="0"/>
          </a:p>
        </p:txBody>
      </p:sp>
    </p:spTree>
    <p:extLst>
      <p:ext uri="{BB962C8B-B14F-4D97-AF65-F5344CB8AC3E}">
        <p14:creationId xmlns:p14="http://schemas.microsoft.com/office/powerpoint/2010/main" val="24936605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2695574" cy="5143498"/>
          </a:xfrm>
          <a:prstGeom prst="rect">
            <a:avLst/>
          </a:prstGeom>
        </p:spPr>
      </p:pic>
      <p:pic>
        <p:nvPicPr>
          <p:cNvPr id="17" name="bg object 17"/>
          <p:cNvPicPr/>
          <p:nvPr/>
        </p:nvPicPr>
        <p:blipFill>
          <a:blip r:embed="rId3" cstate="print"/>
          <a:stretch>
            <a:fillRect/>
          </a:stretch>
        </p:blipFill>
        <p:spPr>
          <a:xfrm>
            <a:off x="247649" y="781050"/>
            <a:ext cx="2181225" cy="485775"/>
          </a:xfrm>
          <a:prstGeom prst="rect">
            <a:avLst/>
          </a:prstGeom>
        </p:spPr>
      </p:pic>
      <p:pic>
        <p:nvPicPr>
          <p:cNvPr id="18" name="bg object 18"/>
          <p:cNvPicPr/>
          <p:nvPr/>
        </p:nvPicPr>
        <p:blipFill>
          <a:blip r:embed="rId4" cstate="print"/>
          <a:stretch>
            <a:fillRect/>
          </a:stretch>
        </p:blipFill>
        <p:spPr>
          <a:xfrm>
            <a:off x="895350" y="1400175"/>
            <a:ext cx="885825" cy="333375"/>
          </a:xfrm>
          <a:prstGeom prst="rect">
            <a:avLst/>
          </a:prstGeom>
        </p:spPr>
      </p:pic>
      <p:pic>
        <p:nvPicPr>
          <p:cNvPr id="19" name="bg object 19"/>
          <p:cNvPicPr/>
          <p:nvPr/>
        </p:nvPicPr>
        <p:blipFill>
          <a:blip r:embed="rId5" cstate="print"/>
          <a:stretch>
            <a:fillRect/>
          </a:stretch>
        </p:blipFill>
        <p:spPr>
          <a:xfrm>
            <a:off x="390524" y="2181225"/>
            <a:ext cx="2428875" cy="2962274"/>
          </a:xfrm>
          <a:prstGeom prst="rect">
            <a:avLst/>
          </a:prstGeom>
        </p:spPr>
      </p:pic>
      <p:sp>
        <p:nvSpPr>
          <p:cNvPr id="2" name="Holder 2"/>
          <p:cNvSpPr>
            <a:spLocks noGrp="1"/>
          </p:cNvSpPr>
          <p:nvPr>
            <p:ph type="ctrTitle"/>
          </p:nvPr>
        </p:nvSpPr>
        <p:spPr>
          <a:xfrm>
            <a:off x="3118866" y="1171193"/>
            <a:ext cx="5502909" cy="848360"/>
          </a:xfrm>
          <a:prstGeom prst="rect">
            <a:avLst/>
          </a:prstGeom>
        </p:spPr>
        <p:txBody>
          <a:bodyPr wrap="square" lIns="0" tIns="0" rIns="0" bIns="0">
            <a:spAutoFit/>
          </a:bodyPr>
          <a:lstStyle>
            <a:lvl1pPr>
              <a:defRPr sz="3600" b="0" i="0">
                <a:solidFill>
                  <a:srgbClr val="8C1515"/>
                </a:solidFill>
                <a:latin typeface="Verdana"/>
                <a:cs typeface="Verdana"/>
              </a:defRPr>
            </a:lvl1pPr>
          </a:lstStyle>
          <a:p>
            <a:endParaRPr/>
          </a:p>
        </p:txBody>
      </p:sp>
      <p:sp>
        <p:nvSpPr>
          <p:cNvPr id="3" name="Holder 3"/>
          <p:cNvSpPr>
            <a:spLocks noGrp="1"/>
          </p:cNvSpPr>
          <p:nvPr>
            <p:ph type="subTitle" idx="4"/>
          </p:nvPr>
        </p:nvSpPr>
        <p:spPr>
          <a:xfrm>
            <a:off x="3249929" y="3182048"/>
            <a:ext cx="5357495" cy="632460"/>
          </a:xfrm>
          <a:prstGeom prst="rect">
            <a:avLst/>
          </a:prstGeom>
        </p:spPr>
        <p:txBody>
          <a:bodyPr wrap="square" lIns="0" tIns="0" rIns="0" bIns="0">
            <a:spAutoFit/>
          </a:bodyPr>
          <a:lstStyle>
            <a:lvl1pPr>
              <a:defRPr sz="135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F8F8F8"/>
                </a:solidFill>
                <a:latin typeface="Lucida Sans Unicode"/>
                <a:cs typeface="Lucida Sans Unicode"/>
              </a:defRPr>
            </a:lvl1pPr>
          </a:lstStyle>
          <a:p>
            <a:pPr marL="19685">
              <a:lnSpc>
                <a:spcPct val="100000"/>
              </a:lnSpc>
              <a:spcBef>
                <a:spcPts val="195"/>
              </a:spcBef>
            </a:pPr>
            <a:r>
              <a:rPr dirty="0"/>
              <a:t>Andrew</a:t>
            </a:r>
            <a:r>
              <a:rPr spc="145" dirty="0"/>
              <a:t> </a:t>
            </a:r>
            <a:r>
              <a:rPr spc="-25" dirty="0"/>
              <a:t>Ng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F9FCD14-74FF-E849-8950-74084F43867C}" type="datetime1">
              <a:rPr lang="en-US" smtClean="0"/>
              <a:t>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8C1515"/>
                </a:solidFill>
                <a:latin typeface="Verdana"/>
                <a:cs typeface="Verdana"/>
              </a:defRPr>
            </a:lvl1pPr>
          </a:lstStyle>
          <a:p>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8C1515"/>
                </a:solidFill>
                <a:latin typeface="Verdana"/>
                <a:cs typeface="Verdana"/>
              </a:defRPr>
            </a:lvl1pPr>
          </a:lstStyle>
          <a:p>
            <a:endParaRPr/>
          </a:p>
        </p:txBody>
      </p:sp>
      <p:sp>
        <p:nvSpPr>
          <p:cNvPr id="3" name="Holder 3"/>
          <p:cNvSpPr>
            <a:spLocks noGrp="1"/>
          </p:cNvSpPr>
          <p:nvPr>
            <p:ph sz="half" idx="2"/>
          </p:nvPr>
        </p:nvSpPr>
        <p:spPr>
          <a:xfrm>
            <a:off x="390842" y="1047432"/>
            <a:ext cx="2694305" cy="3433445"/>
          </a:xfrm>
          <a:prstGeom prst="rect">
            <a:avLst/>
          </a:prstGeom>
        </p:spPr>
        <p:txBody>
          <a:bodyPr wrap="square" lIns="0" tIns="0" rIns="0" bIns="0">
            <a:spAutoFit/>
          </a:bodyPr>
          <a:lstStyle>
            <a:lvl1pPr>
              <a:defRPr sz="1400" b="0" i="0">
                <a:solidFill>
                  <a:schemeClr val="tx1"/>
                </a:solidFill>
                <a:latin typeface="Consolas"/>
                <a:cs typeface="Consolas"/>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F8F8F8"/>
                </a:solidFill>
                <a:latin typeface="Lucida Sans Unicode"/>
                <a:cs typeface="Lucida Sans Unicode"/>
              </a:defRPr>
            </a:lvl1pPr>
          </a:lstStyle>
          <a:p>
            <a:pPr marL="19685">
              <a:lnSpc>
                <a:spcPct val="100000"/>
              </a:lnSpc>
              <a:spcBef>
                <a:spcPts val="195"/>
              </a:spcBef>
            </a:pPr>
            <a:r>
              <a:rPr dirty="0"/>
              <a:t>Andrew</a:t>
            </a:r>
            <a:r>
              <a:rPr spc="145" dirty="0"/>
              <a:t> </a:t>
            </a:r>
            <a:r>
              <a:rPr spc="-25" dirty="0"/>
              <a:t>Ng</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A1FF64A7-0AF8-C247-93C9-3E7FA24F345E}" type="datetime1">
              <a:rPr lang="en-US" smtClean="0"/>
              <a:t>2/5/26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943225" y="704850"/>
            <a:ext cx="3286125" cy="3914775"/>
          </a:xfrm>
          <a:prstGeom prst="rect">
            <a:avLst/>
          </a:prstGeom>
        </p:spPr>
      </p:pic>
      <p:sp>
        <p:nvSpPr>
          <p:cNvPr id="2" name="Holder 2"/>
          <p:cNvSpPr>
            <a:spLocks noGrp="1"/>
          </p:cNvSpPr>
          <p:nvPr>
            <p:ph type="title"/>
          </p:nvPr>
        </p:nvSpPr>
        <p:spPr/>
        <p:txBody>
          <a:bodyPr lIns="0" tIns="0" rIns="0" bIns="0"/>
          <a:lstStyle>
            <a:lvl1pPr>
              <a:defRPr sz="3600" b="0" i="0">
                <a:solidFill>
                  <a:srgbClr val="8C1515"/>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F8F8F8"/>
                </a:solidFill>
                <a:latin typeface="Lucida Sans Unicode"/>
                <a:cs typeface="Lucida Sans Unicode"/>
              </a:defRPr>
            </a:lvl1pPr>
          </a:lstStyle>
          <a:p>
            <a:pPr marL="19685">
              <a:lnSpc>
                <a:spcPct val="100000"/>
              </a:lnSpc>
              <a:spcBef>
                <a:spcPts val="195"/>
              </a:spcBef>
            </a:pPr>
            <a:r>
              <a:rPr dirty="0"/>
              <a:t>Andrew</a:t>
            </a:r>
            <a:r>
              <a:rPr spc="145" dirty="0"/>
              <a:t> </a:t>
            </a:r>
            <a:r>
              <a:rPr spc="-25" dirty="0"/>
              <a:t>Ng</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4BC3B3AC-B2EE-BD4F-A454-2F1D2039D9E5}" type="datetime1">
              <a:rPr lang="en-US" smtClean="0"/>
              <a:t>2/5/26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0" i="0">
                <a:solidFill>
                  <a:srgbClr val="F8F8F8"/>
                </a:solidFill>
                <a:latin typeface="Lucida Sans Unicode"/>
                <a:cs typeface="Lucida Sans Unicode"/>
              </a:defRPr>
            </a:lvl1pPr>
          </a:lstStyle>
          <a:p>
            <a:pPr marL="19685">
              <a:lnSpc>
                <a:spcPct val="100000"/>
              </a:lnSpc>
              <a:spcBef>
                <a:spcPts val="195"/>
              </a:spcBef>
            </a:pPr>
            <a:r>
              <a:rPr dirty="0"/>
              <a:t>Andrew</a:t>
            </a:r>
            <a:r>
              <a:rPr spc="145" dirty="0"/>
              <a:t> </a:t>
            </a:r>
            <a:r>
              <a:rPr spc="-25" dirty="0"/>
              <a:t>Ng</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81633E84-F7DD-7449-9FAC-ECBB3DE4BC58}" type="datetime1">
              <a:rPr lang="en-US" smtClean="0"/>
              <a:t>2/5/26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8C1515"/>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135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F8F8F8"/>
                </a:solidFill>
                <a:latin typeface="Lucida Sans Unicode"/>
                <a:cs typeface="Lucida Sans Unicode"/>
              </a:defRPr>
            </a:lvl1pPr>
          </a:lstStyle>
          <a:p>
            <a:pPr marL="19685">
              <a:lnSpc>
                <a:spcPct val="100000"/>
              </a:lnSpc>
              <a:spcBef>
                <a:spcPts val="195"/>
              </a:spcBef>
            </a:pPr>
            <a:r>
              <a:rPr dirty="0"/>
              <a:t>Andrew</a:t>
            </a:r>
            <a:r>
              <a:rPr spc="145" dirty="0"/>
              <a:t> </a:t>
            </a:r>
            <a:r>
              <a:rPr spc="-25" dirty="0"/>
              <a:t>Ng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42B97D2-7269-E24C-9D2C-A91BAB0C323D}" type="datetime1">
              <a:rPr lang="en-US" smtClean="0"/>
              <a:t>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30808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543425"/>
            <a:ext cx="9144000" cy="600075"/>
          </a:xfrm>
          <a:custGeom>
            <a:avLst/>
            <a:gdLst/>
            <a:ahLst/>
            <a:cxnLst/>
            <a:rect l="l" t="t" r="r" b="b"/>
            <a:pathLst>
              <a:path w="9144000" h="600075">
                <a:moveTo>
                  <a:pt x="0" y="600073"/>
                </a:moveTo>
                <a:lnTo>
                  <a:pt x="9144000" y="600073"/>
                </a:lnTo>
                <a:lnTo>
                  <a:pt x="9144000" y="0"/>
                </a:lnTo>
                <a:lnTo>
                  <a:pt x="0" y="0"/>
                </a:lnTo>
                <a:lnTo>
                  <a:pt x="0" y="600073"/>
                </a:lnTo>
                <a:close/>
              </a:path>
            </a:pathLst>
          </a:custGeom>
          <a:solidFill>
            <a:srgbClr val="8C1515"/>
          </a:solidFill>
        </p:spPr>
        <p:txBody>
          <a:bodyPr wrap="square" lIns="0" tIns="0" rIns="0" bIns="0" rtlCol="0"/>
          <a:lstStyle/>
          <a:p>
            <a:endParaRPr/>
          </a:p>
        </p:txBody>
      </p:sp>
      <p:pic>
        <p:nvPicPr>
          <p:cNvPr id="17" name="bg object 17"/>
          <p:cNvPicPr/>
          <p:nvPr/>
        </p:nvPicPr>
        <p:blipFill>
          <a:blip r:embed="rId8" cstate="print"/>
          <a:stretch>
            <a:fillRect/>
          </a:stretch>
        </p:blipFill>
        <p:spPr>
          <a:xfrm>
            <a:off x="314325" y="4695825"/>
            <a:ext cx="1466850" cy="333373"/>
          </a:xfrm>
          <a:prstGeom prst="rect">
            <a:avLst/>
          </a:prstGeom>
        </p:spPr>
      </p:pic>
      <p:pic>
        <p:nvPicPr>
          <p:cNvPr id="18" name="bg object 18"/>
          <p:cNvPicPr/>
          <p:nvPr/>
        </p:nvPicPr>
        <p:blipFill>
          <a:blip r:embed="rId9" cstate="print"/>
          <a:stretch>
            <a:fillRect/>
          </a:stretch>
        </p:blipFill>
        <p:spPr>
          <a:xfrm>
            <a:off x="2047875" y="4752975"/>
            <a:ext cx="1266825" cy="209550"/>
          </a:xfrm>
          <a:prstGeom prst="rect">
            <a:avLst/>
          </a:prstGeom>
        </p:spPr>
      </p:pic>
      <p:sp>
        <p:nvSpPr>
          <p:cNvPr id="2" name="Holder 2"/>
          <p:cNvSpPr>
            <a:spLocks noGrp="1"/>
          </p:cNvSpPr>
          <p:nvPr>
            <p:ph type="title"/>
          </p:nvPr>
        </p:nvSpPr>
        <p:spPr>
          <a:xfrm>
            <a:off x="390842" y="173355"/>
            <a:ext cx="8362315" cy="518159"/>
          </a:xfrm>
          <a:prstGeom prst="rect">
            <a:avLst/>
          </a:prstGeom>
        </p:spPr>
        <p:txBody>
          <a:bodyPr wrap="square" lIns="0" tIns="0" rIns="0" bIns="0">
            <a:spAutoFit/>
          </a:bodyPr>
          <a:lstStyle>
            <a:lvl1pPr>
              <a:defRPr sz="3600" b="0" i="0">
                <a:solidFill>
                  <a:srgbClr val="8C1515"/>
                </a:solidFill>
                <a:latin typeface="Verdana"/>
                <a:cs typeface="Verdana"/>
              </a:defRPr>
            </a:lvl1pPr>
          </a:lstStyle>
          <a:p>
            <a:endParaRPr/>
          </a:p>
        </p:txBody>
      </p:sp>
      <p:sp>
        <p:nvSpPr>
          <p:cNvPr id="3" name="Holder 3"/>
          <p:cNvSpPr>
            <a:spLocks noGrp="1"/>
          </p:cNvSpPr>
          <p:nvPr>
            <p:ph type="body" idx="1"/>
          </p:nvPr>
        </p:nvSpPr>
        <p:spPr>
          <a:xfrm>
            <a:off x="872543" y="1141729"/>
            <a:ext cx="7398913" cy="1461135"/>
          </a:xfrm>
          <a:prstGeom prst="rect">
            <a:avLst/>
          </a:prstGeom>
        </p:spPr>
        <p:txBody>
          <a:bodyPr wrap="square" lIns="0" tIns="0" rIns="0" bIns="0">
            <a:spAutoFit/>
          </a:bodyPr>
          <a:lstStyle>
            <a:lvl1pPr>
              <a:defRPr sz="135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7785100" y="4719462"/>
            <a:ext cx="1022096" cy="279400"/>
          </a:xfrm>
          <a:prstGeom prst="rect">
            <a:avLst/>
          </a:prstGeom>
        </p:spPr>
        <p:txBody>
          <a:bodyPr wrap="square" lIns="0" tIns="0" rIns="0" bIns="0">
            <a:spAutoFit/>
          </a:bodyPr>
          <a:lstStyle>
            <a:lvl1pPr>
              <a:defRPr sz="1400" b="0" i="0">
                <a:solidFill>
                  <a:srgbClr val="F8F8F8"/>
                </a:solidFill>
                <a:latin typeface="Lucida Sans Unicode"/>
                <a:cs typeface="Lucida Sans Unicode"/>
              </a:defRPr>
            </a:lvl1pPr>
          </a:lstStyle>
          <a:p>
            <a:pPr marL="19685">
              <a:lnSpc>
                <a:spcPct val="100000"/>
              </a:lnSpc>
              <a:spcBef>
                <a:spcPts val="195"/>
              </a:spcBef>
            </a:pPr>
            <a:r>
              <a:rPr dirty="0"/>
              <a:t>Andrew</a:t>
            </a:r>
            <a:r>
              <a:rPr spc="145" dirty="0"/>
              <a:t> </a:t>
            </a:r>
            <a:r>
              <a:rPr spc="-25" dirty="0"/>
              <a:t>Ng</a:t>
            </a: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37802730-99B0-4844-9309-D35EF17C91A4}" type="datetime1">
              <a:rPr lang="en-US" smtClean="0"/>
              <a:t>2/5/26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sldNum="0"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8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00400" y="1885950"/>
            <a:ext cx="5707380" cy="909223"/>
          </a:xfrm>
          <a:prstGeom prst="rect">
            <a:avLst/>
          </a:prstGeom>
        </p:spPr>
        <p:txBody>
          <a:bodyPr vert="horz" wrap="square" lIns="0" tIns="16510" rIns="0" bIns="0" rtlCol="0">
            <a:spAutoFit/>
          </a:bodyPr>
          <a:lstStyle/>
          <a:p>
            <a:pPr marL="12700">
              <a:lnSpc>
                <a:spcPct val="100000"/>
              </a:lnSpc>
              <a:spcBef>
                <a:spcPts val="130"/>
              </a:spcBef>
            </a:pPr>
            <a:r>
              <a:rPr lang="en-US" sz="2900" dirty="0">
                <a:solidFill>
                  <a:srgbClr val="8C1515"/>
                </a:solidFill>
                <a:latin typeface="Verdana"/>
                <a:cs typeface="Verdana"/>
              </a:rPr>
              <a:t> Introduction to Neural Networks </a:t>
            </a:r>
            <a:endParaRPr sz="2900" dirty="0">
              <a:latin typeface="Verdana"/>
              <a:cs typeface="Verdana"/>
            </a:endParaRPr>
          </a:p>
        </p:txBody>
      </p:sp>
      <p:sp>
        <p:nvSpPr>
          <p:cNvPr id="3" name="Footer Placeholder 2">
            <a:extLst>
              <a:ext uri="{FF2B5EF4-FFF2-40B4-BE49-F238E27FC236}">
                <a16:creationId xmlns:a16="http://schemas.microsoft.com/office/drawing/2014/main" id="{FDBAEE8F-0955-DA43-9672-07613FCA0903}"/>
              </a:ext>
            </a:extLst>
          </p:cNvPr>
          <p:cNvSpPr>
            <a:spLocks noGrp="1"/>
          </p:cNvSpPr>
          <p:nvPr>
            <p:ph type="ftr" sz="quarter" idx="5"/>
          </p:nvPr>
        </p:nvSpPr>
        <p:spPr/>
        <p:txBody>
          <a:bodyPr/>
          <a:lstStyle/>
          <a:p>
            <a:pPr marL="19685">
              <a:lnSpc>
                <a:spcPct val="100000"/>
              </a:lnSpc>
              <a:spcBef>
                <a:spcPts val="195"/>
              </a:spcBef>
            </a:pPr>
            <a:r>
              <a:rPr lang="en-US"/>
              <a:t>Andrew</a:t>
            </a:r>
            <a:r>
              <a:rPr lang="en-US" spc="145"/>
              <a:t> </a:t>
            </a:r>
            <a:r>
              <a:rPr lang="en-US" spc="-25"/>
              <a:t>Ng</a:t>
            </a:r>
            <a:endParaRPr lang="en-US"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792466" y="4728527"/>
            <a:ext cx="1014730" cy="243204"/>
          </a:xfrm>
          <a:prstGeom prst="rect">
            <a:avLst/>
          </a:prstGeom>
        </p:spPr>
        <p:txBody>
          <a:bodyPr vert="horz" wrap="square" lIns="0" tIns="15875" rIns="0" bIns="0" rtlCol="0">
            <a:spAutoFit/>
          </a:bodyPr>
          <a:lstStyle/>
          <a:p>
            <a:pPr marL="12700">
              <a:lnSpc>
                <a:spcPct val="100000"/>
              </a:lnSpc>
              <a:spcBef>
                <a:spcPts val="125"/>
              </a:spcBef>
            </a:pPr>
            <a:r>
              <a:rPr sz="1400" dirty="0">
                <a:solidFill>
                  <a:srgbClr val="F8F8F8"/>
                </a:solidFill>
                <a:latin typeface="Lucida Sans Unicode"/>
                <a:cs typeface="Lucida Sans Unicode"/>
              </a:rPr>
              <a:t>Andrew</a:t>
            </a:r>
            <a:r>
              <a:rPr sz="1400" spc="145" dirty="0">
                <a:solidFill>
                  <a:srgbClr val="F8F8F8"/>
                </a:solidFill>
                <a:latin typeface="Lucida Sans Unicode"/>
                <a:cs typeface="Lucida Sans Unicode"/>
              </a:rPr>
              <a:t> </a:t>
            </a:r>
            <a:r>
              <a:rPr sz="1400" spc="-25" dirty="0">
                <a:solidFill>
                  <a:srgbClr val="F8F8F8"/>
                </a:solidFill>
                <a:latin typeface="Lucida Sans Unicode"/>
                <a:cs typeface="Lucida Sans Unicode"/>
              </a:rPr>
              <a:t>Ng</a:t>
            </a:r>
            <a:endParaRPr sz="1400">
              <a:latin typeface="Lucida Sans Unicode"/>
              <a:cs typeface="Lucida Sans Unicode"/>
            </a:endParaRPr>
          </a:p>
        </p:txBody>
      </p:sp>
      <p:pic>
        <p:nvPicPr>
          <p:cNvPr id="11" name="Picture 10">
            <a:extLst>
              <a:ext uri="{FF2B5EF4-FFF2-40B4-BE49-F238E27FC236}">
                <a16:creationId xmlns:a16="http://schemas.microsoft.com/office/drawing/2014/main" id="{4A1C155C-894C-3C4C-AF5C-E7F0B60670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438150"/>
            <a:ext cx="7974330" cy="3733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6DA31-CF6A-C64B-9184-49A89319ACB1}"/>
              </a:ext>
            </a:extLst>
          </p:cNvPr>
          <p:cNvSpPr>
            <a:spLocks noGrp="1"/>
          </p:cNvSpPr>
          <p:nvPr>
            <p:ph type="ctrTitle"/>
          </p:nvPr>
        </p:nvSpPr>
        <p:spPr>
          <a:xfrm>
            <a:off x="3104515" y="1276350"/>
            <a:ext cx="5502909" cy="1107996"/>
          </a:xfrm>
        </p:spPr>
        <p:txBody>
          <a:bodyPr/>
          <a:lstStyle/>
          <a:p>
            <a:r>
              <a:rPr lang="en-IL" dirty="0"/>
              <a:t>Neural Network Intution</a:t>
            </a:r>
          </a:p>
        </p:txBody>
      </p:sp>
      <p:sp>
        <p:nvSpPr>
          <p:cNvPr id="3" name="Subtitle 2">
            <a:extLst>
              <a:ext uri="{FF2B5EF4-FFF2-40B4-BE49-F238E27FC236}">
                <a16:creationId xmlns:a16="http://schemas.microsoft.com/office/drawing/2014/main" id="{6A0B4A93-0977-694F-9F60-3B35313D650A}"/>
              </a:ext>
            </a:extLst>
          </p:cNvPr>
          <p:cNvSpPr>
            <a:spLocks noGrp="1"/>
          </p:cNvSpPr>
          <p:nvPr>
            <p:ph type="subTitle" idx="4"/>
          </p:nvPr>
        </p:nvSpPr>
        <p:spPr>
          <a:xfrm>
            <a:off x="3249929" y="3182048"/>
            <a:ext cx="5357495" cy="553998"/>
          </a:xfrm>
        </p:spPr>
        <p:txBody>
          <a:bodyPr/>
          <a:lstStyle/>
          <a:p>
            <a:pPr marL="0" algn="ctr" rtl="0"/>
            <a:r>
              <a:rPr lang="en-IL" sz="3600" dirty="0"/>
              <a:t>Neurons and the Brain </a:t>
            </a:r>
          </a:p>
        </p:txBody>
      </p:sp>
      <p:sp>
        <p:nvSpPr>
          <p:cNvPr id="4" name="Footer Placeholder 3">
            <a:extLst>
              <a:ext uri="{FF2B5EF4-FFF2-40B4-BE49-F238E27FC236}">
                <a16:creationId xmlns:a16="http://schemas.microsoft.com/office/drawing/2014/main" id="{F17A1949-D532-9546-AE96-B9DB6FDFDF73}"/>
              </a:ext>
            </a:extLst>
          </p:cNvPr>
          <p:cNvSpPr>
            <a:spLocks noGrp="1"/>
          </p:cNvSpPr>
          <p:nvPr>
            <p:ph type="ftr" sz="quarter" idx="5"/>
          </p:nvPr>
        </p:nvSpPr>
        <p:spPr/>
        <p:txBody>
          <a:bodyPr/>
          <a:lstStyle/>
          <a:p>
            <a:pPr marL="19685">
              <a:lnSpc>
                <a:spcPct val="100000"/>
              </a:lnSpc>
              <a:spcBef>
                <a:spcPts val="195"/>
              </a:spcBef>
            </a:pPr>
            <a:r>
              <a:rPr lang="en-US"/>
              <a:t>Andrew</a:t>
            </a:r>
            <a:r>
              <a:rPr lang="en-US" spc="145"/>
              <a:t> </a:t>
            </a:r>
            <a:r>
              <a:rPr lang="en-US" spc="-25"/>
              <a:t>Ng</a:t>
            </a:r>
            <a:endParaRPr lang="en-US" spc="-25" dirty="0"/>
          </a:p>
        </p:txBody>
      </p:sp>
    </p:spTree>
    <p:extLst>
      <p:ext uri="{BB962C8B-B14F-4D97-AF65-F5344CB8AC3E}">
        <p14:creationId xmlns:p14="http://schemas.microsoft.com/office/powerpoint/2010/main" val="945254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object 35"/>
          <p:cNvSpPr txBox="1">
            <a:spLocks noGrp="1"/>
          </p:cNvSpPr>
          <p:nvPr>
            <p:ph type="ftr" sz="quarter" idx="4294967295"/>
          </p:nvPr>
        </p:nvSpPr>
        <p:spPr>
          <a:xfrm>
            <a:off x="7785100" y="4719462"/>
            <a:ext cx="1022096" cy="279400"/>
          </a:xfrm>
          <a:prstGeom prst="rect">
            <a:avLst/>
          </a:prstGeom>
        </p:spPr>
        <p:txBody>
          <a:bodyPr vert="horz" wrap="square" lIns="0" tIns="24765" rIns="0" bIns="0" rtlCol="0">
            <a:spAutoFit/>
          </a:bodyPr>
          <a:lstStyle/>
          <a:p>
            <a:pPr marL="19685">
              <a:lnSpc>
                <a:spcPct val="100000"/>
              </a:lnSpc>
              <a:spcBef>
                <a:spcPts val="195"/>
              </a:spcBef>
            </a:pPr>
            <a:r>
              <a:rPr dirty="0"/>
              <a:t>Andrew</a:t>
            </a:r>
            <a:r>
              <a:rPr spc="145" dirty="0"/>
              <a:t> </a:t>
            </a:r>
            <a:r>
              <a:rPr spc="-25" dirty="0"/>
              <a:t>Ng</a:t>
            </a:r>
          </a:p>
        </p:txBody>
      </p:sp>
      <p:pic>
        <p:nvPicPr>
          <p:cNvPr id="41" name="Picture 40">
            <a:extLst>
              <a:ext uri="{FF2B5EF4-FFF2-40B4-BE49-F238E27FC236}">
                <a16:creationId xmlns:a16="http://schemas.microsoft.com/office/drawing/2014/main" id="{71313BD3-73D4-934E-ACFC-6B744E5FD9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4596" y="39680"/>
            <a:ext cx="5562600" cy="5064139"/>
          </a:xfrm>
          <a:prstGeom prst="rect">
            <a:avLst/>
          </a:prstGeom>
        </p:spPr>
      </p:pic>
      <p:sp>
        <p:nvSpPr>
          <p:cNvPr id="42" name="TextBox 41">
            <a:extLst>
              <a:ext uri="{FF2B5EF4-FFF2-40B4-BE49-F238E27FC236}">
                <a16:creationId xmlns:a16="http://schemas.microsoft.com/office/drawing/2014/main" id="{B5F4F1DC-522C-3E47-BF5F-355C6E89754E}"/>
              </a:ext>
            </a:extLst>
          </p:cNvPr>
          <p:cNvSpPr txBox="1"/>
          <p:nvPr/>
        </p:nvSpPr>
        <p:spPr>
          <a:xfrm>
            <a:off x="6705600" y="39680"/>
            <a:ext cx="877163" cy="369332"/>
          </a:xfrm>
          <a:prstGeom prst="rect">
            <a:avLst/>
          </a:prstGeom>
          <a:noFill/>
        </p:spPr>
        <p:txBody>
          <a:bodyPr wrap="none" rtlCol="0">
            <a:spAutoFit/>
          </a:bodyPr>
          <a:lstStyle/>
          <a:p>
            <a:pPr algn="l" rtl="0"/>
            <a:r>
              <a:rPr lang="en-US" dirty="0">
                <a:solidFill>
                  <a:srgbClr val="0432FF"/>
                </a:solidFill>
              </a:rPr>
              <a:t>I</a:t>
            </a:r>
            <a:r>
              <a:rPr lang="en-IL" dirty="0">
                <a:solidFill>
                  <a:srgbClr val="0432FF"/>
                </a:solidFill>
              </a:rPr>
              <a:t>nputs </a:t>
            </a:r>
          </a:p>
        </p:txBody>
      </p:sp>
      <p:sp>
        <p:nvSpPr>
          <p:cNvPr id="44" name="TextBox 43">
            <a:extLst>
              <a:ext uri="{FF2B5EF4-FFF2-40B4-BE49-F238E27FC236}">
                <a16:creationId xmlns:a16="http://schemas.microsoft.com/office/drawing/2014/main" id="{8C29D997-45F6-0141-897D-7700D37762AD}"/>
              </a:ext>
            </a:extLst>
          </p:cNvPr>
          <p:cNvSpPr txBox="1"/>
          <p:nvPr/>
        </p:nvSpPr>
        <p:spPr>
          <a:xfrm>
            <a:off x="336804" y="417671"/>
            <a:ext cx="2907792" cy="1569660"/>
          </a:xfrm>
          <a:prstGeom prst="rect">
            <a:avLst/>
          </a:prstGeom>
          <a:noFill/>
        </p:spPr>
        <p:txBody>
          <a:bodyPr wrap="square">
            <a:spAutoFit/>
          </a:bodyPr>
          <a:lstStyle/>
          <a:p>
            <a:pPr algn="l" rtl="0"/>
            <a:r>
              <a:rPr lang="en-US" sz="2400" dirty="0"/>
              <a:t>Biological Neuron: </a:t>
            </a:r>
          </a:p>
          <a:p>
            <a:pPr algn="l" rtl="0"/>
            <a:r>
              <a:rPr lang="en-US" sz="2400" dirty="0"/>
              <a:t>How the Brain </a:t>
            </a:r>
          </a:p>
          <a:p>
            <a:pPr algn="l" rtl="0"/>
            <a:r>
              <a:rPr lang="en-US" sz="2400" dirty="0"/>
              <a:t>Processes Information</a:t>
            </a:r>
            <a:endParaRPr lang="en-IL"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object 35"/>
          <p:cNvSpPr txBox="1">
            <a:spLocks noGrp="1"/>
          </p:cNvSpPr>
          <p:nvPr>
            <p:ph type="ftr" sz="quarter" idx="4294967295"/>
          </p:nvPr>
        </p:nvSpPr>
        <p:spPr>
          <a:xfrm>
            <a:off x="7785100" y="4719462"/>
            <a:ext cx="1022096" cy="279400"/>
          </a:xfrm>
          <a:prstGeom prst="rect">
            <a:avLst/>
          </a:prstGeom>
        </p:spPr>
        <p:txBody>
          <a:bodyPr vert="horz" wrap="square" lIns="0" tIns="24765" rIns="0" bIns="0" rtlCol="0">
            <a:spAutoFit/>
          </a:bodyPr>
          <a:lstStyle/>
          <a:p>
            <a:pPr marL="19685">
              <a:lnSpc>
                <a:spcPct val="100000"/>
              </a:lnSpc>
              <a:spcBef>
                <a:spcPts val="195"/>
              </a:spcBef>
            </a:pPr>
            <a:r>
              <a:rPr dirty="0"/>
              <a:t>Andrew</a:t>
            </a:r>
            <a:r>
              <a:rPr spc="145" dirty="0"/>
              <a:t> </a:t>
            </a:r>
            <a:r>
              <a:rPr spc="-25" dirty="0"/>
              <a:t>Ng</a:t>
            </a:r>
          </a:p>
        </p:txBody>
      </p:sp>
      <p:sp>
        <p:nvSpPr>
          <p:cNvPr id="37" name="Title 36">
            <a:extLst>
              <a:ext uri="{FF2B5EF4-FFF2-40B4-BE49-F238E27FC236}">
                <a16:creationId xmlns:a16="http://schemas.microsoft.com/office/drawing/2014/main" id="{747017D1-F701-2F4E-A1F8-9B854E3310D1}"/>
              </a:ext>
            </a:extLst>
          </p:cNvPr>
          <p:cNvSpPr>
            <a:spLocks noGrp="1"/>
          </p:cNvSpPr>
          <p:nvPr>
            <p:ph type="title"/>
          </p:nvPr>
        </p:nvSpPr>
        <p:spPr>
          <a:xfrm>
            <a:off x="228600" y="173355"/>
            <a:ext cx="8362315" cy="553998"/>
          </a:xfrm>
        </p:spPr>
        <p:txBody>
          <a:bodyPr/>
          <a:lstStyle/>
          <a:p>
            <a:pPr rtl="0"/>
            <a:r>
              <a:rPr lang="en-IL" dirty="0"/>
              <a:t>Biological vs. Artificial Neurons</a:t>
            </a:r>
          </a:p>
        </p:txBody>
      </p:sp>
      <p:pic>
        <p:nvPicPr>
          <p:cNvPr id="3" name="Picture 2">
            <a:extLst>
              <a:ext uri="{FF2B5EF4-FFF2-40B4-BE49-F238E27FC236}">
                <a16:creationId xmlns:a16="http://schemas.microsoft.com/office/drawing/2014/main" id="{E892488F-0C1A-C648-B9B4-692BD2262D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895350"/>
            <a:ext cx="7745453" cy="3586319"/>
          </a:xfrm>
          <a:prstGeom prst="rect">
            <a:avLst/>
          </a:prstGeom>
        </p:spPr>
      </p:pic>
      <p:sp>
        <p:nvSpPr>
          <p:cNvPr id="2" name="TextBox 1">
            <a:extLst>
              <a:ext uri="{FF2B5EF4-FFF2-40B4-BE49-F238E27FC236}">
                <a16:creationId xmlns:a16="http://schemas.microsoft.com/office/drawing/2014/main" id="{E426E33A-DED9-1444-9249-3B5AB9CF0109}"/>
              </a:ext>
            </a:extLst>
          </p:cNvPr>
          <p:cNvSpPr txBox="1"/>
          <p:nvPr/>
        </p:nvSpPr>
        <p:spPr>
          <a:xfrm>
            <a:off x="296438" y="4460481"/>
            <a:ext cx="7609776" cy="646331"/>
          </a:xfrm>
          <a:prstGeom prst="rect">
            <a:avLst/>
          </a:prstGeom>
          <a:noFill/>
        </p:spPr>
        <p:txBody>
          <a:bodyPr wrap="none" rtlCol="0">
            <a:spAutoFit/>
          </a:bodyPr>
          <a:lstStyle/>
          <a:p>
            <a:pPr algn="l" rtl="0"/>
            <a:r>
              <a:rPr lang="en-US" dirty="0">
                <a:solidFill>
                  <a:srgbClr val="0432FF"/>
                </a:solidFill>
              </a:rPr>
              <a:t>L</a:t>
            </a:r>
            <a:r>
              <a:rPr lang="en-IL" dirty="0">
                <a:solidFill>
                  <a:srgbClr val="0432FF"/>
                </a:solidFill>
              </a:rPr>
              <a:t>ike biological neurons, artificial neurons work to process input data and </a:t>
            </a:r>
          </a:p>
          <a:p>
            <a:pPr algn="l" rtl="0"/>
            <a:r>
              <a:rPr lang="en-US" dirty="0">
                <a:solidFill>
                  <a:srgbClr val="0432FF"/>
                </a:solidFill>
              </a:rPr>
              <a:t>G</a:t>
            </a:r>
            <a:r>
              <a:rPr lang="en-IL" dirty="0">
                <a:solidFill>
                  <a:srgbClr val="0432FF"/>
                </a:solidFill>
              </a:rPr>
              <a:t>enerates output, which is fed to the next neurons </a:t>
            </a:r>
          </a:p>
        </p:txBody>
      </p:sp>
    </p:spTree>
    <p:extLst>
      <p:ext uri="{BB962C8B-B14F-4D97-AF65-F5344CB8AC3E}">
        <p14:creationId xmlns:p14="http://schemas.microsoft.com/office/powerpoint/2010/main" val="2882741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object 15"/>
          <p:cNvSpPr txBox="1">
            <a:spLocks noGrp="1"/>
          </p:cNvSpPr>
          <p:nvPr>
            <p:ph type="ftr" sz="quarter" idx="5"/>
          </p:nvPr>
        </p:nvSpPr>
        <p:spPr>
          <a:prstGeom prst="rect">
            <a:avLst/>
          </a:prstGeom>
        </p:spPr>
        <p:txBody>
          <a:bodyPr vert="horz" wrap="square" lIns="0" tIns="24765" rIns="0" bIns="0" rtlCol="0">
            <a:spAutoFit/>
          </a:bodyPr>
          <a:lstStyle/>
          <a:p>
            <a:pPr marL="19685">
              <a:lnSpc>
                <a:spcPct val="100000"/>
              </a:lnSpc>
              <a:spcBef>
                <a:spcPts val="195"/>
              </a:spcBef>
            </a:pPr>
            <a:r>
              <a:rPr dirty="0"/>
              <a:t>Andrew</a:t>
            </a:r>
            <a:r>
              <a:rPr spc="145" dirty="0"/>
              <a:t> </a:t>
            </a:r>
            <a:r>
              <a:rPr spc="-25" dirty="0"/>
              <a:t>Ng</a:t>
            </a:r>
          </a:p>
        </p:txBody>
      </p:sp>
      <p:pic>
        <p:nvPicPr>
          <p:cNvPr id="19" name="Picture 18">
            <a:extLst>
              <a:ext uri="{FF2B5EF4-FFF2-40B4-BE49-F238E27FC236}">
                <a16:creationId xmlns:a16="http://schemas.microsoft.com/office/drawing/2014/main" id="{EA97C13D-9C3E-6B44-97FA-A53C2F2383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26484"/>
            <a:ext cx="7321550" cy="3660775"/>
          </a:xfrm>
          <a:prstGeom prst="rect">
            <a:avLst/>
          </a:prstGeom>
        </p:spPr>
      </p:pic>
      <p:sp>
        <p:nvSpPr>
          <p:cNvPr id="20" name="TextBox 19">
            <a:extLst>
              <a:ext uri="{FF2B5EF4-FFF2-40B4-BE49-F238E27FC236}">
                <a16:creationId xmlns:a16="http://schemas.microsoft.com/office/drawing/2014/main" id="{AD8C59D5-C188-ED42-AF57-9AEE14D201EA}"/>
              </a:ext>
            </a:extLst>
          </p:cNvPr>
          <p:cNvSpPr txBox="1"/>
          <p:nvPr/>
        </p:nvSpPr>
        <p:spPr>
          <a:xfrm>
            <a:off x="308117" y="4204539"/>
            <a:ext cx="7725192" cy="646331"/>
          </a:xfrm>
          <a:prstGeom prst="rect">
            <a:avLst/>
          </a:prstGeom>
          <a:noFill/>
        </p:spPr>
        <p:txBody>
          <a:bodyPr wrap="none" rtlCol="0">
            <a:spAutoFit/>
          </a:bodyPr>
          <a:lstStyle/>
          <a:p>
            <a:pPr algn="l" rtl="0"/>
            <a:r>
              <a:rPr lang="en-IL" dirty="0"/>
              <a:t>Neural netowks are the mechanism that is able to cope with the increaing </a:t>
            </a:r>
          </a:p>
          <a:p>
            <a:pPr algn="l" rtl="0"/>
            <a:r>
              <a:rPr lang="en-US" dirty="0"/>
              <a:t>A</a:t>
            </a:r>
            <a:r>
              <a:rPr lang="en-IL" dirty="0"/>
              <a:t>mmount of data and the faster computing powers</a:t>
            </a:r>
          </a:p>
        </p:txBody>
      </p:sp>
    </p:spTree>
    <p:extLst>
      <p:ext uri="{BB962C8B-B14F-4D97-AF65-F5344CB8AC3E}">
        <p14:creationId xmlns:p14="http://schemas.microsoft.com/office/powerpoint/2010/main" val="69489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4A2C89-E253-2449-89EF-FC68EB5B4E32}"/>
              </a:ext>
            </a:extLst>
          </p:cNvPr>
          <p:cNvSpPr>
            <a:spLocks noGrp="1"/>
          </p:cNvSpPr>
          <p:nvPr>
            <p:ph type="ctrTitle"/>
          </p:nvPr>
        </p:nvSpPr>
        <p:spPr>
          <a:xfrm>
            <a:off x="3118866" y="1171193"/>
            <a:ext cx="5502909" cy="1107996"/>
          </a:xfrm>
        </p:spPr>
        <p:txBody>
          <a:bodyPr/>
          <a:lstStyle/>
          <a:p>
            <a:r>
              <a:rPr lang="en-IL" dirty="0"/>
              <a:t>Neural Network Intution</a:t>
            </a:r>
          </a:p>
        </p:txBody>
      </p:sp>
      <p:sp>
        <p:nvSpPr>
          <p:cNvPr id="5" name="Subtitle 4">
            <a:extLst>
              <a:ext uri="{FF2B5EF4-FFF2-40B4-BE49-F238E27FC236}">
                <a16:creationId xmlns:a16="http://schemas.microsoft.com/office/drawing/2014/main" id="{56D678FC-584F-6D4E-A4B1-D0DBF4B31C65}"/>
              </a:ext>
            </a:extLst>
          </p:cNvPr>
          <p:cNvSpPr>
            <a:spLocks noGrp="1"/>
          </p:cNvSpPr>
          <p:nvPr>
            <p:ph type="subTitle" idx="4"/>
          </p:nvPr>
        </p:nvSpPr>
        <p:spPr>
          <a:xfrm>
            <a:off x="3249929" y="3182048"/>
            <a:ext cx="5357495" cy="615553"/>
          </a:xfrm>
        </p:spPr>
        <p:txBody>
          <a:bodyPr/>
          <a:lstStyle/>
          <a:p>
            <a:pPr marL="0" rtl="0"/>
            <a:r>
              <a:rPr lang="en-IL" sz="4000" dirty="0"/>
              <a:t>Demand Prediction </a:t>
            </a:r>
          </a:p>
        </p:txBody>
      </p:sp>
      <p:sp>
        <p:nvSpPr>
          <p:cNvPr id="2" name="Footer Placeholder 1">
            <a:extLst>
              <a:ext uri="{FF2B5EF4-FFF2-40B4-BE49-F238E27FC236}">
                <a16:creationId xmlns:a16="http://schemas.microsoft.com/office/drawing/2014/main" id="{280DD3C3-EC68-D040-9E2F-41109CE13B43}"/>
              </a:ext>
            </a:extLst>
          </p:cNvPr>
          <p:cNvSpPr>
            <a:spLocks noGrp="1"/>
          </p:cNvSpPr>
          <p:nvPr>
            <p:ph type="ftr" sz="quarter" idx="5"/>
          </p:nvPr>
        </p:nvSpPr>
        <p:spPr/>
        <p:txBody>
          <a:bodyPr/>
          <a:lstStyle/>
          <a:p>
            <a:pPr marL="19685">
              <a:lnSpc>
                <a:spcPct val="100000"/>
              </a:lnSpc>
              <a:spcBef>
                <a:spcPts val="195"/>
              </a:spcBef>
            </a:pPr>
            <a:r>
              <a:rPr lang="en-US"/>
              <a:t>Andrew</a:t>
            </a:r>
            <a:r>
              <a:rPr lang="en-US" spc="145"/>
              <a:t> </a:t>
            </a:r>
            <a:r>
              <a:rPr lang="en-US" spc="-25"/>
              <a:t>Ng</a:t>
            </a:r>
            <a:endParaRPr lang="en-US" spc="-25" dirty="0"/>
          </a:p>
        </p:txBody>
      </p:sp>
    </p:spTree>
    <p:extLst>
      <p:ext uri="{BB962C8B-B14F-4D97-AF65-F5344CB8AC3E}">
        <p14:creationId xmlns:p14="http://schemas.microsoft.com/office/powerpoint/2010/main" val="3058979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E568BFD-6805-FC4F-A60D-AF5CC459D8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438150"/>
            <a:ext cx="8269514" cy="3276600"/>
          </a:xfrm>
          <a:prstGeom prst="rect">
            <a:avLst/>
          </a:prstGeom>
        </p:spPr>
      </p:pic>
      <p:sp>
        <p:nvSpPr>
          <p:cNvPr id="7" name="TextBox 6">
            <a:extLst>
              <a:ext uri="{FF2B5EF4-FFF2-40B4-BE49-F238E27FC236}">
                <a16:creationId xmlns:a16="http://schemas.microsoft.com/office/drawing/2014/main" id="{418A033B-0006-1244-85C3-C13D4CB74583}"/>
              </a:ext>
            </a:extLst>
          </p:cNvPr>
          <p:cNvSpPr txBox="1"/>
          <p:nvPr/>
        </p:nvSpPr>
        <p:spPr>
          <a:xfrm>
            <a:off x="373858" y="3752178"/>
            <a:ext cx="8109912" cy="646331"/>
          </a:xfrm>
          <a:prstGeom prst="rect">
            <a:avLst/>
          </a:prstGeom>
          <a:noFill/>
        </p:spPr>
        <p:txBody>
          <a:bodyPr wrap="none" rtlCol="0">
            <a:spAutoFit/>
          </a:bodyPr>
          <a:lstStyle/>
          <a:p>
            <a:r>
              <a:rPr lang="en-IL" dirty="0">
                <a:solidFill>
                  <a:srgbClr val="0432FF"/>
                </a:solidFill>
              </a:rPr>
              <a:t>The sigmoid function which is used to predict whether a T-shirt is top Seller or</a:t>
            </a:r>
          </a:p>
          <a:p>
            <a:r>
              <a:rPr lang="en-US" dirty="0">
                <a:solidFill>
                  <a:srgbClr val="0432FF"/>
                </a:solidFill>
              </a:rPr>
              <a:t>N</a:t>
            </a:r>
            <a:r>
              <a:rPr lang="en-IL" dirty="0">
                <a:solidFill>
                  <a:srgbClr val="0432FF"/>
                </a:solidFill>
              </a:rPr>
              <a:t>ot (classification) is the work of a single Neurin on Neural Networks</a:t>
            </a:r>
          </a:p>
        </p:txBody>
      </p:sp>
    </p:spTree>
    <p:extLst>
      <p:ext uri="{BB962C8B-B14F-4D97-AF65-F5344CB8AC3E}">
        <p14:creationId xmlns:p14="http://schemas.microsoft.com/office/powerpoint/2010/main" val="1975394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53BFB3-BCB2-0C40-B508-A60CDA0DC2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33350"/>
            <a:ext cx="7276474" cy="3793717"/>
          </a:xfrm>
          <a:prstGeom prst="rect">
            <a:avLst/>
          </a:prstGeom>
        </p:spPr>
      </p:pic>
      <p:sp>
        <p:nvSpPr>
          <p:cNvPr id="5" name="TextBox 4">
            <a:extLst>
              <a:ext uri="{FF2B5EF4-FFF2-40B4-BE49-F238E27FC236}">
                <a16:creationId xmlns:a16="http://schemas.microsoft.com/office/drawing/2014/main" id="{04E25890-7487-D847-BAA1-C83F5FDA298C}"/>
              </a:ext>
            </a:extLst>
          </p:cNvPr>
          <p:cNvSpPr txBox="1"/>
          <p:nvPr/>
        </p:nvSpPr>
        <p:spPr>
          <a:xfrm>
            <a:off x="151559" y="4095750"/>
            <a:ext cx="8840882" cy="923330"/>
          </a:xfrm>
          <a:prstGeom prst="rect">
            <a:avLst/>
          </a:prstGeom>
          <a:noFill/>
        </p:spPr>
        <p:txBody>
          <a:bodyPr wrap="none" rtlCol="0">
            <a:spAutoFit/>
          </a:bodyPr>
          <a:lstStyle/>
          <a:p>
            <a:pPr algn="l" rtl="0"/>
            <a:r>
              <a:rPr lang="en-IL" dirty="0">
                <a:solidFill>
                  <a:srgbClr val="0432FF"/>
                </a:solidFill>
              </a:rPr>
              <a:t>Here each neuron value like affordability is decided by the input features, in this case</a:t>
            </a:r>
          </a:p>
          <a:p>
            <a:pPr algn="l" rtl="0"/>
            <a:r>
              <a:rPr lang="en-US" dirty="0">
                <a:solidFill>
                  <a:srgbClr val="0432FF"/>
                </a:solidFill>
              </a:rPr>
              <a:t>P</a:t>
            </a:r>
            <a:r>
              <a:rPr lang="en-IL" dirty="0">
                <a:solidFill>
                  <a:srgbClr val="0432FF"/>
                </a:solidFill>
              </a:rPr>
              <a:t>rice and shipping cost. The outcome of this neuron is called Activation</a:t>
            </a:r>
          </a:p>
          <a:p>
            <a:pPr algn="l" rtl="0"/>
            <a:endParaRPr lang="en-IL" dirty="0">
              <a:solidFill>
                <a:srgbClr val="0432FF"/>
              </a:solidFill>
            </a:endParaRPr>
          </a:p>
        </p:txBody>
      </p:sp>
    </p:spTree>
    <p:extLst>
      <p:ext uri="{BB962C8B-B14F-4D97-AF65-F5344CB8AC3E}">
        <p14:creationId xmlns:p14="http://schemas.microsoft.com/office/powerpoint/2010/main" val="2337809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37EBD4-AFEE-A44F-BA10-E44CAC1AC6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5912"/>
            <a:ext cx="7086600" cy="3741847"/>
          </a:xfrm>
          <a:prstGeom prst="rect">
            <a:avLst/>
          </a:prstGeom>
        </p:spPr>
      </p:pic>
      <p:sp>
        <p:nvSpPr>
          <p:cNvPr id="5" name="TextBox 4">
            <a:extLst>
              <a:ext uri="{FF2B5EF4-FFF2-40B4-BE49-F238E27FC236}">
                <a16:creationId xmlns:a16="http://schemas.microsoft.com/office/drawing/2014/main" id="{51045070-C4A1-DC47-B971-8CB6835BEBF7}"/>
              </a:ext>
            </a:extLst>
          </p:cNvPr>
          <p:cNvSpPr txBox="1"/>
          <p:nvPr/>
        </p:nvSpPr>
        <p:spPr>
          <a:xfrm>
            <a:off x="152400" y="4171950"/>
            <a:ext cx="8622873" cy="646331"/>
          </a:xfrm>
          <a:prstGeom prst="rect">
            <a:avLst/>
          </a:prstGeom>
          <a:noFill/>
        </p:spPr>
        <p:txBody>
          <a:bodyPr wrap="none" rtlCol="0">
            <a:spAutoFit/>
          </a:bodyPr>
          <a:lstStyle/>
          <a:p>
            <a:pPr algn="l" rtl="0"/>
            <a:r>
              <a:rPr lang="en-IL" dirty="0">
                <a:solidFill>
                  <a:srgbClr val="0432FF"/>
                </a:solidFill>
              </a:rPr>
              <a:t>Instead of deciding the features that affect each node in the hidden layer, we input </a:t>
            </a:r>
          </a:p>
          <a:p>
            <a:pPr algn="l" rtl="0"/>
            <a:r>
              <a:rPr lang="en-US" dirty="0">
                <a:solidFill>
                  <a:srgbClr val="0432FF"/>
                </a:solidFill>
              </a:rPr>
              <a:t>A</a:t>
            </a:r>
            <a:r>
              <a:rPr lang="en-IL" dirty="0">
                <a:solidFill>
                  <a:srgbClr val="0432FF"/>
                </a:solidFill>
              </a:rPr>
              <a:t>ll features to each node and let the nodes decide which features affect them more</a:t>
            </a:r>
          </a:p>
        </p:txBody>
      </p:sp>
    </p:spTree>
    <p:extLst>
      <p:ext uri="{BB962C8B-B14F-4D97-AF65-F5344CB8AC3E}">
        <p14:creationId xmlns:p14="http://schemas.microsoft.com/office/powerpoint/2010/main" val="402394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A1D268-91ED-D644-BDD7-CBFA6858ED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57150"/>
            <a:ext cx="7563637" cy="3886200"/>
          </a:xfrm>
          <a:prstGeom prst="rect">
            <a:avLst/>
          </a:prstGeom>
        </p:spPr>
      </p:pic>
      <p:sp>
        <p:nvSpPr>
          <p:cNvPr id="5" name="TextBox 4">
            <a:extLst>
              <a:ext uri="{FF2B5EF4-FFF2-40B4-BE49-F238E27FC236}">
                <a16:creationId xmlns:a16="http://schemas.microsoft.com/office/drawing/2014/main" id="{75C8CF00-22D0-6841-8E9E-BEDB95706E96}"/>
              </a:ext>
            </a:extLst>
          </p:cNvPr>
          <p:cNvSpPr txBox="1"/>
          <p:nvPr/>
        </p:nvSpPr>
        <p:spPr>
          <a:xfrm>
            <a:off x="381000" y="4171950"/>
            <a:ext cx="8327921" cy="646331"/>
          </a:xfrm>
          <a:prstGeom prst="rect">
            <a:avLst/>
          </a:prstGeom>
          <a:noFill/>
        </p:spPr>
        <p:txBody>
          <a:bodyPr wrap="none" rtlCol="0">
            <a:spAutoFit/>
          </a:bodyPr>
          <a:lstStyle/>
          <a:p>
            <a:r>
              <a:rPr lang="en-US" dirty="0">
                <a:solidFill>
                  <a:srgbClr val="0432FF"/>
                </a:solidFill>
              </a:rPr>
              <a:t>The values of the input layer, the hidden Layer are treated as vectors, while the </a:t>
            </a:r>
          </a:p>
          <a:p>
            <a:r>
              <a:rPr lang="en-US" dirty="0">
                <a:solidFill>
                  <a:srgbClr val="0432FF"/>
                </a:solidFill>
              </a:rPr>
              <a:t>output is a single value </a:t>
            </a:r>
            <a:endParaRPr lang="en-IL" dirty="0">
              <a:solidFill>
                <a:srgbClr val="0432FF"/>
              </a:solidFill>
            </a:endParaRPr>
          </a:p>
        </p:txBody>
      </p:sp>
    </p:spTree>
    <p:extLst>
      <p:ext uri="{BB962C8B-B14F-4D97-AF65-F5344CB8AC3E}">
        <p14:creationId xmlns:p14="http://schemas.microsoft.com/office/powerpoint/2010/main" val="2655515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ABD76C-D785-B742-96EE-D7E4FFF07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09550"/>
            <a:ext cx="7110620" cy="3562350"/>
          </a:xfrm>
          <a:prstGeom prst="rect">
            <a:avLst/>
          </a:prstGeom>
        </p:spPr>
      </p:pic>
      <p:sp>
        <p:nvSpPr>
          <p:cNvPr id="5" name="TextBox 4">
            <a:extLst>
              <a:ext uri="{FF2B5EF4-FFF2-40B4-BE49-F238E27FC236}">
                <a16:creationId xmlns:a16="http://schemas.microsoft.com/office/drawing/2014/main" id="{80A713DD-493C-EA4F-A626-EAD6B6D265CE}"/>
              </a:ext>
            </a:extLst>
          </p:cNvPr>
          <p:cNvSpPr txBox="1"/>
          <p:nvPr/>
        </p:nvSpPr>
        <p:spPr>
          <a:xfrm>
            <a:off x="914400" y="3943350"/>
            <a:ext cx="6979796" cy="400110"/>
          </a:xfrm>
          <a:prstGeom prst="rect">
            <a:avLst/>
          </a:prstGeom>
          <a:noFill/>
        </p:spPr>
        <p:txBody>
          <a:bodyPr wrap="none" rtlCol="0">
            <a:spAutoFit/>
          </a:bodyPr>
          <a:lstStyle/>
          <a:p>
            <a:pPr algn="l" rtl="0"/>
            <a:r>
              <a:rPr lang="en-IL" sz="2000" dirty="0">
                <a:solidFill>
                  <a:srgbClr val="0432FF"/>
                </a:solidFill>
              </a:rPr>
              <a:t>The hidden layer works as one type of Feature Engineering </a:t>
            </a:r>
          </a:p>
        </p:txBody>
      </p:sp>
    </p:spTree>
    <p:extLst>
      <p:ext uri="{BB962C8B-B14F-4D97-AF65-F5344CB8AC3E}">
        <p14:creationId xmlns:p14="http://schemas.microsoft.com/office/powerpoint/2010/main" val="677964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object 35"/>
          <p:cNvSpPr txBox="1">
            <a:spLocks noGrp="1"/>
          </p:cNvSpPr>
          <p:nvPr>
            <p:ph type="ftr" sz="quarter" idx="4294967295"/>
          </p:nvPr>
        </p:nvSpPr>
        <p:spPr>
          <a:xfrm>
            <a:off x="7785100" y="4719462"/>
            <a:ext cx="1022096" cy="279400"/>
          </a:xfrm>
          <a:prstGeom prst="rect">
            <a:avLst/>
          </a:prstGeom>
        </p:spPr>
        <p:txBody>
          <a:bodyPr vert="horz" wrap="square" lIns="0" tIns="24765" rIns="0" bIns="0" rtlCol="0">
            <a:spAutoFit/>
          </a:bodyPr>
          <a:lstStyle/>
          <a:p>
            <a:pPr marL="19685">
              <a:lnSpc>
                <a:spcPct val="100000"/>
              </a:lnSpc>
              <a:spcBef>
                <a:spcPts val="195"/>
              </a:spcBef>
            </a:pPr>
            <a:r>
              <a:rPr dirty="0"/>
              <a:t>Andrew</a:t>
            </a:r>
            <a:r>
              <a:rPr spc="145" dirty="0"/>
              <a:t> </a:t>
            </a:r>
            <a:r>
              <a:rPr spc="-25" dirty="0"/>
              <a:t>Ng</a:t>
            </a:r>
          </a:p>
        </p:txBody>
      </p:sp>
      <p:pic>
        <p:nvPicPr>
          <p:cNvPr id="3" name="Picture 2">
            <a:extLst>
              <a:ext uri="{FF2B5EF4-FFF2-40B4-BE49-F238E27FC236}">
                <a16:creationId xmlns:a16="http://schemas.microsoft.com/office/drawing/2014/main" id="{DE78DA7A-3823-1849-8D6A-A784B78378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042" y="209550"/>
            <a:ext cx="8097915" cy="4125353"/>
          </a:xfrm>
          <a:prstGeom prst="rect">
            <a:avLst/>
          </a:prstGeom>
        </p:spPr>
      </p:pic>
      <p:sp>
        <p:nvSpPr>
          <p:cNvPr id="2" name="TextBox 1">
            <a:extLst>
              <a:ext uri="{FF2B5EF4-FFF2-40B4-BE49-F238E27FC236}">
                <a16:creationId xmlns:a16="http://schemas.microsoft.com/office/drawing/2014/main" id="{54753342-4578-9B4A-8032-9EB64C914DB8}"/>
              </a:ext>
            </a:extLst>
          </p:cNvPr>
          <p:cNvSpPr txBox="1"/>
          <p:nvPr/>
        </p:nvSpPr>
        <p:spPr>
          <a:xfrm>
            <a:off x="164796" y="4352531"/>
            <a:ext cx="8456161" cy="646331"/>
          </a:xfrm>
          <a:prstGeom prst="rect">
            <a:avLst/>
          </a:prstGeom>
          <a:noFill/>
        </p:spPr>
        <p:txBody>
          <a:bodyPr wrap="none" rtlCol="0">
            <a:spAutoFit/>
          </a:bodyPr>
          <a:lstStyle/>
          <a:p>
            <a:pPr algn="l" rtl="0"/>
            <a:r>
              <a:rPr lang="en-US" dirty="0"/>
              <a:t>Neural Networks might have more neurons in a hidden layer, and more than one </a:t>
            </a:r>
          </a:p>
          <a:p>
            <a:pPr algn="l" rtl="0"/>
            <a:r>
              <a:rPr lang="en-US" dirty="0"/>
              <a:t>Hidden layer</a:t>
            </a:r>
            <a:endParaRPr lang="en-IL" dirty="0"/>
          </a:p>
        </p:txBody>
      </p:sp>
    </p:spTree>
    <p:extLst>
      <p:ext uri="{BB962C8B-B14F-4D97-AF65-F5344CB8AC3E}">
        <p14:creationId xmlns:p14="http://schemas.microsoft.com/office/powerpoint/2010/main" val="3783722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D7CEF1-2765-2846-B16C-2E10489FF70A}"/>
              </a:ext>
            </a:extLst>
          </p:cNvPr>
          <p:cNvSpPr>
            <a:spLocks noGrp="1"/>
          </p:cNvSpPr>
          <p:nvPr>
            <p:ph type="ctrTitle"/>
          </p:nvPr>
        </p:nvSpPr>
        <p:spPr>
          <a:xfrm>
            <a:off x="3104515" y="853456"/>
            <a:ext cx="5502909" cy="1107996"/>
          </a:xfrm>
        </p:spPr>
        <p:txBody>
          <a:bodyPr/>
          <a:lstStyle/>
          <a:p>
            <a:r>
              <a:rPr lang="en-IL" dirty="0"/>
              <a:t>Neural Networks Intuition</a:t>
            </a:r>
          </a:p>
        </p:txBody>
      </p:sp>
      <p:sp>
        <p:nvSpPr>
          <p:cNvPr id="4" name="Subtitle 3">
            <a:extLst>
              <a:ext uri="{FF2B5EF4-FFF2-40B4-BE49-F238E27FC236}">
                <a16:creationId xmlns:a16="http://schemas.microsoft.com/office/drawing/2014/main" id="{D8E8C9D6-A1C0-5943-9851-DB1C3ADCB13B}"/>
              </a:ext>
            </a:extLst>
          </p:cNvPr>
          <p:cNvSpPr>
            <a:spLocks noGrp="1"/>
          </p:cNvSpPr>
          <p:nvPr>
            <p:ph type="subTitle" idx="4"/>
          </p:nvPr>
        </p:nvSpPr>
        <p:spPr>
          <a:xfrm>
            <a:off x="3249929" y="3182048"/>
            <a:ext cx="5357495" cy="1107996"/>
          </a:xfrm>
        </p:spPr>
        <p:txBody>
          <a:bodyPr/>
          <a:lstStyle/>
          <a:p>
            <a:pPr marL="0" rtl="0"/>
            <a:r>
              <a:rPr lang="en-IL" sz="3600" dirty="0"/>
              <a:t>Example: Recognizing images</a:t>
            </a:r>
          </a:p>
        </p:txBody>
      </p:sp>
      <p:sp>
        <p:nvSpPr>
          <p:cNvPr id="2" name="Footer Placeholder 1">
            <a:extLst>
              <a:ext uri="{FF2B5EF4-FFF2-40B4-BE49-F238E27FC236}">
                <a16:creationId xmlns:a16="http://schemas.microsoft.com/office/drawing/2014/main" id="{83BBA193-13D0-E545-93DD-E4849A37C0CD}"/>
              </a:ext>
            </a:extLst>
          </p:cNvPr>
          <p:cNvSpPr>
            <a:spLocks noGrp="1"/>
          </p:cNvSpPr>
          <p:nvPr>
            <p:ph type="ftr" sz="quarter" idx="5"/>
          </p:nvPr>
        </p:nvSpPr>
        <p:spPr/>
        <p:txBody>
          <a:bodyPr/>
          <a:lstStyle/>
          <a:p>
            <a:pPr marL="19685">
              <a:lnSpc>
                <a:spcPct val="100000"/>
              </a:lnSpc>
              <a:spcBef>
                <a:spcPts val="195"/>
              </a:spcBef>
            </a:pPr>
            <a:r>
              <a:rPr lang="en-US" dirty="0"/>
              <a:t>Andrew</a:t>
            </a:r>
            <a:r>
              <a:rPr lang="en-US" spc="145" dirty="0"/>
              <a:t> </a:t>
            </a:r>
            <a:r>
              <a:rPr lang="en-US" spc="-25" dirty="0"/>
              <a:t>Ng</a:t>
            </a:r>
          </a:p>
        </p:txBody>
      </p:sp>
    </p:spTree>
    <p:extLst>
      <p:ext uri="{BB962C8B-B14F-4D97-AF65-F5344CB8AC3E}">
        <p14:creationId xmlns:p14="http://schemas.microsoft.com/office/powerpoint/2010/main" val="1810890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C16227-0BC3-1443-9E41-6B60B445F0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33350"/>
            <a:ext cx="8343448" cy="4114800"/>
          </a:xfrm>
          <a:prstGeom prst="rect">
            <a:avLst/>
          </a:prstGeom>
        </p:spPr>
      </p:pic>
    </p:spTree>
    <p:extLst>
      <p:ext uri="{BB962C8B-B14F-4D97-AF65-F5344CB8AC3E}">
        <p14:creationId xmlns:p14="http://schemas.microsoft.com/office/powerpoint/2010/main" val="995876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FD7E67-03A0-DE43-8935-BA96DA3BCC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33350"/>
            <a:ext cx="8213834" cy="3657600"/>
          </a:xfrm>
          <a:prstGeom prst="rect">
            <a:avLst/>
          </a:prstGeom>
        </p:spPr>
      </p:pic>
      <p:sp>
        <p:nvSpPr>
          <p:cNvPr id="5" name="TextBox 4">
            <a:extLst>
              <a:ext uri="{FF2B5EF4-FFF2-40B4-BE49-F238E27FC236}">
                <a16:creationId xmlns:a16="http://schemas.microsoft.com/office/drawing/2014/main" id="{E96634E2-C091-6241-A4D2-3F63B094C2AB}"/>
              </a:ext>
            </a:extLst>
          </p:cNvPr>
          <p:cNvSpPr txBox="1"/>
          <p:nvPr/>
        </p:nvSpPr>
        <p:spPr>
          <a:xfrm>
            <a:off x="457200" y="4086820"/>
            <a:ext cx="8077200" cy="923330"/>
          </a:xfrm>
          <a:prstGeom prst="rect">
            <a:avLst/>
          </a:prstGeom>
          <a:noFill/>
        </p:spPr>
        <p:txBody>
          <a:bodyPr wrap="square">
            <a:spAutoFit/>
          </a:bodyPr>
          <a:lstStyle/>
          <a:p>
            <a:pPr algn="l" rtl="0"/>
            <a:r>
              <a:rPr lang="en-US" dirty="0"/>
              <a:t>A neural network recognizes faces by turning pixels into numbers and learning features step by step, from simple edges to full face patterns, until it predicts the probability of a specific person.</a:t>
            </a:r>
            <a:endParaRPr lang="en-IL" dirty="0"/>
          </a:p>
        </p:txBody>
      </p:sp>
    </p:spTree>
    <p:extLst>
      <p:ext uri="{BB962C8B-B14F-4D97-AF65-F5344CB8AC3E}">
        <p14:creationId xmlns:p14="http://schemas.microsoft.com/office/powerpoint/2010/main" val="2371351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463825-F1D7-0241-8A9F-7E6E9BBA6F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199" y="133350"/>
            <a:ext cx="8317149" cy="3810000"/>
          </a:xfrm>
          <a:prstGeom prst="rect">
            <a:avLst/>
          </a:prstGeom>
        </p:spPr>
      </p:pic>
      <p:sp>
        <p:nvSpPr>
          <p:cNvPr id="5" name="TextBox 4">
            <a:extLst>
              <a:ext uri="{FF2B5EF4-FFF2-40B4-BE49-F238E27FC236}">
                <a16:creationId xmlns:a16="http://schemas.microsoft.com/office/drawing/2014/main" id="{287805D5-C472-914E-8508-8D4792F22BAD}"/>
              </a:ext>
            </a:extLst>
          </p:cNvPr>
          <p:cNvSpPr txBox="1"/>
          <p:nvPr/>
        </p:nvSpPr>
        <p:spPr>
          <a:xfrm>
            <a:off x="158073" y="4209192"/>
            <a:ext cx="8915400" cy="646331"/>
          </a:xfrm>
          <a:prstGeom prst="rect">
            <a:avLst/>
          </a:prstGeom>
          <a:noFill/>
        </p:spPr>
        <p:txBody>
          <a:bodyPr wrap="square">
            <a:spAutoFit/>
          </a:bodyPr>
          <a:lstStyle/>
          <a:p>
            <a:pPr algn="l" rtl="0"/>
            <a:r>
              <a:rPr lang="en-US" dirty="0"/>
              <a:t>A neural network classifies cars by learning visual features gradually from pixels to car parts, then using these features to predict the probability that a car is present.</a:t>
            </a:r>
            <a:endParaRPr lang="en-IL" dirty="0"/>
          </a:p>
        </p:txBody>
      </p:sp>
    </p:spTree>
    <p:extLst>
      <p:ext uri="{BB962C8B-B14F-4D97-AF65-F5344CB8AC3E}">
        <p14:creationId xmlns:p14="http://schemas.microsoft.com/office/powerpoint/2010/main" val="1621692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67D51A-0DE5-2C42-8C9D-510D0C47B662}"/>
              </a:ext>
            </a:extLst>
          </p:cNvPr>
          <p:cNvSpPr>
            <a:spLocks noGrp="1"/>
          </p:cNvSpPr>
          <p:nvPr>
            <p:ph type="ctrTitle"/>
          </p:nvPr>
        </p:nvSpPr>
        <p:spPr>
          <a:xfrm>
            <a:off x="3118866" y="1171193"/>
            <a:ext cx="5502909" cy="553998"/>
          </a:xfrm>
        </p:spPr>
        <p:txBody>
          <a:bodyPr/>
          <a:lstStyle/>
          <a:p>
            <a:r>
              <a:rPr lang="en-IL" dirty="0"/>
              <a:t>Neural Network Model</a:t>
            </a:r>
          </a:p>
        </p:txBody>
      </p:sp>
      <p:sp>
        <p:nvSpPr>
          <p:cNvPr id="4" name="Subtitle 3">
            <a:extLst>
              <a:ext uri="{FF2B5EF4-FFF2-40B4-BE49-F238E27FC236}">
                <a16:creationId xmlns:a16="http://schemas.microsoft.com/office/drawing/2014/main" id="{A74D6C12-9C7C-DB41-9934-245A57C6153C}"/>
              </a:ext>
            </a:extLst>
          </p:cNvPr>
          <p:cNvSpPr>
            <a:spLocks noGrp="1"/>
          </p:cNvSpPr>
          <p:nvPr>
            <p:ph type="subTitle" idx="4"/>
          </p:nvPr>
        </p:nvSpPr>
        <p:spPr>
          <a:xfrm>
            <a:off x="3110628" y="2906817"/>
            <a:ext cx="5357495" cy="492443"/>
          </a:xfrm>
        </p:spPr>
        <p:txBody>
          <a:bodyPr/>
          <a:lstStyle/>
          <a:p>
            <a:pPr marL="0" algn="ctr" rtl="0"/>
            <a:r>
              <a:rPr lang="en-IL" sz="3200" dirty="0"/>
              <a:t>Neural Network Layer</a:t>
            </a:r>
          </a:p>
        </p:txBody>
      </p:sp>
    </p:spTree>
    <p:extLst>
      <p:ext uri="{BB962C8B-B14F-4D97-AF65-F5344CB8AC3E}">
        <p14:creationId xmlns:p14="http://schemas.microsoft.com/office/powerpoint/2010/main" val="1218290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object 35"/>
          <p:cNvSpPr txBox="1">
            <a:spLocks noGrp="1"/>
          </p:cNvSpPr>
          <p:nvPr>
            <p:ph type="ftr" sz="quarter" idx="4294967295"/>
          </p:nvPr>
        </p:nvSpPr>
        <p:spPr>
          <a:xfrm>
            <a:off x="7785100" y="4719462"/>
            <a:ext cx="1022096" cy="279400"/>
          </a:xfrm>
          <a:prstGeom prst="rect">
            <a:avLst/>
          </a:prstGeom>
        </p:spPr>
        <p:txBody>
          <a:bodyPr vert="horz" wrap="square" lIns="0" tIns="24765" rIns="0" bIns="0" rtlCol="0">
            <a:spAutoFit/>
          </a:bodyPr>
          <a:lstStyle/>
          <a:p>
            <a:pPr marL="19685">
              <a:lnSpc>
                <a:spcPct val="100000"/>
              </a:lnSpc>
              <a:spcBef>
                <a:spcPts val="195"/>
              </a:spcBef>
            </a:pPr>
            <a:r>
              <a:rPr dirty="0"/>
              <a:t>Andrew</a:t>
            </a:r>
            <a:r>
              <a:rPr spc="145" dirty="0"/>
              <a:t> </a:t>
            </a:r>
            <a:r>
              <a:rPr spc="-25" dirty="0"/>
              <a:t>Ng</a:t>
            </a:r>
          </a:p>
        </p:txBody>
      </p:sp>
      <p:pic>
        <p:nvPicPr>
          <p:cNvPr id="6" name="Picture 5">
            <a:extLst>
              <a:ext uri="{FF2B5EF4-FFF2-40B4-BE49-F238E27FC236}">
                <a16:creationId xmlns:a16="http://schemas.microsoft.com/office/drawing/2014/main" id="{2673B6F0-A35F-3442-9E50-4B73ABF6B7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33350"/>
            <a:ext cx="8626207" cy="4114800"/>
          </a:xfrm>
          <a:prstGeom prst="rect">
            <a:avLst/>
          </a:prstGeom>
        </p:spPr>
      </p:pic>
      <p:sp>
        <p:nvSpPr>
          <p:cNvPr id="5" name="TextBox 4">
            <a:extLst>
              <a:ext uri="{FF2B5EF4-FFF2-40B4-BE49-F238E27FC236}">
                <a16:creationId xmlns:a16="http://schemas.microsoft.com/office/drawing/2014/main" id="{180FBCDE-4EEB-A347-B8B6-96C6719351EC}"/>
              </a:ext>
            </a:extLst>
          </p:cNvPr>
          <p:cNvSpPr txBox="1"/>
          <p:nvPr/>
        </p:nvSpPr>
        <p:spPr>
          <a:xfrm>
            <a:off x="258896" y="4338722"/>
            <a:ext cx="8626207" cy="584775"/>
          </a:xfrm>
          <a:prstGeom prst="rect">
            <a:avLst/>
          </a:prstGeom>
          <a:noFill/>
        </p:spPr>
        <p:txBody>
          <a:bodyPr wrap="square">
            <a:spAutoFit/>
          </a:bodyPr>
          <a:lstStyle/>
          <a:p>
            <a:pPr algn="l" rtl="0"/>
            <a:r>
              <a:rPr lang="en-US" sz="1600" dirty="0">
                <a:solidFill>
                  <a:srgbClr val="111AFE"/>
                </a:solidFill>
              </a:rPr>
              <a:t>A neural network layer takes an input vector, applies weights, adds bias, uses an activation function, and produces a vector of activation values that is passed to the next layer.</a:t>
            </a:r>
            <a:endParaRPr lang="en-IL" sz="1600" dirty="0">
              <a:solidFill>
                <a:srgbClr val="111AFE"/>
              </a:solidFill>
            </a:endParaRPr>
          </a:p>
        </p:txBody>
      </p:sp>
    </p:spTree>
    <p:extLst>
      <p:ext uri="{BB962C8B-B14F-4D97-AF65-F5344CB8AC3E}">
        <p14:creationId xmlns:p14="http://schemas.microsoft.com/office/powerpoint/2010/main" val="2818614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BE0FBCF-5C7A-8B49-9DD2-2554AE8A1D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196850"/>
            <a:ext cx="4597400" cy="2679700"/>
          </a:xfrm>
          <a:prstGeom prst="rect">
            <a:avLst/>
          </a:prstGeom>
        </p:spPr>
      </p:pic>
      <p:pic>
        <p:nvPicPr>
          <p:cNvPr id="8" name="Picture 7">
            <a:extLst>
              <a:ext uri="{FF2B5EF4-FFF2-40B4-BE49-F238E27FC236}">
                <a16:creationId xmlns:a16="http://schemas.microsoft.com/office/drawing/2014/main" id="{0AAE8845-43AC-074A-B866-5036215F05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2952750"/>
            <a:ext cx="8604250" cy="1524000"/>
          </a:xfrm>
          <a:prstGeom prst="rect">
            <a:avLst/>
          </a:prstGeom>
        </p:spPr>
      </p:pic>
    </p:spTree>
    <p:extLst>
      <p:ext uri="{BB962C8B-B14F-4D97-AF65-F5344CB8AC3E}">
        <p14:creationId xmlns:p14="http://schemas.microsoft.com/office/powerpoint/2010/main" val="1533211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object 35"/>
          <p:cNvSpPr txBox="1">
            <a:spLocks noGrp="1"/>
          </p:cNvSpPr>
          <p:nvPr>
            <p:ph type="ftr" sz="quarter" idx="4294967295"/>
          </p:nvPr>
        </p:nvSpPr>
        <p:spPr>
          <a:xfrm>
            <a:off x="7785100" y="4719462"/>
            <a:ext cx="1022096" cy="279400"/>
          </a:xfrm>
          <a:prstGeom prst="rect">
            <a:avLst/>
          </a:prstGeom>
        </p:spPr>
        <p:txBody>
          <a:bodyPr vert="horz" wrap="square" lIns="0" tIns="24765" rIns="0" bIns="0" rtlCol="0">
            <a:spAutoFit/>
          </a:bodyPr>
          <a:lstStyle/>
          <a:p>
            <a:pPr marL="19685">
              <a:lnSpc>
                <a:spcPct val="100000"/>
              </a:lnSpc>
              <a:spcBef>
                <a:spcPts val="195"/>
              </a:spcBef>
            </a:pPr>
            <a:r>
              <a:rPr dirty="0"/>
              <a:t>Andrew</a:t>
            </a:r>
            <a:r>
              <a:rPr spc="145" dirty="0"/>
              <a:t> </a:t>
            </a:r>
            <a:r>
              <a:rPr spc="-25" dirty="0"/>
              <a:t>Ng</a:t>
            </a:r>
          </a:p>
        </p:txBody>
      </p:sp>
      <p:pic>
        <p:nvPicPr>
          <p:cNvPr id="5" name="Picture 4">
            <a:extLst>
              <a:ext uri="{FF2B5EF4-FFF2-40B4-BE49-F238E27FC236}">
                <a16:creationId xmlns:a16="http://schemas.microsoft.com/office/drawing/2014/main" id="{300FCEA9-230C-F64E-9C9B-63961B56FE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44638"/>
            <a:ext cx="8001001" cy="3887634"/>
          </a:xfrm>
          <a:prstGeom prst="rect">
            <a:avLst/>
          </a:prstGeom>
        </p:spPr>
      </p:pic>
      <p:sp>
        <p:nvSpPr>
          <p:cNvPr id="6" name="TextBox 5">
            <a:extLst>
              <a:ext uri="{FF2B5EF4-FFF2-40B4-BE49-F238E27FC236}">
                <a16:creationId xmlns:a16="http://schemas.microsoft.com/office/drawing/2014/main" id="{F3F907FC-91D2-0046-8B83-B207BD1EB626}"/>
              </a:ext>
            </a:extLst>
          </p:cNvPr>
          <p:cNvSpPr txBox="1"/>
          <p:nvPr/>
        </p:nvSpPr>
        <p:spPr>
          <a:xfrm>
            <a:off x="76200" y="4212831"/>
            <a:ext cx="8991600" cy="646331"/>
          </a:xfrm>
          <a:prstGeom prst="rect">
            <a:avLst/>
          </a:prstGeom>
          <a:noFill/>
        </p:spPr>
        <p:txBody>
          <a:bodyPr wrap="square">
            <a:spAutoFit/>
          </a:bodyPr>
          <a:lstStyle/>
          <a:p>
            <a:pPr algn="l" rtl="0"/>
            <a:r>
              <a:rPr lang="en-US" dirty="0"/>
              <a:t>A single neuron in the output layer combines inputs with weights and bias, applies the activation function, and produces one scalar value that represents the final prediction.</a:t>
            </a:r>
            <a:endParaRPr lang="en-IL" dirty="0"/>
          </a:p>
        </p:txBody>
      </p:sp>
    </p:spTree>
    <p:extLst>
      <p:ext uri="{BB962C8B-B14F-4D97-AF65-F5344CB8AC3E}">
        <p14:creationId xmlns:p14="http://schemas.microsoft.com/office/powerpoint/2010/main" val="387329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CB6654-C057-B44A-A7EF-F793ED8A5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09550"/>
            <a:ext cx="8093987" cy="3581400"/>
          </a:xfrm>
          <a:prstGeom prst="rect">
            <a:avLst/>
          </a:prstGeom>
        </p:spPr>
      </p:pic>
      <p:sp>
        <p:nvSpPr>
          <p:cNvPr id="5" name="TextBox 4">
            <a:extLst>
              <a:ext uri="{FF2B5EF4-FFF2-40B4-BE49-F238E27FC236}">
                <a16:creationId xmlns:a16="http://schemas.microsoft.com/office/drawing/2014/main" id="{AC9C2D35-F566-2F4B-BCBE-9F7F9D1A6B1D}"/>
              </a:ext>
            </a:extLst>
          </p:cNvPr>
          <p:cNvSpPr txBox="1"/>
          <p:nvPr/>
        </p:nvSpPr>
        <p:spPr>
          <a:xfrm>
            <a:off x="228600" y="4019550"/>
            <a:ext cx="8246387" cy="646331"/>
          </a:xfrm>
          <a:prstGeom prst="rect">
            <a:avLst/>
          </a:prstGeom>
          <a:noFill/>
        </p:spPr>
        <p:txBody>
          <a:bodyPr wrap="square">
            <a:spAutoFit/>
          </a:bodyPr>
          <a:lstStyle/>
          <a:p>
            <a:pPr algn="l" rtl="0"/>
            <a:r>
              <a:rPr lang="en-US" dirty="0"/>
              <a:t>The output layer converts the activation value into a final yes/no decision by comparing the predicted probability to a threshold (such as 0.5).</a:t>
            </a:r>
            <a:endParaRPr lang="en-IL" dirty="0"/>
          </a:p>
        </p:txBody>
      </p:sp>
    </p:spTree>
    <p:extLst>
      <p:ext uri="{BB962C8B-B14F-4D97-AF65-F5344CB8AC3E}">
        <p14:creationId xmlns:p14="http://schemas.microsoft.com/office/powerpoint/2010/main" val="3308914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4A9D75-2AAB-E340-902B-D16783DF8ED3}"/>
              </a:ext>
            </a:extLst>
          </p:cNvPr>
          <p:cNvSpPr>
            <a:spLocks noGrp="1"/>
          </p:cNvSpPr>
          <p:nvPr>
            <p:ph type="ctrTitle"/>
          </p:nvPr>
        </p:nvSpPr>
        <p:spPr>
          <a:xfrm>
            <a:off x="3118866" y="1171193"/>
            <a:ext cx="5502909" cy="553998"/>
          </a:xfrm>
        </p:spPr>
        <p:txBody>
          <a:bodyPr/>
          <a:lstStyle/>
          <a:p>
            <a:r>
              <a:rPr lang="en-IL" dirty="0"/>
              <a:t>Neural Network Model</a:t>
            </a:r>
          </a:p>
        </p:txBody>
      </p:sp>
      <p:sp>
        <p:nvSpPr>
          <p:cNvPr id="4" name="Subtitle 3">
            <a:extLst>
              <a:ext uri="{FF2B5EF4-FFF2-40B4-BE49-F238E27FC236}">
                <a16:creationId xmlns:a16="http://schemas.microsoft.com/office/drawing/2014/main" id="{A4850CDC-E531-114A-8432-1E0AC97E3185}"/>
              </a:ext>
            </a:extLst>
          </p:cNvPr>
          <p:cNvSpPr>
            <a:spLocks noGrp="1"/>
          </p:cNvSpPr>
          <p:nvPr>
            <p:ph type="subTitle" idx="4"/>
          </p:nvPr>
        </p:nvSpPr>
        <p:spPr>
          <a:xfrm>
            <a:off x="2732784" y="2864312"/>
            <a:ext cx="6275071" cy="553998"/>
          </a:xfrm>
        </p:spPr>
        <p:txBody>
          <a:bodyPr/>
          <a:lstStyle/>
          <a:p>
            <a:pPr marL="0" rtl="0"/>
            <a:r>
              <a:rPr lang="en-IL" sz="3600" dirty="0"/>
              <a:t>More Complex Neural Networks</a:t>
            </a:r>
          </a:p>
        </p:txBody>
      </p:sp>
      <p:sp>
        <p:nvSpPr>
          <p:cNvPr id="2" name="Footer Placeholder 1">
            <a:extLst>
              <a:ext uri="{FF2B5EF4-FFF2-40B4-BE49-F238E27FC236}">
                <a16:creationId xmlns:a16="http://schemas.microsoft.com/office/drawing/2014/main" id="{81F149AA-557B-2649-BD45-B24E26096CD8}"/>
              </a:ext>
            </a:extLst>
          </p:cNvPr>
          <p:cNvSpPr>
            <a:spLocks noGrp="1"/>
          </p:cNvSpPr>
          <p:nvPr>
            <p:ph type="ftr" sz="quarter" idx="5"/>
          </p:nvPr>
        </p:nvSpPr>
        <p:spPr/>
        <p:txBody>
          <a:bodyPr/>
          <a:lstStyle/>
          <a:p>
            <a:pPr marL="19685">
              <a:lnSpc>
                <a:spcPct val="100000"/>
              </a:lnSpc>
              <a:spcBef>
                <a:spcPts val="195"/>
              </a:spcBef>
            </a:pPr>
            <a:r>
              <a:rPr lang="en-US"/>
              <a:t>Andrew</a:t>
            </a:r>
            <a:r>
              <a:rPr lang="en-US" spc="145"/>
              <a:t> </a:t>
            </a:r>
            <a:r>
              <a:rPr lang="en-US" spc="-25"/>
              <a:t>Ng</a:t>
            </a:r>
            <a:endParaRPr lang="en-US" spc="-25" dirty="0"/>
          </a:p>
        </p:txBody>
      </p:sp>
    </p:spTree>
    <p:extLst>
      <p:ext uri="{BB962C8B-B14F-4D97-AF65-F5344CB8AC3E}">
        <p14:creationId xmlns:p14="http://schemas.microsoft.com/office/powerpoint/2010/main" val="1905651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2A271F-709F-AB4F-8FA5-B1C87B14D1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499" y="57150"/>
            <a:ext cx="7391401" cy="4144711"/>
          </a:xfrm>
          <a:prstGeom prst="rect">
            <a:avLst/>
          </a:prstGeom>
        </p:spPr>
      </p:pic>
      <p:sp>
        <p:nvSpPr>
          <p:cNvPr id="5" name="TextBox 4">
            <a:extLst>
              <a:ext uri="{FF2B5EF4-FFF2-40B4-BE49-F238E27FC236}">
                <a16:creationId xmlns:a16="http://schemas.microsoft.com/office/drawing/2014/main" id="{8293203C-339C-6344-A01C-F103685EAD9E}"/>
              </a:ext>
            </a:extLst>
          </p:cNvPr>
          <p:cNvSpPr txBox="1"/>
          <p:nvPr/>
        </p:nvSpPr>
        <p:spPr>
          <a:xfrm>
            <a:off x="0" y="4400550"/>
            <a:ext cx="8991600" cy="646331"/>
          </a:xfrm>
          <a:prstGeom prst="rect">
            <a:avLst/>
          </a:prstGeom>
          <a:noFill/>
        </p:spPr>
        <p:txBody>
          <a:bodyPr wrap="square">
            <a:spAutoFit/>
          </a:bodyPr>
          <a:lstStyle/>
          <a:p>
            <a:r>
              <a:rPr lang="en-US" dirty="0"/>
              <a:t>A more complex neural network uses multiple hidden layers to transform the input step by step into higher-level features before producing the final output.</a:t>
            </a:r>
          </a:p>
        </p:txBody>
      </p:sp>
    </p:spTree>
    <p:extLst>
      <p:ext uri="{BB962C8B-B14F-4D97-AF65-F5344CB8AC3E}">
        <p14:creationId xmlns:p14="http://schemas.microsoft.com/office/powerpoint/2010/main" val="916380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070DCB-6C2C-A44F-94EB-6A0CB89B2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68" y="133350"/>
            <a:ext cx="8748832" cy="4038600"/>
          </a:xfrm>
          <a:prstGeom prst="rect">
            <a:avLst/>
          </a:prstGeom>
        </p:spPr>
      </p:pic>
      <p:sp>
        <p:nvSpPr>
          <p:cNvPr id="5" name="TextBox 4">
            <a:extLst>
              <a:ext uri="{FF2B5EF4-FFF2-40B4-BE49-F238E27FC236}">
                <a16:creationId xmlns:a16="http://schemas.microsoft.com/office/drawing/2014/main" id="{BD37118B-B33F-C24F-A6CA-A990B5CF70D7}"/>
              </a:ext>
            </a:extLst>
          </p:cNvPr>
          <p:cNvSpPr txBox="1"/>
          <p:nvPr/>
        </p:nvSpPr>
        <p:spPr>
          <a:xfrm>
            <a:off x="197584" y="4019550"/>
            <a:ext cx="8748832" cy="923330"/>
          </a:xfrm>
          <a:prstGeom prst="rect">
            <a:avLst/>
          </a:prstGeom>
          <a:noFill/>
        </p:spPr>
        <p:txBody>
          <a:bodyPr wrap="square">
            <a:spAutoFit/>
          </a:bodyPr>
          <a:lstStyle/>
          <a:p>
            <a:pPr algn="l" rtl="0"/>
            <a:r>
              <a:rPr lang="en-US" dirty="0"/>
              <a:t>Each hidden layer applies the same neuron computation in parallel to produce an activation vector, which is passed forward to build deeper and more powerful representations.</a:t>
            </a:r>
            <a:endParaRPr lang="en-IL" dirty="0"/>
          </a:p>
        </p:txBody>
      </p:sp>
    </p:spTree>
    <p:extLst>
      <p:ext uri="{BB962C8B-B14F-4D97-AF65-F5344CB8AC3E}">
        <p14:creationId xmlns:p14="http://schemas.microsoft.com/office/powerpoint/2010/main" val="510239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650671-BFEC-E14F-998E-A60068ECE0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555" y="0"/>
            <a:ext cx="8848045" cy="3886200"/>
          </a:xfrm>
          <a:prstGeom prst="rect">
            <a:avLst/>
          </a:prstGeom>
        </p:spPr>
      </p:pic>
      <p:sp>
        <p:nvSpPr>
          <p:cNvPr id="4" name="TextBox 3">
            <a:extLst>
              <a:ext uri="{FF2B5EF4-FFF2-40B4-BE49-F238E27FC236}">
                <a16:creationId xmlns:a16="http://schemas.microsoft.com/office/drawing/2014/main" id="{CD201E21-5DDC-3045-8CBA-35337AE5FA56}"/>
              </a:ext>
            </a:extLst>
          </p:cNvPr>
          <p:cNvSpPr txBox="1"/>
          <p:nvPr/>
        </p:nvSpPr>
        <p:spPr>
          <a:xfrm>
            <a:off x="147977" y="4095750"/>
            <a:ext cx="8848045" cy="646331"/>
          </a:xfrm>
          <a:prstGeom prst="rect">
            <a:avLst/>
          </a:prstGeom>
          <a:noFill/>
        </p:spPr>
        <p:txBody>
          <a:bodyPr wrap="square">
            <a:spAutoFit/>
          </a:bodyPr>
          <a:lstStyle/>
          <a:p>
            <a:r>
              <a:rPr lang="en-US" dirty="0"/>
              <a:t>This slide summarizes neural network notation, showing how activations, weights, and biases are indexed by layer and neuron using subscripts and superscripts.</a:t>
            </a:r>
          </a:p>
        </p:txBody>
      </p:sp>
    </p:spTree>
    <p:extLst>
      <p:ext uri="{BB962C8B-B14F-4D97-AF65-F5344CB8AC3E}">
        <p14:creationId xmlns:p14="http://schemas.microsoft.com/office/powerpoint/2010/main" val="2045099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409B0F-C5FC-6E4A-B3BA-E925DFBA9D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70" y="85725"/>
            <a:ext cx="8247753" cy="4972050"/>
          </a:xfrm>
          <a:prstGeom prst="rect">
            <a:avLst/>
          </a:prstGeom>
        </p:spPr>
      </p:pic>
      <p:sp>
        <p:nvSpPr>
          <p:cNvPr id="6" name="Oval 5">
            <a:extLst>
              <a:ext uri="{FF2B5EF4-FFF2-40B4-BE49-F238E27FC236}">
                <a16:creationId xmlns:a16="http://schemas.microsoft.com/office/drawing/2014/main" id="{171606E2-26FB-B14A-B584-CC5CE9381369}"/>
              </a:ext>
            </a:extLst>
          </p:cNvPr>
          <p:cNvSpPr/>
          <p:nvPr/>
        </p:nvSpPr>
        <p:spPr>
          <a:xfrm>
            <a:off x="3810000" y="1047750"/>
            <a:ext cx="3810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cxnSp>
        <p:nvCxnSpPr>
          <p:cNvPr id="8" name="Straight Arrow Connector 7">
            <a:extLst>
              <a:ext uri="{FF2B5EF4-FFF2-40B4-BE49-F238E27FC236}">
                <a16:creationId xmlns:a16="http://schemas.microsoft.com/office/drawing/2014/main" id="{19681BB6-ABEB-9D45-8B5A-631066DD4455}"/>
              </a:ext>
            </a:extLst>
          </p:cNvPr>
          <p:cNvCxnSpPr/>
          <p:nvPr/>
        </p:nvCxnSpPr>
        <p:spPr>
          <a:xfrm flipH="1" flipV="1">
            <a:off x="4191000" y="1212930"/>
            <a:ext cx="32004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F034B4E-E286-F645-8A2C-C9AC2E740301}"/>
              </a:ext>
            </a:extLst>
          </p:cNvPr>
          <p:cNvSpPr txBox="1"/>
          <p:nvPr/>
        </p:nvSpPr>
        <p:spPr>
          <a:xfrm>
            <a:off x="7380790" y="1898730"/>
            <a:ext cx="1608133" cy="369332"/>
          </a:xfrm>
          <a:prstGeom prst="rect">
            <a:avLst/>
          </a:prstGeom>
          <a:noFill/>
        </p:spPr>
        <p:txBody>
          <a:bodyPr wrap="none" rtlCol="0">
            <a:spAutoFit/>
          </a:bodyPr>
          <a:lstStyle/>
          <a:p>
            <a:pPr algn="l" rtl="0"/>
            <a:r>
              <a:rPr lang="en-IL" dirty="0"/>
              <a:t>Layer number</a:t>
            </a:r>
          </a:p>
        </p:txBody>
      </p:sp>
      <p:sp>
        <p:nvSpPr>
          <p:cNvPr id="10" name="Oval 9">
            <a:extLst>
              <a:ext uri="{FF2B5EF4-FFF2-40B4-BE49-F238E27FC236}">
                <a16:creationId xmlns:a16="http://schemas.microsoft.com/office/drawing/2014/main" id="{3399B9D3-ADC9-C241-AAE6-F80923D2BD1D}"/>
              </a:ext>
            </a:extLst>
          </p:cNvPr>
          <p:cNvSpPr/>
          <p:nvPr/>
        </p:nvSpPr>
        <p:spPr>
          <a:xfrm>
            <a:off x="3810000" y="1276350"/>
            <a:ext cx="3810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cxnSp>
        <p:nvCxnSpPr>
          <p:cNvPr id="11" name="Straight Arrow Connector 10">
            <a:extLst>
              <a:ext uri="{FF2B5EF4-FFF2-40B4-BE49-F238E27FC236}">
                <a16:creationId xmlns:a16="http://schemas.microsoft.com/office/drawing/2014/main" id="{6F9FEA18-0317-6041-B9F8-B0C016B2CFEF}"/>
              </a:ext>
            </a:extLst>
          </p:cNvPr>
          <p:cNvCxnSpPr>
            <a:cxnSpLocks/>
            <a:stCxn id="12" idx="1"/>
          </p:cNvCxnSpPr>
          <p:nvPr/>
        </p:nvCxnSpPr>
        <p:spPr>
          <a:xfrm flipH="1" flipV="1">
            <a:off x="4114800" y="1504951"/>
            <a:ext cx="3200400" cy="1211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6E0765F-FE26-6B42-A937-E662017DB989}"/>
              </a:ext>
            </a:extLst>
          </p:cNvPr>
          <p:cNvSpPr txBox="1"/>
          <p:nvPr/>
        </p:nvSpPr>
        <p:spPr>
          <a:xfrm>
            <a:off x="7315200" y="2531427"/>
            <a:ext cx="1659429" cy="369332"/>
          </a:xfrm>
          <a:prstGeom prst="rect">
            <a:avLst/>
          </a:prstGeom>
          <a:noFill/>
        </p:spPr>
        <p:txBody>
          <a:bodyPr wrap="none" rtlCol="0">
            <a:spAutoFit/>
          </a:bodyPr>
          <a:lstStyle/>
          <a:p>
            <a:pPr algn="l" rtl="0"/>
            <a:r>
              <a:rPr lang="en-IL" dirty="0"/>
              <a:t>Nuron number</a:t>
            </a:r>
          </a:p>
        </p:txBody>
      </p:sp>
    </p:spTree>
    <p:extLst>
      <p:ext uri="{BB962C8B-B14F-4D97-AF65-F5344CB8AC3E}">
        <p14:creationId xmlns:p14="http://schemas.microsoft.com/office/powerpoint/2010/main" val="3901288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75D64B-0380-5943-8AA1-2739C691A4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7150"/>
            <a:ext cx="8824999" cy="3962400"/>
          </a:xfrm>
          <a:prstGeom prst="rect">
            <a:avLst/>
          </a:prstGeom>
        </p:spPr>
      </p:pic>
      <p:sp>
        <p:nvSpPr>
          <p:cNvPr id="5" name="TextBox 4">
            <a:extLst>
              <a:ext uri="{FF2B5EF4-FFF2-40B4-BE49-F238E27FC236}">
                <a16:creationId xmlns:a16="http://schemas.microsoft.com/office/drawing/2014/main" id="{DFD3309E-4ED6-DB43-9E57-C05737061A18}"/>
              </a:ext>
            </a:extLst>
          </p:cNvPr>
          <p:cNvSpPr txBox="1"/>
          <p:nvPr/>
        </p:nvSpPr>
        <p:spPr>
          <a:xfrm>
            <a:off x="228600" y="4163020"/>
            <a:ext cx="8596398" cy="923330"/>
          </a:xfrm>
          <a:prstGeom prst="rect">
            <a:avLst/>
          </a:prstGeom>
          <a:noFill/>
        </p:spPr>
        <p:txBody>
          <a:bodyPr wrap="square">
            <a:spAutoFit/>
          </a:bodyPr>
          <a:lstStyle/>
          <a:p>
            <a:r>
              <a:rPr lang="en-US" dirty="0"/>
              <a:t>each neuron’s activation is computed using weights, bias, and the activation function, with subscripts indicating neuron number and superscripts indicating layer number.</a:t>
            </a:r>
          </a:p>
        </p:txBody>
      </p:sp>
    </p:spTree>
    <p:extLst>
      <p:ext uri="{BB962C8B-B14F-4D97-AF65-F5344CB8AC3E}">
        <p14:creationId xmlns:p14="http://schemas.microsoft.com/office/powerpoint/2010/main" val="24811512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EA0D0E-47E2-D94C-A64E-6460FC773A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1246"/>
            <a:ext cx="8780552" cy="4846504"/>
          </a:xfrm>
          <a:prstGeom prst="rect">
            <a:avLst/>
          </a:prstGeom>
        </p:spPr>
      </p:pic>
    </p:spTree>
    <p:extLst>
      <p:ext uri="{BB962C8B-B14F-4D97-AF65-F5344CB8AC3E}">
        <p14:creationId xmlns:p14="http://schemas.microsoft.com/office/powerpoint/2010/main" val="2253022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45A0BF-4C35-8748-9F6D-47D4E77EF84D}"/>
              </a:ext>
            </a:extLst>
          </p:cNvPr>
          <p:cNvSpPr>
            <a:spLocks noGrp="1"/>
          </p:cNvSpPr>
          <p:nvPr>
            <p:ph type="ctrTitle"/>
          </p:nvPr>
        </p:nvSpPr>
        <p:spPr>
          <a:xfrm>
            <a:off x="3118866" y="1171193"/>
            <a:ext cx="5502909" cy="553998"/>
          </a:xfrm>
        </p:spPr>
        <p:txBody>
          <a:bodyPr/>
          <a:lstStyle/>
          <a:p>
            <a:r>
              <a:rPr lang="en-IL" dirty="0"/>
              <a:t>Neural Network Model</a:t>
            </a:r>
          </a:p>
        </p:txBody>
      </p:sp>
      <p:sp>
        <p:nvSpPr>
          <p:cNvPr id="4" name="Subtitle 3">
            <a:extLst>
              <a:ext uri="{FF2B5EF4-FFF2-40B4-BE49-F238E27FC236}">
                <a16:creationId xmlns:a16="http://schemas.microsoft.com/office/drawing/2014/main" id="{198B2ECF-E240-7848-A744-E7D2D90294FA}"/>
              </a:ext>
            </a:extLst>
          </p:cNvPr>
          <p:cNvSpPr>
            <a:spLocks noGrp="1"/>
          </p:cNvSpPr>
          <p:nvPr>
            <p:ph type="subTitle" idx="4"/>
          </p:nvPr>
        </p:nvSpPr>
        <p:spPr>
          <a:xfrm>
            <a:off x="3249929" y="3182048"/>
            <a:ext cx="5357495" cy="861774"/>
          </a:xfrm>
        </p:spPr>
        <p:txBody>
          <a:bodyPr/>
          <a:lstStyle/>
          <a:p>
            <a:pPr marL="0" rtl="0"/>
            <a:r>
              <a:rPr lang="en-IL" sz="2800" dirty="0"/>
              <a:t>Inference: Making Predictions (forward Propagation)</a:t>
            </a:r>
          </a:p>
        </p:txBody>
      </p:sp>
      <p:sp>
        <p:nvSpPr>
          <p:cNvPr id="2" name="Footer Placeholder 1">
            <a:extLst>
              <a:ext uri="{FF2B5EF4-FFF2-40B4-BE49-F238E27FC236}">
                <a16:creationId xmlns:a16="http://schemas.microsoft.com/office/drawing/2014/main" id="{AAAA63D5-E5C8-7047-92C8-7688C2027191}"/>
              </a:ext>
            </a:extLst>
          </p:cNvPr>
          <p:cNvSpPr>
            <a:spLocks noGrp="1"/>
          </p:cNvSpPr>
          <p:nvPr>
            <p:ph type="ftr" sz="quarter" idx="5"/>
          </p:nvPr>
        </p:nvSpPr>
        <p:spPr/>
        <p:txBody>
          <a:bodyPr/>
          <a:lstStyle/>
          <a:p>
            <a:pPr marL="19685">
              <a:lnSpc>
                <a:spcPct val="100000"/>
              </a:lnSpc>
              <a:spcBef>
                <a:spcPts val="195"/>
              </a:spcBef>
            </a:pPr>
            <a:r>
              <a:rPr lang="en-US"/>
              <a:t>Andrew</a:t>
            </a:r>
            <a:r>
              <a:rPr lang="en-US" spc="145"/>
              <a:t> </a:t>
            </a:r>
            <a:r>
              <a:rPr lang="en-US" spc="-25"/>
              <a:t>Ng</a:t>
            </a:r>
            <a:endParaRPr lang="en-US" spc="-25" dirty="0"/>
          </a:p>
        </p:txBody>
      </p:sp>
    </p:spTree>
    <p:extLst>
      <p:ext uri="{BB962C8B-B14F-4D97-AF65-F5344CB8AC3E}">
        <p14:creationId xmlns:p14="http://schemas.microsoft.com/office/powerpoint/2010/main" val="1794594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C2F2A6-7DA5-0644-8CE3-12F719E5A3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09550"/>
            <a:ext cx="8001000" cy="4070412"/>
          </a:xfrm>
          <a:prstGeom prst="rect">
            <a:avLst/>
          </a:prstGeom>
        </p:spPr>
      </p:pic>
    </p:spTree>
    <p:extLst>
      <p:ext uri="{BB962C8B-B14F-4D97-AF65-F5344CB8AC3E}">
        <p14:creationId xmlns:p14="http://schemas.microsoft.com/office/powerpoint/2010/main" val="3401255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F76575-113A-344D-8501-62F4E210B9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027" y="26258"/>
            <a:ext cx="8417773" cy="4298092"/>
          </a:xfrm>
          <a:prstGeom prst="rect">
            <a:avLst/>
          </a:prstGeom>
        </p:spPr>
      </p:pic>
    </p:spTree>
    <p:extLst>
      <p:ext uri="{BB962C8B-B14F-4D97-AF65-F5344CB8AC3E}">
        <p14:creationId xmlns:p14="http://schemas.microsoft.com/office/powerpoint/2010/main" val="1155842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399EF8-D3AB-6341-87E9-AB53EFC66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99" y="285750"/>
            <a:ext cx="8133347" cy="3962400"/>
          </a:xfrm>
          <a:prstGeom prst="rect">
            <a:avLst/>
          </a:prstGeom>
        </p:spPr>
      </p:pic>
    </p:spTree>
    <p:extLst>
      <p:ext uri="{BB962C8B-B14F-4D97-AF65-F5344CB8AC3E}">
        <p14:creationId xmlns:p14="http://schemas.microsoft.com/office/powerpoint/2010/main" val="2536821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A69F85-7B84-C648-8B4F-9F258FD19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0"/>
            <a:ext cx="8397506" cy="4248150"/>
          </a:xfrm>
          <a:prstGeom prst="rect">
            <a:avLst/>
          </a:prstGeom>
        </p:spPr>
      </p:pic>
    </p:spTree>
    <p:extLst>
      <p:ext uri="{BB962C8B-B14F-4D97-AF65-F5344CB8AC3E}">
        <p14:creationId xmlns:p14="http://schemas.microsoft.com/office/powerpoint/2010/main" val="2689448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CF6A93-E08E-A146-B80E-AFF30631D3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99" y="133350"/>
            <a:ext cx="8333267" cy="4191000"/>
          </a:xfrm>
          <a:prstGeom prst="rect">
            <a:avLst/>
          </a:prstGeom>
        </p:spPr>
      </p:pic>
    </p:spTree>
    <p:extLst>
      <p:ext uri="{BB962C8B-B14F-4D97-AF65-F5344CB8AC3E}">
        <p14:creationId xmlns:p14="http://schemas.microsoft.com/office/powerpoint/2010/main" val="33615898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1197BC-091F-1B46-B0EB-BF2B752F6DAC}"/>
              </a:ext>
            </a:extLst>
          </p:cNvPr>
          <p:cNvSpPr>
            <a:spLocks noGrp="1"/>
          </p:cNvSpPr>
          <p:nvPr>
            <p:ph type="ctrTitle"/>
          </p:nvPr>
        </p:nvSpPr>
        <p:spPr>
          <a:xfrm>
            <a:off x="3118866" y="1171193"/>
            <a:ext cx="5502909" cy="1107996"/>
          </a:xfrm>
        </p:spPr>
        <p:txBody>
          <a:bodyPr/>
          <a:lstStyle/>
          <a:p>
            <a:r>
              <a:rPr lang="en-IL" dirty="0"/>
              <a:t>TensorFlow Implementation</a:t>
            </a:r>
          </a:p>
        </p:txBody>
      </p:sp>
      <p:sp>
        <p:nvSpPr>
          <p:cNvPr id="4" name="Subtitle 3">
            <a:extLst>
              <a:ext uri="{FF2B5EF4-FFF2-40B4-BE49-F238E27FC236}">
                <a16:creationId xmlns:a16="http://schemas.microsoft.com/office/drawing/2014/main" id="{19C79071-6CCC-D143-B8E2-7F3160ADFC22}"/>
              </a:ext>
            </a:extLst>
          </p:cNvPr>
          <p:cNvSpPr>
            <a:spLocks noGrp="1"/>
          </p:cNvSpPr>
          <p:nvPr>
            <p:ph type="subTitle" idx="4"/>
          </p:nvPr>
        </p:nvSpPr>
        <p:spPr>
          <a:xfrm>
            <a:off x="3249929" y="3182048"/>
            <a:ext cx="5357495" cy="738664"/>
          </a:xfrm>
        </p:spPr>
        <p:txBody>
          <a:bodyPr/>
          <a:lstStyle/>
          <a:p>
            <a:pPr marL="0" rtl="0"/>
            <a:r>
              <a:rPr lang="en-IL" sz="4800" dirty="0"/>
              <a:t>Inference in Code</a:t>
            </a:r>
          </a:p>
        </p:txBody>
      </p:sp>
      <p:sp>
        <p:nvSpPr>
          <p:cNvPr id="2" name="Footer Placeholder 1">
            <a:extLst>
              <a:ext uri="{FF2B5EF4-FFF2-40B4-BE49-F238E27FC236}">
                <a16:creationId xmlns:a16="http://schemas.microsoft.com/office/drawing/2014/main" id="{175D3C48-003B-314D-AB34-D8E1E8500F5F}"/>
              </a:ext>
            </a:extLst>
          </p:cNvPr>
          <p:cNvSpPr>
            <a:spLocks noGrp="1"/>
          </p:cNvSpPr>
          <p:nvPr>
            <p:ph type="ftr" sz="quarter" idx="5"/>
          </p:nvPr>
        </p:nvSpPr>
        <p:spPr/>
        <p:txBody>
          <a:bodyPr/>
          <a:lstStyle/>
          <a:p>
            <a:pPr marL="19685">
              <a:lnSpc>
                <a:spcPct val="100000"/>
              </a:lnSpc>
              <a:spcBef>
                <a:spcPts val="195"/>
              </a:spcBef>
            </a:pPr>
            <a:r>
              <a:rPr lang="en-US"/>
              <a:t>Andrew</a:t>
            </a:r>
            <a:r>
              <a:rPr lang="en-US" spc="145"/>
              <a:t> </a:t>
            </a:r>
            <a:r>
              <a:rPr lang="en-US" spc="-25"/>
              <a:t>Ng</a:t>
            </a:r>
            <a:endParaRPr lang="en-US" spc="-25" dirty="0"/>
          </a:p>
        </p:txBody>
      </p:sp>
    </p:spTree>
    <p:extLst>
      <p:ext uri="{BB962C8B-B14F-4D97-AF65-F5344CB8AC3E}">
        <p14:creationId xmlns:p14="http://schemas.microsoft.com/office/powerpoint/2010/main" val="130582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C5646C-36D7-C042-8018-9B204AA257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361950"/>
            <a:ext cx="7589520" cy="3810000"/>
          </a:xfrm>
          <a:prstGeom prst="rect">
            <a:avLst/>
          </a:prstGeom>
        </p:spPr>
      </p:pic>
    </p:spTree>
    <p:extLst>
      <p:ext uri="{BB962C8B-B14F-4D97-AF65-F5344CB8AC3E}">
        <p14:creationId xmlns:p14="http://schemas.microsoft.com/office/powerpoint/2010/main" val="38235810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B64D9C-8216-0740-8B63-5B69CACEE5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85750"/>
            <a:ext cx="8077200" cy="4038600"/>
          </a:xfrm>
          <a:prstGeom prst="rect">
            <a:avLst/>
          </a:prstGeom>
        </p:spPr>
      </p:pic>
    </p:spTree>
    <p:extLst>
      <p:ext uri="{BB962C8B-B14F-4D97-AF65-F5344CB8AC3E}">
        <p14:creationId xmlns:p14="http://schemas.microsoft.com/office/powerpoint/2010/main" val="1871540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D1F773-FBF0-7F43-AB98-4789611800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033" y="0"/>
            <a:ext cx="8579367" cy="4400550"/>
          </a:xfrm>
          <a:prstGeom prst="rect">
            <a:avLst/>
          </a:prstGeom>
        </p:spPr>
      </p:pic>
    </p:spTree>
    <p:extLst>
      <p:ext uri="{BB962C8B-B14F-4D97-AF65-F5344CB8AC3E}">
        <p14:creationId xmlns:p14="http://schemas.microsoft.com/office/powerpoint/2010/main" val="24906725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53D1AE-5B5F-B045-989C-09E40F9483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85750"/>
            <a:ext cx="8077200" cy="4142598"/>
          </a:xfrm>
          <a:prstGeom prst="rect">
            <a:avLst/>
          </a:prstGeom>
        </p:spPr>
      </p:pic>
      <p:sp>
        <p:nvSpPr>
          <p:cNvPr id="5" name="TextBox 4">
            <a:extLst>
              <a:ext uri="{FF2B5EF4-FFF2-40B4-BE49-F238E27FC236}">
                <a16:creationId xmlns:a16="http://schemas.microsoft.com/office/drawing/2014/main" id="{4FA74419-B316-0444-9961-80A61816C714}"/>
              </a:ext>
            </a:extLst>
          </p:cNvPr>
          <p:cNvSpPr txBox="1"/>
          <p:nvPr/>
        </p:nvSpPr>
        <p:spPr>
          <a:xfrm>
            <a:off x="304800" y="1200150"/>
            <a:ext cx="2057400" cy="954107"/>
          </a:xfrm>
          <a:prstGeom prst="rect">
            <a:avLst/>
          </a:prstGeom>
          <a:noFill/>
        </p:spPr>
        <p:txBody>
          <a:bodyPr wrap="square">
            <a:spAutoFit/>
          </a:bodyPr>
          <a:lstStyle/>
          <a:p>
            <a:r>
              <a:rPr lang="en-US" sz="1400" dirty="0">
                <a:solidFill>
                  <a:srgbClr val="111AFE"/>
                </a:solidFill>
              </a:rPr>
              <a:t>Dense is a </a:t>
            </a:r>
            <a:r>
              <a:rPr lang="en-US" sz="1400" b="1" dirty="0">
                <a:solidFill>
                  <a:srgbClr val="111AFE"/>
                </a:solidFill>
              </a:rPr>
              <a:t>layer class</a:t>
            </a:r>
            <a:endParaRPr lang="en-US" sz="1400" dirty="0">
              <a:solidFill>
                <a:srgbClr val="111AFE"/>
              </a:solidFill>
            </a:endParaRPr>
          </a:p>
          <a:p>
            <a:r>
              <a:rPr lang="en-US" sz="1400" dirty="0">
                <a:solidFill>
                  <a:srgbClr val="111AFE"/>
                </a:solidFill>
              </a:rPr>
              <a:t>When you call it, you </a:t>
            </a:r>
            <a:r>
              <a:rPr lang="en-US" sz="1400" b="1" dirty="0">
                <a:solidFill>
                  <a:srgbClr val="111AFE"/>
                </a:solidFill>
              </a:rPr>
              <a:t>create an object (an instance)</a:t>
            </a:r>
            <a:r>
              <a:rPr lang="en-US" sz="1400" dirty="0">
                <a:solidFill>
                  <a:srgbClr val="111AFE"/>
                </a:solidFill>
              </a:rPr>
              <a:t> of that class</a:t>
            </a:r>
          </a:p>
        </p:txBody>
      </p:sp>
      <p:sp>
        <p:nvSpPr>
          <p:cNvPr id="3" name="Rounded Rectangle 2">
            <a:extLst>
              <a:ext uri="{FF2B5EF4-FFF2-40B4-BE49-F238E27FC236}">
                <a16:creationId xmlns:a16="http://schemas.microsoft.com/office/drawing/2014/main" id="{823BEA0B-5690-874D-B1AE-C943DEC3E5CE}"/>
              </a:ext>
            </a:extLst>
          </p:cNvPr>
          <p:cNvSpPr/>
          <p:nvPr/>
        </p:nvSpPr>
        <p:spPr>
          <a:xfrm>
            <a:off x="1600200" y="2876550"/>
            <a:ext cx="533400" cy="228600"/>
          </a:xfrm>
          <a:prstGeom prst="roundRect">
            <a:avLst/>
          </a:prstGeom>
          <a:noFill/>
          <a:ln>
            <a:solidFill>
              <a:srgbClr val="111A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cxnSp>
        <p:nvCxnSpPr>
          <p:cNvPr id="7" name="Straight Arrow Connector 6">
            <a:extLst>
              <a:ext uri="{FF2B5EF4-FFF2-40B4-BE49-F238E27FC236}">
                <a16:creationId xmlns:a16="http://schemas.microsoft.com/office/drawing/2014/main" id="{898B1F8E-9829-5D4D-85F9-7185A4B06B75}"/>
              </a:ext>
            </a:extLst>
          </p:cNvPr>
          <p:cNvCxnSpPr>
            <a:stCxn id="5" idx="2"/>
            <a:endCxn id="3" idx="0"/>
          </p:cNvCxnSpPr>
          <p:nvPr/>
        </p:nvCxnSpPr>
        <p:spPr>
          <a:xfrm>
            <a:off x="1333500" y="2154257"/>
            <a:ext cx="533400" cy="722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9">
            <a:extLst>
              <a:ext uri="{FF2B5EF4-FFF2-40B4-BE49-F238E27FC236}">
                <a16:creationId xmlns:a16="http://schemas.microsoft.com/office/drawing/2014/main" id="{6430A020-CA57-BD44-AF08-9172FAD21DC7}"/>
              </a:ext>
            </a:extLst>
          </p:cNvPr>
          <p:cNvSpPr/>
          <p:nvPr/>
        </p:nvSpPr>
        <p:spPr>
          <a:xfrm>
            <a:off x="609600" y="2876550"/>
            <a:ext cx="723900" cy="228600"/>
          </a:xfrm>
          <a:prstGeom prst="roundRect">
            <a:avLst/>
          </a:prstGeom>
          <a:noFill/>
          <a:ln>
            <a:solidFill>
              <a:srgbClr val="111A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
        <p:nvSpPr>
          <p:cNvPr id="12" name="TextBox 11">
            <a:extLst>
              <a:ext uri="{FF2B5EF4-FFF2-40B4-BE49-F238E27FC236}">
                <a16:creationId xmlns:a16="http://schemas.microsoft.com/office/drawing/2014/main" id="{F10D8906-047F-F246-83A9-589DBF71FEC6}"/>
              </a:ext>
            </a:extLst>
          </p:cNvPr>
          <p:cNvSpPr txBox="1"/>
          <p:nvPr/>
        </p:nvSpPr>
        <p:spPr>
          <a:xfrm>
            <a:off x="5538" y="4428348"/>
            <a:ext cx="2133600" cy="369332"/>
          </a:xfrm>
          <a:prstGeom prst="rect">
            <a:avLst/>
          </a:prstGeom>
          <a:noFill/>
        </p:spPr>
        <p:txBody>
          <a:bodyPr wrap="square">
            <a:spAutoFit/>
          </a:bodyPr>
          <a:lstStyle/>
          <a:p>
            <a:pPr algn="l" rtl="0"/>
            <a:r>
              <a:rPr lang="en-US" dirty="0">
                <a:solidFill>
                  <a:srgbClr val="111AFE"/>
                </a:solidFill>
              </a:rPr>
              <a:t>Dense layer object</a:t>
            </a:r>
            <a:endParaRPr lang="en-IL" dirty="0">
              <a:solidFill>
                <a:srgbClr val="111AFE"/>
              </a:solidFill>
            </a:endParaRPr>
          </a:p>
        </p:txBody>
      </p:sp>
      <p:cxnSp>
        <p:nvCxnSpPr>
          <p:cNvPr id="16" name="Straight Arrow Connector 15">
            <a:extLst>
              <a:ext uri="{FF2B5EF4-FFF2-40B4-BE49-F238E27FC236}">
                <a16:creationId xmlns:a16="http://schemas.microsoft.com/office/drawing/2014/main" id="{FC11E29E-D6C4-D644-B55A-07F842CB01AF}"/>
              </a:ext>
            </a:extLst>
          </p:cNvPr>
          <p:cNvCxnSpPr>
            <a:cxnSpLocks/>
          </p:cNvCxnSpPr>
          <p:nvPr/>
        </p:nvCxnSpPr>
        <p:spPr>
          <a:xfrm flipV="1">
            <a:off x="351539" y="3105150"/>
            <a:ext cx="620011" cy="1383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14486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431DED-7797-4043-B943-D20A3C3C6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85750"/>
            <a:ext cx="8248422" cy="4191000"/>
          </a:xfrm>
          <a:prstGeom prst="rect">
            <a:avLst/>
          </a:prstGeom>
        </p:spPr>
      </p:pic>
    </p:spTree>
    <p:extLst>
      <p:ext uri="{BB962C8B-B14F-4D97-AF65-F5344CB8AC3E}">
        <p14:creationId xmlns:p14="http://schemas.microsoft.com/office/powerpoint/2010/main" val="9574549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69E122-0DBC-CC46-AC06-C0646D708B46}"/>
              </a:ext>
            </a:extLst>
          </p:cNvPr>
          <p:cNvSpPr>
            <a:spLocks noGrp="1"/>
          </p:cNvSpPr>
          <p:nvPr>
            <p:ph type="ctrTitle"/>
          </p:nvPr>
        </p:nvSpPr>
        <p:spPr>
          <a:xfrm>
            <a:off x="2919094" y="1657350"/>
            <a:ext cx="5688330" cy="430887"/>
          </a:xfrm>
        </p:spPr>
        <p:txBody>
          <a:bodyPr/>
          <a:lstStyle/>
          <a:p>
            <a:r>
              <a:rPr lang="en-IL" sz="2800" b="1" dirty="0"/>
              <a:t>TensorFlow Implementation</a:t>
            </a:r>
          </a:p>
        </p:txBody>
      </p:sp>
      <p:sp>
        <p:nvSpPr>
          <p:cNvPr id="4" name="Subtitle 3">
            <a:extLst>
              <a:ext uri="{FF2B5EF4-FFF2-40B4-BE49-F238E27FC236}">
                <a16:creationId xmlns:a16="http://schemas.microsoft.com/office/drawing/2014/main" id="{806E1A17-10A1-9C41-B109-541A42881123}"/>
              </a:ext>
            </a:extLst>
          </p:cNvPr>
          <p:cNvSpPr>
            <a:spLocks noGrp="1"/>
          </p:cNvSpPr>
          <p:nvPr>
            <p:ph type="subTitle" idx="4"/>
          </p:nvPr>
        </p:nvSpPr>
        <p:spPr>
          <a:xfrm>
            <a:off x="3249929" y="3182048"/>
            <a:ext cx="5357495" cy="615553"/>
          </a:xfrm>
        </p:spPr>
        <p:txBody>
          <a:bodyPr/>
          <a:lstStyle/>
          <a:p>
            <a:pPr marL="0" algn="ctr" rtl="0"/>
            <a:r>
              <a:rPr lang="en-IL" sz="4000" dirty="0"/>
              <a:t>Data in TensorFlow</a:t>
            </a:r>
          </a:p>
        </p:txBody>
      </p:sp>
      <p:sp>
        <p:nvSpPr>
          <p:cNvPr id="2" name="Footer Placeholder 1">
            <a:extLst>
              <a:ext uri="{FF2B5EF4-FFF2-40B4-BE49-F238E27FC236}">
                <a16:creationId xmlns:a16="http://schemas.microsoft.com/office/drawing/2014/main" id="{A2A1573E-0A67-4B40-B0C9-5A911EA55D21}"/>
              </a:ext>
            </a:extLst>
          </p:cNvPr>
          <p:cNvSpPr>
            <a:spLocks noGrp="1"/>
          </p:cNvSpPr>
          <p:nvPr>
            <p:ph type="ftr" sz="quarter" idx="5"/>
          </p:nvPr>
        </p:nvSpPr>
        <p:spPr/>
        <p:txBody>
          <a:bodyPr/>
          <a:lstStyle/>
          <a:p>
            <a:pPr marL="19685">
              <a:lnSpc>
                <a:spcPct val="100000"/>
              </a:lnSpc>
              <a:spcBef>
                <a:spcPts val="195"/>
              </a:spcBef>
            </a:pPr>
            <a:r>
              <a:rPr lang="en-US"/>
              <a:t>Andrew</a:t>
            </a:r>
            <a:r>
              <a:rPr lang="en-US" spc="145"/>
              <a:t> </a:t>
            </a:r>
            <a:r>
              <a:rPr lang="en-US" spc="-25"/>
              <a:t>Ng</a:t>
            </a:r>
            <a:endParaRPr lang="en-US" spc="-25" dirty="0"/>
          </a:p>
        </p:txBody>
      </p:sp>
    </p:spTree>
    <p:extLst>
      <p:ext uri="{BB962C8B-B14F-4D97-AF65-F5344CB8AC3E}">
        <p14:creationId xmlns:p14="http://schemas.microsoft.com/office/powerpoint/2010/main" val="41970945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1214F4-BFAE-4C4B-82A3-CAE57248EF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590550"/>
            <a:ext cx="8102600" cy="2209800"/>
          </a:xfrm>
          <a:prstGeom prst="rect">
            <a:avLst/>
          </a:prstGeom>
        </p:spPr>
      </p:pic>
    </p:spTree>
    <p:extLst>
      <p:ext uri="{BB962C8B-B14F-4D97-AF65-F5344CB8AC3E}">
        <p14:creationId xmlns:p14="http://schemas.microsoft.com/office/powerpoint/2010/main" val="37375781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A408B0-B0B2-ED49-B781-3116B04534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474" y="209550"/>
            <a:ext cx="8157726" cy="4114800"/>
          </a:xfrm>
          <a:prstGeom prst="rect">
            <a:avLst/>
          </a:prstGeom>
        </p:spPr>
      </p:pic>
      <p:sp>
        <p:nvSpPr>
          <p:cNvPr id="2" name="TextBox 1">
            <a:extLst>
              <a:ext uri="{FF2B5EF4-FFF2-40B4-BE49-F238E27FC236}">
                <a16:creationId xmlns:a16="http://schemas.microsoft.com/office/drawing/2014/main" id="{2827FFEF-14D3-6640-8986-BF3A8891849B}"/>
              </a:ext>
            </a:extLst>
          </p:cNvPr>
          <p:cNvSpPr txBox="1"/>
          <p:nvPr/>
        </p:nvSpPr>
        <p:spPr>
          <a:xfrm>
            <a:off x="6781800" y="895350"/>
            <a:ext cx="846707" cy="338554"/>
          </a:xfrm>
          <a:prstGeom prst="rect">
            <a:avLst/>
          </a:prstGeom>
          <a:noFill/>
        </p:spPr>
        <p:txBody>
          <a:bodyPr wrap="none" rtlCol="0">
            <a:spAutoFit/>
          </a:bodyPr>
          <a:lstStyle/>
          <a:p>
            <a:pPr algn="l" rtl="0"/>
            <a:r>
              <a:rPr lang="en-IL" sz="1600" dirty="0">
                <a:solidFill>
                  <a:srgbClr val="111AFE"/>
                </a:solidFill>
              </a:rPr>
              <a:t>1st row</a:t>
            </a:r>
          </a:p>
        </p:txBody>
      </p:sp>
      <p:cxnSp>
        <p:nvCxnSpPr>
          <p:cNvPr id="5" name="Straight Arrow Connector 4">
            <a:extLst>
              <a:ext uri="{FF2B5EF4-FFF2-40B4-BE49-F238E27FC236}">
                <a16:creationId xmlns:a16="http://schemas.microsoft.com/office/drawing/2014/main" id="{AD0C7B70-3266-2B4B-BAED-97AF7806B484}"/>
              </a:ext>
            </a:extLst>
          </p:cNvPr>
          <p:cNvCxnSpPr>
            <a:stCxn id="2" idx="1"/>
          </p:cNvCxnSpPr>
          <p:nvPr/>
        </p:nvCxnSpPr>
        <p:spPr>
          <a:xfrm flipH="1">
            <a:off x="5715000" y="1064627"/>
            <a:ext cx="1066800" cy="59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DDDD9A2-562B-2C47-8696-F81B3A29325A}"/>
              </a:ext>
            </a:extLst>
          </p:cNvPr>
          <p:cNvSpPr txBox="1"/>
          <p:nvPr/>
        </p:nvSpPr>
        <p:spPr>
          <a:xfrm>
            <a:off x="6934200" y="1123950"/>
            <a:ext cx="914033" cy="338554"/>
          </a:xfrm>
          <a:prstGeom prst="rect">
            <a:avLst/>
          </a:prstGeom>
          <a:noFill/>
        </p:spPr>
        <p:txBody>
          <a:bodyPr wrap="none" rtlCol="0">
            <a:spAutoFit/>
          </a:bodyPr>
          <a:lstStyle/>
          <a:p>
            <a:pPr algn="l" rtl="0"/>
            <a:r>
              <a:rPr lang="en-IL" sz="1600" dirty="0">
                <a:solidFill>
                  <a:srgbClr val="111AFE"/>
                </a:solidFill>
              </a:rPr>
              <a:t>2nd row</a:t>
            </a:r>
          </a:p>
        </p:txBody>
      </p:sp>
      <p:cxnSp>
        <p:nvCxnSpPr>
          <p:cNvPr id="7" name="Straight Arrow Connector 6">
            <a:extLst>
              <a:ext uri="{FF2B5EF4-FFF2-40B4-BE49-F238E27FC236}">
                <a16:creationId xmlns:a16="http://schemas.microsoft.com/office/drawing/2014/main" id="{B3DB4DA6-9566-E64D-9B2E-DAC7BCC33A10}"/>
              </a:ext>
            </a:extLst>
          </p:cNvPr>
          <p:cNvCxnSpPr>
            <a:cxnSpLocks/>
            <a:stCxn id="6" idx="1"/>
          </p:cNvCxnSpPr>
          <p:nvPr/>
        </p:nvCxnSpPr>
        <p:spPr>
          <a:xfrm flipH="1">
            <a:off x="5715000" y="1293227"/>
            <a:ext cx="1219200" cy="59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9102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982228-0F4A-0348-8D00-8653E57654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33350"/>
            <a:ext cx="7463481" cy="4269887"/>
          </a:xfrm>
          <a:prstGeom prst="rect">
            <a:avLst/>
          </a:prstGeom>
        </p:spPr>
      </p:pic>
      <p:sp>
        <p:nvSpPr>
          <p:cNvPr id="2" name="TextBox 1">
            <a:extLst>
              <a:ext uri="{FF2B5EF4-FFF2-40B4-BE49-F238E27FC236}">
                <a16:creationId xmlns:a16="http://schemas.microsoft.com/office/drawing/2014/main" id="{7DFFF01C-3836-5043-9B59-9374809605FA}"/>
              </a:ext>
            </a:extLst>
          </p:cNvPr>
          <p:cNvSpPr txBox="1"/>
          <p:nvPr/>
        </p:nvSpPr>
        <p:spPr>
          <a:xfrm>
            <a:off x="6596544" y="1123950"/>
            <a:ext cx="1377300" cy="369332"/>
          </a:xfrm>
          <a:prstGeom prst="rect">
            <a:avLst/>
          </a:prstGeom>
          <a:noFill/>
        </p:spPr>
        <p:txBody>
          <a:bodyPr wrap="none" rtlCol="0">
            <a:spAutoFit/>
          </a:bodyPr>
          <a:lstStyle/>
          <a:p>
            <a:r>
              <a:rPr lang="en-IL" dirty="0">
                <a:solidFill>
                  <a:srgbClr val="111AFE"/>
                </a:solidFill>
              </a:rPr>
              <a:t>Row Vector</a:t>
            </a:r>
          </a:p>
        </p:txBody>
      </p:sp>
      <p:sp>
        <p:nvSpPr>
          <p:cNvPr id="3" name="TextBox 2">
            <a:extLst>
              <a:ext uri="{FF2B5EF4-FFF2-40B4-BE49-F238E27FC236}">
                <a16:creationId xmlns:a16="http://schemas.microsoft.com/office/drawing/2014/main" id="{A12B398B-3F3D-9447-A9E8-0B79848405FB}"/>
              </a:ext>
            </a:extLst>
          </p:cNvPr>
          <p:cNvSpPr txBox="1"/>
          <p:nvPr/>
        </p:nvSpPr>
        <p:spPr>
          <a:xfrm>
            <a:off x="6671275" y="2126218"/>
            <a:ext cx="1710725" cy="369332"/>
          </a:xfrm>
          <a:prstGeom prst="rect">
            <a:avLst/>
          </a:prstGeom>
          <a:noFill/>
        </p:spPr>
        <p:txBody>
          <a:bodyPr wrap="none" rtlCol="0">
            <a:spAutoFit/>
          </a:bodyPr>
          <a:lstStyle/>
          <a:p>
            <a:pPr algn="l" rtl="0"/>
            <a:r>
              <a:rPr lang="en-IL" dirty="0">
                <a:solidFill>
                  <a:srgbClr val="111AFE"/>
                </a:solidFill>
              </a:rPr>
              <a:t>Column Vector</a:t>
            </a:r>
          </a:p>
        </p:txBody>
      </p:sp>
      <p:sp>
        <p:nvSpPr>
          <p:cNvPr id="5" name="TextBox 4">
            <a:extLst>
              <a:ext uri="{FF2B5EF4-FFF2-40B4-BE49-F238E27FC236}">
                <a16:creationId xmlns:a16="http://schemas.microsoft.com/office/drawing/2014/main" id="{19D49DC4-3E16-4746-AE40-81A9F0B55C49}"/>
              </a:ext>
            </a:extLst>
          </p:cNvPr>
          <p:cNvSpPr txBox="1"/>
          <p:nvPr/>
        </p:nvSpPr>
        <p:spPr>
          <a:xfrm>
            <a:off x="3733800" y="3288418"/>
            <a:ext cx="4557658" cy="646331"/>
          </a:xfrm>
          <a:prstGeom prst="rect">
            <a:avLst/>
          </a:prstGeom>
          <a:noFill/>
        </p:spPr>
        <p:txBody>
          <a:bodyPr wrap="none" rtlCol="0">
            <a:spAutoFit/>
          </a:bodyPr>
          <a:lstStyle/>
          <a:p>
            <a:pPr algn="l" rtl="0"/>
            <a:r>
              <a:rPr lang="en-IL" dirty="0">
                <a:solidFill>
                  <a:srgbClr val="111AFE"/>
                </a:solidFill>
              </a:rPr>
              <a:t>Linear Array with no rows or columns, and </a:t>
            </a:r>
          </a:p>
          <a:p>
            <a:pPr algn="l" rtl="0"/>
            <a:r>
              <a:rPr lang="en-US" dirty="0">
                <a:solidFill>
                  <a:srgbClr val="111AFE"/>
                </a:solidFill>
              </a:rPr>
              <a:t>C</a:t>
            </a:r>
            <a:r>
              <a:rPr lang="en-IL" dirty="0">
                <a:solidFill>
                  <a:srgbClr val="111AFE"/>
                </a:solidFill>
              </a:rPr>
              <a:t>an not be used as input for NN </a:t>
            </a:r>
          </a:p>
        </p:txBody>
      </p:sp>
      <p:sp>
        <p:nvSpPr>
          <p:cNvPr id="6" name="TextBox 5">
            <a:extLst>
              <a:ext uri="{FF2B5EF4-FFF2-40B4-BE49-F238E27FC236}">
                <a16:creationId xmlns:a16="http://schemas.microsoft.com/office/drawing/2014/main" id="{A52513C9-0ACC-ED40-92CF-D78D9DC59500}"/>
              </a:ext>
            </a:extLst>
          </p:cNvPr>
          <p:cNvSpPr txBox="1"/>
          <p:nvPr/>
        </p:nvSpPr>
        <p:spPr>
          <a:xfrm>
            <a:off x="77563" y="3569755"/>
            <a:ext cx="1351652" cy="646331"/>
          </a:xfrm>
          <a:prstGeom prst="rect">
            <a:avLst/>
          </a:prstGeom>
          <a:solidFill>
            <a:schemeClr val="bg1"/>
          </a:solidFill>
        </p:spPr>
        <p:txBody>
          <a:bodyPr wrap="none" rtlCol="0">
            <a:spAutoFit/>
          </a:bodyPr>
          <a:lstStyle/>
          <a:p>
            <a:pPr algn="l" rtl="0"/>
            <a:r>
              <a:rPr lang="en-IL" dirty="0">
                <a:solidFill>
                  <a:srgbClr val="111AFE"/>
                </a:solidFill>
              </a:rPr>
              <a:t>Linear</a:t>
            </a:r>
          </a:p>
          <a:p>
            <a:pPr algn="l" rtl="0"/>
            <a:r>
              <a:rPr lang="en-IL" dirty="0">
                <a:solidFill>
                  <a:srgbClr val="111AFE"/>
                </a:solidFill>
              </a:rPr>
              <a:t>Regression</a:t>
            </a:r>
          </a:p>
        </p:txBody>
      </p:sp>
      <p:sp>
        <p:nvSpPr>
          <p:cNvPr id="7" name="TextBox 6">
            <a:extLst>
              <a:ext uri="{FF2B5EF4-FFF2-40B4-BE49-F238E27FC236}">
                <a16:creationId xmlns:a16="http://schemas.microsoft.com/office/drawing/2014/main" id="{2A4E3C27-8707-9647-9AB5-FDBBDFE10FAC}"/>
              </a:ext>
            </a:extLst>
          </p:cNvPr>
          <p:cNvSpPr txBox="1"/>
          <p:nvPr/>
        </p:nvSpPr>
        <p:spPr>
          <a:xfrm>
            <a:off x="102372" y="1531341"/>
            <a:ext cx="1390124" cy="369332"/>
          </a:xfrm>
          <a:prstGeom prst="rect">
            <a:avLst/>
          </a:prstGeom>
          <a:solidFill>
            <a:schemeClr val="bg1"/>
          </a:solidFill>
        </p:spPr>
        <p:txBody>
          <a:bodyPr wrap="none" rtlCol="0">
            <a:spAutoFit/>
          </a:bodyPr>
          <a:lstStyle/>
          <a:p>
            <a:pPr algn="l" rtl="0"/>
            <a:r>
              <a:rPr lang="en-IL" dirty="0">
                <a:solidFill>
                  <a:srgbClr val="111AFE"/>
                </a:solidFill>
              </a:rPr>
              <a:t>TensorFlow</a:t>
            </a:r>
          </a:p>
        </p:txBody>
      </p:sp>
    </p:spTree>
    <p:extLst>
      <p:ext uri="{BB962C8B-B14F-4D97-AF65-F5344CB8AC3E}">
        <p14:creationId xmlns:p14="http://schemas.microsoft.com/office/powerpoint/2010/main" val="28392857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A52C7C-F810-8747-B032-62C91665785A}"/>
              </a:ext>
            </a:extLst>
          </p:cNvPr>
          <p:cNvPicPr>
            <a:picLocks noChangeAspect="1"/>
          </p:cNvPicPr>
          <p:nvPr/>
        </p:nvPicPr>
        <p:blipFill>
          <a:blip r:embed="rId3"/>
          <a:stretch>
            <a:fillRect/>
          </a:stretch>
        </p:blipFill>
        <p:spPr>
          <a:xfrm>
            <a:off x="1219200" y="12848"/>
            <a:ext cx="6705600" cy="4459224"/>
          </a:xfrm>
          <a:prstGeom prst="rect">
            <a:avLst/>
          </a:prstGeom>
        </p:spPr>
      </p:pic>
    </p:spTree>
    <p:extLst>
      <p:ext uri="{BB962C8B-B14F-4D97-AF65-F5344CB8AC3E}">
        <p14:creationId xmlns:p14="http://schemas.microsoft.com/office/powerpoint/2010/main" val="1158523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065A88-759B-1C49-B837-48BFE513C4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09549"/>
            <a:ext cx="5867400" cy="4239451"/>
          </a:xfrm>
          <a:prstGeom prst="rect">
            <a:avLst/>
          </a:prstGeom>
        </p:spPr>
      </p:pic>
      <p:sp>
        <p:nvSpPr>
          <p:cNvPr id="2" name="TextBox 1">
            <a:extLst>
              <a:ext uri="{FF2B5EF4-FFF2-40B4-BE49-F238E27FC236}">
                <a16:creationId xmlns:a16="http://schemas.microsoft.com/office/drawing/2014/main" id="{159D80E2-1D88-0646-B75F-14817978B1BC}"/>
              </a:ext>
            </a:extLst>
          </p:cNvPr>
          <p:cNvSpPr txBox="1"/>
          <p:nvPr/>
        </p:nvSpPr>
        <p:spPr>
          <a:xfrm>
            <a:off x="5995620" y="2248584"/>
            <a:ext cx="2995980" cy="861774"/>
          </a:xfrm>
          <a:prstGeom prst="rect">
            <a:avLst/>
          </a:prstGeom>
          <a:noFill/>
        </p:spPr>
        <p:txBody>
          <a:bodyPr wrap="square" rtlCol="0">
            <a:spAutoFit/>
          </a:bodyPr>
          <a:lstStyle/>
          <a:p>
            <a:r>
              <a:rPr lang="en-IL" sz="1600" dirty="0">
                <a:solidFill>
                  <a:srgbClr val="111AFE"/>
                </a:solidFill>
              </a:rPr>
              <a:t>Tensor is a data type in </a:t>
            </a:r>
          </a:p>
          <a:p>
            <a:r>
              <a:rPr lang="en-IL" sz="1600" dirty="0">
                <a:solidFill>
                  <a:srgbClr val="111AFE"/>
                </a:solidFill>
              </a:rPr>
              <a:t>TensorFlow, created for</a:t>
            </a:r>
          </a:p>
          <a:p>
            <a:r>
              <a:rPr lang="en-IL" sz="1600" dirty="0">
                <a:solidFill>
                  <a:srgbClr val="111AFE"/>
                </a:solidFill>
              </a:rPr>
              <a:t>Numerical data</a:t>
            </a:r>
          </a:p>
        </p:txBody>
      </p:sp>
      <p:sp>
        <p:nvSpPr>
          <p:cNvPr id="5" name="TextBox 4">
            <a:extLst>
              <a:ext uri="{FF2B5EF4-FFF2-40B4-BE49-F238E27FC236}">
                <a16:creationId xmlns:a16="http://schemas.microsoft.com/office/drawing/2014/main" id="{E3A90802-8D9D-D54C-B613-A07DC410F972}"/>
              </a:ext>
            </a:extLst>
          </p:cNvPr>
          <p:cNvSpPr txBox="1"/>
          <p:nvPr/>
        </p:nvSpPr>
        <p:spPr>
          <a:xfrm>
            <a:off x="2286000" y="3790950"/>
            <a:ext cx="7162800" cy="307777"/>
          </a:xfrm>
          <a:prstGeom prst="rect">
            <a:avLst/>
          </a:prstGeom>
          <a:noFill/>
        </p:spPr>
        <p:txBody>
          <a:bodyPr wrap="square">
            <a:spAutoFit/>
          </a:bodyPr>
          <a:lstStyle/>
          <a:p>
            <a:pPr algn="l" rtl="0"/>
            <a:r>
              <a:rPr lang="en-US" sz="1400" dirty="0">
                <a:solidFill>
                  <a:srgbClr val="111AFE"/>
                </a:solidFill>
              </a:rPr>
              <a:t>In TensorFlow, </a:t>
            </a:r>
            <a:r>
              <a:rPr lang="en-US" sz="1400" b="1" dirty="0">
                <a:solidFill>
                  <a:srgbClr val="111AFE"/>
                </a:solidFill>
              </a:rPr>
              <a:t>all data (inputs, activations, weights, outputs)</a:t>
            </a:r>
            <a:r>
              <a:rPr lang="en-US" sz="1400" dirty="0">
                <a:solidFill>
                  <a:srgbClr val="111AFE"/>
                </a:solidFill>
              </a:rPr>
              <a:t> are stored as </a:t>
            </a:r>
            <a:r>
              <a:rPr lang="en-US" sz="1400" b="1" dirty="0">
                <a:solidFill>
                  <a:srgbClr val="111AFE"/>
                </a:solidFill>
              </a:rPr>
              <a:t>tensors</a:t>
            </a:r>
            <a:r>
              <a:rPr lang="en-US" sz="1400" dirty="0">
                <a:solidFill>
                  <a:srgbClr val="111AFE"/>
                </a:solidFill>
              </a:rPr>
              <a:t>.</a:t>
            </a:r>
            <a:endParaRPr lang="en-IL" sz="1400" dirty="0">
              <a:solidFill>
                <a:srgbClr val="111AFE"/>
              </a:solidFill>
            </a:endParaRPr>
          </a:p>
        </p:txBody>
      </p:sp>
      <p:cxnSp>
        <p:nvCxnSpPr>
          <p:cNvPr id="7" name="Straight Arrow Connector 6">
            <a:extLst>
              <a:ext uri="{FF2B5EF4-FFF2-40B4-BE49-F238E27FC236}">
                <a16:creationId xmlns:a16="http://schemas.microsoft.com/office/drawing/2014/main" id="{7F5BBCB3-F9ED-7A4C-8617-1F7F5BF2608D}"/>
              </a:ext>
            </a:extLst>
          </p:cNvPr>
          <p:cNvCxnSpPr>
            <a:stCxn id="2" idx="1"/>
          </p:cNvCxnSpPr>
          <p:nvPr/>
        </p:nvCxnSpPr>
        <p:spPr>
          <a:xfrm flipH="1">
            <a:off x="1752600" y="2679471"/>
            <a:ext cx="4243020" cy="806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A845D5E-873B-D148-9512-022988BF7A4C}"/>
              </a:ext>
            </a:extLst>
          </p:cNvPr>
          <p:cNvCxnSpPr>
            <a:stCxn id="5" idx="1"/>
          </p:cNvCxnSpPr>
          <p:nvPr/>
        </p:nvCxnSpPr>
        <p:spPr>
          <a:xfrm flipH="1" flipV="1">
            <a:off x="1524000" y="3714750"/>
            <a:ext cx="762000" cy="230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21281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FB9C49-BAD7-F646-AB5E-02D9AB2BC4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285750"/>
            <a:ext cx="5638800" cy="4111286"/>
          </a:xfrm>
          <a:prstGeom prst="rect">
            <a:avLst/>
          </a:prstGeom>
        </p:spPr>
      </p:pic>
      <p:sp>
        <p:nvSpPr>
          <p:cNvPr id="2" name="TextBox 1">
            <a:extLst>
              <a:ext uri="{FF2B5EF4-FFF2-40B4-BE49-F238E27FC236}">
                <a16:creationId xmlns:a16="http://schemas.microsoft.com/office/drawing/2014/main" id="{8397CB0C-193C-1F4F-8C85-62855B4DC2DC}"/>
              </a:ext>
            </a:extLst>
          </p:cNvPr>
          <p:cNvSpPr txBox="1"/>
          <p:nvPr/>
        </p:nvSpPr>
        <p:spPr>
          <a:xfrm>
            <a:off x="4607442" y="3790950"/>
            <a:ext cx="3467616" cy="369332"/>
          </a:xfrm>
          <a:prstGeom prst="rect">
            <a:avLst/>
          </a:prstGeom>
          <a:noFill/>
        </p:spPr>
        <p:txBody>
          <a:bodyPr wrap="none" rtlCol="0">
            <a:spAutoFit/>
          </a:bodyPr>
          <a:lstStyle/>
          <a:p>
            <a:r>
              <a:rPr lang="en-IL" dirty="0">
                <a:solidFill>
                  <a:srgbClr val="111AFE"/>
                </a:solidFill>
              </a:rPr>
              <a:t>Convert tensor to numpy matrix </a:t>
            </a:r>
          </a:p>
        </p:txBody>
      </p:sp>
      <p:cxnSp>
        <p:nvCxnSpPr>
          <p:cNvPr id="5" name="Straight Arrow Connector 4">
            <a:extLst>
              <a:ext uri="{FF2B5EF4-FFF2-40B4-BE49-F238E27FC236}">
                <a16:creationId xmlns:a16="http://schemas.microsoft.com/office/drawing/2014/main" id="{4C4D838B-D218-B84B-A576-E7206C559DF6}"/>
              </a:ext>
            </a:extLst>
          </p:cNvPr>
          <p:cNvCxnSpPr/>
          <p:nvPr/>
        </p:nvCxnSpPr>
        <p:spPr>
          <a:xfrm flipH="1">
            <a:off x="2743200" y="3943350"/>
            <a:ext cx="1905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50800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168C05-A28B-5A4F-AC8C-5101EC2BA7AB}"/>
              </a:ext>
            </a:extLst>
          </p:cNvPr>
          <p:cNvSpPr>
            <a:spLocks noGrp="1"/>
          </p:cNvSpPr>
          <p:nvPr>
            <p:ph type="ctrTitle"/>
          </p:nvPr>
        </p:nvSpPr>
        <p:spPr>
          <a:xfrm>
            <a:off x="3118866" y="1171193"/>
            <a:ext cx="5502909" cy="1107996"/>
          </a:xfrm>
        </p:spPr>
        <p:txBody>
          <a:bodyPr/>
          <a:lstStyle/>
          <a:p>
            <a:r>
              <a:rPr lang="en-IL" dirty="0"/>
              <a:t>TensorFlow Implementation</a:t>
            </a:r>
          </a:p>
        </p:txBody>
      </p:sp>
      <p:sp>
        <p:nvSpPr>
          <p:cNvPr id="4" name="Subtitle 3">
            <a:extLst>
              <a:ext uri="{FF2B5EF4-FFF2-40B4-BE49-F238E27FC236}">
                <a16:creationId xmlns:a16="http://schemas.microsoft.com/office/drawing/2014/main" id="{88C74E63-FFFA-F940-B326-C50EA40A2FC1}"/>
              </a:ext>
            </a:extLst>
          </p:cNvPr>
          <p:cNvSpPr>
            <a:spLocks noGrp="1"/>
          </p:cNvSpPr>
          <p:nvPr>
            <p:ph type="subTitle" idx="4"/>
          </p:nvPr>
        </p:nvSpPr>
        <p:spPr>
          <a:xfrm>
            <a:off x="3249929" y="3182048"/>
            <a:ext cx="5357495" cy="492443"/>
          </a:xfrm>
        </p:spPr>
        <p:txBody>
          <a:bodyPr/>
          <a:lstStyle/>
          <a:p>
            <a:pPr marL="0" rtl="0"/>
            <a:r>
              <a:rPr lang="en-IL" sz="3200" dirty="0"/>
              <a:t>Building a Neural Network</a:t>
            </a:r>
          </a:p>
        </p:txBody>
      </p:sp>
      <p:sp>
        <p:nvSpPr>
          <p:cNvPr id="2" name="Footer Placeholder 1">
            <a:extLst>
              <a:ext uri="{FF2B5EF4-FFF2-40B4-BE49-F238E27FC236}">
                <a16:creationId xmlns:a16="http://schemas.microsoft.com/office/drawing/2014/main" id="{F1EECD93-7669-E646-922E-781688B21BB6}"/>
              </a:ext>
            </a:extLst>
          </p:cNvPr>
          <p:cNvSpPr>
            <a:spLocks noGrp="1"/>
          </p:cNvSpPr>
          <p:nvPr>
            <p:ph type="ftr" sz="quarter" idx="5"/>
          </p:nvPr>
        </p:nvSpPr>
        <p:spPr/>
        <p:txBody>
          <a:bodyPr/>
          <a:lstStyle/>
          <a:p>
            <a:pPr marL="19685">
              <a:lnSpc>
                <a:spcPct val="100000"/>
              </a:lnSpc>
              <a:spcBef>
                <a:spcPts val="195"/>
              </a:spcBef>
            </a:pPr>
            <a:r>
              <a:rPr lang="en-US"/>
              <a:t>Andrew</a:t>
            </a:r>
            <a:r>
              <a:rPr lang="en-US" spc="145"/>
              <a:t> </a:t>
            </a:r>
            <a:r>
              <a:rPr lang="en-US" spc="-25"/>
              <a:t>Ng</a:t>
            </a:r>
            <a:endParaRPr lang="en-US" spc="-25" dirty="0"/>
          </a:p>
        </p:txBody>
      </p:sp>
    </p:spTree>
    <p:extLst>
      <p:ext uri="{BB962C8B-B14F-4D97-AF65-F5344CB8AC3E}">
        <p14:creationId xmlns:p14="http://schemas.microsoft.com/office/powerpoint/2010/main" val="568969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2CCC33-2808-C244-8CB0-2D1368ACA5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99" y="514350"/>
            <a:ext cx="8303491" cy="2209800"/>
          </a:xfrm>
          <a:prstGeom prst="rect">
            <a:avLst/>
          </a:prstGeom>
        </p:spPr>
      </p:pic>
    </p:spTree>
    <p:extLst>
      <p:ext uri="{BB962C8B-B14F-4D97-AF65-F5344CB8AC3E}">
        <p14:creationId xmlns:p14="http://schemas.microsoft.com/office/powerpoint/2010/main" val="2824209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C9640B-DC2E-174A-81F1-F1FBEEAAD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33350"/>
            <a:ext cx="8534400" cy="4347044"/>
          </a:xfrm>
          <a:prstGeom prst="rect">
            <a:avLst/>
          </a:prstGeom>
        </p:spPr>
      </p:pic>
    </p:spTree>
    <p:extLst>
      <p:ext uri="{BB962C8B-B14F-4D97-AF65-F5344CB8AC3E}">
        <p14:creationId xmlns:p14="http://schemas.microsoft.com/office/powerpoint/2010/main" val="24698934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9A4CA6-53D2-7C4A-BF86-7E840DF347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0"/>
            <a:ext cx="8001000" cy="4049089"/>
          </a:xfrm>
          <a:prstGeom prst="rect">
            <a:avLst/>
          </a:prstGeom>
        </p:spPr>
      </p:pic>
      <p:sp>
        <p:nvSpPr>
          <p:cNvPr id="5" name="TextBox 4">
            <a:extLst>
              <a:ext uri="{FF2B5EF4-FFF2-40B4-BE49-F238E27FC236}">
                <a16:creationId xmlns:a16="http://schemas.microsoft.com/office/drawing/2014/main" id="{0A66240F-2188-634F-A4A2-84FFC9E998F8}"/>
              </a:ext>
            </a:extLst>
          </p:cNvPr>
          <p:cNvSpPr txBox="1"/>
          <p:nvPr/>
        </p:nvSpPr>
        <p:spPr>
          <a:xfrm>
            <a:off x="3276600" y="514350"/>
            <a:ext cx="3672800" cy="369332"/>
          </a:xfrm>
          <a:prstGeom prst="rect">
            <a:avLst/>
          </a:prstGeom>
          <a:noFill/>
        </p:spPr>
        <p:txBody>
          <a:bodyPr wrap="none" rtlCol="0">
            <a:spAutoFit/>
          </a:bodyPr>
          <a:lstStyle/>
          <a:p>
            <a:pPr algn="l" rtl="0"/>
            <a:r>
              <a:rPr lang="en-IL" dirty="0">
                <a:solidFill>
                  <a:srgbClr val="0432FF"/>
                </a:solidFill>
              </a:rPr>
              <a:t>Alternative Way of defining layers </a:t>
            </a:r>
          </a:p>
        </p:txBody>
      </p:sp>
    </p:spTree>
    <p:extLst>
      <p:ext uri="{BB962C8B-B14F-4D97-AF65-F5344CB8AC3E}">
        <p14:creationId xmlns:p14="http://schemas.microsoft.com/office/powerpoint/2010/main" val="26441853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DEF4E8-9793-4841-9EC9-B989C01CD4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15" y="209550"/>
            <a:ext cx="8741229" cy="4191000"/>
          </a:xfrm>
          <a:prstGeom prst="rect">
            <a:avLst/>
          </a:prstGeom>
        </p:spPr>
      </p:pic>
    </p:spTree>
    <p:extLst>
      <p:ext uri="{BB962C8B-B14F-4D97-AF65-F5344CB8AC3E}">
        <p14:creationId xmlns:p14="http://schemas.microsoft.com/office/powerpoint/2010/main" val="36360456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819FC7-40BF-794B-9A75-4B5064C5DB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599" y="285750"/>
            <a:ext cx="8308923" cy="4038600"/>
          </a:xfrm>
          <a:prstGeom prst="rect">
            <a:avLst/>
          </a:prstGeom>
        </p:spPr>
      </p:pic>
    </p:spTree>
    <p:extLst>
      <p:ext uri="{BB962C8B-B14F-4D97-AF65-F5344CB8AC3E}">
        <p14:creationId xmlns:p14="http://schemas.microsoft.com/office/powerpoint/2010/main" val="21086468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9E41B1-A00F-934B-B6E8-FB6DB4D9575F}"/>
              </a:ext>
            </a:extLst>
          </p:cNvPr>
          <p:cNvSpPr>
            <a:spLocks noGrp="1"/>
          </p:cNvSpPr>
          <p:nvPr>
            <p:ph type="ctrTitle"/>
          </p:nvPr>
        </p:nvSpPr>
        <p:spPr>
          <a:xfrm>
            <a:off x="3177221" y="438150"/>
            <a:ext cx="5502909" cy="1661993"/>
          </a:xfrm>
        </p:spPr>
        <p:txBody>
          <a:bodyPr/>
          <a:lstStyle/>
          <a:p>
            <a:r>
              <a:rPr lang="en-IL" dirty="0"/>
              <a:t>Neural Network Implementation in Python</a:t>
            </a:r>
          </a:p>
        </p:txBody>
      </p:sp>
      <p:sp>
        <p:nvSpPr>
          <p:cNvPr id="4" name="Subtitle 3">
            <a:extLst>
              <a:ext uri="{FF2B5EF4-FFF2-40B4-BE49-F238E27FC236}">
                <a16:creationId xmlns:a16="http://schemas.microsoft.com/office/drawing/2014/main" id="{C2159D7C-8B02-8641-94C5-7AE8DBA5D1FA}"/>
              </a:ext>
            </a:extLst>
          </p:cNvPr>
          <p:cNvSpPr>
            <a:spLocks noGrp="1"/>
          </p:cNvSpPr>
          <p:nvPr>
            <p:ph type="subTitle" idx="4"/>
          </p:nvPr>
        </p:nvSpPr>
        <p:spPr>
          <a:xfrm>
            <a:off x="3249929" y="3182048"/>
            <a:ext cx="5357495" cy="1107996"/>
          </a:xfrm>
        </p:spPr>
        <p:txBody>
          <a:bodyPr/>
          <a:lstStyle/>
          <a:p>
            <a:pPr marL="0" rtl="0"/>
            <a:r>
              <a:rPr lang="en-IL" sz="3600" dirty="0"/>
              <a:t>Forward Prop in a single Layer</a:t>
            </a:r>
          </a:p>
        </p:txBody>
      </p:sp>
      <p:sp>
        <p:nvSpPr>
          <p:cNvPr id="2" name="Footer Placeholder 1">
            <a:extLst>
              <a:ext uri="{FF2B5EF4-FFF2-40B4-BE49-F238E27FC236}">
                <a16:creationId xmlns:a16="http://schemas.microsoft.com/office/drawing/2014/main" id="{644BFCD7-375F-9446-9D7E-B793D0A57F7B}"/>
              </a:ext>
            </a:extLst>
          </p:cNvPr>
          <p:cNvSpPr>
            <a:spLocks noGrp="1"/>
          </p:cNvSpPr>
          <p:nvPr>
            <p:ph type="ftr" sz="quarter" idx="5"/>
          </p:nvPr>
        </p:nvSpPr>
        <p:spPr/>
        <p:txBody>
          <a:bodyPr/>
          <a:lstStyle/>
          <a:p>
            <a:pPr marL="19685">
              <a:lnSpc>
                <a:spcPct val="100000"/>
              </a:lnSpc>
              <a:spcBef>
                <a:spcPts val="195"/>
              </a:spcBef>
            </a:pPr>
            <a:r>
              <a:rPr lang="en-US"/>
              <a:t>Andrew</a:t>
            </a:r>
            <a:r>
              <a:rPr lang="en-US" spc="145"/>
              <a:t> </a:t>
            </a:r>
            <a:r>
              <a:rPr lang="en-US" spc="-25"/>
              <a:t>Ng</a:t>
            </a:r>
            <a:endParaRPr lang="en-US" spc="-25" dirty="0"/>
          </a:p>
        </p:txBody>
      </p:sp>
    </p:spTree>
    <p:extLst>
      <p:ext uri="{BB962C8B-B14F-4D97-AF65-F5344CB8AC3E}">
        <p14:creationId xmlns:p14="http://schemas.microsoft.com/office/powerpoint/2010/main" val="26693421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6E0DF8-5E96-594B-B1FB-D9156E9CFF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0"/>
            <a:ext cx="8558983" cy="4324350"/>
          </a:xfrm>
          <a:prstGeom prst="rect">
            <a:avLst/>
          </a:prstGeom>
        </p:spPr>
      </p:pic>
      <p:sp>
        <p:nvSpPr>
          <p:cNvPr id="5" name="Rounded Rectangle 4">
            <a:extLst>
              <a:ext uri="{FF2B5EF4-FFF2-40B4-BE49-F238E27FC236}">
                <a16:creationId xmlns:a16="http://schemas.microsoft.com/office/drawing/2014/main" id="{09759777-48D4-2F4F-A4D5-7E976AC32F13}"/>
              </a:ext>
            </a:extLst>
          </p:cNvPr>
          <p:cNvSpPr/>
          <p:nvPr/>
        </p:nvSpPr>
        <p:spPr>
          <a:xfrm>
            <a:off x="152400" y="2419350"/>
            <a:ext cx="2819400" cy="1828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Tree>
    <p:extLst>
      <p:ext uri="{BB962C8B-B14F-4D97-AF65-F5344CB8AC3E}">
        <p14:creationId xmlns:p14="http://schemas.microsoft.com/office/powerpoint/2010/main" val="3715793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F3706A-F5E0-9F4D-84EA-134F428F43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09550"/>
            <a:ext cx="8763000" cy="4299857"/>
          </a:xfrm>
          <a:prstGeom prst="rect">
            <a:avLst/>
          </a:prstGeom>
        </p:spPr>
      </p:pic>
      <p:sp>
        <p:nvSpPr>
          <p:cNvPr id="2" name="Rounded Rectangle 1">
            <a:extLst>
              <a:ext uri="{FF2B5EF4-FFF2-40B4-BE49-F238E27FC236}">
                <a16:creationId xmlns:a16="http://schemas.microsoft.com/office/drawing/2014/main" id="{48331F78-FCB5-514B-8125-C43B323EEEAE}"/>
              </a:ext>
            </a:extLst>
          </p:cNvPr>
          <p:cNvSpPr/>
          <p:nvPr/>
        </p:nvSpPr>
        <p:spPr>
          <a:xfrm>
            <a:off x="2971800" y="2647950"/>
            <a:ext cx="2819400" cy="1676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Tree>
    <p:extLst>
      <p:ext uri="{BB962C8B-B14F-4D97-AF65-F5344CB8AC3E}">
        <p14:creationId xmlns:p14="http://schemas.microsoft.com/office/powerpoint/2010/main" val="17527033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6AA7FD-61C5-8647-9F24-DEC34A47D1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33350"/>
            <a:ext cx="8382000" cy="4234931"/>
          </a:xfrm>
          <a:prstGeom prst="rect">
            <a:avLst/>
          </a:prstGeom>
        </p:spPr>
      </p:pic>
      <p:sp>
        <p:nvSpPr>
          <p:cNvPr id="5" name="Rounded Rectangle 4">
            <a:extLst>
              <a:ext uri="{FF2B5EF4-FFF2-40B4-BE49-F238E27FC236}">
                <a16:creationId xmlns:a16="http://schemas.microsoft.com/office/drawing/2014/main" id="{B3170A51-8F05-C34F-86BA-98FC3A8D7102}"/>
              </a:ext>
            </a:extLst>
          </p:cNvPr>
          <p:cNvSpPr/>
          <p:nvPr/>
        </p:nvSpPr>
        <p:spPr>
          <a:xfrm>
            <a:off x="5638800" y="2419350"/>
            <a:ext cx="2819400" cy="1676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
        <p:nvSpPr>
          <p:cNvPr id="3" name="Rounded Rectangle 2">
            <a:extLst>
              <a:ext uri="{FF2B5EF4-FFF2-40B4-BE49-F238E27FC236}">
                <a16:creationId xmlns:a16="http://schemas.microsoft.com/office/drawing/2014/main" id="{B92494B0-36D5-4D45-8CFE-091421D14237}"/>
              </a:ext>
            </a:extLst>
          </p:cNvPr>
          <p:cNvSpPr/>
          <p:nvPr/>
        </p:nvSpPr>
        <p:spPr>
          <a:xfrm>
            <a:off x="2286000" y="4095750"/>
            <a:ext cx="3581400" cy="3810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Tree>
    <p:extLst>
      <p:ext uri="{BB962C8B-B14F-4D97-AF65-F5344CB8AC3E}">
        <p14:creationId xmlns:p14="http://schemas.microsoft.com/office/powerpoint/2010/main" val="568034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51E663-7FFC-6D4F-9409-CDB8E73D9D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517" y="133350"/>
            <a:ext cx="8110083" cy="4114800"/>
          </a:xfrm>
          <a:prstGeom prst="rect">
            <a:avLst/>
          </a:prstGeom>
        </p:spPr>
      </p:pic>
      <p:sp>
        <p:nvSpPr>
          <p:cNvPr id="2" name="Rounded Rectangle 1">
            <a:extLst>
              <a:ext uri="{FF2B5EF4-FFF2-40B4-BE49-F238E27FC236}">
                <a16:creationId xmlns:a16="http://schemas.microsoft.com/office/drawing/2014/main" id="{40590ED7-AF0D-774A-9EA4-26C8C0D97CF1}"/>
              </a:ext>
            </a:extLst>
          </p:cNvPr>
          <p:cNvSpPr/>
          <p:nvPr/>
        </p:nvSpPr>
        <p:spPr>
          <a:xfrm>
            <a:off x="3962400" y="742950"/>
            <a:ext cx="3200400" cy="1447800"/>
          </a:xfrm>
          <a:prstGeom prst="roundRect">
            <a:avLst/>
          </a:prstGeom>
          <a:noFill/>
          <a:ln>
            <a:solidFill>
              <a:srgbClr val="111A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Tree>
    <p:extLst>
      <p:ext uri="{BB962C8B-B14F-4D97-AF65-F5344CB8AC3E}">
        <p14:creationId xmlns:p14="http://schemas.microsoft.com/office/powerpoint/2010/main" val="33261925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B48845B-F5E4-AB4A-9CF9-5CD2B9415A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599" y="514350"/>
            <a:ext cx="6001197" cy="4191000"/>
          </a:xfrm>
          <a:prstGeom prst="rect">
            <a:avLst/>
          </a:prstGeom>
        </p:spPr>
      </p:pic>
    </p:spTree>
    <p:extLst>
      <p:ext uri="{BB962C8B-B14F-4D97-AF65-F5344CB8AC3E}">
        <p14:creationId xmlns:p14="http://schemas.microsoft.com/office/powerpoint/2010/main" val="28774445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7D854C-F526-CE40-9306-1310AD5A9F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33350"/>
            <a:ext cx="7467600" cy="4360924"/>
          </a:xfrm>
          <a:prstGeom prst="rect">
            <a:avLst/>
          </a:prstGeom>
        </p:spPr>
      </p:pic>
      <p:sp>
        <p:nvSpPr>
          <p:cNvPr id="5" name="TextBox 4">
            <a:extLst>
              <a:ext uri="{FF2B5EF4-FFF2-40B4-BE49-F238E27FC236}">
                <a16:creationId xmlns:a16="http://schemas.microsoft.com/office/drawing/2014/main" id="{EB5E814B-0DD6-0A48-8F7E-8A838F0C5049}"/>
              </a:ext>
            </a:extLst>
          </p:cNvPr>
          <p:cNvSpPr txBox="1"/>
          <p:nvPr/>
        </p:nvSpPr>
        <p:spPr>
          <a:xfrm>
            <a:off x="5308451" y="1276350"/>
            <a:ext cx="3425938" cy="584775"/>
          </a:xfrm>
          <a:prstGeom prst="rect">
            <a:avLst/>
          </a:prstGeom>
          <a:noFill/>
        </p:spPr>
        <p:txBody>
          <a:bodyPr wrap="none" rtlCol="0">
            <a:spAutoFit/>
          </a:bodyPr>
          <a:lstStyle/>
          <a:p>
            <a:pPr algn="l" rtl="0"/>
            <a:r>
              <a:rPr lang="en-IL" sz="1600" dirty="0">
                <a:solidFill>
                  <a:srgbClr val="111AFE"/>
                </a:solidFill>
              </a:rPr>
              <a:t>How to define the function dense ( )</a:t>
            </a:r>
          </a:p>
          <a:p>
            <a:pPr algn="l" rtl="0"/>
            <a:r>
              <a:rPr lang="en-US" sz="1600" dirty="0">
                <a:solidFill>
                  <a:srgbClr val="111AFE"/>
                </a:solidFill>
              </a:rPr>
              <a:t>T</a:t>
            </a:r>
            <a:r>
              <a:rPr lang="en-IL" sz="1600" dirty="0">
                <a:solidFill>
                  <a:srgbClr val="111AFE"/>
                </a:solidFill>
              </a:rPr>
              <a:t>hat we used bef ore </a:t>
            </a:r>
          </a:p>
        </p:txBody>
      </p:sp>
      <p:sp>
        <p:nvSpPr>
          <p:cNvPr id="6" name="TextBox 5">
            <a:extLst>
              <a:ext uri="{FF2B5EF4-FFF2-40B4-BE49-F238E27FC236}">
                <a16:creationId xmlns:a16="http://schemas.microsoft.com/office/drawing/2014/main" id="{A6852975-D304-C547-9C05-5CF3FD902C95}"/>
              </a:ext>
            </a:extLst>
          </p:cNvPr>
          <p:cNvSpPr txBox="1"/>
          <p:nvPr/>
        </p:nvSpPr>
        <p:spPr>
          <a:xfrm>
            <a:off x="3464937" y="2495550"/>
            <a:ext cx="1133644" cy="369332"/>
          </a:xfrm>
          <a:prstGeom prst="rect">
            <a:avLst/>
          </a:prstGeom>
          <a:noFill/>
        </p:spPr>
        <p:txBody>
          <a:bodyPr wrap="none" rtlCol="0">
            <a:spAutoFit/>
          </a:bodyPr>
          <a:lstStyle/>
          <a:p>
            <a:pPr algn="l" rtl="0"/>
            <a:r>
              <a:rPr lang="en-US" dirty="0">
                <a:solidFill>
                  <a:srgbClr val="111AFE"/>
                </a:solidFill>
              </a:rPr>
              <a:t>D</a:t>
            </a:r>
            <a:r>
              <a:rPr lang="en-IL" dirty="0">
                <a:solidFill>
                  <a:srgbClr val="111AFE"/>
                </a:solidFill>
              </a:rPr>
              <a:t>efine W</a:t>
            </a:r>
          </a:p>
        </p:txBody>
      </p:sp>
      <p:sp>
        <p:nvSpPr>
          <p:cNvPr id="7" name="Rounded Rectangle 6">
            <a:extLst>
              <a:ext uri="{FF2B5EF4-FFF2-40B4-BE49-F238E27FC236}">
                <a16:creationId xmlns:a16="http://schemas.microsoft.com/office/drawing/2014/main" id="{972C6837-09F9-8C4C-A3B0-5E545BA37DD5}"/>
              </a:ext>
            </a:extLst>
          </p:cNvPr>
          <p:cNvSpPr/>
          <p:nvPr/>
        </p:nvSpPr>
        <p:spPr>
          <a:xfrm>
            <a:off x="152400" y="1885950"/>
            <a:ext cx="3276600" cy="1219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
        <p:nvSpPr>
          <p:cNvPr id="11" name="Rounded Rectangle 10">
            <a:extLst>
              <a:ext uri="{FF2B5EF4-FFF2-40B4-BE49-F238E27FC236}">
                <a16:creationId xmlns:a16="http://schemas.microsoft.com/office/drawing/2014/main" id="{946C9EA2-5491-5B4C-984C-08295F084CD2}"/>
              </a:ext>
            </a:extLst>
          </p:cNvPr>
          <p:cNvSpPr/>
          <p:nvPr/>
        </p:nvSpPr>
        <p:spPr>
          <a:xfrm>
            <a:off x="304800" y="3105150"/>
            <a:ext cx="3124200" cy="838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
        <p:nvSpPr>
          <p:cNvPr id="12" name="TextBox 11">
            <a:extLst>
              <a:ext uri="{FF2B5EF4-FFF2-40B4-BE49-F238E27FC236}">
                <a16:creationId xmlns:a16="http://schemas.microsoft.com/office/drawing/2014/main" id="{91EDA6E5-A0C5-E449-AA57-9781CA3D5C41}"/>
              </a:ext>
            </a:extLst>
          </p:cNvPr>
          <p:cNvSpPr txBox="1"/>
          <p:nvPr/>
        </p:nvSpPr>
        <p:spPr>
          <a:xfrm>
            <a:off x="3576084" y="3339584"/>
            <a:ext cx="1043876" cy="369332"/>
          </a:xfrm>
          <a:prstGeom prst="rect">
            <a:avLst/>
          </a:prstGeom>
          <a:noFill/>
        </p:spPr>
        <p:txBody>
          <a:bodyPr wrap="none" rtlCol="0">
            <a:spAutoFit/>
          </a:bodyPr>
          <a:lstStyle/>
          <a:p>
            <a:pPr algn="l" rtl="0"/>
            <a:r>
              <a:rPr lang="en-US" dirty="0">
                <a:solidFill>
                  <a:srgbClr val="111AFE"/>
                </a:solidFill>
              </a:rPr>
              <a:t>D</a:t>
            </a:r>
            <a:r>
              <a:rPr lang="en-IL" dirty="0">
                <a:solidFill>
                  <a:srgbClr val="111AFE"/>
                </a:solidFill>
              </a:rPr>
              <a:t>efine b</a:t>
            </a:r>
          </a:p>
        </p:txBody>
      </p:sp>
      <p:sp>
        <p:nvSpPr>
          <p:cNvPr id="13" name="Rounded Rectangle 12">
            <a:extLst>
              <a:ext uri="{FF2B5EF4-FFF2-40B4-BE49-F238E27FC236}">
                <a16:creationId xmlns:a16="http://schemas.microsoft.com/office/drawing/2014/main" id="{96527410-45D6-2F46-BA1C-4B099A426877}"/>
              </a:ext>
            </a:extLst>
          </p:cNvPr>
          <p:cNvSpPr/>
          <p:nvPr/>
        </p:nvSpPr>
        <p:spPr>
          <a:xfrm>
            <a:off x="152400" y="4107418"/>
            <a:ext cx="3124200"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
        <p:nvSpPr>
          <p:cNvPr id="14" name="TextBox 13">
            <a:extLst>
              <a:ext uri="{FF2B5EF4-FFF2-40B4-BE49-F238E27FC236}">
                <a16:creationId xmlns:a16="http://schemas.microsoft.com/office/drawing/2014/main" id="{36AEFCF2-C5A8-974D-97F9-E0FF49A92D61}"/>
              </a:ext>
            </a:extLst>
          </p:cNvPr>
          <p:cNvSpPr txBox="1"/>
          <p:nvPr/>
        </p:nvSpPr>
        <p:spPr>
          <a:xfrm>
            <a:off x="3509821" y="4107418"/>
            <a:ext cx="2775119" cy="369332"/>
          </a:xfrm>
          <a:prstGeom prst="rect">
            <a:avLst/>
          </a:prstGeom>
          <a:noFill/>
        </p:spPr>
        <p:txBody>
          <a:bodyPr wrap="none" rtlCol="0">
            <a:spAutoFit/>
          </a:bodyPr>
          <a:lstStyle/>
          <a:p>
            <a:pPr algn="l" rtl="0"/>
            <a:r>
              <a:rPr lang="en-US" dirty="0">
                <a:solidFill>
                  <a:srgbClr val="111AFE"/>
                </a:solidFill>
              </a:rPr>
              <a:t>D</a:t>
            </a:r>
            <a:r>
              <a:rPr lang="en-IL" dirty="0">
                <a:solidFill>
                  <a:srgbClr val="111AFE"/>
                </a:solidFill>
              </a:rPr>
              <a:t>efine the activation a_in</a:t>
            </a:r>
          </a:p>
        </p:txBody>
      </p:sp>
      <p:sp>
        <p:nvSpPr>
          <p:cNvPr id="15" name="Rounded Rectangle 14">
            <a:extLst>
              <a:ext uri="{FF2B5EF4-FFF2-40B4-BE49-F238E27FC236}">
                <a16:creationId xmlns:a16="http://schemas.microsoft.com/office/drawing/2014/main" id="{40D72595-94AB-2749-B438-4237532F5BA1}"/>
              </a:ext>
            </a:extLst>
          </p:cNvPr>
          <p:cNvSpPr/>
          <p:nvPr/>
        </p:nvSpPr>
        <p:spPr>
          <a:xfrm>
            <a:off x="4267200" y="1352550"/>
            <a:ext cx="838200" cy="21618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cxnSp>
        <p:nvCxnSpPr>
          <p:cNvPr id="17" name="Straight Arrow Connector 16">
            <a:extLst>
              <a:ext uri="{FF2B5EF4-FFF2-40B4-BE49-F238E27FC236}">
                <a16:creationId xmlns:a16="http://schemas.microsoft.com/office/drawing/2014/main" id="{3F17B145-9DF2-1D4B-AE57-8380680B4C31}"/>
              </a:ext>
            </a:extLst>
          </p:cNvPr>
          <p:cNvCxnSpPr>
            <a:stCxn id="15" idx="2"/>
          </p:cNvCxnSpPr>
          <p:nvPr/>
        </p:nvCxnSpPr>
        <p:spPr>
          <a:xfrm flipH="1">
            <a:off x="4267200" y="1568737"/>
            <a:ext cx="419100" cy="926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514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52B1CF-2AC7-1246-B3A6-8BE9535D0F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99" y="285750"/>
            <a:ext cx="8027831" cy="4191000"/>
          </a:xfrm>
          <a:prstGeom prst="rect">
            <a:avLst/>
          </a:prstGeom>
        </p:spPr>
      </p:pic>
      <p:sp>
        <p:nvSpPr>
          <p:cNvPr id="5" name="Rounded Rectangle 4">
            <a:extLst>
              <a:ext uri="{FF2B5EF4-FFF2-40B4-BE49-F238E27FC236}">
                <a16:creationId xmlns:a16="http://schemas.microsoft.com/office/drawing/2014/main" id="{B4F2E9B4-EEDB-0E4A-B0A5-28CC95078966}"/>
              </a:ext>
            </a:extLst>
          </p:cNvPr>
          <p:cNvSpPr/>
          <p:nvPr/>
        </p:nvSpPr>
        <p:spPr>
          <a:xfrm>
            <a:off x="3429000" y="1123950"/>
            <a:ext cx="3429000" cy="1905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cxnSp>
        <p:nvCxnSpPr>
          <p:cNvPr id="7" name="Straight Arrow Connector 6">
            <a:extLst>
              <a:ext uri="{FF2B5EF4-FFF2-40B4-BE49-F238E27FC236}">
                <a16:creationId xmlns:a16="http://schemas.microsoft.com/office/drawing/2014/main" id="{EEF3A751-2F0E-C341-A7CB-A733E8540DA9}"/>
              </a:ext>
            </a:extLst>
          </p:cNvPr>
          <p:cNvCxnSpPr>
            <a:cxnSpLocks/>
            <a:stCxn id="8" idx="1"/>
          </p:cNvCxnSpPr>
          <p:nvPr/>
        </p:nvCxnSpPr>
        <p:spPr>
          <a:xfrm flipH="1">
            <a:off x="5410201" y="1196429"/>
            <a:ext cx="1881118" cy="384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1AA8D91-087B-FE4A-BA46-AB63419B6F0A}"/>
              </a:ext>
            </a:extLst>
          </p:cNvPr>
          <p:cNvSpPr txBox="1"/>
          <p:nvPr/>
        </p:nvSpPr>
        <p:spPr>
          <a:xfrm>
            <a:off x="7291319" y="934819"/>
            <a:ext cx="1656223" cy="523220"/>
          </a:xfrm>
          <a:prstGeom prst="rect">
            <a:avLst/>
          </a:prstGeom>
          <a:noFill/>
        </p:spPr>
        <p:txBody>
          <a:bodyPr wrap="none" rtlCol="0">
            <a:spAutoFit/>
          </a:bodyPr>
          <a:lstStyle/>
          <a:p>
            <a:pPr algn="l" rtl="0"/>
            <a:r>
              <a:rPr lang="en-US" sz="1400" dirty="0">
                <a:solidFill>
                  <a:srgbClr val="111AFE"/>
                </a:solidFill>
              </a:rPr>
              <a:t>D</a:t>
            </a:r>
            <a:r>
              <a:rPr lang="en-IL" sz="1400" dirty="0">
                <a:solidFill>
                  <a:srgbClr val="111AFE"/>
                </a:solidFill>
              </a:rPr>
              <a:t>efine the number</a:t>
            </a:r>
          </a:p>
          <a:p>
            <a:pPr algn="l" rtl="0"/>
            <a:r>
              <a:rPr lang="en-US" sz="1400" dirty="0">
                <a:solidFill>
                  <a:srgbClr val="111AFE"/>
                </a:solidFill>
              </a:rPr>
              <a:t>O</a:t>
            </a:r>
            <a:r>
              <a:rPr lang="en-IL" sz="1400" dirty="0">
                <a:solidFill>
                  <a:srgbClr val="111AFE"/>
                </a:solidFill>
              </a:rPr>
              <a:t>f neurons</a:t>
            </a:r>
          </a:p>
        </p:txBody>
      </p:sp>
      <p:cxnSp>
        <p:nvCxnSpPr>
          <p:cNvPr id="10" name="Straight Arrow Connector 9">
            <a:extLst>
              <a:ext uri="{FF2B5EF4-FFF2-40B4-BE49-F238E27FC236}">
                <a16:creationId xmlns:a16="http://schemas.microsoft.com/office/drawing/2014/main" id="{1111F1A4-26CF-4D42-8D80-0ED57967CDD9}"/>
              </a:ext>
            </a:extLst>
          </p:cNvPr>
          <p:cNvCxnSpPr>
            <a:cxnSpLocks/>
          </p:cNvCxnSpPr>
          <p:nvPr/>
        </p:nvCxnSpPr>
        <p:spPr>
          <a:xfrm flipH="1">
            <a:off x="5867400" y="1733550"/>
            <a:ext cx="1600201"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C0D7503-9D7D-0F44-AEE8-B15572ACEF28}"/>
              </a:ext>
            </a:extLst>
          </p:cNvPr>
          <p:cNvSpPr txBox="1"/>
          <p:nvPr/>
        </p:nvSpPr>
        <p:spPr>
          <a:xfrm>
            <a:off x="7413722" y="1548140"/>
            <a:ext cx="1976823" cy="307777"/>
          </a:xfrm>
          <a:prstGeom prst="rect">
            <a:avLst/>
          </a:prstGeom>
          <a:noFill/>
        </p:spPr>
        <p:txBody>
          <a:bodyPr wrap="none" rtlCol="0">
            <a:spAutoFit/>
          </a:bodyPr>
          <a:lstStyle/>
          <a:p>
            <a:pPr algn="l" rtl="0"/>
            <a:r>
              <a:rPr lang="en-US" sz="1400" dirty="0">
                <a:solidFill>
                  <a:srgbClr val="111AFE"/>
                </a:solidFill>
              </a:rPr>
              <a:t>Initialize </a:t>
            </a:r>
            <a:r>
              <a:rPr lang="en-US" sz="1400" dirty="0" err="1">
                <a:solidFill>
                  <a:srgbClr val="111AFE"/>
                </a:solidFill>
              </a:rPr>
              <a:t>a_out</a:t>
            </a:r>
            <a:r>
              <a:rPr lang="en-US" sz="1400" dirty="0">
                <a:solidFill>
                  <a:srgbClr val="111AFE"/>
                </a:solidFill>
              </a:rPr>
              <a:t> with 0’s</a:t>
            </a:r>
            <a:endParaRPr lang="en-IL" sz="1400" dirty="0">
              <a:solidFill>
                <a:srgbClr val="111AFE"/>
              </a:solidFill>
            </a:endParaRPr>
          </a:p>
        </p:txBody>
      </p:sp>
      <p:cxnSp>
        <p:nvCxnSpPr>
          <p:cNvPr id="14" name="Straight Arrow Connector 13">
            <a:extLst>
              <a:ext uri="{FF2B5EF4-FFF2-40B4-BE49-F238E27FC236}">
                <a16:creationId xmlns:a16="http://schemas.microsoft.com/office/drawing/2014/main" id="{1F7D3ED7-14CE-214C-BD53-BFF09B053179}"/>
              </a:ext>
            </a:extLst>
          </p:cNvPr>
          <p:cNvCxnSpPr>
            <a:cxnSpLocks/>
          </p:cNvCxnSpPr>
          <p:nvPr/>
        </p:nvCxnSpPr>
        <p:spPr>
          <a:xfrm flipH="1">
            <a:off x="4876801" y="2300177"/>
            <a:ext cx="22097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5201CF2-C118-B848-92CD-7A19257B59A8}"/>
              </a:ext>
            </a:extLst>
          </p:cNvPr>
          <p:cNvSpPr txBox="1"/>
          <p:nvPr/>
        </p:nvSpPr>
        <p:spPr>
          <a:xfrm>
            <a:off x="7081875" y="2107108"/>
            <a:ext cx="2055371" cy="307777"/>
          </a:xfrm>
          <a:prstGeom prst="rect">
            <a:avLst/>
          </a:prstGeom>
          <a:noFill/>
        </p:spPr>
        <p:txBody>
          <a:bodyPr wrap="none" rtlCol="0">
            <a:spAutoFit/>
          </a:bodyPr>
          <a:lstStyle/>
          <a:p>
            <a:pPr algn="l" rtl="0"/>
            <a:r>
              <a:rPr lang="en-US" sz="1400" dirty="0">
                <a:solidFill>
                  <a:srgbClr val="111AFE"/>
                </a:solidFill>
              </a:rPr>
              <a:t>Take each column in W</a:t>
            </a:r>
            <a:endParaRPr lang="en-IL" sz="1400" dirty="0">
              <a:solidFill>
                <a:srgbClr val="111AFE"/>
              </a:solidFill>
            </a:endParaRPr>
          </a:p>
        </p:txBody>
      </p:sp>
      <p:cxnSp>
        <p:nvCxnSpPr>
          <p:cNvPr id="17" name="Straight Arrow Connector 16">
            <a:extLst>
              <a:ext uri="{FF2B5EF4-FFF2-40B4-BE49-F238E27FC236}">
                <a16:creationId xmlns:a16="http://schemas.microsoft.com/office/drawing/2014/main" id="{17206F92-FF09-324B-A63A-9E6CFD9149F7}"/>
              </a:ext>
            </a:extLst>
          </p:cNvPr>
          <p:cNvCxnSpPr>
            <a:cxnSpLocks/>
          </p:cNvCxnSpPr>
          <p:nvPr/>
        </p:nvCxnSpPr>
        <p:spPr>
          <a:xfrm flipH="1" flipV="1">
            <a:off x="6248400" y="2571750"/>
            <a:ext cx="1165323"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16C4A2D-F9C8-6C48-978F-52F54A40C179}"/>
              </a:ext>
            </a:extLst>
          </p:cNvPr>
          <p:cNvSpPr txBox="1"/>
          <p:nvPr/>
        </p:nvSpPr>
        <p:spPr>
          <a:xfrm>
            <a:off x="7394398" y="2467006"/>
            <a:ext cx="1090363" cy="307777"/>
          </a:xfrm>
          <a:prstGeom prst="rect">
            <a:avLst/>
          </a:prstGeom>
          <a:noFill/>
        </p:spPr>
        <p:txBody>
          <a:bodyPr wrap="none" rtlCol="0">
            <a:spAutoFit/>
          </a:bodyPr>
          <a:lstStyle/>
          <a:p>
            <a:pPr algn="l" rtl="0"/>
            <a:r>
              <a:rPr lang="en-US" sz="1400" dirty="0">
                <a:solidFill>
                  <a:srgbClr val="111AFE"/>
                </a:solidFill>
              </a:rPr>
              <a:t>Calculate Z</a:t>
            </a:r>
            <a:endParaRPr lang="en-IL" sz="1400" dirty="0">
              <a:solidFill>
                <a:srgbClr val="111AFE"/>
              </a:solidFill>
            </a:endParaRPr>
          </a:p>
        </p:txBody>
      </p:sp>
      <p:cxnSp>
        <p:nvCxnSpPr>
          <p:cNvPr id="21" name="Straight Arrow Connector 20">
            <a:extLst>
              <a:ext uri="{FF2B5EF4-FFF2-40B4-BE49-F238E27FC236}">
                <a16:creationId xmlns:a16="http://schemas.microsoft.com/office/drawing/2014/main" id="{3BCC3EDB-94F0-B24A-B6F7-FDC527A126DC}"/>
              </a:ext>
            </a:extLst>
          </p:cNvPr>
          <p:cNvCxnSpPr>
            <a:cxnSpLocks/>
          </p:cNvCxnSpPr>
          <p:nvPr/>
        </p:nvCxnSpPr>
        <p:spPr>
          <a:xfrm flipH="1" flipV="1">
            <a:off x="5284739" y="2736683"/>
            <a:ext cx="1051744" cy="1130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3D51121-49FC-084C-9935-85D7CC74FFDC}"/>
              </a:ext>
            </a:extLst>
          </p:cNvPr>
          <p:cNvSpPr txBox="1"/>
          <p:nvPr/>
        </p:nvSpPr>
        <p:spPr>
          <a:xfrm>
            <a:off x="6377253" y="3678019"/>
            <a:ext cx="2464136" cy="307777"/>
          </a:xfrm>
          <a:prstGeom prst="rect">
            <a:avLst/>
          </a:prstGeom>
          <a:noFill/>
        </p:spPr>
        <p:txBody>
          <a:bodyPr wrap="none" rtlCol="0">
            <a:spAutoFit/>
          </a:bodyPr>
          <a:lstStyle/>
          <a:p>
            <a:pPr algn="l" rtl="0"/>
            <a:r>
              <a:rPr lang="en-US" sz="1400" dirty="0">
                <a:solidFill>
                  <a:srgbClr val="111AFE"/>
                </a:solidFill>
              </a:rPr>
              <a:t>Apply the activation function </a:t>
            </a:r>
            <a:endParaRPr lang="en-IL" sz="1400" dirty="0">
              <a:solidFill>
                <a:srgbClr val="111AFE"/>
              </a:solidFill>
            </a:endParaRPr>
          </a:p>
        </p:txBody>
      </p:sp>
      <p:cxnSp>
        <p:nvCxnSpPr>
          <p:cNvPr id="24" name="Straight Arrow Connector 23">
            <a:extLst>
              <a:ext uri="{FF2B5EF4-FFF2-40B4-BE49-F238E27FC236}">
                <a16:creationId xmlns:a16="http://schemas.microsoft.com/office/drawing/2014/main" id="{11B7189E-B3E7-6D41-A171-6536918A6D59}"/>
              </a:ext>
            </a:extLst>
          </p:cNvPr>
          <p:cNvCxnSpPr>
            <a:cxnSpLocks/>
          </p:cNvCxnSpPr>
          <p:nvPr/>
        </p:nvCxnSpPr>
        <p:spPr>
          <a:xfrm flipH="1" flipV="1">
            <a:off x="4724400" y="3028950"/>
            <a:ext cx="1051744" cy="1130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9B48119-12F7-4A4B-BBA4-44A35751E559}"/>
              </a:ext>
            </a:extLst>
          </p:cNvPr>
          <p:cNvSpPr txBox="1"/>
          <p:nvPr/>
        </p:nvSpPr>
        <p:spPr>
          <a:xfrm>
            <a:off x="5776144" y="4041145"/>
            <a:ext cx="2085827" cy="307777"/>
          </a:xfrm>
          <a:prstGeom prst="rect">
            <a:avLst/>
          </a:prstGeom>
          <a:noFill/>
        </p:spPr>
        <p:txBody>
          <a:bodyPr wrap="none" rtlCol="0">
            <a:spAutoFit/>
          </a:bodyPr>
          <a:lstStyle/>
          <a:p>
            <a:pPr algn="l" rtl="0"/>
            <a:r>
              <a:rPr lang="en-US" sz="1400" dirty="0">
                <a:solidFill>
                  <a:srgbClr val="111AFE"/>
                </a:solidFill>
              </a:rPr>
              <a:t>Output Activation matrix</a:t>
            </a:r>
            <a:endParaRPr lang="en-IL" sz="1400" dirty="0">
              <a:solidFill>
                <a:srgbClr val="111AFE"/>
              </a:solidFill>
            </a:endParaRPr>
          </a:p>
        </p:txBody>
      </p:sp>
    </p:spTree>
    <p:extLst>
      <p:ext uri="{BB962C8B-B14F-4D97-AF65-F5344CB8AC3E}">
        <p14:creationId xmlns:p14="http://schemas.microsoft.com/office/powerpoint/2010/main" val="11655935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D5E2779-A955-8D4A-8ABA-F7F033135AF5}"/>
              </a:ext>
            </a:extLst>
          </p:cNvPr>
          <p:cNvGrpSpPr/>
          <p:nvPr/>
        </p:nvGrpSpPr>
        <p:grpSpPr>
          <a:xfrm>
            <a:off x="195635" y="133350"/>
            <a:ext cx="8686800" cy="4343400"/>
            <a:chOff x="152400" y="133350"/>
            <a:chExt cx="8871190" cy="4343400"/>
          </a:xfrm>
        </p:grpSpPr>
        <p:pic>
          <p:nvPicPr>
            <p:cNvPr id="4" name="Picture 3">
              <a:extLst>
                <a:ext uri="{FF2B5EF4-FFF2-40B4-BE49-F238E27FC236}">
                  <a16:creationId xmlns:a16="http://schemas.microsoft.com/office/drawing/2014/main" id="{1542BF98-1CB1-FC45-AB0B-91F30B3440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33350"/>
              <a:ext cx="8871190" cy="4343400"/>
            </a:xfrm>
            <a:prstGeom prst="rect">
              <a:avLst/>
            </a:prstGeom>
          </p:spPr>
        </p:pic>
        <p:sp>
          <p:nvSpPr>
            <p:cNvPr id="5" name="Rounded Rectangle 4">
              <a:extLst>
                <a:ext uri="{FF2B5EF4-FFF2-40B4-BE49-F238E27FC236}">
                  <a16:creationId xmlns:a16="http://schemas.microsoft.com/office/drawing/2014/main" id="{E314C8FE-2780-6F43-91BB-403392B61596}"/>
                </a:ext>
              </a:extLst>
            </p:cNvPr>
            <p:cNvSpPr/>
            <p:nvPr/>
          </p:nvSpPr>
          <p:spPr>
            <a:xfrm>
              <a:off x="3276600" y="895350"/>
              <a:ext cx="3352800" cy="21336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
          <p:nvSpPr>
            <p:cNvPr id="6" name="Rounded Rectangle 5">
              <a:extLst>
                <a:ext uri="{FF2B5EF4-FFF2-40B4-BE49-F238E27FC236}">
                  <a16:creationId xmlns:a16="http://schemas.microsoft.com/office/drawing/2014/main" id="{1F2CFFCB-15B2-7C43-B9C6-F56CE3354AF1}"/>
                </a:ext>
              </a:extLst>
            </p:cNvPr>
            <p:cNvSpPr/>
            <p:nvPr/>
          </p:nvSpPr>
          <p:spPr>
            <a:xfrm>
              <a:off x="4876800" y="2876550"/>
              <a:ext cx="3505200" cy="76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grpSp>
      <p:sp>
        <p:nvSpPr>
          <p:cNvPr id="8" name="Rounded Rectangle 7">
            <a:extLst>
              <a:ext uri="{FF2B5EF4-FFF2-40B4-BE49-F238E27FC236}">
                <a16:creationId xmlns:a16="http://schemas.microsoft.com/office/drawing/2014/main" id="{896C779C-C316-B14A-89FB-A6D48767FD40}"/>
              </a:ext>
            </a:extLst>
          </p:cNvPr>
          <p:cNvSpPr/>
          <p:nvPr/>
        </p:nvSpPr>
        <p:spPr>
          <a:xfrm>
            <a:off x="6553200" y="895350"/>
            <a:ext cx="2286000" cy="2209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
        <p:nvSpPr>
          <p:cNvPr id="9" name="TextBox 8">
            <a:extLst>
              <a:ext uri="{FF2B5EF4-FFF2-40B4-BE49-F238E27FC236}">
                <a16:creationId xmlns:a16="http://schemas.microsoft.com/office/drawing/2014/main" id="{7DF914FC-DF32-BA46-82D1-275F1242D2B0}"/>
              </a:ext>
            </a:extLst>
          </p:cNvPr>
          <p:cNvSpPr txBox="1"/>
          <p:nvPr/>
        </p:nvSpPr>
        <p:spPr>
          <a:xfrm>
            <a:off x="3243561" y="895350"/>
            <a:ext cx="3288080" cy="369332"/>
          </a:xfrm>
          <a:prstGeom prst="rect">
            <a:avLst/>
          </a:prstGeom>
          <a:noFill/>
        </p:spPr>
        <p:txBody>
          <a:bodyPr wrap="none" rtlCol="0">
            <a:spAutoFit/>
          </a:bodyPr>
          <a:lstStyle/>
          <a:p>
            <a:pPr algn="l" rtl="0"/>
            <a:r>
              <a:rPr lang="en-IL" dirty="0">
                <a:solidFill>
                  <a:srgbClr val="111AFE"/>
                </a:solidFill>
              </a:rPr>
              <a:t>Define the sequential function </a:t>
            </a:r>
          </a:p>
        </p:txBody>
      </p:sp>
      <p:sp>
        <p:nvSpPr>
          <p:cNvPr id="10" name="TextBox 9">
            <a:extLst>
              <a:ext uri="{FF2B5EF4-FFF2-40B4-BE49-F238E27FC236}">
                <a16:creationId xmlns:a16="http://schemas.microsoft.com/office/drawing/2014/main" id="{1544F034-C1C1-2247-9679-ED1978E01209}"/>
              </a:ext>
            </a:extLst>
          </p:cNvPr>
          <p:cNvSpPr txBox="1"/>
          <p:nvPr/>
        </p:nvSpPr>
        <p:spPr>
          <a:xfrm>
            <a:off x="3352800" y="1499116"/>
            <a:ext cx="3048000" cy="584775"/>
          </a:xfrm>
          <a:prstGeom prst="rect">
            <a:avLst/>
          </a:prstGeom>
          <a:noFill/>
        </p:spPr>
        <p:txBody>
          <a:bodyPr wrap="square" rtlCol="0">
            <a:spAutoFit/>
          </a:bodyPr>
          <a:lstStyle/>
          <a:p>
            <a:pPr algn="l" rtl="0"/>
            <a:r>
              <a:rPr lang="en-IL" sz="1600" dirty="0">
                <a:solidFill>
                  <a:srgbClr val="111AFE"/>
                </a:solidFill>
              </a:rPr>
              <a:t>The output of the previous layer</a:t>
            </a:r>
          </a:p>
          <a:p>
            <a:pPr algn="l" rtl="0"/>
            <a:r>
              <a:rPr lang="en-US" sz="1600" dirty="0">
                <a:solidFill>
                  <a:srgbClr val="111AFE"/>
                </a:solidFill>
              </a:rPr>
              <a:t>I</a:t>
            </a:r>
            <a:r>
              <a:rPr lang="en-IL" sz="1600" dirty="0">
                <a:solidFill>
                  <a:srgbClr val="111AFE"/>
                </a:solidFill>
              </a:rPr>
              <a:t>s the input of the next layer</a:t>
            </a:r>
          </a:p>
        </p:txBody>
      </p:sp>
      <p:sp>
        <p:nvSpPr>
          <p:cNvPr id="11" name="TextBox 10">
            <a:extLst>
              <a:ext uri="{FF2B5EF4-FFF2-40B4-BE49-F238E27FC236}">
                <a16:creationId xmlns:a16="http://schemas.microsoft.com/office/drawing/2014/main" id="{7A43F0FF-9C43-9548-AA8F-5197B16B68C1}"/>
              </a:ext>
            </a:extLst>
          </p:cNvPr>
          <p:cNvSpPr txBox="1"/>
          <p:nvPr/>
        </p:nvSpPr>
        <p:spPr>
          <a:xfrm>
            <a:off x="3733597" y="2531435"/>
            <a:ext cx="2286203" cy="584775"/>
          </a:xfrm>
          <a:prstGeom prst="rect">
            <a:avLst/>
          </a:prstGeom>
          <a:noFill/>
        </p:spPr>
        <p:txBody>
          <a:bodyPr wrap="none" rtlCol="0">
            <a:spAutoFit/>
          </a:bodyPr>
          <a:lstStyle/>
          <a:p>
            <a:pPr algn="l" rtl="0"/>
            <a:r>
              <a:rPr lang="en-US" sz="1600" dirty="0">
                <a:solidFill>
                  <a:srgbClr val="111AFE"/>
                </a:solidFill>
              </a:rPr>
              <a:t>F</a:t>
            </a:r>
            <a:r>
              <a:rPr lang="en-IL" sz="1600" dirty="0">
                <a:solidFill>
                  <a:srgbClr val="111AFE"/>
                </a:solidFill>
              </a:rPr>
              <a:t>_x in the output of the</a:t>
            </a:r>
          </a:p>
          <a:p>
            <a:pPr algn="l" rtl="0"/>
            <a:r>
              <a:rPr lang="en-IL" sz="1600" dirty="0">
                <a:solidFill>
                  <a:srgbClr val="111AFE"/>
                </a:solidFill>
              </a:rPr>
              <a:t>Neural Network </a:t>
            </a:r>
          </a:p>
        </p:txBody>
      </p:sp>
    </p:spTree>
    <p:extLst>
      <p:ext uri="{BB962C8B-B14F-4D97-AF65-F5344CB8AC3E}">
        <p14:creationId xmlns:p14="http://schemas.microsoft.com/office/powerpoint/2010/main" val="13210467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B95992-9D72-674D-9A91-6A3D7DBB45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093" y="-19050"/>
            <a:ext cx="8711236" cy="4137837"/>
          </a:xfrm>
          <a:prstGeom prst="rect">
            <a:avLst/>
          </a:prstGeom>
        </p:spPr>
      </p:pic>
      <p:sp>
        <p:nvSpPr>
          <p:cNvPr id="5" name="Rounded Rectangle 4">
            <a:extLst>
              <a:ext uri="{FF2B5EF4-FFF2-40B4-BE49-F238E27FC236}">
                <a16:creationId xmlns:a16="http://schemas.microsoft.com/office/drawing/2014/main" id="{858B6BD9-26A6-454C-932D-0879F36C234B}"/>
              </a:ext>
            </a:extLst>
          </p:cNvPr>
          <p:cNvSpPr/>
          <p:nvPr/>
        </p:nvSpPr>
        <p:spPr>
          <a:xfrm>
            <a:off x="228600" y="1504950"/>
            <a:ext cx="3200400" cy="2819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
        <p:nvSpPr>
          <p:cNvPr id="6" name="Rounded Rectangle 5">
            <a:extLst>
              <a:ext uri="{FF2B5EF4-FFF2-40B4-BE49-F238E27FC236}">
                <a16:creationId xmlns:a16="http://schemas.microsoft.com/office/drawing/2014/main" id="{BECD1D9B-487C-8E44-924D-AA909283CD78}"/>
              </a:ext>
            </a:extLst>
          </p:cNvPr>
          <p:cNvSpPr/>
          <p:nvPr/>
        </p:nvSpPr>
        <p:spPr>
          <a:xfrm>
            <a:off x="3429000" y="819150"/>
            <a:ext cx="2971800" cy="1905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
        <p:nvSpPr>
          <p:cNvPr id="7" name="Rounded Rectangle 6">
            <a:extLst>
              <a:ext uri="{FF2B5EF4-FFF2-40B4-BE49-F238E27FC236}">
                <a16:creationId xmlns:a16="http://schemas.microsoft.com/office/drawing/2014/main" id="{C9B5FBAC-D50C-6F43-AA81-0B035FA4D9EA}"/>
              </a:ext>
            </a:extLst>
          </p:cNvPr>
          <p:cNvSpPr/>
          <p:nvPr/>
        </p:nvSpPr>
        <p:spPr>
          <a:xfrm>
            <a:off x="6629400" y="819150"/>
            <a:ext cx="2209800" cy="17526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p>
        </p:txBody>
      </p:sp>
    </p:spTree>
    <p:extLst>
      <p:ext uri="{BB962C8B-B14F-4D97-AF65-F5344CB8AC3E}">
        <p14:creationId xmlns:p14="http://schemas.microsoft.com/office/powerpoint/2010/main" val="35795359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6B47191-7A26-A24F-90C9-26D8443BDE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819150"/>
            <a:ext cx="5862292" cy="3581400"/>
          </a:xfrm>
          <a:prstGeom prst="rect">
            <a:avLst/>
          </a:prstGeom>
        </p:spPr>
      </p:pic>
    </p:spTree>
    <p:extLst>
      <p:ext uri="{BB962C8B-B14F-4D97-AF65-F5344CB8AC3E}">
        <p14:creationId xmlns:p14="http://schemas.microsoft.com/office/powerpoint/2010/main" val="20428611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5F31ED-4912-DC41-9D1F-2687B28F4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011" y="590550"/>
            <a:ext cx="7776189" cy="3581400"/>
          </a:xfrm>
          <a:prstGeom prst="rect">
            <a:avLst/>
          </a:prstGeom>
        </p:spPr>
      </p:pic>
    </p:spTree>
    <p:extLst>
      <p:ext uri="{BB962C8B-B14F-4D97-AF65-F5344CB8AC3E}">
        <p14:creationId xmlns:p14="http://schemas.microsoft.com/office/powerpoint/2010/main" val="28899128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3F2EB9-1B4B-1944-BA30-497053DF70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399" y="361950"/>
            <a:ext cx="8118389" cy="3429000"/>
          </a:xfrm>
          <a:prstGeom prst="rect">
            <a:avLst/>
          </a:prstGeom>
        </p:spPr>
      </p:pic>
    </p:spTree>
    <p:extLst>
      <p:ext uri="{BB962C8B-B14F-4D97-AF65-F5344CB8AC3E}">
        <p14:creationId xmlns:p14="http://schemas.microsoft.com/office/powerpoint/2010/main" val="6829334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DD155F-FE47-5E44-A413-73B761D4D3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85750"/>
            <a:ext cx="7657346" cy="4038600"/>
          </a:xfrm>
          <a:prstGeom prst="rect">
            <a:avLst/>
          </a:prstGeom>
        </p:spPr>
      </p:pic>
    </p:spTree>
    <p:extLst>
      <p:ext uri="{BB962C8B-B14F-4D97-AF65-F5344CB8AC3E}">
        <p14:creationId xmlns:p14="http://schemas.microsoft.com/office/powerpoint/2010/main" val="29680538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9C3155-6F6C-3743-9A32-E709F48AA9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 y="133350"/>
            <a:ext cx="8309081" cy="4038600"/>
          </a:xfrm>
          <a:prstGeom prst="rect">
            <a:avLst/>
          </a:prstGeom>
        </p:spPr>
      </p:pic>
    </p:spTree>
    <p:extLst>
      <p:ext uri="{BB962C8B-B14F-4D97-AF65-F5344CB8AC3E}">
        <p14:creationId xmlns:p14="http://schemas.microsoft.com/office/powerpoint/2010/main" val="41326436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86A7FC-E67E-C94A-8C6D-8E7F3DB621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99" y="285750"/>
            <a:ext cx="8216515" cy="3810000"/>
          </a:xfrm>
          <a:prstGeom prst="rect">
            <a:avLst/>
          </a:prstGeom>
        </p:spPr>
      </p:pic>
    </p:spTree>
    <p:extLst>
      <p:ext uri="{BB962C8B-B14F-4D97-AF65-F5344CB8AC3E}">
        <p14:creationId xmlns:p14="http://schemas.microsoft.com/office/powerpoint/2010/main" val="22830719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E78116-D1B7-2441-9DC4-2F55102179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34113"/>
            <a:ext cx="7696200" cy="4426312"/>
          </a:xfrm>
          <a:prstGeom prst="rect">
            <a:avLst/>
          </a:prstGeom>
        </p:spPr>
      </p:pic>
    </p:spTree>
    <p:extLst>
      <p:ext uri="{BB962C8B-B14F-4D97-AF65-F5344CB8AC3E}">
        <p14:creationId xmlns:p14="http://schemas.microsoft.com/office/powerpoint/2010/main" val="10353930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E2FF71-0793-F046-B5DE-0C7031E5D81E}"/>
              </a:ext>
            </a:extLst>
          </p:cNvPr>
          <p:cNvSpPr>
            <a:spLocks noGrp="1"/>
          </p:cNvSpPr>
          <p:nvPr>
            <p:ph type="ctrTitle"/>
          </p:nvPr>
        </p:nvSpPr>
        <p:spPr>
          <a:xfrm>
            <a:off x="3278761" y="1123950"/>
            <a:ext cx="4112639" cy="677108"/>
          </a:xfrm>
        </p:spPr>
        <p:txBody>
          <a:bodyPr/>
          <a:lstStyle/>
          <a:p>
            <a:pPr algn="ctr" rtl="1"/>
            <a:r>
              <a:rPr lang="en-US" sz="4400" dirty="0"/>
              <a:t>Vectorization </a:t>
            </a:r>
            <a:endParaRPr lang="en-IL" sz="4400" dirty="0"/>
          </a:p>
        </p:txBody>
      </p:sp>
      <p:sp>
        <p:nvSpPr>
          <p:cNvPr id="6" name="Subtitle 5">
            <a:extLst>
              <a:ext uri="{FF2B5EF4-FFF2-40B4-BE49-F238E27FC236}">
                <a16:creationId xmlns:a16="http://schemas.microsoft.com/office/drawing/2014/main" id="{D89754D9-3698-B643-8275-09D06991CFD6}"/>
              </a:ext>
            </a:extLst>
          </p:cNvPr>
          <p:cNvSpPr>
            <a:spLocks noGrp="1"/>
          </p:cNvSpPr>
          <p:nvPr>
            <p:ph type="subTitle" idx="4"/>
          </p:nvPr>
        </p:nvSpPr>
        <p:spPr>
          <a:xfrm>
            <a:off x="3249929" y="3182048"/>
            <a:ext cx="5357495" cy="1107996"/>
          </a:xfrm>
        </p:spPr>
        <p:txBody>
          <a:bodyPr/>
          <a:lstStyle/>
          <a:p>
            <a:pPr marL="0" rtl="0"/>
            <a:r>
              <a:rPr lang="en-US" sz="3600" dirty="0"/>
              <a:t>H</a:t>
            </a:r>
            <a:r>
              <a:rPr lang="en-IL" sz="3600" dirty="0"/>
              <a:t>ow neural networks are implemented efficiently</a:t>
            </a:r>
          </a:p>
        </p:txBody>
      </p:sp>
    </p:spTree>
    <p:extLst>
      <p:ext uri="{BB962C8B-B14F-4D97-AF65-F5344CB8AC3E}">
        <p14:creationId xmlns:p14="http://schemas.microsoft.com/office/powerpoint/2010/main" val="20750967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EFCFC-C7F7-6840-B489-52C5B3C47B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 y="209550"/>
            <a:ext cx="8297759" cy="4191000"/>
          </a:xfrm>
          <a:prstGeom prst="rect">
            <a:avLst/>
          </a:prstGeom>
        </p:spPr>
      </p:pic>
    </p:spTree>
    <p:extLst>
      <p:ext uri="{BB962C8B-B14F-4D97-AF65-F5344CB8AC3E}">
        <p14:creationId xmlns:p14="http://schemas.microsoft.com/office/powerpoint/2010/main" val="19573674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776D25-78EE-AE4F-90FA-E7BBF94F460D}"/>
              </a:ext>
            </a:extLst>
          </p:cNvPr>
          <p:cNvSpPr>
            <a:spLocks noGrp="1"/>
          </p:cNvSpPr>
          <p:nvPr>
            <p:ph type="ctrTitle"/>
          </p:nvPr>
        </p:nvSpPr>
        <p:spPr>
          <a:xfrm>
            <a:off x="2895600" y="1276350"/>
            <a:ext cx="5502909" cy="553998"/>
          </a:xfrm>
        </p:spPr>
        <p:txBody>
          <a:bodyPr/>
          <a:lstStyle/>
          <a:p>
            <a:pPr algn="ctr"/>
            <a:r>
              <a:rPr lang="en-IL" dirty="0"/>
              <a:t>Vectorization</a:t>
            </a:r>
          </a:p>
        </p:txBody>
      </p:sp>
      <p:sp>
        <p:nvSpPr>
          <p:cNvPr id="4" name="Subtitle 3">
            <a:extLst>
              <a:ext uri="{FF2B5EF4-FFF2-40B4-BE49-F238E27FC236}">
                <a16:creationId xmlns:a16="http://schemas.microsoft.com/office/drawing/2014/main" id="{C223A8C5-E785-C646-A86E-5C7EF60C7B33}"/>
              </a:ext>
            </a:extLst>
          </p:cNvPr>
          <p:cNvSpPr>
            <a:spLocks noGrp="1"/>
          </p:cNvSpPr>
          <p:nvPr>
            <p:ph type="subTitle" idx="4"/>
          </p:nvPr>
        </p:nvSpPr>
        <p:spPr>
          <a:xfrm>
            <a:off x="3249929" y="3182049"/>
            <a:ext cx="5502909" cy="761302"/>
          </a:xfrm>
        </p:spPr>
        <p:txBody>
          <a:bodyPr/>
          <a:lstStyle/>
          <a:p>
            <a:pPr marL="0" algn="ctr" rtl="0"/>
            <a:r>
              <a:rPr lang="en-IL" sz="4400" dirty="0"/>
              <a:t>Matrix Multiplication</a:t>
            </a:r>
          </a:p>
        </p:txBody>
      </p:sp>
    </p:spTree>
    <p:extLst>
      <p:ext uri="{BB962C8B-B14F-4D97-AF65-F5344CB8AC3E}">
        <p14:creationId xmlns:p14="http://schemas.microsoft.com/office/powerpoint/2010/main" val="30526529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46B078-1B77-EC4D-BDE7-A8A9637535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99" y="438150"/>
            <a:ext cx="8371185" cy="3276600"/>
          </a:xfrm>
          <a:prstGeom prst="rect">
            <a:avLst/>
          </a:prstGeom>
        </p:spPr>
      </p:pic>
    </p:spTree>
    <p:extLst>
      <p:ext uri="{BB962C8B-B14F-4D97-AF65-F5344CB8AC3E}">
        <p14:creationId xmlns:p14="http://schemas.microsoft.com/office/powerpoint/2010/main" val="19472367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E027D5-62A6-F245-8D68-8D448E80F0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09550"/>
            <a:ext cx="8361218" cy="3886200"/>
          </a:xfrm>
          <a:prstGeom prst="rect">
            <a:avLst/>
          </a:prstGeom>
        </p:spPr>
      </p:pic>
    </p:spTree>
    <p:extLst>
      <p:ext uri="{BB962C8B-B14F-4D97-AF65-F5344CB8AC3E}">
        <p14:creationId xmlns:p14="http://schemas.microsoft.com/office/powerpoint/2010/main" val="20022572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DCB52A-2B58-BF47-8D5C-A509743C93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00319"/>
            <a:ext cx="8580351" cy="4809831"/>
          </a:xfrm>
          <a:prstGeom prst="rect">
            <a:avLst/>
          </a:prstGeom>
        </p:spPr>
      </p:pic>
    </p:spTree>
    <p:extLst>
      <p:ext uri="{BB962C8B-B14F-4D97-AF65-F5344CB8AC3E}">
        <p14:creationId xmlns:p14="http://schemas.microsoft.com/office/powerpoint/2010/main" val="19551320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41B96-DB3E-4D46-8652-618EEF71314C}"/>
              </a:ext>
            </a:extLst>
          </p:cNvPr>
          <p:cNvSpPr>
            <a:spLocks noGrp="1"/>
          </p:cNvSpPr>
          <p:nvPr>
            <p:ph type="ctrTitle"/>
          </p:nvPr>
        </p:nvSpPr>
        <p:spPr>
          <a:xfrm>
            <a:off x="3104515" y="1373988"/>
            <a:ext cx="5502909" cy="677108"/>
          </a:xfrm>
        </p:spPr>
        <p:txBody>
          <a:bodyPr/>
          <a:lstStyle/>
          <a:p>
            <a:pPr algn="ctr" rtl="0"/>
            <a:r>
              <a:rPr lang="en-IL" sz="4400" dirty="0"/>
              <a:t>Vectorization</a:t>
            </a:r>
          </a:p>
        </p:txBody>
      </p:sp>
      <p:sp>
        <p:nvSpPr>
          <p:cNvPr id="4" name="Subtitle 3">
            <a:extLst>
              <a:ext uri="{FF2B5EF4-FFF2-40B4-BE49-F238E27FC236}">
                <a16:creationId xmlns:a16="http://schemas.microsoft.com/office/drawing/2014/main" id="{A5B6779D-E323-1542-B745-AF3B4A6DE8B7}"/>
              </a:ext>
            </a:extLst>
          </p:cNvPr>
          <p:cNvSpPr>
            <a:spLocks noGrp="1"/>
          </p:cNvSpPr>
          <p:nvPr>
            <p:ph type="subTitle" idx="4"/>
          </p:nvPr>
        </p:nvSpPr>
        <p:spPr>
          <a:xfrm>
            <a:off x="3104515" y="2876550"/>
            <a:ext cx="5788024" cy="1231106"/>
          </a:xfrm>
        </p:spPr>
        <p:txBody>
          <a:bodyPr/>
          <a:lstStyle/>
          <a:p>
            <a:pPr marL="0" algn="ctr" rtl="0"/>
            <a:r>
              <a:rPr lang="en-IL" sz="4000" dirty="0"/>
              <a:t>Matrix Multiplication rules</a:t>
            </a:r>
          </a:p>
        </p:txBody>
      </p:sp>
    </p:spTree>
    <p:extLst>
      <p:ext uri="{BB962C8B-B14F-4D97-AF65-F5344CB8AC3E}">
        <p14:creationId xmlns:p14="http://schemas.microsoft.com/office/powerpoint/2010/main" val="4119492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EF30B2-9E8B-DF45-9016-33E7C9629F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361950"/>
            <a:ext cx="8735615" cy="1752600"/>
          </a:xfrm>
          <a:prstGeom prst="rect">
            <a:avLst/>
          </a:prstGeom>
        </p:spPr>
      </p:pic>
      <p:pic>
        <p:nvPicPr>
          <p:cNvPr id="6" name="Picture 5">
            <a:extLst>
              <a:ext uri="{FF2B5EF4-FFF2-40B4-BE49-F238E27FC236}">
                <a16:creationId xmlns:a16="http://schemas.microsoft.com/office/drawing/2014/main" id="{0E1EAC4B-32BE-7F48-8F8E-DCD0477261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8862" y="2419350"/>
            <a:ext cx="8219303" cy="990600"/>
          </a:xfrm>
          <a:prstGeom prst="rect">
            <a:avLst/>
          </a:prstGeom>
        </p:spPr>
      </p:pic>
    </p:spTree>
    <p:extLst>
      <p:ext uri="{BB962C8B-B14F-4D97-AF65-F5344CB8AC3E}">
        <p14:creationId xmlns:p14="http://schemas.microsoft.com/office/powerpoint/2010/main" val="6665870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35E296-BF08-B84E-BA1D-2E6D0A05E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0"/>
            <a:ext cx="8318147" cy="4476750"/>
          </a:xfrm>
          <a:prstGeom prst="rect">
            <a:avLst/>
          </a:prstGeom>
        </p:spPr>
      </p:pic>
    </p:spTree>
    <p:extLst>
      <p:ext uri="{BB962C8B-B14F-4D97-AF65-F5344CB8AC3E}">
        <p14:creationId xmlns:p14="http://schemas.microsoft.com/office/powerpoint/2010/main" val="6682996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63E037-7E85-4F45-B59D-E8E191E22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33350"/>
            <a:ext cx="8963450" cy="4343400"/>
          </a:xfrm>
          <a:prstGeom prst="rect">
            <a:avLst/>
          </a:prstGeom>
        </p:spPr>
      </p:pic>
    </p:spTree>
    <p:extLst>
      <p:ext uri="{BB962C8B-B14F-4D97-AF65-F5344CB8AC3E}">
        <p14:creationId xmlns:p14="http://schemas.microsoft.com/office/powerpoint/2010/main" val="4198835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6D01CB-AF4D-C943-81BA-49A8F1290C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323850"/>
            <a:ext cx="8875545" cy="4229100"/>
          </a:xfrm>
          <a:prstGeom prst="rect">
            <a:avLst/>
          </a:prstGeom>
        </p:spPr>
      </p:pic>
    </p:spTree>
    <p:extLst>
      <p:ext uri="{BB962C8B-B14F-4D97-AF65-F5344CB8AC3E}">
        <p14:creationId xmlns:p14="http://schemas.microsoft.com/office/powerpoint/2010/main" val="24670332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71AD40-8F68-5A40-A69F-B52C6E27DCA6}"/>
              </a:ext>
            </a:extLst>
          </p:cNvPr>
          <p:cNvSpPr>
            <a:spLocks noGrp="1"/>
          </p:cNvSpPr>
          <p:nvPr>
            <p:ph type="ctrTitle"/>
          </p:nvPr>
        </p:nvSpPr>
        <p:spPr>
          <a:xfrm>
            <a:off x="3118866" y="1171193"/>
            <a:ext cx="5502909" cy="553998"/>
          </a:xfrm>
        </p:spPr>
        <p:txBody>
          <a:bodyPr/>
          <a:lstStyle/>
          <a:p>
            <a:pPr algn="ctr" rtl="1"/>
            <a:r>
              <a:rPr lang="en-US" dirty="0"/>
              <a:t>Vectorization </a:t>
            </a:r>
            <a:endParaRPr lang="en-IL" dirty="0"/>
          </a:p>
        </p:txBody>
      </p:sp>
      <p:sp>
        <p:nvSpPr>
          <p:cNvPr id="6" name="Subtitle 5">
            <a:extLst>
              <a:ext uri="{FF2B5EF4-FFF2-40B4-BE49-F238E27FC236}">
                <a16:creationId xmlns:a16="http://schemas.microsoft.com/office/drawing/2014/main" id="{411E61C8-D6D3-B647-B484-C99F7C4A0017}"/>
              </a:ext>
            </a:extLst>
          </p:cNvPr>
          <p:cNvSpPr>
            <a:spLocks noGrp="1"/>
          </p:cNvSpPr>
          <p:nvPr>
            <p:ph type="subTitle" idx="4"/>
          </p:nvPr>
        </p:nvSpPr>
        <p:spPr>
          <a:xfrm>
            <a:off x="3098813" y="2857294"/>
            <a:ext cx="5357495" cy="553998"/>
          </a:xfrm>
        </p:spPr>
        <p:txBody>
          <a:bodyPr/>
          <a:lstStyle/>
          <a:p>
            <a:pPr marL="0" algn="ctr" rtl="0"/>
            <a:r>
              <a:rPr lang="en-IL" sz="3600" dirty="0"/>
              <a:t>Matrix Multiplication Code</a:t>
            </a:r>
          </a:p>
        </p:txBody>
      </p:sp>
    </p:spTree>
    <p:extLst>
      <p:ext uri="{BB962C8B-B14F-4D97-AF65-F5344CB8AC3E}">
        <p14:creationId xmlns:p14="http://schemas.microsoft.com/office/powerpoint/2010/main" val="33711927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F5FCED-3679-7C4A-A92E-84A3C397F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121" y="361950"/>
            <a:ext cx="8929757" cy="3962400"/>
          </a:xfrm>
          <a:prstGeom prst="rect">
            <a:avLst/>
          </a:prstGeom>
        </p:spPr>
      </p:pic>
    </p:spTree>
    <p:extLst>
      <p:ext uri="{BB962C8B-B14F-4D97-AF65-F5344CB8AC3E}">
        <p14:creationId xmlns:p14="http://schemas.microsoft.com/office/powerpoint/2010/main" val="12998552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D53CF9-F3C6-634D-A25C-1637E7B98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46" y="209550"/>
            <a:ext cx="8968154" cy="4857750"/>
          </a:xfrm>
          <a:prstGeom prst="rect">
            <a:avLst/>
          </a:prstGeom>
        </p:spPr>
      </p:pic>
    </p:spTree>
    <p:extLst>
      <p:ext uri="{BB962C8B-B14F-4D97-AF65-F5344CB8AC3E}">
        <p14:creationId xmlns:p14="http://schemas.microsoft.com/office/powerpoint/2010/main" val="136473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4931</TotalTime>
  <Words>17975</Words>
  <Application>Microsoft Macintosh PowerPoint</Application>
  <PresentationFormat>On-screen Show (16:9)</PresentationFormat>
  <Paragraphs>670</Paragraphs>
  <Slides>85</Slides>
  <Notes>84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Arial</vt:lpstr>
      <vt:lpstr>Calibri</vt:lpstr>
      <vt:lpstr>Consolas</vt:lpstr>
      <vt:lpstr>Lucida Sans Unicode</vt:lpstr>
      <vt:lpstr>Verdana</vt:lpstr>
      <vt:lpstr>Office Theme</vt:lpstr>
      <vt:lpstr>PowerPoint Presentation</vt:lpstr>
      <vt:lpstr>PowerPoint Presentation</vt:lpstr>
      <vt:lpstr>Neural Network Intution</vt:lpstr>
      <vt:lpstr>PowerPoint Presentation</vt:lpstr>
      <vt:lpstr>Biological vs. Artificial Neurons</vt:lpstr>
      <vt:lpstr>PowerPoint Presentation</vt:lpstr>
      <vt:lpstr>Neural Network Intution</vt:lpstr>
      <vt:lpstr>PowerPoint Presentation</vt:lpstr>
      <vt:lpstr>PowerPoint Presentation</vt:lpstr>
      <vt:lpstr>PowerPoint Presentation</vt:lpstr>
      <vt:lpstr>PowerPoint Presentation</vt:lpstr>
      <vt:lpstr>PowerPoint Presentation</vt:lpstr>
      <vt:lpstr>PowerPoint Presentation</vt:lpstr>
      <vt:lpstr>Neural Networks Intuition</vt:lpstr>
      <vt:lpstr>PowerPoint Presentation</vt:lpstr>
      <vt:lpstr>PowerPoint Presentation</vt:lpstr>
      <vt:lpstr>PowerPoint Presentation</vt:lpstr>
      <vt:lpstr>Neural Network Model</vt:lpstr>
      <vt:lpstr>PowerPoint Presentation</vt:lpstr>
      <vt:lpstr>PowerPoint Presentation</vt:lpstr>
      <vt:lpstr>PowerPoint Presentation</vt:lpstr>
      <vt:lpstr>PowerPoint Presentation</vt:lpstr>
      <vt:lpstr>Neural Network Model</vt:lpstr>
      <vt:lpstr>PowerPoint Presentation</vt:lpstr>
      <vt:lpstr>PowerPoint Presentation</vt:lpstr>
      <vt:lpstr>PowerPoint Presentation</vt:lpstr>
      <vt:lpstr>PowerPoint Presentation</vt:lpstr>
      <vt:lpstr>PowerPoint Presentation</vt:lpstr>
      <vt:lpstr>PowerPoint Presentation</vt:lpstr>
      <vt:lpstr>Neural Network Model</vt:lpstr>
      <vt:lpstr>PowerPoint Presentation</vt:lpstr>
      <vt:lpstr>PowerPoint Presentation</vt:lpstr>
      <vt:lpstr>PowerPoint Presentation</vt:lpstr>
      <vt:lpstr>PowerPoint Presentation</vt:lpstr>
      <vt:lpstr>PowerPoint Presentation</vt:lpstr>
      <vt:lpstr>TensorFlow Implementation</vt:lpstr>
      <vt:lpstr>PowerPoint Presentation</vt:lpstr>
      <vt:lpstr>PowerPoint Presentation</vt:lpstr>
      <vt:lpstr>PowerPoint Presentation</vt:lpstr>
      <vt:lpstr>PowerPoint Presentation</vt:lpstr>
      <vt:lpstr>PowerPoint Presentation</vt:lpstr>
      <vt:lpstr>TensorFlow Implementation</vt:lpstr>
      <vt:lpstr>PowerPoint Presentation</vt:lpstr>
      <vt:lpstr>PowerPoint Presentation</vt:lpstr>
      <vt:lpstr>PowerPoint Presentation</vt:lpstr>
      <vt:lpstr>PowerPoint Presentation</vt:lpstr>
      <vt:lpstr>PowerPoint Presentation</vt:lpstr>
      <vt:lpstr>PowerPoint Presentation</vt:lpstr>
      <vt:lpstr>TensorFlow Implementation</vt:lpstr>
      <vt:lpstr>PowerPoint Presentation</vt:lpstr>
      <vt:lpstr>PowerPoint Presentation</vt:lpstr>
      <vt:lpstr>PowerPoint Presentation</vt:lpstr>
      <vt:lpstr>PowerPoint Presentation</vt:lpstr>
      <vt:lpstr>PowerPoint Presentation</vt:lpstr>
      <vt:lpstr>Neural Network Implementation in 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Vectorization </vt:lpstr>
      <vt:lpstr>PowerPoint Presentation</vt:lpstr>
      <vt:lpstr>Vectorization</vt:lpstr>
      <vt:lpstr>PowerPoint Presentation</vt:lpstr>
      <vt:lpstr>PowerPoint Presentation</vt:lpstr>
      <vt:lpstr>PowerPoint Presentation</vt:lpstr>
      <vt:lpstr>Vectorization</vt:lpstr>
      <vt:lpstr>PowerPoint Presentation</vt:lpstr>
      <vt:lpstr>PowerPoint Presentation</vt:lpstr>
      <vt:lpstr>PowerPoint Presentation</vt:lpstr>
      <vt:lpstr>PowerPoint Presentation</vt:lpstr>
      <vt:lpstr>Vectorization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Copyright Notice</dc:title>
  <cp:lastModifiedBy>Khalid Said Hussien Rabaya</cp:lastModifiedBy>
  <cp:revision>83</cp:revision>
  <dcterms:created xsi:type="dcterms:W3CDTF">2023-10-25T18:38:59Z</dcterms:created>
  <dcterms:modified xsi:type="dcterms:W3CDTF">2026-02-05T10:52:53Z</dcterms:modified>
</cp:coreProperties>
</file>