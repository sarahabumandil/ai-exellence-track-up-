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71" r:id="rId4"/>
    <p:sldId id="258" r:id="rId5"/>
    <p:sldId id="272" r:id="rId6"/>
    <p:sldId id="273" r:id="rId7"/>
    <p:sldId id="259" r:id="rId8"/>
    <p:sldId id="274" r:id="rId9"/>
    <p:sldId id="275" r:id="rId10"/>
    <p:sldId id="276" r:id="rId11"/>
    <p:sldId id="279" r:id="rId12"/>
    <p:sldId id="261" r:id="rId13"/>
    <p:sldId id="264" r:id="rId14"/>
    <p:sldId id="266" r:id="rId15"/>
    <p:sldId id="267" r:id="rId16"/>
    <p:sldId id="265" r:id="rId17"/>
    <p:sldId id="268" r:id="rId18"/>
    <p:sldId id="280" r:id="rId19"/>
    <p:sldId id="281" r:id="rId20"/>
    <p:sldId id="282" r:id="rId21"/>
    <p:sldId id="269" r:id="rId22"/>
    <p:sldId id="270" r:id="rId23"/>
    <p:sldId id="277" r:id="rId24"/>
    <p:sldId id="278" r:id="rId25"/>
  </p:sldIdLst>
  <p:sldSz cx="12192000" cy="6858000"/>
  <p:notesSz cx="6858000" cy="9144000"/>
  <p:defaultTextStyle>
    <a:defPPr>
      <a:defRPr lang="en-P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0D43EA"/>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628"/>
    <p:restoredTop sz="95332"/>
  </p:normalViewPr>
  <p:slideViewPr>
    <p:cSldViewPr snapToGrid="0">
      <p:cViewPr varScale="1">
        <p:scale>
          <a:sx n="112" d="100"/>
          <a:sy n="112" d="100"/>
        </p:scale>
        <p:origin x="1536" y="200"/>
      </p:cViewPr>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DB0855-5233-274E-B967-18CA3D8057B7}" type="datetimeFigureOut">
              <a:rPr lang="en-PS" smtClean="0"/>
              <a:t>11/13/25</a:t>
            </a:fld>
            <a:endParaRPr lang="en-P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689649-DCC7-7843-9D6B-83276EDEA673}" type="slidenum">
              <a:rPr lang="en-PS" smtClean="0"/>
              <a:t>‹#›</a:t>
            </a:fld>
            <a:endParaRPr lang="en-PS"/>
          </a:p>
        </p:txBody>
      </p:sp>
    </p:spTree>
    <p:extLst>
      <p:ext uri="{BB962C8B-B14F-4D97-AF65-F5344CB8AC3E}">
        <p14:creationId xmlns:p14="http://schemas.microsoft.com/office/powerpoint/2010/main" val="3512988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An expert system is a computer program or software application that emulates the problem-solving and decision-making abilities of a human expert in a specific domain. It achieves this by storing a vast knowledge base of domain-specific information, rules, and heuristics gathered from experts, and using an inference engine to make recommendations or decisions based on the knowledge. Expert systems are designed to provide users with expert-level guidance, explanations, and solutions, making them valuable tools for automating complex decision-making processes in various fields while ensuring consistency and reliability.</a:t>
            </a:r>
            <a:endParaRPr lang="en-PS" dirty="0"/>
          </a:p>
        </p:txBody>
      </p:sp>
      <p:sp>
        <p:nvSpPr>
          <p:cNvPr id="4" name="Slide Number Placeholder 3"/>
          <p:cNvSpPr>
            <a:spLocks noGrp="1"/>
          </p:cNvSpPr>
          <p:nvPr>
            <p:ph type="sldNum" sz="quarter" idx="5"/>
          </p:nvPr>
        </p:nvSpPr>
        <p:spPr/>
        <p:txBody>
          <a:bodyPr/>
          <a:lstStyle/>
          <a:p>
            <a:fld id="{81689649-DCC7-7843-9D6B-83276EDEA673}" type="slidenum">
              <a:rPr lang="en-PS" smtClean="0"/>
              <a:t>12</a:t>
            </a:fld>
            <a:endParaRPr lang="en-PS"/>
          </a:p>
        </p:txBody>
      </p:sp>
    </p:spTree>
    <p:extLst>
      <p:ext uri="{BB962C8B-B14F-4D97-AF65-F5344CB8AC3E}">
        <p14:creationId xmlns:p14="http://schemas.microsoft.com/office/powerpoint/2010/main" val="3354514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C36D8-04E1-EC06-596E-A3E81050F3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S"/>
          </a:p>
        </p:txBody>
      </p:sp>
      <p:sp>
        <p:nvSpPr>
          <p:cNvPr id="3" name="Subtitle 2">
            <a:extLst>
              <a:ext uri="{FF2B5EF4-FFF2-40B4-BE49-F238E27FC236}">
                <a16:creationId xmlns:a16="http://schemas.microsoft.com/office/drawing/2014/main" id="{D7392B4F-ECC2-02DE-26E7-C7B612CF70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S"/>
          </a:p>
        </p:txBody>
      </p:sp>
      <p:sp>
        <p:nvSpPr>
          <p:cNvPr id="4" name="Date Placeholder 3">
            <a:extLst>
              <a:ext uri="{FF2B5EF4-FFF2-40B4-BE49-F238E27FC236}">
                <a16:creationId xmlns:a16="http://schemas.microsoft.com/office/drawing/2014/main" id="{F3AAA52C-73DA-4722-62E6-FB7BC9F5302E}"/>
              </a:ext>
            </a:extLst>
          </p:cNvPr>
          <p:cNvSpPr>
            <a:spLocks noGrp="1"/>
          </p:cNvSpPr>
          <p:nvPr>
            <p:ph type="dt" sz="half" idx="10"/>
          </p:nvPr>
        </p:nvSpPr>
        <p:spPr/>
        <p:txBody>
          <a:bodyPr/>
          <a:lstStyle/>
          <a:p>
            <a:fld id="{3D4B3E72-FBE8-4943-A137-49691B4A4C41}" type="datetimeFigureOut">
              <a:rPr lang="en-PS" smtClean="0"/>
              <a:t>11/13/25</a:t>
            </a:fld>
            <a:endParaRPr lang="en-PS"/>
          </a:p>
        </p:txBody>
      </p:sp>
      <p:sp>
        <p:nvSpPr>
          <p:cNvPr id="5" name="Footer Placeholder 4">
            <a:extLst>
              <a:ext uri="{FF2B5EF4-FFF2-40B4-BE49-F238E27FC236}">
                <a16:creationId xmlns:a16="http://schemas.microsoft.com/office/drawing/2014/main" id="{9D83B7CD-3761-C9C3-38FB-4376D4D4FE48}"/>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C49DD623-B310-07D9-93D5-66EC401476D4}"/>
              </a:ext>
            </a:extLst>
          </p:cNvPr>
          <p:cNvSpPr>
            <a:spLocks noGrp="1"/>
          </p:cNvSpPr>
          <p:nvPr>
            <p:ph type="sldNum" sz="quarter" idx="12"/>
          </p:nvPr>
        </p:nvSpPr>
        <p:spPr/>
        <p:txBody>
          <a:bodyPr/>
          <a:lstStyle/>
          <a:p>
            <a:fld id="{0D61AAC7-CBB5-CC4D-8F73-5C54E0D6FB30}" type="slidenum">
              <a:rPr lang="en-PS" smtClean="0"/>
              <a:t>‹#›</a:t>
            </a:fld>
            <a:endParaRPr lang="en-PS"/>
          </a:p>
        </p:txBody>
      </p:sp>
    </p:spTree>
    <p:extLst>
      <p:ext uri="{BB962C8B-B14F-4D97-AF65-F5344CB8AC3E}">
        <p14:creationId xmlns:p14="http://schemas.microsoft.com/office/powerpoint/2010/main" val="3092208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60F7A-A74D-1FC4-9BF6-3ECC69E22323}"/>
              </a:ext>
            </a:extLst>
          </p:cNvPr>
          <p:cNvSpPr>
            <a:spLocks noGrp="1"/>
          </p:cNvSpPr>
          <p:nvPr>
            <p:ph type="title"/>
          </p:nvPr>
        </p:nvSpPr>
        <p:spPr/>
        <p:txBody>
          <a:bodyPr/>
          <a:lstStyle/>
          <a:p>
            <a:r>
              <a:rPr lang="en-US"/>
              <a:t>Click to edit Master title style</a:t>
            </a:r>
            <a:endParaRPr lang="en-PS"/>
          </a:p>
        </p:txBody>
      </p:sp>
      <p:sp>
        <p:nvSpPr>
          <p:cNvPr id="3" name="Content Placeholder 2">
            <a:extLst>
              <a:ext uri="{FF2B5EF4-FFF2-40B4-BE49-F238E27FC236}">
                <a16:creationId xmlns:a16="http://schemas.microsoft.com/office/drawing/2014/main" id="{BFDBEE82-3BEB-905D-FE61-296DF458F3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3B841C81-40FE-E731-D100-9D0CC8657D4A}"/>
              </a:ext>
            </a:extLst>
          </p:cNvPr>
          <p:cNvSpPr>
            <a:spLocks noGrp="1"/>
          </p:cNvSpPr>
          <p:nvPr>
            <p:ph type="dt" sz="half" idx="10"/>
          </p:nvPr>
        </p:nvSpPr>
        <p:spPr/>
        <p:txBody>
          <a:bodyPr/>
          <a:lstStyle/>
          <a:p>
            <a:fld id="{3D4B3E72-FBE8-4943-A137-49691B4A4C41}" type="datetimeFigureOut">
              <a:rPr lang="en-PS" smtClean="0"/>
              <a:t>11/13/25</a:t>
            </a:fld>
            <a:endParaRPr lang="en-PS"/>
          </a:p>
        </p:txBody>
      </p:sp>
      <p:sp>
        <p:nvSpPr>
          <p:cNvPr id="5" name="Footer Placeholder 4">
            <a:extLst>
              <a:ext uri="{FF2B5EF4-FFF2-40B4-BE49-F238E27FC236}">
                <a16:creationId xmlns:a16="http://schemas.microsoft.com/office/drawing/2014/main" id="{45807790-E357-9935-6C8E-BE59326BF9B4}"/>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EF3C6A50-D4C8-0E03-6570-8C0F5F17D02E}"/>
              </a:ext>
            </a:extLst>
          </p:cNvPr>
          <p:cNvSpPr>
            <a:spLocks noGrp="1"/>
          </p:cNvSpPr>
          <p:nvPr>
            <p:ph type="sldNum" sz="quarter" idx="12"/>
          </p:nvPr>
        </p:nvSpPr>
        <p:spPr/>
        <p:txBody>
          <a:bodyPr/>
          <a:lstStyle/>
          <a:p>
            <a:fld id="{0D61AAC7-CBB5-CC4D-8F73-5C54E0D6FB30}" type="slidenum">
              <a:rPr lang="en-PS" smtClean="0"/>
              <a:t>‹#›</a:t>
            </a:fld>
            <a:endParaRPr lang="en-PS"/>
          </a:p>
        </p:txBody>
      </p:sp>
    </p:spTree>
    <p:extLst>
      <p:ext uri="{BB962C8B-B14F-4D97-AF65-F5344CB8AC3E}">
        <p14:creationId xmlns:p14="http://schemas.microsoft.com/office/powerpoint/2010/main" val="1811785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7FF97-81E3-6D7E-18C7-E22046766C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S"/>
          </a:p>
        </p:txBody>
      </p:sp>
      <p:sp>
        <p:nvSpPr>
          <p:cNvPr id="3" name="Text Placeholder 2">
            <a:extLst>
              <a:ext uri="{FF2B5EF4-FFF2-40B4-BE49-F238E27FC236}">
                <a16:creationId xmlns:a16="http://schemas.microsoft.com/office/drawing/2014/main" id="{C0933DBF-9273-E831-116C-6156ED9E2D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13D0A8-E9CD-6369-E181-4D1B0F063C71}"/>
              </a:ext>
            </a:extLst>
          </p:cNvPr>
          <p:cNvSpPr>
            <a:spLocks noGrp="1"/>
          </p:cNvSpPr>
          <p:nvPr>
            <p:ph type="dt" sz="half" idx="10"/>
          </p:nvPr>
        </p:nvSpPr>
        <p:spPr/>
        <p:txBody>
          <a:bodyPr/>
          <a:lstStyle/>
          <a:p>
            <a:fld id="{3D4B3E72-FBE8-4943-A137-49691B4A4C41}" type="datetimeFigureOut">
              <a:rPr lang="en-PS" smtClean="0"/>
              <a:t>11/13/25</a:t>
            </a:fld>
            <a:endParaRPr lang="en-PS"/>
          </a:p>
        </p:txBody>
      </p:sp>
      <p:sp>
        <p:nvSpPr>
          <p:cNvPr id="5" name="Footer Placeholder 4">
            <a:extLst>
              <a:ext uri="{FF2B5EF4-FFF2-40B4-BE49-F238E27FC236}">
                <a16:creationId xmlns:a16="http://schemas.microsoft.com/office/drawing/2014/main" id="{C012B857-1116-F421-9407-FB47FBDB5A27}"/>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87213DA2-61F2-5DFF-7B08-7CE7F3D56189}"/>
              </a:ext>
            </a:extLst>
          </p:cNvPr>
          <p:cNvSpPr>
            <a:spLocks noGrp="1"/>
          </p:cNvSpPr>
          <p:nvPr>
            <p:ph type="sldNum" sz="quarter" idx="12"/>
          </p:nvPr>
        </p:nvSpPr>
        <p:spPr/>
        <p:txBody>
          <a:bodyPr/>
          <a:lstStyle/>
          <a:p>
            <a:fld id="{0D61AAC7-CBB5-CC4D-8F73-5C54E0D6FB30}" type="slidenum">
              <a:rPr lang="en-PS" smtClean="0"/>
              <a:t>‹#›</a:t>
            </a:fld>
            <a:endParaRPr lang="en-PS"/>
          </a:p>
        </p:txBody>
      </p:sp>
    </p:spTree>
    <p:extLst>
      <p:ext uri="{BB962C8B-B14F-4D97-AF65-F5344CB8AC3E}">
        <p14:creationId xmlns:p14="http://schemas.microsoft.com/office/powerpoint/2010/main" val="2506326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5AAF0-7C8E-99F5-F135-9C45504D57C7}"/>
              </a:ext>
            </a:extLst>
          </p:cNvPr>
          <p:cNvSpPr>
            <a:spLocks noGrp="1"/>
          </p:cNvSpPr>
          <p:nvPr>
            <p:ph type="title"/>
          </p:nvPr>
        </p:nvSpPr>
        <p:spPr/>
        <p:txBody>
          <a:bodyPr/>
          <a:lstStyle/>
          <a:p>
            <a:r>
              <a:rPr lang="en-US"/>
              <a:t>Click to edit Master title style</a:t>
            </a:r>
            <a:endParaRPr lang="en-PS"/>
          </a:p>
        </p:txBody>
      </p:sp>
      <p:sp>
        <p:nvSpPr>
          <p:cNvPr id="3" name="Content Placeholder 2">
            <a:extLst>
              <a:ext uri="{FF2B5EF4-FFF2-40B4-BE49-F238E27FC236}">
                <a16:creationId xmlns:a16="http://schemas.microsoft.com/office/drawing/2014/main" id="{61364CAC-B83C-0EBE-9733-740C4502DE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Content Placeholder 3">
            <a:extLst>
              <a:ext uri="{FF2B5EF4-FFF2-40B4-BE49-F238E27FC236}">
                <a16:creationId xmlns:a16="http://schemas.microsoft.com/office/drawing/2014/main" id="{03FF93BF-9CB7-2E66-0341-459326A12B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5" name="Date Placeholder 4">
            <a:extLst>
              <a:ext uri="{FF2B5EF4-FFF2-40B4-BE49-F238E27FC236}">
                <a16:creationId xmlns:a16="http://schemas.microsoft.com/office/drawing/2014/main" id="{B49A9DBA-9D93-0C07-938D-F80251F0E197}"/>
              </a:ext>
            </a:extLst>
          </p:cNvPr>
          <p:cNvSpPr>
            <a:spLocks noGrp="1"/>
          </p:cNvSpPr>
          <p:nvPr>
            <p:ph type="dt" sz="half" idx="10"/>
          </p:nvPr>
        </p:nvSpPr>
        <p:spPr/>
        <p:txBody>
          <a:bodyPr/>
          <a:lstStyle/>
          <a:p>
            <a:fld id="{3D4B3E72-FBE8-4943-A137-49691B4A4C41}" type="datetimeFigureOut">
              <a:rPr lang="en-PS" smtClean="0"/>
              <a:t>11/13/25</a:t>
            </a:fld>
            <a:endParaRPr lang="en-PS"/>
          </a:p>
        </p:txBody>
      </p:sp>
      <p:sp>
        <p:nvSpPr>
          <p:cNvPr id="6" name="Footer Placeholder 5">
            <a:extLst>
              <a:ext uri="{FF2B5EF4-FFF2-40B4-BE49-F238E27FC236}">
                <a16:creationId xmlns:a16="http://schemas.microsoft.com/office/drawing/2014/main" id="{5E8DF4B4-BBEC-B737-E51C-B8DA2B1CAB7A}"/>
              </a:ext>
            </a:extLst>
          </p:cNvPr>
          <p:cNvSpPr>
            <a:spLocks noGrp="1"/>
          </p:cNvSpPr>
          <p:nvPr>
            <p:ph type="ftr" sz="quarter" idx="11"/>
          </p:nvPr>
        </p:nvSpPr>
        <p:spPr/>
        <p:txBody>
          <a:bodyPr/>
          <a:lstStyle/>
          <a:p>
            <a:endParaRPr lang="en-PS"/>
          </a:p>
        </p:txBody>
      </p:sp>
      <p:sp>
        <p:nvSpPr>
          <p:cNvPr id="7" name="Slide Number Placeholder 6">
            <a:extLst>
              <a:ext uri="{FF2B5EF4-FFF2-40B4-BE49-F238E27FC236}">
                <a16:creationId xmlns:a16="http://schemas.microsoft.com/office/drawing/2014/main" id="{59454783-2FD0-6BB6-E477-F0A3B43AFFBB}"/>
              </a:ext>
            </a:extLst>
          </p:cNvPr>
          <p:cNvSpPr>
            <a:spLocks noGrp="1"/>
          </p:cNvSpPr>
          <p:nvPr>
            <p:ph type="sldNum" sz="quarter" idx="12"/>
          </p:nvPr>
        </p:nvSpPr>
        <p:spPr/>
        <p:txBody>
          <a:bodyPr/>
          <a:lstStyle/>
          <a:p>
            <a:fld id="{0D61AAC7-CBB5-CC4D-8F73-5C54E0D6FB30}" type="slidenum">
              <a:rPr lang="en-PS" smtClean="0"/>
              <a:t>‹#›</a:t>
            </a:fld>
            <a:endParaRPr lang="en-PS"/>
          </a:p>
        </p:txBody>
      </p:sp>
    </p:spTree>
    <p:extLst>
      <p:ext uri="{BB962C8B-B14F-4D97-AF65-F5344CB8AC3E}">
        <p14:creationId xmlns:p14="http://schemas.microsoft.com/office/powerpoint/2010/main" val="2254388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6DB69-6846-0478-4BF4-01563318157A}"/>
              </a:ext>
            </a:extLst>
          </p:cNvPr>
          <p:cNvSpPr>
            <a:spLocks noGrp="1"/>
          </p:cNvSpPr>
          <p:nvPr>
            <p:ph type="title"/>
          </p:nvPr>
        </p:nvSpPr>
        <p:spPr>
          <a:xfrm>
            <a:off x="839788" y="365125"/>
            <a:ext cx="10515600" cy="1325563"/>
          </a:xfrm>
        </p:spPr>
        <p:txBody>
          <a:bodyPr/>
          <a:lstStyle/>
          <a:p>
            <a:r>
              <a:rPr lang="en-US"/>
              <a:t>Click to edit Master title style</a:t>
            </a:r>
            <a:endParaRPr lang="en-PS"/>
          </a:p>
        </p:txBody>
      </p:sp>
      <p:sp>
        <p:nvSpPr>
          <p:cNvPr id="3" name="Text Placeholder 2">
            <a:extLst>
              <a:ext uri="{FF2B5EF4-FFF2-40B4-BE49-F238E27FC236}">
                <a16:creationId xmlns:a16="http://schemas.microsoft.com/office/drawing/2014/main" id="{E44A07E2-43F6-A882-3DA4-EE1A8160B5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9DAAC7-0602-6760-4D4A-47C5EA3DAC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5" name="Text Placeholder 4">
            <a:extLst>
              <a:ext uri="{FF2B5EF4-FFF2-40B4-BE49-F238E27FC236}">
                <a16:creationId xmlns:a16="http://schemas.microsoft.com/office/drawing/2014/main" id="{D9AE9728-7E90-5FD9-BF66-9F4B769940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B2BE86-C3A1-18D0-FCE8-1C2AC0B9F4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7" name="Date Placeholder 6">
            <a:extLst>
              <a:ext uri="{FF2B5EF4-FFF2-40B4-BE49-F238E27FC236}">
                <a16:creationId xmlns:a16="http://schemas.microsoft.com/office/drawing/2014/main" id="{F5FA019C-B6F4-6178-C095-4095553F6C5F}"/>
              </a:ext>
            </a:extLst>
          </p:cNvPr>
          <p:cNvSpPr>
            <a:spLocks noGrp="1"/>
          </p:cNvSpPr>
          <p:nvPr>
            <p:ph type="dt" sz="half" idx="10"/>
          </p:nvPr>
        </p:nvSpPr>
        <p:spPr/>
        <p:txBody>
          <a:bodyPr/>
          <a:lstStyle/>
          <a:p>
            <a:fld id="{3D4B3E72-FBE8-4943-A137-49691B4A4C41}" type="datetimeFigureOut">
              <a:rPr lang="en-PS" smtClean="0"/>
              <a:t>11/13/25</a:t>
            </a:fld>
            <a:endParaRPr lang="en-PS"/>
          </a:p>
        </p:txBody>
      </p:sp>
      <p:sp>
        <p:nvSpPr>
          <p:cNvPr id="8" name="Footer Placeholder 7">
            <a:extLst>
              <a:ext uri="{FF2B5EF4-FFF2-40B4-BE49-F238E27FC236}">
                <a16:creationId xmlns:a16="http://schemas.microsoft.com/office/drawing/2014/main" id="{498A4B59-B3E9-0044-A0B6-63154A652340}"/>
              </a:ext>
            </a:extLst>
          </p:cNvPr>
          <p:cNvSpPr>
            <a:spLocks noGrp="1"/>
          </p:cNvSpPr>
          <p:nvPr>
            <p:ph type="ftr" sz="quarter" idx="11"/>
          </p:nvPr>
        </p:nvSpPr>
        <p:spPr/>
        <p:txBody>
          <a:bodyPr/>
          <a:lstStyle/>
          <a:p>
            <a:endParaRPr lang="en-PS"/>
          </a:p>
        </p:txBody>
      </p:sp>
      <p:sp>
        <p:nvSpPr>
          <p:cNvPr id="9" name="Slide Number Placeholder 8">
            <a:extLst>
              <a:ext uri="{FF2B5EF4-FFF2-40B4-BE49-F238E27FC236}">
                <a16:creationId xmlns:a16="http://schemas.microsoft.com/office/drawing/2014/main" id="{677A2D04-1E85-CB4B-A62E-895F328FF929}"/>
              </a:ext>
            </a:extLst>
          </p:cNvPr>
          <p:cNvSpPr>
            <a:spLocks noGrp="1"/>
          </p:cNvSpPr>
          <p:nvPr>
            <p:ph type="sldNum" sz="quarter" idx="12"/>
          </p:nvPr>
        </p:nvSpPr>
        <p:spPr/>
        <p:txBody>
          <a:bodyPr/>
          <a:lstStyle/>
          <a:p>
            <a:fld id="{0D61AAC7-CBB5-CC4D-8F73-5C54E0D6FB30}" type="slidenum">
              <a:rPr lang="en-PS" smtClean="0"/>
              <a:t>‹#›</a:t>
            </a:fld>
            <a:endParaRPr lang="en-PS"/>
          </a:p>
        </p:txBody>
      </p:sp>
    </p:spTree>
    <p:extLst>
      <p:ext uri="{BB962C8B-B14F-4D97-AF65-F5344CB8AC3E}">
        <p14:creationId xmlns:p14="http://schemas.microsoft.com/office/powerpoint/2010/main" val="4272881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6069F-F12F-3849-4FFB-4190C7F415CC}"/>
              </a:ext>
            </a:extLst>
          </p:cNvPr>
          <p:cNvSpPr>
            <a:spLocks noGrp="1"/>
          </p:cNvSpPr>
          <p:nvPr>
            <p:ph type="title"/>
          </p:nvPr>
        </p:nvSpPr>
        <p:spPr/>
        <p:txBody>
          <a:bodyPr/>
          <a:lstStyle/>
          <a:p>
            <a:r>
              <a:rPr lang="en-US"/>
              <a:t>Click to edit Master title style</a:t>
            </a:r>
            <a:endParaRPr lang="en-PS"/>
          </a:p>
        </p:txBody>
      </p:sp>
      <p:sp>
        <p:nvSpPr>
          <p:cNvPr id="3" name="Date Placeholder 2">
            <a:extLst>
              <a:ext uri="{FF2B5EF4-FFF2-40B4-BE49-F238E27FC236}">
                <a16:creationId xmlns:a16="http://schemas.microsoft.com/office/drawing/2014/main" id="{338EAFA6-B632-E41F-73BD-E9FCDD02862B}"/>
              </a:ext>
            </a:extLst>
          </p:cNvPr>
          <p:cNvSpPr>
            <a:spLocks noGrp="1"/>
          </p:cNvSpPr>
          <p:nvPr>
            <p:ph type="dt" sz="half" idx="10"/>
          </p:nvPr>
        </p:nvSpPr>
        <p:spPr/>
        <p:txBody>
          <a:bodyPr/>
          <a:lstStyle/>
          <a:p>
            <a:fld id="{3D4B3E72-FBE8-4943-A137-49691B4A4C41}" type="datetimeFigureOut">
              <a:rPr lang="en-PS" smtClean="0"/>
              <a:t>11/13/25</a:t>
            </a:fld>
            <a:endParaRPr lang="en-PS"/>
          </a:p>
        </p:txBody>
      </p:sp>
      <p:sp>
        <p:nvSpPr>
          <p:cNvPr id="4" name="Footer Placeholder 3">
            <a:extLst>
              <a:ext uri="{FF2B5EF4-FFF2-40B4-BE49-F238E27FC236}">
                <a16:creationId xmlns:a16="http://schemas.microsoft.com/office/drawing/2014/main" id="{E7DE5929-50E1-8479-A21B-9681B2A2CCED}"/>
              </a:ext>
            </a:extLst>
          </p:cNvPr>
          <p:cNvSpPr>
            <a:spLocks noGrp="1"/>
          </p:cNvSpPr>
          <p:nvPr>
            <p:ph type="ftr" sz="quarter" idx="11"/>
          </p:nvPr>
        </p:nvSpPr>
        <p:spPr/>
        <p:txBody>
          <a:bodyPr/>
          <a:lstStyle/>
          <a:p>
            <a:endParaRPr lang="en-PS"/>
          </a:p>
        </p:txBody>
      </p:sp>
      <p:sp>
        <p:nvSpPr>
          <p:cNvPr id="5" name="Slide Number Placeholder 4">
            <a:extLst>
              <a:ext uri="{FF2B5EF4-FFF2-40B4-BE49-F238E27FC236}">
                <a16:creationId xmlns:a16="http://schemas.microsoft.com/office/drawing/2014/main" id="{9C783D77-5E7D-CAC6-CC38-655A68C4393E}"/>
              </a:ext>
            </a:extLst>
          </p:cNvPr>
          <p:cNvSpPr>
            <a:spLocks noGrp="1"/>
          </p:cNvSpPr>
          <p:nvPr>
            <p:ph type="sldNum" sz="quarter" idx="12"/>
          </p:nvPr>
        </p:nvSpPr>
        <p:spPr/>
        <p:txBody>
          <a:bodyPr/>
          <a:lstStyle/>
          <a:p>
            <a:fld id="{0D61AAC7-CBB5-CC4D-8F73-5C54E0D6FB30}" type="slidenum">
              <a:rPr lang="en-PS" smtClean="0"/>
              <a:t>‹#›</a:t>
            </a:fld>
            <a:endParaRPr lang="en-PS"/>
          </a:p>
        </p:txBody>
      </p:sp>
    </p:spTree>
    <p:extLst>
      <p:ext uri="{BB962C8B-B14F-4D97-AF65-F5344CB8AC3E}">
        <p14:creationId xmlns:p14="http://schemas.microsoft.com/office/powerpoint/2010/main" val="824769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23E3B9-3AB0-E84D-C6C5-59DEB53D6C36}"/>
              </a:ext>
            </a:extLst>
          </p:cNvPr>
          <p:cNvSpPr>
            <a:spLocks noGrp="1"/>
          </p:cNvSpPr>
          <p:nvPr>
            <p:ph type="dt" sz="half" idx="10"/>
          </p:nvPr>
        </p:nvSpPr>
        <p:spPr/>
        <p:txBody>
          <a:bodyPr/>
          <a:lstStyle/>
          <a:p>
            <a:fld id="{3D4B3E72-FBE8-4943-A137-49691B4A4C41}" type="datetimeFigureOut">
              <a:rPr lang="en-PS" smtClean="0"/>
              <a:t>11/13/25</a:t>
            </a:fld>
            <a:endParaRPr lang="en-PS"/>
          </a:p>
        </p:txBody>
      </p:sp>
      <p:sp>
        <p:nvSpPr>
          <p:cNvPr id="3" name="Footer Placeholder 2">
            <a:extLst>
              <a:ext uri="{FF2B5EF4-FFF2-40B4-BE49-F238E27FC236}">
                <a16:creationId xmlns:a16="http://schemas.microsoft.com/office/drawing/2014/main" id="{4037B668-A374-6810-F0C3-63429844903E}"/>
              </a:ext>
            </a:extLst>
          </p:cNvPr>
          <p:cNvSpPr>
            <a:spLocks noGrp="1"/>
          </p:cNvSpPr>
          <p:nvPr>
            <p:ph type="ftr" sz="quarter" idx="11"/>
          </p:nvPr>
        </p:nvSpPr>
        <p:spPr/>
        <p:txBody>
          <a:bodyPr/>
          <a:lstStyle/>
          <a:p>
            <a:endParaRPr lang="en-PS"/>
          </a:p>
        </p:txBody>
      </p:sp>
      <p:sp>
        <p:nvSpPr>
          <p:cNvPr id="4" name="Slide Number Placeholder 3">
            <a:extLst>
              <a:ext uri="{FF2B5EF4-FFF2-40B4-BE49-F238E27FC236}">
                <a16:creationId xmlns:a16="http://schemas.microsoft.com/office/drawing/2014/main" id="{13294256-F96C-300F-80CC-10CB8B05EAEE}"/>
              </a:ext>
            </a:extLst>
          </p:cNvPr>
          <p:cNvSpPr>
            <a:spLocks noGrp="1"/>
          </p:cNvSpPr>
          <p:nvPr>
            <p:ph type="sldNum" sz="quarter" idx="12"/>
          </p:nvPr>
        </p:nvSpPr>
        <p:spPr/>
        <p:txBody>
          <a:bodyPr/>
          <a:lstStyle/>
          <a:p>
            <a:fld id="{0D61AAC7-CBB5-CC4D-8F73-5C54E0D6FB30}" type="slidenum">
              <a:rPr lang="en-PS" smtClean="0"/>
              <a:t>‹#›</a:t>
            </a:fld>
            <a:endParaRPr lang="en-PS"/>
          </a:p>
        </p:txBody>
      </p:sp>
    </p:spTree>
    <p:extLst>
      <p:ext uri="{BB962C8B-B14F-4D97-AF65-F5344CB8AC3E}">
        <p14:creationId xmlns:p14="http://schemas.microsoft.com/office/powerpoint/2010/main" val="2806867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1B04B-7638-836F-8861-D56B4D7B99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S"/>
          </a:p>
        </p:txBody>
      </p:sp>
      <p:sp>
        <p:nvSpPr>
          <p:cNvPr id="3" name="Content Placeholder 2">
            <a:extLst>
              <a:ext uri="{FF2B5EF4-FFF2-40B4-BE49-F238E27FC236}">
                <a16:creationId xmlns:a16="http://schemas.microsoft.com/office/drawing/2014/main" id="{2FA17948-56CB-F127-BEEC-95F71CCE8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Text Placeholder 3">
            <a:extLst>
              <a:ext uri="{FF2B5EF4-FFF2-40B4-BE49-F238E27FC236}">
                <a16:creationId xmlns:a16="http://schemas.microsoft.com/office/drawing/2014/main" id="{059310BA-1EF2-52AF-1259-4D725A6E31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3637BF-F4BA-6FC3-0ED4-C872FE7078A3}"/>
              </a:ext>
            </a:extLst>
          </p:cNvPr>
          <p:cNvSpPr>
            <a:spLocks noGrp="1"/>
          </p:cNvSpPr>
          <p:nvPr>
            <p:ph type="dt" sz="half" idx="10"/>
          </p:nvPr>
        </p:nvSpPr>
        <p:spPr/>
        <p:txBody>
          <a:bodyPr/>
          <a:lstStyle/>
          <a:p>
            <a:fld id="{3D4B3E72-FBE8-4943-A137-49691B4A4C41}" type="datetimeFigureOut">
              <a:rPr lang="en-PS" smtClean="0"/>
              <a:t>11/13/25</a:t>
            </a:fld>
            <a:endParaRPr lang="en-PS"/>
          </a:p>
        </p:txBody>
      </p:sp>
      <p:sp>
        <p:nvSpPr>
          <p:cNvPr id="6" name="Footer Placeholder 5">
            <a:extLst>
              <a:ext uri="{FF2B5EF4-FFF2-40B4-BE49-F238E27FC236}">
                <a16:creationId xmlns:a16="http://schemas.microsoft.com/office/drawing/2014/main" id="{1866795B-4985-C9AF-2A14-86D7F79B3755}"/>
              </a:ext>
            </a:extLst>
          </p:cNvPr>
          <p:cNvSpPr>
            <a:spLocks noGrp="1"/>
          </p:cNvSpPr>
          <p:nvPr>
            <p:ph type="ftr" sz="quarter" idx="11"/>
          </p:nvPr>
        </p:nvSpPr>
        <p:spPr/>
        <p:txBody>
          <a:bodyPr/>
          <a:lstStyle/>
          <a:p>
            <a:endParaRPr lang="en-PS"/>
          </a:p>
        </p:txBody>
      </p:sp>
      <p:sp>
        <p:nvSpPr>
          <p:cNvPr id="7" name="Slide Number Placeholder 6">
            <a:extLst>
              <a:ext uri="{FF2B5EF4-FFF2-40B4-BE49-F238E27FC236}">
                <a16:creationId xmlns:a16="http://schemas.microsoft.com/office/drawing/2014/main" id="{B221F579-4BFB-5F2B-5B06-DBAD27AE7210}"/>
              </a:ext>
            </a:extLst>
          </p:cNvPr>
          <p:cNvSpPr>
            <a:spLocks noGrp="1"/>
          </p:cNvSpPr>
          <p:nvPr>
            <p:ph type="sldNum" sz="quarter" idx="12"/>
          </p:nvPr>
        </p:nvSpPr>
        <p:spPr/>
        <p:txBody>
          <a:bodyPr/>
          <a:lstStyle/>
          <a:p>
            <a:fld id="{0D61AAC7-CBB5-CC4D-8F73-5C54E0D6FB30}" type="slidenum">
              <a:rPr lang="en-PS" smtClean="0"/>
              <a:t>‹#›</a:t>
            </a:fld>
            <a:endParaRPr lang="en-PS"/>
          </a:p>
        </p:txBody>
      </p:sp>
    </p:spTree>
    <p:extLst>
      <p:ext uri="{BB962C8B-B14F-4D97-AF65-F5344CB8AC3E}">
        <p14:creationId xmlns:p14="http://schemas.microsoft.com/office/powerpoint/2010/main" val="3228939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99B04-FA08-AE51-4FE5-36532A5FA8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S"/>
          </a:p>
        </p:txBody>
      </p:sp>
      <p:sp>
        <p:nvSpPr>
          <p:cNvPr id="3" name="Picture Placeholder 2">
            <a:extLst>
              <a:ext uri="{FF2B5EF4-FFF2-40B4-BE49-F238E27FC236}">
                <a16:creationId xmlns:a16="http://schemas.microsoft.com/office/drawing/2014/main" id="{06F6B104-4B3D-AE53-A5A4-D51159C1AE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S"/>
          </a:p>
        </p:txBody>
      </p:sp>
      <p:sp>
        <p:nvSpPr>
          <p:cNvPr id="4" name="Text Placeholder 3">
            <a:extLst>
              <a:ext uri="{FF2B5EF4-FFF2-40B4-BE49-F238E27FC236}">
                <a16:creationId xmlns:a16="http://schemas.microsoft.com/office/drawing/2014/main" id="{63D7809E-FB78-15E2-B721-AB8A012286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9EE642-3E96-3713-CB17-7CF1A1BCD89B}"/>
              </a:ext>
            </a:extLst>
          </p:cNvPr>
          <p:cNvSpPr>
            <a:spLocks noGrp="1"/>
          </p:cNvSpPr>
          <p:nvPr>
            <p:ph type="dt" sz="half" idx="10"/>
          </p:nvPr>
        </p:nvSpPr>
        <p:spPr/>
        <p:txBody>
          <a:bodyPr/>
          <a:lstStyle/>
          <a:p>
            <a:fld id="{3D4B3E72-FBE8-4943-A137-49691B4A4C41}" type="datetimeFigureOut">
              <a:rPr lang="en-PS" smtClean="0"/>
              <a:t>11/13/25</a:t>
            </a:fld>
            <a:endParaRPr lang="en-PS"/>
          </a:p>
        </p:txBody>
      </p:sp>
      <p:sp>
        <p:nvSpPr>
          <p:cNvPr id="6" name="Footer Placeholder 5">
            <a:extLst>
              <a:ext uri="{FF2B5EF4-FFF2-40B4-BE49-F238E27FC236}">
                <a16:creationId xmlns:a16="http://schemas.microsoft.com/office/drawing/2014/main" id="{696F0014-E32D-EC90-871A-D3FDD6A6FF12}"/>
              </a:ext>
            </a:extLst>
          </p:cNvPr>
          <p:cNvSpPr>
            <a:spLocks noGrp="1"/>
          </p:cNvSpPr>
          <p:nvPr>
            <p:ph type="ftr" sz="quarter" idx="11"/>
          </p:nvPr>
        </p:nvSpPr>
        <p:spPr/>
        <p:txBody>
          <a:bodyPr/>
          <a:lstStyle/>
          <a:p>
            <a:endParaRPr lang="en-PS"/>
          </a:p>
        </p:txBody>
      </p:sp>
      <p:sp>
        <p:nvSpPr>
          <p:cNvPr id="7" name="Slide Number Placeholder 6">
            <a:extLst>
              <a:ext uri="{FF2B5EF4-FFF2-40B4-BE49-F238E27FC236}">
                <a16:creationId xmlns:a16="http://schemas.microsoft.com/office/drawing/2014/main" id="{6B7DFD8A-4C94-7D54-726E-A97736D62AE6}"/>
              </a:ext>
            </a:extLst>
          </p:cNvPr>
          <p:cNvSpPr>
            <a:spLocks noGrp="1"/>
          </p:cNvSpPr>
          <p:nvPr>
            <p:ph type="sldNum" sz="quarter" idx="12"/>
          </p:nvPr>
        </p:nvSpPr>
        <p:spPr/>
        <p:txBody>
          <a:bodyPr/>
          <a:lstStyle/>
          <a:p>
            <a:fld id="{0D61AAC7-CBB5-CC4D-8F73-5C54E0D6FB30}" type="slidenum">
              <a:rPr lang="en-PS" smtClean="0"/>
              <a:t>‹#›</a:t>
            </a:fld>
            <a:endParaRPr lang="en-PS"/>
          </a:p>
        </p:txBody>
      </p:sp>
    </p:spTree>
    <p:extLst>
      <p:ext uri="{BB962C8B-B14F-4D97-AF65-F5344CB8AC3E}">
        <p14:creationId xmlns:p14="http://schemas.microsoft.com/office/powerpoint/2010/main" val="3037961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FC1D0-4650-E334-089A-EC100A4671A8}"/>
              </a:ext>
            </a:extLst>
          </p:cNvPr>
          <p:cNvSpPr>
            <a:spLocks noGrp="1"/>
          </p:cNvSpPr>
          <p:nvPr>
            <p:ph type="title"/>
          </p:nvPr>
        </p:nvSpPr>
        <p:spPr/>
        <p:txBody>
          <a:bodyPr/>
          <a:lstStyle/>
          <a:p>
            <a:r>
              <a:rPr lang="en-US"/>
              <a:t>Click to edit Master title style</a:t>
            </a:r>
            <a:endParaRPr lang="en-PS"/>
          </a:p>
        </p:txBody>
      </p:sp>
      <p:sp>
        <p:nvSpPr>
          <p:cNvPr id="3" name="Vertical Text Placeholder 2">
            <a:extLst>
              <a:ext uri="{FF2B5EF4-FFF2-40B4-BE49-F238E27FC236}">
                <a16:creationId xmlns:a16="http://schemas.microsoft.com/office/drawing/2014/main" id="{36826FA2-E929-4A39-5068-EB8726D2FE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CE9BADF7-0C82-3595-AF07-54B25A1C6E2C}"/>
              </a:ext>
            </a:extLst>
          </p:cNvPr>
          <p:cNvSpPr>
            <a:spLocks noGrp="1"/>
          </p:cNvSpPr>
          <p:nvPr>
            <p:ph type="dt" sz="half" idx="10"/>
          </p:nvPr>
        </p:nvSpPr>
        <p:spPr/>
        <p:txBody>
          <a:bodyPr/>
          <a:lstStyle/>
          <a:p>
            <a:fld id="{3D4B3E72-FBE8-4943-A137-49691B4A4C41}" type="datetimeFigureOut">
              <a:rPr lang="en-PS" smtClean="0"/>
              <a:t>11/13/25</a:t>
            </a:fld>
            <a:endParaRPr lang="en-PS"/>
          </a:p>
        </p:txBody>
      </p:sp>
      <p:sp>
        <p:nvSpPr>
          <p:cNvPr id="5" name="Footer Placeholder 4">
            <a:extLst>
              <a:ext uri="{FF2B5EF4-FFF2-40B4-BE49-F238E27FC236}">
                <a16:creationId xmlns:a16="http://schemas.microsoft.com/office/drawing/2014/main" id="{35D485FE-2CA0-C380-C659-0F45D1463A3A}"/>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E028F129-A08B-D6F1-993C-A886D5453DB5}"/>
              </a:ext>
            </a:extLst>
          </p:cNvPr>
          <p:cNvSpPr>
            <a:spLocks noGrp="1"/>
          </p:cNvSpPr>
          <p:nvPr>
            <p:ph type="sldNum" sz="quarter" idx="12"/>
          </p:nvPr>
        </p:nvSpPr>
        <p:spPr/>
        <p:txBody>
          <a:bodyPr/>
          <a:lstStyle/>
          <a:p>
            <a:fld id="{0D61AAC7-CBB5-CC4D-8F73-5C54E0D6FB30}" type="slidenum">
              <a:rPr lang="en-PS" smtClean="0"/>
              <a:t>‹#›</a:t>
            </a:fld>
            <a:endParaRPr lang="en-PS"/>
          </a:p>
        </p:txBody>
      </p:sp>
    </p:spTree>
    <p:extLst>
      <p:ext uri="{BB962C8B-B14F-4D97-AF65-F5344CB8AC3E}">
        <p14:creationId xmlns:p14="http://schemas.microsoft.com/office/powerpoint/2010/main" val="715325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68A6A8-BD02-69F2-F7AE-A358646351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S"/>
          </a:p>
        </p:txBody>
      </p:sp>
      <p:sp>
        <p:nvSpPr>
          <p:cNvPr id="3" name="Vertical Text Placeholder 2">
            <a:extLst>
              <a:ext uri="{FF2B5EF4-FFF2-40B4-BE49-F238E27FC236}">
                <a16:creationId xmlns:a16="http://schemas.microsoft.com/office/drawing/2014/main" id="{FAC0CB76-D839-1352-6284-CE610F6400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3C4C8EE9-9732-27FD-A99A-AABA80B4F9F2}"/>
              </a:ext>
            </a:extLst>
          </p:cNvPr>
          <p:cNvSpPr>
            <a:spLocks noGrp="1"/>
          </p:cNvSpPr>
          <p:nvPr>
            <p:ph type="dt" sz="half" idx="10"/>
          </p:nvPr>
        </p:nvSpPr>
        <p:spPr/>
        <p:txBody>
          <a:bodyPr/>
          <a:lstStyle/>
          <a:p>
            <a:fld id="{3D4B3E72-FBE8-4943-A137-49691B4A4C41}" type="datetimeFigureOut">
              <a:rPr lang="en-PS" smtClean="0"/>
              <a:t>11/13/25</a:t>
            </a:fld>
            <a:endParaRPr lang="en-PS"/>
          </a:p>
        </p:txBody>
      </p:sp>
      <p:sp>
        <p:nvSpPr>
          <p:cNvPr id="5" name="Footer Placeholder 4">
            <a:extLst>
              <a:ext uri="{FF2B5EF4-FFF2-40B4-BE49-F238E27FC236}">
                <a16:creationId xmlns:a16="http://schemas.microsoft.com/office/drawing/2014/main" id="{29F75D1B-6986-DE74-7578-5E7B1AA50F46}"/>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F4563A8B-E1CA-5833-4082-B401B9B24C7C}"/>
              </a:ext>
            </a:extLst>
          </p:cNvPr>
          <p:cNvSpPr>
            <a:spLocks noGrp="1"/>
          </p:cNvSpPr>
          <p:nvPr>
            <p:ph type="sldNum" sz="quarter" idx="12"/>
          </p:nvPr>
        </p:nvSpPr>
        <p:spPr/>
        <p:txBody>
          <a:bodyPr/>
          <a:lstStyle/>
          <a:p>
            <a:fld id="{0D61AAC7-CBB5-CC4D-8F73-5C54E0D6FB30}" type="slidenum">
              <a:rPr lang="en-PS" smtClean="0"/>
              <a:t>‹#›</a:t>
            </a:fld>
            <a:endParaRPr lang="en-PS"/>
          </a:p>
        </p:txBody>
      </p:sp>
    </p:spTree>
    <p:extLst>
      <p:ext uri="{BB962C8B-B14F-4D97-AF65-F5344CB8AC3E}">
        <p14:creationId xmlns:p14="http://schemas.microsoft.com/office/powerpoint/2010/main" val="4217582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DDF706-8910-56DF-3993-B52AC5B10E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S"/>
          </a:p>
        </p:txBody>
      </p:sp>
      <p:sp>
        <p:nvSpPr>
          <p:cNvPr id="3" name="Text Placeholder 2">
            <a:extLst>
              <a:ext uri="{FF2B5EF4-FFF2-40B4-BE49-F238E27FC236}">
                <a16:creationId xmlns:a16="http://schemas.microsoft.com/office/drawing/2014/main" id="{36C1D8E6-DF09-7780-8F0E-C6BFD8553D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DD5719B2-5699-283A-D41E-CEB00562D3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4B3E72-FBE8-4943-A137-49691B4A4C41}" type="datetimeFigureOut">
              <a:rPr lang="en-PS" smtClean="0"/>
              <a:t>11/13/25</a:t>
            </a:fld>
            <a:endParaRPr lang="en-PS"/>
          </a:p>
        </p:txBody>
      </p:sp>
      <p:sp>
        <p:nvSpPr>
          <p:cNvPr id="5" name="Footer Placeholder 4">
            <a:extLst>
              <a:ext uri="{FF2B5EF4-FFF2-40B4-BE49-F238E27FC236}">
                <a16:creationId xmlns:a16="http://schemas.microsoft.com/office/drawing/2014/main" id="{37128BC8-2EFB-E572-2926-A310161974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S"/>
          </a:p>
        </p:txBody>
      </p:sp>
      <p:sp>
        <p:nvSpPr>
          <p:cNvPr id="6" name="Slide Number Placeholder 5">
            <a:extLst>
              <a:ext uri="{FF2B5EF4-FFF2-40B4-BE49-F238E27FC236}">
                <a16:creationId xmlns:a16="http://schemas.microsoft.com/office/drawing/2014/main" id="{28A4DE81-22A4-254C-FBC7-E9D05645EA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61AAC7-CBB5-CC4D-8F73-5C54E0D6FB30}" type="slidenum">
              <a:rPr lang="en-PS" smtClean="0"/>
              <a:t>‹#›</a:t>
            </a:fld>
            <a:endParaRPr lang="en-PS"/>
          </a:p>
        </p:txBody>
      </p:sp>
    </p:spTree>
    <p:extLst>
      <p:ext uri="{BB962C8B-B14F-4D97-AF65-F5344CB8AC3E}">
        <p14:creationId xmlns:p14="http://schemas.microsoft.com/office/powerpoint/2010/main" val="17098948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D6D8988-8365-E77B-2F8F-D4B4CD829B19}"/>
              </a:ext>
            </a:extLst>
          </p:cNvPr>
          <p:cNvSpPr>
            <a:spLocks noGrp="1"/>
          </p:cNvSpPr>
          <p:nvPr>
            <p:ph type="ctrTitle"/>
          </p:nvPr>
        </p:nvSpPr>
        <p:spPr>
          <a:xfrm>
            <a:off x="467657" y="3090393"/>
            <a:ext cx="10211477" cy="1642972"/>
          </a:xfrm>
        </p:spPr>
        <p:txBody>
          <a:bodyPr>
            <a:noAutofit/>
          </a:bodyPr>
          <a:lstStyle/>
          <a:p>
            <a:pPr rtl="1">
              <a:lnSpc>
                <a:spcPct val="150000"/>
              </a:lnSpc>
            </a:pPr>
            <a:r>
              <a:rPr lang="en-GB" sz="4000" b="1" dirty="0">
                <a:solidFill>
                  <a:schemeClr val="accent1"/>
                </a:solidFill>
                <a:latin typeface="Calibri Light" panose="020F0302020204030204" pitchFamily="34" charset="0"/>
                <a:ea typeface="Calibri" panose="020F0502020204030204" pitchFamily="34" charset="0"/>
                <a:cs typeface="Arial" panose="020B0604020202020204" pitchFamily="34" charset="0"/>
              </a:rPr>
              <a:t>Introduction to </a:t>
            </a:r>
            <a:br>
              <a:rPr lang="ar-SA" sz="4000" b="1" dirty="0">
                <a:solidFill>
                  <a:schemeClr val="accent1"/>
                </a:solidFill>
                <a:effectLst/>
                <a:latin typeface="Calibri Light" panose="020F0302020204030204" pitchFamily="34" charset="0"/>
                <a:ea typeface="Calibri" panose="020F0502020204030204" pitchFamily="34" charset="0"/>
                <a:cs typeface="Arial" panose="020B0604020202020204" pitchFamily="34" charset="0"/>
              </a:rPr>
            </a:br>
            <a:r>
              <a:rPr lang="en-GB" sz="4000" b="1" dirty="0">
                <a:solidFill>
                  <a:schemeClr val="accent1"/>
                </a:solidFill>
                <a:effectLst/>
                <a:latin typeface="Calibri Light" panose="020F0302020204030204" pitchFamily="34" charset="0"/>
                <a:ea typeface="Calibri" panose="020F0502020204030204" pitchFamily="34" charset="0"/>
                <a:cs typeface="Arial" panose="020B0604020202020204" pitchFamily="34" charset="0"/>
              </a:rPr>
              <a:t>Artificial Intelligence and</a:t>
            </a:r>
            <a:r>
              <a:rPr lang="en-PS" sz="4000" b="1" dirty="0">
                <a:solidFill>
                  <a:schemeClr val="accent1"/>
                </a:solidFill>
                <a:effectLst/>
                <a:latin typeface="Calibri Light" panose="020F0302020204030204" pitchFamily="34" charset="0"/>
                <a:ea typeface="Calibri" panose="020F0502020204030204" pitchFamily="34" charset="0"/>
                <a:cs typeface="Arial" panose="020B0604020202020204" pitchFamily="34" charset="0"/>
              </a:rPr>
              <a:t> Machine Learning</a:t>
            </a:r>
            <a:endParaRPr lang="en-PS" sz="11500" dirty="0">
              <a:solidFill>
                <a:schemeClr val="accent1"/>
              </a:solidFill>
            </a:endParaRPr>
          </a:p>
        </p:txBody>
      </p:sp>
      <p:sp>
        <p:nvSpPr>
          <p:cNvPr id="8" name="TextBox 7">
            <a:extLst>
              <a:ext uri="{FF2B5EF4-FFF2-40B4-BE49-F238E27FC236}">
                <a16:creationId xmlns:a16="http://schemas.microsoft.com/office/drawing/2014/main" id="{629B3A4E-A796-7D8A-058F-F2056ACA3D30}"/>
              </a:ext>
            </a:extLst>
          </p:cNvPr>
          <p:cNvSpPr txBox="1"/>
          <p:nvPr/>
        </p:nvSpPr>
        <p:spPr>
          <a:xfrm>
            <a:off x="1002385" y="1331494"/>
            <a:ext cx="1403076" cy="461665"/>
          </a:xfrm>
          <a:prstGeom prst="rect">
            <a:avLst/>
          </a:prstGeom>
          <a:noFill/>
        </p:spPr>
        <p:txBody>
          <a:bodyPr wrap="none" rtlCol="0">
            <a:spAutoFit/>
          </a:bodyPr>
          <a:lstStyle/>
          <a:p>
            <a:pPr marL="0" algn="l" defTabSz="914400" rtl="0" eaLnBrk="1" latinLnBrk="0" hangingPunct="1"/>
            <a:r>
              <a:rPr lang="en-GB" sz="2400" dirty="0"/>
              <a:t>Chapter 1</a:t>
            </a:r>
            <a:endParaRPr lang="en-PS" sz="2400" dirty="0"/>
          </a:p>
        </p:txBody>
      </p:sp>
    </p:spTree>
    <p:extLst>
      <p:ext uri="{BB962C8B-B14F-4D97-AF65-F5344CB8AC3E}">
        <p14:creationId xmlns:p14="http://schemas.microsoft.com/office/powerpoint/2010/main" val="796100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A0009-115D-1E3F-BD23-A024B08CE569}"/>
              </a:ext>
            </a:extLst>
          </p:cNvPr>
          <p:cNvSpPr>
            <a:spLocks noGrp="1"/>
          </p:cNvSpPr>
          <p:nvPr>
            <p:ph type="title"/>
          </p:nvPr>
        </p:nvSpPr>
        <p:spPr/>
        <p:txBody>
          <a:bodyPr/>
          <a:lstStyle/>
          <a:p>
            <a:r>
              <a:rPr lang="en-PS" dirty="0">
                <a:solidFill>
                  <a:srgbClr val="4472C4"/>
                </a:solidFill>
              </a:rPr>
              <a:t>Content</a:t>
            </a:r>
          </a:p>
        </p:txBody>
      </p:sp>
      <p:sp>
        <p:nvSpPr>
          <p:cNvPr id="3" name="Content Placeholder 2">
            <a:extLst>
              <a:ext uri="{FF2B5EF4-FFF2-40B4-BE49-F238E27FC236}">
                <a16:creationId xmlns:a16="http://schemas.microsoft.com/office/drawing/2014/main" id="{DB11CF5F-7576-900C-4FB0-66D73D0A78F6}"/>
              </a:ext>
            </a:extLst>
          </p:cNvPr>
          <p:cNvSpPr>
            <a:spLocks noGrp="1"/>
          </p:cNvSpPr>
          <p:nvPr>
            <p:ph idx="1"/>
          </p:nvPr>
        </p:nvSpPr>
        <p:spPr/>
        <p:txBody>
          <a:bodyPr>
            <a:normAutofit/>
          </a:bodyPr>
          <a:lstStyle/>
          <a:p>
            <a:pPr marL="457200"/>
            <a:r>
              <a:rPr lang="en-PS" sz="3200" dirty="0">
                <a:effectLst/>
                <a:latin typeface="Calibri Light" panose="020F0302020204030204" pitchFamily="34" charset="0"/>
                <a:ea typeface="Calibri" panose="020F0502020204030204" pitchFamily="34" charset="0"/>
                <a:cs typeface="Arial" panose="020B0604020202020204" pitchFamily="34" charset="0"/>
              </a:rPr>
              <a:t>Definition of Artificial Intelligence</a:t>
            </a:r>
          </a:p>
          <a:p>
            <a:pPr marL="457200"/>
            <a:r>
              <a:rPr lang="en-PS" sz="3200" dirty="0">
                <a:latin typeface="Calibri Light" panose="020F0302020204030204" pitchFamily="34" charset="0"/>
                <a:ea typeface="Calibri" panose="020F0502020204030204" pitchFamily="34" charset="0"/>
                <a:cs typeface="Arial" panose="020B0604020202020204" pitchFamily="34" charset="0"/>
              </a:rPr>
              <a:t>History of Artificial intelligence</a:t>
            </a:r>
          </a:p>
          <a:p>
            <a:pPr marL="457200"/>
            <a:r>
              <a:rPr lang="en-PS" sz="3200" dirty="0">
                <a:effectLst/>
                <a:latin typeface="Calibri Light" panose="020F0302020204030204" pitchFamily="34" charset="0"/>
                <a:ea typeface="Calibri" panose="020F0502020204030204" pitchFamily="34" charset="0"/>
                <a:cs typeface="Arial" panose="020B0604020202020204" pitchFamily="34" charset="0"/>
              </a:rPr>
              <a:t>Subfiel</a:t>
            </a:r>
            <a:r>
              <a:rPr lang="en-PS" sz="3200" dirty="0">
                <a:latin typeface="Calibri Light" panose="020F0302020204030204" pitchFamily="34" charset="0"/>
                <a:ea typeface="Calibri" panose="020F0502020204030204" pitchFamily="34" charset="0"/>
                <a:cs typeface="Arial" panose="020B0604020202020204" pitchFamily="34" charset="0"/>
              </a:rPr>
              <a:t>ds of Artificial Intelligence</a:t>
            </a:r>
          </a:p>
          <a:p>
            <a:pPr marL="457200"/>
            <a:r>
              <a:rPr lang="en-PS" sz="3200" dirty="0">
                <a:latin typeface="Calibri Light" panose="020F0302020204030204" pitchFamily="34" charset="0"/>
                <a:ea typeface="Calibri" panose="020F0502020204030204" pitchFamily="34" charset="0"/>
                <a:cs typeface="Arial" panose="020B0604020202020204" pitchFamily="34" charset="0"/>
              </a:rPr>
              <a:t>The connection between AI and Machine learning</a:t>
            </a:r>
          </a:p>
          <a:p>
            <a:pPr marL="457200"/>
            <a:endParaRPr lang="en-PS" sz="3200" dirty="0">
              <a:effectLst/>
              <a:latin typeface="Calibri Light" panose="020F0302020204030204" pitchFamily="34" charset="0"/>
              <a:ea typeface="Calibri" panose="020F0502020204030204" pitchFamily="34" charset="0"/>
              <a:cs typeface="Arial" panose="020B0604020202020204" pitchFamily="34" charset="0"/>
            </a:endParaRPr>
          </a:p>
          <a:p>
            <a:pPr marL="457200"/>
            <a:endParaRPr lang="en-PS" sz="3200" dirty="0">
              <a:effectLst/>
              <a:latin typeface="Calibri Light" panose="020F0302020204030204" pitchFamily="34" charset="0"/>
              <a:ea typeface="Calibri" panose="020F0502020204030204" pitchFamily="34" charset="0"/>
              <a:cs typeface="Arial" panose="020B0604020202020204" pitchFamily="34" charset="0"/>
            </a:endParaRPr>
          </a:p>
          <a:p>
            <a:pPr marL="457200"/>
            <a:endParaRPr lang="en-PS" sz="32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PS" sz="4400" dirty="0"/>
          </a:p>
        </p:txBody>
      </p:sp>
    </p:spTree>
    <p:extLst>
      <p:ext uri="{BB962C8B-B14F-4D97-AF65-F5344CB8AC3E}">
        <p14:creationId xmlns:p14="http://schemas.microsoft.com/office/powerpoint/2010/main" val="2698668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F3008-6DB1-CD1C-EE63-FACDE81D3112}"/>
              </a:ext>
            </a:extLst>
          </p:cNvPr>
          <p:cNvSpPr>
            <a:spLocks noGrp="1"/>
          </p:cNvSpPr>
          <p:nvPr>
            <p:ph type="title"/>
          </p:nvPr>
        </p:nvSpPr>
        <p:spPr>
          <a:xfrm>
            <a:off x="838200" y="359862"/>
            <a:ext cx="10515600" cy="932733"/>
          </a:xfrm>
        </p:spPr>
        <p:txBody>
          <a:bodyPr/>
          <a:lstStyle/>
          <a:p>
            <a:r>
              <a:rPr lang="en-PS" dirty="0"/>
              <a:t>What is Intelligence</a:t>
            </a:r>
          </a:p>
        </p:txBody>
      </p:sp>
      <p:sp>
        <p:nvSpPr>
          <p:cNvPr id="3" name="Content Placeholder 2">
            <a:extLst>
              <a:ext uri="{FF2B5EF4-FFF2-40B4-BE49-F238E27FC236}">
                <a16:creationId xmlns:a16="http://schemas.microsoft.com/office/drawing/2014/main" id="{C40F6C7E-B9E8-5EEF-4978-DA8F1E27063E}"/>
              </a:ext>
            </a:extLst>
          </p:cNvPr>
          <p:cNvSpPr>
            <a:spLocks noGrp="1"/>
          </p:cNvSpPr>
          <p:nvPr>
            <p:ph idx="1"/>
          </p:nvPr>
        </p:nvSpPr>
        <p:spPr>
          <a:xfrm>
            <a:off x="561666" y="1499015"/>
            <a:ext cx="11068665" cy="4999123"/>
          </a:xfrm>
        </p:spPr>
        <p:txBody>
          <a:bodyPr>
            <a:normAutofit/>
          </a:bodyPr>
          <a:lstStyle/>
          <a:p>
            <a:r>
              <a:rPr lang="en-US" sz="3200" dirty="0"/>
              <a:t>Intelligence means being able to </a:t>
            </a:r>
            <a:r>
              <a:rPr lang="en-US" sz="3200" b="1" dirty="0"/>
              <a:t>understand</a:t>
            </a:r>
            <a:r>
              <a:rPr lang="en-US" sz="3200" dirty="0"/>
              <a:t>, </a:t>
            </a:r>
            <a:r>
              <a:rPr lang="en-US" sz="3200" b="1" dirty="0"/>
              <a:t>learn</a:t>
            </a:r>
            <a:r>
              <a:rPr lang="en-US" sz="3200" dirty="0"/>
              <a:t>, </a:t>
            </a:r>
            <a:r>
              <a:rPr lang="en-US" sz="3200" b="1" dirty="0"/>
              <a:t>think</a:t>
            </a:r>
            <a:r>
              <a:rPr lang="en-US" sz="3200" dirty="0"/>
              <a:t>, </a:t>
            </a:r>
            <a:r>
              <a:rPr lang="en-US" sz="3200" b="1" dirty="0"/>
              <a:t>adapt</a:t>
            </a:r>
            <a:r>
              <a:rPr lang="en-US" sz="3200" dirty="0"/>
              <a:t>, and </a:t>
            </a:r>
            <a:r>
              <a:rPr lang="en-US" sz="3200" b="1" dirty="0"/>
              <a:t>solve problems</a:t>
            </a:r>
            <a:r>
              <a:rPr lang="en-US" sz="3200" dirty="0"/>
              <a:t>.</a:t>
            </a:r>
          </a:p>
          <a:p>
            <a:r>
              <a:rPr lang="en-US" sz="3200" dirty="0"/>
              <a:t>It is the ability to take in information, make sense of it, and use it to make good decisions or actions.</a:t>
            </a:r>
          </a:p>
          <a:p>
            <a:r>
              <a:rPr lang="en-US" sz="3200" dirty="0"/>
              <a:t>AI tries to copy this kind of human intelligence using computer programs and algorithms.</a:t>
            </a:r>
          </a:p>
        </p:txBody>
      </p:sp>
    </p:spTree>
    <p:extLst>
      <p:ext uri="{BB962C8B-B14F-4D97-AF65-F5344CB8AC3E}">
        <p14:creationId xmlns:p14="http://schemas.microsoft.com/office/powerpoint/2010/main" val="4234289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C31B4-DBD2-AC02-73C1-E819CC859323}"/>
              </a:ext>
            </a:extLst>
          </p:cNvPr>
          <p:cNvSpPr>
            <a:spLocks noGrp="1"/>
          </p:cNvSpPr>
          <p:nvPr>
            <p:ph type="title"/>
          </p:nvPr>
        </p:nvSpPr>
        <p:spPr/>
        <p:txBody>
          <a:bodyPr/>
          <a:lstStyle/>
          <a:p>
            <a:r>
              <a:rPr lang="en-US" b="0" i="0" dirty="0">
                <a:solidFill>
                  <a:schemeClr val="accent1"/>
                </a:solidFill>
                <a:effectLst/>
                <a:latin typeface="Söhne"/>
              </a:rPr>
              <a:t>Definition of Artificial Intelligence</a:t>
            </a:r>
            <a:endParaRPr lang="en-PS" dirty="0">
              <a:solidFill>
                <a:schemeClr val="accent1"/>
              </a:solidFill>
            </a:endParaRPr>
          </a:p>
        </p:txBody>
      </p:sp>
      <p:sp>
        <p:nvSpPr>
          <p:cNvPr id="3" name="Content Placeholder 2">
            <a:extLst>
              <a:ext uri="{FF2B5EF4-FFF2-40B4-BE49-F238E27FC236}">
                <a16:creationId xmlns:a16="http://schemas.microsoft.com/office/drawing/2014/main" id="{99E0004D-3D0B-347B-3529-4385D5B62841}"/>
              </a:ext>
            </a:extLst>
          </p:cNvPr>
          <p:cNvSpPr>
            <a:spLocks noGrp="1"/>
          </p:cNvSpPr>
          <p:nvPr>
            <p:ph idx="1"/>
          </p:nvPr>
        </p:nvSpPr>
        <p:spPr/>
        <p:txBody>
          <a:bodyPr>
            <a:normAutofit/>
          </a:bodyPr>
          <a:lstStyle/>
          <a:p>
            <a:pPr>
              <a:buFont typeface="Arial" panose="020B0604020202020204" pitchFamily="34" charset="0"/>
              <a:buChar char="•"/>
            </a:pPr>
            <a:r>
              <a:rPr lang="en-US" sz="3200" dirty="0"/>
              <a:t>Artificial Intelligence (AI) is the field that creates machines that can act and think in ways similar to humans.</a:t>
            </a:r>
          </a:p>
          <a:p>
            <a:pPr>
              <a:buFont typeface="Arial" panose="020B0604020202020204" pitchFamily="34" charset="0"/>
              <a:buChar char="•"/>
            </a:pPr>
            <a:r>
              <a:rPr lang="en-US" sz="3200" dirty="0"/>
              <a:t>AI uses many techniques and algorithms to help computers do tasks that normally require human intelligence, such as understanding language, recognizing images, or making decisions.</a:t>
            </a:r>
          </a:p>
        </p:txBody>
      </p:sp>
    </p:spTree>
    <p:extLst>
      <p:ext uri="{BB962C8B-B14F-4D97-AF65-F5344CB8AC3E}">
        <p14:creationId xmlns:p14="http://schemas.microsoft.com/office/powerpoint/2010/main" val="3339902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1A367-B67F-4E21-ED16-F5AA1EF6147F}"/>
              </a:ext>
            </a:extLst>
          </p:cNvPr>
          <p:cNvSpPr>
            <a:spLocks noGrp="1"/>
          </p:cNvSpPr>
          <p:nvPr>
            <p:ph type="title"/>
          </p:nvPr>
        </p:nvSpPr>
        <p:spPr>
          <a:xfrm>
            <a:off x="838200" y="169340"/>
            <a:ext cx="10515600" cy="922901"/>
          </a:xfrm>
        </p:spPr>
        <p:txBody>
          <a:bodyPr/>
          <a:lstStyle/>
          <a:p>
            <a:r>
              <a:rPr lang="en-PS" dirty="0">
                <a:solidFill>
                  <a:schemeClr val="accent1"/>
                </a:solidFill>
              </a:rPr>
              <a:t>Artificial Intelligence Tasks </a:t>
            </a:r>
          </a:p>
        </p:txBody>
      </p:sp>
      <p:sp>
        <p:nvSpPr>
          <p:cNvPr id="3" name="Content Placeholder 2">
            <a:extLst>
              <a:ext uri="{FF2B5EF4-FFF2-40B4-BE49-F238E27FC236}">
                <a16:creationId xmlns:a16="http://schemas.microsoft.com/office/drawing/2014/main" id="{3910EE04-53A4-E437-1B69-14204B509162}"/>
              </a:ext>
            </a:extLst>
          </p:cNvPr>
          <p:cNvSpPr>
            <a:spLocks noGrp="1"/>
          </p:cNvSpPr>
          <p:nvPr>
            <p:ph idx="1"/>
          </p:nvPr>
        </p:nvSpPr>
        <p:spPr>
          <a:xfrm>
            <a:off x="554636" y="1052052"/>
            <a:ext cx="10799164" cy="5805948"/>
          </a:xfrm>
        </p:spPr>
        <p:txBody>
          <a:bodyPr>
            <a:normAutofit/>
          </a:bodyPr>
          <a:lstStyle/>
          <a:p>
            <a:r>
              <a:rPr lang="en-US" b="1" dirty="0"/>
              <a:t>Reasoning: </a:t>
            </a:r>
            <a:br>
              <a:rPr lang="en-US" dirty="0"/>
            </a:br>
            <a:r>
              <a:rPr lang="en-US" dirty="0"/>
              <a:t>AI can follow logical steps and make conclusions based on the information it has.</a:t>
            </a:r>
          </a:p>
          <a:p>
            <a:r>
              <a:rPr lang="en-US" b="1" dirty="0"/>
              <a:t>Problem-Solving:</a:t>
            </a:r>
            <a:br>
              <a:rPr lang="en-US" dirty="0"/>
            </a:br>
            <a:r>
              <a:rPr lang="en-US" dirty="0"/>
              <a:t>AI can break big problems into smaller parts, test different options, and choose the best solution.</a:t>
            </a:r>
          </a:p>
          <a:p>
            <a:r>
              <a:rPr lang="en-US" b="1" dirty="0"/>
              <a:t>Perception (Seeing &amp; Hearing):</a:t>
            </a:r>
            <a:br>
              <a:rPr lang="en-US" dirty="0"/>
            </a:br>
            <a:r>
              <a:rPr lang="en-US" dirty="0"/>
              <a:t>AI can take in information from sensors or cameras—like images or sounds—and understand what it sees or hears.</a:t>
            </a:r>
          </a:p>
          <a:p>
            <a:r>
              <a:rPr lang="en-US" b="1" dirty="0"/>
              <a:t>Natural Language Understanding:</a:t>
            </a:r>
            <a:br>
              <a:rPr lang="en-US" dirty="0"/>
            </a:br>
            <a:r>
              <a:rPr lang="en-US" dirty="0"/>
              <a:t>AI can read, listen to, and understand human language. This enables tools like chatbots, virtual assistants, and translation apps.</a:t>
            </a:r>
          </a:p>
          <a:p>
            <a:endParaRPr lang="en-PS" dirty="0">
              <a:latin typeface="+mj-lt"/>
            </a:endParaRPr>
          </a:p>
        </p:txBody>
      </p:sp>
    </p:spTree>
    <p:extLst>
      <p:ext uri="{BB962C8B-B14F-4D97-AF65-F5344CB8AC3E}">
        <p14:creationId xmlns:p14="http://schemas.microsoft.com/office/powerpoint/2010/main" val="1467455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5C819-A272-BE4F-8CE0-AC70FEC28882}"/>
              </a:ext>
            </a:extLst>
          </p:cNvPr>
          <p:cNvSpPr>
            <a:spLocks noGrp="1"/>
          </p:cNvSpPr>
          <p:nvPr>
            <p:ph type="title"/>
          </p:nvPr>
        </p:nvSpPr>
        <p:spPr>
          <a:xfrm>
            <a:off x="838200" y="365125"/>
            <a:ext cx="10515600" cy="699177"/>
          </a:xfrm>
        </p:spPr>
        <p:txBody>
          <a:bodyPr/>
          <a:lstStyle/>
          <a:p>
            <a:r>
              <a:rPr lang="en-IL" dirty="0">
                <a:solidFill>
                  <a:srgbClr val="0432FF"/>
                </a:solidFill>
              </a:rPr>
              <a:t>More of AI Tasks</a:t>
            </a:r>
          </a:p>
        </p:txBody>
      </p:sp>
      <p:sp>
        <p:nvSpPr>
          <p:cNvPr id="3" name="Content Placeholder 2">
            <a:extLst>
              <a:ext uri="{FF2B5EF4-FFF2-40B4-BE49-F238E27FC236}">
                <a16:creationId xmlns:a16="http://schemas.microsoft.com/office/drawing/2014/main" id="{ECE178C5-D059-18F4-BFDD-ED2367243573}"/>
              </a:ext>
            </a:extLst>
          </p:cNvPr>
          <p:cNvSpPr>
            <a:spLocks noGrp="1"/>
          </p:cNvSpPr>
          <p:nvPr>
            <p:ph idx="1"/>
          </p:nvPr>
        </p:nvSpPr>
        <p:spPr>
          <a:xfrm>
            <a:off x="838200" y="1064302"/>
            <a:ext cx="10515600" cy="5428573"/>
          </a:xfrm>
        </p:spPr>
        <p:txBody>
          <a:bodyPr>
            <a:normAutofit fontScale="92500" lnSpcReduction="10000"/>
          </a:bodyPr>
          <a:lstStyle/>
          <a:p>
            <a:r>
              <a:rPr lang="en-US" sz="3200" b="1" dirty="0"/>
              <a:t>Learning:</a:t>
            </a:r>
            <a:br>
              <a:rPr lang="en-US" sz="3200" dirty="0"/>
            </a:br>
            <a:r>
              <a:rPr lang="en-US" sz="3200" dirty="0"/>
              <a:t>AI learns from data and improves its performance over time.</a:t>
            </a:r>
          </a:p>
          <a:p>
            <a:r>
              <a:rPr lang="en-US" sz="3200" b="1" dirty="0"/>
              <a:t>Autonomy:</a:t>
            </a:r>
            <a:br>
              <a:rPr lang="en-US" sz="3200" dirty="0"/>
            </a:br>
            <a:r>
              <a:rPr lang="en-US" sz="3200" dirty="0"/>
              <a:t>AI can make decisions and act without constant human control.</a:t>
            </a:r>
          </a:p>
          <a:p>
            <a:r>
              <a:rPr lang="en-US" sz="3200" b="1" dirty="0"/>
              <a:t>Adaptability:</a:t>
            </a:r>
            <a:br>
              <a:rPr lang="en-US" sz="3200" dirty="0"/>
            </a:br>
            <a:r>
              <a:rPr lang="en-US" sz="3200" dirty="0"/>
              <a:t>AI changes its behavior when the situation or environment changes.</a:t>
            </a:r>
          </a:p>
          <a:p>
            <a:r>
              <a:rPr lang="en-US" sz="3200" b="1" dirty="0"/>
              <a:t>Human-like Simulation:</a:t>
            </a:r>
            <a:br>
              <a:rPr lang="en-US" sz="3200" dirty="0"/>
            </a:br>
            <a:r>
              <a:rPr lang="en-US" sz="3200" dirty="0"/>
              <a:t>AI copies some aspects of human thinking to solve specific tasks.</a:t>
            </a:r>
          </a:p>
          <a:p>
            <a:r>
              <a:rPr lang="en-US" sz="3200" b="1" dirty="0"/>
              <a:t>Interdisciplinary Nature:</a:t>
            </a:r>
            <a:br>
              <a:rPr lang="en-US" sz="3200" dirty="0"/>
            </a:br>
            <a:r>
              <a:rPr lang="en-US" sz="3200" dirty="0"/>
              <a:t>AI uses ideas from many fields—computer science, math, psychology, neuroscience, and engineering.</a:t>
            </a:r>
          </a:p>
          <a:p>
            <a:pPr marL="311150" indent="-263525" algn="l">
              <a:buNone/>
            </a:pPr>
            <a:endParaRPr lang="en-PS" sz="3200" dirty="0">
              <a:latin typeface="+mj-lt"/>
            </a:endParaRPr>
          </a:p>
        </p:txBody>
      </p:sp>
    </p:spTree>
    <p:extLst>
      <p:ext uri="{BB962C8B-B14F-4D97-AF65-F5344CB8AC3E}">
        <p14:creationId xmlns:p14="http://schemas.microsoft.com/office/powerpoint/2010/main" val="3929282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A9208-088D-0D5B-E4E1-3F7ED4441087}"/>
              </a:ext>
            </a:extLst>
          </p:cNvPr>
          <p:cNvSpPr>
            <a:spLocks noGrp="1"/>
          </p:cNvSpPr>
          <p:nvPr>
            <p:ph type="title"/>
          </p:nvPr>
        </p:nvSpPr>
        <p:spPr>
          <a:xfrm>
            <a:off x="639097" y="476865"/>
            <a:ext cx="10515600" cy="824578"/>
          </a:xfrm>
        </p:spPr>
        <p:txBody>
          <a:bodyPr/>
          <a:lstStyle/>
          <a:p>
            <a:r>
              <a:rPr lang="en-US" b="0" i="0" dirty="0">
                <a:solidFill>
                  <a:srgbClr val="0D43EA"/>
                </a:solidFill>
                <a:effectLst/>
                <a:latin typeface="Söhne"/>
              </a:rPr>
              <a:t>AI as the Field of Creating Intelligent Agents</a:t>
            </a:r>
            <a:endParaRPr lang="en-PS" dirty="0">
              <a:solidFill>
                <a:srgbClr val="0D43EA"/>
              </a:solidFill>
            </a:endParaRPr>
          </a:p>
        </p:txBody>
      </p:sp>
      <p:sp>
        <p:nvSpPr>
          <p:cNvPr id="3" name="Content Placeholder 2">
            <a:extLst>
              <a:ext uri="{FF2B5EF4-FFF2-40B4-BE49-F238E27FC236}">
                <a16:creationId xmlns:a16="http://schemas.microsoft.com/office/drawing/2014/main" id="{20825890-F7DF-59E0-03B1-4E958C9CC4B5}"/>
              </a:ext>
            </a:extLst>
          </p:cNvPr>
          <p:cNvSpPr>
            <a:spLocks noGrp="1"/>
          </p:cNvSpPr>
          <p:nvPr>
            <p:ph sz="half" idx="1"/>
          </p:nvPr>
        </p:nvSpPr>
        <p:spPr>
          <a:xfrm>
            <a:off x="639097" y="2038662"/>
            <a:ext cx="10235380" cy="4342473"/>
          </a:xfrm>
        </p:spPr>
        <p:txBody>
          <a:bodyPr>
            <a:normAutofit/>
          </a:bodyPr>
          <a:lstStyle/>
          <a:p>
            <a:r>
              <a:rPr lang="en-US" dirty="0"/>
              <a:t>Artificial Intelligence focuses on building </a:t>
            </a:r>
            <a:r>
              <a:rPr lang="en-US" b="1" dirty="0"/>
              <a:t>intelligent agents</a:t>
            </a:r>
            <a:r>
              <a:rPr lang="en-US" dirty="0"/>
              <a:t>—machines that can act smartly.</a:t>
            </a:r>
          </a:p>
          <a:p>
            <a:r>
              <a:rPr lang="en-US" dirty="0"/>
              <a:t>These agents can understand their environment, make decisions, and take actions to reach goals.</a:t>
            </a:r>
          </a:p>
          <a:p>
            <a:r>
              <a:rPr lang="en-US" dirty="0"/>
              <a:t>They are designed to mimic some human abilities, and sometimes even perform better than humans.</a:t>
            </a:r>
          </a:p>
          <a:p>
            <a:r>
              <a:rPr lang="en-US" dirty="0"/>
              <a:t>This idea of intelligent agents is the foundation of many modern AI applications.</a:t>
            </a:r>
          </a:p>
          <a:p>
            <a:pPr marL="0" indent="0" algn="l">
              <a:buNone/>
            </a:pPr>
            <a:r>
              <a:rPr lang="en-US" b="0" i="0" dirty="0">
                <a:solidFill>
                  <a:srgbClr val="374151"/>
                </a:solidFill>
                <a:effectLst/>
                <a:latin typeface="+mj-lt"/>
              </a:rPr>
              <a:t>.</a:t>
            </a:r>
            <a:endParaRPr lang="en-PS" dirty="0">
              <a:latin typeface="+mj-lt"/>
            </a:endParaRPr>
          </a:p>
        </p:txBody>
      </p:sp>
    </p:spTree>
    <p:extLst>
      <p:ext uri="{BB962C8B-B14F-4D97-AF65-F5344CB8AC3E}">
        <p14:creationId xmlns:p14="http://schemas.microsoft.com/office/powerpoint/2010/main" val="3534311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8D9EB-FF23-E79C-DC9E-F3740C9661D3}"/>
              </a:ext>
            </a:extLst>
          </p:cNvPr>
          <p:cNvSpPr>
            <a:spLocks noGrp="1"/>
          </p:cNvSpPr>
          <p:nvPr>
            <p:ph type="title"/>
          </p:nvPr>
        </p:nvSpPr>
        <p:spPr>
          <a:xfrm>
            <a:off x="749709" y="119318"/>
            <a:ext cx="10515600" cy="785249"/>
          </a:xfrm>
        </p:spPr>
        <p:txBody>
          <a:bodyPr/>
          <a:lstStyle/>
          <a:p>
            <a:r>
              <a:rPr lang="en-PS" dirty="0">
                <a:solidFill>
                  <a:schemeClr val="accent1"/>
                </a:solidFill>
              </a:rPr>
              <a:t>Examples of intelligent agents </a:t>
            </a:r>
          </a:p>
        </p:txBody>
      </p:sp>
      <p:sp>
        <p:nvSpPr>
          <p:cNvPr id="5" name="Content Placeholder 4">
            <a:extLst>
              <a:ext uri="{FF2B5EF4-FFF2-40B4-BE49-F238E27FC236}">
                <a16:creationId xmlns:a16="http://schemas.microsoft.com/office/drawing/2014/main" id="{09497949-6DC5-6FD0-99FE-80452F54F6D0}"/>
              </a:ext>
            </a:extLst>
          </p:cNvPr>
          <p:cNvSpPr>
            <a:spLocks noGrp="1"/>
          </p:cNvSpPr>
          <p:nvPr>
            <p:ph idx="1"/>
          </p:nvPr>
        </p:nvSpPr>
        <p:spPr>
          <a:xfrm>
            <a:off x="560440" y="1091381"/>
            <a:ext cx="10616756" cy="5085582"/>
          </a:xfrm>
        </p:spPr>
        <p:txBody>
          <a:bodyPr>
            <a:normAutofit/>
          </a:bodyPr>
          <a:lstStyle/>
          <a:p>
            <a:r>
              <a:rPr lang="en-US" sz="3200" b="1" dirty="0"/>
              <a:t>Self-Driving Cars:</a:t>
            </a:r>
            <a:br>
              <a:rPr lang="en-US" sz="3200" dirty="0"/>
            </a:br>
            <a:r>
              <a:rPr lang="en-US" sz="3200" dirty="0"/>
              <a:t>Use sensors and AI to understand the road, make driving decisions, and adapt to traffic.</a:t>
            </a:r>
          </a:p>
          <a:p>
            <a:r>
              <a:rPr lang="en-US" sz="3200" b="1" dirty="0"/>
              <a:t>Virtual Assistants (Siri, Alexa, Google Assistant):</a:t>
            </a:r>
            <a:br>
              <a:rPr lang="en-US" sz="3200" dirty="0"/>
            </a:br>
            <a:r>
              <a:rPr lang="en-US" sz="3200" dirty="0"/>
              <a:t>Understand spoken language, answer questions, and learn user preferences.</a:t>
            </a:r>
          </a:p>
          <a:p>
            <a:r>
              <a:rPr lang="en-US" sz="3200" b="1" dirty="0"/>
              <a:t>Recommendation Systems (Netflix, Amazon):</a:t>
            </a:r>
            <a:br>
              <a:rPr lang="en-US" sz="3200" dirty="0"/>
            </a:br>
            <a:r>
              <a:rPr lang="en-US" sz="3200" dirty="0"/>
              <a:t>Suggest movies, products, or content by learning from what users like and choose.</a:t>
            </a:r>
          </a:p>
        </p:txBody>
      </p:sp>
    </p:spTree>
    <p:extLst>
      <p:ext uri="{BB962C8B-B14F-4D97-AF65-F5344CB8AC3E}">
        <p14:creationId xmlns:p14="http://schemas.microsoft.com/office/powerpoint/2010/main" val="883131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00C07-F5C2-8B4E-80D2-DA7DB1EEDF0C}"/>
              </a:ext>
            </a:extLst>
          </p:cNvPr>
          <p:cNvSpPr>
            <a:spLocks noGrp="1"/>
          </p:cNvSpPr>
          <p:nvPr>
            <p:ph type="title"/>
          </p:nvPr>
        </p:nvSpPr>
        <p:spPr>
          <a:xfrm>
            <a:off x="838200" y="365125"/>
            <a:ext cx="10515600" cy="894049"/>
          </a:xfrm>
        </p:spPr>
        <p:txBody>
          <a:bodyPr/>
          <a:lstStyle/>
          <a:p>
            <a:r>
              <a:rPr lang="en-PS">
                <a:solidFill>
                  <a:srgbClr val="0432FF"/>
                </a:solidFill>
              </a:rPr>
              <a:t>Examples of intelligent agents </a:t>
            </a:r>
            <a:endParaRPr lang="en-IL" dirty="0">
              <a:solidFill>
                <a:srgbClr val="0432FF"/>
              </a:solidFill>
            </a:endParaRPr>
          </a:p>
        </p:txBody>
      </p:sp>
      <p:sp>
        <p:nvSpPr>
          <p:cNvPr id="3" name="Content Placeholder 2">
            <a:extLst>
              <a:ext uri="{FF2B5EF4-FFF2-40B4-BE49-F238E27FC236}">
                <a16:creationId xmlns:a16="http://schemas.microsoft.com/office/drawing/2014/main" id="{5115420A-164F-BA2F-2623-058B56F778CE}"/>
              </a:ext>
            </a:extLst>
          </p:cNvPr>
          <p:cNvSpPr>
            <a:spLocks noGrp="1"/>
          </p:cNvSpPr>
          <p:nvPr>
            <p:ph idx="1"/>
          </p:nvPr>
        </p:nvSpPr>
        <p:spPr>
          <a:xfrm>
            <a:off x="838200" y="1259174"/>
            <a:ext cx="10515600" cy="5456419"/>
          </a:xfrm>
        </p:spPr>
        <p:txBody>
          <a:bodyPr>
            <a:normAutofit/>
          </a:bodyPr>
          <a:lstStyle/>
          <a:p>
            <a:r>
              <a:rPr lang="en-US" b="1" dirty="0"/>
              <a:t>Autonomous Robots in Manufacturing:</a:t>
            </a:r>
            <a:br>
              <a:rPr lang="en-US" dirty="0"/>
            </a:br>
            <a:r>
              <a:rPr lang="en-US" dirty="0"/>
              <a:t>Robots that assemble products, check quality, and handle materials while adapting to changes in the production process.</a:t>
            </a:r>
          </a:p>
          <a:p>
            <a:r>
              <a:rPr lang="en-US" b="1" dirty="0"/>
              <a:t>Medical Diagnosis Systems:</a:t>
            </a:r>
            <a:br>
              <a:rPr lang="en-US" dirty="0"/>
            </a:br>
            <a:r>
              <a:rPr lang="en-US" dirty="0"/>
              <a:t>AI tools that help doctors read medical images, detect diseases, and choose suitable treatments.</a:t>
            </a:r>
          </a:p>
          <a:p>
            <a:r>
              <a:rPr lang="en-US" b="1" dirty="0"/>
              <a:t>Game-Playing AI (AlphaGo, GPT models):</a:t>
            </a:r>
            <a:br>
              <a:rPr lang="en-US" dirty="0"/>
            </a:br>
            <a:r>
              <a:rPr lang="en-US" dirty="0"/>
              <a:t>AI that learns strategies and makes smart decisions to win games like chess or Go.</a:t>
            </a:r>
          </a:p>
        </p:txBody>
      </p:sp>
    </p:spTree>
    <p:extLst>
      <p:ext uri="{BB962C8B-B14F-4D97-AF65-F5344CB8AC3E}">
        <p14:creationId xmlns:p14="http://schemas.microsoft.com/office/powerpoint/2010/main" val="2779929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2FD09-035E-A3BE-465F-C8747DEA98DF}"/>
              </a:ext>
            </a:extLst>
          </p:cNvPr>
          <p:cNvSpPr>
            <a:spLocks noGrp="1"/>
          </p:cNvSpPr>
          <p:nvPr>
            <p:ph type="title"/>
          </p:nvPr>
        </p:nvSpPr>
        <p:spPr>
          <a:xfrm>
            <a:off x="736600" y="202565"/>
            <a:ext cx="10515600" cy="732155"/>
          </a:xfrm>
        </p:spPr>
        <p:txBody>
          <a:bodyPr/>
          <a:lstStyle/>
          <a:p>
            <a:r>
              <a:rPr lang="en-PS" dirty="0">
                <a:solidFill>
                  <a:schemeClr val="accent1"/>
                </a:solidFill>
              </a:rPr>
              <a:t>Levels of Artificial Antelligence</a:t>
            </a:r>
          </a:p>
        </p:txBody>
      </p:sp>
      <p:sp>
        <p:nvSpPr>
          <p:cNvPr id="3" name="Content Placeholder 2">
            <a:extLst>
              <a:ext uri="{FF2B5EF4-FFF2-40B4-BE49-F238E27FC236}">
                <a16:creationId xmlns:a16="http://schemas.microsoft.com/office/drawing/2014/main" id="{ACADD06F-9C3C-AEAF-FD75-3ED117A679E0}"/>
              </a:ext>
            </a:extLst>
          </p:cNvPr>
          <p:cNvSpPr>
            <a:spLocks noGrp="1"/>
          </p:cNvSpPr>
          <p:nvPr>
            <p:ph idx="1"/>
          </p:nvPr>
        </p:nvSpPr>
        <p:spPr>
          <a:xfrm>
            <a:off x="736600" y="1484026"/>
            <a:ext cx="10515600" cy="5171410"/>
          </a:xfrm>
        </p:spPr>
        <p:txBody>
          <a:bodyPr>
            <a:normAutofit lnSpcReduction="10000"/>
          </a:bodyPr>
          <a:lstStyle/>
          <a:p>
            <a:pPr>
              <a:lnSpc>
                <a:spcPct val="100000"/>
              </a:lnSpc>
            </a:pPr>
            <a:r>
              <a:rPr lang="en-US" sz="3200" b="1" dirty="0"/>
              <a:t>Narrow AI (Weak AI):</a:t>
            </a:r>
            <a:br>
              <a:rPr lang="en-US" sz="3200" dirty="0"/>
            </a:br>
            <a:r>
              <a:rPr lang="en-US" sz="3200" dirty="0"/>
              <a:t>AI that is good at one specific task only, like chatbots or recommendation systems.</a:t>
            </a:r>
          </a:p>
          <a:p>
            <a:pPr>
              <a:lnSpc>
                <a:spcPct val="100000"/>
              </a:lnSpc>
            </a:pPr>
            <a:r>
              <a:rPr lang="en-US" sz="3200" b="1" dirty="0"/>
              <a:t>General AI (AGI):</a:t>
            </a:r>
            <a:br>
              <a:rPr lang="en-US" sz="3200" dirty="0"/>
            </a:br>
            <a:r>
              <a:rPr lang="en-US" sz="3200" dirty="0"/>
              <a:t>AI that can think and learn like a human and handle many different tasks.</a:t>
            </a:r>
            <a:br>
              <a:rPr lang="en-US" sz="3200" dirty="0"/>
            </a:br>
            <a:r>
              <a:rPr lang="en-US" sz="3200" i="1" dirty="0"/>
              <a:t>We do not have AGI yet.</a:t>
            </a:r>
            <a:endParaRPr lang="en-US" sz="3200" dirty="0"/>
          </a:p>
          <a:p>
            <a:pPr>
              <a:lnSpc>
                <a:spcPct val="100000"/>
              </a:lnSpc>
            </a:pPr>
            <a:r>
              <a:rPr lang="en-US" sz="3200" b="1" dirty="0"/>
              <a:t>Super AI:</a:t>
            </a:r>
            <a:br>
              <a:rPr lang="en-US" sz="3200" dirty="0"/>
            </a:br>
            <a:r>
              <a:rPr lang="en-US" sz="3200" dirty="0"/>
              <a:t>AI that would be smarter than humans in all areas.</a:t>
            </a:r>
            <a:br>
              <a:rPr lang="en-US" sz="3200" dirty="0"/>
            </a:br>
            <a:r>
              <a:rPr lang="en-US" sz="3200" i="1" dirty="0"/>
              <a:t>This raises ethical and safety concerns.</a:t>
            </a:r>
            <a:endParaRPr lang="en-US" sz="3200" dirty="0"/>
          </a:p>
          <a:p>
            <a:pPr marL="228600" indent="-228600" algn="l" defTabSz="914400" rtl="0" eaLnBrk="1" latinLnBrk="0" hangingPunct="1">
              <a:lnSpc>
                <a:spcPct val="90000"/>
              </a:lnSpc>
              <a:spcBef>
                <a:spcPts val="1000"/>
              </a:spcBef>
              <a:buFont typeface="Arial" panose="020B0604020202020204" pitchFamily="34" charset="0"/>
              <a:buChar char="•"/>
            </a:pPr>
            <a:endParaRPr lang="en-PS" dirty="0">
              <a:latin typeface="+mj-lt"/>
            </a:endParaRPr>
          </a:p>
        </p:txBody>
      </p:sp>
    </p:spTree>
    <p:extLst>
      <p:ext uri="{BB962C8B-B14F-4D97-AF65-F5344CB8AC3E}">
        <p14:creationId xmlns:p14="http://schemas.microsoft.com/office/powerpoint/2010/main" val="505059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0D849-3FC8-2149-8FDD-C3F3BC377A5D}"/>
              </a:ext>
            </a:extLst>
          </p:cNvPr>
          <p:cNvSpPr>
            <a:spLocks noGrp="1"/>
          </p:cNvSpPr>
          <p:nvPr>
            <p:ph type="title"/>
          </p:nvPr>
        </p:nvSpPr>
        <p:spPr/>
        <p:txBody>
          <a:bodyPr/>
          <a:lstStyle/>
          <a:p>
            <a:r>
              <a:rPr lang="en-US" dirty="0"/>
              <a:t>AI Development Spectrum</a:t>
            </a:r>
            <a:endParaRPr lang="en-IL" dirty="0"/>
          </a:p>
        </p:txBody>
      </p:sp>
      <p:sp>
        <p:nvSpPr>
          <p:cNvPr id="3" name="Content Placeholder 2">
            <a:extLst>
              <a:ext uri="{FF2B5EF4-FFF2-40B4-BE49-F238E27FC236}">
                <a16:creationId xmlns:a16="http://schemas.microsoft.com/office/drawing/2014/main" id="{9B2D42C9-0615-0646-A0B6-1E57375EB373}"/>
              </a:ext>
            </a:extLst>
          </p:cNvPr>
          <p:cNvSpPr>
            <a:spLocks noGrp="1"/>
          </p:cNvSpPr>
          <p:nvPr>
            <p:ph idx="1"/>
          </p:nvPr>
        </p:nvSpPr>
        <p:spPr/>
        <p:txBody>
          <a:bodyPr/>
          <a:lstStyle/>
          <a:p>
            <a:pPr>
              <a:buFont typeface="Arial" panose="020B0604020202020204" pitchFamily="34" charset="0"/>
              <a:buChar char="•"/>
            </a:pPr>
            <a:r>
              <a:rPr lang="en-US" dirty="0"/>
              <a:t>AI development moves through </a:t>
            </a:r>
            <a:r>
              <a:rPr lang="en-US" b="1" dirty="0"/>
              <a:t>three main stages</a:t>
            </a:r>
            <a:r>
              <a:rPr lang="en-US" dirty="0"/>
              <a:t>:</a:t>
            </a:r>
            <a:br>
              <a:rPr lang="en-US" dirty="0"/>
            </a:br>
            <a:r>
              <a:rPr lang="en-US" b="1" dirty="0"/>
              <a:t>Narrow AI → General AI (AGI) → Super AI</a:t>
            </a:r>
            <a:endParaRPr lang="en-US" dirty="0"/>
          </a:p>
          <a:p>
            <a:pPr>
              <a:buFont typeface="Arial" panose="020B0604020202020204" pitchFamily="34" charset="0"/>
              <a:buChar char="•"/>
            </a:pPr>
            <a:r>
              <a:rPr lang="en-US" b="1" dirty="0"/>
              <a:t>Today’s AI is Narrow AI</a:t>
            </a:r>
            <a:r>
              <a:rPr lang="en-US" dirty="0"/>
              <a:t>, which is strong in specific tasks only.</a:t>
            </a:r>
          </a:p>
          <a:p>
            <a:pPr>
              <a:buFont typeface="Arial" panose="020B0604020202020204" pitchFamily="34" charset="0"/>
              <a:buChar char="•"/>
            </a:pPr>
            <a:r>
              <a:rPr lang="en-US" dirty="0"/>
              <a:t>Researchers are currently working toward </a:t>
            </a:r>
            <a:r>
              <a:rPr lang="en-US" b="1" dirty="0"/>
              <a:t>AGI</a:t>
            </a:r>
            <a:r>
              <a:rPr lang="en-US" dirty="0"/>
              <a:t>, which would match human intelligence.</a:t>
            </a:r>
          </a:p>
          <a:p>
            <a:pPr>
              <a:buFont typeface="Arial" panose="020B0604020202020204" pitchFamily="34" charset="0"/>
              <a:buChar char="•"/>
            </a:pPr>
            <a:r>
              <a:rPr lang="en-US" b="1" dirty="0"/>
              <a:t>Super AI</a:t>
            </a:r>
            <a:r>
              <a:rPr lang="en-US" dirty="0"/>
              <a:t> is a future possibility where machines surpass human intelligence.</a:t>
            </a:r>
          </a:p>
          <a:p>
            <a:endParaRPr lang="en-IL" dirty="0"/>
          </a:p>
        </p:txBody>
      </p:sp>
    </p:spTree>
    <p:extLst>
      <p:ext uri="{BB962C8B-B14F-4D97-AF65-F5344CB8AC3E}">
        <p14:creationId xmlns:p14="http://schemas.microsoft.com/office/powerpoint/2010/main" val="2345567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C7A2B-B40F-A890-1FD4-1868605956DA}"/>
              </a:ext>
            </a:extLst>
          </p:cNvPr>
          <p:cNvSpPr>
            <a:spLocks noGrp="1"/>
          </p:cNvSpPr>
          <p:nvPr>
            <p:ph type="title"/>
          </p:nvPr>
        </p:nvSpPr>
        <p:spPr>
          <a:xfrm>
            <a:off x="736600" y="222886"/>
            <a:ext cx="10515600" cy="588276"/>
          </a:xfrm>
        </p:spPr>
        <p:txBody>
          <a:bodyPr>
            <a:normAutofit fontScale="90000"/>
          </a:bodyPr>
          <a:lstStyle/>
          <a:p>
            <a:r>
              <a:rPr lang="en-US" dirty="0">
                <a:solidFill>
                  <a:schemeClr val="accent1"/>
                </a:solidFill>
                <a:effectLst/>
                <a:latin typeface="Calibri Light" panose="020F0302020204030204" pitchFamily="34" charset="0"/>
                <a:cs typeface="Calibri Light" panose="020F0302020204030204" pitchFamily="34" charset="0"/>
              </a:rPr>
              <a:t>Brief History of AI</a:t>
            </a:r>
            <a:endParaRPr lang="en-PS" dirty="0">
              <a:solidFill>
                <a:schemeClr val="accent1"/>
              </a:solidFill>
              <a:latin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C7F9D3E2-E2F2-87C1-DB60-C6BC1D6B35F7}"/>
              </a:ext>
            </a:extLst>
          </p:cNvPr>
          <p:cNvSpPr>
            <a:spLocks noGrp="1"/>
          </p:cNvSpPr>
          <p:nvPr>
            <p:ph idx="1"/>
          </p:nvPr>
        </p:nvSpPr>
        <p:spPr>
          <a:xfrm>
            <a:off x="838200" y="811162"/>
            <a:ext cx="10515600" cy="6046838"/>
          </a:xfrm>
        </p:spPr>
        <p:txBody>
          <a:bodyPr>
            <a:normAutofit lnSpcReduction="10000"/>
          </a:bodyPr>
          <a:lstStyle/>
          <a:p>
            <a:r>
              <a:rPr lang="en-US" sz="2400" b="1" dirty="0">
                <a:solidFill>
                  <a:srgbClr val="0432FF"/>
                </a:solidFill>
              </a:rPr>
              <a:t>1950s – Birth of AI</a:t>
            </a:r>
            <a:endParaRPr lang="en-US" sz="2400" dirty="0">
              <a:solidFill>
                <a:srgbClr val="0432FF"/>
              </a:solidFill>
            </a:endParaRPr>
          </a:p>
          <a:p>
            <a:pPr marL="495300" indent="-219075">
              <a:buFont typeface="Arial" panose="020B0604020202020204" pitchFamily="34" charset="0"/>
              <a:buChar char="•"/>
            </a:pPr>
            <a:r>
              <a:rPr lang="en-US" sz="2400" dirty="0"/>
              <a:t>Term </a:t>
            </a:r>
            <a:r>
              <a:rPr lang="en-US" sz="2400" i="1" dirty="0"/>
              <a:t>“Artificial Intelligence”</a:t>
            </a:r>
            <a:r>
              <a:rPr lang="en-US" sz="2400" dirty="0"/>
              <a:t> introduced.</a:t>
            </a:r>
          </a:p>
          <a:p>
            <a:pPr marL="495300" indent="-219075">
              <a:buFont typeface="Arial" panose="020B0604020202020204" pitchFamily="34" charset="0"/>
              <a:buChar char="•"/>
            </a:pPr>
            <a:r>
              <a:rPr lang="en-US" sz="2400" dirty="0"/>
              <a:t>Focus on logic and symbolic reasoning.</a:t>
            </a:r>
          </a:p>
          <a:p>
            <a:r>
              <a:rPr lang="en-US" sz="2400" b="1" dirty="0">
                <a:solidFill>
                  <a:srgbClr val="0432FF"/>
                </a:solidFill>
              </a:rPr>
              <a:t>1960s–70s – Expert Systems</a:t>
            </a:r>
            <a:endParaRPr lang="en-US" sz="2400" dirty="0">
              <a:solidFill>
                <a:srgbClr val="0432FF"/>
              </a:solidFill>
            </a:endParaRPr>
          </a:p>
          <a:p>
            <a:pPr marL="452438" indent="-219075">
              <a:buFont typeface="Arial" panose="020B0604020202020204" pitchFamily="34" charset="0"/>
              <a:buChar char="•"/>
            </a:pPr>
            <a:r>
              <a:rPr lang="en-US" sz="2400" dirty="0"/>
              <a:t>AI systems built to imitate human experts.</a:t>
            </a:r>
          </a:p>
          <a:p>
            <a:r>
              <a:rPr lang="en-US" sz="2400" b="1" dirty="0">
                <a:solidFill>
                  <a:srgbClr val="0432FF"/>
                </a:solidFill>
              </a:rPr>
              <a:t>1997 – Deep Blue Beats Kasparov</a:t>
            </a:r>
            <a:endParaRPr lang="en-US" sz="2400" dirty="0">
              <a:solidFill>
                <a:srgbClr val="0432FF"/>
              </a:solidFill>
            </a:endParaRPr>
          </a:p>
          <a:p>
            <a:pPr marL="495300" indent="-219075">
              <a:buFont typeface="Arial" panose="020B0604020202020204" pitchFamily="34" charset="0"/>
              <a:buChar char="•"/>
            </a:pPr>
            <a:r>
              <a:rPr lang="en-US" sz="2400" dirty="0"/>
              <a:t>IBM’s AI defeats the world chess champion.</a:t>
            </a:r>
          </a:p>
          <a:p>
            <a:pPr marL="495300" indent="-219075">
              <a:buFont typeface="Arial" panose="020B0604020202020204" pitchFamily="34" charset="0"/>
              <a:buChar char="•"/>
            </a:pPr>
            <a:r>
              <a:rPr lang="en-US" sz="2400" dirty="0"/>
              <a:t>Major milestone showing AI’s power.</a:t>
            </a:r>
          </a:p>
          <a:p>
            <a:r>
              <a:rPr lang="en-US" sz="2400" b="1" dirty="0">
                <a:solidFill>
                  <a:srgbClr val="0432FF"/>
                </a:solidFill>
              </a:rPr>
              <a:t>2000s – Machine Learning Returns</a:t>
            </a:r>
            <a:endParaRPr lang="en-US" sz="2400" dirty="0">
              <a:solidFill>
                <a:srgbClr val="0432FF"/>
              </a:solidFill>
            </a:endParaRPr>
          </a:p>
          <a:p>
            <a:pPr marL="495300" indent="-219075">
              <a:buFont typeface="Arial" panose="020B0604020202020204" pitchFamily="34" charset="0"/>
              <a:buChar char="•"/>
            </a:pPr>
            <a:r>
              <a:rPr lang="en-US" sz="2400" dirty="0"/>
              <a:t>Rising interest in ML.</a:t>
            </a:r>
          </a:p>
          <a:p>
            <a:pPr marL="495300" indent="-219075">
              <a:buFont typeface="Arial" panose="020B0604020202020204" pitchFamily="34" charset="0"/>
              <a:buChar char="•"/>
            </a:pPr>
            <a:r>
              <a:rPr lang="en-US" sz="2400" dirty="0"/>
              <a:t>Neural networks and backpropagation improve.</a:t>
            </a:r>
          </a:p>
          <a:p>
            <a:r>
              <a:rPr lang="en-US" sz="2400" b="1" dirty="0">
                <a:solidFill>
                  <a:srgbClr val="0432FF"/>
                </a:solidFill>
              </a:rPr>
              <a:t>2010s – Deep Learning Era</a:t>
            </a:r>
            <a:endParaRPr lang="en-US" sz="2400" dirty="0">
              <a:solidFill>
                <a:srgbClr val="0432FF"/>
              </a:solidFill>
            </a:endParaRPr>
          </a:p>
          <a:p>
            <a:pPr marL="452438" indent="-219075">
              <a:buFont typeface="Arial" panose="020B0604020202020204" pitchFamily="34" charset="0"/>
              <a:buChar char="•"/>
            </a:pPr>
            <a:r>
              <a:rPr lang="en-US" sz="2400" dirty="0"/>
              <a:t>Big breakthroughs in vision and language.</a:t>
            </a:r>
          </a:p>
          <a:p>
            <a:pPr marL="452438" indent="-219075">
              <a:buFont typeface="Arial" panose="020B0604020202020204" pitchFamily="34" charset="0"/>
              <a:buChar char="•"/>
            </a:pPr>
            <a:r>
              <a:rPr lang="en-US" sz="2400" dirty="0"/>
              <a:t>AI becomes part of everyday applications.</a:t>
            </a:r>
          </a:p>
        </p:txBody>
      </p:sp>
    </p:spTree>
    <p:extLst>
      <p:ext uri="{BB962C8B-B14F-4D97-AF65-F5344CB8AC3E}">
        <p14:creationId xmlns:p14="http://schemas.microsoft.com/office/powerpoint/2010/main" val="3395897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BFAC8-FEFD-46DF-23B1-0E569684CB75}"/>
              </a:ext>
            </a:extLst>
          </p:cNvPr>
          <p:cNvSpPr>
            <a:spLocks noGrp="1"/>
          </p:cNvSpPr>
          <p:nvPr>
            <p:ph type="title"/>
          </p:nvPr>
        </p:nvSpPr>
        <p:spPr>
          <a:xfrm>
            <a:off x="563880" y="192405"/>
            <a:ext cx="10515600" cy="894715"/>
          </a:xfrm>
        </p:spPr>
        <p:txBody>
          <a:bodyPr/>
          <a:lstStyle/>
          <a:p>
            <a:r>
              <a:rPr lang="en-US" b="0" i="0" dirty="0">
                <a:solidFill>
                  <a:srgbClr val="0432FF"/>
                </a:solidFill>
                <a:effectLst/>
                <a:latin typeface="Söhne"/>
              </a:rPr>
              <a:t>Subfields of Artificial Intelligence</a:t>
            </a:r>
            <a:endParaRPr lang="en-PS" dirty="0">
              <a:solidFill>
                <a:srgbClr val="0432FF"/>
              </a:solidFill>
            </a:endParaRPr>
          </a:p>
        </p:txBody>
      </p:sp>
      <p:sp>
        <p:nvSpPr>
          <p:cNvPr id="3" name="Content Placeholder 2">
            <a:extLst>
              <a:ext uri="{FF2B5EF4-FFF2-40B4-BE49-F238E27FC236}">
                <a16:creationId xmlns:a16="http://schemas.microsoft.com/office/drawing/2014/main" id="{3F0B049E-F8D4-267C-4208-AF77B741750E}"/>
              </a:ext>
            </a:extLst>
          </p:cNvPr>
          <p:cNvSpPr>
            <a:spLocks noGrp="1"/>
          </p:cNvSpPr>
          <p:nvPr>
            <p:ph idx="1"/>
          </p:nvPr>
        </p:nvSpPr>
        <p:spPr>
          <a:xfrm>
            <a:off x="838198" y="1510562"/>
            <a:ext cx="10515599" cy="4772250"/>
          </a:xfrm>
        </p:spPr>
        <p:txBody>
          <a:bodyPr>
            <a:normAutofit/>
          </a:bodyPr>
          <a:lstStyle/>
          <a:p>
            <a:pPr algn="l">
              <a:buFont typeface="Arial" panose="020B0604020202020204" pitchFamily="34" charset="0"/>
              <a:buChar char="•"/>
            </a:pPr>
            <a:r>
              <a:rPr lang="en-US" b="1" i="0" dirty="0">
                <a:solidFill>
                  <a:srgbClr val="0432FF"/>
                </a:solidFill>
                <a:effectLst/>
                <a:latin typeface="+mj-lt"/>
              </a:rPr>
              <a:t>NLP (Natural Language Processing): </a:t>
            </a:r>
            <a:r>
              <a:rPr lang="en-US" b="0" i="0" dirty="0">
                <a:solidFill>
                  <a:srgbClr val="374151"/>
                </a:solidFill>
                <a:effectLst/>
                <a:latin typeface="+mj-lt"/>
              </a:rPr>
              <a:t>Focus on language understanding, generation, and communication between humans and machines.</a:t>
            </a:r>
          </a:p>
          <a:p>
            <a:pPr algn="l">
              <a:buFont typeface="Arial" panose="020B0604020202020204" pitchFamily="34" charset="0"/>
              <a:buChar char="•"/>
            </a:pPr>
            <a:r>
              <a:rPr lang="en-US" b="1" i="0" dirty="0">
                <a:solidFill>
                  <a:srgbClr val="0432FF"/>
                </a:solidFill>
                <a:effectLst/>
                <a:latin typeface="+mj-lt"/>
              </a:rPr>
              <a:t>Computer Vision</a:t>
            </a:r>
            <a:r>
              <a:rPr lang="en-US" b="1" i="0" dirty="0">
                <a:solidFill>
                  <a:schemeClr val="accent1"/>
                </a:solidFill>
                <a:effectLst/>
                <a:latin typeface="+mj-lt"/>
              </a:rPr>
              <a:t>: </a:t>
            </a:r>
            <a:r>
              <a:rPr lang="en-US" b="0" i="0" dirty="0">
                <a:solidFill>
                  <a:srgbClr val="374151"/>
                </a:solidFill>
                <a:effectLst/>
                <a:latin typeface="+mj-lt"/>
              </a:rPr>
              <a:t>Enables machines to interpret and analyze visual information from images and videos.</a:t>
            </a:r>
          </a:p>
          <a:p>
            <a:pPr algn="l">
              <a:buFont typeface="Arial" panose="020B0604020202020204" pitchFamily="34" charset="0"/>
              <a:buChar char="•"/>
            </a:pPr>
            <a:r>
              <a:rPr lang="en-US" b="1" i="0" dirty="0">
                <a:solidFill>
                  <a:srgbClr val="0432FF"/>
                </a:solidFill>
                <a:effectLst/>
                <a:latin typeface="+mj-lt"/>
              </a:rPr>
              <a:t>Expert Systems</a:t>
            </a:r>
            <a:r>
              <a:rPr lang="en-US" b="1" i="0" dirty="0">
                <a:solidFill>
                  <a:srgbClr val="374151"/>
                </a:solidFill>
                <a:effectLst/>
                <a:latin typeface="+mj-lt"/>
              </a:rPr>
              <a:t>: </a:t>
            </a:r>
            <a:r>
              <a:rPr lang="en-US" b="0" i="0" dirty="0">
                <a:solidFill>
                  <a:srgbClr val="374151"/>
                </a:solidFill>
                <a:effectLst/>
                <a:latin typeface="+mj-lt"/>
              </a:rPr>
              <a:t>Develops systems that mimic human expertise for decision-making in specialized domains.</a:t>
            </a:r>
          </a:p>
          <a:p>
            <a:pPr algn="l">
              <a:buFont typeface="Arial" panose="020B0604020202020204" pitchFamily="34" charset="0"/>
              <a:buChar char="•"/>
            </a:pPr>
            <a:r>
              <a:rPr lang="en-US" b="1" i="0" dirty="0">
                <a:solidFill>
                  <a:srgbClr val="0432FF"/>
                </a:solidFill>
                <a:effectLst/>
                <a:latin typeface="+mj-lt"/>
              </a:rPr>
              <a:t>Robotics</a:t>
            </a:r>
            <a:r>
              <a:rPr lang="en-US" b="1" i="0" dirty="0">
                <a:solidFill>
                  <a:srgbClr val="374151"/>
                </a:solidFill>
                <a:effectLst/>
                <a:latin typeface="+mj-lt"/>
              </a:rPr>
              <a:t>: </a:t>
            </a:r>
            <a:r>
              <a:rPr lang="en-US" b="0" i="0" dirty="0">
                <a:solidFill>
                  <a:srgbClr val="374151"/>
                </a:solidFill>
                <a:effectLst/>
                <a:latin typeface="+mj-lt"/>
              </a:rPr>
              <a:t>Involves the creation of physical or virtual robots capable of interacting with the environment.</a:t>
            </a:r>
          </a:p>
          <a:p>
            <a:pPr algn="l">
              <a:buFont typeface="Arial" panose="020B0604020202020204" pitchFamily="34" charset="0"/>
              <a:buChar char="•"/>
            </a:pPr>
            <a:r>
              <a:rPr lang="en-US" b="1" i="0" dirty="0">
                <a:solidFill>
                  <a:srgbClr val="0432FF"/>
                </a:solidFill>
                <a:effectLst/>
                <a:latin typeface="+mj-lt"/>
              </a:rPr>
              <a:t>Machine Learning</a:t>
            </a:r>
            <a:r>
              <a:rPr lang="en-US" b="1" i="0" dirty="0">
                <a:solidFill>
                  <a:srgbClr val="374151"/>
                </a:solidFill>
                <a:effectLst/>
                <a:latin typeface="+mj-lt"/>
              </a:rPr>
              <a:t>: </a:t>
            </a:r>
            <a:r>
              <a:rPr lang="en-US" b="0" i="0" dirty="0">
                <a:solidFill>
                  <a:srgbClr val="374151"/>
                </a:solidFill>
                <a:effectLst/>
                <a:latin typeface="+mj-lt"/>
              </a:rPr>
              <a:t>Subfield dedicated to developing algorithms that allow machines to learn from data and improve performance.</a:t>
            </a:r>
          </a:p>
          <a:p>
            <a:endParaRPr lang="en-PS" dirty="0">
              <a:latin typeface="+mj-lt"/>
            </a:endParaRPr>
          </a:p>
        </p:txBody>
      </p:sp>
    </p:spTree>
    <p:extLst>
      <p:ext uri="{BB962C8B-B14F-4D97-AF65-F5344CB8AC3E}">
        <p14:creationId xmlns:p14="http://schemas.microsoft.com/office/powerpoint/2010/main" val="3022089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26219-C448-774B-2D2E-68E69E25EE01}"/>
              </a:ext>
            </a:extLst>
          </p:cNvPr>
          <p:cNvSpPr>
            <a:spLocks noGrp="1"/>
          </p:cNvSpPr>
          <p:nvPr>
            <p:ph type="title"/>
          </p:nvPr>
        </p:nvSpPr>
        <p:spPr>
          <a:xfrm>
            <a:off x="767080" y="131445"/>
            <a:ext cx="10515600" cy="701675"/>
          </a:xfrm>
        </p:spPr>
        <p:txBody>
          <a:bodyPr/>
          <a:lstStyle/>
          <a:p>
            <a:r>
              <a:rPr lang="en-US" dirty="0">
                <a:solidFill>
                  <a:srgbClr val="0432FF"/>
                </a:solidFill>
              </a:rPr>
              <a:t>Natural Language Processing (NLP)</a:t>
            </a:r>
            <a:endParaRPr lang="en-PS" dirty="0">
              <a:solidFill>
                <a:srgbClr val="0432FF"/>
              </a:solidFill>
            </a:endParaRPr>
          </a:p>
        </p:txBody>
      </p:sp>
      <p:sp>
        <p:nvSpPr>
          <p:cNvPr id="3" name="Content Placeholder 2">
            <a:extLst>
              <a:ext uri="{FF2B5EF4-FFF2-40B4-BE49-F238E27FC236}">
                <a16:creationId xmlns:a16="http://schemas.microsoft.com/office/drawing/2014/main" id="{B93D1B8D-4873-E36D-C6D2-580947848753}"/>
              </a:ext>
            </a:extLst>
          </p:cNvPr>
          <p:cNvSpPr>
            <a:spLocks noGrp="1"/>
          </p:cNvSpPr>
          <p:nvPr>
            <p:ph idx="1"/>
          </p:nvPr>
        </p:nvSpPr>
        <p:spPr>
          <a:xfrm>
            <a:off x="675640" y="1043491"/>
            <a:ext cx="10515600" cy="5683063"/>
          </a:xfrm>
        </p:spPr>
        <p:txBody>
          <a:bodyPr>
            <a:normAutofit/>
          </a:bodyPr>
          <a:lstStyle/>
          <a:p>
            <a:r>
              <a:rPr lang="en-US" b="1" dirty="0">
                <a:solidFill>
                  <a:srgbClr val="0432FF"/>
                </a:solidFill>
              </a:rPr>
              <a:t>Definition</a:t>
            </a:r>
            <a:r>
              <a:rPr lang="en-US" b="1" dirty="0"/>
              <a:t>: </a:t>
            </a:r>
            <a:r>
              <a:rPr lang="en-US" dirty="0"/>
              <a:t>NLP helps computers understand and work with human language—both spoken and written.</a:t>
            </a:r>
          </a:p>
          <a:p>
            <a:r>
              <a:rPr lang="en-US" b="1" dirty="0"/>
              <a:t>Examples:</a:t>
            </a:r>
            <a:endParaRPr lang="en-US" dirty="0"/>
          </a:p>
          <a:p>
            <a:pPr>
              <a:buFont typeface="Arial" panose="020B0604020202020204" pitchFamily="34" charset="0"/>
              <a:buChar char="•"/>
            </a:pPr>
            <a:r>
              <a:rPr lang="en-US" b="1" dirty="0">
                <a:solidFill>
                  <a:srgbClr val="0432FF"/>
                </a:solidFill>
              </a:rPr>
              <a:t>Chatbots &amp; Virtual Assistants</a:t>
            </a:r>
            <a:r>
              <a:rPr lang="en-US" b="1" dirty="0"/>
              <a:t>:</a:t>
            </a:r>
            <a:r>
              <a:rPr lang="en-US" dirty="0"/>
              <a:t> Siri, Alexa, and others understand and answer questions.</a:t>
            </a:r>
          </a:p>
          <a:p>
            <a:pPr>
              <a:buFont typeface="Arial" panose="020B0604020202020204" pitchFamily="34" charset="0"/>
              <a:buChar char="•"/>
            </a:pPr>
            <a:r>
              <a:rPr lang="en-US" b="1" dirty="0">
                <a:solidFill>
                  <a:srgbClr val="0432FF"/>
                </a:solidFill>
              </a:rPr>
              <a:t>Machine Translation</a:t>
            </a:r>
            <a:r>
              <a:rPr lang="en-US" b="1" dirty="0"/>
              <a:t>:</a:t>
            </a:r>
            <a:r>
              <a:rPr lang="en-US" dirty="0"/>
              <a:t> Tools like Google Translate convert text between languages.</a:t>
            </a:r>
          </a:p>
          <a:p>
            <a:pPr>
              <a:buFont typeface="Arial" panose="020B0604020202020204" pitchFamily="34" charset="0"/>
              <a:buChar char="•"/>
            </a:pPr>
            <a:r>
              <a:rPr lang="en-US" b="1" dirty="0">
                <a:solidFill>
                  <a:srgbClr val="0432FF"/>
                </a:solidFill>
              </a:rPr>
              <a:t>Sentiment Analysis:</a:t>
            </a:r>
            <a:r>
              <a:rPr lang="en-US" dirty="0">
                <a:solidFill>
                  <a:srgbClr val="0432FF"/>
                </a:solidFill>
              </a:rPr>
              <a:t> </a:t>
            </a:r>
            <a:r>
              <a:rPr lang="en-US" dirty="0"/>
              <a:t>AI checks reviews or posts to see if people feel positive or negative.</a:t>
            </a:r>
          </a:p>
          <a:p>
            <a:pPr>
              <a:buFont typeface="Arial" panose="020B0604020202020204" pitchFamily="34" charset="0"/>
              <a:buChar char="•"/>
            </a:pPr>
            <a:r>
              <a:rPr lang="en-US" b="1" dirty="0">
                <a:solidFill>
                  <a:srgbClr val="0432FF"/>
                </a:solidFill>
              </a:rPr>
              <a:t>Text Summarization</a:t>
            </a:r>
            <a:r>
              <a:rPr lang="en-US" b="1" dirty="0"/>
              <a:t>:</a:t>
            </a:r>
            <a:r>
              <a:rPr lang="en-US" dirty="0"/>
              <a:t> AI creates short summaries of long articles.</a:t>
            </a:r>
          </a:p>
          <a:p>
            <a:pPr>
              <a:buFont typeface="Arial" panose="020B0604020202020204" pitchFamily="34" charset="0"/>
              <a:buChar char="•"/>
            </a:pPr>
            <a:r>
              <a:rPr lang="en-US" b="1" dirty="0">
                <a:solidFill>
                  <a:srgbClr val="0432FF"/>
                </a:solidFill>
              </a:rPr>
              <a:t>Content Generation</a:t>
            </a:r>
            <a:r>
              <a:rPr lang="en-US" b="1" dirty="0"/>
              <a:t>:</a:t>
            </a:r>
            <a:r>
              <a:rPr lang="en-US" dirty="0"/>
              <a:t> AI tools create text, such as ChatGPT.</a:t>
            </a:r>
          </a:p>
        </p:txBody>
      </p:sp>
    </p:spTree>
    <p:extLst>
      <p:ext uri="{BB962C8B-B14F-4D97-AF65-F5344CB8AC3E}">
        <p14:creationId xmlns:p14="http://schemas.microsoft.com/office/powerpoint/2010/main" val="1922558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66EF5-D363-C878-3357-ADDAD09BCCCD}"/>
              </a:ext>
            </a:extLst>
          </p:cNvPr>
          <p:cNvSpPr>
            <a:spLocks noGrp="1"/>
          </p:cNvSpPr>
          <p:nvPr>
            <p:ph type="title"/>
          </p:nvPr>
        </p:nvSpPr>
        <p:spPr>
          <a:xfrm>
            <a:off x="462280" y="344170"/>
            <a:ext cx="10515600" cy="762635"/>
          </a:xfrm>
        </p:spPr>
        <p:txBody>
          <a:bodyPr/>
          <a:lstStyle/>
          <a:p>
            <a:r>
              <a:rPr lang="en-US" dirty="0">
                <a:solidFill>
                  <a:srgbClr val="0432FF"/>
                </a:solidFill>
              </a:rPr>
              <a:t>Computer Vision</a:t>
            </a:r>
            <a:endParaRPr lang="en-PS" dirty="0">
              <a:solidFill>
                <a:srgbClr val="0432FF"/>
              </a:solidFill>
            </a:endParaRPr>
          </a:p>
        </p:txBody>
      </p:sp>
      <p:sp>
        <p:nvSpPr>
          <p:cNvPr id="3" name="Content Placeholder 2">
            <a:extLst>
              <a:ext uri="{FF2B5EF4-FFF2-40B4-BE49-F238E27FC236}">
                <a16:creationId xmlns:a16="http://schemas.microsoft.com/office/drawing/2014/main" id="{4D0BEE50-5BFC-8D58-2EF6-8B6E38A77240}"/>
              </a:ext>
            </a:extLst>
          </p:cNvPr>
          <p:cNvSpPr>
            <a:spLocks noGrp="1"/>
          </p:cNvSpPr>
          <p:nvPr>
            <p:ph idx="1"/>
          </p:nvPr>
        </p:nvSpPr>
        <p:spPr>
          <a:xfrm>
            <a:off x="838200" y="1270000"/>
            <a:ext cx="10990006" cy="5222875"/>
          </a:xfrm>
        </p:spPr>
        <p:txBody>
          <a:bodyPr>
            <a:normAutofit/>
          </a:bodyPr>
          <a:lstStyle/>
          <a:p>
            <a:r>
              <a:rPr lang="en-US" b="1" dirty="0">
                <a:solidFill>
                  <a:srgbClr val="0432FF"/>
                </a:solidFill>
              </a:rPr>
              <a:t>Definition</a:t>
            </a:r>
            <a:r>
              <a:rPr lang="en-US" b="1" dirty="0"/>
              <a:t>: </a:t>
            </a:r>
            <a:r>
              <a:rPr lang="en-US" dirty="0"/>
              <a:t>Computer Vision allows machines to see and understand visual information from images and videos.</a:t>
            </a:r>
          </a:p>
          <a:p>
            <a:pPr marL="0" indent="0">
              <a:buNone/>
            </a:pPr>
            <a:r>
              <a:rPr lang="en-US" b="1" dirty="0"/>
              <a:t>Examples:</a:t>
            </a:r>
            <a:endParaRPr lang="en-US" dirty="0"/>
          </a:p>
          <a:p>
            <a:pPr>
              <a:buFont typeface="Arial" panose="020B0604020202020204" pitchFamily="34" charset="0"/>
              <a:buChar char="•"/>
            </a:pPr>
            <a:r>
              <a:rPr lang="en-US" b="1" dirty="0">
                <a:solidFill>
                  <a:srgbClr val="0432FF"/>
                </a:solidFill>
              </a:rPr>
              <a:t>Facial Recognition</a:t>
            </a:r>
            <a:r>
              <a:rPr lang="en-US" b="1" dirty="0"/>
              <a:t>:</a:t>
            </a:r>
            <a:r>
              <a:rPr lang="en-US" dirty="0"/>
              <a:t> Unlocking phones or enhancing security.</a:t>
            </a:r>
          </a:p>
          <a:p>
            <a:pPr>
              <a:buFont typeface="Arial" panose="020B0604020202020204" pitchFamily="34" charset="0"/>
              <a:buChar char="•"/>
            </a:pPr>
            <a:r>
              <a:rPr lang="en-US" b="1" dirty="0">
                <a:solidFill>
                  <a:srgbClr val="0432FF"/>
                </a:solidFill>
              </a:rPr>
              <a:t>Object Detection</a:t>
            </a:r>
            <a:r>
              <a:rPr lang="en-US" b="1" dirty="0"/>
              <a:t>:</a:t>
            </a:r>
            <a:r>
              <a:rPr lang="en-US" dirty="0"/>
              <a:t> Used by self-driving cars to avoid obstacles.</a:t>
            </a:r>
          </a:p>
          <a:p>
            <a:pPr>
              <a:buFont typeface="Arial" panose="020B0604020202020204" pitchFamily="34" charset="0"/>
              <a:buChar char="•"/>
            </a:pPr>
            <a:r>
              <a:rPr lang="en-US" b="1" dirty="0">
                <a:solidFill>
                  <a:srgbClr val="0432FF"/>
                </a:solidFill>
              </a:rPr>
              <a:t>Medical Imaging</a:t>
            </a:r>
            <a:r>
              <a:rPr lang="en-US" b="1" dirty="0"/>
              <a:t>:</a:t>
            </a:r>
            <a:r>
              <a:rPr lang="en-US" dirty="0"/>
              <a:t> AI analyzes CT scans and MRIs to help diagnose diseases.</a:t>
            </a:r>
          </a:p>
          <a:p>
            <a:pPr>
              <a:buFont typeface="Arial" panose="020B0604020202020204" pitchFamily="34" charset="0"/>
              <a:buChar char="•"/>
            </a:pPr>
            <a:r>
              <a:rPr lang="en-US" b="1" dirty="0">
                <a:solidFill>
                  <a:srgbClr val="0432FF"/>
                </a:solidFill>
              </a:rPr>
              <a:t>Image Captioning</a:t>
            </a:r>
            <a:r>
              <a:rPr lang="en-US" b="1" dirty="0"/>
              <a:t>:</a:t>
            </a:r>
            <a:r>
              <a:rPr lang="en-US" dirty="0"/>
              <a:t> AI creates text descriptions for images.</a:t>
            </a:r>
          </a:p>
          <a:p>
            <a:pPr>
              <a:buFont typeface="Arial" panose="020B0604020202020204" pitchFamily="34" charset="0"/>
              <a:buChar char="•"/>
            </a:pPr>
            <a:r>
              <a:rPr lang="en-US" b="1" dirty="0">
                <a:solidFill>
                  <a:srgbClr val="0432FF"/>
                </a:solidFill>
              </a:rPr>
              <a:t>Image Generation</a:t>
            </a:r>
            <a:r>
              <a:rPr lang="en-US" b="1" dirty="0"/>
              <a:t>:</a:t>
            </a:r>
            <a:r>
              <a:rPr lang="en-US" dirty="0"/>
              <a:t> AI creates images or videos from input prompts (e.g., </a:t>
            </a:r>
            <a:r>
              <a:rPr lang="en-US" dirty="0" err="1"/>
              <a:t>Midjourney</a:t>
            </a:r>
            <a:r>
              <a:rPr lang="en-US" dirty="0"/>
              <a:t>).</a:t>
            </a:r>
          </a:p>
        </p:txBody>
      </p:sp>
    </p:spTree>
    <p:extLst>
      <p:ext uri="{BB962C8B-B14F-4D97-AF65-F5344CB8AC3E}">
        <p14:creationId xmlns:p14="http://schemas.microsoft.com/office/powerpoint/2010/main" val="848526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83586-3601-7BDB-D375-75B0B66A03FE}"/>
              </a:ext>
            </a:extLst>
          </p:cNvPr>
          <p:cNvSpPr>
            <a:spLocks noGrp="1"/>
          </p:cNvSpPr>
          <p:nvPr>
            <p:ph type="title"/>
          </p:nvPr>
        </p:nvSpPr>
        <p:spPr>
          <a:xfrm>
            <a:off x="309880" y="406082"/>
            <a:ext cx="2941320" cy="1143019"/>
          </a:xfrm>
        </p:spPr>
        <p:txBody>
          <a:bodyPr>
            <a:normAutofit fontScale="90000"/>
          </a:bodyPr>
          <a:lstStyle/>
          <a:p>
            <a:r>
              <a:rPr lang="en-US" b="0" i="0" dirty="0">
                <a:solidFill>
                  <a:schemeClr val="accent1"/>
                </a:solidFill>
                <a:effectLst/>
                <a:latin typeface="Söhne"/>
              </a:rPr>
              <a:t>Expert Systems</a:t>
            </a:r>
            <a:endParaRPr lang="en-PS" dirty="0">
              <a:solidFill>
                <a:schemeClr val="accent1"/>
              </a:solidFill>
            </a:endParaRPr>
          </a:p>
        </p:txBody>
      </p:sp>
      <p:sp>
        <p:nvSpPr>
          <p:cNvPr id="3" name="Content Placeholder 2">
            <a:extLst>
              <a:ext uri="{FF2B5EF4-FFF2-40B4-BE49-F238E27FC236}">
                <a16:creationId xmlns:a16="http://schemas.microsoft.com/office/drawing/2014/main" id="{BC18AED6-C772-79A4-6796-9473AABD7F13}"/>
              </a:ext>
            </a:extLst>
          </p:cNvPr>
          <p:cNvSpPr>
            <a:spLocks noGrp="1"/>
          </p:cNvSpPr>
          <p:nvPr>
            <p:ph idx="1"/>
          </p:nvPr>
        </p:nvSpPr>
        <p:spPr>
          <a:xfrm>
            <a:off x="660400" y="2662118"/>
            <a:ext cx="10693400" cy="4013002"/>
          </a:xfrm>
        </p:spPr>
        <p:txBody>
          <a:bodyPr>
            <a:normAutofit fontScale="92500" lnSpcReduction="10000"/>
          </a:bodyPr>
          <a:lstStyle/>
          <a:p>
            <a:r>
              <a:rPr lang="en-US" b="1" dirty="0"/>
              <a:t>Definition: </a:t>
            </a:r>
            <a:r>
              <a:rPr lang="en-US" dirty="0"/>
              <a:t>Expert systems are AI programs that imitate human experts in a specific field. They use stored knowledge and logical rules to make decisions and solve problems.</a:t>
            </a:r>
          </a:p>
          <a:p>
            <a:pPr marL="0" indent="0">
              <a:buNone/>
            </a:pPr>
            <a:r>
              <a:rPr lang="en-US" b="1" dirty="0"/>
              <a:t>Examples:</a:t>
            </a:r>
            <a:endParaRPr lang="en-US" dirty="0"/>
          </a:p>
          <a:p>
            <a:pPr>
              <a:buFont typeface="Arial" panose="020B0604020202020204" pitchFamily="34" charset="0"/>
              <a:buChar char="•"/>
            </a:pPr>
            <a:r>
              <a:rPr lang="en-US" b="1" dirty="0"/>
              <a:t>Healthcare Diagnosis:</a:t>
            </a:r>
            <a:r>
              <a:rPr lang="en-US" dirty="0"/>
              <a:t> Helps doctors identify diseases based on symptoms and medical data.</a:t>
            </a:r>
          </a:p>
          <a:p>
            <a:pPr>
              <a:buFont typeface="Arial" panose="020B0604020202020204" pitchFamily="34" charset="0"/>
              <a:buChar char="•"/>
            </a:pPr>
            <a:r>
              <a:rPr lang="en-US" b="1" dirty="0"/>
              <a:t>Financial Advisory:</a:t>
            </a:r>
            <a:r>
              <a:rPr lang="en-US" dirty="0"/>
              <a:t> Gives investment advice by analyzing markets and financial information.</a:t>
            </a:r>
          </a:p>
          <a:p>
            <a:pPr>
              <a:buFont typeface="Arial" panose="020B0604020202020204" pitchFamily="34" charset="0"/>
              <a:buChar char="•"/>
            </a:pPr>
            <a:r>
              <a:rPr lang="en-US" b="1" dirty="0"/>
              <a:t>Customer Support Chatbots:</a:t>
            </a:r>
            <a:r>
              <a:rPr lang="en-US" dirty="0"/>
              <a:t> Answer customer questions using expert-level knowledge.</a:t>
            </a:r>
          </a:p>
          <a:p>
            <a:pPr marL="0" indent="0">
              <a:buNone/>
            </a:pPr>
            <a:endParaRPr lang="en-PS" dirty="0">
              <a:latin typeface="+mj-lt"/>
            </a:endParaRPr>
          </a:p>
        </p:txBody>
      </p:sp>
      <p:pic>
        <p:nvPicPr>
          <p:cNvPr id="1026" name="Picture 2" descr="Components of expert system in AI">
            <a:extLst>
              <a:ext uri="{FF2B5EF4-FFF2-40B4-BE49-F238E27FC236}">
                <a16:creationId xmlns:a16="http://schemas.microsoft.com/office/drawing/2014/main" id="{0F925FB6-58D0-9599-EABA-507DAA785D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1200" y="0"/>
            <a:ext cx="7833360" cy="2662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4562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DF1D5-058F-9A2C-C048-E5D59F8602DE}"/>
              </a:ext>
            </a:extLst>
          </p:cNvPr>
          <p:cNvSpPr>
            <a:spLocks noGrp="1"/>
          </p:cNvSpPr>
          <p:nvPr>
            <p:ph type="title"/>
          </p:nvPr>
        </p:nvSpPr>
        <p:spPr>
          <a:xfrm>
            <a:off x="655320" y="283845"/>
            <a:ext cx="10515600" cy="762635"/>
          </a:xfrm>
        </p:spPr>
        <p:txBody>
          <a:bodyPr/>
          <a:lstStyle/>
          <a:p>
            <a:r>
              <a:rPr lang="en-PS" dirty="0">
                <a:solidFill>
                  <a:schemeClr val="accent1"/>
                </a:solidFill>
              </a:rPr>
              <a:t>Robotics</a:t>
            </a:r>
          </a:p>
        </p:txBody>
      </p:sp>
      <p:sp>
        <p:nvSpPr>
          <p:cNvPr id="3" name="Content Placeholder 2">
            <a:extLst>
              <a:ext uri="{FF2B5EF4-FFF2-40B4-BE49-F238E27FC236}">
                <a16:creationId xmlns:a16="http://schemas.microsoft.com/office/drawing/2014/main" id="{C47A1D51-4A5F-D1EC-1D7E-23BBB7CFD894}"/>
              </a:ext>
            </a:extLst>
          </p:cNvPr>
          <p:cNvSpPr>
            <a:spLocks noGrp="1"/>
          </p:cNvSpPr>
          <p:nvPr>
            <p:ph idx="1"/>
          </p:nvPr>
        </p:nvSpPr>
        <p:spPr>
          <a:xfrm>
            <a:off x="838200" y="1249680"/>
            <a:ext cx="8338073" cy="5405120"/>
          </a:xfrm>
        </p:spPr>
        <p:txBody>
          <a:bodyPr>
            <a:normAutofit/>
          </a:bodyPr>
          <a:lstStyle/>
          <a:p>
            <a:r>
              <a:rPr lang="en-US" b="1" dirty="0">
                <a:solidFill>
                  <a:srgbClr val="0432FF"/>
                </a:solidFill>
              </a:rPr>
              <a:t>Definition</a:t>
            </a:r>
            <a:r>
              <a:rPr lang="en-US" b="1" dirty="0"/>
              <a:t>: </a:t>
            </a:r>
            <a:r>
              <a:rPr lang="en-US" dirty="0"/>
              <a:t>Robotics focuses on building and controlling robots—machines that can interact with and manipulate the environment.</a:t>
            </a:r>
          </a:p>
          <a:p>
            <a:pPr marL="0" indent="0">
              <a:buNone/>
            </a:pPr>
            <a:r>
              <a:rPr lang="en-US" b="1" dirty="0"/>
              <a:t>Examples:</a:t>
            </a:r>
            <a:endParaRPr lang="en-US" dirty="0"/>
          </a:p>
          <a:p>
            <a:pPr>
              <a:buFont typeface="Arial" panose="020B0604020202020204" pitchFamily="34" charset="0"/>
              <a:buChar char="•"/>
            </a:pPr>
            <a:r>
              <a:rPr lang="en-US" b="1" dirty="0">
                <a:solidFill>
                  <a:srgbClr val="0432FF"/>
                </a:solidFill>
              </a:rPr>
              <a:t>Manufacturing Robots</a:t>
            </a:r>
            <a:r>
              <a:rPr lang="en-US" b="1" dirty="0"/>
              <a:t>:</a:t>
            </a:r>
            <a:r>
              <a:rPr lang="en-US" dirty="0"/>
              <a:t> Assemble products and perform repetitive tasks in factories.</a:t>
            </a:r>
          </a:p>
          <a:p>
            <a:pPr>
              <a:buFont typeface="Arial" panose="020B0604020202020204" pitchFamily="34" charset="0"/>
              <a:buChar char="•"/>
            </a:pPr>
            <a:r>
              <a:rPr lang="en-US" b="1" dirty="0">
                <a:solidFill>
                  <a:srgbClr val="0432FF"/>
                </a:solidFill>
              </a:rPr>
              <a:t>Medical Robots</a:t>
            </a:r>
            <a:r>
              <a:rPr lang="en-US" b="1" dirty="0"/>
              <a:t>:</a:t>
            </a:r>
            <a:r>
              <a:rPr lang="en-US" dirty="0"/>
              <a:t> Help surgeons perform precise, minimally invasive operations.</a:t>
            </a:r>
          </a:p>
          <a:p>
            <a:pPr>
              <a:buFont typeface="Arial" panose="020B0604020202020204" pitchFamily="34" charset="0"/>
              <a:buChar char="•"/>
            </a:pPr>
            <a:r>
              <a:rPr lang="en-US" b="1" dirty="0">
                <a:solidFill>
                  <a:srgbClr val="0432FF"/>
                </a:solidFill>
              </a:rPr>
              <a:t>Autonomous Drones</a:t>
            </a:r>
            <a:r>
              <a:rPr lang="en-US" b="1" dirty="0"/>
              <a:t>:</a:t>
            </a:r>
            <a:r>
              <a:rPr lang="en-US" dirty="0"/>
              <a:t> Fly on their own to collect data or survey areas.</a:t>
            </a:r>
          </a:p>
          <a:p>
            <a:pPr>
              <a:buFont typeface="Arial" panose="020B0604020202020204" pitchFamily="34" charset="0"/>
              <a:buChar char="•"/>
            </a:pPr>
            <a:r>
              <a:rPr lang="en-US" b="1" dirty="0">
                <a:solidFill>
                  <a:srgbClr val="0432FF"/>
                </a:solidFill>
              </a:rPr>
              <a:t>Home Assistant Robots</a:t>
            </a:r>
            <a:r>
              <a:rPr lang="en-US" b="1" dirty="0"/>
              <a:t>:</a:t>
            </a:r>
            <a:r>
              <a:rPr lang="en-US" dirty="0"/>
              <a:t> Devices like robotic vacuum cleaners that help with daily tasks.</a:t>
            </a:r>
          </a:p>
          <a:p>
            <a:endParaRPr lang="en-PS" dirty="0">
              <a:latin typeface="+mj-lt"/>
            </a:endParaRPr>
          </a:p>
        </p:txBody>
      </p:sp>
      <p:pic>
        <p:nvPicPr>
          <p:cNvPr id="5" name="Picture 4">
            <a:extLst>
              <a:ext uri="{FF2B5EF4-FFF2-40B4-BE49-F238E27FC236}">
                <a16:creationId xmlns:a16="http://schemas.microsoft.com/office/drawing/2014/main" id="{FC59F77C-6B2E-A37A-B93D-E05B276BC80C}"/>
              </a:ext>
            </a:extLst>
          </p:cNvPr>
          <p:cNvPicPr>
            <a:picLocks noChangeAspect="1"/>
          </p:cNvPicPr>
          <p:nvPr/>
        </p:nvPicPr>
        <p:blipFill>
          <a:blip r:embed="rId2"/>
          <a:stretch>
            <a:fillRect/>
          </a:stretch>
        </p:blipFill>
        <p:spPr>
          <a:xfrm>
            <a:off x="9318812" y="1496508"/>
            <a:ext cx="2590800" cy="3606800"/>
          </a:xfrm>
          <a:prstGeom prst="rect">
            <a:avLst/>
          </a:prstGeom>
        </p:spPr>
      </p:pic>
    </p:spTree>
    <p:extLst>
      <p:ext uri="{BB962C8B-B14F-4D97-AF65-F5344CB8AC3E}">
        <p14:creationId xmlns:p14="http://schemas.microsoft.com/office/powerpoint/2010/main" val="30294266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20B46D-5E54-C445-8945-358DF77FCE5C}"/>
              </a:ext>
            </a:extLst>
          </p:cNvPr>
          <p:cNvSpPr>
            <a:spLocks noGrp="1"/>
          </p:cNvSpPr>
          <p:nvPr>
            <p:ph type="title"/>
          </p:nvPr>
        </p:nvSpPr>
        <p:spPr/>
        <p:txBody>
          <a:bodyPr/>
          <a:lstStyle/>
          <a:p>
            <a:r>
              <a:rPr lang="en-IL" dirty="0">
                <a:solidFill>
                  <a:srgbClr val="0432FF"/>
                </a:solidFill>
              </a:rPr>
              <a:t>AI vs.Machine learning vs. Deep Learning</a:t>
            </a:r>
          </a:p>
        </p:txBody>
      </p:sp>
    </p:spTree>
    <p:extLst>
      <p:ext uri="{BB962C8B-B14F-4D97-AF65-F5344CB8AC3E}">
        <p14:creationId xmlns:p14="http://schemas.microsoft.com/office/powerpoint/2010/main" val="23245273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1EBCE2-C4C0-0A41-B04A-D26481EC4672}"/>
              </a:ext>
            </a:extLst>
          </p:cNvPr>
          <p:cNvSpPr>
            <a:spLocks noGrp="1"/>
          </p:cNvSpPr>
          <p:nvPr>
            <p:ph type="title"/>
          </p:nvPr>
        </p:nvSpPr>
        <p:spPr>
          <a:xfrm>
            <a:off x="838200" y="365125"/>
            <a:ext cx="10515600" cy="947481"/>
          </a:xfrm>
        </p:spPr>
        <p:txBody>
          <a:bodyPr/>
          <a:lstStyle/>
          <a:p>
            <a:r>
              <a:rPr lang="en-US" b="1" dirty="0">
                <a:solidFill>
                  <a:srgbClr val="0432FF"/>
                </a:solidFill>
              </a:rPr>
              <a:t>AI vs. ML vs. Deep Learning (Overview)</a:t>
            </a:r>
            <a:endParaRPr lang="en-IL" b="1" dirty="0">
              <a:solidFill>
                <a:srgbClr val="0432FF"/>
              </a:solidFill>
            </a:endParaRPr>
          </a:p>
        </p:txBody>
      </p:sp>
      <p:sp>
        <p:nvSpPr>
          <p:cNvPr id="5" name="Content Placeholder 4">
            <a:extLst>
              <a:ext uri="{FF2B5EF4-FFF2-40B4-BE49-F238E27FC236}">
                <a16:creationId xmlns:a16="http://schemas.microsoft.com/office/drawing/2014/main" id="{316371BD-D51A-C14D-A997-C2E7C011E409}"/>
              </a:ext>
            </a:extLst>
          </p:cNvPr>
          <p:cNvSpPr>
            <a:spLocks noGrp="1"/>
          </p:cNvSpPr>
          <p:nvPr>
            <p:ph idx="1"/>
          </p:nvPr>
        </p:nvSpPr>
        <p:spPr>
          <a:xfrm>
            <a:off x="838200" y="1312606"/>
            <a:ext cx="10515600" cy="5545393"/>
          </a:xfrm>
        </p:spPr>
        <p:txBody>
          <a:bodyPr>
            <a:normAutofit/>
          </a:bodyPr>
          <a:lstStyle/>
          <a:p>
            <a:r>
              <a:rPr lang="en-US" sz="3000" b="1" dirty="0">
                <a:solidFill>
                  <a:srgbClr val="0432FF"/>
                </a:solidFill>
              </a:rPr>
              <a:t>Artificial Intelligence (AI)</a:t>
            </a:r>
            <a:br>
              <a:rPr lang="en-US" sz="3000" dirty="0"/>
            </a:br>
            <a:r>
              <a:rPr lang="en-US" sz="3000" dirty="0"/>
              <a:t>The broad field of building machines that can think and act intelligently.</a:t>
            </a:r>
          </a:p>
          <a:p>
            <a:r>
              <a:rPr lang="en-US" sz="3000" b="1" dirty="0">
                <a:solidFill>
                  <a:srgbClr val="0432FF"/>
                </a:solidFill>
              </a:rPr>
              <a:t>Machine Learning (ML)</a:t>
            </a:r>
            <a:br>
              <a:rPr lang="en-US" sz="3000" dirty="0"/>
            </a:br>
            <a:r>
              <a:rPr lang="en-US" sz="3000" dirty="0"/>
              <a:t>A subset of AI where machines learn from data.</a:t>
            </a:r>
          </a:p>
          <a:p>
            <a:r>
              <a:rPr lang="en-US" sz="3000" b="1" dirty="0">
                <a:solidFill>
                  <a:srgbClr val="0432FF"/>
                </a:solidFill>
              </a:rPr>
              <a:t>Deep Learning (DL)</a:t>
            </a:r>
            <a:br>
              <a:rPr lang="en-US" sz="3000" dirty="0"/>
            </a:br>
            <a:r>
              <a:rPr lang="en-US" sz="3000" dirty="0"/>
              <a:t>A subset of ML that uses multi-layer neural networks to learn from large amounts of data.</a:t>
            </a:r>
          </a:p>
          <a:p>
            <a:pPr marL="0" indent="0">
              <a:buNone/>
            </a:pPr>
            <a:r>
              <a:rPr lang="en-US" sz="3000" b="1" dirty="0"/>
              <a:t>Relationship (simple):</a:t>
            </a:r>
            <a:br>
              <a:rPr lang="en-US" sz="3000" dirty="0"/>
            </a:br>
            <a:r>
              <a:rPr lang="en-US" sz="3000" b="1" dirty="0"/>
              <a:t>AI ⟶ ML ⟶ Deep Learning</a:t>
            </a:r>
            <a:br>
              <a:rPr lang="en-US" sz="3000" dirty="0"/>
            </a:br>
            <a:r>
              <a:rPr lang="en-US" sz="3000" dirty="0"/>
              <a:t>(Each one is inside the other)</a:t>
            </a:r>
          </a:p>
          <a:p>
            <a:endParaRPr lang="en-IL" sz="3000" dirty="0"/>
          </a:p>
        </p:txBody>
      </p:sp>
    </p:spTree>
    <p:extLst>
      <p:ext uri="{BB962C8B-B14F-4D97-AF65-F5344CB8AC3E}">
        <p14:creationId xmlns:p14="http://schemas.microsoft.com/office/powerpoint/2010/main" val="3494853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33C3E-A379-2E4D-9E09-3A09C0888998}"/>
              </a:ext>
            </a:extLst>
          </p:cNvPr>
          <p:cNvSpPr>
            <a:spLocks noGrp="1"/>
          </p:cNvSpPr>
          <p:nvPr>
            <p:ph type="title"/>
          </p:nvPr>
        </p:nvSpPr>
        <p:spPr>
          <a:xfrm>
            <a:off x="498987" y="163051"/>
            <a:ext cx="10515600" cy="711507"/>
          </a:xfrm>
        </p:spPr>
        <p:txBody>
          <a:bodyPr/>
          <a:lstStyle/>
          <a:p>
            <a:r>
              <a:rPr lang="en-US" dirty="0">
                <a:solidFill>
                  <a:srgbClr val="0432FF"/>
                </a:solidFill>
              </a:rPr>
              <a:t>Artificial Intelligence (AI)</a:t>
            </a:r>
            <a:endParaRPr lang="en-IL" dirty="0">
              <a:solidFill>
                <a:srgbClr val="0432FF"/>
              </a:solidFill>
            </a:endParaRPr>
          </a:p>
        </p:txBody>
      </p:sp>
      <p:sp>
        <p:nvSpPr>
          <p:cNvPr id="3" name="Content Placeholder 2">
            <a:extLst>
              <a:ext uri="{FF2B5EF4-FFF2-40B4-BE49-F238E27FC236}">
                <a16:creationId xmlns:a16="http://schemas.microsoft.com/office/drawing/2014/main" id="{854C983B-AE6F-734A-9AE7-2C8DE703B5DA}"/>
              </a:ext>
            </a:extLst>
          </p:cNvPr>
          <p:cNvSpPr>
            <a:spLocks noGrp="1"/>
          </p:cNvSpPr>
          <p:nvPr>
            <p:ph idx="1"/>
          </p:nvPr>
        </p:nvSpPr>
        <p:spPr>
          <a:xfrm>
            <a:off x="498987" y="1050720"/>
            <a:ext cx="10515600" cy="5495927"/>
          </a:xfrm>
        </p:spPr>
        <p:txBody>
          <a:bodyPr>
            <a:normAutofit/>
          </a:bodyPr>
          <a:lstStyle/>
          <a:p>
            <a:pPr marL="0" indent="0">
              <a:buNone/>
            </a:pPr>
            <a:r>
              <a:rPr lang="en-US" b="1" dirty="0"/>
              <a:t>Definition:</a:t>
            </a:r>
            <a:br>
              <a:rPr lang="en-US" dirty="0"/>
            </a:br>
            <a:r>
              <a:rPr lang="en-US" dirty="0"/>
              <a:t>AI is about creating systems that can understand, reason, learn, and make decisions like humans.</a:t>
            </a:r>
          </a:p>
          <a:p>
            <a:pPr marL="0" indent="0">
              <a:buNone/>
            </a:pPr>
            <a:r>
              <a:rPr lang="en-US" b="1" dirty="0"/>
              <a:t>Examples:</a:t>
            </a:r>
            <a:endParaRPr lang="en-US" dirty="0"/>
          </a:p>
          <a:p>
            <a:pPr>
              <a:buFont typeface="Arial" panose="020B0604020202020204" pitchFamily="34" charset="0"/>
              <a:buChar char="•"/>
            </a:pPr>
            <a:r>
              <a:rPr lang="en-US" dirty="0"/>
              <a:t>Self-driving cars</a:t>
            </a:r>
          </a:p>
          <a:p>
            <a:pPr>
              <a:buFont typeface="Arial" panose="020B0604020202020204" pitchFamily="34" charset="0"/>
              <a:buChar char="•"/>
            </a:pPr>
            <a:r>
              <a:rPr lang="en-US" dirty="0"/>
              <a:t>Smart assistants (Siri, Alexa)</a:t>
            </a:r>
          </a:p>
          <a:p>
            <a:pPr>
              <a:buFont typeface="Arial" panose="020B0604020202020204" pitchFamily="34" charset="0"/>
              <a:buChar char="•"/>
            </a:pPr>
            <a:r>
              <a:rPr lang="en-US" dirty="0"/>
              <a:t>Facial recognition</a:t>
            </a:r>
          </a:p>
          <a:p>
            <a:pPr>
              <a:buFont typeface="Arial" panose="020B0604020202020204" pitchFamily="34" charset="0"/>
              <a:buChar char="•"/>
            </a:pPr>
            <a:r>
              <a:rPr lang="en-US" dirty="0"/>
              <a:t>Robots</a:t>
            </a:r>
          </a:p>
          <a:p>
            <a:pPr>
              <a:buFont typeface="Arial" panose="020B0604020202020204" pitchFamily="34" charset="0"/>
              <a:buChar char="•"/>
            </a:pPr>
            <a:r>
              <a:rPr lang="en-US" dirty="0"/>
              <a:t>Medical diagnosis systems</a:t>
            </a:r>
          </a:p>
          <a:p>
            <a:pPr marL="0" indent="0">
              <a:buNone/>
            </a:pPr>
            <a:r>
              <a:rPr lang="en-US" b="1" dirty="0"/>
              <a:t>Key idea:</a:t>
            </a:r>
            <a:br>
              <a:rPr lang="en-US" dirty="0"/>
            </a:br>
            <a:r>
              <a:rPr lang="en-US" dirty="0"/>
              <a:t>AI = the whole field of intelligent machines.</a:t>
            </a:r>
          </a:p>
          <a:p>
            <a:endParaRPr lang="en-IL" dirty="0"/>
          </a:p>
        </p:txBody>
      </p:sp>
    </p:spTree>
    <p:extLst>
      <p:ext uri="{BB962C8B-B14F-4D97-AF65-F5344CB8AC3E}">
        <p14:creationId xmlns:p14="http://schemas.microsoft.com/office/powerpoint/2010/main" val="11724962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241C2-73A3-48DA-4EF8-6FB73014C671}"/>
              </a:ext>
            </a:extLst>
          </p:cNvPr>
          <p:cNvSpPr>
            <a:spLocks noGrp="1"/>
          </p:cNvSpPr>
          <p:nvPr>
            <p:ph type="title"/>
          </p:nvPr>
        </p:nvSpPr>
        <p:spPr>
          <a:xfrm>
            <a:off x="655320" y="0"/>
            <a:ext cx="7800191" cy="1022611"/>
          </a:xfrm>
        </p:spPr>
        <p:txBody>
          <a:bodyPr/>
          <a:lstStyle/>
          <a:p>
            <a:r>
              <a:rPr lang="en-PS" dirty="0">
                <a:solidFill>
                  <a:schemeClr val="accent1"/>
                </a:solidFill>
              </a:rPr>
              <a:t>Machine Learning </a:t>
            </a:r>
          </a:p>
        </p:txBody>
      </p:sp>
      <p:sp>
        <p:nvSpPr>
          <p:cNvPr id="3" name="Content Placeholder 2">
            <a:extLst>
              <a:ext uri="{FF2B5EF4-FFF2-40B4-BE49-F238E27FC236}">
                <a16:creationId xmlns:a16="http://schemas.microsoft.com/office/drawing/2014/main" id="{EB848BBB-60AA-E644-0478-CC9BEFA5A9AE}"/>
              </a:ext>
            </a:extLst>
          </p:cNvPr>
          <p:cNvSpPr>
            <a:spLocks noGrp="1"/>
          </p:cNvSpPr>
          <p:nvPr>
            <p:ph idx="1"/>
          </p:nvPr>
        </p:nvSpPr>
        <p:spPr>
          <a:xfrm>
            <a:off x="655320" y="1022611"/>
            <a:ext cx="8983532" cy="5636372"/>
          </a:xfrm>
        </p:spPr>
        <p:txBody>
          <a:bodyPr>
            <a:normAutofit lnSpcReduction="10000"/>
          </a:bodyPr>
          <a:lstStyle/>
          <a:p>
            <a:pPr algn="l">
              <a:buFont typeface="Arial" panose="020B0604020202020204" pitchFamily="34" charset="0"/>
              <a:buChar char="•"/>
            </a:pPr>
            <a:r>
              <a:rPr lang="en-US" b="1" i="0" dirty="0">
                <a:solidFill>
                  <a:schemeClr val="accent1"/>
                </a:solidFill>
                <a:effectLst/>
                <a:latin typeface="+mj-lt"/>
              </a:rPr>
              <a:t>Definition</a:t>
            </a:r>
            <a:r>
              <a:rPr lang="en-US" b="1" i="0" dirty="0">
                <a:solidFill>
                  <a:srgbClr val="374151"/>
                </a:solidFill>
                <a:effectLst/>
                <a:latin typeface="+mj-lt"/>
              </a:rPr>
              <a:t>: </a:t>
            </a:r>
            <a:r>
              <a:rPr lang="en-US" b="0" i="0" dirty="0">
                <a:solidFill>
                  <a:srgbClr val="374151"/>
                </a:solidFill>
                <a:effectLst/>
                <a:latin typeface="+mj-lt"/>
              </a:rPr>
              <a:t>the development of algorithms that enable machines to learn from data, make predictions, and improve their performance over time.</a:t>
            </a:r>
          </a:p>
          <a:p>
            <a:pPr algn="l">
              <a:buFont typeface="Arial" panose="020B0604020202020204" pitchFamily="34" charset="0"/>
              <a:buChar char="•"/>
            </a:pPr>
            <a:r>
              <a:rPr lang="en-US" b="1" i="0" dirty="0">
                <a:solidFill>
                  <a:srgbClr val="374151"/>
                </a:solidFill>
                <a:effectLst/>
                <a:latin typeface="+mj-lt"/>
              </a:rPr>
              <a:t>Examples:</a:t>
            </a:r>
            <a:endParaRPr lang="en-US" b="0" i="0" dirty="0">
              <a:solidFill>
                <a:srgbClr val="374151"/>
              </a:solidFill>
              <a:effectLst/>
              <a:latin typeface="+mj-lt"/>
            </a:endParaRPr>
          </a:p>
          <a:p>
            <a:pPr marL="742950" lvl="1" indent="-285750" algn="l">
              <a:buFont typeface="Arial" panose="020B0604020202020204" pitchFamily="34" charset="0"/>
              <a:buChar char="•"/>
            </a:pPr>
            <a:r>
              <a:rPr lang="en-US" sz="2800" b="1" i="0" dirty="0">
                <a:solidFill>
                  <a:schemeClr val="accent1"/>
                </a:solidFill>
                <a:effectLst/>
                <a:latin typeface="+mj-lt"/>
              </a:rPr>
              <a:t>Image Recognition</a:t>
            </a:r>
            <a:r>
              <a:rPr lang="en-US" sz="2800" b="1" i="0" dirty="0">
                <a:solidFill>
                  <a:srgbClr val="374151"/>
                </a:solidFill>
                <a:effectLst/>
                <a:latin typeface="+mj-lt"/>
              </a:rPr>
              <a:t>:</a:t>
            </a:r>
            <a:r>
              <a:rPr lang="en-US" sz="2800" b="0" i="0" dirty="0">
                <a:solidFill>
                  <a:srgbClr val="374151"/>
                </a:solidFill>
                <a:effectLst/>
                <a:latin typeface="+mj-lt"/>
              </a:rPr>
              <a:t> ML algorithms can identify objects and patterns in images, used in facial recognition and self-driving cars.</a:t>
            </a:r>
          </a:p>
          <a:p>
            <a:pPr marL="742950" lvl="1" indent="-285750" algn="l">
              <a:buFont typeface="Arial" panose="020B0604020202020204" pitchFamily="34" charset="0"/>
              <a:buChar char="•"/>
            </a:pPr>
            <a:r>
              <a:rPr lang="en-US" sz="2800" b="1" i="0" dirty="0">
                <a:solidFill>
                  <a:schemeClr val="accent1"/>
                </a:solidFill>
                <a:effectLst/>
                <a:latin typeface="+mj-lt"/>
              </a:rPr>
              <a:t>Recommendation Systems</a:t>
            </a:r>
            <a:r>
              <a:rPr lang="en-US" sz="2800" b="1" i="0" dirty="0">
                <a:solidFill>
                  <a:srgbClr val="374151"/>
                </a:solidFill>
                <a:effectLst/>
                <a:latin typeface="+mj-lt"/>
              </a:rPr>
              <a:t>:</a:t>
            </a:r>
            <a:r>
              <a:rPr lang="en-US" sz="2800" b="0" i="0" dirty="0">
                <a:solidFill>
                  <a:srgbClr val="374151"/>
                </a:solidFill>
                <a:effectLst/>
                <a:latin typeface="+mj-lt"/>
              </a:rPr>
              <a:t> ML powers personalized content recommendations on platforms like Netflix and Amazon.</a:t>
            </a:r>
          </a:p>
          <a:p>
            <a:pPr marL="742950" lvl="1" indent="-285750" algn="l">
              <a:buFont typeface="Arial" panose="020B0604020202020204" pitchFamily="34" charset="0"/>
              <a:buChar char="•"/>
            </a:pPr>
            <a:r>
              <a:rPr lang="en-US" sz="2800" b="1" i="0" dirty="0">
                <a:solidFill>
                  <a:schemeClr val="accent1"/>
                </a:solidFill>
                <a:effectLst/>
                <a:latin typeface="+mj-lt"/>
              </a:rPr>
              <a:t>Natural Language Processing (NLP</a:t>
            </a:r>
            <a:r>
              <a:rPr lang="en-US" sz="2800" b="1" i="0" dirty="0">
                <a:solidFill>
                  <a:srgbClr val="374151"/>
                </a:solidFill>
                <a:effectLst/>
                <a:latin typeface="+mj-lt"/>
              </a:rPr>
              <a:t>):</a:t>
            </a:r>
            <a:r>
              <a:rPr lang="en-US" sz="2800" b="0" i="0" dirty="0">
                <a:solidFill>
                  <a:srgbClr val="374151"/>
                </a:solidFill>
                <a:effectLst/>
                <a:latin typeface="+mj-lt"/>
              </a:rPr>
              <a:t> ML models understand and generate human language, used in chatbots and language translation.</a:t>
            </a:r>
          </a:p>
          <a:p>
            <a:pPr marL="742950" lvl="1" indent="-285750" algn="l">
              <a:buFont typeface="Arial" panose="020B0604020202020204" pitchFamily="34" charset="0"/>
              <a:buChar char="•"/>
            </a:pPr>
            <a:r>
              <a:rPr lang="en-US" sz="2800" b="1" i="0" dirty="0">
                <a:solidFill>
                  <a:schemeClr val="accent1"/>
                </a:solidFill>
                <a:effectLst/>
                <a:latin typeface="+mj-lt"/>
              </a:rPr>
              <a:t>Healthcare Diagnostics</a:t>
            </a:r>
            <a:r>
              <a:rPr lang="en-US" sz="2800" b="1" i="0" dirty="0">
                <a:solidFill>
                  <a:srgbClr val="374151"/>
                </a:solidFill>
                <a:effectLst/>
                <a:latin typeface="+mj-lt"/>
              </a:rPr>
              <a:t>:</a:t>
            </a:r>
            <a:r>
              <a:rPr lang="en-US" sz="2800" b="0" i="0" dirty="0">
                <a:solidFill>
                  <a:srgbClr val="374151"/>
                </a:solidFill>
                <a:effectLst/>
                <a:latin typeface="+mj-lt"/>
              </a:rPr>
              <a:t> ML assists in disease detection and diagnosis by analyzing medical data.</a:t>
            </a:r>
          </a:p>
          <a:p>
            <a:endParaRPr lang="en-PS" dirty="0">
              <a:latin typeface="+mj-lt"/>
            </a:endParaRPr>
          </a:p>
        </p:txBody>
      </p:sp>
      <p:pic>
        <p:nvPicPr>
          <p:cNvPr id="5" name="Picture 4">
            <a:extLst>
              <a:ext uri="{FF2B5EF4-FFF2-40B4-BE49-F238E27FC236}">
                <a16:creationId xmlns:a16="http://schemas.microsoft.com/office/drawing/2014/main" id="{FD430199-8FA7-6CA6-0833-A67CD28196C1}"/>
              </a:ext>
            </a:extLst>
          </p:cNvPr>
          <p:cNvPicPr>
            <a:picLocks noChangeAspect="1"/>
          </p:cNvPicPr>
          <p:nvPr/>
        </p:nvPicPr>
        <p:blipFill>
          <a:blip r:embed="rId2"/>
          <a:stretch>
            <a:fillRect/>
          </a:stretch>
        </p:blipFill>
        <p:spPr>
          <a:xfrm>
            <a:off x="9477486" y="1356211"/>
            <a:ext cx="2555763" cy="2571006"/>
          </a:xfrm>
          <a:prstGeom prst="rect">
            <a:avLst/>
          </a:prstGeom>
        </p:spPr>
      </p:pic>
    </p:spTree>
    <p:extLst>
      <p:ext uri="{BB962C8B-B14F-4D97-AF65-F5344CB8AC3E}">
        <p14:creationId xmlns:p14="http://schemas.microsoft.com/office/powerpoint/2010/main" val="1227501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FECF8-8792-B858-4D88-2347AC93C071}"/>
              </a:ext>
            </a:extLst>
          </p:cNvPr>
          <p:cNvSpPr>
            <a:spLocks noGrp="1"/>
          </p:cNvSpPr>
          <p:nvPr>
            <p:ph type="title"/>
          </p:nvPr>
        </p:nvSpPr>
        <p:spPr>
          <a:xfrm>
            <a:off x="225013" y="279063"/>
            <a:ext cx="10515600" cy="559435"/>
          </a:xfrm>
        </p:spPr>
        <p:txBody>
          <a:bodyPr>
            <a:normAutofit fontScale="90000"/>
          </a:bodyPr>
          <a:lstStyle/>
          <a:p>
            <a:r>
              <a:rPr lang="en-PS" dirty="0">
                <a:solidFill>
                  <a:schemeClr val="accent1"/>
                </a:solidFill>
              </a:rPr>
              <a:t>Deep Learning</a:t>
            </a:r>
          </a:p>
        </p:txBody>
      </p:sp>
      <p:sp>
        <p:nvSpPr>
          <p:cNvPr id="3" name="Content Placeholder 2">
            <a:extLst>
              <a:ext uri="{FF2B5EF4-FFF2-40B4-BE49-F238E27FC236}">
                <a16:creationId xmlns:a16="http://schemas.microsoft.com/office/drawing/2014/main" id="{054D8E3B-68D7-A657-0ACD-428C68A8976E}"/>
              </a:ext>
            </a:extLst>
          </p:cNvPr>
          <p:cNvSpPr>
            <a:spLocks noGrp="1"/>
          </p:cNvSpPr>
          <p:nvPr>
            <p:ph idx="1"/>
          </p:nvPr>
        </p:nvSpPr>
        <p:spPr>
          <a:xfrm>
            <a:off x="225013" y="1158240"/>
            <a:ext cx="8122921" cy="5554532"/>
          </a:xfrm>
        </p:spPr>
        <p:txBody>
          <a:bodyPr>
            <a:normAutofit lnSpcReduction="10000"/>
          </a:bodyPr>
          <a:lstStyle/>
          <a:p>
            <a:pPr algn="l">
              <a:buFont typeface="Arial" panose="020B0604020202020204" pitchFamily="34" charset="0"/>
              <a:buChar char="•"/>
            </a:pPr>
            <a:r>
              <a:rPr lang="en-US" b="1" i="0" dirty="0">
                <a:solidFill>
                  <a:schemeClr val="accent1"/>
                </a:solidFill>
                <a:effectLst/>
                <a:latin typeface="+mj-lt"/>
              </a:rPr>
              <a:t>Definition</a:t>
            </a:r>
            <a:r>
              <a:rPr lang="en-US" b="1" i="0" dirty="0">
                <a:solidFill>
                  <a:srgbClr val="374151"/>
                </a:solidFill>
                <a:effectLst/>
                <a:latin typeface="+mj-lt"/>
              </a:rPr>
              <a:t>: </a:t>
            </a:r>
            <a:r>
              <a:rPr lang="en-US" b="0" i="0" dirty="0">
                <a:solidFill>
                  <a:srgbClr val="374151"/>
                </a:solidFill>
                <a:effectLst/>
                <a:latin typeface="+mj-lt"/>
              </a:rPr>
              <a:t>a subfield of Machine Learning that employs artificial neural networks, often with multiple layers (deep neural networks), to model and solve complex tasks, mimicking human brain functions.</a:t>
            </a:r>
          </a:p>
          <a:p>
            <a:pPr algn="l">
              <a:buFont typeface="Arial" panose="020B0604020202020204" pitchFamily="34" charset="0"/>
              <a:buChar char="•"/>
            </a:pPr>
            <a:r>
              <a:rPr lang="en-US" b="1" i="0" dirty="0">
                <a:solidFill>
                  <a:srgbClr val="374151"/>
                </a:solidFill>
                <a:effectLst/>
                <a:latin typeface="+mj-lt"/>
              </a:rPr>
              <a:t>Examples:</a:t>
            </a:r>
            <a:endParaRPr lang="en-US" b="0" i="0" dirty="0">
              <a:solidFill>
                <a:srgbClr val="374151"/>
              </a:solidFill>
              <a:effectLst/>
              <a:latin typeface="+mj-lt"/>
            </a:endParaRPr>
          </a:p>
          <a:p>
            <a:pPr marL="742950" lvl="1" indent="-285750" algn="l">
              <a:buFont typeface="Arial" panose="020B0604020202020204" pitchFamily="34" charset="0"/>
              <a:buChar char="•"/>
            </a:pPr>
            <a:r>
              <a:rPr lang="en-US" b="1" i="0" dirty="0">
                <a:solidFill>
                  <a:schemeClr val="accent1"/>
                </a:solidFill>
                <a:effectLst/>
                <a:latin typeface="+mj-lt"/>
              </a:rPr>
              <a:t>Image Classification</a:t>
            </a:r>
            <a:r>
              <a:rPr lang="en-US" b="1" i="0" dirty="0">
                <a:solidFill>
                  <a:srgbClr val="374151"/>
                </a:solidFill>
                <a:effectLst/>
                <a:latin typeface="+mj-lt"/>
              </a:rPr>
              <a:t>:</a:t>
            </a:r>
            <a:r>
              <a:rPr lang="en-US" b="0" i="0" dirty="0">
                <a:solidFill>
                  <a:srgbClr val="374151"/>
                </a:solidFill>
                <a:effectLst/>
                <a:latin typeface="+mj-lt"/>
              </a:rPr>
              <a:t> Deep learning powers image recognition systems, such as identifying objects in photos.</a:t>
            </a:r>
          </a:p>
          <a:p>
            <a:pPr marL="742950" lvl="1" indent="-285750" algn="l">
              <a:buFont typeface="Arial" panose="020B0604020202020204" pitchFamily="34" charset="0"/>
              <a:buChar char="•"/>
            </a:pPr>
            <a:r>
              <a:rPr lang="en-US" b="1" i="0" dirty="0">
                <a:solidFill>
                  <a:schemeClr val="accent1"/>
                </a:solidFill>
                <a:effectLst/>
                <a:latin typeface="+mj-lt"/>
              </a:rPr>
              <a:t>Speech Recognition</a:t>
            </a:r>
            <a:r>
              <a:rPr lang="en-US" b="1" i="0" dirty="0">
                <a:solidFill>
                  <a:srgbClr val="374151"/>
                </a:solidFill>
                <a:effectLst/>
                <a:latin typeface="+mj-lt"/>
              </a:rPr>
              <a:t>:</a:t>
            </a:r>
            <a:r>
              <a:rPr lang="en-US" b="0" i="0" dirty="0">
                <a:solidFill>
                  <a:srgbClr val="374151"/>
                </a:solidFill>
                <a:effectLst/>
                <a:latin typeface="+mj-lt"/>
              </a:rPr>
              <a:t> Virtual assistants like Siri and Google Assistant use deep learning to understand spoken language.</a:t>
            </a:r>
          </a:p>
          <a:p>
            <a:pPr marL="742950" lvl="1" indent="-285750" algn="l">
              <a:buFont typeface="Arial" panose="020B0604020202020204" pitchFamily="34" charset="0"/>
              <a:buChar char="•"/>
            </a:pPr>
            <a:r>
              <a:rPr lang="en-US" b="1" i="0" dirty="0">
                <a:solidFill>
                  <a:schemeClr val="accent1"/>
                </a:solidFill>
                <a:effectLst/>
                <a:latin typeface="+mj-lt"/>
              </a:rPr>
              <a:t>Autonomous Vehicles</a:t>
            </a:r>
            <a:r>
              <a:rPr lang="en-US" b="1" i="0" dirty="0">
                <a:solidFill>
                  <a:srgbClr val="374151"/>
                </a:solidFill>
                <a:effectLst/>
                <a:latin typeface="+mj-lt"/>
              </a:rPr>
              <a:t>:</a:t>
            </a:r>
            <a:r>
              <a:rPr lang="en-US" b="0" i="0" dirty="0">
                <a:solidFill>
                  <a:srgbClr val="374151"/>
                </a:solidFill>
                <a:effectLst/>
                <a:latin typeface="+mj-lt"/>
              </a:rPr>
              <a:t> Deep learning enables self-driving cars to perceive their surroundings and make driving decisions.</a:t>
            </a:r>
          </a:p>
          <a:p>
            <a:pPr marL="742950" lvl="1" indent="-285750" algn="l">
              <a:buFont typeface="Arial" panose="020B0604020202020204" pitchFamily="34" charset="0"/>
              <a:buChar char="•"/>
            </a:pPr>
            <a:r>
              <a:rPr lang="en-US" b="1" i="0" dirty="0">
                <a:solidFill>
                  <a:schemeClr val="accent1"/>
                </a:solidFill>
                <a:effectLst/>
                <a:latin typeface="+mj-lt"/>
              </a:rPr>
              <a:t>Language Translation</a:t>
            </a:r>
            <a:r>
              <a:rPr lang="en-US" b="1" i="0" dirty="0">
                <a:solidFill>
                  <a:srgbClr val="374151"/>
                </a:solidFill>
                <a:effectLst/>
                <a:latin typeface="+mj-lt"/>
              </a:rPr>
              <a:t>:</a:t>
            </a:r>
            <a:r>
              <a:rPr lang="en-US" b="0" i="0" dirty="0">
                <a:solidFill>
                  <a:srgbClr val="374151"/>
                </a:solidFill>
                <a:effectLst/>
                <a:latin typeface="+mj-lt"/>
              </a:rPr>
              <a:t> Deep learning models improve the accuracy of language translation services.</a:t>
            </a:r>
          </a:p>
          <a:p>
            <a:endParaRPr lang="en-PS" dirty="0">
              <a:latin typeface="+mj-lt"/>
            </a:endParaRPr>
          </a:p>
        </p:txBody>
      </p:sp>
      <p:pic>
        <p:nvPicPr>
          <p:cNvPr id="3074" name="Picture 2" descr="Why Deep Learning over Traditional Machine Learning? | by Sambit Mahapatra  | Towards Data Science">
            <a:extLst>
              <a:ext uri="{FF2B5EF4-FFF2-40B4-BE49-F238E27FC236}">
                <a16:creationId xmlns:a16="http://schemas.microsoft.com/office/drawing/2014/main" id="{F55FB707-7D05-B92D-B50C-B367CD8961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0963" y="1376979"/>
            <a:ext cx="4019221" cy="2678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1863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A9EC2-3F83-C292-64BC-E44B077C07FB}"/>
              </a:ext>
            </a:extLst>
          </p:cNvPr>
          <p:cNvSpPr>
            <a:spLocks noGrp="1"/>
          </p:cNvSpPr>
          <p:nvPr>
            <p:ph type="title"/>
          </p:nvPr>
        </p:nvSpPr>
        <p:spPr>
          <a:xfrm>
            <a:off x="375920" y="151765"/>
            <a:ext cx="11724640" cy="945515"/>
          </a:xfrm>
        </p:spPr>
        <p:txBody>
          <a:bodyPr>
            <a:normAutofit/>
          </a:bodyPr>
          <a:lstStyle/>
          <a:p>
            <a:r>
              <a:rPr lang="en-US" sz="4000" i="0" dirty="0">
                <a:solidFill>
                  <a:schemeClr val="accent1"/>
                </a:solidFill>
                <a:effectLst/>
              </a:rPr>
              <a:t>The Connection Between AI and Machine Learning</a:t>
            </a:r>
            <a:endParaRPr lang="en-PS" sz="4000" dirty="0">
              <a:solidFill>
                <a:schemeClr val="accent1"/>
              </a:solidFill>
            </a:endParaRPr>
          </a:p>
        </p:txBody>
      </p:sp>
      <p:sp>
        <p:nvSpPr>
          <p:cNvPr id="3" name="Content Placeholder 2">
            <a:extLst>
              <a:ext uri="{FF2B5EF4-FFF2-40B4-BE49-F238E27FC236}">
                <a16:creationId xmlns:a16="http://schemas.microsoft.com/office/drawing/2014/main" id="{A0EAE21F-FBCD-0043-00B0-53C4DD04D9D6}"/>
              </a:ext>
            </a:extLst>
          </p:cNvPr>
          <p:cNvSpPr>
            <a:spLocks noGrp="1"/>
          </p:cNvSpPr>
          <p:nvPr>
            <p:ph idx="1"/>
          </p:nvPr>
        </p:nvSpPr>
        <p:spPr>
          <a:xfrm>
            <a:off x="375920" y="1097280"/>
            <a:ext cx="7401859" cy="5150803"/>
          </a:xfrm>
        </p:spPr>
        <p:txBody>
          <a:bodyPr>
            <a:normAutofit/>
          </a:bodyPr>
          <a:lstStyle/>
          <a:p>
            <a:pPr algn="l">
              <a:buFont typeface="Arial" panose="020B0604020202020204" pitchFamily="34" charset="0"/>
              <a:buChar char="•"/>
            </a:pPr>
            <a:r>
              <a:rPr lang="en-US" b="1" i="0" dirty="0">
                <a:solidFill>
                  <a:schemeClr val="accent1"/>
                </a:solidFill>
                <a:effectLst/>
                <a:latin typeface="+mj-lt"/>
              </a:rPr>
              <a:t>AI and Machine Learning </a:t>
            </a:r>
            <a:endParaRPr lang="en-US" b="0" i="0" dirty="0">
              <a:solidFill>
                <a:schemeClr val="accent1"/>
              </a:solidFill>
              <a:effectLst/>
              <a:latin typeface="+mj-lt"/>
            </a:endParaRPr>
          </a:p>
          <a:p>
            <a:pPr marL="742950" lvl="1" indent="-285750" algn="l">
              <a:buFont typeface="Arial" panose="020B0604020202020204" pitchFamily="34" charset="0"/>
              <a:buChar char="•"/>
            </a:pPr>
            <a:r>
              <a:rPr lang="en-US" b="0" i="0" dirty="0">
                <a:solidFill>
                  <a:srgbClr val="374151"/>
                </a:solidFill>
                <a:effectLst/>
                <a:latin typeface="+mj-lt"/>
              </a:rPr>
              <a:t>AI is the broader field that encompasses various techniques, including Machine Learning (ML).</a:t>
            </a:r>
          </a:p>
          <a:p>
            <a:pPr marL="742950" lvl="1" indent="-285750" algn="l">
              <a:buFont typeface="Arial" panose="020B0604020202020204" pitchFamily="34" charset="0"/>
              <a:buChar char="•"/>
            </a:pPr>
            <a:r>
              <a:rPr lang="en-US" b="0" i="0" dirty="0">
                <a:solidFill>
                  <a:srgbClr val="374151"/>
                </a:solidFill>
                <a:effectLst/>
                <a:latin typeface="+mj-lt"/>
              </a:rPr>
              <a:t>ML is a subset of AI that focuses on learning from data to make predictions and decisions.</a:t>
            </a:r>
          </a:p>
          <a:p>
            <a:pPr algn="l">
              <a:buFont typeface="Arial" panose="020B0604020202020204" pitchFamily="34" charset="0"/>
              <a:buChar char="•"/>
            </a:pPr>
            <a:r>
              <a:rPr lang="en-US" b="1" i="0" dirty="0">
                <a:solidFill>
                  <a:schemeClr val="accent1"/>
                </a:solidFill>
                <a:effectLst/>
                <a:latin typeface="+mj-lt"/>
              </a:rPr>
              <a:t>AI and ML Collaboration</a:t>
            </a:r>
            <a:r>
              <a:rPr lang="en-US" b="1" i="0" dirty="0">
                <a:solidFill>
                  <a:srgbClr val="374151"/>
                </a:solidFill>
                <a:effectLst/>
                <a:latin typeface="+mj-lt"/>
              </a:rPr>
              <a:t>:</a:t>
            </a:r>
            <a:endParaRPr lang="en-US" b="0" i="0" dirty="0">
              <a:solidFill>
                <a:srgbClr val="374151"/>
              </a:solidFill>
              <a:effectLst/>
              <a:latin typeface="+mj-lt"/>
            </a:endParaRPr>
          </a:p>
          <a:p>
            <a:pPr marL="742950" lvl="1" indent="-285750" algn="l">
              <a:buFont typeface="Arial" panose="020B0604020202020204" pitchFamily="34" charset="0"/>
              <a:buChar char="•"/>
            </a:pPr>
            <a:r>
              <a:rPr lang="en-US" b="0" i="0" dirty="0">
                <a:solidFill>
                  <a:srgbClr val="374151"/>
                </a:solidFill>
                <a:effectLst/>
                <a:latin typeface="+mj-lt"/>
              </a:rPr>
              <a:t>AI systems leverage ML to enhance their capabilities.</a:t>
            </a:r>
          </a:p>
          <a:p>
            <a:pPr marL="742950" lvl="1" indent="-285750" algn="l">
              <a:buFont typeface="Arial" panose="020B0604020202020204" pitchFamily="34" charset="0"/>
              <a:buChar char="•"/>
            </a:pPr>
            <a:r>
              <a:rPr lang="en-US" b="0" i="0" dirty="0">
                <a:solidFill>
                  <a:srgbClr val="374151"/>
                </a:solidFill>
                <a:effectLst/>
                <a:latin typeface="+mj-lt"/>
              </a:rPr>
              <a:t>ML algorithms enable AI systems to adapt, learn, and improve based on the data they encounter.</a:t>
            </a:r>
          </a:p>
          <a:p>
            <a:pPr algn="l">
              <a:buFont typeface="Arial" panose="020B0604020202020204" pitchFamily="34" charset="0"/>
              <a:buChar char="•"/>
            </a:pPr>
            <a:r>
              <a:rPr lang="en-US" b="1" i="0" dirty="0">
                <a:solidFill>
                  <a:schemeClr val="accent1"/>
                </a:solidFill>
                <a:effectLst/>
                <a:latin typeface="+mj-lt"/>
              </a:rPr>
              <a:t>Example</a:t>
            </a:r>
            <a:r>
              <a:rPr lang="en-US" b="1" i="0" dirty="0">
                <a:solidFill>
                  <a:srgbClr val="374151"/>
                </a:solidFill>
                <a:effectLst/>
                <a:latin typeface="+mj-lt"/>
              </a:rPr>
              <a:t>:</a:t>
            </a:r>
            <a:endParaRPr lang="en-US" b="0" i="0" dirty="0">
              <a:solidFill>
                <a:srgbClr val="374151"/>
              </a:solidFill>
              <a:effectLst/>
              <a:latin typeface="+mj-lt"/>
            </a:endParaRPr>
          </a:p>
          <a:p>
            <a:pPr marL="742950" lvl="1" indent="-285750" algn="l">
              <a:buFont typeface="Arial" panose="020B0604020202020204" pitchFamily="34" charset="0"/>
              <a:buChar char="•"/>
            </a:pPr>
            <a:r>
              <a:rPr lang="en-US" b="0" i="0" dirty="0">
                <a:solidFill>
                  <a:srgbClr val="374151"/>
                </a:solidFill>
                <a:effectLst/>
                <a:latin typeface="+mj-lt"/>
              </a:rPr>
              <a:t>A self-driving car is an AI system that uses ML to recognize objects, make driving decisions, and improve its performance with more data.</a:t>
            </a:r>
          </a:p>
          <a:p>
            <a:endParaRPr lang="en-PS" dirty="0">
              <a:latin typeface="+mj-lt"/>
            </a:endParaRPr>
          </a:p>
        </p:txBody>
      </p:sp>
      <p:pic>
        <p:nvPicPr>
          <p:cNvPr id="4098" name="Picture 2" descr="002 Top 5 autonomous driving systems in the world - Master Data Science">
            <a:extLst>
              <a:ext uri="{FF2B5EF4-FFF2-40B4-BE49-F238E27FC236}">
                <a16:creationId xmlns:a16="http://schemas.microsoft.com/office/drawing/2014/main" id="{03F0BC9E-1A8E-5F7D-F1F0-81D7B7ACE6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5824" y="2101850"/>
            <a:ext cx="3766306" cy="3266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00413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84BD3-80AF-E6AB-8081-3935F3632384}"/>
              </a:ext>
            </a:extLst>
          </p:cNvPr>
          <p:cNvSpPr>
            <a:spLocks noGrp="1"/>
          </p:cNvSpPr>
          <p:nvPr>
            <p:ph type="title"/>
          </p:nvPr>
        </p:nvSpPr>
        <p:spPr>
          <a:xfrm>
            <a:off x="536986" y="304202"/>
            <a:ext cx="10515600" cy="753670"/>
          </a:xfrm>
        </p:spPr>
        <p:txBody>
          <a:bodyPr/>
          <a:lstStyle/>
          <a:p>
            <a:r>
              <a:rPr lang="en-US" i="0" dirty="0">
                <a:solidFill>
                  <a:schemeClr val="accent1"/>
                </a:solidFill>
                <a:effectLst/>
              </a:rPr>
              <a:t>Role of Data in AI</a:t>
            </a:r>
            <a:endParaRPr lang="en-PS" dirty="0">
              <a:solidFill>
                <a:schemeClr val="accent1"/>
              </a:solidFill>
            </a:endParaRPr>
          </a:p>
        </p:txBody>
      </p:sp>
      <p:sp>
        <p:nvSpPr>
          <p:cNvPr id="3" name="Content Placeholder 2">
            <a:extLst>
              <a:ext uri="{FF2B5EF4-FFF2-40B4-BE49-F238E27FC236}">
                <a16:creationId xmlns:a16="http://schemas.microsoft.com/office/drawing/2014/main" id="{C1AFC2EA-70D6-5D98-65BB-09ABE564CE7C}"/>
              </a:ext>
            </a:extLst>
          </p:cNvPr>
          <p:cNvSpPr>
            <a:spLocks noGrp="1"/>
          </p:cNvSpPr>
          <p:nvPr>
            <p:ph idx="1"/>
          </p:nvPr>
        </p:nvSpPr>
        <p:spPr>
          <a:xfrm>
            <a:off x="536986" y="1298500"/>
            <a:ext cx="9144000" cy="5338968"/>
          </a:xfrm>
        </p:spPr>
        <p:txBody>
          <a:bodyPr>
            <a:normAutofit/>
          </a:bodyPr>
          <a:lstStyle/>
          <a:p>
            <a:pPr algn="l">
              <a:buFont typeface="Arial" panose="020B0604020202020204" pitchFamily="34" charset="0"/>
              <a:buChar char="•"/>
            </a:pPr>
            <a:r>
              <a:rPr lang="en-US" b="1" i="0" dirty="0">
                <a:solidFill>
                  <a:schemeClr val="accent1"/>
                </a:solidFill>
                <a:effectLst/>
                <a:latin typeface="+mj-lt"/>
              </a:rPr>
              <a:t>Data as the Lifeblood</a:t>
            </a:r>
            <a:r>
              <a:rPr lang="en-US" b="1" i="0" dirty="0">
                <a:solidFill>
                  <a:srgbClr val="374151"/>
                </a:solidFill>
                <a:effectLst/>
                <a:latin typeface="+mj-lt"/>
              </a:rPr>
              <a:t>:</a:t>
            </a:r>
            <a:endParaRPr lang="en-US" b="0" i="0" dirty="0">
              <a:solidFill>
                <a:srgbClr val="374151"/>
              </a:solidFill>
              <a:effectLst/>
              <a:latin typeface="+mj-lt"/>
            </a:endParaRPr>
          </a:p>
          <a:p>
            <a:pPr marL="742950" lvl="1" indent="-285750" algn="l">
              <a:buFont typeface="Arial" panose="020B0604020202020204" pitchFamily="34" charset="0"/>
              <a:buChar char="•"/>
            </a:pPr>
            <a:r>
              <a:rPr lang="en-US" b="0" i="0" dirty="0">
                <a:solidFill>
                  <a:srgbClr val="374151"/>
                </a:solidFill>
                <a:effectLst/>
                <a:latin typeface="+mj-lt"/>
              </a:rPr>
              <a:t>Data is the foundation of AI, providing the necessary information for learning and decision-making.</a:t>
            </a:r>
          </a:p>
          <a:p>
            <a:pPr algn="l">
              <a:buFont typeface="Arial" panose="020B0604020202020204" pitchFamily="34" charset="0"/>
              <a:buChar char="•"/>
            </a:pPr>
            <a:r>
              <a:rPr lang="en-US" b="1" i="0" dirty="0">
                <a:solidFill>
                  <a:schemeClr val="accent1"/>
                </a:solidFill>
                <a:effectLst/>
                <a:latin typeface="+mj-lt"/>
              </a:rPr>
              <a:t>Training AI Models:</a:t>
            </a:r>
            <a:endParaRPr lang="en-US" b="0" i="0" dirty="0">
              <a:solidFill>
                <a:schemeClr val="accent1"/>
              </a:solidFill>
              <a:effectLst/>
              <a:latin typeface="+mj-lt"/>
            </a:endParaRPr>
          </a:p>
          <a:p>
            <a:pPr marL="742950" lvl="1" indent="-285750" algn="l">
              <a:buFont typeface="Arial" panose="020B0604020202020204" pitchFamily="34" charset="0"/>
              <a:buChar char="•"/>
            </a:pPr>
            <a:r>
              <a:rPr lang="en-US" b="0" i="0" dirty="0">
                <a:solidFill>
                  <a:srgbClr val="374151"/>
                </a:solidFill>
                <a:effectLst/>
                <a:latin typeface="+mj-lt"/>
              </a:rPr>
              <a:t>AI systems, including ML algorithms, require large and diverse datasets for training.</a:t>
            </a:r>
          </a:p>
          <a:p>
            <a:pPr marL="742950" lvl="1" indent="-285750" algn="l">
              <a:buFont typeface="Arial" panose="020B0604020202020204" pitchFamily="34" charset="0"/>
              <a:buChar char="•"/>
            </a:pPr>
            <a:r>
              <a:rPr lang="en-US" b="0" i="0" dirty="0">
                <a:solidFill>
                  <a:srgbClr val="374151"/>
                </a:solidFill>
                <a:effectLst/>
                <a:latin typeface="+mj-lt"/>
              </a:rPr>
              <a:t>The quality and quantity of data significantly impact AI performance.</a:t>
            </a:r>
          </a:p>
          <a:p>
            <a:pPr algn="l">
              <a:buFont typeface="Arial" panose="020B0604020202020204" pitchFamily="34" charset="0"/>
              <a:buChar char="•"/>
            </a:pPr>
            <a:r>
              <a:rPr lang="en-US" b="1" i="0" dirty="0">
                <a:solidFill>
                  <a:schemeClr val="accent1"/>
                </a:solidFill>
                <a:effectLst/>
                <a:latin typeface="+mj-lt"/>
              </a:rPr>
              <a:t>Data-Driven Insights</a:t>
            </a:r>
            <a:r>
              <a:rPr lang="en-US" b="1" i="0" dirty="0">
                <a:solidFill>
                  <a:srgbClr val="374151"/>
                </a:solidFill>
                <a:effectLst/>
                <a:latin typeface="+mj-lt"/>
              </a:rPr>
              <a:t>:</a:t>
            </a:r>
            <a:endParaRPr lang="en-US" b="0" i="0" dirty="0">
              <a:solidFill>
                <a:srgbClr val="374151"/>
              </a:solidFill>
              <a:effectLst/>
              <a:latin typeface="+mj-lt"/>
            </a:endParaRPr>
          </a:p>
          <a:p>
            <a:pPr marL="742950" lvl="1" indent="-285750" algn="l">
              <a:buFont typeface="Arial" panose="020B0604020202020204" pitchFamily="34" charset="0"/>
              <a:buChar char="•"/>
            </a:pPr>
            <a:r>
              <a:rPr lang="en-US" b="0" i="0" dirty="0">
                <a:solidFill>
                  <a:srgbClr val="374151"/>
                </a:solidFill>
                <a:effectLst/>
                <a:latin typeface="+mj-lt"/>
              </a:rPr>
              <a:t>AI uses data to gain insights, make predictions, and drive informed decisions in various applications, from business analytics to healthcare.</a:t>
            </a:r>
          </a:p>
          <a:p>
            <a:endParaRPr lang="en-PS" dirty="0">
              <a:latin typeface="+mj-lt"/>
            </a:endParaRPr>
          </a:p>
        </p:txBody>
      </p:sp>
    </p:spTree>
    <p:extLst>
      <p:ext uri="{BB962C8B-B14F-4D97-AF65-F5344CB8AC3E}">
        <p14:creationId xmlns:p14="http://schemas.microsoft.com/office/powerpoint/2010/main" val="17726258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640</TotalTime>
  <Words>1846</Words>
  <Application>Microsoft Macintosh PowerPoint</Application>
  <PresentationFormat>Widescreen</PresentationFormat>
  <Paragraphs>148</Paragraphs>
  <Slides>24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Söhne</vt:lpstr>
      <vt:lpstr>Office Theme</vt:lpstr>
      <vt:lpstr>Introduction to  Artificial Intelligence and Machine Learning</vt:lpstr>
      <vt:lpstr>Content</vt:lpstr>
      <vt:lpstr>What is Intelligence</vt:lpstr>
      <vt:lpstr>Definition of Artificial Intelligence</vt:lpstr>
      <vt:lpstr>Artificial Intelligence Tasks </vt:lpstr>
      <vt:lpstr>More of AI Tasks</vt:lpstr>
      <vt:lpstr>AI as the Field of Creating Intelligent Agents</vt:lpstr>
      <vt:lpstr>Examples of intelligent agents </vt:lpstr>
      <vt:lpstr>Examples of intelligent agents </vt:lpstr>
      <vt:lpstr>Levels of Artificial Antelligence</vt:lpstr>
      <vt:lpstr>AI Development Spectrum</vt:lpstr>
      <vt:lpstr>Brief History of AI</vt:lpstr>
      <vt:lpstr>Subfields of Artificial Intelligence</vt:lpstr>
      <vt:lpstr>Natural Language Processing (NLP)</vt:lpstr>
      <vt:lpstr>Computer Vision</vt:lpstr>
      <vt:lpstr>Expert Systems</vt:lpstr>
      <vt:lpstr>Robotics</vt:lpstr>
      <vt:lpstr>AI vs.Machine learning vs. Deep Learning</vt:lpstr>
      <vt:lpstr>AI vs. ML vs. Deep Learning (Overview)</vt:lpstr>
      <vt:lpstr>Artificial Intelligence (AI)</vt:lpstr>
      <vt:lpstr>Machine Learning </vt:lpstr>
      <vt:lpstr>Deep Learning</vt:lpstr>
      <vt:lpstr>The Connection Between AI and Machine Learning</vt:lpstr>
      <vt:lpstr>Role of Data in AI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Artificial Intelligence and Machine Learning </dc:title>
  <dc:creator>Khalid Rabayah</dc:creator>
  <cp:lastModifiedBy>khalid Rabayah</cp:lastModifiedBy>
  <cp:revision>26</cp:revision>
  <dcterms:created xsi:type="dcterms:W3CDTF">2023-09-06T11:48:13Z</dcterms:created>
  <dcterms:modified xsi:type="dcterms:W3CDTF">2025-11-13T14:38:58Z</dcterms:modified>
</cp:coreProperties>
</file>