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7"/>
  </p:notesMasterIdLst>
  <p:sldIdLst>
    <p:sldId id="333" r:id="rId2"/>
    <p:sldId id="332" r:id="rId3"/>
    <p:sldId id="257" r:id="rId4"/>
    <p:sldId id="258" r:id="rId5"/>
    <p:sldId id="259" r:id="rId6"/>
    <p:sldId id="260" r:id="rId7"/>
    <p:sldId id="302" r:id="rId8"/>
    <p:sldId id="303" r:id="rId9"/>
    <p:sldId id="304" r:id="rId10"/>
    <p:sldId id="305" r:id="rId11"/>
    <p:sldId id="265" r:id="rId12"/>
    <p:sldId id="266" r:id="rId13"/>
    <p:sldId id="306" r:id="rId14"/>
    <p:sldId id="268" r:id="rId15"/>
    <p:sldId id="269" r:id="rId16"/>
    <p:sldId id="307" r:id="rId17"/>
    <p:sldId id="308" r:id="rId18"/>
    <p:sldId id="309" r:id="rId19"/>
    <p:sldId id="272" r:id="rId20"/>
    <p:sldId id="273" r:id="rId21"/>
    <p:sldId id="310" r:id="rId22"/>
    <p:sldId id="311" r:id="rId23"/>
    <p:sldId id="276" r:id="rId24"/>
    <p:sldId id="277" r:id="rId25"/>
    <p:sldId id="313" r:id="rId26"/>
    <p:sldId id="279" r:id="rId27"/>
    <p:sldId id="280" r:id="rId28"/>
    <p:sldId id="314" r:id="rId29"/>
    <p:sldId id="315" r:id="rId30"/>
    <p:sldId id="316" r:id="rId31"/>
    <p:sldId id="282" r:id="rId32"/>
    <p:sldId id="283" r:id="rId33"/>
    <p:sldId id="317" r:id="rId34"/>
    <p:sldId id="318" r:id="rId35"/>
    <p:sldId id="319" r:id="rId36"/>
    <p:sldId id="285" r:id="rId37"/>
    <p:sldId id="286" r:id="rId38"/>
    <p:sldId id="320" r:id="rId39"/>
    <p:sldId id="321" r:id="rId40"/>
    <p:sldId id="322" r:id="rId41"/>
    <p:sldId id="323" r:id="rId42"/>
    <p:sldId id="324" r:id="rId43"/>
    <p:sldId id="291" r:id="rId44"/>
    <p:sldId id="292" r:id="rId45"/>
    <p:sldId id="325" r:id="rId46"/>
    <p:sldId id="294" r:id="rId47"/>
    <p:sldId id="295" r:id="rId48"/>
    <p:sldId id="326" r:id="rId49"/>
    <p:sldId id="327" r:id="rId50"/>
    <p:sldId id="328" r:id="rId51"/>
    <p:sldId id="299" r:id="rId52"/>
    <p:sldId id="300" r:id="rId53"/>
    <p:sldId id="329" r:id="rId54"/>
    <p:sldId id="330" r:id="rId55"/>
    <p:sldId id="331" r:id="rId56"/>
  </p:sldIdLst>
  <p:sldSz cx="9144000" cy="5143500" type="screen16x9"/>
  <p:notesSz cx="51435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horzBarState="maximized">
    <p:restoredLeft sz="21375"/>
    <p:restoredTop sz="95118"/>
  </p:normalViewPr>
  <p:slideViewPr>
    <p:cSldViewPr>
      <p:cViewPr varScale="1">
        <p:scale>
          <a:sx n="140" d="100"/>
          <a:sy n="140" d="100"/>
        </p:scale>
        <p:origin x="208" y="448"/>
      </p:cViewPr>
      <p:guideLst>
        <p:guide orient="horz" pos="2880"/>
        <p:guide pos="2160"/>
      </p:guideLst>
    </p:cSldViewPr>
  </p:slideViewPr>
  <p:notesTextViewPr>
    <p:cViewPr>
      <p:scale>
        <a:sx n="100" d="100"/>
        <a:sy n="100" d="100"/>
      </p:scale>
      <p:origin x="0" y="0"/>
    </p:cViewPr>
  </p:notesTextViewPr>
  <p:sorterViewPr>
    <p:cViewPr>
      <p:scale>
        <a:sx n="1" d="1"/>
        <a:sy n="1" d="1"/>
      </p:scale>
      <p:origin x="0" y="0"/>
    </p:cViewPr>
  </p:sorterViewPr>
  <p:notesViewPr>
    <p:cSldViewPr>
      <p:cViewPr varScale="1">
        <p:scale>
          <a:sx n="85" d="100"/>
          <a:sy n="85" d="100"/>
        </p:scale>
        <p:origin x="4008"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Notes Placeholder 4"/>
          <p:cNvSpPr>
            <a:spLocks noGrp="1"/>
          </p:cNvSpPr>
          <p:nvPr>
            <p:ph type="body" sz="quarter" idx="3"/>
          </p:nvPr>
        </p:nvSpPr>
        <p:spPr>
          <a:xfrm>
            <a:off x="76661" y="3200400"/>
            <a:ext cx="5009689" cy="480060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9" name="Slide Image Placeholder 8">
            <a:extLst>
              <a:ext uri="{FF2B5EF4-FFF2-40B4-BE49-F238E27FC236}">
                <a16:creationId xmlns:a16="http://schemas.microsoft.com/office/drawing/2014/main" id="{FA19341C-5353-F84F-8FCE-EE3D6D904721}"/>
              </a:ext>
            </a:extLst>
          </p:cNvPr>
          <p:cNvSpPr>
            <a:spLocks noGrp="1" noRot="1" noChangeAspect="1"/>
          </p:cNvSpPr>
          <p:nvPr>
            <p:ph type="sldImg" idx="2"/>
          </p:nvPr>
        </p:nvSpPr>
        <p:spPr>
          <a:xfrm>
            <a:off x="-19050" y="171450"/>
            <a:ext cx="5114925" cy="2876550"/>
          </a:xfrm>
          <a:prstGeom prst="rect">
            <a:avLst/>
          </a:prstGeom>
          <a:noFill/>
          <a:ln w="12700">
            <a:solidFill>
              <a:prstClr val="black"/>
            </a:solidFill>
          </a:ln>
        </p:spPr>
        <p:txBody>
          <a:bodyPr vert="horz" lIns="91440" tIns="45720" rIns="91440" bIns="45720" rtlCol="0" anchor="ctr"/>
          <a:lstStyle/>
          <a:p>
            <a:endParaRPr lang="en-IL"/>
          </a:p>
        </p:txBody>
      </p:sp>
    </p:spTree>
    <p:extLst>
      <p:ext uri="{BB962C8B-B14F-4D97-AF65-F5344CB8AC3E}">
        <p14:creationId xmlns:p14="http://schemas.microsoft.com/office/powerpoint/2010/main" val="2920802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Neural Network Training</a:t>
            </a:r>
          </a:p>
          <a:p>
            <a:r>
              <a:rPr lang="en-US" dirty="0"/>
              <a:t>This chapter focuses on how a neural network learns from data. Instead of just computing predictions (forward propagation), we now allow the model to adjust its weights and biases so that its predictions become more accurate. Training means minimizing the error between predicted outputs and the true labels using an optimization algorithm such as gradient descent.</a:t>
            </a:r>
          </a:p>
          <a:p>
            <a:r>
              <a:rPr lang="en-US" dirty="0"/>
              <a:t>TensorFlow implementation</a:t>
            </a:r>
          </a:p>
          <a:p>
            <a:r>
              <a:rPr lang="en-US" dirty="0"/>
              <a:t>In this section, we move from theory to practice. We use TensorFlow to define the model, choose a loss function, select an optimizer, and train the network using </a:t>
            </a:r>
            <a:r>
              <a:rPr lang="en-US" dirty="0" err="1"/>
              <a:t>model.fit</a:t>
            </a:r>
            <a:r>
              <a:rPr lang="en-US" dirty="0"/>
              <a:t>. TensorFlow automatically computes gradients and updates the parameters, making the training process efficient and scalable.</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1</a:t>
            </a:fld>
            <a:endParaRPr lang="en-IL"/>
          </a:p>
        </p:txBody>
      </p:sp>
    </p:spTree>
    <p:extLst>
      <p:ext uri="{BB962C8B-B14F-4D97-AF65-F5344CB8AC3E}">
        <p14:creationId xmlns:p14="http://schemas.microsoft.com/office/powerpoint/2010/main" val="1400704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2</a:t>
            </a:fld>
            <a:endParaRPr lang="en-IL"/>
          </a:p>
        </p:txBody>
      </p:sp>
    </p:spTree>
    <p:extLst>
      <p:ext uri="{BB962C8B-B14F-4D97-AF65-F5344CB8AC3E}">
        <p14:creationId xmlns:p14="http://schemas.microsoft.com/office/powerpoint/2010/main" val="20946196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Neural Network Training</a:t>
            </a:r>
          </a:p>
          <a:p>
            <a:r>
              <a:rPr lang="en-US" dirty="0"/>
              <a:t>This chapter focuses on how a neural network learns from data. Instead of just computing predictions (forward propagation), we now allow the model to adjust its weights and biases so that its predictions become more accurate. Training means minimizing the error between predicted outputs and the true labels using an optimization algorithm such as gradient descent.</a:t>
            </a:r>
          </a:p>
          <a:p>
            <a:r>
              <a:rPr lang="en-US" dirty="0"/>
              <a:t>TensorFlow implementation</a:t>
            </a:r>
          </a:p>
          <a:p>
            <a:r>
              <a:rPr lang="en-US" dirty="0"/>
              <a:t>In this section, we move from theory to practice. We use TensorFlow to define the model, choose a loss function, select an optimizer, and train the network using </a:t>
            </a:r>
            <a:r>
              <a:rPr lang="en-US" dirty="0" err="1"/>
              <a:t>model.fit</a:t>
            </a:r>
            <a:r>
              <a:rPr lang="en-US" dirty="0"/>
              <a:t>. TensorFlow automatically computes gradients and updates the parameters, making the training process efficient and scalable.</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3</a:t>
            </a:fld>
            <a:endParaRPr lang="en-IL"/>
          </a:p>
        </p:txBody>
      </p:sp>
    </p:spTree>
    <p:extLst>
      <p:ext uri="{BB962C8B-B14F-4D97-AF65-F5344CB8AC3E}">
        <p14:creationId xmlns:p14="http://schemas.microsoft.com/office/powerpoint/2010/main" val="2121143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Train a Neural Network in TensorFlow</a:t>
            </a:r>
          </a:p>
          <a:p>
            <a:r>
              <a:rPr lang="en-US" dirty="0"/>
              <a:t>This slide shows how we move from defining a neural network to actually training it using TensorFlow.</a:t>
            </a:r>
          </a:p>
          <a:p>
            <a:r>
              <a:rPr lang="en-US" dirty="0"/>
              <a:t>First, we import TensorFlow and the needed tools such as Sequential and Dense. Sequential means the layers are connected in order, one after another. Dense means a fully connected layer where every neuron receives input from all neurons in the previous layer.</a:t>
            </a:r>
          </a:p>
          <a:p>
            <a:r>
              <a:rPr lang="en-US" dirty="0"/>
              <a:t>The model is defined as Sequential([ Dense(units=25, activation="sigmoid"), Dense(units=15, activation="sigmoid"), Dense(units=1, activation="sigmoid") ]).</a:t>
            </a:r>
            <a:br>
              <a:rPr lang="en-US" dirty="0"/>
            </a:br>
            <a:r>
              <a:rPr lang="en-US" dirty="0"/>
              <a:t>This creates a neural network with two hidden layers (25 units and 15 units) and one output layer (1 unit). The sigmoid activation is used to produce values between 0 and 1, which can represent probabilities.</a:t>
            </a:r>
          </a:p>
          <a:p>
            <a:r>
              <a:rPr lang="en-US" dirty="0"/>
              <a:t>Next, we import </a:t>
            </a:r>
            <a:r>
              <a:rPr lang="en-US" dirty="0" err="1"/>
              <a:t>BinaryCrossentropy</a:t>
            </a:r>
            <a:r>
              <a:rPr lang="en-US" dirty="0"/>
              <a:t>. This is the loss function used for binary classification problems. It measures how far the predicted output is from the true label.</a:t>
            </a:r>
          </a:p>
          <a:p>
            <a:r>
              <a:rPr lang="en-US" dirty="0"/>
              <a:t>Then we prepare the model using </a:t>
            </a:r>
            <a:r>
              <a:rPr lang="en-US" dirty="0" err="1"/>
              <a:t>model.compile</a:t>
            </a:r>
            <a:r>
              <a:rPr lang="en-US" dirty="0"/>
              <a:t>(loss=</a:t>
            </a:r>
            <a:r>
              <a:rPr lang="en-US" dirty="0" err="1"/>
              <a:t>BinaryCrossentropy</a:t>
            </a:r>
            <a:r>
              <a:rPr lang="en-US" dirty="0"/>
              <a:t>()).</a:t>
            </a:r>
            <a:br>
              <a:rPr lang="en-US" dirty="0"/>
            </a:br>
            <a:r>
              <a:rPr lang="en-US" dirty="0"/>
              <a:t>This step tells TensorFlow how to measure error during training.</a:t>
            </a:r>
          </a:p>
          <a:p>
            <a:r>
              <a:rPr lang="en-US" dirty="0"/>
              <a:t>Finally, we train the model using </a:t>
            </a:r>
            <a:r>
              <a:rPr lang="en-US" dirty="0" err="1"/>
              <a:t>model.fit</a:t>
            </a:r>
            <a:r>
              <a:rPr lang="en-US" dirty="0"/>
              <a:t>(X, Y, epochs=100).</a:t>
            </a:r>
            <a:br>
              <a:rPr lang="en-US" dirty="0"/>
            </a:br>
            <a:r>
              <a:rPr lang="en-US" dirty="0"/>
              <a:t>Here, X is the input data, Y is the correct labels, and epochs=100 means the training process will run 100 times over the entire dataset. In each epoch, gradient descent adjusts the weights to reduce the loss.</a:t>
            </a:r>
          </a:p>
          <a:p>
            <a:r>
              <a:rPr lang="en-US" dirty="0"/>
              <a:t>The key idea of this slide is that training a neural network in TensorFlow follows three main steps: define the model, compile it with a loss function, and train it using </a:t>
            </a:r>
            <a:r>
              <a:rPr lang="en-US" dirty="0" err="1"/>
              <a:t>model.fit</a:t>
            </a:r>
            <a:r>
              <a:rPr lang="en-US" dirty="0"/>
              <a:t>().</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4</a:t>
            </a:fld>
            <a:endParaRPr lang="en-IL"/>
          </a:p>
        </p:txBody>
      </p:sp>
    </p:spTree>
    <p:extLst>
      <p:ext uri="{BB962C8B-B14F-4D97-AF65-F5344CB8AC3E}">
        <p14:creationId xmlns:p14="http://schemas.microsoft.com/office/powerpoint/2010/main" val="532848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Training Details</a:t>
            </a:r>
          </a:p>
          <a:p>
            <a:r>
              <a:rPr lang="en-US" dirty="0"/>
              <a:t>In this section, we move from building a neural network to understanding how it actually learns. Training details explain what happens inside the learning process: how the model measures its mistakes, how it adjusts its weights, and how this process is repeated many times to improve performance.</a:t>
            </a:r>
          </a:p>
          <a:p>
            <a:r>
              <a:rPr lang="en-US" dirty="0"/>
              <a:t>Here we focus on important concepts such as the loss function, gradient descent, epochs, and how TensorFlow updates the parameters step by step. The goal of this section is to clearly understand what training really means and what is happening behind </a:t>
            </a:r>
            <a:r>
              <a:rPr lang="en-US" dirty="0" err="1"/>
              <a:t>model.fit</a:t>
            </a:r>
            <a:r>
              <a:rPr lang="en-US" dirty="0"/>
              <a:t>(x, y).</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5</a:t>
            </a:fld>
            <a:endParaRPr lang="en-IL"/>
          </a:p>
        </p:txBody>
      </p:sp>
    </p:spTree>
    <p:extLst>
      <p:ext uri="{BB962C8B-B14F-4D97-AF65-F5344CB8AC3E}">
        <p14:creationId xmlns:p14="http://schemas.microsoft.com/office/powerpoint/2010/main" val="39814653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Model Training Steps</a:t>
            </a:r>
          </a:p>
          <a:p>
            <a:r>
              <a:rPr lang="en-US" dirty="0"/>
              <a:t>This slide summarizes the three main steps needed to train any machine learning model, whether it is logistic regression or a neural network in TensorFlow.</a:t>
            </a:r>
          </a:p>
          <a:p>
            <a:r>
              <a:rPr lang="en-US" dirty="0"/>
              <a:t>Step 1: Define the model.</a:t>
            </a:r>
            <a:br>
              <a:rPr lang="en-US" dirty="0"/>
            </a:br>
            <a:r>
              <a:rPr lang="en-US" dirty="0"/>
              <a:t>First, we specify how the model computes its output from the input x and the parameters (weights and biases). In logistic regression, we compute z = w · x + b, then apply the sigmoid function to get the prediction </a:t>
            </a:r>
            <a:r>
              <a:rPr lang="en-US" dirty="0" err="1"/>
              <a:t>f_x</a:t>
            </a:r>
            <a:r>
              <a:rPr lang="en-US" dirty="0"/>
              <a:t>. In a neural network, we define layers using Sequential and Dense, which automatically perform these computations layer by layer.</a:t>
            </a:r>
          </a:p>
          <a:p>
            <a:r>
              <a:rPr lang="en-US" dirty="0"/>
              <a:t>Step 2: Define the loss (cost) function.</a:t>
            </a:r>
            <a:br>
              <a:rPr lang="en-US" dirty="0"/>
            </a:br>
            <a:r>
              <a:rPr lang="en-US" dirty="0"/>
              <a:t>Next, we measure how good or bad the predictions are. For binary classification, logistic regression uses logistic loss. In neural networks, we use </a:t>
            </a:r>
            <a:r>
              <a:rPr lang="en-US" dirty="0" err="1"/>
              <a:t>BinaryCrossentropy</a:t>
            </a:r>
            <a:r>
              <a:rPr lang="en-US" dirty="0"/>
              <a:t>. The loss tells us how far the predicted value is from the true label y. The cost function is the average loss over all training examples.</a:t>
            </a:r>
          </a:p>
          <a:p>
            <a:r>
              <a:rPr lang="en-US" dirty="0"/>
              <a:t>Step 3: Train the model (minimize the cost).</a:t>
            </a:r>
            <a:br>
              <a:rPr lang="en-US" dirty="0"/>
            </a:br>
            <a:r>
              <a:rPr lang="en-US" dirty="0"/>
              <a:t>Finally, we adjust the weights and biases to reduce the cost. In logistic regression, this is done using gradient descent with update rules like w = w − alpha * derivative. In TensorFlow, this process is handled automatically when we call </a:t>
            </a:r>
            <a:r>
              <a:rPr lang="en-US" dirty="0" err="1"/>
              <a:t>model.fit</a:t>
            </a:r>
            <a:r>
              <a:rPr lang="en-US" dirty="0"/>
              <a:t>(X, Y, epochs=...). TensorFlow computes gradients and updates parameters internally.</a:t>
            </a:r>
          </a:p>
          <a:p>
            <a:r>
              <a:rPr lang="en-US" dirty="0"/>
              <a:t>The key idea is that training always follows the same structure: define the model, define the loss, then optimize the parameters to minimize that loss.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6</a:t>
            </a:fld>
            <a:endParaRPr lang="en-IL"/>
          </a:p>
        </p:txBody>
      </p:sp>
    </p:spTree>
    <p:extLst>
      <p:ext uri="{BB962C8B-B14F-4D97-AF65-F5344CB8AC3E}">
        <p14:creationId xmlns:p14="http://schemas.microsoft.com/office/powerpoint/2010/main" val="19846957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Create the Model</a:t>
            </a:r>
          </a:p>
          <a:p>
            <a:r>
              <a:rPr lang="en-US" dirty="0"/>
              <a:t>This slide explains the first step in training a neural network: defining the model f(x). In simple words, we must tell the computer what the structure of the neural network looks like before we can train it.</a:t>
            </a:r>
          </a:p>
          <a:p>
            <a:r>
              <a:rPr lang="en-US" dirty="0"/>
              <a:t>On the left side, the diagram shows the architecture. The input x goes into the first hidden layer with 25 units. Each unit has its own weights and bias, written as w[1] and b[1]. The output of this layer becomes a[1]. Then a[1] goes into the second hidden layer with 15 units, which has its own parameters w[2] and b[2], producing a[2]. Finally, the output layer has 1 unit with parameters w[3] and b[3], and it produces a[3], which is the final prediction f(x).</a:t>
            </a:r>
          </a:p>
          <a:p>
            <a:r>
              <a:rPr lang="en-US" dirty="0"/>
              <a:t>On the right side, we implement this structure in TensorFlow. We first import TensorFlow and the needed classes. Then we define the model using:</a:t>
            </a:r>
          </a:p>
          <a:p>
            <a:r>
              <a:rPr lang="en-US" dirty="0"/>
              <a:t>model = Sequential([</a:t>
            </a:r>
            <a:br>
              <a:rPr lang="en-US" dirty="0"/>
            </a:br>
            <a:r>
              <a:rPr lang="en-US" dirty="0"/>
              <a:t>Dense(units=25, activation="sigmoid"),</a:t>
            </a:r>
            <a:br>
              <a:rPr lang="en-US" dirty="0"/>
            </a:br>
            <a:r>
              <a:rPr lang="en-US" dirty="0"/>
              <a:t>Dense(units=15, activation="sigmoid"),</a:t>
            </a:r>
            <a:br>
              <a:rPr lang="en-US" dirty="0"/>
            </a:br>
            <a:r>
              <a:rPr lang="en-US" dirty="0"/>
              <a:t>Dense(units=1, activation="sigmoid")</a:t>
            </a:r>
            <a:br>
              <a:rPr lang="en-US" dirty="0"/>
            </a:br>
            <a:r>
              <a:rPr lang="en-US" dirty="0"/>
              <a:t>])</a:t>
            </a:r>
          </a:p>
          <a:p>
            <a:r>
              <a:rPr lang="en-US" dirty="0"/>
              <a:t>This code builds the same architecture shown in the diagram. Each Dense layer automatically creates its own weights and biases. The data will flow through the layers in order, from input to output.</a:t>
            </a:r>
          </a:p>
          <a:p>
            <a:r>
              <a:rPr lang="en-US" dirty="0"/>
              <a:t>The key idea of this slide is that creating the model means defining the function f(x): specifying how the input moves through layers and how predictions are computed.</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7</a:t>
            </a:fld>
            <a:endParaRPr lang="en-IL"/>
          </a:p>
        </p:txBody>
      </p:sp>
    </p:spTree>
    <p:extLst>
      <p:ext uri="{BB962C8B-B14F-4D97-AF65-F5344CB8AC3E}">
        <p14:creationId xmlns:p14="http://schemas.microsoft.com/office/powerpoint/2010/main" val="2692266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explains how we measure the performance of a neural network during training.</a:t>
            </a:r>
          </a:p>
          <a:p>
            <a:r>
              <a:rPr lang="en-US" dirty="0"/>
              <a:t>In a binary classification problem, such as handwritten digit classification (for example, predicting 0 or 1), the model outputs a prediction f(x). We then compare this prediction with the true label y. The loss function for one example is L(f(x), y) = −y log(f(x)) − (1 − y) log(1 − f(x)). This is called logistic loss, also known as binary cross entropy. It measures how far the prediction is from the correct answer.</a:t>
            </a:r>
          </a:p>
          <a:p>
            <a:r>
              <a:rPr lang="en-US" dirty="0"/>
              <a:t>To evaluate the whole training set, we compute the cost function J(W, B), which is the average of the loss over all m training examples. So the cost tells us, on average, how well the model is performing.</a:t>
            </a:r>
          </a:p>
          <a:p>
            <a:r>
              <a:rPr lang="en-US" dirty="0"/>
              <a:t>In TensorFlow, we specify this using </a:t>
            </a:r>
            <a:r>
              <a:rPr lang="en-US" dirty="0" err="1"/>
              <a:t>model.compile</a:t>
            </a:r>
            <a:r>
              <a:rPr lang="en-US" dirty="0"/>
              <a:t>(loss=</a:t>
            </a:r>
            <a:r>
              <a:rPr lang="en-US" dirty="0" err="1"/>
              <a:t>BinaryCrossentropy</a:t>
            </a:r>
            <a:r>
              <a:rPr lang="en-US" dirty="0"/>
              <a:t>()). This tells the model to use binary cross entropy during training.</a:t>
            </a:r>
          </a:p>
          <a:p>
            <a:r>
              <a:rPr lang="en-US" dirty="0"/>
              <a:t>For regression problems, where we predict numbers instead of categories, we use a different loss called mean squared error, and in TensorFlow we write </a:t>
            </a:r>
            <a:r>
              <a:rPr lang="en-US" dirty="0" err="1"/>
              <a:t>model.compile</a:t>
            </a:r>
            <a:r>
              <a:rPr lang="en-US" dirty="0"/>
              <a:t>(loss=</a:t>
            </a:r>
            <a:r>
              <a:rPr lang="en-US" dirty="0" err="1"/>
              <a:t>MeanSquaredError</a:t>
            </a:r>
            <a:r>
              <a:rPr lang="en-US" dirty="0"/>
              <a:t>()).</a:t>
            </a:r>
          </a:p>
          <a:p>
            <a:r>
              <a:rPr lang="en-US" dirty="0"/>
              <a:t>The key idea is that the loss function measures error for one example, and the cost function is the average error over the entire dataset.</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8</a:t>
            </a:fld>
            <a:endParaRPr lang="en-IL"/>
          </a:p>
        </p:txBody>
      </p:sp>
    </p:spTree>
    <p:extLst>
      <p:ext uri="{BB962C8B-B14F-4D97-AF65-F5344CB8AC3E}">
        <p14:creationId xmlns:p14="http://schemas.microsoft.com/office/powerpoint/2010/main" val="25522657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Gradient Descent</a:t>
            </a:r>
          </a:p>
          <a:p>
            <a:r>
              <a:rPr lang="en-US" dirty="0"/>
              <a:t>This slide explains how the neural network actually learns. After we define the model and the loss function, we need a way to reduce the cost J(W, b). Gradient descent is the algorithm used to minimize this cost.</a:t>
            </a:r>
          </a:p>
          <a:p>
            <a:r>
              <a:rPr lang="en-US" dirty="0"/>
              <a:t>On the left, the graph shows the cost J(W) on the vertical axis and the parameters (all weights and biases) on the horizontal axis. The curve has a minimum point. Gradient descent starts from an initial value of W and b and takes small steps downhill until it reaches a minimum.</a:t>
            </a:r>
          </a:p>
          <a:p>
            <a:r>
              <a:rPr lang="en-US" dirty="0"/>
              <a:t>On the right, the update rules are shown. For every layer l, each weight w[l] and bias b[l] is updated as</a:t>
            </a:r>
            <a:br>
              <a:rPr lang="en-US" dirty="0"/>
            </a:br>
            <a:r>
              <a:rPr lang="en-US" dirty="0"/>
              <a:t>w[l] = w[l] − </a:t>
            </a:r>
            <a:r>
              <a:rPr lang="el-GR" dirty="0"/>
              <a:t>α * ∂</a:t>
            </a:r>
            <a:r>
              <a:rPr lang="en-US" dirty="0"/>
              <a:t>J/∂w[l]</a:t>
            </a:r>
            <a:br>
              <a:rPr lang="en-US" dirty="0"/>
            </a:br>
            <a:r>
              <a:rPr lang="en-US" dirty="0"/>
              <a:t>b[l] = b[l] − </a:t>
            </a:r>
            <a:r>
              <a:rPr lang="el-GR" dirty="0"/>
              <a:t>α * ∂</a:t>
            </a:r>
            <a:r>
              <a:rPr lang="en-US" dirty="0"/>
              <a:t>J/∂b[l]</a:t>
            </a:r>
          </a:p>
          <a:p>
            <a:r>
              <a:rPr lang="en-US" dirty="0"/>
              <a:t>Here, </a:t>
            </a:r>
            <a:r>
              <a:rPr lang="el-GR" dirty="0"/>
              <a:t>α </a:t>
            </a:r>
            <a:r>
              <a:rPr lang="en-US" dirty="0"/>
              <a:t>is the learning rate. It controls how big each step is. The partial derivatives tell us the direction in which the cost increases. We subtract them to move in the direction that decreases the cost.</a:t>
            </a:r>
          </a:p>
          <a:p>
            <a:r>
              <a:rPr lang="en-US" dirty="0"/>
              <a:t>The derivatives are computed using backpropagation. In TensorFlow, this whole process happens automatically when we call </a:t>
            </a:r>
            <a:r>
              <a:rPr lang="en-US" dirty="0" err="1"/>
              <a:t>model.fit</a:t>
            </a:r>
            <a:r>
              <a:rPr lang="en-US" dirty="0"/>
              <a:t>(X, Y, epochs=100). The model repeatedly updates its weights over many epochs until the cost becomes small.</a:t>
            </a:r>
          </a:p>
          <a:p>
            <a:r>
              <a:rPr lang="en-US" dirty="0"/>
              <a:t>Key idea: Gradient descent adjusts all weights and biases step by step to minimize the cost function and improve predictions.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9</a:t>
            </a:fld>
            <a:endParaRPr lang="en-IL"/>
          </a:p>
        </p:txBody>
      </p:sp>
    </p:spTree>
    <p:extLst>
      <p:ext uri="{BB962C8B-B14F-4D97-AF65-F5344CB8AC3E}">
        <p14:creationId xmlns:p14="http://schemas.microsoft.com/office/powerpoint/2010/main" val="2809703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explains that in real-world machine learning, we usually do not build neural networks completely from scratch. Instead, we use powerful libraries such as TensorFlow and PyTorch. These libraries already provide ready-made tools for building layers, defining loss functions, computing gradients, and performing optimization.</a:t>
            </a:r>
          </a:p>
          <a:p>
            <a:r>
              <a:rPr lang="en-US" dirty="0"/>
              <a:t>Using these libraries saves time and reduces errors, especially for large and complex models. However, it is still very important to understand how neural networks work internally. Knowing the underlying mathematics and training process helps us tune hyperparameters, debug problems, and improve model performance.</a:t>
            </a:r>
          </a:p>
          <a:p>
            <a:r>
              <a:rPr lang="en-US" dirty="0"/>
              <a:t>The key idea is that libraries make implementation easier, but strong conceptual understanding makes you a better machine learning engineer.</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10</a:t>
            </a:fld>
            <a:endParaRPr lang="en-IL"/>
          </a:p>
        </p:txBody>
      </p:sp>
    </p:spTree>
    <p:extLst>
      <p:ext uri="{BB962C8B-B14F-4D97-AF65-F5344CB8AC3E}">
        <p14:creationId xmlns:p14="http://schemas.microsoft.com/office/powerpoint/2010/main" val="41527604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Activation Functions is a new section that focuses on how neurons decide their output values. Up to now, we mainly used the sigmoid function, but it is not the only choice.</a:t>
            </a:r>
          </a:p>
          <a:p>
            <a:r>
              <a:rPr lang="en-US" dirty="0"/>
              <a:t>Alternatives to the sigmoid activation means we will study other activation functions that can replace sigmoid in hidden layers. Different activation functions affect how the network learns, how fast it trains, and how well it performs. In this section, we explore why sigmoid is sometimes not ideal and introduce better options such as </a:t>
            </a:r>
            <a:r>
              <a:rPr lang="en-US" dirty="0" err="1"/>
              <a:t>ReLU</a:t>
            </a:r>
            <a:r>
              <a:rPr lang="en-US" dirty="0"/>
              <a:t> and others that improve training in deeper neural networks.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11</a:t>
            </a:fld>
            <a:endParaRPr lang="en-IL"/>
          </a:p>
        </p:txBody>
      </p:sp>
    </p:spTree>
    <p:extLst>
      <p:ext uri="{BB962C8B-B14F-4D97-AF65-F5344CB8AC3E}">
        <p14:creationId xmlns:p14="http://schemas.microsoft.com/office/powerpoint/2010/main" val="31696057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Activation Functions – Alternatives to Sigmoid (Demand Prediction Example)</a:t>
            </a:r>
          </a:p>
          <a:p>
            <a:r>
              <a:rPr lang="en-US" dirty="0"/>
              <a:t>This slide compares two activation functions: Sigmoid and </a:t>
            </a:r>
            <a:r>
              <a:rPr lang="en-US" dirty="0" err="1"/>
              <a:t>ReLU</a:t>
            </a:r>
            <a:r>
              <a:rPr lang="en-US" dirty="0"/>
              <a:t>, using the demand prediction example.</a:t>
            </a:r>
          </a:p>
          <a:p>
            <a:r>
              <a:rPr lang="en-US" dirty="0"/>
              <a:t>In the neural network, each neuron first computes a linear value z using the equation z = w dot x + b. Then we apply an activation function g(z) to produce the final output a. The activation function introduces non-linearity, which allows the network to learn complex patterns.</a:t>
            </a:r>
          </a:p>
          <a:p>
            <a:r>
              <a:rPr lang="en-US" dirty="0"/>
              <a:t>The Sigmoid function is defined as g(z) = 1 / (1 + e^(−z)). Its output is always between 0 and 1. This makes it very useful in the output layer for binary classification problems, such as predicting whether a product will be a top seller or not. However, sigmoid can become very flat for large positive or negative values of z, which may slow down learning.</a:t>
            </a:r>
          </a:p>
          <a:p>
            <a:r>
              <a:rPr lang="en-US" dirty="0" err="1"/>
              <a:t>ReLU</a:t>
            </a:r>
            <a:r>
              <a:rPr lang="en-US" dirty="0"/>
              <a:t> (Rectified Linear Unit) is defined as g(z) = max(0, z). If z is negative, the output is 0. If z is positive, the output equals z. </a:t>
            </a:r>
            <a:r>
              <a:rPr lang="en-US" dirty="0" err="1"/>
              <a:t>ReLU</a:t>
            </a:r>
            <a:r>
              <a:rPr lang="en-US" dirty="0"/>
              <a:t> is simple and computationally efficient. It helps training deeper networks because it reduces the vanishing gradient problem and allows faster learning.</a:t>
            </a:r>
          </a:p>
          <a:p>
            <a:r>
              <a:rPr lang="en-US" dirty="0"/>
              <a:t>In practice, sigmoid is often used in the output layer for binary classification, while </a:t>
            </a:r>
            <a:r>
              <a:rPr lang="en-US" dirty="0" err="1"/>
              <a:t>ReLU</a:t>
            </a:r>
            <a:r>
              <a:rPr lang="en-US" dirty="0"/>
              <a:t> is commonly used in hidden layers to improve training performance.</a:t>
            </a:r>
          </a:p>
          <a:p>
            <a:r>
              <a:rPr lang="en-US" dirty="0"/>
              <a:t>Key idea: Activation functions transform the linear combination z into a meaningful output, and choosing the right activation function affects how well and how fast the network learns.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12</a:t>
            </a:fld>
            <a:endParaRPr lang="en-IL"/>
          </a:p>
        </p:txBody>
      </p:sp>
    </p:spTree>
    <p:extLst>
      <p:ext uri="{BB962C8B-B14F-4D97-AF65-F5344CB8AC3E}">
        <p14:creationId xmlns:p14="http://schemas.microsoft.com/office/powerpoint/2010/main" val="35653326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Examples of Activation Functions</a:t>
            </a:r>
          </a:p>
          <a:p>
            <a:r>
              <a:rPr lang="en-US" dirty="0"/>
              <a:t>This slide compares three common activation functions used in neural networks: linear, sigmoid, and </a:t>
            </a:r>
            <a:r>
              <a:rPr lang="en-US" dirty="0" err="1"/>
              <a:t>ReLU</a:t>
            </a:r>
            <a:r>
              <a:rPr lang="en-US" dirty="0"/>
              <a:t>. Each activation function takes the value z, which is computed as w · x + b, and transforms it into an output a = g(z).</a:t>
            </a:r>
          </a:p>
          <a:p>
            <a:r>
              <a:rPr lang="en-US" dirty="0"/>
              <a:t>The linear activation function simply returns g(z) = z. This means the output is exactly the same as the input. If we use only linear activations in all layers, the entire network behaves like a linear model, even if it has many layers. Because of this, linear activation is usually not used in hidden layers.</a:t>
            </a:r>
          </a:p>
          <a:p>
            <a:r>
              <a:rPr lang="en-US" dirty="0"/>
              <a:t>The sigmoid activation function is defined as g(z) = 1 / (1 + e^(−z)). Its output is always between 0 and 1. This makes it very useful for binary classification problems, especially in the output layer, where we want to interpret the result as a probability.</a:t>
            </a:r>
          </a:p>
          <a:p>
            <a:r>
              <a:rPr lang="en-US" dirty="0"/>
              <a:t>The </a:t>
            </a:r>
            <a:r>
              <a:rPr lang="en-US" dirty="0" err="1"/>
              <a:t>ReLU</a:t>
            </a:r>
            <a:r>
              <a:rPr lang="en-US" dirty="0"/>
              <a:t> activation function is defined as g(z) = max(0, z). If z is negative, the output is 0. If z is positive, the output equals z. </a:t>
            </a:r>
            <a:r>
              <a:rPr lang="en-US" dirty="0" err="1"/>
              <a:t>ReLU</a:t>
            </a:r>
            <a:r>
              <a:rPr lang="en-US" dirty="0"/>
              <a:t> is widely used in hidden layers because it is simple, efficient, and helps deep networks train faster.</a:t>
            </a:r>
          </a:p>
          <a:p>
            <a:r>
              <a:rPr lang="en-US" dirty="0"/>
              <a:t>The key idea is that the activation function introduces non-linearity into the network. Without it, the neural network cannot learn complex patterns.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13</a:t>
            </a:fld>
            <a:endParaRPr lang="en-IL"/>
          </a:p>
        </p:txBody>
      </p:sp>
    </p:spTree>
    <p:extLst>
      <p:ext uri="{BB962C8B-B14F-4D97-AF65-F5344CB8AC3E}">
        <p14:creationId xmlns:p14="http://schemas.microsoft.com/office/powerpoint/2010/main" val="32795136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Choosing activation functions is an important design decision when building a neural network. Different activation functions change how neurons behave and what kind of patterns the network can learn.</a:t>
            </a:r>
          </a:p>
          <a:p>
            <a:r>
              <a:rPr lang="en-US" dirty="0"/>
              <a:t>In hidden layers, </a:t>
            </a:r>
            <a:r>
              <a:rPr lang="en-US" dirty="0" err="1"/>
              <a:t>ReLU</a:t>
            </a:r>
            <a:r>
              <a:rPr lang="en-US" dirty="0"/>
              <a:t> is usually a good default choice because it is simple, fast to compute, and works well for deep networks. It helps reduce the vanishing gradient problem and allows the network to learn complex patterns more easily.</a:t>
            </a:r>
          </a:p>
          <a:p>
            <a:r>
              <a:rPr lang="en-US" dirty="0"/>
              <a:t>Sigmoid is often used in the output layer for binary classification problems because its output is between 0 and 1, which can be interpreted as a probability. However, sigmoid is usually not preferred in deep hidden layers because it can slow down learning.</a:t>
            </a:r>
          </a:p>
          <a:p>
            <a:r>
              <a:rPr lang="en-US" dirty="0"/>
              <a:t>For regression problems (predicting numbers), a linear activation is commonly used in the output layer. For multi-class classification, </a:t>
            </a:r>
            <a:r>
              <a:rPr lang="en-US" dirty="0" err="1"/>
              <a:t>softmax</a:t>
            </a:r>
            <a:r>
              <a:rPr lang="en-US" dirty="0"/>
              <a:t> is typically used in the output layer to produce probabilities across multiple classes.</a:t>
            </a:r>
          </a:p>
          <a:p>
            <a:r>
              <a:rPr lang="en-US" dirty="0"/>
              <a:t>The key idea is: use </a:t>
            </a:r>
            <a:r>
              <a:rPr lang="en-US" dirty="0" err="1"/>
              <a:t>ReLU</a:t>
            </a:r>
            <a:r>
              <a:rPr lang="en-US" dirty="0"/>
              <a:t> in hidden layers in most cases, choose sigmoid or </a:t>
            </a:r>
            <a:r>
              <a:rPr lang="en-US" dirty="0" err="1"/>
              <a:t>softmax</a:t>
            </a:r>
            <a:r>
              <a:rPr lang="en-US" dirty="0"/>
              <a:t> in the output layer for classification, and use linear activation for regression.</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14</a:t>
            </a:fld>
            <a:endParaRPr lang="en-IL"/>
          </a:p>
        </p:txBody>
      </p:sp>
    </p:spTree>
    <p:extLst>
      <p:ext uri="{BB962C8B-B14F-4D97-AF65-F5344CB8AC3E}">
        <p14:creationId xmlns:p14="http://schemas.microsoft.com/office/powerpoint/2010/main" val="4232792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Output Layer (Choosing the Activation Function)</a:t>
            </a:r>
          </a:p>
          <a:p>
            <a:r>
              <a:rPr lang="en-US" dirty="0"/>
              <a:t>This slide explains how to choose the activation function for the output layer based on the type of problem. The output layer produces the final prediction of the network, written as a[L] = g(z[L]). The function g(z) depends on whether we are solving classification or regression.</a:t>
            </a:r>
          </a:p>
          <a:p>
            <a:r>
              <a:rPr lang="en-US" dirty="0"/>
              <a:t>For binary classification (for example y = 0 or 1), we use the sigmoid activation function. Sigmoid outputs values between 0 and 1, so it can be interpreted as a probability. If the output is close to 1, the model predicts class 1; if it is close to 0, it predicts class 0.</a:t>
            </a:r>
          </a:p>
          <a:p>
            <a:r>
              <a:rPr lang="en-US" dirty="0"/>
              <a:t>For regression problems where the target can be any real number (positive or negative), we usually use a linear activation function, meaning g(z) = z. This allows the network to produce unrestricted values, such as -1.2, 3.5, or 10.7.</a:t>
            </a:r>
          </a:p>
          <a:p>
            <a:r>
              <a:rPr lang="en-US" dirty="0"/>
              <a:t>In some regression cases where the target must be non-negative (for example prices or counts), </a:t>
            </a:r>
            <a:r>
              <a:rPr lang="en-US" dirty="0" err="1"/>
              <a:t>ReLU</a:t>
            </a:r>
            <a:r>
              <a:rPr lang="en-US" dirty="0"/>
              <a:t> can be used in the output layer. </a:t>
            </a:r>
            <a:r>
              <a:rPr lang="en-US" dirty="0" err="1"/>
              <a:t>ReLU</a:t>
            </a:r>
            <a:r>
              <a:rPr lang="en-US" dirty="0"/>
              <a:t> outputs 0 when z is negative and z when z is positive, so predictions are always greater than or equal to zero.</a:t>
            </a:r>
          </a:p>
          <a:p>
            <a:r>
              <a:rPr lang="en-US" dirty="0"/>
              <a:t>The key idea is that the output layer activation must match the type of prediction we want: sigmoid for binary classification, linear for general regression, and sometimes </a:t>
            </a:r>
            <a:r>
              <a:rPr lang="en-US" dirty="0" err="1"/>
              <a:t>ReLU</a:t>
            </a:r>
            <a:r>
              <a:rPr lang="en-US" dirty="0"/>
              <a:t> when outputs must be non-negative.</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15</a:t>
            </a:fld>
            <a:endParaRPr lang="en-IL"/>
          </a:p>
        </p:txBody>
      </p:sp>
    </p:spTree>
    <p:extLst>
      <p:ext uri="{BB962C8B-B14F-4D97-AF65-F5344CB8AC3E}">
        <p14:creationId xmlns:p14="http://schemas.microsoft.com/office/powerpoint/2010/main" val="26758668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Hidden Layer – Choosing the Activation Function</a:t>
            </a:r>
          </a:p>
          <a:p>
            <a:r>
              <a:rPr lang="en-US" dirty="0"/>
              <a:t>This slide explains how to choose the activation function for hidden layers in a neural network.</a:t>
            </a:r>
          </a:p>
          <a:p>
            <a:r>
              <a:rPr lang="en-US" dirty="0"/>
              <a:t>In the past, sigmoid was commonly used in hidden layers. However, sigmoid has a problem: when the input z is very large or very small, the function becomes flat. When it is flat, the gradient (derivative) becomes very small, meaning the weights update very slowly. This is called the vanishing gradient problem, and it makes training slower.</a:t>
            </a:r>
          </a:p>
          <a:p>
            <a:r>
              <a:rPr lang="en-US" dirty="0" err="1"/>
              <a:t>ReLU</a:t>
            </a:r>
            <a:r>
              <a:rPr lang="en-US" dirty="0"/>
              <a:t>, defined as g(z) = max(0, z), is now the most common choice for hidden layers. </a:t>
            </a:r>
            <a:r>
              <a:rPr lang="en-US" dirty="0" err="1"/>
              <a:t>ReLU</a:t>
            </a:r>
            <a:r>
              <a:rPr lang="en-US" dirty="0"/>
              <a:t> does not saturate for positive values, so the gradient does not become very small in most cases. This allows faster learning and more efficient training.</a:t>
            </a:r>
          </a:p>
          <a:p>
            <a:r>
              <a:rPr lang="en-US" dirty="0"/>
              <a:t>Key idea: For hidden layers, </a:t>
            </a:r>
            <a:r>
              <a:rPr lang="en-US" dirty="0" err="1"/>
              <a:t>ReLU</a:t>
            </a:r>
            <a:r>
              <a:rPr lang="en-US" dirty="0"/>
              <a:t> is usually preferred because it trains faster and avoids the flat regions that slow down learning in sigmoid.</a:t>
            </a:r>
          </a:p>
          <a:p>
            <a:pPr marL="0" algn="r" defTabSz="914400" rtl="1" eaLnBrk="1" latinLnBrk="0" hangingPunct="1"/>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16</a:t>
            </a:fld>
            <a:endParaRPr lang="en-IL"/>
          </a:p>
        </p:txBody>
      </p:sp>
    </p:spTree>
    <p:extLst>
      <p:ext uri="{BB962C8B-B14F-4D97-AF65-F5344CB8AC3E}">
        <p14:creationId xmlns:p14="http://schemas.microsoft.com/office/powerpoint/2010/main" val="38166344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Choosing Activation Summary</a:t>
            </a:r>
          </a:p>
          <a:p>
            <a:r>
              <a:rPr lang="en-US" dirty="0"/>
              <a:t>This slide summarizes how to choose activation functions in a neural network.</a:t>
            </a:r>
          </a:p>
          <a:p>
            <a:r>
              <a:rPr lang="en-US" dirty="0"/>
              <a:t>For hidden layers, the most common choice today is </a:t>
            </a:r>
            <a:r>
              <a:rPr lang="en-US" dirty="0" err="1"/>
              <a:t>ReLU</a:t>
            </a:r>
            <a:r>
              <a:rPr lang="en-US" dirty="0"/>
              <a:t>. </a:t>
            </a:r>
            <a:r>
              <a:rPr lang="en-US" dirty="0" err="1"/>
              <a:t>ReLU</a:t>
            </a:r>
            <a:r>
              <a:rPr lang="en-US" dirty="0"/>
              <a:t> is simple, fast, and helps the network learn faster because it does not become flat for positive values. In code, this means using activation="</a:t>
            </a:r>
            <a:r>
              <a:rPr lang="en-US" dirty="0" err="1"/>
              <a:t>relu</a:t>
            </a:r>
            <a:r>
              <a:rPr lang="en-US" dirty="0"/>
              <a:t>" in the Dense layers of the hidden part of the network.</a:t>
            </a:r>
          </a:p>
          <a:p>
            <a:r>
              <a:rPr lang="en-US" dirty="0"/>
              <a:t>For the output layer, the activation depends on the type of problem. In binary classification, where the output is 0 or 1, we usually use activation="sigmoid" because it gives a value between 0 and 1 that can be interpreted as a probability.</a:t>
            </a:r>
          </a:p>
          <a:p>
            <a:r>
              <a:rPr lang="en-US" dirty="0"/>
              <a:t>In regression problems, if the output can be any real number (positive or negative), we typically use activation="linear" (or no activation). If the output must be non-negative, we may use activation="</a:t>
            </a:r>
            <a:r>
              <a:rPr lang="en-US" dirty="0" err="1"/>
              <a:t>relu</a:t>
            </a:r>
            <a:r>
              <a:rPr lang="en-US" dirty="0"/>
              <a:t>" in the output layer.</a:t>
            </a:r>
          </a:p>
          <a:p>
            <a:r>
              <a:rPr lang="en-US" dirty="0"/>
              <a:t>The key idea is simple: use </a:t>
            </a:r>
            <a:r>
              <a:rPr lang="en-US" dirty="0" err="1"/>
              <a:t>ReLU</a:t>
            </a:r>
            <a:r>
              <a:rPr lang="en-US" dirty="0"/>
              <a:t> for hidden layers in most cases, and choose the output activation based on the type of prediction you want to make.</a:t>
            </a:r>
          </a:p>
          <a:p>
            <a:pPr marL="0" algn="r" defTabSz="914400" rtl="1" eaLnBrk="1" latinLnBrk="0" hangingPunct="1"/>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17</a:t>
            </a:fld>
            <a:endParaRPr lang="en-IL"/>
          </a:p>
        </p:txBody>
      </p:sp>
    </p:spTree>
    <p:extLst>
      <p:ext uri="{BB962C8B-B14F-4D97-AF65-F5344CB8AC3E}">
        <p14:creationId xmlns:p14="http://schemas.microsoft.com/office/powerpoint/2010/main" val="32408058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Other Activation Functions</a:t>
            </a:r>
          </a:p>
          <a:p>
            <a:r>
              <a:rPr lang="en-US" dirty="0"/>
              <a:t>In addition to sigmoid and </a:t>
            </a:r>
            <a:r>
              <a:rPr lang="en-US" dirty="0" err="1"/>
              <a:t>ReLU</a:t>
            </a:r>
            <a:r>
              <a:rPr lang="en-US" dirty="0"/>
              <a:t>, there are several other activation functions that can be used in neural networks. Each one has different properties and may work better depending on the problem.</a:t>
            </a:r>
          </a:p>
          <a:p>
            <a:r>
              <a:rPr lang="en-US" dirty="0"/>
              <a:t>Tanh is similar to sigmoid but its output ranges from -1 to 1 instead of 0 to 1. Because it is centered around zero, it can sometimes help the model learn faster than sigmoid.</a:t>
            </a:r>
          </a:p>
          <a:p>
            <a:r>
              <a:rPr lang="en-US" dirty="0"/>
              <a:t>Leaky </a:t>
            </a:r>
            <a:r>
              <a:rPr lang="en-US" dirty="0" err="1"/>
              <a:t>ReLU</a:t>
            </a:r>
            <a:r>
              <a:rPr lang="en-US" dirty="0"/>
              <a:t> is a small modification of </a:t>
            </a:r>
            <a:r>
              <a:rPr lang="en-US" dirty="0" err="1"/>
              <a:t>ReLU</a:t>
            </a:r>
            <a:r>
              <a:rPr lang="en-US" dirty="0"/>
              <a:t>. Instead of giving 0 when z is negative, it gives a small negative value. This helps avoid neurons that completely stop learning.</a:t>
            </a:r>
          </a:p>
          <a:p>
            <a:r>
              <a:rPr lang="en-US" dirty="0"/>
              <a:t>ELU is another improvement over </a:t>
            </a:r>
            <a:r>
              <a:rPr lang="en-US" dirty="0" err="1"/>
              <a:t>ReLU</a:t>
            </a:r>
            <a:r>
              <a:rPr lang="en-US" dirty="0"/>
              <a:t>. It keeps positive values linear, but makes negative values smooth instead of flat. This can improve training stability.</a:t>
            </a:r>
          </a:p>
          <a:p>
            <a:r>
              <a:rPr lang="en-US" dirty="0" err="1"/>
              <a:t>Softmax</a:t>
            </a:r>
            <a:r>
              <a:rPr lang="en-US" dirty="0"/>
              <a:t> is mainly used in the output layer for multi-class classification problems. It converts outputs into probabilities that add up to 1, which makes it easy to choose the predicted class.</a:t>
            </a:r>
          </a:p>
          <a:p>
            <a:r>
              <a:rPr lang="en-US" dirty="0"/>
              <a:t>Swish is a newer activation function defined as z times sigmoid(z). It is smooth and sometimes performs better than </a:t>
            </a:r>
            <a:r>
              <a:rPr lang="en-US" dirty="0" err="1"/>
              <a:t>ReLU</a:t>
            </a:r>
            <a:r>
              <a:rPr lang="en-US" dirty="0"/>
              <a:t> in deep networks.</a:t>
            </a:r>
          </a:p>
          <a:p>
            <a:r>
              <a:rPr lang="en-US" dirty="0"/>
              <a:t>The key idea is that there is no single best activation function for all cases. The choice depends on the task, the network depth, and experimental results.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18</a:t>
            </a:fld>
            <a:endParaRPr lang="en-IL"/>
          </a:p>
        </p:txBody>
      </p:sp>
    </p:spTree>
    <p:extLst>
      <p:ext uri="{BB962C8B-B14F-4D97-AF65-F5344CB8AC3E}">
        <p14:creationId xmlns:p14="http://schemas.microsoft.com/office/powerpoint/2010/main" val="42938717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Activation functions are essential in neural networks because they introduce non-linearity into the model. Without an activation function, each layer would only perform a linear transformation of the input, meaning that even a deep network with many layers would behave like a single linear model. This would severely limit what the network can learn.</a:t>
            </a:r>
          </a:p>
          <a:p>
            <a:r>
              <a:rPr lang="en-US" dirty="0"/>
              <a:t>Real-world problems, such as image recognition, speech processing, and demand prediction, are not linear. The relationship between inputs and outputs is usually complex. Activation functions allow the network to learn these complex patterns by transforming the weighted sum z = </a:t>
            </a:r>
            <a:r>
              <a:rPr lang="en-US" dirty="0" err="1"/>
              <a:t>w·x</a:t>
            </a:r>
            <a:r>
              <a:rPr lang="en-US" dirty="0"/>
              <a:t> + b into a non-linear output a = g(z).</a:t>
            </a:r>
          </a:p>
          <a:p>
            <a:r>
              <a:rPr lang="en-US" dirty="0"/>
              <a:t>Activation functions also help control the range of outputs. For example, sigmoid keeps outputs between 0 and 1, which is useful for probabilities in binary classification. </a:t>
            </a:r>
            <a:r>
              <a:rPr lang="en-US" dirty="0" err="1"/>
              <a:t>ReLU</a:t>
            </a:r>
            <a:r>
              <a:rPr lang="en-US" dirty="0"/>
              <a:t> sets negative values to zero and keeps positive values unchanged, which often helps training move faster and reduces some learning problems.</a:t>
            </a:r>
          </a:p>
          <a:p>
            <a:r>
              <a:rPr lang="en-US" dirty="0"/>
              <a:t>In short, activation functions make neural networks powerful. They allow deep models to learn complex relationships instead of behaving like simple linear regression.</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19</a:t>
            </a:fld>
            <a:endParaRPr lang="en-IL"/>
          </a:p>
        </p:txBody>
      </p:sp>
    </p:spTree>
    <p:extLst>
      <p:ext uri="{BB962C8B-B14F-4D97-AF65-F5344CB8AC3E}">
        <p14:creationId xmlns:p14="http://schemas.microsoft.com/office/powerpoint/2010/main" val="20729009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Why do we need activation functions?</a:t>
            </a:r>
          </a:p>
          <a:p>
            <a:r>
              <a:rPr lang="en-US" dirty="0"/>
              <a:t>This slide explains a very important idea. If all activation functions in a neural network are linear, then the whole network becomes linear. Even if we stack many layers, the final result will still be just a linear function of the input, like f(x) = w · x + b. That means the model is no more powerful than simple linear regression.</a:t>
            </a:r>
          </a:p>
          <a:p>
            <a:r>
              <a:rPr lang="en-US" dirty="0"/>
              <a:t>On the left side, we see several neurons computing features such as affordability, awareness, and perceived quality. If each neuron only applies a linear function g(z) = z, then combining many layers does not increase the model’s power. The network cannot learn complex patterns such as non-linear decision boundaries.</a:t>
            </a:r>
          </a:p>
          <a:p>
            <a:r>
              <a:rPr lang="en-US" dirty="0"/>
              <a:t>Activation functions introduce nonlinearity into the model. This nonlinearity allows the network to learn complex relationships between inputs and outputs. For example, it can learn curved boundaries, interactions between features, and hidden patterns in the data.</a:t>
            </a:r>
          </a:p>
          <a:p>
            <a:r>
              <a:rPr lang="en-US" dirty="0"/>
              <a:t>Key idea: Without activation functions, deep neural networks collapse into a single linear model. Activation functions are what make neural networks truly powerful and capable of learning complex real-world problems.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20</a:t>
            </a:fld>
            <a:endParaRPr lang="en-IL"/>
          </a:p>
        </p:txBody>
      </p:sp>
    </p:spTree>
    <p:extLst>
      <p:ext uri="{BB962C8B-B14F-4D97-AF65-F5344CB8AC3E}">
        <p14:creationId xmlns:p14="http://schemas.microsoft.com/office/powerpoint/2010/main" val="22223200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Linear Example</a:t>
            </a:r>
          </a:p>
          <a:p>
            <a:r>
              <a:rPr lang="en-US" dirty="0"/>
              <a:t>This slide shows what happens if we use only linear activation functions, where g(z) = z, in all layers of a neural network.</a:t>
            </a:r>
          </a:p>
          <a:p>
            <a:r>
              <a:rPr lang="en-US" dirty="0"/>
              <a:t>We start with one input feature x, so x is just a number (a scalar). In the first layer, we compute a[1] = w[1]x + b[1]. Since x is a scalar and w[1] is also a scalar, the output a[1] is still a scalar.</a:t>
            </a:r>
          </a:p>
          <a:p>
            <a:r>
              <a:rPr lang="en-US" dirty="0"/>
              <a:t>In the second layer, we compute a[2] = w[2]a[1] + b[2]. If we substitute a[1] into this equation, we get a[2] = w[2](w[1]x + b[1]) + b[2]. When we expand this, it becomes a[2] = (w[2]w[1])x + (w[2]b[1] + b[2]).</a:t>
            </a:r>
          </a:p>
          <a:p>
            <a:r>
              <a:rPr lang="en-US" dirty="0"/>
              <a:t>So even though we used two layers, the final result is still of the form w x + b. This is exactly a linear function, the same as linear regression.</a:t>
            </a:r>
          </a:p>
          <a:p>
            <a:r>
              <a:rPr lang="en-US" dirty="0"/>
              <a:t>The key idea is that stacking multiple layers with linear activation functions does not make the model more powerful. It is still just one linear model. That is why we need non-linear activation functions in hidden layers, so the network can learn more complex patterns.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21</a:t>
            </a:fld>
            <a:endParaRPr lang="en-IL"/>
          </a:p>
        </p:txBody>
      </p:sp>
    </p:spTree>
    <p:extLst>
      <p:ext uri="{BB962C8B-B14F-4D97-AF65-F5344CB8AC3E}">
        <p14:creationId xmlns:p14="http://schemas.microsoft.com/office/powerpoint/2010/main" val="17999587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gives a clear example of why we should not use linear activation functions in hidden layers.</a:t>
            </a:r>
          </a:p>
          <a:p>
            <a:r>
              <a:rPr lang="en-US" dirty="0"/>
              <a:t>Here, all hidden layers use g(z) = z, which means they are linear. When we write the equations step by step, we see that each layer computes a linear function of the previous layer. But a linear function of a linear function is still linear. So even if we stack many layers, the final result is still of the form f(x) = </a:t>
            </a:r>
            <a:r>
              <a:rPr lang="en-US" dirty="0" err="1"/>
              <a:t>wx</a:t>
            </a:r>
            <a:r>
              <a:rPr lang="en-US" dirty="0"/>
              <a:t> + b.</a:t>
            </a:r>
          </a:p>
          <a:p>
            <a:r>
              <a:rPr lang="en-US" dirty="0"/>
              <a:t>This means the whole deep network becomes equivalent to simple linear regression. The extra layers do not add any extra power. The network cannot learn complex patterns because everything stays linear.</a:t>
            </a:r>
          </a:p>
          <a:p>
            <a:r>
              <a:rPr lang="en-US" dirty="0"/>
              <a:t>On the right side, the output layer uses sigmoid. If only the output is sigmoid and all hidden layers are linear, then the model becomes equivalent to logistic regression. Again, it is not really a deep nonlinear model.</a:t>
            </a:r>
          </a:p>
          <a:p>
            <a:r>
              <a:rPr lang="en-US" dirty="0"/>
              <a:t>The key idea is that nonlinearity must appear in the hidden layers. That is why we use activation functions like </a:t>
            </a:r>
            <a:r>
              <a:rPr lang="en-US" dirty="0" err="1"/>
              <a:t>ReLU</a:t>
            </a:r>
            <a:r>
              <a:rPr lang="en-US" dirty="0"/>
              <a:t> in hidden layers. </a:t>
            </a:r>
            <a:r>
              <a:rPr lang="en-US" dirty="0" err="1"/>
              <a:t>ReLU</a:t>
            </a:r>
            <a:r>
              <a:rPr lang="en-US" dirty="0"/>
              <a:t> introduces nonlinearity, which allows the network to learn complex relationships and patterns in the data.</a:t>
            </a:r>
          </a:p>
          <a:p>
            <a:r>
              <a:rPr lang="en-US" dirty="0"/>
              <a:t>Important takeaway: If hidden layers are linear, depth does not help. To make deep learning powerful, we must use nonlinear activation functions in hidden layers.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22</a:t>
            </a:fld>
            <a:endParaRPr lang="en-IL"/>
          </a:p>
        </p:txBody>
      </p:sp>
    </p:spTree>
    <p:extLst>
      <p:ext uri="{BB962C8B-B14F-4D97-AF65-F5344CB8AC3E}">
        <p14:creationId xmlns:p14="http://schemas.microsoft.com/office/powerpoint/2010/main" val="35231877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Multiclass Classification</a:t>
            </a:r>
          </a:p>
          <a:p>
            <a:r>
              <a:rPr lang="en-US" dirty="0"/>
              <a:t>In this section, we move from binary classification, where the output is only 0 or 1, to multiclass classification, where the model must choose one class out of many possible classes. Instead of predicting just yes or no, the neural network now predicts which category an input belongs to, such as digit 0 to 9, or different product types.</a:t>
            </a:r>
          </a:p>
          <a:p>
            <a:r>
              <a:rPr lang="en-US" dirty="0"/>
              <a:t>In multiclass problems, the output layer usually contains multiple neurons, one for each class. Each neuron represents the score or probability for one class. We will see how to design the output layer and which activation function is appropriate (typically </a:t>
            </a:r>
            <a:r>
              <a:rPr lang="en-US" dirty="0" err="1"/>
              <a:t>softmax</a:t>
            </a:r>
            <a:r>
              <a:rPr lang="en-US" dirty="0"/>
              <a:t>), as well as which loss function to use.</a:t>
            </a:r>
          </a:p>
          <a:p>
            <a:r>
              <a:rPr lang="en-US" dirty="0"/>
              <a:t>The key idea of this section is to understand how neural networks can handle more than two classes and how the architecture and training process slightly change compared to binary classification.</a:t>
            </a:r>
          </a:p>
          <a:p>
            <a:pPr marL="0" algn="r" defTabSz="914400" rtl="1" eaLnBrk="1" latinLnBrk="0" hangingPunct="1"/>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23</a:t>
            </a:fld>
            <a:endParaRPr lang="en-IL"/>
          </a:p>
        </p:txBody>
      </p:sp>
    </p:spTree>
    <p:extLst>
      <p:ext uri="{BB962C8B-B14F-4D97-AF65-F5344CB8AC3E}">
        <p14:creationId xmlns:p14="http://schemas.microsoft.com/office/powerpoint/2010/main" val="18907890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MNIST example</a:t>
            </a:r>
          </a:p>
          <a:p>
            <a:r>
              <a:rPr lang="en-US" dirty="0"/>
              <a:t>MNIST stands for Modified National Institute of Standards and Technology dataset. It is a large and very popular dataset of handwritten digit images used to train and test machine learning models. It contains 70,000 grayscale images of digits from 0 to 9, where each image is 28 by 28 pixels.</a:t>
            </a:r>
          </a:p>
          <a:p>
            <a:r>
              <a:rPr lang="en-US" dirty="0"/>
              <a:t>In this example, each input x is one handwritten digit image converted into pixel values. The target y is the correct digit label for that image.</a:t>
            </a:r>
          </a:p>
          <a:p>
            <a:r>
              <a:rPr lang="en-US" dirty="0"/>
              <a:t>This is a multiclass classification problem because y can take 10 possible values: 0, 1, 2, 3, 4, 5, 6, 7, 8, or 9. For example, if the image looks like the digit 7, then y = 7.</a:t>
            </a:r>
          </a:p>
          <a:p>
            <a:r>
              <a:rPr lang="en-US" dirty="0"/>
              <a:t>The goal of the neural network is to learn from many labeled examples and correctly classify new handwritten digit images.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24</a:t>
            </a:fld>
            <a:endParaRPr lang="en-IL"/>
          </a:p>
        </p:txBody>
      </p:sp>
    </p:spTree>
    <p:extLst>
      <p:ext uri="{BB962C8B-B14F-4D97-AF65-F5344CB8AC3E}">
        <p14:creationId xmlns:p14="http://schemas.microsoft.com/office/powerpoint/2010/main" val="10805912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Multiclass classification example</a:t>
            </a:r>
          </a:p>
          <a:p>
            <a:r>
              <a:rPr lang="en-US" dirty="0"/>
              <a:t>This slide compares binary classification with multiclass classification.</a:t>
            </a:r>
          </a:p>
          <a:p>
            <a:r>
              <a:rPr lang="en-US" dirty="0"/>
              <a:t>On the left, we have binary classification. The model separates the data into two groups: class 1 and not class 1. The decision boundary is a single line, and the model learns P(y = 1 | x). Everything on one side is predicted as class 1, and everything on the other side is predicted as the other class.</a:t>
            </a:r>
          </a:p>
          <a:p>
            <a:r>
              <a:rPr lang="en-US" dirty="0"/>
              <a:t>On the right, we have multiclass classification. Now the target y can take more than two values, such as class 1, class 2, class 3, or class 4. Instead of one decision boundary, the model learns multiple regions in the input space. Each region corresponds to a different class.</a:t>
            </a:r>
          </a:p>
          <a:p>
            <a:r>
              <a:rPr lang="en-US" dirty="0"/>
              <a:t>In multiclass classification, the model estimates probabilities like P(y = 1 | x), P(y = 2 | x), P(y = 3 | x), and P(y = 4 | x). The predicted class is the one with the highest probability.</a:t>
            </a:r>
          </a:p>
          <a:p>
            <a:r>
              <a:rPr lang="en-US" dirty="0"/>
              <a:t>The key idea is that multiclass classification divides the input space into several regions, not just two, and assigns each region to a different class.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25</a:t>
            </a:fld>
            <a:endParaRPr lang="en-IL"/>
          </a:p>
        </p:txBody>
      </p:sp>
    </p:spTree>
    <p:extLst>
      <p:ext uri="{BB962C8B-B14F-4D97-AF65-F5344CB8AC3E}">
        <p14:creationId xmlns:p14="http://schemas.microsoft.com/office/powerpoint/2010/main" val="33077321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err="1"/>
              <a:t>Softmax</a:t>
            </a:r>
            <a:endParaRPr lang="en-US" dirty="0"/>
          </a:p>
          <a:p>
            <a:r>
              <a:rPr lang="en-US" dirty="0"/>
              <a:t>In multiclass classification, we need an output layer that can handle more than two classes. </a:t>
            </a:r>
            <a:r>
              <a:rPr lang="en-US" dirty="0" err="1"/>
              <a:t>Softmax</a:t>
            </a:r>
            <a:r>
              <a:rPr lang="en-US" dirty="0"/>
              <a:t> is the most common activation function used in the output layer for this purpose.</a:t>
            </a:r>
          </a:p>
          <a:p>
            <a:r>
              <a:rPr lang="en-US" dirty="0" err="1"/>
              <a:t>Softmax</a:t>
            </a:r>
            <a:r>
              <a:rPr lang="en-US" dirty="0"/>
              <a:t> takes a vector of numbers (called logits) and converts them into probabilities. Each output value becomes a number between 0 and 1, and all the probabilities add up to 1.</a:t>
            </a:r>
          </a:p>
          <a:p>
            <a:r>
              <a:rPr lang="en-US" dirty="0"/>
              <a:t>This means the model does not just predict a class label. It gives a probability for each class, such as P(y = 0 | x), P(y = 1 | x), …, P(y = 9 | x). The predicted class is the one with the highest probability.</a:t>
            </a:r>
          </a:p>
          <a:p>
            <a:r>
              <a:rPr lang="en-US" dirty="0"/>
              <a:t>The key idea is that </a:t>
            </a:r>
            <a:r>
              <a:rPr lang="en-US" dirty="0" err="1"/>
              <a:t>Softmax</a:t>
            </a:r>
            <a:r>
              <a:rPr lang="en-US" dirty="0"/>
              <a:t> allows the neural network to choose one class out of many by producing a proper probability distribution over all classes.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26</a:t>
            </a:fld>
            <a:endParaRPr lang="en-IL"/>
          </a:p>
        </p:txBody>
      </p:sp>
    </p:spTree>
    <p:extLst>
      <p:ext uri="{BB962C8B-B14F-4D97-AF65-F5344CB8AC3E}">
        <p14:creationId xmlns:p14="http://schemas.microsoft.com/office/powerpoint/2010/main" val="12080332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compares logistic regression (binary classification) with </a:t>
            </a:r>
            <a:r>
              <a:rPr lang="en-US" dirty="0" err="1"/>
              <a:t>softmax</a:t>
            </a:r>
            <a:r>
              <a:rPr lang="en-US" dirty="0"/>
              <a:t> regression (multiclass classification).</a:t>
            </a:r>
          </a:p>
          <a:p>
            <a:r>
              <a:rPr lang="en-US" dirty="0"/>
              <a:t>On the left, logistic regression handles only two possible outputs, such as y = 0 or y = 1. We compute z = w · x + b, then apply the sigmoid function a = 1 / (1 + e^(−z)). The output a gives P(y = 1 | x). Since there are only two classes, P(y = 0 | x) = 1 − a. So one output neuron is enough.</a:t>
            </a:r>
          </a:p>
          <a:p>
            <a:r>
              <a:rPr lang="en-US" dirty="0"/>
              <a:t>On the right, </a:t>
            </a:r>
            <a:r>
              <a:rPr lang="en-US" dirty="0" err="1"/>
              <a:t>softmax</a:t>
            </a:r>
            <a:r>
              <a:rPr lang="en-US" dirty="0"/>
              <a:t> regression is used when there are more than two classes, for example y = 1, 2, 3, 4. Instead of one z, we compute one z for each class: z1 = w1 · x + b1, z2 = w2 · x + b2, z3 = w3 · x + b3, z4 = w4 · x + b4. Then we apply the </a:t>
            </a:r>
            <a:r>
              <a:rPr lang="en-US" dirty="0" err="1"/>
              <a:t>softmax</a:t>
            </a:r>
            <a:r>
              <a:rPr lang="en-US" dirty="0"/>
              <a:t> formula. Each output ai = e^(</a:t>
            </a:r>
            <a:r>
              <a:rPr lang="en-US" dirty="0" err="1"/>
              <a:t>zi</a:t>
            </a:r>
            <a:r>
              <a:rPr lang="en-US" dirty="0"/>
              <a:t>) divided by the sum e^(z1) + e^(z2) + e^(z3) + e^(z4).</a:t>
            </a:r>
          </a:p>
          <a:p>
            <a:r>
              <a:rPr lang="en-US" dirty="0"/>
              <a:t>Each ai represents P(y = </a:t>
            </a:r>
            <a:r>
              <a:rPr lang="en-US" dirty="0" err="1"/>
              <a:t>i</a:t>
            </a:r>
            <a:r>
              <a:rPr lang="en-US" dirty="0"/>
              <a:t> | x). All probabilities are between 0 and 1, and they add up to 1. The predicted class is the one with the largest probability.</a:t>
            </a:r>
          </a:p>
          <a:p>
            <a:r>
              <a:rPr lang="en-US" dirty="0"/>
              <a:t>The key idea is that sigmoid is used for binary classification, while </a:t>
            </a:r>
            <a:r>
              <a:rPr lang="en-US" dirty="0" err="1"/>
              <a:t>softmax</a:t>
            </a:r>
            <a:r>
              <a:rPr lang="en-US" dirty="0"/>
              <a:t> is the generalization used for multiclass classification.</a:t>
            </a:r>
          </a:p>
          <a:p>
            <a:pPr marL="0" algn="r" defTabSz="914400" rtl="1" eaLnBrk="1" latinLnBrk="0" hangingPunct="1"/>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27</a:t>
            </a:fld>
            <a:endParaRPr lang="en-IL"/>
          </a:p>
        </p:txBody>
      </p:sp>
    </p:spTree>
    <p:extLst>
      <p:ext uri="{BB962C8B-B14F-4D97-AF65-F5344CB8AC3E}">
        <p14:creationId xmlns:p14="http://schemas.microsoft.com/office/powerpoint/2010/main" val="31664773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continues the comparison between logistic regression and </a:t>
            </a:r>
            <a:r>
              <a:rPr lang="en-US" dirty="0" err="1"/>
              <a:t>softmax</a:t>
            </a:r>
            <a:r>
              <a:rPr lang="en-US" dirty="0"/>
              <a:t> regression, now with example probability values.</a:t>
            </a:r>
          </a:p>
          <a:p>
            <a:r>
              <a:rPr lang="en-US" dirty="0"/>
              <a:t>On the left, logistic regression is used for two possible classes only. We compute z = w · x + b, then apply the sigmoid function a1 = 1 / (1 + e^(−z)). If a1 = 0.71, this means P(y = 1 | x) = 0.71. Since there are only two classes, the other probability is a2 = 1 − a1 = 0.29, which represents P(y = 0 | x). The two probabilities always add up to 1.</a:t>
            </a:r>
          </a:p>
          <a:p>
            <a:r>
              <a:rPr lang="en-US" dirty="0"/>
              <a:t>On the right, </a:t>
            </a:r>
            <a:r>
              <a:rPr lang="en-US" dirty="0" err="1"/>
              <a:t>softmax</a:t>
            </a:r>
            <a:r>
              <a:rPr lang="en-US" dirty="0"/>
              <a:t> regression handles four possible classes, y = 1, 2, 3, 4. For each class, we compute a separate score: z1 = w1 · x + b1, z2 = w2 · x + b2, z3 = w3 · x + b3, and z4 = w4 · x + b4. Then we apply the </a:t>
            </a:r>
            <a:r>
              <a:rPr lang="en-US" dirty="0" err="1"/>
              <a:t>softmax</a:t>
            </a:r>
            <a:r>
              <a:rPr lang="en-US" dirty="0"/>
              <a:t> formula: each ai = e^(</a:t>
            </a:r>
            <a:r>
              <a:rPr lang="en-US" dirty="0" err="1"/>
              <a:t>zi</a:t>
            </a:r>
            <a:r>
              <a:rPr lang="en-US" dirty="0"/>
              <a:t>) divided by the sum e^(z1) + e^(z2) + e^(z3) + e^(z4).</a:t>
            </a:r>
          </a:p>
          <a:p>
            <a:r>
              <a:rPr lang="en-US" dirty="0"/>
              <a:t>In the example shown, the output probabilities are:</a:t>
            </a:r>
            <a:br>
              <a:rPr lang="en-US" dirty="0"/>
            </a:br>
            <a:r>
              <a:rPr lang="en-US" dirty="0"/>
              <a:t>P(y = 1 | x) = 0.30</a:t>
            </a:r>
            <a:br>
              <a:rPr lang="en-US" dirty="0"/>
            </a:br>
            <a:r>
              <a:rPr lang="en-US" dirty="0"/>
              <a:t>P(y = 2 | x) = 0.20</a:t>
            </a:r>
            <a:br>
              <a:rPr lang="en-US" dirty="0"/>
            </a:br>
            <a:r>
              <a:rPr lang="en-US" dirty="0"/>
              <a:t>P(y = 3 | x) = 0.15</a:t>
            </a:r>
            <a:br>
              <a:rPr lang="en-US" dirty="0"/>
            </a:br>
            <a:r>
              <a:rPr lang="en-US" dirty="0"/>
              <a:t>P(y = 4 | x) = 0.35</a:t>
            </a:r>
          </a:p>
          <a:p>
            <a:r>
              <a:rPr lang="en-US" dirty="0"/>
              <a:t>All probabilities are between 0 and 1, and they add up to 1. The predicted class is the one with the highest probability, which here is class 4 (0.35).</a:t>
            </a:r>
          </a:p>
          <a:p>
            <a:r>
              <a:rPr lang="en-US" dirty="0"/>
              <a:t>The key idea is that sigmoid gives probability for two classes, while </a:t>
            </a:r>
            <a:r>
              <a:rPr lang="en-US" dirty="0" err="1"/>
              <a:t>softmax</a:t>
            </a:r>
            <a:r>
              <a:rPr lang="en-US" dirty="0"/>
              <a:t> gives a probability distribution over multiple classes.</a:t>
            </a:r>
          </a:p>
          <a:p>
            <a:pPr marL="0" algn="r" defTabSz="914400" rtl="1" eaLnBrk="1" latinLnBrk="0" hangingPunct="1"/>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28</a:t>
            </a:fld>
            <a:endParaRPr lang="en-IL"/>
          </a:p>
        </p:txBody>
      </p:sp>
    </p:spTree>
    <p:extLst>
      <p:ext uri="{BB962C8B-B14F-4D97-AF65-F5344CB8AC3E}">
        <p14:creationId xmlns:p14="http://schemas.microsoft.com/office/powerpoint/2010/main" val="32741221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compares logistic regression with </a:t>
            </a:r>
            <a:r>
              <a:rPr lang="en-US" dirty="0" err="1"/>
              <a:t>softmax</a:t>
            </a:r>
            <a:r>
              <a:rPr lang="en-US" dirty="0"/>
              <a:t> regression and explains how we move from binary classification to multiclass classification.</a:t>
            </a:r>
          </a:p>
          <a:p>
            <a:r>
              <a:rPr lang="en-US" dirty="0"/>
              <a:t>On the left side, logistic regression is used when there are only two possible output values, for example y = 0 or y = 1. First, we compute z = w · x + b. Then we apply the sigmoid function: a = 1 / (1 + e^(−z)). The output a represents P(y = 1 | x). Since there are only two classes, the probability of the other class is 1 − a, which represents P(y = 0 | x). The two probabilities always add up to 1.</a:t>
            </a:r>
          </a:p>
          <a:p>
            <a:r>
              <a:rPr lang="en-US" dirty="0"/>
              <a:t>On the right side, </a:t>
            </a:r>
            <a:r>
              <a:rPr lang="en-US" dirty="0" err="1"/>
              <a:t>softmax</a:t>
            </a:r>
            <a:r>
              <a:rPr lang="en-US" dirty="0"/>
              <a:t> regression is used when there are more than two possible classes, for example y = 1, 2, 3, 4. Instead of computing one z value, we compute one </a:t>
            </a:r>
            <a:r>
              <a:rPr lang="en-US" dirty="0" err="1"/>
              <a:t>z_j</a:t>
            </a:r>
            <a:r>
              <a:rPr lang="en-US" dirty="0"/>
              <a:t> for each class: </a:t>
            </a:r>
            <a:r>
              <a:rPr lang="en-US" dirty="0" err="1"/>
              <a:t>z_j</a:t>
            </a:r>
            <a:r>
              <a:rPr lang="en-US" dirty="0"/>
              <a:t> = </a:t>
            </a:r>
            <a:r>
              <a:rPr lang="en-US" dirty="0" err="1"/>
              <a:t>w_j</a:t>
            </a:r>
            <a:r>
              <a:rPr lang="en-US" dirty="0"/>
              <a:t> · x + </a:t>
            </a:r>
            <a:r>
              <a:rPr lang="en-US" dirty="0" err="1"/>
              <a:t>b_j</a:t>
            </a:r>
            <a:r>
              <a:rPr lang="en-US" dirty="0"/>
              <a:t>. So each class has its own weights and bias.</a:t>
            </a:r>
          </a:p>
          <a:p>
            <a:r>
              <a:rPr lang="en-US" dirty="0"/>
              <a:t>Then we apply the </a:t>
            </a:r>
            <a:r>
              <a:rPr lang="en-US" dirty="0" err="1"/>
              <a:t>softmax</a:t>
            </a:r>
            <a:r>
              <a:rPr lang="en-US" dirty="0"/>
              <a:t> function. For each class j, the output is</a:t>
            </a:r>
            <a:br>
              <a:rPr lang="en-US" dirty="0"/>
            </a:br>
            <a:r>
              <a:rPr lang="en-US" dirty="0" err="1"/>
              <a:t>a_j</a:t>
            </a:r>
            <a:r>
              <a:rPr lang="en-US" dirty="0"/>
              <a:t> = e^(</a:t>
            </a:r>
            <a:r>
              <a:rPr lang="en-US" dirty="0" err="1"/>
              <a:t>z_j</a:t>
            </a:r>
            <a:r>
              <a:rPr lang="en-US" dirty="0"/>
              <a:t>) / (e^(z_1) + e^(z_2) + … + e^(</a:t>
            </a:r>
            <a:r>
              <a:rPr lang="en-US" dirty="0" err="1"/>
              <a:t>z_N</a:t>
            </a:r>
            <a:r>
              <a:rPr lang="en-US" dirty="0"/>
              <a:t>)).</a:t>
            </a:r>
          </a:p>
          <a:p>
            <a:r>
              <a:rPr lang="en-US" dirty="0"/>
              <a:t>Each </a:t>
            </a:r>
            <a:r>
              <a:rPr lang="en-US" dirty="0" err="1"/>
              <a:t>a_j</a:t>
            </a:r>
            <a:r>
              <a:rPr lang="en-US" dirty="0"/>
              <a:t> represents P(y = j | x). All probabilities are positive and they always sum to 1. This makes </a:t>
            </a:r>
            <a:r>
              <a:rPr lang="en-US" dirty="0" err="1"/>
              <a:t>softmax</a:t>
            </a:r>
            <a:r>
              <a:rPr lang="en-US" dirty="0"/>
              <a:t> a natural extension of logistic regression to multiple classes.</a:t>
            </a:r>
          </a:p>
          <a:p>
            <a:r>
              <a:rPr lang="en-US" dirty="0"/>
              <a:t>The key idea is that logistic regression handles two classes using sigmoid, while </a:t>
            </a:r>
            <a:r>
              <a:rPr lang="en-US" dirty="0" err="1"/>
              <a:t>softmax</a:t>
            </a:r>
            <a:r>
              <a:rPr lang="en-US" dirty="0"/>
              <a:t> handles N classes by normalizing exponentials of multiple z values into a probability distribution.</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29</a:t>
            </a:fld>
            <a:endParaRPr lang="en-IL"/>
          </a:p>
        </p:txBody>
      </p:sp>
    </p:spTree>
    <p:extLst>
      <p:ext uri="{BB962C8B-B14F-4D97-AF65-F5344CB8AC3E}">
        <p14:creationId xmlns:p14="http://schemas.microsoft.com/office/powerpoint/2010/main" val="9061584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explains the cost function for logistic regression and </a:t>
            </a:r>
            <a:r>
              <a:rPr lang="en-US" dirty="0" err="1"/>
              <a:t>softmax</a:t>
            </a:r>
            <a:r>
              <a:rPr lang="en-US" dirty="0"/>
              <a:t> regression.</a:t>
            </a:r>
          </a:p>
          <a:p>
            <a:r>
              <a:rPr lang="en-US" dirty="0"/>
              <a:t>On the left side, we review logistic regression for binary classification. We compute z = w · x + b, then apply the sigmoid function a1 = 1 / (1 + e^(−z)). This gives P(y = 1 | x). Since there are only two classes, P(y = 0 | x) = 1 − a1.</a:t>
            </a:r>
          </a:p>
          <a:p>
            <a:r>
              <a:rPr lang="en-US" dirty="0"/>
              <a:t>The loss for one example is</a:t>
            </a:r>
            <a:br>
              <a:rPr lang="en-US" dirty="0"/>
            </a:br>
            <a:r>
              <a:rPr lang="en-US" dirty="0"/>
              <a:t>loss = − y log(a1) − (1 − y) log(1 − a1).</a:t>
            </a:r>
          </a:p>
          <a:p>
            <a:r>
              <a:rPr lang="en-US" dirty="0"/>
              <a:t>If y = 1, the loss becomes −log(a1).</a:t>
            </a:r>
            <a:br>
              <a:rPr lang="en-US" dirty="0"/>
            </a:br>
            <a:r>
              <a:rPr lang="en-US" dirty="0"/>
              <a:t>If y = 0, the loss becomes −log(1 − a1).</a:t>
            </a:r>
          </a:p>
          <a:p>
            <a:r>
              <a:rPr lang="en-US" dirty="0"/>
              <a:t>So the model is penalized when it assigns low probability to the correct class. The total cost J(w, b) is the average loss over all training examples.</a:t>
            </a:r>
          </a:p>
          <a:p>
            <a:r>
              <a:rPr lang="en-US" dirty="0"/>
              <a:t>On the right side, we extend this idea to </a:t>
            </a:r>
            <a:r>
              <a:rPr lang="en-US" dirty="0" err="1"/>
              <a:t>softmax</a:t>
            </a:r>
            <a:r>
              <a:rPr lang="en-US" dirty="0"/>
              <a:t> regression for N classes. The </a:t>
            </a:r>
            <a:r>
              <a:rPr lang="en-US" dirty="0" err="1"/>
              <a:t>softmax</a:t>
            </a:r>
            <a:r>
              <a:rPr lang="en-US" dirty="0"/>
              <a:t> outputs a1, a2, …, </a:t>
            </a:r>
            <a:r>
              <a:rPr lang="en-US" dirty="0" err="1"/>
              <a:t>aN</a:t>
            </a:r>
            <a:r>
              <a:rPr lang="en-US" dirty="0"/>
              <a:t>, where each </a:t>
            </a:r>
            <a:r>
              <a:rPr lang="en-US" dirty="0" err="1"/>
              <a:t>aj</a:t>
            </a:r>
            <a:r>
              <a:rPr lang="en-US" dirty="0"/>
              <a:t> = P(y = j | x), and all probabilities sum to 1.</a:t>
            </a:r>
          </a:p>
          <a:p>
            <a:r>
              <a:rPr lang="en-US" dirty="0"/>
              <a:t>For one example, the cross-entropy loss is</a:t>
            </a:r>
            <a:br>
              <a:rPr lang="en-US" dirty="0"/>
            </a:br>
            <a:r>
              <a:rPr lang="en-US" dirty="0"/>
              <a:t>loss = −log(</a:t>
            </a:r>
            <a:r>
              <a:rPr lang="en-US" dirty="0" err="1"/>
              <a:t>aj</a:t>
            </a:r>
            <a:r>
              <a:rPr lang="en-US" dirty="0"/>
              <a:t>) if the true class is j.</a:t>
            </a:r>
          </a:p>
          <a:p>
            <a:r>
              <a:rPr lang="en-US" dirty="0"/>
              <a:t>So we only look at the predicted probability of the correct class. If the model gives a small probability to the correct class, the loss becomes large. If it gives a probability close to 1, the loss becomes small.</a:t>
            </a:r>
          </a:p>
          <a:p>
            <a:r>
              <a:rPr lang="en-US" dirty="0"/>
              <a:t>The key idea is that both logistic regression and </a:t>
            </a:r>
            <a:r>
              <a:rPr lang="en-US" dirty="0" err="1"/>
              <a:t>softmax</a:t>
            </a:r>
            <a:r>
              <a:rPr lang="en-US" dirty="0"/>
              <a:t> use cross-entropy loss. In binary classification, we use the sigmoid version. In multiclass classification, we use the </a:t>
            </a:r>
            <a:r>
              <a:rPr lang="en-US" dirty="0" err="1"/>
              <a:t>softmax</a:t>
            </a:r>
            <a:r>
              <a:rPr lang="en-US" dirty="0"/>
              <a:t> version.</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30</a:t>
            </a:fld>
            <a:endParaRPr lang="en-IL"/>
          </a:p>
        </p:txBody>
      </p:sp>
    </p:spTree>
    <p:extLst>
      <p:ext uri="{BB962C8B-B14F-4D97-AF65-F5344CB8AC3E}">
        <p14:creationId xmlns:p14="http://schemas.microsoft.com/office/powerpoint/2010/main" val="8310525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section introduces how to build and train a neural network for multiclass classification using a </a:t>
            </a:r>
            <a:r>
              <a:rPr lang="en-US" dirty="0" err="1"/>
              <a:t>softmax</a:t>
            </a:r>
            <a:r>
              <a:rPr lang="en-US" dirty="0"/>
              <a:t> output layer.</a:t>
            </a:r>
          </a:p>
          <a:p>
            <a:r>
              <a:rPr lang="en-US" dirty="0"/>
              <a:t>In binary classification, the output layer has one neuron with a sigmoid activation. But in multiclass classification, the output layer has one neuron per class. Instead of sigmoid, we use the </a:t>
            </a:r>
            <a:r>
              <a:rPr lang="en-US" dirty="0" err="1"/>
              <a:t>softmax</a:t>
            </a:r>
            <a:r>
              <a:rPr lang="en-US" dirty="0"/>
              <a:t> activation function.</a:t>
            </a:r>
          </a:p>
          <a:p>
            <a:r>
              <a:rPr lang="en-US" dirty="0" err="1"/>
              <a:t>Softmax</a:t>
            </a:r>
            <a:r>
              <a:rPr lang="en-US" dirty="0"/>
              <a:t> converts the raw outputs (z values) into probabilities for each class. All output probabilities are between 0 and 1, and they always sum to 1. This allows the model to choose the class with the highest probability as the final prediction.</a:t>
            </a:r>
          </a:p>
          <a:p>
            <a:r>
              <a:rPr lang="en-US" dirty="0"/>
              <a:t>In this section, we will see how the neural network structure changes when using </a:t>
            </a:r>
            <a:r>
              <a:rPr lang="en-US" dirty="0" err="1"/>
              <a:t>softmax</a:t>
            </a:r>
            <a:r>
              <a:rPr lang="en-US" dirty="0"/>
              <a:t>, how the output layer is defined in TensorFlow, and how cross-entropy loss is used together with </a:t>
            </a:r>
            <a:r>
              <a:rPr lang="en-US" dirty="0" err="1"/>
              <a:t>softmax</a:t>
            </a:r>
            <a:r>
              <a:rPr lang="en-US" dirty="0"/>
              <a:t> for training.</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31</a:t>
            </a:fld>
            <a:endParaRPr lang="en-IL"/>
          </a:p>
        </p:txBody>
      </p:sp>
    </p:spTree>
    <p:extLst>
      <p:ext uri="{BB962C8B-B14F-4D97-AF65-F5344CB8AC3E}">
        <p14:creationId xmlns:p14="http://schemas.microsoft.com/office/powerpoint/2010/main" val="18910338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shows the structure of a neural network designed for multiclass classification using a </a:t>
            </a:r>
            <a:r>
              <a:rPr lang="en-US" dirty="0" err="1"/>
              <a:t>softmax</a:t>
            </a:r>
            <a:r>
              <a:rPr lang="en-US" dirty="0"/>
              <a:t> output layer.</a:t>
            </a:r>
          </a:p>
          <a:p>
            <a:r>
              <a:rPr lang="en-US" dirty="0"/>
              <a:t>The input x passes through two hidden layers. The first hidden layer has 25 units, and the second hidden layer has 15 units. These hidden layers usually use </a:t>
            </a:r>
            <a:r>
              <a:rPr lang="en-US" dirty="0" err="1"/>
              <a:t>ReLU</a:t>
            </a:r>
            <a:r>
              <a:rPr lang="en-US" dirty="0"/>
              <a:t> activation, which helps the network learn complex, non-linear patterns.</a:t>
            </a:r>
          </a:p>
          <a:p>
            <a:r>
              <a:rPr lang="en-US" dirty="0"/>
              <a:t>The final layer is the output layer, and it has 10 units. Each unit corresponds to one class. For example, in digit classification, the 10 units represent digits 0 through 9.</a:t>
            </a:r>
          </a:p>
          <a:p>
            <a:r>
              <a:rPr lang="en-US" dirty="0"/>
              <a:t>Instead of sigmoid, the output layer uses the </a:t>
            </a:r>
            <a:r>
              <a:rPr lang="en-US" dirty="0" err="1"/>
              <a:t>softmax</a:t>
            </a:r>
            <a:r>
              <a:rPr lang="en-US" dirty="0"/>
              <a:t> activation function. </a:t>
            </a:r>
            <a:r>
              <a:rPr lang="en-US" dirty="0" err="1"/>
              <a:t>Softmax</a:t>
            </a:r>
            <a:r>
              <a:rPr lang="en-US" dirty="0"/>
              <a:t> takes the 10 output values and converts them into 10 probabilities. Each value represents the probability that the input belongs to that class. All probabilities are between 0 and 1, and their sum equals 1.</a:t>
            </a:r>
          </a:p>
          <a:p>
            <a:r>
              <a:rPr lang="en-US" dirty="0"/>
              <a:t>The predicted class is the one with the highest probability. This architecture allows the network to classify inputs into more than two possible categories.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32</a:t>
            </a:fld>
            <a:endParaRPr lang="en-IL"/>
          </a:p>
        </p:txBody>
      </p:sp>
    </p:spTree>
    <p:extLst>
      <p:ext uri="{BB962C8B-B14F-4D97-AF65-F5344CB8AC3E}">
        <p14:creationId xmlns:p14="http://schemas.microsoft.com/office/powerpoint/2010/main" val="16420472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explains in more detail how a neural network works when we use a </a:t>
            </a:r>
            <a:r>
              <a:rPr lang="en-US" dirty="0" err="1"/>
              <a:t>softmax</a:t>
            </a:r>
            <a:r>
              <a:rPr lang="en-US" dirty="0"/>
              <a:t> output layer for multiclass classification.</a:t>
            </a:r>
          </a:p>
          <a:p>
            <a:r>
              <a:rPr lang="en-US" dirty="0"/>
              <a:t>The input x first passes through the hidden layers, which use </a:t>
            </a:r>
            <a:r>
              <a:rPr lang="en-US" dirty="0" err="1"/>
              <a:t>ReLU</a:t>
            </a:r>
            <a:r>
              <a:rPr lang="en-US" dirty="0"/>
              <a:t> activation. The first hidden layer has 25 units, and the second hidden layer has 15 units. These layers learn useful features from the input.</a:t>
            </a:r>
          </a:p>
          <a:p>
            <a:r>
              <a:rPr lang="en-US" dirty="0"/>
              <a:t>In the output layer, there are 10 neurons, one for each class. For each output neuron j, we first compute a linear value </a:t>
            </a:r>
            <a:r>
              <a:rPr lang="en-US" dirty="0" err="1"/>
              <a:t>z_j</a:t>
            </a:r>
            <a:r>
              <a:rPr lang="en-US" dirty="0"/>
              <a:t> using the formula </a:t>
            </a:r>
            <a:r>
              <a:rPr lang="en-US" dirty="0" err="1"/>
              <a:t>z_j</a:t>
            </a:r>
            <a:r>
              <a:rPr lang="en-US" dirty="0"/>
              <a:t> = </a:t>
            </a:r>
            <a:r>
              <a:rPr lang="en-US" dirty="0" err="1"/>
              <a:t>w_j</a:t>
            </a:r>
            <a:r>
              <a:rPr lang="en-US" dirty="0"/>
              <a:t> dot a^[2] + </a:t>
            </a:r>
            <a:r>
              <a:rPr lang="en-US" dirty="0" err="1"/>
              <a:t>b_j</a:t>
            </a:r>
            <a:r>
              <a:rPr lang="en-US" dirty="0"/>
              <a:t>. This means each class has its own weight vector </a:t>
            </a:r>
            <a:r>
              <a:rPr lang="en-US" dirty="0" err="1"/>
              <a:t>w_j</a:t>
            </a:r>
            <a:r>
              <a:rPr lang="en-US" dirty="0"/>
              <a:t> and bias </a:t>
            </a:r>
            <a:r>
              <a:rPr lang="en-US" dirty="0" err="1"/>
              <a:t>b_j</a:t>
            </a:r>
            <a:r>
              <a:rPr lang="en-US" dirty="0"/>
              <a:t>, and it uses the activations from the previous layer a^[2].</a:t>
            </a:r>
          </a:p>
          <a:p>
            <a:r>
              <a:rPr lang="en-US" dirty="0"/>
              <a:t>After computing all z_1, z_2, …, z_10, we apply the </a:t>
            </a:r>
            <a:r>
              <a:rPr lang="en-US" dirty="0" err="1"/>
              <a:t>softmax</a:t>
            </a:r>
            <a:r>
              <a:rPr lang="en-US" dirty="0"/>
              <a:t> function. Each output activation is computed as </a:t>
            </a:r>
            <a:r>
              <a:rPr lang="en-US" dirty="0" err="1"/>
              <a:t>a_j</a:t>
            </a:r>
            <a:r>
              <a:rPr lang="en-US" dirty="0"/>
              <a:t> = e^(</a:t>
            </a:r>
            <a:r>
              <a:rPr lang="en-US" dirty="0" err="1"/>
              <a:t>z_j</a:t>
            </a:r>
            <a:r>
              <a:rPr lang="en-US" dirty="0"/>
              <a:t>) divided by the sum of e^(</a:t>
            </a:r>
            <a:r>
              <a:rPr lang="en-US" dirty="0" err="1"/>
              <a:t>z_k</a:t>
            </a:r>
            <a:r>
              <a:rPr lang="en-US" dirty="0"/>
              <a:t>) for all classes k from 1 to 10. This converts the raw scores into probabilities.</a:t>
            </a:r>
          </a:p>
          <a:p>
            <a:r>
              <a:rPr lang="en-US" dirty="0"/>
              <a:t>Each </a:t>
            </a:r>
            <a:r>
              <a:rPr lang="en-US" dirty="0" err="1"/>
              <a:t>a_j</a:t>
            </a:r>
            <a:r>
              <a:rPr lang="en-US" dirty="0"/>
              <a:t> represents P(y = j | x), the probability that the input belongs to class j. All probabilities are positive and add up to 1.</a:t>
            </a:r>
          </a:p>
          <a:p>
            <a:r>
              <a:rPr lang="en-US" dirty="0"/>
              <a:t>Finally, the predicted class is the one with the highest probability. This is why </a:t>
            </a:r>
            <a:r>
              <a:rPr lang="en-US" dirty="0" err="1"/>
              <a:t>softmax</a:t>
            </a:r>
            <a:r>
              <a:rPr lang="en-US" dirty="0"/>
              <a:t> is the standard choice for multiclass classification problems such as digit recognition.</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33</a:t>
            </a:fld>
            <a:endParaRPr lang="en-IL"/>
          </a:p>
        </p:txBody>
      </p:sp>
    </p:spTree>
    <p:extLst>
      <p:ext uri="{BB962C8B-B14F-4D97-AF65-F5344CB8AC3E}">
        <p14:creationId xmlns:p14="http://schemas.microsoft.com/office/powerpoint/2010/main" val="41405090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compares logistic regression and </a:t>
            </a:r>
            <a:r>
              <a:rPr lang="en-US" dirty="0" err="1"/>
              <a:t>softmax</a:t>
            </a:r>
            <a:r>
              <a:rPr lang="en-US" dirty="0"/>
              <a:t> in the output layer of a neural network.</a:t>
            </a:r>
          </a:p>
          <a:p>
            <a:r>
              <a:rPr lang="en-US" dirty="0"/>
              <a:t>The network structure is the same as before. The input x passes through hidden layers with </a:t>
            </a:r>
            <a:r>
              <a:rPr lang="en-US" dirty="0" err="1"/>
              <a:t>ReLU</a:t>
            </a:r>
            <a:r>
              <a:rPr lang="en-US" dirty="0"/>
              <a:t> activation, producing a^[2]. Then the output layer has 10 units, one for each class.</a:t>
            </a:r>
          </a:p>
          <a:p>
            <a:r>
              <a:rPr lang="en-US" dirty="0"/>
              <a:t>For each output neuron j, we compute </a:t>
            </a:r>
            <a:r>
              <a:rPr lang="en-US" dirty="0" err="1"/>
              <a:t>z_j</a:t>
            </a:r>
            <a:r>
              <a:rPr lang="en-US" dirty="0"/>
              <a:t>^[3] = </a:t>
            </a:r>
            <a:r>
              <a:rPr lang="en-US" dirty="0" err="1"/>
              <a:t>w_j</a:t>
            </a:r>
            <a:r>
              <a:rPr lang="en-US" dirty="0"/>
              <a:t>^[3] dot a^[2] + </a:t>
            </a:r>
            <a:r>
              <a:rPr lang="en-US" dirty="0" err="1"/>
              <a:t>b_j</a:t>
            </a:r>
            <a:r>
              <a:rPr lang="en-US" dirty="0"/>
              <a:t>^[3]. These are the raw scores for each class.</a:t>
            </a:r>
          </a:p>
          <a:p>
            <a:r>
              <a:rPr lang="en-US" dirty="0"/>
              <a:t>In logistic regression (binary classification), each output is computed independently as </a:t>
            </a:r>
            <a:r>
              <a:rPr lang="en-US" dirty="0" err="1"/>
              <a:t>a_j</a:t>
            </a:r>
            <a:r>
              <a:rPr lang="en-US" dirty="0"/>
              <a:t> = g(</a:t>
            </a:r>
            <a:r>
              <a:rPr lang="en-US" dirty="0" err="1"/>
              <a:t>z_j</a:t>
            </a:r>
            <a:r>
              <a:rPr lang="en-US" dirty="0"/>
              <a:t>), where g is the sigmoid function. This works when we have only two classes.</a:t>
            </a:r>
          </a:p>
          <a:p>
            <a:r>
              <a:rPr lang="en-US" dirty="0"/>
              <a:t>In </a:t>
            </a:r>
            <a:r>
              <a:rPr lang="en-US" dirty="0" err="1"/>
              <a:t>softmax</a:t>
            </a:r>
            <a:r>
              <a:rPr lang="en-US" dirty="0"/>
              <a:t> (multiclass classification), we do not apply sigmoid separately to each </a:t>
            </a:r>
            <a:r>
              <a:rPr lang="en-US" dirty="0" err="1"/>
              <a:t>z_j</a:t>
            </a:r>
            <a:r>
              <a:rPr lang="en-US" dirty="0"/>
              <a:t>. Instead, we apply the </a:t>
            </a:r>
            <a:r>
              <a:rPr lang="en-US" dirty="0" err="1"/>
              <a:t>softmax</a:t>
            </a:r>
            <a:r>
              <a:rPr lang="en-US" dirty="0"/>
              <a:t> function to the entire vector z^[3] = (z_1, …, z_10). The output vector a^[3] = (a_1, …, a_10) is computed together using </a:t>
            </a:r>
            <a:r>
              <a:rPr lang="en-US" dirty="0" err="1"/>
              <a:t>a_j</a:t>
            </a:r>
            <a:r>
              <a:rPr lang="en-US" dirty="0"/>
              <a:t> = e^(</a:t>
            </a:r>
            <a:r>
              <a:rPr lang="en-US" dirty="0" err="1"/>
              <a:t>z_j</a:t>
            </a:r>
            <a:r>
              <a:rPr lang="en-US" dirty="0"/>
              <a:t>) divided by the sum of e^(</a:t>
            </a:r>
            <a:r>
              <a:rPr lang="en-US" dirty="0" err="1"/>
              <a:t>z_k</a:t>
            </a:r>
            <a:r>
              <a:rPr lang="en-US" dirty="0"/>
              <a:t>) for all classes.</a:t>
            </a:r>
          </a:p>
          <a:p>
            <a:r>
              <a:rPr lang="en-US" dirty="0"/>
              <a:t>This means </a:t>
            </a:r>
            <a:r>
              <a:rPr lang="en-US" dirty="0" err="1"/>
              <a:t>softmax</a:t>
            </a:r>
            <a:r>
              <a:rPr lang="en-US" dirty="0"/>
              <a:t> looks at all class scores at the same time and converts them into probabilities that sum to 1.</a:t>
            </a:r>
          </a:p>
          <a:p>
            <a:r>
              <a:rPr lang="en-US" dirty="0"/>
              <a:t>So the key idea is: logistic regression uses sigmoid for binary output, while </a:t>
            </a:r>
            <a:r>
              <a:rPr lang="en-US" dirty="0" err="1"/>
              <a:t>softmax</a:t>
            </a:r>
            <a:r>
              <a:rPr lang="en-US" dirty="0"/>
              <a:t> is the generalization for multiple classes, producing a full probability distribution over all classes.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34</a:t>
            </a:fld>
            <a:endParaRPr lang="en-IL"/>
          </a:p>
        </p:txBody>
      </p:sp>
    </p:spTree>
    <p:extLst>
      <p:ext uri="{BB962C8B-B14F-4D97-AF65-F5344CB8AC3E}">
        <p14:creationId xmlns:p14="http://schemas.microsoft.com/office/powerpoint/2010/main" val="19942127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shows how to train a neural network for MNIST using a </a:t>
            </a:r>
            <a:r>
              <a:rPr lang="en-US" dirty="0" err="1"/>
              <a:t>softmax</a:t>
            </a:r>
            <a:r>
              <a:rPr lang="en-US" dirty="0"/>
              <a:t> output layer.</a:t>
            </a:r>
          </a:p>
          <a:p>
            <a:r>
              <a:rPr lang="en-US" dirty="0"/>
              <a:t>First, we define the model. We import TensorFlow and use Sequential to stack layers. The model has two hidden layers with </a:t>
            </a:r>
            <a:r>
              <a:rPr lang="en-US" dirty="0" err="1"/>
              <a:t>ReLU</a:t>
            </a:r>
            <a:r>
              <a:rPr lang="en-US" dirty="0"/>
              <a:t> activation, for example Dense(units=25, activation='</a:t>
            </a:r>
            <a:r>
              <a:rPr lang="en-US" dirty="0" err="1"/>
              <a:t>relu</a:t>
            </a:r>
            <a:r>
              <a:rPr lang="en-US" dirty="0"/>
              <a:t>') and Dense(units=15, activation='</a:t>
            </a:r>
            <a:r>
              <a:rPr lang="en-US" dirty="0" err="1"/>
              <a:t>relu</a:t>
            </a:r>
            <a:r>
              <a:rPr lang="en-US" dirty="0"/>
              <a:t>'). The output layer is Dense(units=10, activation='</a:t>
            </a:r>
            <a:r>
              <a:rPr lang="en-US" dirty="0" err="1"/>
              <a:t>softmax</a:t>
            </a:r>
            <a:r>
              <a:rPr lang="en-US" dirty="0"/>
              <a:t>'). The 10 units correspond to the 10 digit classes from 0 to 9. The </a:t>
            </a:r>
            <a:r>
              <a:rPr lang="en-US" dirty="0" err="1"/>
              <a:t>softmax</a:t>
            </a:r>
            <a:r>
              <a:rPr lang="en-US" dirty="0"/>
              <a:t> activation makes the output a probability distribution over the 10 classes.</a:t>
            </a:r>
          </a:p>
          <a:p>
            <a:r>
              <a:rPr lang="en-US" dirty="0"/>
              <a:t>Second, we specify the loss function. Since MNIST is a multiclass classification problem and the labels are integers (0 to 9), we use </a:t>
            </a:r>
            <a:r>
              <a:rPr lang="en-US" dirty="0" err="1"/>
              <a:t>SparseCategoricalCrossentropy</a:t>
            </a:r>
            <a:r>
              <a:rPr lang="en-US" dirty="0"/>
              <a:t>. This loss compares the predicted probability for the correct class with the true label and penalizes the model if it assigns low probability to the correct digit. We set this using </a:t>
            </a:r>
            <a:r>
              <a:rPr lang="en-US" dirty="0" err="1"/>
              <a:t>model.compile</a:t>
            </a:r>
            <a:r>
              <a:rPr lang="en-US" dirty="0"/>
              <a:t>(loss=</a:t>
            </a:r>
            <a:r>
              <a:rPr lang="en-US" dirty="0" err="1"/>
              <a:t>SparseCategoricalCrossentropy</a:t>
            </a:r>
            <a:r>
              <a:rPr lang="en-US" dirty="0"/>
              <a:t>()).</a:t>
            </a:r>
          </a:p>
          <a:p>
            <a:r>
              <a:rPr lang="en-US" dirty="0"/>
              <a:t>Third, we train the model using </a:t>
            </a:r>
            <a:r>
              <a:rPr lang="en-US" dirty="0" err="1"/>
              <a:t>model.fit</a:t>
            </a:r>
            <a:r>
              <a:rPr lang="en-US" dirty="0"/>
              <a:t>(X, Y, epochs=100). During training, gradient descent and backpropagation adjust the weights to reduce the loss.</a:t>
            </a:r>
          </a:p>
          <a:p>
            <a:r>
              <a:rPr lang="en-US" dirty="0"/>
              <a:t>The key idea is that for multiclass problems like MNIST, we use a </a:t>
            </a:r>
            <a:r>
              <a:rPr lang="en-US" dirty="0" err="1"/>
              <a:t>softmax</a:t>
            </a:r>
            <a:r>
              <a:rPr lang="en-US" dirty="0"/>
              <a:t> output layer with 10 units and a categorical cross-entropy type loss to train the network.</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35</a:t>
            </a:fld>
            <a:endParaRPr lang="en-IL"/>
          </a:p>
        </p:txBody>
      </p:sp>
    </p:spTree>
    <p:extLst>
      <p:ext uri="{BB962C8B-B14F-4D97-AF65-F5344CB8AC3E}">
        <p14:creationId xmlns:p14="http://schemas.microsoft.com/office/powerpoint/2010/main" val="8372711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section introduces </a:t>
            </a:r>
            <a:r>
              <a:rPr lang="en-US" b="1" dirty="0"/>
              <a:t>multiclass classification</a:t>
            </a:r>
            <a:r>
              <a:rPr lang="en-US" dirty="0"/>
              <a:t>, where a model must choose one class from more than two possible classes (for example, classifying digits 0–9 instead of just yes/no). To solve this problem, we use the </a:t>
            </a:r>
            <a:r>
              <a:rPr lang="en-US" b="1" dirty="0" err="1"/>
              <a:t>softmax</a:t>
            </a:r>
            <a:r>
              <a:rPr lang="en-US" b="1" dirty="0"/>
              <a:t> function</a:t>
            </a:r>
            <a:r>
              <a:rPr lang="en-US" dirty="0"/>
              <a:t>, which converts model outputs into probabilities that sum to 1. In this section, we will focus on an improved and more stable implementation of </a:t>
            </a:r>
            <a:r>
              <a:rPr lang="en-US" dirty="0" err="1"/>
              <a:t>softmax</a:t>
            </a:r>
            <a:r>
              <a:rPr lang="en-US" dirty="0"/>
              <a:t>, which is commonly used in neural networks for efficient and accurate multiclass prediction.</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36</a:t>
            </a:fld>
            <a:endParaRPr lang="en-IL"/>
          </a:p>
        </p:txBody>
      </p:sp>
    </p:spTree>
    <p:extLst>
      <p:ext uri="{BB962C8B-B14F-4D97-AF65-F5344CB8AC3E}">
        <p14:creationId xmlns:p14="http://schemas.microsoft.com/office/powerpoint/2010/main" val="23778114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explains the idea of </a:t>
            </a:r>
            <a:r>
              <a:rPr lang="en-US" b="1" dirty="0"/>
              <a:t>numerical roundoff errors</a:t>
            </a:r>
            <a:r>
              <a:rPr lang="en-US" dirty="0"/>
              <a:t>, which happen because computers cannot store numbers with perfect precision.</a:t>
            </a:r>
          </a:p>
          <a:p>
            <a:r>
              <a:rPr lang="en-US" dirty="0"/>
              <a:t>It shows two different ways to compute the same value:</a:t>
            </a:r>
          </a:p>
          <a:p>
            <a:r>
              <a:rPr lang="en-US" dirty="0"/>
              <a:t>Option 1:</a:t>
            </a:r>
            <a:br>
              <a:rPr lang="en-US" dirty="0"/>
            </a:br>
            <a:r>
              <a:rPr lang="en-US" dirty="0"/>
              <a:t>x = 2 / 10,000</a:t>
            </a:r>
          </a:p>
          <a:p>
            <a:r>
              <a:rPr lang="en-US" dirty="0"/>
              <a:t>Option 2:</a:t>
            </a:r>
            <a:br>
              <a:rPr lang="en-US" dirty="0"/>
            </a:br>
            <a:r>
              <a:rPr lang="en-US" dirty="0"/>
              <a:t>x = (1 + 1 / 10,000) − (1 − 1 / 10,000)</a:t>
            </a:r>
          </a:p>
          <a:p>
            <a:r>
              <a:rPr lang="en-US" dirty="0"/>
              <a:t>Mathematically, both expressions give exactly the same result. However, inside a computer, the second method can produce a small numerical error. This happens because we subtract two numbers that are very close to each other. When very similar numbers are subtracted, the computer may lose important digits. This is called </a:t>
            </a:r>
            <a:r>
              <a:rPr lang="en-US" b="1" dirty="0"/>
              <a:t>loss of precision</a:t>
            </a:r>
            <a:r>
              <a:rPr lang="en-US" dirty="0"/>
              <a:t> or </a:t>
            </a:r>
            <a:r>
              <a:rPr lang="en-US" b="1" dirty="0"/>
              <a:t>roundoff error</a:t>
            </a:r>
            <a:r>
              <a:rPr lang="en-US" dirty="0"/>
              <a:t>.</a:t>
            </a:r>
          </a:p>
          <a:p>
            <a:r>
              <a:rPr lang="en-US" dirty="0"/>
              <a:t>This concept is very important in machine learning. Functions like </a:t>
            </a:r>
            <a:r>
              <a:rPr lang="en-US" dirty="0" err="1"/>
              <a:t>softmax</a:t>
            </a:r>
            <a:r>
              <a:rPr lang="en-US" dirty="0"/>
              <a:t> use exponentials, which can create very large or very small numbers. If we are not careful, numerical roundoff errors can make the computation unstable. That is why we need numerically stable implementations of algorithms like </a:t>
            </a:r>
            <a:r>
              <a:rPr lang="en-US" dirty="0" err="1"/>
              <a:t>softmax</a:t>
            </a:r>
            <a:r>
              <a:rPr lang="en-US" dirty="0"/>
              <a:t>.</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37</a:t>
            </a:fld>
            <a:endParaRPr lang="en-IL"/>
          </a:p>
        </p:txBody>
      </p:sp>
    </p:spTree>
    <p:extLst>
      <p:ext uri="{BB962C8B-B14F-4D97-AF65-F5344CB8AC3E}">
        <p14:creationId xmlns:p14="http://schemas.microsoft.com/office/powerpoint/2010/main" val="3384093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17569632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shows a practical example in </a:t>
            </a:r>
            <a:r>
              <a:rPr lang="en-US" dirty="0" err="1"/>
              <a:t>Jupyter</a:t>
            </a:r>
            <a:r>
              <a:rPr lang="en-US" dirty="0"/>
              <a:t> Notebook to demonstrate </a:t>
            </a:r>
            <a:r>
              <a:rPr lang="en-US" b="1" dirty="0"/>
              <a:t>numerical roundoff error</a:t>
            </a:r>
            <a:r>
              <a:rPr lang="en-US" dirty="0"/>
              <a:t>.</a:t>
            </a:r>
          </a:p>
          <a:p>
            <a:r>
              <a:rPr lang="en-US" dirty="0"/>
              <a:t>In the first cell, the value is calculated directly as:</a:t>
            </a:r>
          </a:p>
          <a:p>
            <a:r>
              <a:rPr lang="en-US" dirty="0"/>
              <a:t>x1 = 2.0 / 10000</a:t>
            </a:r>
          </a:p>
          <a:p>
            <a:r>
              <a:rPr lang="en-US" dirty="0"/>
              <a:t>The result printed with 18 decimal digits is:</a:t>
            </a:r>
          </a:p>
          <a:p>
            <a:r>
              <a:rPr lang="en-US" dirty="0"/>
              <a:t>0.000200000000000000</a:t>
            </a:r>
          </a:p>
          <a:p>
            <a:r>
              <a:rPr lang="en-US" dirty="0"/>
              <a:t>This looks exact and correct.</a:t>
            </a:r>
          </a:p>
          <a:p>
            <a:r>
              <a:rPr lang="en-US" dirty="0"/>
              <a:t>In the second cell, the same value is computed using:</a:t>
            </a:r>
          </a:p>
          <a:p>
            <a:r>
              <a:rPr lang="en-US" dirty="0"/>
              <a:t>x2 = (1 / 10000) - (1 - 1 / 10000)</a:t>
            </a:r>
          </a:p>
          <a:p>
            <a:r>
              <a:rPr lang="en-US" dirty="0"/>
              <a:t>Mathematically, this should give exactly the same result as x1. However, when printed with 18 decimal digits, the result becomes:</a:t>
            </a:r>
          </a:p>
          <a:p>
            <a:r>
              <a:rPr lang="en-US" dirty="0"/>
              <a:t>0.000199999999999978</a:t>
            </a:r>
          </a:p>
          <a:p>
            <a:r>
              <a:rPr lang="en-US" dirty="0"/>
              <a:t>We can see a very small difference in the last digits.</a:t>
            </a:r>
          </a:p>
          <a:p>
            <a:r>
              <a:rPr lang="en-US" dirty="0"/>
              <a:t>This difference appears because the computer stores numbers with limited precision. When subtracting two numbers that are very close to each other (like 1 + small value and 1 - small value), some important digits are lost. This is called </a:t>
            </a:r>
            <a:r>
              <a:rPr lang="en-US" b="1" dirty="0"/>
              <a:t>loss of precision</a:t>
            </a:r>
            <a:r>
              <a:rPr lang="en-US" dirty="0"/>
              <a:t> or </a:t>
            </a:r>
            <a:r>
              <a:rPr lang="en-US" b="1" dirty="0"/>
              <a:t>roundoff error</a:t>
            </a:r>
            <a:r>
              <a:rPr lang="en-US" dirty="0"/>
              <a:t>.</a:t>
            </a:r>
          </a:p>
          <a:p>
            <a:r>
              <a:rPr lang="en-US" dirty="0"/>
              <a:t>This example clearly shows why numerical stability is important in machine learning. When algorithms (like </a:t>
            </a:r>
            <a:r>
              <a:rPr lang="en-US" dirty="0" err="1"/>
              <a:t>softmax</a:t>
            </a:r>
            <a:r>
              <a:rPr lang="en-US" dirty="0"/>
              <a:t>) involve exponentials and subtraction of large or very similar numbers, small numerical errors can appear. That is why we use improved and numerically stable implementations.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39</a:t>
            </a:fld>
            <a:endParaRPr lang="en-IL"/>
          </a:p>
        </p:txBody>
      </p:sp>
    </p:spTree>
    <p:extLst>
      <p:ext uri="{BB962C8B-B14F-4D97-AF65-F5344CB8AC3E}">
        <p14:creationId xmlns:p14="http://schemas.microsoft.com/office/powerpoint/2010/main" val="17047592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explains how to implement </a:t>
            </a:r>
            <a:r>
              <a:rPr lang="en-US" b="1" dirty="0" err="1"/>
              <a:t>softmax</a:t>
            </a:r>
            <a:r>
              <a:rPr lang="en-US" b="1" dirty="0"/>
              <a:t> in a more numerically accurate way</a:t>
            </a:r>
            <a:r>
              <a:rPr lang="en-US" dirty="0"/>
              <a:t>.</a:t>
            </a:r>
          </a:p>
          <a:p>
            <a:r>
              <a:rPr lang="en-US" dirty="0"/>
              <a:t>In </a:t>
            </a:r>
            <a:r>
              <a:rPr lang="en-US" dirty="0" err="1"/>
              <a:t>softmax</a:t>
            </a:r>
            <a:r>
              <a:rPr lang="en-US" dirty="0"/>
              <a:t> regression, the model outputs several values (for example, 10 values for digits 0–9). These values are converted into probabilities using the </a:t>
            </a:r>
            <a:r>
              <a:rPr lang="en-US" dirty="0" err="1"/>
              <a:t>softmax</a:t>
            </a:r>
            <a:r>
              <a:rPr lang="en-US" dirty="0"/>
              <a:t> function. The loss function then calculates the negative log of the predicted probability of the correct class.</a:t>
            </a:r>
          </a:p>
          <a:p>
            <a:r>
              <a:rPr lang="en-US" dirty="0"/>
              <a:t>However, computing </a:t>
            </a:r>
            <a:r>
              <a:rPr lang="en-US" dirty="0" err="1"/>
              <a:t>softmax</a:t>
            </a:r>
            <a:r>
              <a:rPr lang="en-US" dirty="0"/>
              <a:t> directly can cause numerical problems. This is because </a:t>
            </a:r>
            <a:r>
              <a:rPr lang="en-US" dirty="0" err="1"/>
              <a:t>softmax</a:t>
            </a:r>
            <a:r>
              <a:rPr lang="en-US" dirty="0"/>
              <a:t> uses exponential functions like e raised to z. If the values of z are very large or very small, the exponential can overflow (become extremely large) or underflow (become extremely small). This leads to instability and inaccurate loss calculations.</a:t>
            </a:r>
          </a:p>
          <a:p>
            <a:r>
              <a:rPr lang="en-US" dirty="0"/>
              <a:t>To make the implementation more accurate, we avoid computing </a:t>
            </a:r>
            <a:r>
              <a:rPr lang="en-US" dirty="0" err="1"/>
              <a:t>softmax</a:t>
            </a:r>
            <a:r>
              <a:rPr lang="en-US" dirty="0"/>
              <a:t> separately before the loss. Instead, we use the logits (the raw outputs before </a:t>
            </a:r>
            <a:r>
              <a:rPr lang="en-US" dirty="0" err="1"/>
              <a:t>softmax</a:t>
            </a:r>
            <a:r>
              <a:rPr lang="en-US" dirty="0"/>
              <a:t>) directly inside a special loss function. In TensorFlow, this is done by setting the final layer activation to linear (no </a:t>
            </a:r>
            <a:r>
              <a:rPr lang="en-US" dirty="0" err="1"/>
              <a:t>softmax</a:t>
            </a:r>
            <a:r>
              <a:rPr lang="en-US" dirty="0"/>
              <a:t>) and using:</a:t>
            </a:r>
          </a:p>
          <a:p>
            <a:r>
              <a:rPr lang="en-US" dirty="0"/>
              <a:t>loss = </a:t>
            </a:r>
            <a:r>
              <a:rPr lang="en-US" dirty="0" err="1"/>
              <a:t>SparseCategoricalCrossEntropy</a:t>
            </a:r>
            <a:r>
              <a:rPr lang="en-US" dirty="0"/>
              <a:t>(</a:t>
            </a:r>
            <a:r>
              <a:rPr lang="en-US" dirty="0" err="1"/>
              <a:t>from_logits</a:t>
            </a:r>
            <a:r>
              <a:rPr lang="en-US" dirty="0"/>
              <a:t>=True)</a:t>
            </a:r>
          </a:p>
          <a:p>
            <a:r>
              <a:rPr lang="en-US" dirty="0"/>
              <a:t>This allows the framework to combine </a:t>
            </a:r>
            <a:r>
              <a:rPr lang="en-US" dirty="0" err="1"/>
              <a:t>softmax</a:t>
            </a:r>
            <a:r>
              <a:rPr lang="en-US" dirty="0"/>
              <a:t> and cross-entropy in a single, numerically stable computation.</a:t>
            </a:r>
          </a:p>
          <a:p>
            <a:r>
              <a:rPr lang="en-US" dirty="0"/>
              <a:t>The key idea of this slide is:</a:t>
            </a:r>
            <a:br>
              <a:rPr lang="en-US" dirty="0"/>
            </a:br>
            <a:r>
              <a:rPr lang="en-US" dirty="0"/>
              <a:t>For better numerical stability, do not apply </a:t>
            </a:r>
            <a:r>
              <a:rPr lang="en-US" dirty="0" err="1"/>
              <a:t>softmax</a:t>
            </a:r>
            <a:r>
              <a:rPr lang="en-US" dirty="0"/>
              <a:t> manually. Instead, pass the raw logits to a stable cross-entropy implementation that handles </a:t>
            </a:r>
            <a:r>
              <a:rPr lang="en-US" dirty="0" err="1"/>
              <a:t>softmax</a:t>
            </a:r>
            <a:r>
              <a:rPr lang="en-US" dirty="0"/>
              <a:t> internally in a safer way.</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40</a:t>
            </a:fld>
            <a:endParaRPr lang="en-IL"/>
          </a:p>
        </p:txBody>
      </p:sp>
    </p:spTree>
    <p:extLst>
      <p:ext uri="{BB962C8B-B14F-4D97-AF65-F5344CB8AC3E}">
        <p14:creationId xmlns:p14="http://schemas.microsoft.com/office/powerpoint/2010/main" val="30410614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shows how to implement the MNIST digit classification model in a </a:t>
            </a:r>
            <a:r>
              <a:rPr lang="en-US" b="1" dirty="0"/>
              <a:t>more numerically accurate way</a:t>
            </a:r>
            <a:r>
              <a:rPr lang="en-US" dirty="0"/>
              <a:t>.</a:t>
            </a:r>
          </a:p>
          <a:p>
            <a:r>
              <a:rPr lang="en-US" dirty="0"/>
              <a:t>The model is built using TensorFlow with two hidden layers using </a:t>
            </a:r>
            <a:r>
              <a:rPr lang="en-US" dirty="0" err="1"/>
              <a:t>ReLU</a:t>
            </a:r>
            <a:r>
              <a:rPr lang="en-US" dirty="0"/>
              <a:t> activation. The final layer has 10 units (for digits 0–9), but notice that the activation is set to </a:t>
            </a:r>
            <a:r>
              <a:rPr lang="en-US" b="1" dirty="0"/>
              <a:t>linear</a:t>
            </a:r>
            <a:r>
              <a:rPr lang="en-US" dirty="0"/>
              <a:t>, not </a:t>
            </a:r>
            <a:r>
              <a:rPr lang="en-US" dirty="0" err="1"/>
              <a:t>softmax</a:t>
            </a:r>
            <a:r>
              <a:rPr lang="en-US" dirty="0"/>
              <a:t>.</a:t>
            </a:r>
          </a:p>
          <a:p>
            <a:r>
              <a:rPr lang="en-US" dirty="0"/>
              <a:t>This is very important.</a:t>
            </a:r>
          </a:p>
          <a:p>
            <a:r>
              <a:rPr lang="en-US" dirty="0"/>
              <a:t>Instead of applying </a:t>
            </a:r>
            <a:r>
              <a:rPr lang="en-US" dirty="0" err="1"/>
              <a:t>softmax</a:t>
            </a:r>
            <a:r>
              <a:rPr lang="en-US" dirty="0"/>
              <a:t> inside the model, we compile the model using:</a:t>
            </a:r>
          </a:p>
          <a:p>
            <a:r>
              <a:rPr lang="en-US" dirty="0" err="1"/>
              <a:t>SparseCategoricalCrossEntropy</a:t>
            </a:r>
            <a:r>
              <a:rPr lang="en-US" dirty="0"/>
              <a:t>(</a:t>
            </a:r>
            <a:r>
              <a:rPr lang="en-US" dirty="0" err="1"/>
              <a:t>from_logits</a:t>
            </a:r>
            <a:r>
              <a:rPr lang="en-US" dirty="0"/>
              <a:t>=True)</a:t>
            </a:r>
          </a:p>
          <a:p>
            <a:r>
              <a:rPr lang="en-US" dirty="0"/>
              <a:t>This means that the loss function expects </a:t>
            </a:r>
            <a:r>
              <a:rPr lang="en-US" b="1" dirty="0"/>
              <a:t>logits</a:t>
            </a:r>
            <a:r>
              <a:rPr lang="en-US" dirty="0"/>
              <a:t> (raw outputs z1 to z10), not probabilities (a1 to a10). The framework will internally apply </a:t>
            </a:r>
            <a:r>
              <a:rPr lang="en-US" dirty="0" err="1"/>
              <a:t>softmax</a:t>
            </a:r>
            <a:r>
              <a:rPr lang="en-US" dirty="0"/>
              <a:t> in a numerically stable way when computing the loss.</a:t>
            </a:r>
          </a:p>
          <a:p>
            <a:r>
              <a:rPr lang="en-US" dirty="0"/>
              <a:t>During training:</a:t>
            </a:r>
          </a:p>
          <a:p>
            <a:pPr>
              <a:buFont typeface="Arial" panose="020B0604020202020204" pitchFamily="34" charset="0"/>
              <a:buChar char="•"/>
            </a:pPr>
            <a:r>
              <a:rPr lang="en-US" dirty="0"/>
              <a:t>The model outputs logits.</a:t>
            </a:r>
          </a:p>
          <a:p>
            <a:pPr>
              <a:buFont typeface="Arial" panose="020B0604020202020204" pitchFamily="34" charset="0"/>
              <a:buChar char="•"/>
            </a:pPr>
            <a:r>
              <a:rPr lang="en-US" dirty="0"/>
              <a:t>The loss function handles </a:t>
            </a:r>
            <a:r>
              <a:rPr lang="en-US" dirty="0" err="1"/>
              <a:t>softmax</a:t>
            </a:r>
            <a:r>
              <a:rPr lang="en-US" dirty="0"/>
              <a:t> safely.</a:t>
            </a:r>
          </a:p>
          <a:p>
            <a:r>
              <a:rPr lang="en-US" dirty="0"/>
              <a:t>During prediction:</a:t>
            </a:r>
          </a:p>
          <a:p>
            <a:pPr>
              <a:buFont typeface="Arial" panose="020B0604020202020204" pitchFamily="34" charset="0"/>
              <a:buChar char="•"/>
            </a:pPr>
            <a:r>
              <a:rPr lang="en-US" dirty="0"/>
              <a:t>model(X) returns logits (z1 to z10).</a:t>
            </a:r>
          </a:p>
          <a:p>
            <a:pPr>
              <a:buFont typeface="Arial" panose="020B0604020202020204" pitchFamily="34" charset="0"/>
              <a:buChar char="•"/>
            </a:pPr>
            <a:r>
              <a:rPr lang="en-US" dirty="0"/>
              <a:t>If we want probabilities, we manually apply </a:t>
            </a:r>
            <a:r>
              <a:rPr lang="en-US" dirty="0" err="1"/>
              <a:t>softmax</a:t>
            </a:r>
            <a:r>
              <a:rPr lang="en-US" dirty="0"/>
              <a:t> using:</a:t>
            </a:r>
            <a:br>
              <a:rPr lang="en-US" dirty="0"/>
            </a:br>
            <a:r>
              <a:rPr lang="en-US" dirty="0" err="1"/>
              <a:t>tf.nn.softmax</a:t>
            </a:r>
            <a:r>
              <a:rPr lang="en-US" dirty="0"/>
              <a:t>(logits)</a:t>
            </a:r>
          </a:p>
          <a:p>
            <a:r>
              <a:rPr lang="en-US" dirty="0"/>
              <a:t>The key idea of this slide is:</a:t>
            </a:r>
          </a:p>
          <a:p>
            <a:r>
              <a:rPr lang="en-US" dirty="0"/>
              <a:t>For better numerical stability, do not use </a:t>
            </a:r>
            <a:r>
              <a:rPr lang="en-US" dirty="0" err="1"/>
              <a:t>softmax</a:t>
            </a:r>
            <a:r>
              <a:rPr lang="en-US" dirty="0"/>
              <a:t> as the final activation when training. Instead, use a linear output layer and let the cross-entropy loss handle </a:t>
            </a:r>
            <a:r>
              <a:rPr lang="en-US" dirty="0" err="1"/>
              <a:t>softmax</a:t>
            </a:r>
            <a:r>
              <a:rPr lang="en-US" dirty="0"/>
              <a:t> internally with </a:t>
            </a:r>
            <a:r>
              <a:rPr lang="en-US" dirty="0" err="1"/>
              <a:t>from_logits</a:t>
            </a:r>
            <a:r>
              <a:rPr lang="en-US" dirty="0"/>
              <a:t>=True. This avoids numerical roundoff problems and makes training more stable and accurate.</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41</a:t>
            </a:fld>
            <a:endParaRPr lang="en-IL"/>
          </a:p>
        </p:txBody>
      </p:sp>
    </p:spTree>
    <p:extLst>
      <p:ext uri="{BB962C8B-B14F-4D97-AF65-F5344CB8AC3E}">
        <p14:creationId xmlns:p14="http://schemas.microsoft.com/office/powerpoint/2010/main" val="5475594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shows how to implement </a:t>
            </a:r>
            <a:r>
              <a:rPr lang="en-US" b="1" dirty="0"/>
              <a:t>logistic regression in a more numerically accurate way</a:t>
            </a:r>
            <a:r>
              <a:rPr lang="en-US" dirty="0"/>
              <a:t>.</a:t>
            </a:r>
          </a:p>
          <a:p>
            <a:r>
              <a:rPr lang="en-US" dirty="0"/>
              <a:t>The model has hidden layers using sigmoid activation, but the final output layer uses a </a:t>
            </a:r>
            <a:r>
              <a:rPr lang="en-US" b="1" dirty="0"/>
              <a:t>linear activation</a:t>
            </a:r>
            <a:r>
              <a:rPr lang="en-US" dirty="0"/>
              <a:t>, not sigmoid. This means the model outputs a raw value called a </a:t>
            </a:r>
            <a:r>
              <a:rPr lang="en-US" b="1" dirty="0"/>
              <a:t>logit</a:t>
            </a:r>
            <a:r>
              <a:rPr lang="en-US" dirty="0"/>
              <a:t> (z), not a probability.</a:t>
            </a:r>
          </a:p>
          <a:p>
            <a:r>
              <a:rPr lang="en-US" dirty="0"/>
              <a:t>When compiling the model, we use:</a:t>
            </a:r>
          </a:p>
          <a:p>
            <a:r>
              <a:rPr lang="en-US" dirty="0" err="1"/>
              <a:t>BinaryCrossentropy</a:t>
            </a:r>
            <a:r>
              <a:rPr lang="en-US" dirty="0"/>
              <a:t>(</a:t>
            </a:r>
            <a:r>
              <a:rPr lang="en-US" dirty="0" err="1"/>
              <a:t>from_logits</a:t>
            </a:r>
            <a:r>
              <a:rPr lang="en-US" dirty="0"/>
              <a:t>=True)</a:t>
            </a:r>
          </a:p>
          <a:p>
            <a:r>
              <a:rPr lang="en-US" dirty="0"/>
              <a:t>This tells TensorFlow that the model outputs logits, and the loss function will internally apply the sigmoid function in a numerically stable way when computing the loss.</a:t>
            </a:r>
          </a:p>
          <a:p>
            <a:r>
              <a:rPr lang="en-US" dirty="0"/>
              <a:t>During training:</a:t>
            </a:r>
          </a:p>
          <a:p>
            <a:pPr>
              <a:buFont typeface="Arial" panose="020B0604020202020204" pitchFamily="34" charset="0"/>
              <a:buChar char="•"/>
            </a:pPr>
            <a:r>
              <a:rPr lang="en-US" dirty="0"/>
              <a:t>The model outputs a logit (z).</a:t>
            </a:r>
          </a:p>
          <a:p>
            <a:pPr>
              <a:buFont typeface="Arial" panose="020B0604020202020204" pitchFamily="34" charset="0"/>
              <a:buChar char="•"/>
            </a:pPr>
            <a:r>
              <a:rPr lang="en-US" dirty="0"/>
              <a:t>The loss function safely applies sigmoid inside the cross-entropy calculation.</a:t>
            </a:r>
          </a:p>
          <a:p>
            <a:r>
              <a:rPr lang="en-US" dirty="0"/>
              <a:t>During prediction:</a:t>
            </a:r>
          </a:p>
          <a:p>
            <a:pPr>
              <a:buFont typeface="Arial" panose="020B0604020202020204" pitchFamily="34" charset="0"/>
              <a:buChar char="•"/>
            </a:pPr>
            <a:r>
              <a:rPr lang="en-US" dirty="0"/>
              <a:t>model(X) returns the logit (z).</a:t>
            </a:r>
          </a:p>
          <a:p>
            <a:pPr>
              <a:buFont typeface="Arial" panose="020B0604020202020204" pitchFamily="34" charset="0"/>
              <a:buChar char="•"/>
            </a:pPr>
            <a:r>
              <a:rPr lang="en-US" dirty="0"/>
              <a:t>If we want a probability between 0 and 1, we manually apply:</a:t>
            </a:r>
            <a:br>
              <a:rPr lang="en-US" dirty="0"/>
            </a:br>
            <a:r>
              <a:rPr lang="en-US" dirty="0" err="1"/>
              <a:t>tf.nn.sigmoid</a:t>
            </a:r>
            <a:r>
              <a:rPr lang="en-US" dirty="0"/>
              <a:t>(logit)</a:t>
            </a:r>
          </a:p>
          <a:p>
            <a:r>
              <a:rPr lang="en-US" dirty="0"/>
              <a:t>The key idea is the same as in </a:t>
            </a:r>
            <a:r>
              <a:rPr lang="en-US" dirty="0" err="1"/>
              <a:t>softmax</a:t>
            </a:r>
            <a:r>
              <a:rPr lang="en-US" dirty="0"/>
              <a:t>:</a:t>
            </a:r>
            <a:br>
              <a:rPr lang="en-US" dirty="0"/>
            </a:br>
            <a:r>
              <a:rPr lang="en-US" dirty="0"/>
              <a:t>For better numerical stability, do not apply sigmoid inside the model during training. Instead, use a linear output layer and set </a:t>
            </a:r>
            <a:r>
              <a:rPr lang="en-US" dirty="0" err="1"/>
              <a:t>from_logits</a:t>
            </a:r>
            <a:r>
              <a:rPr lang="en-US" dirty="0"/>
              <a:t>=True in the loss function. This avoids numerical roundoff problems and makes training more stable and accurate.</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42</a:t>
            </a:fld>
            <a:endParaRPr lang="en-IL"/>
          </a:p>
        </p:txBody>
      </p:sp>
    </p:spTree>
    <p:extLst>
      <p:ext uri="{BB962C8B-B14F-4D97-AF65-F5344CB8AC3E}">
        <p14:creationId xmlns:p14="http://schemas.microsoft.com/office/powerpoint/2010/main" val="4029869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section introduces </a:t>
            </a:r>
            <a:r>
              <a:rPr lang="en-US" b="1" dirty="0"/>
              <a:t>multi-label classification</a:t>
            </a:r>
            <a:r>
              <a:rPr lang="en-US" dirty="0"/>
              <a:t>, which is different from multiclass classification. In multiclass classification, each example belongs to only one class. In multi-label classification, each example can belong to </a:t>
            </a:r>
            <a:r>
              <a:rPr lang="en-US" b="1" dirty="0"/>
              <a:t>multiple classes at the same time</a:t>
            </a:r>
            <a:r>
              <a:rPr lang="en-US" dirty="0"/>
              <a:t>. For example, an image may contain both a car and a person, or a medical case may have more than one condition. In this section, we learn how to design models that produce multiple independent outputs and how to handle classification problems where more than one label can be true simultaneously.</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43</a:t>
            </a:fld>
            <a:endParaRPr lang="en-IL"/>
          </a:p>
        </p:txBody>
      </p:sp>
    </p:spTree>
    <p:extLst>
      <p:ext uri="{BB962C8B-B14F-4D97-AF65-F5344CB8AC3E}">
        <p14:creationId xmlns:p14="http://schemas.microsoft.com/office/powerpoint/2010/main" val="6363080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explains the idea of </a:t>
            </a:r>
            <a:r>
              <a:rPr lang="en-US" b="1" dirty="0"/>
              <a:t>multi-label classification</a:t>
            </a:r>
            <a:r>
              <a:rPr lang="en-US" dirty="0"/>
              <a:t> using images as examples.</a:t>
            </a:r>
          </a:p>
          <a:p>
            <a:r>
              <a:rPr lang="en-US" dirty="0"/>
              <a:t>In each image, we do not ask only one question like “What object is this?” Instead, we ask several independent questions:</a:t>
            </a:r>
          </a:p>
          <a:p>
            <a:pPr>
              <a:buFont typeface="Arial" panose="020B0604020202020204" pitchFamily="34" charset="0"/>
              <a:buChar char="•"/>
            </a:pPr>
            <a:r>
              <a:rPr lang="en-US" dirty="0"/>
              <a:t>Is there a car?</a:t>
            </a:r>
          </a:p>
          <a:p>
            <a:pPr>
              <a:buFont typeface="Arial" panose="020B0604020202020204" pitchFamily="34" charset="0"/>
              <a:buChar char="•"/>
            </a:pPr>
            <a:r>
              <a:rPr lang="en-US" dirty="0"/>
              <a:t>Is there a bus?</a:t>
            </a:r>
          </a:p>
          <a:p>
            <a:pPr>
              <a:buFont typeface="Arial" panose="020B0604020202020204" pitchFamily="34" charset="0"/>
              <a:buChar char="•"/>
            </a:pPr>
            <a:r>
              <a:rPr lang="en-US" dirty="0"/>
              <a:t>Is there a pedestrian?</a:t>
            </a:r>
          </a:p>
          <a:p>
            <a:r>
              <a:rPr lang="en-US" dirty="0"/>
              <a:t>Each question has its own yes (1) or no (0) answer. So instead of producing one single class label, the model produces a </a:t>
            </a:r>
            <a:r>
              <a:rPr lang="en-US" b="1" dirty="0"/>
              <a:t>vector of outputs</a:t>
            </a:r>
            <a:r>
              <a:rPr lang="en-US" dirty="0"/>
              <a:t>, for example:</a:t>
            </a:r>
          </a:p>
          <a:p>
            <a:pPr>
              <a:buFont typeface="Arial" panose="020B0604020202020204" pitchFamily="34" charset="0"/>
              <a:buChar char="•"/>
            </a:pPr>
            <a:r>
              <a:rPr lang="en-US" dirty="0"/>
              <a:t>[1, 0, 1] → car: yes, bus: no, pedestrian: yes</a:t>
            </a:r>
          </a:p>
          <a:p>
            <a:pPr>
              <a:buFont typeface="Arial" panose="020B0604020202020204" pitchFamily="34" charset="0"/>
              <a:buChar char="•"/>
            </a:pPr>
            <a:r>
              <a:rPr lang="en-US" dirty="0"/>
              <a:t>[0, 0, 1] → only pedestrian</a:t>
            </a:r>
          </a:p>
          <a:p>
            <a:pPr>
              <a:buFont typeface="Arial" panose="020B0604020202020204" pitchFamily="34" charset="0"/>
              <a:buChar char="•"/>
            </a:pPr>
            <a:r>
              <a:rPr lang="en-US" dirty="0"/>
              <a:t>[1, 1, 0] → car and bus, no pedestrian</a:t>
            </a:r>
          </a:p>
          <a:p>
            <a:r>
              <a:rPr lang="en-US" dirty="0"/>
              <a:t>The important idea is that the labels are </a:t>
            </a:r>
            <a:r>
              <a:rPr lang="en-US" b="1" dirty="0"/>
              <a:t>not mutually exclusive</a:t>
            </a:r>
            <a:r>
              <a:rPr lang="en-US" dirty="0"/>
              <a:t>. An image can contain more than one object at the same time.</a:t>
            </a:r>
          </a:p>
          <a:p>
            <a:r>
              <a:rPr lang="en-US" dirty="0"/>
              <a:t>In multi-label classification:</a:t>
            </a:r>
          </a:p>
          <a:p>
            <a:pPr>
              <a:buFont typeface="Arial" panose="020B0604020202020204" pitchFamily="34" charset="0"/>
              <a:buChar char="•"/>
            </a:pPr>
            <a:r>
              <a:rPr lang="en-US" dirty="0"/>
              <a:t>Each output unit makes an independent decision.</a:t>
            </a:r>
          </a:p>
          <a:p>
            <a:pPr>
              <a:buFont typeface="Arial" panose="020B0604020202020204" pitchFamily="34" charset="0"/>
              <a:buChar char="•"/>
            </a:pPr>
            <a:r>
              <a:rPr lang="en-US" dirty="0"/>
              <a:t>We usually use one sigmoid output per label.</a:t>
            </a:r>
          </a:p>
          <a:p>
            <a:pPr>
              <a:buFont typeface="Arial" panose="020B0604020202020204" pitchFamily="34" charset="0"/>
              <a:buChar char="•"/>
            </a:pPr>
            <a:r>
              <a:rPr lang="en-US" dirty="0"/>
              <a:t>The model predicts multiple binary values instead of one single class.</a:t>
            </a:r>
          </a:p>
          <a:p>
            <a:r>
              <a:rPr lang="en-US" dirty="0"/>
              <a:t>This is different from multiclass classification, where only one class can be correct.</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44</a:t>
            </a:fld>
            <a:endParaRPr lang="en-IL"/>
          </a:p>
        </p:txBody>
      </p:sp>
    </p:spTree>
    <p:extLst>
      <p:ext uri="{BB962C8B-B14F-4D97-AF65-F5344CB8AC3E}">
        <p14:creationId xmlns:p14="http://schemas.microsoft.com/office/powerpoint/2010/main" val="409144358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explains two ways to build a model for </a:t>
            </a:r>
            <a:r>
              <a:rPr lang="en-US" b="1" dirty="0"/>
              <a:t>multi-label classification</a:t>
            </a:r>
            <a:r>
              <a:rPr lang="en-US" dirty="0"/>
              <a:t>.</a:t>
            </a:r>
          </a:p>
          <a:p>
            <a:r>
              <a:rPr lang="en-US" dirty="0"/>
              <a:t>In the first approach, we can train </a:t>
            </a:r>
            <a:r>
              <a:rPr lang="en-US" b="1" dirty="0"/>
              <a:t>three separate neural networks</a:t>
            </a:r>
            <a:r>
              <a:rPr lang="en-US" dirty="0"/>
              <a:t>, one for each task:</a:t>
            </a:r>
          </a:p>
          <a:p>
            <a:pPr>
              <a:buFont typeface="Arial" panose="020B0604020202020204" pitchFamily="34" charset="0"/>
              <a:buChar char="•"/>
            </a:pPr>
            <a:r>
              <a:rPr lang="en-US" dirty="0"/>
              <a:t>One network predicts if there is a car.</a:t>
            </a:r>
          </a:p>
          <a:p>
            <a:pPr>
              <a:buFont typeface="Arial" panose="020B0604020202020204" pitchFamily="34" charset="0"/>
              <a:buChar char="•"/>
            </a:pPr>
            <a:r>
              <a:rPr lang="en-US" dirty="0"/>
              <a:t>One network predicts if there is a bus.</a:t>
            </a:r>
          </a:p>
          <a:p>
            <a:pPr>
              <a:buFont typeface="Arial" panose="020B0604020202020204" pitchFamily="34" charset="0"/>
              <a:buChar char="•"/>
            </a:pPr>
            <a:r>
              <a:rPr lang="en-US" dirty="0"/>
              <a:t>One network predicts if there is a pedestrian.</a:t>
            </a:r>
          </a:p>
          <a:p>
            <a:r>
              <a:rPr lang="en-US" dirty="0"/>
              <a:t>Each network produces one binary output (yes or no).</a:t>
            </a:r>
          </a:p>
          <a:p>
            <a:r>
              <a:rPr lang="en-US" dirty="0"/>
              <a:t>Alternatively, we can train </a:t>
            </a:r>
            <a:r>
              <a:rPr lang="en-US" b="1" dirty="0"/>
              <a:t>one single neural network with three outputs</a:t>
            </a:r>
            <a:r>
              <a:rPr lang="en-US" dirty="0"/>
              <a:t>. In this case:</a:t>
            </a:r>
          </a:p>
          <a:p>
            <a:pPr>
              <a:buFont typeface="Arial" panose="020B0604020202020204" pitchFamily="34" charset="0"/>
              <a:buChar char="•"/>
            </a:pPr>
            <a:r>
              <a:rPr lang="en-US" dirty="0"/>
              <a:t>The input passes through shared hidden layers.</a:t>
            </a:r>
          </a:p>
          <a:p>
            <a:pPr>
              <a:buFont typeface="Arial" panose="020B0604020202020204" pitchFamily="34" charset="0"/>
              <a:buChar char="•"/>
            </a:pPr>
            <a:r>
              <a:rPr lang="en-US" dirty="0"/>
              <a:t>The final layer has three output units.</a:t>
            </a:r>
          </a:p>
          <a:p>
            <a:pPr>
              <a:buFont typeface="Arial" panose="020B0604020202020204" pitchFamily="34" charset="0"/>
              <a:buChar char="•"/>
            </a:pPr>
            <a:r>
              <a:rPr lang="en-US" dirty="0"/>
              <a:t>Each output uses a sigmoid activation.</a:t>
            </a:r>
          </a:p>
          <a:p>
            <a:pPr>
              <a:buFont typeface="Arial" panose="020B0604020202020204" pitchFamily="34" charset="0"/>
              <a:buChar char="•"/>
            </a:pPr>
            <a:r>
              <a:rPr lang="en-US" dirty="0"/>
              <a:t>Each output independently predicts one label.</a:t>
            </a:r>
          </a:p>
          <a:p>
            <a:r>
              <a:rPr lang="en-US" dirty="0"/>
              <a:t>The final output is a vector like:</a:t>
            </a:r>
            <a:br>
              <a:rPr lang="en-US" dirty="0"/>
            </a:br>
            <a:r>
              <a:rPr lang="en-US" dirty="0"/>
              <a:t>[a1, a2, a3]</a:t>
            </a:r>
          </a:p>
          <a:p>
            <a:r>
              <a:rPr lang="en-US" dirty="0"/>
              <a:t>Where:</a:t>
            </a:r>
          </a:p>
          <a:p>
            <a:pPr>
              <a:buFont typeface="Arial" panose="020B0604020202020204" pitchFamily="34" charset="0"/>
              <a:buChar char="•"/>
            </a:pPr>
            <a:r>
              <a:rPr lang="en-US" dirty="0"/>
              <a:t>a1 → probability of car</a:t>
            </a:r>
          </a:p>
          <a:p>
            <a:pPr>
              <a:buFont typeface="Arial" panose="020B0604020202020204" pitchFamily="34" charset="0"/>
              <a:buChar char="•"/>
            </a:pPr>
            <a:r>
              <a:rPr lang="en-US" dirty="0"/>
              <a:t>a2 → probability of bus</a:t>
            </a:r>
          </a:p>
          <a:p>
            <a:pPr>
              <a:buFont typeface="Arial" panose="020B0604020202020204" pitchFamily="34" charset="0"/>
              <a:buChar char="•"/>
            </a:pPr>
            <a:r>
              <a:rPr lang="en-US" dirty="0"/>
              <a:t>a3 → probability of pedestrian</a:t>
            </a:r>
          </a:p>
          <a:p>
            <a:r>
              <a:rPr lang="en-US" dirty="0"/>
              <a:t>The key idea is that in multi-label classification:</a:t>
            </a:r>
          </a:p>
          <a:p>
            <a:pPr>
              <a:buFont typeface="Arial" panose="020B0604020202020204" pitchFamily="34" charset="0"/>
              <a:buChar char="•"/>
            </a:pPr>
            <a:r>
              <a:rPr lang="en-US" dirty="0"/>
              <a:t>Outputs are independent.</a:t>
            </a:r>
          </a:p>
          <a:p>
            <a:pPr>
              <a:buFont typeface="Arial" panose="020B0604020202020204" pitchFamily="34" charset="0"/>
              <a:buChar char="•"/>
            </a:pPr>
            <a:r>
              <a:rPr lang="en-US" dirty="0"/>
              <a:t>We use sigmoid activation for each output.</a:t>
            </a:r>
          </a:p>
          <a:p>
            <a:pPr>
              <a:buFont typeface="Arial" panose="020B0604020202020204" pitchFamily="34" charset="0"/>
              <a:buChar char="•"/>
            </a:pPr>
            <a:r>
              <a:rPr lang="en-US" dirty="0"/>
              <a:t>We do not use </a:t>
            </a:r>
            <a:r>
              <a:rPr lang="en-US" dirty="0" err="1"/>
              <a:t>softmax</a:t>
            </a:r>
            <a:r>
              <a:rPr lang="en-US" dirty="0"/>
              <a:t> because multiple labels can be true at the same time.</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45</a:t>
            </a:fld>
            <a:endParaRPr lang="en-IL"/>
          </a:p>
        </p:txBody>
      </p:sp>
    </p:spTree>
    <p:extLst>
      <p:ext uri="{BB962C8B-B14F-4D97-AF65-F5344CB8AC3E}">
        <p14:creationId xmlns:p14="http://schemas.microsoft.com/office/powerpoint/2010/main" val="9355785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section introduces </a:t>
            </a:r>
            <a:r>
              <a:rPr lang="en-US" b="1" dirty="0"/>
              <a:t>additional neural network concepts</a:t>
            </a:r>
            <a:r>
              <a:rPr lang="en-US" dirty="0"/>
              <a:t>, focusing on </a:t>
            </a:r>
            <a:r>
              <a:rPr lang="en-US" b="1" dirty="0"/>
              <a:t>advanced optimization techniques</a:t>
            </a:r>
            <a:r>
              <a:rPr lang="en-US" dirty="0"/>
              <a:t>. So far, we have used basic gradient descent to train neural networks. In this part, we will explore improved optimization methods that help models train faster, converge more reliably, and achieve better performance. These techniques are especially important for deep neural networks, where training can be slow or unstable without advanced optimization strategies.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46</a:t>
            </a:fld>
            <a:endParaRPr lang="en-IL"/>
          </a:p>
        </p:txBody>
      </p:sp>
    </p:spTree>
    <p:extLst>
      <p:ext uri="{BB962C8B-B14F-4D97-AF65-F5344CB8AC3E}">
        <p14:creationId xmlns:p14="http://schemas.microsoft.com/office/powerpoint/2010/main" val="9237141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reviews </a:t>
            </a:r>
            <a:r>
              <a:rPr lang="en-US" b="1" dirty="0"/>
              <a:t>Gradient Descent</a:t>
            </a:r>
            <a:r>
              <a:rPr lang="en-US" dirty="0"/>
              <a:t> and highlights the role of the </a:t>
            </a:r>
            <a:r>
              <a:rPr lang="en-US" b="1" dirty="0"/>
              <a:t>learning rate (alpha)</a:t>
            </a:r>
            <a:r>
              <a:rPr lang="en-US" dirty="0"/>
              <a:t> in optimization.</a:t>
            </a:r>
          </a:p>
          <a:p>
            <a:r>
              <a:rPr lang="en-US" dirty="0"/>
              <a:t>The update rule shows that each parameter </a:t>
            </a:r>
            <a:r>
              <a:rPr lang="en-US" dirty="0" err="1"/>
              <a:t>w_j</a:t>
            </a:r>
            <a:r>
              <a:rPr lang="en-US" dirty="0"/>
              <a:t> is updated by subtracting alpha multiplied by the partial derivative of the cost function J with respect to that parameter. The learning rate alpha controls the size of each step taken toward the minimum.</a:t>
            </a:r>
          </a:p>
          <a:p>
            <a:r>
              <a:rPr lang="en-US" dirty="0"/>
              <a:t>The contour plots illustrate how gradient descent moves from a starting point toward the minimum of the cost function.</a:t>
            </a:r>
          </a:p>
          <a:p>
            <a:pPr>
              <a:buFont typeface="Arial" panose="020B0604020202020204" pitchFamily="34" charset="0"/>
              <a:buChar char="•"/>
            </a:pPr>
            <a:r>
              <a:rPr lang="en-US" dirty="0"/>
              <a:t>If alpha is increased, the steps become larger, and the algorithm moves faster. However, if alpha is too large, it may overshoot the minimum or become unstable.</a:t>
            </a:r>
          </a:p>
          <a:p>
            <a:pPr>
              <a:buFont typeface="Arial" panose="020B0604020202020204" pitchFamily="34" charset="0"/>
              <a:buChar char="•"/>
            </a:pPr>
            <a:r>
              <a:rPr lang="en-US" dirty="0"/>
              <a:t>If alpha is decreased, the steps become smaller, and the algorithm moves more slowly, which may make convergence very slow.</a:t>
            </a:r>
          </a:p>
          <a:p>
            <a:r>
              <a:rPr lang="en-US" dirty="0"/>
              <a:t>The slide also hints at advanced optimization methods (such as Adam), which adjust the step sizes automatically to improve convergence speed and stability compared to basic gradient descent.</a:t>
            </a:r>
          </a:p>
          <a:p>
            <a:r>
              <a:rPr lang="en-US" dirty="0"/>
              <a:t>The key idea is that choosing the right learning rate is crucial for efficient and stable training.</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47</a:t>
            </a:fld>
            <a:endParaRPr lang="en-IL"/>
          </a:p>
        </p:txBody>
      </p:sp>
    </p:spTree>
    <p:extLst>
      <p:ext uri="{BB962C8B-B14F-4D97-AF65-F5344CB8AC3E}">
        <p14:creationId xmlns:p14="http://schemas.microsoft.com/office/powerpoint/2010/main" val="376415226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introduces the intuition behind the </a:t>
            </a:r>
            <a:r>
              <a:rPr lang="en-US" b="1" dirty="0"/>
              <a:t>Adam optimization algorithm</a:t>
            </a:r>
            <a:r>
              <a:rPr lang="en-US" dirty="0"/>
              <a:t>. Adam stands for </a:t>
            </a:r>
            <a:r>
              <a:rPr lang="en-US" b="1" dirty="0"/>
              <a:t>Adaptive Moment Estimation</a:t>
            </a:r>
            <a:r>
              <a:rPr lang="en-US" dirty="0"/>
              <a:t>. Unlike standard gradient descent, Adam does not use just one single learning rate for all parameters.</a:t>
            </a:r>
          </a:p>
          <a:p>
            <a:r>
              <a:rPr lang="en-US" dirty="0"/>
              <a:t>In basic gradient descent, the update rule is:</a:t>
            </a:r>
          </a:p>
          <a:p>
            <a:r>
              <a:rPr lang="en-US" dirty="0" err="1"/>
              <a:t>w_j</a:t>
            </a:r>
            <a:r>
              <a:rPr lang="en-US" dirty="0"/>
              <a:t> = </a:t>
            </a:r>
            <a:r>
              <a:rPr lang="en-US" dirty="0" err="1"/>
              <a:t>w_j</a:t>
            </a:r>
            <a:r>
              <a:rPr lang="en-US" dirty="0"/>
              <a:t> − alpha * (∂J(w, b) / ∂</a:t>
            </a:r>
            <a:r>
              <a:rPr lang="en-US" dirty="0" err="1"/>
              <a:t>w_j</a:t>
            </a:r>
            <a:r>
              <a:rPr lang="en-US" dirty="0"/>
              <a:t>)</a:t>
            </a:r>
          </a:p>
          <a:p>
            <a:r>
              <a:rPr lang="en-US" dirty="0"/>
              <a:t>b = b − alpha * (∂J(w, b) / ∂b)</a:t>
            </a:r>
          </a:p>
          <a:p>
            <a:r>
              <a:rPr lang="en-US" dirty="0"/>
              <a:t>Here, the same learning rate alpha is used for every parameter.</a:t>
            </a:r>
          </a:p>
          <a:p>
            <a:r>
              <a:rPr lang="en-US" dirty="0"/>
              <a:t>In Adam, the idea is different. Each parameter has its own adaptive learning rate. Conceptually, the updates look like:</a:t>
            </a:r>
          </a:p>
          <a:p>
            <a:r>
              <a:rPr lang="en-US" dirty="0"/>
              <a:t>w1 = w1 − alpha1 * (∂J(w, b) / ∂w1)</a:t>
            </a:r>
            <a:br>
              <a:rPr lang="en-US" dirty="0"/>
            </a:br>
            <a:r>
              <a:rPr lang="en-US" dirty="0"/>
              <a:t>w10 = w10 − alpha10 * (∂J(w, b) / ∂w10)</a:t>
            </a:r>
            <a:br>
              <a:rPr lang="en-US" dirty="0"/>
            </a:br>
            <a:r>
              <a:rPr lang="en-US" dirty="0"/>
              <a:t>b = b − alpha11 * (∂J(w, b) / ∂b)</a:t>
            </a:r>
          </a:p>
          <a:p>
            <a:r>
              <a:rPr lang="en-US" dirty="0"/>
              <a:t>So instead of one alpha, we effectively have different step sizes for different parameters.</a:t>
            </a:r>
          </a:p>
          <a:p>
            <a:r>
              <a:rPr lang="en-US" dirty="0"/>
              <a:t>More formally, Adam keeps track of two quantities:</a:t>
            </a:r>
          </a:p>
          <a:p>
            <a:pPr>
              <a:buFont typeface="+mj-lt"/>
              <a:buAutoNum type="arabicPeriod"/>
            </a:pPr>
            <a:r>
              <a:rPr lang="en-US" dirty="0"/>
              <a:t>The first moment (moving average of gradients):</a:t>
            </a:r>
            <a:br>
              <a:rPr lang="en-US" dirty="0"/>
            </a:br>
            <a:r>
              <a:rPr lang="en-US" dirty="0" err="1"/>
              <a:t>m_t</a:t>
            </a:r>
            <a:r>
              <a:rPr lang="en-US" dirty="0"/>
              <a:t> = beta1 * m_(t−1) + (1 − beta1) * </a:t>
            </a:r>
            <a:r>
              <a:rPr lang="en-US" dirty="0" err="1"/>
              <a:t>g_t</a:t>
            </a:r>
            <a:endParaRPr lang="en-US" dirty="0"/>
          </a:p>
          <a:p>
            <a:pPr>
              <a:buFont typeface="+mj-lt"/>
              <a:buAutoNum type="arabicPeriod"/>
            </a:pPr>
            <a:r>
              <a:rPr lang="en-US" dirty="0"/>
              <a:t>The second moment (moving average of squared gradients):</a:t>
            </a:r>
            <a:br>
              <a:rPr lang="en-US" dirty="0"/>
            </a:br>
            <a:r>
              <a:rPr lang="en-US" dirty="0" err="1"/>
              <a:t>v_t</a:t>
            </a:r>
            <a:r>
              <a:rPr lang="en-US" dirty="0"/>
              <a:t> = beta2 * v_(t−1) + (1 − beta2) * (</a:t>
            </a:r>
            <a:r>
              <a:rPr lang="en-US" dirty="0" err="1"/>
              <a:t>g_t</a:t>
            </a:r>
            <a:r>
              <a:rPr lang="en-US" dirty="0"/>
              <a:t>)^2</a:t>
            </a:r>
          </a:p>
          <a:p>
            <a:r>
              <a:rPr lang="en-US" dirty="0"/>
              <a:t>Where </a:t>
            </a:r>
            <a:r>
              <a:rPr lang="en-US" dirty="0" err="1"/>
              <a:t>g_t</a:t>
            </a:r>
            <a:r>
              <a:rPr lang="en-US" dirty="0"/>
              <a:t> is the gradient at step t.</a:t>
            </a:r>
          </a:p>
          <a:p>
            <a:r>
              <a:rPr lang="en-US" dirty="0"/>
              <a:t>After bias correction, the parameter update becomes:</a:t>
            </a:r>
          </a:p>
          <a:p>
            <a:r>
              <a:rPr lang="en-US" dirty="0"/>
              <a:t>w = w − alpha * (</a:t>
            </a:r>
            <a:r>
              <a:rPr lang="en-US" dirty="0" err="1"/>
              <a:t>m_hat</a:t>
            </a:r>
            <a:r>
              <a:rPr lang="en-US" dirty="0"/>
              <a:t> / (sqrt(</a:t>
            </a:r>
            <a:r>
              <a:rPr lang="en-US" dirty="0" err="1"/>
              <a:t>v_hat</a:t>
            </a:r>
            <a:r>
              <a:rPr lang="en-US" dirty="0"/>
              <a:t>) + epsilon))</a:t>
            </a:r>
          </a:p>
          <a:p>
            <a:r>
              <a:rPr lang="en-US" dirty="0"/>
              <a:t>Because of this adaptive scaling using </a:t>
            </a:r>
            <a:r>
              <a:rPr lang="en-US" dirty="0" err="1"/>
              <a:t>m_hat</a:t>
            </a:r>
            <a:r>
              <a:rPr lang="en-US" dirty="0"/>
              <a:t> and </a:t>
            </a:r>
            <a:r>
              <a:rPr lang="en-US" dirty="0" err="1"/>
              <a:t>v_hat</a:t>
            </a:r>
            <a:r>
              <a:rPr lang="en-US" dirty="0"/>
              <a:t>, Adam adjusts the learning rate for each parameter automatically. This helps training converge faster and more stably, especially in deep neural networks with many parameters.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48</a:t>
            </a:fld>
            <a:endParaRPr lang="en-IL"/>
          </a:p>
        </p:txBody>
      </p:sp>
    </p:spTree>
    <p:extLst>
      <p:ext uri="{BB962C8B-B14F-4D97-AF65-F5344CB8AC3E}">
        <p14:creationId xmlns:p14="http://schemas.microsoft.com/office/powerpoint/2010/main" val="17042295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gives more intuition about how the </a:t>
            </a:r>
            <a:r>
              <a:rPr lang="en-US" b="1" dirty="0"/>
              <a:t>Adam algorithm</a:t>
            </a:r>
            <a:r>
              <a:rPr lang="en-US" dirty="0"/>
              <a:t> adapts the learning rate for each parameter.</a:t>
            </a:r>
          </a:p>
          <a:p>
            <a:r>
              <a:rPr lang="en-US" dirty="0"/>
              <a:t>On the left side, we see a case where a parameter (such as </a:t>
            </a:r>
            <a:r>
              <a:rPr lang="en-US" dirty="0" err="1"/>
              <a:t>w_j</a:t>
            </a:r>
            <a:r>
              <a:rPr lang="en-US" dirty="0"/>
              <a:t> or b) keeps moving in the </a:t>
            </a:r>
            <a:r>
              <a:rPr lang="en-US" b="1" dirty="0"/>
              <a:t>same direction</a:t>
            </a:r>
            <a:r>
              <a:rPr lang="en-US" dirty="0"/>
              <a:t> toward the minimum. This means the gradient is consistent. In this situation, Adam will </a:t>
            </a:r>
            <a:r>
              <a:rPr lang="en-US" b="1" dirty="0"/>
              <a:t>increase the effective learning rate (</a:t>
            </a:r>
            <a:r>
              <a:rPr lang="en-US" b="1" dirty="0" err="1"/>
              <a:t>alpha_j</a:t>
            </a:r>
            <a:r>
              <a:rPr lang="en-US" b="1" dirty="0"/>
              <a:t>)</a:t>
            </a:r>
            <a:r>
              <a:rPr lang="en-US" dirty="0"/>
              <a:t> for that parameter. As a result, the algorithm moves faster in that direction and reaches the minimum more quickly.</a:t>
            </a:r>
          </a:p>
          <a:p>
            <a:r>
              <a:rPr lang="en-US" dirty="0"/>
              <a:t>On the right side, we see a case where a parameter keeps </a:t>
            </a:r>
            <a:r>
              <a:rPr lang="en-US" b="1" dirty="0"/>
              <a:t>oscillating</a:t>
            </a:r>
            <a:r>
              <a:rPr lang="en-US" dirty="0"/>
              <a:t> back and forth. This means the updates are unstable and the gradient direction keeps changing. In this case, Adam will </a:t>
            </a:r>
            <a:r>
              <a:rPr lang="en-US" b="1" dirty="0"/>
              <a:t>reduce the effective learning rate (</a:t>
            </a:r>
            <a:r>
              <a:rPr lang="en-US" b="1" dirty="0" err="1"/>
              <a:t>alpha_j</a:t>
            </a:r>
            <a:r>
              <a:rPr lang="en-US" b="1" dirty="0"/>
              <a:t>)</a:t>
            </a:r>
            <a:r>
              <a:rPr lang="en-US" dirty="0"/>
              <a:t> for that parameter. This helps stabilize the updates and reduces oscillation.</a:t>
            </a:r>
          </a:p>
          <a:p>
            <a:r>
              <a:rPr lang="en-US" dirty="0"/>
              <a:t>The key idea is that Adam automatically adjusts the step size for each parameter:</a:t>
            </a:r>
          </a:p>
          <a:p>
            <a:pPr>
              <a:buFont typeface="Arial" panose="020B0604020202020204" pitchFamily="34" charset="0"/>
              <a:buChar char="•"/>
            </a:pPr>
            <a:r>
              <a:rPr lang="en-US" dirty="0"/>
              <a:t>If movement is stable and consistent → increase step size.</a:t>
            </a:r>
          </a:p>
          <a:p>
            <a:pPr>
              <a:buFont typeface="Arial" panose="020B0604020202020204" pitchFamily="34" charset="0"/>
              <a:buChar char="•"/>
            </a:pPr>
            <a:r>
              <a:rPr lang="en-US" dirty="0"/>
              <a:t>If movement is unstable or oscillating → decrease step size.</a:t>
            </a:r>
          </a:p>
          <a:p>
            <a:r>
              <a:rPr lang="en-US" dirty="0"/>
              <a:t>This adaptive behavior makes Adam faster and more stable than standard gradient descent, especially in deep neural networks.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49</a:t>
            </a:fld>
            <a:endParaRPr lang="en-IL"/>
          </a:p>
        </p:txBody>
      </p:sp>
    </p:spTree>
    <p:extLst>
      <p:ext uri="{BB962C8B-B14F-4D97-AF65-F5344CB8AC3E}">
        <p14:creationId xmlns:p14="http://schemas.microsoft.com/office/powerpoint/2010/main" val="352931702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shows how to train the </a:t>
            </a:r>
            <a:r>
              <a:rPr lang="en-US" b="1" dirty="0"/>
              <a:t>MNIST digit classification model using the Adam optimizer</a:t>
            </a:r>
            <a:r>
              <a:rPr lang="en-US" dirty="0"/>
              <a:t>.</a:t>
            </a:r>
          </a:p>
          <a:p>
            <a:r>
              <a:rPr lang="en-US" dirty="0"/>
              <a:t>The model structure is similar to before:</a:t>
            </a:r>
          </a:p>
          <a:p>
            <a:pPr>
              <a:buFont typeface="Arial" panose="020B0604020202020204" pitchFamily="34" charset="0"/>
              <a:buChar char="•"/>
            </a:pPr>
            <a:r>
              <a:rPr lang="en-US" dirty="0"/>
              <a:t>Two hidden layers with sigmoid activation.</a:t>
            </a:r>
          </a:p>
          <a:p>
            <a:pPr>
              <a:buFont typeface="Arial" panose="020B0604020202020204" pitchFamily="34" charset="0"/>
              <a:buChar char="•"/>
            </a:pPr>
            <a:r>
              <a:rPr lang="en-US" dirty="0"/>
              <a:t>A final layer with 10 units (for digits 0–9) and </a:t>
            </a:r>
            <a:r>
              <a:rPr lang="en-US" b="1" dirty="0"/>
              <a:t>linear activation</a:t>
            </a:r>
            <a:r>
              <a:rPr lang="en-US" dirty="0"/>
              <a:t>.</a:t>
            </a:r>
          </a:p>
          <a:p>
            <a:pPr>
              <a:buFont typeface="Arial" panose="020B0604020202020204" pitchFamily="34" charset="0"/>
              <a:buChar char="•"/>
            </a:pPr>
            <a:r>
              <a:rPr lang="en-US" dirty="0"/>
              <a:t>We use </a:t>
            </a:r>
            <a:r>
              <a:rPr lang="en-US" dirty="0" err="1"/>
              <a:t>SparseCategoricalCrossEntropy</a:t>
            </a:r>
            <a:r>
              <a:rPr lang="en-US" dirty="0"/>
              <a:t>(</a:t>
            </a:r>
            <a:r>
              <a:rPr lang="en-US" dirty="0" err="1"/>
              <a:t>from_logits</a:t>
            </a:r>
            <a:r>
              <a:rPr lang="en-US" dirty="0"/>
              <a:t>=True) because the output layer produces logits.</a:t>
            </a:r>
          </a:p>
          <a:p>
            <a:r>
              <a:rPr lang="en-US" dirty="0"/>
              <a:t>The important difference in this slide is the optimizer:</a:t>
            </a:r>
          </a:p>
          <a:p>
            <a:r>
              <a:rPr lang="en-US" dirty="0"/>
              <a:t>optimizer = </a:t>
            </a:r>
            <a:r>
              <a:rPr lang="en-US" dirty="0" err="1"/>
              <a:t>tf.keras.optimizers.Adam</a:t>
            </a:r>
            <a:r>
              <a:rPr lang="en-US" dirty="0"/>
              <a:t>(</a:t>
            </a:r>
            <a:r>
              <a:rPr lang="en-US" dirty="0" err="1"/>
              <a:t>learning_rate</a:t>
            </a:r>
            <a:r>
              <a:rPr lang="en-US" dirty="0"/>
              <a:t> = 1e-3)</a:t>
            </a:r>
          </a:p>
          <a:p>
            <a:r>
              <a:rPr lang="en-US" dirty="0"/>
              <a:t>Here, the learning rate alpha is set to:</a:t>
            </a:r>
          </a:p>
          <a:p>
            <a:r>
              <a:rPr lang="en-US" dirty="0"/>
              <a:t>alpha = 10⁻³ = 0.001</a:t>
            </a:r>
          </a:p>
          <a:p>
            <a:r>
              <a:rPr lang="en-US" dirty="0"/>
              <a:t>Instead of using basic gradient descent, we now use </a:t>
            </a:r>
            <a:r>
              <a:rPr lang="en-US" b="1" dirty="0"/>
              <a:t>Adam</a:t>
            </a:r>
            <a:r>
              <a:rPr lang="en-US" dirty="0"/>
              <a:t>, which:</a:t>
            </a:r>
          </a:p>
          <a:p>
            <a:pPr>
              <a:buFont typeface="Arial" panose="020B0604020202020204" pitchFamily="34" charset="0"/>
              <a:buChar char="•"/>
            </a:pPr>
            <a:r>
              <a:rPr lang="en-US" dirty="0"/>
              <a:t>Automatically adapts the learning rate for each parameter.</a:t>
            </a:r>
          </a:p>
          <a:p>
            <a:pPr>
              <a:buFont typeface="Arial" panose="020B0604020202020204" pitchFamily="34" charset="0"/>
              <a:buChar char="•"/>
            </a:pPr>
            <a:r>
              <a:rPr lang="en-US" dirty="0"/>
              <a:t>Converges faster.</a:t>
            </a:r>
          </a:p>
          <a:p>
            <a:pPr>
              <a:buFont typeface="Arial" panose="020B0604020202020204" pitchFamily="34" charset="0"/>
              <a:buChar char="•"/>
            </a:pPr>
            <a:r>
              <a:rPr lang="en-US" dirty="0"/>
              <a:t>Is more stable during training.</a:t>
            </a:r>
          </a:p>
          <a:p>
            <a:r>
              <a:rPr lang="en-US" dirty="0"/>
              <a:t>Finally, we train the model using:</a:t>
            </a:r>
          </a:p>
          <a:p>
            <a:r>
              <a:rPr lang="en-US" dirty="0" err="1"/>
              <a:t>model.fit</a:t>
            </a:r>
            <a:r>
              <a:rPr lang="en-US" dirty="0"/>
              <a:t>(X, Y, epochs=100)</a:t>
            </a:r>
          </a:p>
          <a:p>
            <a:r>
              <a:rPr lang="en-US" dirty="0"/>
              <a:t>The key idea of this slide is that Adam is a practical and powerful optimizer. In real-world deep learning applications, Adam is often preferred over standard gradient descent because it trains faster and requires less manual tuning of the learning rate.</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50</a:t>
            </a:fld>
            <a:endParaRPr lang="en-IL"/>
          </a:p>
        </p:txBody>
      </p:sp>
    </p:spTree>
    <p:extLst>
      <p:ext uri="{BB962C8B-B14F-4D97-AF65-F5344CB8AC3E}">
        <p14:creationId xmlns:p14="http://schemas.microsoft.com/office/powerpoint/2010/main" val="39173189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section introduces </a:t>
            </a:r>
            <a:r>
              <a:rPr lang="en-US" b="1" dirty="0"/>
              <a:t>additional layer types in neural networks</a:t>
            </a:r>
            <a:r>
              <a:rPr lang="en-US" dirty="0"/>
              <a:t>. So far, we have mainly worked with fully connected (Dense) layers. In this part, we will explore other types of layers that are commonly used in deep learning models. Different layer types are designed for different tasks, such as image processing, sequence data, or improving model performance. Understanding these additional layers helps us build more powerful and specialized neural network architectures.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51</a:t>
            </a:fld>
            <a:endParaRPr lang="en-IL"/>
          </a:p>
        </p:txBody>
      </p:sp>
    </p:spTree>
    <p:extLst>
      <p:ext uri="{BB962C8B-B14F-4D97-AF65-F5344CB8AC3E}">
        <p14:creationId xmlns:p14="http://schemas.microsoft.com/office/powerpoint/2010/main" val="353644447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explains the </a:t>
            </a:r>
            <a:r>
              <a:rPr lang="en-US" b="1" dirty="0"/>
              <a:t>Dense layer</a:t>
            </a:r>
            <a:r>
              <a:rPr lang="en-US" dirty="0"/>
              <a:t>, also called a </a:t>
            </a:r>
            <a:r>
              <a:rPr lang="en-US" b="1" dirty="0"/>
              <a:t>fully connected layer</a:t>
            </a:r>
            <a:r>
              <a:rPr lang="en-US" dirty="0"/>
              <a:t>.</a:t>
            </a:r>
          </a:p>
          <a:p>
            <a:r>
              <a:rPr lang="en-US" dirty="0"/>
              <a:t>In a dense layer, each neuron is connected to </a:t>
            </a:r>
            <a:r>
              <a:rPr lang="en-US" b="1" dirty="0"/>
              <a:t>all neurons in the previous layer</a:t>
            </a:r>
            <a:r>
              <a:rPr lang="en-US" dirty="0"/>
              <a:t>. This means that every output in the current layer depends on all activation values from the previous layer.</a:t>
            </a:r>
          </a:p>
          <a:p>
            <a:r>
              <a:rPr lang="en-US" dirty="0"/>
              <a:t>Mathematically, the output of one neuron in layer 2 can be written as:</a:t>
            </a:r>
          </a:p>
          <a:p>
            <a:r>
              <a:rPr lang="en-US" dirty="0"/>
              <a:t>a₁⁽²⁾ = g( w₁⁽²⁾ · a⁽¹⁾ + b₁⁽²⁾ )</a:t>
            </a:r>
          </a:p>
          <a:p>
            <a:r>
              <a:rPr lang="en-US" dirty="0"/>
              <a:t>This means:</a:t>
            </a:r>
          </a:p>
          <a:p>
            <a:pPr>
              <a:buFont typeface="Arial" panose="020B0604020202020204" pitchFamily="34" charset="0"/>
              <a:buChar char="•"/>
            </a:pPr>
            <a:r>
              <a:rPr lang="en-US" dirty="0"/>
              <a:t>Take all activations from the previous layer (a⁽¹⁾).</a:t>
            </a:r>
          </a:p>
          <a:p>
            <a:pPr>
              <a:buFont typeface="Arial" panose="020B0604020202020204" pitchFamily="34" charset="0"/>
              <a:buChar char="•"/>
            </a:pPr>
            <a:r>
              <a:rPr lang="en-US" dirty="0"/>
              <a:t>Multiply them by their corresponding weights.</a:t>
            </a:r>
          </a:p>
          <a:p>
            <a:pPr>
              <a:buFont typeface="Arial" panose="020B0604020202020204" pitchFamily="34" charset="0"/>
              <a:buChar char="•"/>
            </a:pPr>
            <a:r>
              <a:rPr lang="en-US" dirty="0"/>
              <a:t>Add a bias term.</a:t>
            </a:r>
          </a:p>
          <a:p>
            <a:pPr>
              <a:buFont typeface="Arial" panose="020B0604020202020204" pitchFamily="34" charset="0"/>
              <a:buChar char="•"/>
            </a:pPr>
            <a:r>
              <a:rPr lang="en-US" dirty="0"/>
              <a:t>Apply an activation function g (such as </a:t>
            </a:r>
            <a:r>
              <a:rPr lang="en-US" dirty="0" err="1"/>
              <a:t>ReLU</a:t>
            </a:r>
            <a:r>
              <a:rPr lang="en-US" dirty="0"/>
              <a:t>, sigmoid, etc.).</a:t>
            </a:r>
          </a:p>
          <a:p>
            <a:r>
              <a:rPr lang="en-US" dirty="0"/>
              <a:t>Because every neuron is connected to every neuron in the previous layer, this layer can learn complex combinations of features. Dense layers are commonly used in many neural networks, especially for general-purpose tasks like classification and regression.</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52</a:t>
            </a:fld>
            <a:endParaRPr lang="en-IL"/>
          </a:p>
        </p:txBody>
      </p:sp>
    </p:spTree>
    <p:extLst>
      <p:ext uri="{BB962C8B-B14F-4D97-AF65-F5344CB8AC3E}">
        <p14:creationId xmlns:p14="http://schemas.microsoft.com/office/powerpoint/2010/main" val="15871168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introduces the </a:t>
            </a:r>
            <a:r>
              <a:rPr lang="en-US" b="1" dirty="0"/>
              <a:t>Convolutional Layer</a:t>
            </a:r>
            <a:r>
              <a:rPr lang="en-US" dirty="0"/>
              <a:t>, which is commonly used in image processing tasks.</a:t>
            </a:r>
          </a:p>
          <a:p>
            <a:r>
              <a:rPr lang="en-US" dirty="0"/>
              <a:t>Unlike a dense layer, where each neuron looks at all outputs from the previous layer, in a convolutional layer each neuron looks at </a:t>
            </a:r>
            <a:r>
              <a:rPr lang="en-US" b="1" dirty="0"/>
              <a:t>only a small part</a:t>
            </a:r>
            <a:r>
              <a:rPr lang="en-US" dirty="0"/>
              <a:t> of the input. This small part is called a </a:t>
            </a:r>
            <a:r>
              <a:rPr lang="en-US" b="1" dirty="0"/>
              <a:t>local region</a:t>
            </a:r>
            <a:r>
              <a:rPr lang="en-US" dirty="0"/>
              <a:t> or </a:t>
            </a:r>
            <a:r>
              <a:rPr lang="en-US" b="1" dirty="0"/>
              <a:t>receptive field</a:t>
            </a:r>
            <a:r>
              <a:rPr lang="en-US" dirty="0"/>
              <a:t>.</a:t>
            </a:r>
          </a:p>
          <a:p>
            <a:r>
              <a:rPr lang="en-US" dirty="0"/>
              <a:t>For example, when analyzing an image, a neuron may look at just a small patch of pixels instead of the entire image. As the filter moves across the image, it detects patterns such as edges, shapes, or textures.</a:t>
            </a:r>
          </a:p>
          <a:p>
            <a:r>
              <a:rPr lang="en-US" dirty="0"/>
              <a:t>Why is this useful?</a:t>
            </a:r>
          </a:p>
          <a:p>
            <a:pPr>
              <a:buFont typeface="Arial" panose="020B0604020202020204" pitchFamily="34" charset="0"/>
              <a:buChar char="•"/>
            </a:pPr>
            <a:r>
              <a:rPr lang="en-US" b="1" dirty="0"/>
              <a:t>Faster computation</a:t>
            </a:r>
            <a:r>
              <a:rPr lang="en-US" dirty="0"/>
              <a:t>: Fewer connections mean fewer parameters.</a:t>
            </a:r>
          </a:p>
          <a:p>
            <a:pPr>
              <a:buFont typeface="Arial" panose="020B0604020202020204" pitchFamily="34" charset="0"/>
              <a:buChar char="•"/>
            </a:pPr>
            <a:r>
              <a:rPr lang="en-US" b="1" dirty="0"/>
              <a:t>Needs less training data</a:t>
            </a:r>
            <a:r>
              <a:rPr lang="en-US" dirty="0"/>
              <a:t>: Because the model has fewer parameters.</a:t>
            </a:r>
          </a:p>
          <a:p>
            <a:pPr>
              <a:buFont typeface="Arial" panose="020B0604020202020204" pitchFamily="34" charset="0"/>
              <a:buChar char="•"/>
            </a:pPr>
            <a:r>
              <a:rPr lang="en-US" b="1" dirty="0"/>
              <a:t>Less prone to overfitting</a:t>
            </a:r>
            <a:r>
              <a:rPr lang="en-US" dirty="0"/>
              <a:t>: The model is simpler and focuses on local patterns.</a:t>
            </a:r>
          </a:p>
          <a:p>
            <a:r>
              <a:rPr lang="en-US" dirty="0"/>
              <a:t>The key idea is that convolutional layers are designed to efficiently detect meaningful patterns in structured data like images, making them very powerful for computer vision tasks.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53</a:t>
            </a:fld>
            <a:endParaRPr lang="en-IL"/>
          </a:p>
        </p:txBody>
      </p:sp>
    </p:spTree>
    <p:extLst>
      <p:ext uri="{BB962C8B-B14F-4D97-AF65-F5344CB8AC3E}">
        <p14:creationId xmlns:p14="http://schemas.microsoft.com/office/powerpoint/2010/main" val="254452955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explains the structure of a </a:t>
            </a:r>
            <a:r>
              <a:rPr lang="en-US" b="1" dirty="0"/>
              <a:t>Convolutional Neural Network (CNN)</a:t>
            </a:r>
            <a:r>
              <a:rPr lang="en-US" dirty="0"/>
              <a:t> using a simple 1D example.</a:t>
            </a:r>
          </a:p>
          <a:p>
            <a:r>
              <a:rPr lang="en-US" dirty="0"/>
              <a:t>On the left, we see an input signal (for example, ECG data). Instead of connecting every input value to every neuron (like in a dense layer), the convolutional layer looks at </a:t>
            </a:r>
            <a:r>
              <a:rPr lang="en-US" b="1" dirty="0"/>
              <a:t>small segments of the input</a:t>
            </a:r>
            <a:r>
              <a:rPr lang="en-US" dirty="0"/>
              <a:t> at a time (for example, x1–x20, x11–x30, x21–x40, etc.). These small segments overlap and move across the input. This process is called </a:t>
            </a:r>
            <a:r>
              <a:rPr lang="en-US" b="1" dirty="0"/>
              <a:t>convolution</a:t>
            </a:r>
            <a:r>
              <a:rPr lang="en-US" dirty="0"/>
              <a:t>.</a:t>
            </a:r>
          </a:p>
          <a:p>
            <a:r>
              <a:rPr lang="en-US" dirty="0"/>
              <a:t>Each filter produces a set of activations (for example, 9 units). These activations detect specific patterns in the signal, such as shapes or important features.</a:t>
            </a:r>
          </a:p>
          <a:p>
            <a:r>
              <a:rPr lang="en-US" dirty="0"/>
              <a:t>After the convolutional layer, the outputs are passed to another layer (for example, 3 units), and finally to an output neuron with a sigmoid activation. In this example, the final output may represent something like the </a:t>
            </a:r>
            <a:r>
              <a:rPr lang="en-US" b="1" dirty="0"/>
              <a:t>presence or absence of heart disease</a:t>
            </a:r>
            <a:r>
              <a:rPr lang="en-US" dirty="0"/>
              <a:t>.</a:t>
            </a:r>
          </a:p>
          <a:p>
            <a:r>
              <a:rPr lang="en-US" dirty="0"/>
              <a:t>The key idea is:</a:t>
            </a:r>
          </a:p>
          <a:p>
            <a:pPr>
              <a:buFont typeface="Arial" panose="020B0604020202020204" pitchFamily="34" charset="0"/>
              <a:buChar char="•"/>
            </a:pPr>
            <a:r>
              <a:rPr lang="en-US" dirty="0"/>
              <a:t>Convolutional layers detect local patterns.</a:t>
            </a:r>
          </a:p>
          <a:p>
            <a:pPr>
              <a:buFont typeface="Arial" panose="020B0604020202020204" pitchFamily="34" charset="0"/>
              <a:buChar char="•"/>
            </a:pPr>
            <a:r>
              <a:rPr lang="en-US" dirty="0"/>
              <a:t>These patterns are combined in later layers.</a:t>
            </a:r>
          </a:p>
          <a:p>
            <a:pPr>
              <a:buFont typeface="Arial" panose="020B0604020202020204" pitchFamily="34" charset="0"/>
              <a:buChar char="•"/>
            </a:pPr>
            <a:r>
              <a:rPr lang="en-US" dirty="0"/>
              <a:t>The network learns meaningful features automatically from raw input data.</a:t>
            </a:r>
          </a:p>
          <a:p>
            <a:r>
              <a:rPr lang="en-US" dirty="0"/>
              <a:t>CNNs are widely used for images, signals, audio, and other structured data because they are efficient and powerful at detecting patterns.</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54</a:t>
            </a:fld>
            <a:endParaRPr lang="en-IL"/>
          </a:p>
        </p:txBody>
      </p:sp>
    </p:spTree>
    <p:extLst>
      <p:ext uri="{BB962C8B-B14F-4D97-AF65-F5344CB8AC3E}">
        <p14:creationId xmlns:p14="http://schemas.microsoft.com/office/powerpoint/2010/main" val="32576036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152400"/>
            <a:ext cx="5010150" cy="2819400"/>
          </a:xfrm>
          <a:prstGeom prst="rect">
            <a:avLst/>
          </a:prstGeom>
        </p:spPr>
      </p:sp>
      <p:sp>
        <p:nvSpPr>
          <p:cNvPr id="3" name="Notes Placeholder 2"/>
          <p:cNvSpPr>
            <a:spLocks noGrp="1"/>
          </p:cNvSpPr>
          <p:nvPr>
            <p:ph type="body" idx="1"/>
          </p:nvPr>
        </p:nvSpPr>
        <p:spPr/>
        <p:txBody>
          <a:bodyPr/>
          <a:lstStyle/>
          <a:p>
            <a:r>
              <a:rPr lang="en-US" dirty="0"/>
              <a:t>This slide explains that modern neural network progress comes mainly from designing </a:t>
            </a:r>
            <a:r>
              <a:rPr lang="en-US" b="1" dirty="0"/>
              <a:t>new types of layers</a:t>
            </a:r>
            <a:r>
              <a:rPr lang="en-US" dirty="0"/>
              <a:t>. Advanced architectures such as Transformers, LSTMs, and Attention models are not completely different from earlier neural networks. Instead, they are built by introducing new layer designs and combining them in more effective ways. These new layers are created to handle specific challenges, such as processing sequences, focusing on important information, or capturing long-range dependencies in data.</a:t>
            </a:r>
          </a:p>
          <a:p>
            <a:r>
              <a:rPr lang="en-US" dirty="0"/>
              <a:t>Much of today’s research in deep learning focuses on inventing new layer types. Researchers experiment with different mathematical structures and connection patterns to improve performance, stability, and efficiency. Once a new layer is developed, it can be used as a building block inside larger neural network architectures.</a:t>
            </a:r>
          </a:p>
          <a:p>
            <a:r>
              <a:rPr lang="en-US" dirty="0"/>
              <a:t>Neural network design is therefore an evolving field. Instead of only increasing data or model size, researchers improve how networks are structured. By combining different layers creatively, they build more powerful and complex systems. This continuous innovation in architecture design is one of the main reasons why deep learning keeps advancing so rapidly.</a:t>
            </a:r>
          </a:p>
          <a:p>
            <a:endParaRPr lang="en-IL" dirty="0"/>
          </a:p>
        </p:txBody>
      </p:sp>
      <p:sp>
        <p:nvSpPr>
          <p:cNvPr id="4" name="Slide Number Placeholder 3"/>
          <p:cNvSpPr>
            <a:spLocks noGrp="1"/>
          </p:cNvSpPr>
          <p:nvPr>
            <p:ph type="sldNum" sz="quarter" idx="5"/>
          </p:nvPr>
        </p:nvSpPr>
        <p:spPr>
          <a:xfrm>
            <a:off x="2913757" y="8686801"/>
            <a:ext cx="2228850" cy="457200"/>
          </a:xfrm>
          <a:prstGeom prst="rect">
            <a:avLst/>
          </a:prstGeom>
        </p:spPr>
        <p:txBody>
          <a:bodyPr/>
          <a:lstStyle/>
          <a:p>
            <a:fld id="{30FE451D-207B-3846-A5DC-BA12AB768FB1}" type="slidenum">
              <a:rPr lang="en-IL" smtClean="0"/>
              <a:t>55</a:t>
            </a:fld>
            <a:endParaRPr lang="en-IL"/>
          </a:p>
        </p:txBody>
      </p:sp>
    </p:spTree>
    <p:extLst>
      <p:ext uri="{BB962C8B-B14F-4D97-AF65-F5344CB8AC3E}">
        <p14:creationId xmlns:p14="http://schemas.microsoft.com/office/powerpoint/2010/main" val="18557294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 y="0"/>
            <a:ext cx="2695575" cy="5143498"/>
          </a:xfrm>
          <a:prstGeom prst="rect">
            <a:avLst/>
          </a:prstGeom>
          <a:blipFill>
            <a:blip r:embed="rId2" cstate="print"/>
            <a:stretch>
              <a:fillRect/>
            </a:stretch>
          </a:blipFill>
        </p:spPr>
        <p:txBody>
          <a:bodyPr wrap="square" lIns="0" tIns="0" rIns="0" bIns="0" rtlCol="0"/>
          <a:lstStyle/>
          <a:p>
            <a:endParaRPr sz="1800"/>
          </a:p>
        </p:txBody>
      </p:sp>
      <p:sp>
        <p:nvSpPr>
          <p:cNvPr id="17" name="bg object 17"/>
          <p:cNvSpPr/>
          <p:nvPr/>
        </p:nvSpPr>
        <p:spPr>
          <a:xfrm>
            <a:off x="247650" y="781052"/>
            <a:ext cx="2181225" cy="485775"/>
          </a:xfrm>
          <a:prstGeom prst="rect">
            <a:avLst/>
          </a:prstGeom>
          <a:blipFill>
            <a:blip r:embed="rId3" cstate="print"/>
            <a:stretch>
              <a:fillRect/>
            </a:stretch>
          </a:blipFill>
        </p:spPr>
        <p:txBody>
          <a:bodyPr wrap="square" lIns="0" tIns="0" rIns="0" bIns="0" rtlCol="0"/>
          <a:lstStyle/>
          <a:p>
            <a:endParaRPr sz="1800"/>
          </a:p>
        </p:txBody>
      </p:sp>
      <p:sp>
        <p:nvSpPr>
          <p:cNvPr id="18" name="bg object 18"/>
          <p:cNvSpPr/>
          <p:nvPr/>
        </p:nvSpPr>
        <p:spPr>
          <a:xfrm>
            <a:off x="895352" y="1400177"/>
            <a:ext cx="885825" cy="333375"/>
          </a:xfrm>
          <a:prstGeom prst="rect">
            <a:avLst/>
          </a:prstGeom>
          <a:blipFill>
            <a:blip r:embed="rId4" cstate="print"/>
            <a:stretch>
              <a:fillRect/>
            </a:stretch>
          </a:blipFill>
        </p:spPr>
        <p:txBody>
          <a:bodyPr wrap="square" lIns="0" tIns="0" rIns="0" bIns="0" rtlCol="0"/>
          <a:lstStyle/>
          <a:p>
            <a:endParaRPr sz="1800"/>
          </a:p>
        </p:txBody>
      </p:sp>
      <p:sp>
        <p:nvSpPr>
          <p:cNvPr id="19" name="bg object 19"/>
          <p:cNvSpPr/>
          <p:nvPr/>
        </p:nvSpPr>
        <p:spPr>
          <a:xfrm>
            <a:off x="390525" y="2181225"/>
            <a:ext cx="2428875" cy="2962274"/>
          </a:xfrm>
          <a:prstGeom prst="rect">
            <a:avLst/>
          </a:prstGeom>
          <a:blipFill>
            <a:blip r:embed="rId5" cstate="print"/>
            <a:stretch>
              <a:fillRect/>
            </a:stretch>
          </a:blipFill>
        </p:spPr>
        <p:txBody>
          <a:bodyPr wrap="square" lIns="0" tIns="0" rIns="0" bIns="0" rtlCol="0"/>
          <a:lstStyle/>
          <a:p>
            <a:endParaRPr sz="1800"/>
          </a:p>
        </p:txBody>
      </p:sp>
      <p:sp>
        <p:nvSpPr>
          <p:cNvPr id="2" name="Holder 2"/>
          <p:cNvSpPr>
            <a:spLocks noGrp="1"/>
          </p:cNvSpPr>
          <p:nvPr>
            <p:ph type="ctrTitle"/>
          </p:nvPr>
        </p:nvSpPr>
        <p:spPr>
          <a:xfrm>
            <a:off x="674370" y="1355408"/>
            <a:ext cx="7795260" cy="607987"/>
          </a:xfrm>
          <a:prstGeom prst="rect">
            <a:avLst/>
          </a:prstGeom>
        </p:spPr>
        <p:txBody>
          <a:bodyPr wrap="square" lIns="0" tIns="0" rIns="0" bIns="0">
            <a:spAutoFit/>
          </a:bodyPr>
          <a:lstStyle>
            <a:lvl1pPr>
              <a:defRPr sz="3951" b="0" i="0">
                <a:solidFill>
                  <a:srgbClr val="8C1515"/>
                </a:solidFill>
                <a:latin typeface="Verdana"/>
                <a:cs typeface="Verdana"/>
              </a:defRPr>
            </a:lvl1pPr>
          </a:lstStyle>
          <a:p>
            <a:endParaRPr/>
          </a:p>
        </p:txBody>
      </p:sp>
      <p:sp>
        <p:nvSpPr>
          <p:cNvPr id="3" name="Holder 3"/>
          <p:cNvSpPr>
            <a:spLocks noGrp="1"/>
          </p:cNvSpPr>
          <p:nvPr>
            <p:ph type="subTitle" idx="4"/>
          </p:nvPr>
        </p:nvSpPr>
        <p:spPr>
          <a:xfrm>
            <a:off x="612521" y="3140267"/>
            <a:ext cx="7918959" cy="607987"/>
          </a:xfrm>
          <a:prstGeom prst="rect">
            <a:avLst/>
          </a:prstGeom>
        </p:spPr>
        <p:txBody>
          <a:bodyPr wrap="square" lIns="0" tIns="0" rIns="0" bIns="0">
            <a:spAutoFit/>
          </a:bodyPr>
          <a:lstStyle>
            <a:lvl1pPr>
              <a:defRPr sz="3951"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F8F8F8"/>
                </a:solidFill>
                <a:latin typeface="Verdana"/>
                <a:cs typeface="Verdana"/>
              </a:defRPr>
            </a:lvl1pPr>
          </a:lstStyle>
          <a:p>
            <a:pPr marL="12700">
              <a:spcBef>
                <a:spcPts val="195"/>
              </a:spcBef>
            </a:pPr>
            <a:r>
              <a:rPr lang="en-US" spc="20"/>
              <a:t>Andrew</a:t>
            </a:r>
            <a:r>
              <a:rPr lang="en-US" spc="-225"/>
              <a:t> </a:t>
            </a:r>
            <a:r>
              <a:rPr lang="en-US" spc="45"/>
              <a:t>Ng</a:t>
            </a:r>
            <a:endParaRPr lang="en-US" spc="4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648714" y="144081"/>
            <a:ext cx="5846572" cy="553998"/>
          </a:xfrm>
        </p:spPr>
        <p:txBody>
          <a:bodyPr lIns="0" tIns="0" rIns="0" bIns="0"/>
          <a:lstStyle>
            <a:lvl1pPr>
              <a:defRPr sz="3600" b="0" i="0">
                <a:solidFill>
                  <a:srgbClr val="8C1515"/>
                </a:solidFill>
                <a:latin typeface="Verdana"/>
                <a:cs typeface="Verdana"/>
              </a:defRPr>
            </a:lvl1pPr>
          </a:lstStyle>
          <a:p>
            <a:endParaRPr/>
          </a:p>
        </p:txBody>
      </p:sp>
      <p:sp>
        <p:nvSpPr>
          <p:cNvPr id="3" name="Holder 3"/>
          <p:cNvSpPr>
            <a:spLocks noGrp="1"/>
          </p:cNvSpPr>
          <p:nvPr>
            <p:ph type="body" idx="1"/>
          </p:nvPr>
        </p:nvSpPr>
        <p:spPr>
          <a:xfrm>
            <a:off x="260032" y="1117537"/>
            <a:ext cx="7738109" cy="215444"/>
          </a:xfrm>
        </p:spPr>
        <p:txBody>
          <a:bodyPr lIns="0" tIns="0" rIns="0" bIns="0"/>
          <a:lstStyle>
            <a:lvl1pPr>
              <a:defRPr sz="1400" b="0" i="0">
                <a:solidFill>
                  <a:schemeClr val="tx1"/>
                </a:solidFill>
                <a:latin typeface="Courier New"/>
                <a:cs typeface="Courier New"/>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F8F8F8"/>
                </a:solidFill>
                <a:latin typeface="Verdana"/>
                <a:cs typeface="Verdana"/>
              </a:defRPr>
            </a:lvl1pPr>
          </a:lstStyle>
          <a:p>
            <a:pPr marL="12700">
              <a:spcBef>
                <a:spcPts val="195"/>
              </a:spcBef>
            </a:pPr>
            <a:r>
              <a:rPr lang="en-US" spc="20"/>
              <a:t>Andrew</a:t>
            </a:r>
            <a:r>
              <a:rPr lang="en-US" spc="-225"/>
              <a:t> </a:t>
            </a:r>
            <a:r>
              <a:rPr lang="en-US" spc="45"/>
              <a:t>Ng</a:t>
            </a:r>
            <a:endParaRPr lang="en-US" spc="4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648714" y="144081"/>
            <a:ext cx="5846572" cy="553998"/>
          </a:xfrm>
        </p:spPr>
        <p:txBody>
          <a:bodyPr lIns="0" tIns="0" rIns="0" bIns="0"/>
          <a:lstStyle>
            <a:lvl1pPr>
              <a:defRPr sz="3600" b="0" i="0">
                <a:solidFill>
                  <a:srgbClr val="8C1515"/>
                </a:solidFill>
                <a:latin typeface="Verdana"/>
                <a:cs typeface="Verdana"/>
              </a:defRPr>
            </a:lvl1pPr>
          </a:lstStyle>
          <a:p>
            <a:endParaRPr/>
          </a:p>
        </p:txBody>
      </p:sp>
      <p:sp>
        <p:nvSpPr>
          <p:cNvPr id="3" name="Holder 3"/>
          <p:cNvSpPr>
            <a:spLocks noGrp="1"/>
          </p:cNvSpPr>
          <p:nvPr>
            <p:ph sz="half" idx="2"/>
          </p:nvPr>
        </p:nvSpPr>
        <p:spPr>
          <a:xfrm>
            <a:off x="457200" y="1183005"/>
            <a:ext cx="3977640" cy="2154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2154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rgbClr val="F8F8F8"/>
                </a:solidFill>
                <a:latin typeface="Verdana"/>
                <a:cs typeface="Verdana"/>
              </a:defRPr>
            </a:lvl1pPr>
          </a:lstStyle>
          <a:p>
            <a:pPr marL="12700">
              <a:spcBef>
                <a:spcPts val="195"/>
              </a:spcBef>
            </a:pPr>
            <a:r>
              <a:rPr lang="en-US" spc="20"/>
              <a:t>Andrew</a:t>
            </a:r>
            <a:r>
              <a:rPr lang="en-US" spc="-225"/>
              <a:t> </a:t>
            </a:r>
            <a:r>
              <a:rPr lang="en-US" spc="45"/>
              <a:t>Ng</a:t>
            </a:r>
            <a:endParaRPr lang="en-US" spc="4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648714" y="144081"/>
            <a:ext cx="5846572" cy="553998"/>
          </a:xfrm>
        </p:spPr>
        <p:txBody>
          <a:bodyPr lIns="0" tIns="0" rIns="0" bIns="0"/>
          <a:lstStyle>
            <a:lvl1pPr>
              <a:defRPr sz="3600" b="0" i="0">
                <a:solidFill>
                  <a:srgbClr val="8C1515"/>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defRPr sz="1400" b="0" i="0">
                <a:solidFill>
                  <a:srgbClr val="F8F8F8"/>
                </a:solidFill>
                <a:latin typeface="Verdana"/>
                <a:cs typeface="Verdana"/>
              </a:defRPr>
            </a:lvl1pPr>
          </a:lstStyle>
          <a:p>
            <a:pPr marL="12700">
              <a:spcBef>
                <a:spcPts val="195"/>
              </a:spcBef>
            </a:pPr>
            <a:r>
              <a:rPr lang="en-US" spc="20"/>
              <a:t>Andrew</a:t>
            </a:r>
            <a:r>
              <a:rPr lang="en-US" spc="-225"/>
              <a:t> </a:t>
            </a:r>
            <a:r>
              <a:rPr lang="en-US" spc="45"/>
              <a:t>Ng</a:t>
            </a:r>
            <a:endParaRPr lang="en-US" spc="45"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 y="0"/>
            <a:ext cx="2695575" cy="5143498"/>
          </a:xfrm>
          <a:prstGeom prst="rect">
            <a:avLst/>
          </a:prstGeom>
          <a:blipFill>
            <a:blip r:embed="rId2" cstate="print"/>
            <a:stretch>
              <a:fillRect/>
            </a:stretch>
          </a:blipFill>
        </p:spPr>
        <p:txBody>
          <a:bodyPr wrap="square" lIns="0" tIns="0" rIns="0" bIns="0" rtlCol="0"/>
          <a:lstStyle/>
          <a:p>
            <a:endParaRPr sz="1800"/>
          </a:p>
        </p:txBody>
      </p:sp>
      <p:sp>
        <p:nvSpPr>
          <p:cNvPr id="17" name="bg object 17"/>
          <p:cNvSpPr/>
          <p:nvPr/>
        </p:nvSpPr>
        <p:spPr>
          <a:xfrm>
            <a:off x="247650" y="781052"/>
            <a:ext cx="2181225" cy="485775"/>
          </a:xfrm>
          <a:prstGeom prst="rect">
            <a:avLst/>
          </a:prstGeom>
          <a:blipFill>
            <a:blip r:embed="rId3" cstate="print"/>
            <a:stretch>
              <a:fillRect/>
            </a:stretch>
          </a:blipFill>
        </p:spPr>
        <p:txBody>
          <a:bodyPr wrap="square" lIns="0" tIns="0" rIns="0" bIns="0" rtlCol="0"/>
          <a:lstStyle/>
          <a:p>
            <a:endParaRPr sz="1800"/>
          </a:p>
        </p:txBody>
      </p:sp>
      <p:sp>
        <p:nvSpPr>
          <p:cNvPr id="18" name="bg object 18"/>
          <p:cNvSpPr/>
          <p:nvPr/>
        </p:nvSpPr>
        <p:spPr>
          <a:xfrm>
            <a:off x="895352" y="1400177"/>
            <a:ext cx="885825" cy="333375"/>
          </a:xfrm>
          <a:prstGeom prst="rect">
            <a:avLst/>
          </a:prstGeom>
          <a:blipFill>
            <a:blip r:embed="rId4" cstate="print"/>
            <a:stretch>
              <a:fillRect/>
            </a:stretch>
          </a:blipFill>
        </p:spPr>
        <p:txBody>
          <a:bodyPr wrap="square" lIns="0" tIns="0" rIns="0" bIns="0" rtlCol="0"/>
          <a:lstStyle/>
          <a:p>
            <a:endParaRPr sz="1800"/>
          </a:p>
        </p:txBody>
      </p:sp>
      <p:sp>
        <p:nvSpPr>
          <p:cNvPr id="19" name="bg object 19"/>
          <p:cNvSpPr/>
          <p:nvPr/>
        </p:nvSpPr>
        <p:spPr>
          <a:xfrm>
            <a:off x="390525" y="2181225"/>
            <a:ext cx="2428875" cy="2962274"/>
          </a:xfrm>
          <a:prstGeom prst="rect">
            <a:avLst/>
          </a:prstGeom>
          <a:blipFill>
            <a:blip r:embed="rId5" cstate="print"/>
            <a:stretch>
              <a:fillRect/>
            </a:stretch>
          </a:blipFill>
        </p:spPr>
        <p:txBody>
          <a:bodyPr wrap="square" lIns="0" tIns="0" rIns="0" bIns="0" rtlCol="0"/>
          <a:lstStyle/>
          <a:p>
            <a:endParaRPr sz="1800"/>
          </a:p>
        </p:txBody>
      </p:sp>
      <p:sp>
        <p:nvSpPr>
          <p:cNvPr id="20" name="bg object 20"/>
          <p:cNvSpPr/>
          <p:nvPr/>
        </p:nvSpPr>
        <p:spPr>
          <a:xfrm>
            <a:off x="3028951" y="2552700"/>
            <a:ext cx="5705475" cy="38100"/>
          </a:xfrm>
          <a:custGeom>
            <a:avLst/>
            <a:gdLst/>
            <a:ahLst/>
            <a:cxnLst/>
            <a:rect l="l" t="t" r="r" b="b"/>
            <a:pathLst>
              <a:path w="5705475" h="38100">
                <a:moveTo>
                  <a:pt x="5705475" y="0"/>
                </a:moveTo>
                <a:lnTo>
                  <a:pt x="0" y="0"/>
                </a:lnTo>
                <a:lnTo>
                  <a:pt x="0" y="38100"/>
                </a:lnTo>
                <a:lnTo>
                  <a:pt x="5705475" y="38100"/>
                </a:lnTo>
                <a:lnTo>
                  <a:pt x="5705475" y="0"/>
                </a:lnTo>
                <a:close/>
              </a:path>
            </a:pathLst>
          </a:custGeom>
          <a:solidFill>
            <a:srgbClr val="0070EA"/>
          </a:solidFill>
        </p:spPr>
        <p:txBody>
          <a:bodyPr wrap="square" lIns="0" tIns="0" rIns="0" bIns="0" rtlCol="0"/>
          <a:lstStyle/>
          <a:p>
            <a:endParaRPr sz="1800"/>
          </a:p>
        </p:txBody>
      </p:sp>
      <p:sp>
        <p:nvSpPr>
          <p:cNvPr id="2" name="Holder 2"/>
          <p:cNvSpPr>
            <a:spLocks noGrp="1"/>
          </p:cNvSpPr>
          <p:nvPr>
            <p:ph type="ftr" sz="quarter" idx="5"/>
          </p:nvPr>
        </p:nvSpPr>
        <p:spPr/>
        <p:txBody>
          <a:bodyPr lIns="0" tIns="0" rIns="0" bIns="0"/>
          <a:lstStyle>
            <a:lvl1pPr>
              <a:defRPr sz="1400" b="0" i="0">
                <a:solidFill>
                  <a:srgbClr val="F8F8F8"/>
                </a:solidFill>
                <a:latin typeface="Verdana"/>
                <a:cs typeface="Verdana"/>
              </a:defRPr>
            </a:lvl1pPr>
          </a:lstStyle>
          <a:p>
            <a:pPr marL="12700">
              <a:spcBef>
                <a:spcPts val="195"/>
              </a:spcBef>
            </a:pPr>
            <a:r>
              <a:rPr lang="en-US" spc="20"/>
              <a:t>Andrew</a:t>
            </a:r>
            <a:r>
              <a:rPr lang="en-US" spc="-225"/>
              <a:t> </a:t>
            </a:r>
            <a:r>
              <a:rPr lang="en-US" spc="45"/>
              <a:t>Ng</a:t>
            </a:r>
            <a:endParaRPr lang="en-US" spc="45"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2/11/26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543427"/>
            <a:ext cx="9144000" cy="600075"/>
          </a:xfrm>
          <a:custGeom>
            <a:avLst/>
            <a:gdLst/>
            <a:ahLst/>
            <a:cxnLst/>
            <a:rect l="l" t="t" r="r" b="b"/>
            <a:pathLst>
              <a:path w="9144000" h="600075">
                <a:moveTo>
                  <a:pt x="9144000" y="600073"/>
                </a:moveTo>
                <a:lnTo>
                  <a:pt x="9144000" y="0"/>
                </a:lnTo>
                <a:lnTo>
                  <a:pt x="0" y="0"/>
                </a:lnTo>
                <a:lnTo>
                  <a:pt x="0" y="600073"/>
                </a:lnTo>
                <a:lnTo>
                  <a:pt x="9144000" y="600073"/>
                </a:lnTo>
                <a:close/>
              </a:path>
            </a:pathLst>
          </a:custGeom>
          <a:solidFill>
            <a:srgbClr val="8C1515"/>
          </a:solidFill>
        </p:spPr>
        <p:txBody>
          <a:bodyPr wrap="square" lIns="0" tIns="0" rIns="0" bIns="0" rtlCol="0"/>
          <a:lstStyle/>
          <a:p>
            <a:endParaRPr sz="1800"/>
          </a:p>
        </p:txBody>
      </p:sp>
      <p:sp>
        <p:nvSpPr>
          <p:cNvPr id="17" name="bg object 17"/>
          <p:cNvSpPr/>
          <p:nvPr/>
        </p:nvSpPr>
        <p:spPr>
          <a:xfrm>
            <a:off x="314324" y="4695827"/>
            <a:ext cx="1466851" cy="333373"/>
          </a:xfrm>
          <a:prstGeom prst="rect">
            <a:avLst/>
          </a:prstGeom>
          <a:blipFill>
            <a:blip r:embed="rId7" cstate="print"/>
            <a:stretch>
              <a:fillRect/>
            </a:stretch>
          </a:blipFill>
        </p:spPr>
        <p:txBody>
          <a:bodyPr wrap="square" lIns="0" tIns="0" rIns="0" bIns="0" rtlCol="0"/>
          <a:lstStyle/>
          <a:p>
            <a:endParaRPr sz="1800"/>
          </a:p>
        </p:txBody>
      </p:sp>
      <p:sp>
        <p:nvSpPr>
          <p:cNvPr id="18" name="bg object 18"/>
          <p:cNvSpPr/>
          <p:nvPr/>
        </p:nvSpPr>
        <p:spPr>
          <a:xfrm>
            <a:off x="2047876" y="4752975"/>
            <a:ext cx="1266825" cy="209550"/>
          </a:xfrm>
          <a:prstGeom prst="rect">
            <a:avLst/>
          </a:prstGeom>
          <a:blipFill>
            <a:blip r:embed="rId8" cstate="print"/>
            <a:stretch>
              <a:fillRect/>
            </a:stretch>
          </a:blipFill>
        </p:spPr>
        <p:txBody>
          <a:bodyPr wrap="square" lIns="0" tIns="0" rIns="0" bIns="0" rtlCol="0"/>
          <a:lstStyle/>
          <a:p>
            <a:endParaRPr sz="1800"/>
          </a:p>
        </p:txBody>
      </p:sp>
      <p:sp>
        <p:nvSpPr>
          <p:cNvPr id="2" name="Holder 2"/>
          <p:cNvSpPr>
            <a:spLocks noGrp="1"/>
          </p:cNvSpPr>
          <p:nvPr>
            <p:ph type="title"/>
          </p:nvPr>
        </p:nvSpPr>
        <p:spPr>
          <a:xfrm>
            <a:off x="1648714" y="144081"/>
            <a:ext cx="5846572" cy="575310"/>
          </a:xfrm>
          <a:prstGeom prst="rect">
            <a:avLst/>
          </a:prstGeom>
        </p:spPr>
        <p:txBody>
          <a:bodyPr wrap="square" lIns="0" tIns="0" rIns="0" bIns="0">
            <a:spAutoFit/>
          </a:bodyPr>
          <a:lstStyle>
            <a:lvl1pPr>
              <a:defRPr sz="3600" b="0" i="0">
                <a:solidFill>
                  <a:srgbClr val="8C1515"/>
                </a:solidFill>
                <a:latin typeface="Verdana"/>
                <a:cs typeface="Verdana"/>
              </a:defRPr>
            </a:lvl1pPr>
          </a:lstStyle>
          <a:p>
            <a:endParaRPr/>
          </a:p>
        </p:txBody>
      </p:sp>
      <p:sp>
        <p:nvSpPr>
          <p:cNvPr id="3" name="Holder 3"/>
          <p:cNvSpPr>
            <a:spLocks noGrp="1"/>
          </p:cNvSpPr>
          <p:nvPr>
            <p:ph type="body" idx="1"/>
          </p:nvPr>
        </p:nvSpPr>
        <p:spPr>
          <a:xfrm>
            <a:off x="260032" y="1117536"/>
            <a:ext cx="7738109" cy="215444"/>
          </a:xfrm>
          <a:prstGeom prst="rect">
            <a:avLst/>
          </a:prstGeom>
        </p:spPr>
        <p:txBody>
          <a:bodyPr wrap="square" lIns="0" tIns="0" rIns="0" bIns="0">
            <a:spAutoFit/>
          </a:bodyPr>
          <a:lstStyle>
            <a:lvl1pPr>
              <a:defRPr sz="1400" b="0" i="0">
                <a:solidFill>
                  <a:schemeClr val="tx1"/>
                </a:solidFill>
                <a:latin typeface="Courier New"/>
                <a:cs typeface="Courier New"/>
              </a:defRPr>
            </a:lvl1pPr>
          </a:lstStyle>
          <a:p>
            <a:endParaRPr/>
          </a:p>
        </p:txBody>
      </p:sp>
      <p:sp>
        <p:nvSpPr>
          <p:cNvPr id="4" name="Holder 4"/>
          <p:cNvSpPr>
            <a:spLocks noGrp="1"/>
          </p:cNvSpPr>
          <p:nvPr>
            <p:ph type="ftr" sz="quarter" idx="5"/>
          </p:nvPr>
        </p:nvSpPr>
        <p:spPr>
          <a:xfrm>
            <a:off x="7792468" y="4719464"/>
            <a:ext cx="1014729" cy="215444"/>
          </a:xfrm>
          <a:prstGeom prst="rect">
            <a:avLst/>
          </a:prstGeom>
        </p:spPr>
        <p:txBody>
          <a:bodyPr wrap="square" lIns="0" tIns="0" rIns="0" bIns="0">
            <a:spAutoFit/>
          </a:bodyPr>
          <a:lstStyle>
            <a:lvl1pPr>
              <a:defRPr sz="1400" b="0" i="0">
                <a:solidFill>
                  <a:srgbClr val="F8F8F8"/>
                </a:solidFill>
                <a:latin typeface="Verdana"/>
                <a:cs typeface="Verdana"/>
              </a:defRPr>
            </a:lvl1pPr>
          </a:lstStyle>
          <a:p>
            <a:pPr marL="12700">
              <a:spcBef>
                <a:spcPts val="195"/>
              </a:spcBef>
            </a:pPr>
            <a:r>
              <a:rPr lang="en-US" spc="20"/>
              <a:t>Andrew</a:t>
            </a:r>
            <a:r>
              <a:rPr lang="en-US" spc="-225"/>
              <a:t> </a:t>
            </a:r>
            <a:r>
              <a:rPr lang="en-US" spc="45"/>
              <a:t>Ng</a:t>
            </a:r>
            <a:endParaRPr lang="en-US" spc="45" dirty="0"/>
          </a:p>
        </p:txBody>
      </p:sp>
      <p:sp>
        <p:nvSpPr>
          <p:cNvPr id="5" name="Holder 5"/>
          <p:cNvSpPr>
            <a:spLocks noGrp="1"/>
          </p:cNvSpPr>
          <p:nvPr>
            <p:ph type="dt" sz="half" idx="6"/>
          </p:nvPr>
        </p:nvSpPr>
        <p:spPr>
          <a:xfrm>
            <a:off x="457200" y="4783457"/>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2/11/26</a:t>
            </a:fld>
            <a:endParaRPr lang="en-US"/>
          </a:p>
        </p:txBody>
      </p:sp>
      <p:sp>
        <p:nvSpPr>
          <p:cNvPr id="6" name="Holder 6"/>
          <p:cNvSpPr>
            <a:spLocks noGrp="1"/>
          </p:cNvSpPr>
          <p:nvPr>
            <p:ph type="sldNum" sz="quarter" idx="7"/>
          </p:nvPr>
        </p:nvSpPr>
        <p:spPr>
          <a:xfrm>
            <a:off x="6583680" y="4783457"/>
            <a:ext cx="210312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189">
        <a:defRPr>
          <a:latin typeface="+mn-lt"/>
          <a:ea typeface="+mn-ea"/>
          <a:cs typeface="+mn-cs"/>
        </a:defRPr>
      </a:lvl2pPr>
      <a:lvl3pPr marL="914377">
        <a:defRPr>
          <a:latin typeface="+mn-lt"/>
          <a:ea typeface="+mn-ea"/>
          <a:cs typeface="+mn-cs"/>
        </a:defRPr>
      </a:lvl3pPr>
      <a:lvl4pPr marL="1371566">
        <a:defRPr>
          <a:latin typeface="+mn-lt"/>
          <a:ea typeface="+mn-ea"/>
          <a:cs typeface="+mn-cs"/>
        </a:defRPr>
      </a:lvl4pPr>
      <a:lvl5pPr marL="1828754">
        <a:defRPr>
          <a:latin typeface="+mn-lt"/>
          <a:ea typeface="+mn-ea"/>
          <a:cs typeface="+mn-cs"/>
        </a:defRPr>
      </a:lvl5pPr>
      <a:lvl6pPr marL="2285943">
        <a:defRPr>
          <a:latin typeface="+mn-lt"/>
          <a:ea typeface="+mn-ea"/>
          <a:cs typeface="+mn-cs"/>
        </a:defRPr>
      </a:lvl6pPr>
      <a:lvl7pPr marL="2743131">
        <a:defRPr>
          <a:latin typeface="+mn-lt"/>
          <a:ea typeface="+mn-ea"/>
          <a:cs typeface="+mn-cs"/>
        </a:defRPr>
      </a:lvl7pPr>
      <a:lvl8pPr marL="3200320">
        <a:defRPr>
          <a:latin typeface="+mn-lt"/>
          <a:ea typeface="+mn-ea"/>
          <a:cs typeface="+mn-cs"/>
        </a:defRPr>
      </a:lvl8pPr>
      <a:lvl9pPr marL="3657509">
        <a:defRPr>
          <a:latin typeface="+mn-lt"/>
          <a:ea typeface="+mn-ea"/>
          <a:cs typeface="+mn-cs"/>
        </a:defRPr>
      </a:lvl9pPr>
    </p:bodyStyle>
    <p:otherStyle>
      <a:lvl1pPr marL="0">
        <a:defRPr>
          <a:latin typeface="+mn-lt"/>
          <a:ea typeface="+mn-ea"/>
          <a:cs typeface="+mn-cs"/>
        </a:defRPr>
      </a:lvl1pPr>
      <a:lvl2pPr marL="457189">
        <a:defRPr>
          <a:latin typeface="+mn-lt"/>
          <a:ea typeface="+mn-ea"/>
          <a:cs typeface="+mn-cs"/>
        </a:defRPr>
      </a:lvl2pPr>
      <a:lvl3pPr marL="914377">
        <a:defRPr>
          <a:latin typeface="+mn-lt"/>
          <a:ea typeface="+mn-ea"/>
          <a:cs typeface="+mn-cs"/>
        </a:defRPr>
      </a:lvl3pPr>
      <a:lvl4pPr marL="1371566">
        <a:defRPr>
          <a:latin typeface="+mn-lt"/>
          <a:ea typeface="+mn-ea"/>
          <a:cs typeface="+mn-cs"/>
        </a:defRPr>
      </a:lvl4pPr>
      <a:lvl5pPr marL="1828754">
        <a:defRPr>
          <a:latin typeface="+mn-lt"/>
          <a:ea typeface="+mn-ea"/>
          <a:cs typeface="+mn-cs"/>
        </a:defRPr>
      </a:lvl5pPr>
      <a:lvl6pPr marL="2285943">
        <a:defRPr>
          <a:latin typeface="+mn-lt"/>
          <a:ea typeface="+mn-ea"/>
          <a:cs typeface="+mn-cs"/>
        </a:defRPr>
      </a:lvl6pPr>
      <a:lvl7pPr marL="2743131">
        <a:defRPr>
          <a:latin typeface="+mn-lt"/>
          <a:ea typeface="+mn-ea"/>
          <a:cs typeface="+mn-cs"/>
        </a:defRPr>
      </a:lvl7pPr>
      <a:lvl8pPr marL="3200320">
        <a:defRPr>
          <a:latin typeface="+mn-lt"/>
          <a:ea typeface="+mn-ea"/>
          <a:cs typeface="+mn-cs"/>
        </a:defRPr>
      </a:lvl8pPr>
      <a:lvl9pPr marL="3657509">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microsoft.com/office/2007/relationships/hdphoto" Target="../media/hdphoto3.wdp"/></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microsoft.com/office/2007/relationships/hdphoto" Target="../media/hdphoto4.wdp"/></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5.wdp"/></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microsoft.com/office/2007/relationships/hdphoto" Target="../media/hdphoto6.wdp"/></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microsoft.com/office/2007/relationships/hdphoto" Target="../media/hdphoto7.wdp"/></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microsoft.com/office/2007/relationships/hdphoto" Target="../media/hdphoto8.wdp"/></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microsoft.com/office/2007/relationships/hdphoto" Target="../media/hdphoto9.wdp"/></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microsoft.com/office/2007/relationships/hdphoto" Target="../media/hdphoto10.wdp"/></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microsoft.com/office/2007/relationships/hdphoto" Target="../media/hdphoto11.wdp"/></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352801" y="2114550"/>
            <a:ext cx="4788185" cy="1322157"/>
          </a:xfrm>
          <a:prstGeom prst="rect">
            <a:avLst/>
          </a:prstGeom>
        </p:spPr>
        <p:txBody>
          <a:bodyPr vert="horz" wrap="square" lIns="0" tIns="8255" rIns="0" bIns="0" rtlCol="0">
            <a:spAutoFit/>
          </a:bodyPr>
          <a:lstStyle/>
          <a:p>
            <a:pPr marL="946762" marR="5080" indent="-934695">
              <a:lnSpc>
                <a:spcPct val="101400"/>
              </a:lnSpc>
              <a:spcBef>
                <a:spcPts val="65"/>
              </a:spcBef>
            </a:pPr>
            <a:r>
              <a:rPr sz="4400" spc="31" dirty="0">
                <a:solidFill>
                  <a:srgbClr val="8C1515"/>
                </a:solidFill>
                <a:latin typeface="Verdana"/>
                <a:cs typeface="Verdana"/>
              </a:rPr>
              <a:t>Neural</a:t>
            </a:r>
            <a:r>
              <a:rPr sz="4400" spc="-75" dirty="0">
                <a:solidFill>
                  <a:srgbClr val="8C1515"/>
                </a:solidFill>
                <a:latin typeface="Verdana"/>
                <a:cs typeface="Verdana"/>
              </a:rPr>
              <a:t> </a:t>
            </a:r>
            <a:r>
              <a:rPr sz="4400" spc="20" dirty="0">
                <a:solidFill>
                  <a:srgbClr val="8C1515"/>
                </a:solidFill>
                <a:latin typeface="Verdana"/>
                <a:cs typeface="Verdana"/>
              </a:rPr>
              <a:t>Network  </a:t>
            </a:r>
            <a:r>
              <a:rPr sz="4400" spc="35" dirty="0">
                <a:solidFill>
                  <a:srgbClr val="8C1515"/>
                </a:solidFill>
                <a:latin typeface="Verdana"/>
                <a:cs typeface="Verdana"/>
              </a:rPr>
              <a:t>Training</a:t>
            </a:r>
            <a:endParaRPr sz="4400" dirty="0">
              <a:latin typeface="Verdana"/>
              <a:cs typeface="Verdana"/>
            </a:endParaRPr>
          </a:p>
        </p:txBody>
      </p:sp>
      <p:sp>
        <p:nvSpPr>
          <p:cNvPr id="5" name="TextBox 4">
            <a:extLst>
              <a:ext uri="{FF2B5EF4-FFF2-40B4-BE49-F238E27FC236}">
                <a16:creationId xmlns:a16="http://schemas.microsoft.com/office/drawing/2014/main" id="{8571CBDC-5061-334B-915B-CD4F81111B34}"/>
              </a:ext>
            </a:extLst>
          </p:cNvPr>
          <p:cNvSpPr txBox="1"/>
          <p:nvPr/>
        </p:nvSpPr>
        <p:spPr>
          <a:xfrm>
            <a:off x="3124201" y="253038"/>
            <a:ext cx="939231" cy="369332"/>
          </a:xfrm>
          <a:prstGeom prst="rect">
            <a:avLst/>
          </a:prstGeom>
          <a:noFill/>
        </p:spPr>
        <p:txBody>
          <a:bodyPr wrap="none" rtlCol="0">
            <a:spAutoFit/>
          </a:bodyPr>
          <a:lstStyle/>
          <a:p>
            <a:r>
              <a:rPr lang="en-IL" dirty="0"/>
              <a:t>Week 2 </a:t>
            </a:r>
          </a:p>
        </p:txBody>
      </p:sp>
    </p:spTree>
    <p:extLst>
      <p:ext uri="{BB962C8B-B14F-4D97-AF65-F5344CB8AC3E}">
        <p14:creationId xmlns:p14="http://schemas.microsoft.com/office/powerpoint/2010/main" val="3945853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66604B-040F-2A47-BF0D-B4A3908B35EE}"/>
              </a:ext>
            </a:extLst>
          </p:cNvPr>
          <p:cNvSpPr>
            <a:spLocks noGrp="1"/>
          </p:cNvSpPr>
          <p:nvPr>
            <p:ph type="title"/>
          </p:nvPr>
        </p:nvSpPr>
        <p:spPr>
          <a:xfrm>
            <a:off x="685801" y="742951"/>
            <a:ext cx="5846572" cy="575311"/>
          </a:xfrm>
        </p:spPr>
        <p:txBody>
          <a:bodyPr/>
          <a:lstStyle/>
          <a:p>
            <a:pPr rtl="0"/>
            <a:r>
              <a:rPr lang="en-IL" dirty="0"/>
              <a:t>Content </a:t>
            </a:r>
          </a:p>
        </p:txBody>
      </p:sp>
      <p:sp>
        <p:nvSpPr>
          <p:cNvPr id="3" name="Text Placeholder 2">
            <a:extLst>
              <a:ext uri="{FF2B5EF4-FFF2-40B4-BE49-F238E27FC236}">
                <a16:creationId xmlns:a16="http://schemas.microsoft.com/office/drawing/2014/main" id="{1CFD3439-6AD8-DA4A-9D22-A1369F1FBF27}"/>
              </a:ext>
            </a:extLst>
          </p:cNvPr>
          <p:cNvSpPr>
            <a:spLocks noGrp="1"/>
          </p:cNvSpPr>
          <p:nvPr>
            <p:ph type="body" idx="1"/>
          </p:nvPr>
        </p:nvSpPr>
        <p:spPr>
          <a:xfrm>
            <a:off x="381000" y="1648422"/>
            <a:ext cx="7738109" cy="2585323"/>
          </a:xfrm>
        </p:spPr>
        <p:txBody>
          <a:bodyPr/>
          <a:lstStyle/>
          <a:p>
            <a:pPr marL="342891" indent="-342891" algn="l">
              <a:buFont typeface="Arial" panose="020B0604020202020204" pitchFamily="34" charset="0"/>
              <a:buChar char="•"/>
            </a:pPr>
            <a:r>
              <a:rPr lang="en-US" sz="2800" dirty="0">
                <a:latin typeface="ui-sans-serif"/>
              </a:rPr>
              <a:t>Neural Network Training</a:t>
            </a:r>
          </a:p>
          <a:p>
            <a:pPr marL="342891" indent="-342891" algn="l">
              <a:buFont typeface="Arial" panose="020B0604020202020204" pitchFamily="34" charset="0"/>
              <a:buChar char="•"/>
            </a:pPr>
            <a:r>
              <a:rPr lang="en-US" sz="2800" dirty="0">
                <a:latin typeface="ui-sans-serif"/>
              </a:rPr>
              <a:t>Activation Functions</a:t>
            </a:r>
          </a:p>
          <a:p>
            <a:pPr marL="342891" indent="-342891" algn="l">
              <a:buFont typeface="Arial" panose="020B0604020202020204" pitchFamily="34" charset="0"/>
              <a:buChar char="•"/>
            </a:pPr>
            <a:r>
              <a:rPr lang="en-US" sz="2800" dirty="0">
                <a:latin typeface="ui-sans-serif"/>
              </a:rPr>
              <a:t>Multiclass Classification</a:t>
            </a:r>
          </a:p>
          <a:p>
            <a:pPr marL="342891" indent="-342891" algn="l">
              <a:buFont typeface="Arial" panose="020B0604020202020204" pitchFamily="34" charset="0"/>
              <a:buChar char="•"/>
            </a:pPr>
            <a:r>
              <a:rPr lang="en-US" sz="2800" dirty="0">
                <a:latin typeface="ui-sans-serif"/>
              </a:rPr>
              <a:t>Additional Neural Network Concepts</a:t>
            </a:r>
          </a:p>
          <a:p>
            <a:pPr marL="342891" indent="-342891" algn="l">
              <a:buFont typeface="Arial" panose="020B0604020202020204" pitchFamily="34" charset="0"/>
              <a:buChar char="•"/>
            </a:pPr>
            <a:r>
              <a:rPr lang="en-US" sz="2800" dirty="0">
                <a:latin typeface="ui-sans-serif"/>
              </a:rPr>
              <a:t>Back Propagation (Optional)</a:t>
            </a:r>
          </a:p>
          <a:p>
            <a:pPr marL="342891" indent="-342891" algn="l" rtl="0">
              <a:buFont typeface="Arial" panose="020B0604020202020204" pitchFamily="34" charset="0"/>
              <a:buChar char="•"/>
            </a:pPr>
            <a:endParaRPr lang="en-IL" sz="2800" dirty="0">
              <a:latin typeface="+mj-lt"/>
            </a:endParaRPr>
          </a:p>
        </p:txBody>
      </p:sp>
    </p:spTree>
    <p:extLst>
      <p:ext uri="{BB962C8B-B14F-4D97-AF65-F5344CB8AC3E}">
        <p14:creationId xmlns:p14="http://schemas.microsoft.com/office/powerpoint/2010/main" val="953669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28951" y="2552701"/>
            <a:ext cx="5705475" cy="38100"/>
          </a:xfrm>
          <a:custGeom>
            <a:avLst/>
            <a:gdLst/>
            <a:ahLst/>
            <a:cxnLst/>
            <a:rect l="l" t="t" r="r" b="b"/>
            <a:pathLst>
              <a:path w="5705475" h="38100">
                <a:moveTo>
                  <a:pt x="5705475" y="0"/>
                </a:moveTo>
                <a:lnTo>
                  <a:pt x="0" y="0"/>
                </a:lnTo>
                <a:lnTo>
                  <a:pt x="0" y="38100"/>
                </a:lnTo>
                <a:lnTo>
                  <a:pt x="5705475" y="38100"/>
                </a:lnTo>
                <a:lnTo>
                  <a:pt x="5705475" y="0"/>
                </a:lnTo>
                <a:close/>
              </a:path>
            </a:pathLst>
          </a:custGeom>
          <a:solidFill>
            <a:srgbClr val="0070EA"/>
          </a:solidFill>
        </p:spPr>
        <p:txBody>
          <a:bodyPr wrap="square" lIns="0" tIns="0" rIns="0" bIns="0" rtlCol="0"/>
          <a:lstStyle/>
          <a:p>
            <a:endParaRPr/>
          </a:p>
        </p:txBody>
      </p:sp>
      <p:sp>
        <p:nvSpPr>
          <p:cNvPr id="3" name="object 3"/>
          <p:cNvSpPr txBox="1"/>
          <p:nvPr/>
        </p:nvSpPr>
        <p:spPr>
          <a:xfrm>
            <a:off x="3894455" y="744918"/>
            <a:ext cx="3992879" cy="1188018"/>
          </a:xfrm>
          <a:prstGeom prst="rect">
            <a:avLst/>
          </a:prstGeom>
        </p:spPr>
        <p:txBody>
          <a:bodyPr vert="horz" wrap="square" lIns="0" tIns="8255" rIns="0" bIns="0" rtlCol="0">
            <a:spAutoFit/>
          </a:bodyPr>
          <a:lstStyle/>
          <a:p>
            <a:pPr marL="946762" marR="5080" indent="-934695">
              <a:lnSpc>
                <a:spcPct val="101400"/>
              </a:lnSpc>
              <a:spcBef>
                <a:spcPts val="65"/>
              </a:spcBef>
            </a:pPr>
            <a:r>
              <a:rPr sz="3951" spc="31" dirty="0">
                <a:solidFill>
                  <a:srgbClr val="8C1515"/>
                </a:solidFill>
                <a:latin typeface="Verdana"/>
                <a:cs typeface="Verdana"/>
              </a:rPr>
              <a:t>Neural</a:t>
            </a:r>
            <a:r>
              <a:rPr sz="3951" spc="-75" dirty="0">
                <a:solidFill>
                  <a:srgbClr val="8C1515"/>
                </a:solidFill>
                <a:latin typeface="Verdana"/>
                <a:cs typeface="Verdana"/>
              </a:rPr>
              <a:t> </a:t>
            </a:r>
            <a:r>
              <a:rPr sz="3951" spc="20" dirty="0">
                <a:solidFill>
                  <a:srgbClr val="8C1515"/>
                </a:solidFill>
                <a:latin typeface="Verdana"/>
                <a:cs typeface="Verdana"/>
              </a:rPr>
              <a:t>Network  </a:t>
            </a:r>
            <a:r>
              <a:rPr sz="3951" spc="35" dirty="0">
                <a:solidFill>
                  <a:srgbClr val="8C1515"/>
                </a:solidFill>
                <a:latin typeface="Verdana"/>
                <a:cs typeface="Verdana"/>
              </a:rPr>
              <a:t>Training</a:t>
            </a:r>
            <a:endParaRPr sz="3951" dirty="0">
              <a:latin typeface="Verdana"/>
              <a:cs typeface="Verdana"/>
            </a:endParaRPr>
          </a:p>
        </p:txBody>
      </p:sp>
      <p:sp>
        <p:nvSpPr>
          <p:cNvPr id="4" name="object 4"/>
          <p:cNvSpPr txBox="1"/>
          <p:nvPr/>
        </p:nvSpPr>
        <p:spPr>
          <a:xfrm>
            <a:off x="3870577" y="3140265"/>
            <a:ext cx="4022091" cy="1361464"/>
          </a:xfrm>
          <a:prstGeom prst="rect">
            <a:avLst/>
          </a:prstGeom>
        </p:spPr>
        <p:txBody>
          <a:bodyPr vert="horz" wrap="square" lIns="0" tIns="11431" rIns="0" bIns="0" rtlCol="0">
            <a:spAutoFit/>
          </a:bodyPr>
          <a:lstStyle/>
          <a:p>
            <a:pPr marL="12700" marR="5080" indent="562597">
              <a:lnSpc>
                <a:spcPct val="117300"/>
              </a:lnSpc>
              <a:spcBef>
                <a:spcPts val="91"/>
              </a:spcBef>
            </a:pPr>
            <a:r>
              <a:rPr sz="3951" spc="20" dirty="0">
                <a:latin typeface="Verdana"/>
                <a:cs typeface="Verdana"/>
              </a:rPr>
              <a:t>TensorFlow  </a:t>
            </a:r>
            <a:r>
              <a:rPr sz="3951" spc="45" dirty="0">
                <a:latin typeface="Verdana"/>
                <a:cs typeface="Verdana"/>
              </a:rPr>
              <a:t>im</a:t>
            </a:r>
            <a:r>
              <a:rPr sz="3951" spc="15" dirty="0">
                <a:latin typeface="Verdana"/>
                <a:cs typeface="Verdana"/>
              </a:rPr>
              <a:t>p</a:t>
            </a:r>
            <a:r>
              <a:rPr sz="3951" spc="45" dirty="0">
                <a:latin typeface="Verdana"/>
                <a:cs typeface="Verdana"/>
              </a:rPr>
              <a:t>lemen</a:t>
            </a:r>
            <a:r>
              <a:rPr sz="3951" spc="5" dirty="0">
                <a:latin typeface="Verdana"/>
                <a:cs typeface="Verdana"/>
              </a:rPr>
              <a:t>t</a:t>
            </a:r>
            <a:r>
              <a:rPr sz="3951" spc="25" dirty="0">
                <a:latin typeface="Verdana"/>
                <a:cs typeface="Verdana"/>
              </a:rPr>
              <a:t>a</a:t>
            </a:r>
            <a:r>
              <a:rPr sz="3951" spc="5" dirty="0">
                <a:latin typeface="Verdana"/>
                <a:cs typeface="Verdana"/>
              </a:rPr>
              <a:t>t</a:t>
            </a:r>
            <a:r>
              <a:rPr sz="3951" spc="40" dirty="0">
                <a:latin typeface="Verdana"/>
                <a:cs typeface="Verdana"/>
              </a:rPr>
              <a:t>i</a:t>
            </a:r>
            <a:r>
              <a:rPr sz="3951" spc="-5" dirty="0">
                <a:latin typeface="Verdana"/>
                <a:cs typeface="Verdana"/>
              </a:rPr>
              <a:t>o</a:t>
            </a:r>
            <a:r>
              <a:rPr sz="3951" spc="20" dirty="0">
                <a:latin typeface="Verdana"/>
                <a:cs typeface="Verdana"/>
              </a:rPr>
              <a:t>n</a:t>
            </a:r>
            <a:endParaRPr sz="3951">
              <a:latin typeface="Verdana"/>
              <a:cs typeface="Verdana"/>
            </a:endParaRPr>
          </a:p>
        </p:txBody>
      </p:sp>
      <p:sp>
        <p:nvSpPr>
          <p:cNvPr id="5" name="TextBox 4">
            <a:extLst>
              <a:ext uri="{FF2B5EF4-FFF2-40B4-BE49-F238E27FC236}">
                <a16:creationId xmlns:a16="http://schemas.microsoft.com/office/drawing/2014/main" id="{8571CBDC-5061-334B-915B-CD4F81111B34}"/>
              </a:ext>
            </a:extLst>
          </p:cNvPr>
          <p:cNvSpPr txBox="1"/>
          <p:nvPr/>
        </p:nvSpPr>
        <p:spPr>
          <a:xfrm>
            <a:off x="3124201" y="253038"/>
            <a:ext cx="939231" cy="369332"/>
          </a:xfrm>
          <a:prstGeom prst="rect">
            <a:avLst/>
          </a:prstGeom>
          <a:noFill/>
        </p:spPr>
        <p:txBody>
          <a:bodyPr wrap="none" rtlCol="0">
            <a:spAutoFit/>
          </a:bodyPr>
          <a:lstStyle/>
          <a:p>
            <a:r>
              <a:rPr lang="en-IL" dirty="0"/>
              <a:t>Week 2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97716A-CCAE-D140-8909-4A89A2A0EAA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44032" y="57150"/>
            <a:ext cx="8342768" cy="4343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28951" y="2552701"/>
            <a:ext cx="5705475" cy="38100"/>
          </a:xfrm>
          <a:custGeom>
            <a:avLst/>
            <a:gdLst/>
            <a:ahLst/>
            <a:cxnLst/>
            <a:rect l="l" t="t" r="r" b="b"/>
            <a:pathLst>
              <a:path w="5705475" h="38100">
                <a:moveTo>
                  <a:pt x="5705475" y="0"/>
                </a:moveTo>
                <a:lnTo>
                  <a:pt x="0" y="0"/>
                </a:lnTo>
                <a:lnTo>
                  <a:pt x="0" y="38100"/>
                </a:lnTo>
                <a:lnTo>
                  <a:pt x="5705475" y="38100"/>
                </a:lnTo>
                <a:lnTo>
                  <a:pt x="5705475" y="0"/>
                </a:lnTo>
                <a:close/>
              </a:path>
            </a:pathLst>
          </a:custGeom>
          <a:solidFill>
            <a:srgbClr val="0070EA"/>
          </a:solidFill>
        </p:spPr>
        <p:txBody>
          <a:bodyPr wrap="square" lIns="0" tIns="0" rIns="0" bIns="0" rtlCol="0"/>
          <a:lstStyle/>
          <a:p>
            <a:endParaRPr/>
          </a:p>
        </p:txBody>
      </p:sp>
      <p:sp>
        <p:nvSpPr>
          <p:cNvPr id="3" name="object 3"/>
          <p:cNvSpPr txBox="1"/>
          <p:nvPr/>
        </p:nvSpPr>
        <p:spPr>
          <a:xfrm>
            <a:off x="3894455" y="744918"/>
            <a:ext cx="3992879" cy="1188018"/>
          </a:xfrm>
          <a:prstGeom prst="rect">
            <a:avLst/>
          </a:prstGeom>
        </p:spPr>
        <p:txBody>
          <a:bodyPr vert="horz" wrap="square" lIns="0" tIns="8255" rIns="0" bIns="0" rtlCol="0">
            <a:spAutoFit/>
          </a:bodyPr>
          <a:lstStyle/>
          <a:p>
            <a:pPr marL="946762" marR="5080" indent="-934695">
              <a:lnSpc>
                <a:spcPct val="101400"/>
              </a:lnSpc>
              <a:spcBef>
                <a:spcPts val="65"/>
              </a:spcBef>
            </a:pPr>
            <a:r>
              <a:rPr sz="3951" spc="31" dirty="0">
                <a:solidFill>
                  <a:srgbClr val="8C1515"/>
                </a:solidFill>
                <a:latin typeface="Verdana"/>
                <a:cs typeface="Verdana"/>
              </a:rPr>
              <a:t>Neural</a:t>
            </a:r>
            <a:r>
              <a:rPr sz="3951" spc="-75" dirty="0">
                <a:solidFill>
                  <a:srgbClr val="8C1515"/>
                </a:solidFill>
                <a:latin typeface="Verdana"/>
                <a:cs typeface="Verdana"/>
              </a:rPr>
              <a:t> </a:t>
            </a:r>
            <a:r>
              <a:rPr sz="3951" spc="20" dirty="0">
                <a:solidFill>
                  <a:srgbClr val="8C1515"/>
                </a:solidFill>
                <a:latin typeface="Verdana"/>
                <a:cs typeface="Verdana"/>
              </a:rPr>
              <a:t>Network  </a:t>
            </a:r>
            <a:r>
              <a:rPr sz="3951" spc="35" dirty="0">
                <a:solidFill>
                  <a:srgbClr val="8C1515"/>
                </a:solidFill>
                <a:latin typeface="Verdana"/>
                <a:cs typeface="Verdana"/>
              </a:rPr>
              <a:t>Training</a:t>
            </a:r>
            <a:endParaRPr sz="3951">
              <a:latin typeface="Verdana"/>
              <a:cs typeface="Verdana"/>
            </a:endParaRPr>
          </a:p>
        </p:txBody>
      </p:sp>
      <p:sp>
        <p:nvSpPr>
          <p:cNvPr id="4" name="object 4"/>
          <p:cNvSpPr txBox="1"/>
          <p:nvPr/>
        </p:nvSpPr>
        <p:spPr>
          <a:xfrm>
            <a:off x="3870580" y="3239451"/>
            <a:ext cx="4030345" cy="624659"/>
          </a:xfrm>
          <a:prstGeom prst="rect">
            <a:avLst/>
          </a:prstGeom>
        </p:spPr>
        <p:txBody>
          <a:bodyPr vert="horz" wrap="square" lIns="0" tIns="16511" rIns="0" bIns="0" rtlCol="0">
            <a:spAutoFit/>
          </a:bodyPr>
          <a:lstStyle/>
          <a:p>
            <a:pPr marL="12700">
              <a:spcBef>
                <a:spcPts val="131"/>
              </a:spcBef>
            </a:pPr>
            <a:r>
              <a:rPr sz="3951" spc="35" dirty="0">
                <a:latin typeface="Verdana"/>
                <a:cs typeface="Verdana"/>
              </a:rPr>
              <a:t>Training</a:t>
            </a:r>
            <a:r>
              <a:rPr sz="3951" spc="-115" dirty="0">
                <a:latin typeface="Verdana"/>
                <a:cs typeface="Verdana"/>
              </a:rPr>
              <a:t> </a:t>
            </a:r>
            <a:r>
              <a:rPr sz="3951" spc="25" dirty="0">
                <a:latin typeface="Verdana"/>
                <a:cs typeface="Verdana"/>
              </a:rPr>
              <a:t>Details</a:t>
            </a:r>
            <a:endParaRPr sz="3951">
              <a:latin typeface="Verdana"/>
              <a:cs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EB5850-AB5B-2045-9080-FE5BD9518DA1}"/>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368363" y="133350"/>
            <a:ext cx="8407275" cy="4343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B162C53-3498-2349-B11C-A09C3833238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259757" y="-19050"/>
            <a:ext cx="8624489" cy="4876800"/>
          </a:xfrm>
          <a:prstGeom prst="rect">
            <a:avLst/>
          </a:prstGeom>
        </p:spPr>
      </p:pic>
    </p:spTree>
    <p:extLst>
      <p:ext uri="{BB962C8B-B14F-4D97-AF65-F5344CB8AC3E}">
        <p14:creationId xmlns:p14="http://schemas.microsoft.com/office/powerpoint/2010/main" val="9362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42CE23-9A14-E947-BBFF-DFA779D624A5}"/>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152400" y="285751"/>
            <a:ext cx="8610600" cy="4197668"/>
          </a:xfrm>
          <a:prstGeom prst="rect">
            <a:avLst/>
          </a:prstGeom>
        </p:spPr>
      </p:pic>
      <p:sp>
        <p:nvSpPr>
          <p:cNvPr id="2" name="Rounded Rectangle 1">
            <a:extLst>
              <a:ext uri="{FF2B5EF4-FFF2-40B4-BE49-F238E27FC236}">
                <a16:creationId xmlns:a16="http://schemas.microsoft.com/office/drawing/2014/main" id="{B85FF58E-7884-5348-BC88-9D45460C92BF}"/>
              </a:ext>
            </a:extLst>
          </p:cNvPr>
          <p:cNvSpPr/>
          <p:nvPr/>
        </p:nvSpPr>
        <p:spPr>
          <a:xfrm>
            <a:off x="228600" y="3486151"/>
            <a:ext cx="8153400" cy="921068"/>
          </a:xfrm>
          <a:prstGeom prst="roundRect">
            <a:avLst/>
          </a:prstGeom>
          <a:no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1234355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16ECD60-75C2-2248-874E-A80FF0611723}"/>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304800" y="57151"/>
            <a:ext cx="8668365" cy="4405625"/>
          </a:xfrm>
          <a:prstGeom prst="rect">
            <a:avLst/>
          </a:prstGeom>
        </p:spPr>
      </p:pic>
    </p:spTree>
    <p:extLst>
      <p:ext uri="{BB962C8B-B14F-4D97-AF65-F5344CB8AC3E}">
        <p14:creationId xmlns:p14="http://schemas.microsoft.com/office/powerpoint/2010/main" val="1383619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6284D1-E7F7-D946-9E2F-BC1F3BD8921A}"/>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685800" y="133350"/>
            <a:ext cx="8077200" cy="4333483"/>
          </a:xfrm>
          <a:prstGeom prst="rect">
            <a:avLst/>
          </a:prstGeom>
        </p:spPr>
      </p:pic>
    </p:spTree>
    <p:extLst>
      <p:ext uri="{BB962C8B-B14F-4D97-AF65-F5344CB8AC3E}">
        <p14:creationId xmlns:p14="http://schemas.microsoft.com/office/powerpoint/2010/main" val="2630664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28951" y="2552701"/>
            <a:ext cx="5705475" cy="38100"/>
          </a:xfrm>
          <a:custGeom>
            <a:avLst/>
            <a:gdLst/>
            <a:ahLst/>
            <a:cxnLst/>
            <a:rect l="l" t="t" r="r" b="b"/>
            <a:pathLst>
              <a:path w="5705475" h="38100">
                <a:moveTo>
                  <a:pt x="5705475" y="0"/>
                </a:moveTo>
                <a:lnTo>
                  <a:pt x="0" y="0"/>
                </a:lnTo>
                <a:lnTo>
                  <a:pt x="0" y="38100"/>
                </a:lnTo>
                <a:lnTo>
                  <a:pt x="5705475" y="38100"/>
                </a:lnTo>
                <a:lnTo>
                  <a:pt x="5705475" y="0"/>
                </a:lnTo>
                <a:close/>
              </a:path>
            </a:pathLst>
          </a:custGeom>
          <a:solidFill>
            <a:srgbClr val="0070EA"/>
          </a:solidFill>
        </p:spPr>
        <p:txBody>
          <a:bodyPr wrap="square" lIns="0" tIns="0" rIns="0" bIns="0" rtlCol="0"/>
          <a:lstStyle/>
          <a:p>
            <a:endParaRPr/>
          </a:p>
        </p:txBody>
      </p:sp>
      <p:sp>
        <p:nvSpPr>
          <p:cNvPr id="3" name="object 3"/>
          <p:cNvSpPr txBox="1">
            <a:spLocks noGrp="1"/>
          </p:cNvSpPr>
          <p:nvPr>
            <p:ph type="ctrTitle"/>
          </p:nvPr>
        </p:nvSpPr>
        <p:spPr>
          <a:xfrm>
            <a:off x="505778" y="1355408"/>
            <a:ext cx="5846445" cy="1232646"/>
          </a:xfrm>
          <a:prstGeom prst="rect">
            <a:avLst/>
          </a:prstGeom>
        </p:spPr>
        <p:txBody>
          <a:bodyPr vert="horz" wrap="square" lIns="0" tIns="16511" rIns="0" bIns="0" rtlCol="0">
            <a:spAutoFit/>
          </a:bodyPr>
          <a:lstStyle/>
          <a:p>
            <a:pPr marL="2641534">
              <a:spcBef>
                <a:spcPts val="131"/>
              </a:spcBef>
            </a:pPr>
            <a:r>
              <a:rPr spc="15" dirty="0"/>
              <a:t>Activation</a:t>
            </a:r>
            <a:r>
              <a:rPr spc="-11" dirty="0"/>
              <a:t> </a:t>
            </a:r>
            <a:r>
              <a:rPr spc="25" dirty="0"/>
              <a:t>Functions</a:t>
            </a:r>
          </a:p>
        </p:txBody>
      </p:sp>
      <p:sp>
        <p:nvSpPr>
          <p:cNvPr id="4" name="object 4"/>
          <p:cNvSpPr txBox="1">
            <a:spLocks noGrp="1"/>
          </p:cNvSpPr>
          <p:nvPr>
            <p:ph type="subTitle" idx="4"/>
          </p:nvPr>
        </p:nvSpPr>
        <p:spPr>
          <a:xfrm>
            <a:off x="457201" y="3140265"/>
            <a:ext cx="8074279" cy="1361464"/>
          </a:xfrm>
          <a:prstGeom prst="rect">
            <a:avLst/>
          </a:prstGeom>
        </p:spPr>
        <p:txBody>
          <a:bodyPr vert="horz" wrap="square" lIns="0" tIns="11431" rIns="0" bIns="0" rtlCol="0">
            <a:spAutoFit/>
          </a:bodyPr>
          <a:lstStyle/>
          <a:p>
            <a:pPr marL="2955851" marR="5080" indent="-47624">
              <a:lnSpc>
                <a:spcPct val="117300"/>
              </a:lnSpc>
              <a:spcBef>
                <a:spcPts val="91"/>
              </a:spcBef>
            </a:pPr>
            <a:r>
              <a:rPr spc="20" dirty="0"/>
              <a:t>Alternatives </a:t>
            </a:r>
            <a:r>
              <a:rPr spc="11" dirty="0"/>
              <a:t>to</a:t>
            </a:r>
            <a:r>
              <a:rPr spc="-51" dirty="0"/>
              <a:t> </a:t>
            </a:r>
            <a:r>
              <a:rPr spc="25" dirty="0"/>
              <a:t>the  sigmoid</a:t>
            </a:r>
            <a:r>
              <a:rPr spc="-75" dirty="0"/>
              <a:t> </a:t>
            </a:r>
            <a:r>
              <a:rPr spc="15" dirty="0"/>
              <a:t>activation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B1119B-7F0D-064B-BC5C-84B2D074063B}"/>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304800" y="133350"/>
            <a:ext cx="8729592" cy="4343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E4AFA2-6D5F-B942-B2F2-977B5102A27F}"/>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228601" y="361950"/>
            <a:ext cx="8814335" cy="4114800"/>
          </a:xfrm>
          <a:prstGeom prst="rect">
            <a:avLst/>
          </a:prstGeom>
        </p:spPr>
      </p:pic>
    </p:spTree>
    <p:extLst>
      <p:ext uri="{BB962C8B-B14F-4D97-AF65-F5344CB8AC3E}">
        <p14:creationId xmlns:p14="http://schemas.microsoft.com/office/powerpoint/2010/main" val="939324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28951" y="2552701"/>
            <a:ext cx="5705475" cy="38100"/>
          </a:xfrm>
          <a:custGeom>
            <a:avLst/>
            <a:gdLst/>
            <a:ahLst/>
            <a:cxnLst/>
            <a:rect l="l" t="t" r="r" b="b"/>
            <a:pathLst>
              <a:path w="5705475" h="38100">
                <a:moveTo>
                  <a:pt x="5705475" y="0"/>
                </a:moveTo>
                <a:lnTo>
                  <a:pt x="0" y="0"/>
                </a:lnTo>
                <a:lnTo>
                  <a:pt x="0" y="38100"/>
                </a:lnTo>
                <a:lnTo>
                  <a:pt x="5705475" y="38100"/>
                </a:lnTo>
                <a:lnTo>
                  <a:pt x="5705475" y="0"/>
                </a:lnTo>
                <a:close/>
              </a:path>
            </a:pathLst>
          </a:custGeom>
          <a:solidFill>
            <a:srgbClr val="0070EA"/>
          </a:solidFill>
        </p:spPr>
        <p:txBody>
          <a:bodyPr wrap="square" lIns="0" tIns="0" rIns="0" bIns="0" rtlCol="0"/>
          <a:lstStyle/>
          <a:p>
            <a:endParaRPr/>
          </a:p>
        </p:txBody>
      </p:sp>
      <p:sp>
        <p:nvSpPr>
          <p:cNvPr id="3" name="object 3"/>
          <p:cNvSpPr txBox="1">
            <a:spLocks noGrp="1"/>
          </p:cNvSpPr>
          <p:nvPr>
            <p:ph type="ctrTitle"/>
          </p:nvPr>
        </p:nvSpPr>
        <p:spPr>
          <a:xfrm>
            <a:off x="505778" y="1355408"/>
            <a:ext cx="5846445" cy="1232646"/>
          </a:xfrm>
          <a:prstGeom prst="rect">
            <a:avLst/>
          </a:prstGeom>
        </p:spPr>
        <p:txBody>
          <a:bodyPr vert="horz" wrap="square" lIns="0" tIns="16511" rIns="0" bIns="0" rtlCol="0">
            <a:spAutoFit/>
          </a:bodyPr>
          <a:lstStyle/>
          <a:p>
            <a:pPr marL="2641534">
              <a:spcBef>
                <a:spcPts val="131"/>
              </a:spcBef>
            </a:pPr>
            <a:r>
              <a:rPr spc="15" dirty="0"/>
              <a:t>Activation</a:t>
            </a:r>
            <a:r>
              <a:rPr spc="-11" dirty="0"/>
              <a:t> </a:t>
            </a:r>
            <a:r>
              <a:rPr spc="25" dirty="0"/>
              <a:t>Functions</a:t>
            </a:r>
          </a:p>
        </p:txBody>
      </p:sp>
      <p:sp>
        <p:nvSpPr>
          <p:cNvPr id="4" name="object 4"/>
          <p:cNvSpPr txBox="1">
            <a:spLocks noGrp="1"/>
          </p:cNvSpPr>
          <p:nvPr>
            <p:ph type="subTitle" idx="4"/>
          </p:nvPr>
        </p:nvSpPr>
        <p:spPr>
          <a:xfrm>
            <a:off x="459391" y="3140267"/>
            <a:ext cx="5939219" cy="3495510"/>
          </a:xfrm>
          <a:prstGeom prst="rect">
            <a:avLst/>
          </a:prstGeom>
        </p:spPr>
        <p:txBody>
          <a:bodyPr vert="horz" wrap="square" lIns="0" tIns="11431" rIns="0" bIns="0" rtlCol="0">
            <a:spAutoFit/>
          </a:bodyPr>
          <a:lstStyle/>
          <a:p>
            <a:pPr marL="4109617" marR="5080" indent="-1335372">
              <a:lnSpc>
                <a:spcPct val="117300"/>
              </a:lnSpc>
              <a:spcBef>
                <a:spcPts val="91"/>
              </a:spcBef>
            </a:pPr>
            <a:r>
              <a:rPr spc="20" dirty="0"/>
              <a:t>Choosing activation  </a:t>
            </a:r>
            <a:r>
              <a:rPr spc="25" dirty="0"/>
              <a:t>functions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3C09A9-299A-A446-A366-00ECDCC37A74}"/>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165226" y="133350"/>
            <a:ext cx="8597775" cy="4267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64BF01-AF5B-F648-B729-183EB6EBDB94}"/>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304800" y="209550"/>
            <a:ext cx="8661779" cy="4267200"/>
          </a:xfrm>
          <a:prstGeom prst="rect">
            <a:avLst/>
          </a:prstGeom>
        </p:spPr>
      </p:pic>
    </p:spTree>
    <p:extLst>
      <p:ext uri="{BB962C8B-B14F-4D97-AF65-F5344CB8AC3E}">
        <p14:creationId xmlns:p14="http://schemas.microsoft.com/office/powerpoint/2010/main" val="332863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4B728E-23F6-DB4E-ACD6-997192293263}"/>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228600" y="209550"/>
            <a:ext cx="8610600" cy="4187200"/>
          </a:xfrm>
          <a:prstGeom prst="rect">
            <a:avLst/>
          </a:prstGeom>
        </p:spPr>
      </p:pic>
    </p:spTree>
    <p:extLst>
      <p:ext uri="{BB962C8B-B14F-4D97-AF65-F5344CB8AC3E}">
        <p14:creationId xmlns:p14="http://schemas.microsoft.com/office/powerpoint/2010/main" val="492832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63D18-43BD-EA47-A8D8-9F74176B79BE}"/>
              </a:ext>
            </a:extLst>
          </p:cNvPr>
          <p:cNvSpPr>
            <a:spLocks noGrp="1"/>
          </p:cNvSpPr>
          <p:nvPr>
            <p:ph type="title"/>
          </p:nvPr>
        </p:nvSpPr>
        <p:spPr>
          <a:xfrm>
            <a:off x="457200" y="188952"/>
            <a:ext cx="7038085" cy="553999"/>
          </a:xfrm>
        </p:spPr>
        <p:txBody>
          <a:bodyPr/>
          <a:lstStyle/>
          <a:p>
            <a:pPr algn="ctr" rtl="1"/>
            <a:r>
              <a:rPr lang="en-US" dirty="0"/>
              <a:t>Other Activation Functions</a:t>
            </a:r>
            <a:endParaRPr lang="en-IL" dirty="0"/>
          </a:p>
        </p:txBody>
      </p:sp>
      <p:sp>
        <p:nvSpPr>
          <p:cNvPr id="3" name="Text Placeholder 2">
            <a:extLst>
              <a:ext uri="{FF2B5EF4-FFF2-40B4-BE49-F238E27FC236}">
                <a16:creationId xmlns:a16="http://schemas.microsoft.com/office/drawing/2014/main" id="{66B36876-578F-2E49-914E-75A5A0A26FF6}"/>
              </a:ext>
            </a:extLst>
          </p:cNvPr>
          <p:cNvSpPr>
            <a:spLocks noGrp="1"/>
          </p:cNvSpPr>
          <p:nvPr>
            <p:ph type="body" idx="1"/>
          </p:nvPr>
        </p:nvSpPr>
        <p:spPr>
          <a:xfrm>
            <a:off x="260032" y="1117537"/>
            <a:ext cx="7738109" cy="2492990"/>
          </a:xfrm>
        </p:spPr>
        <p:txBody>
          <a:bodyPr/>
          <a:lstStyle/>
          <a:p>
            <a:pPr marL="285744" indent="-285744">
              <a:buFont typeface="Arial" panose="020B0604020202020204" pitchFamily="34" charset="0"/>
              <a:buChar char="•"/>
            </a:pPr>
            <a:r>
              <a:rPr lang="en-US" sz="1800" dirty="0">
                <a:latin typeface="+mn-lt"/>
              </a:rPr>
              <a:t>Tanh (Hyperbolic Tangent)</a:t>
            </a:r>
            <a:br>
              <a:rPr lang="en-US" sz="1800" dirty="0">
                <a:latin typeface="+mn-lt"/>
              </a:rPr>
            </a:br>
            <a:r>
              <a:rPr lang="en-US" sz="1800" dirty="0">
                <a:latin typeface="+mn-lt"/>
              </a:rPr>
              <a:t>g(z) = tanh(z)</a:t>
            </a:r>
            <a:br>
              <a:rPr lang="en-US" sz="1800" dirty="0">
                <a:latin typeface="+mn-lt"/>
              </a:rPr>
            </a:br>
            <a:r>
              <a:rPr lang="en-US" sz="1800" dirty="0">
                <a:latin typeface="+mn-lt"/>
              </a:rPr>
              <a:t>Its output range is between -1 and 1. It is similar to sigmoid but centered at zero, which sometimes helps learning.</a:t>
            </a:r>
          </a:p>
          <a:p>
            <a:pPr marL="285744" indent="-285744">
              <a:buFont typeface="Arial" panose="020B0604020202020204" pitchFamily="34" charset="0"/>
              <a:buChar char="•"/>
            </a:pPr>
            <a:r>
              <a:rPr lang="en-US" sz="1800" dirty="0">
                <a:latin typeface="+mn-lt"/>
              </a:rPr>
              <a:t>Leaky </a:t>
            </a:r>
            <a:r>
              <a:rPr lang="en-US" sz="1800" dirty="0" err="1">
                <a:latin typeface="+mn-lt"/>
              </a:rPr>
              <a:t>ReLU</a:t>
            </a:r>
            <a:br>
              <a:rPr lang="en-US" sz="1800" dirty="0">
                <a:latin typeface="+mn-lt"/>
              </a:rPr>
            </a:br>
            <a:r>
              <a:rPr lang="en-US" sz="1800" dirty="0">
                <a:latin typeface="+mn-lt"/>
              </a:rPr>
              <a:t>g(z) = max(</a:t>
            </a:r>
            <a:r>
              <a:rPr lang="el-GR" sz="1800" dirty="0">
                <a:latin typeface="+mn-lt"/>
              </a:rPr>
              <a:t>α</a:t>
            </a:r>
            <a:r>
              <a:rPr lang="en-US" sz="1800" dirty="0">
                <a:latin typeface="+mn-lt"/>
              </a:rPr>
              <a:t>z, z) where </a:t>
            </a:r>
            <a:r>
              <a:rPr lang="el-GR" sz="1800" dirty="0">
                <a:latin typeface="+mn-lt"/>
              </a:rPr>
              <a:t>α </a:t>
            </a:r>
            <a:r>
              <a:rPr lang="en-US" sz="1800" dirty="0">
                <a:latin typeface="+mn-lt"/>
              </a:rPr>
              <a:t>is a small number like 0.01.</a:t>
            </a:r>
            <a:br>
              <a:rPr lang="en-US" sz="1800" dirty="0">
                <a:latin typeface="+mn-lt"/>
              </a:rPr>
            </a:br>
            <a:r>
              <a:rPr lang="en-US" sz="1800" dirty="0">
                <a:latin typeface="+mn-lt"/>
              </a:rPr>
              <a:t>Instead of outputting 0 for negative values (like </a:t>
            </a:r>
            <a:r>
              <a:rPr lang="en-US" sz="1800" dirty="0" err="1">
                <a:latin typeface="+mn-lt"/>
              </a:rPr>
              <a:t>ReLU</a:t>
            </a:r>
            <a:r>
              <a:rPr lang="en-US" sz="1800" dirty="0">
                <a:latin typeface="+mn-lt"/>
              </a:rPr>
              <a:t>), it allows a small negative slope. This helps reduce the “dying </a:t>
            </a:r>
            <a:r>
              <a:rPr lang="en-US" sz="1800" dirty="0" err="1">
                <a:latin typeface="+mn-lt"/>
              </a:rPr>
              <a:t>ReLU</a:t>
            </a:r>
            <a:r>
              <a:rPr lang="en-US" sz="1800" dirty="0">
                <a:latin typeface="+mn-lt"/>
              </a:rPr>
              <a:t>” problem.</a:t>
            </a:r>
          </a:p>
          <a:p>
            <a:pPr marL="285744" indent="-285744" algn="l" rtl="0">
              <a:buFont typeface="Arial" panose="020B0604020202020204" pitchFamily="34" charset="0"/>
              <a:buChar char="•"/>
            </a:pPr>
            <a:endParaRPr lang="en-IL" sz="1800" dirty="0">
              <a:latin typeface="+mn-lt"/>
            </a:endParaRPr>
          </a:p>
        </p:txBody>
      </p:sp>
    </p:spTree>
    <p:extLst>
      <p:ext uri="{BB962C8B-B14F-4D97-AF65-F5344CB8AC3E}">
        <p14:creationId xmlns:p14="http://schemas.microsoft.com/office/powerpoint/2010/main" val="2046100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28951" y="2552701"/>
            <a:ext cx="5705475" cy="38100"/>
          </a:xfrm>
          <a:custGeom>
            <a:avLst/>
            <a:gdLst/>
            <a:ahLst/>
            <a:cxnLst/>
            <a:rect l="l" t="t" r="r" b="b"/>
            <a:pathLst>
              <a:path w="5705475" h="38100">
                <a:moveTo>
                  <a:pt x="5705475" y="0"/>
                </a:moveTo>
                <a:lnTo>
                  <a:pt x="0" y="0"/>
                </a:lnTo>
                <a:lnTo>
                  <a:pt x="0" y="38100"/>
                </a:lnTo>
                <a:lnTo>
                  <a:pt x="5705475" y="38100"/>
                </a:lnTo>
                <a:lnTo>
                  <a:pt x="5705475" y="0"/>
                </a:lnTo>
                <a:close/>
              </a:path>
            </a:pathLst>
          </a:custGeom>
          <a:solidFill>
            <a:srgbClr val="0070EA"/>
          </a:solidFill>
        </p:spPr>
        <p:txBody>
          <a:bodyPr wrap="square" lIns="0" tIns="0" rIns="0" bIns="0" rtlCol="0"/>
          <a:lstStyle/>
          <a:p>
            <a:endParaRPr/>
          </a:p>
        </p:txBody>
      </p:sp>
      <p:sp>
        <p:nvSpPr>
          <p:cNvPr id="3" name="object 3"/>
          <p:cNvSpPr txBox="1">
            <a:spLocks noGrp="1"/>
          </p:cNvSpPr>
          <p:nvPr>
            <p:ph type="ctrTitle"/>
          </p:nvPr>
        </p:nvSpPr>
        <p:spPr>
          <a:xfrm>
            <a:off x="505778" y="1355408"/>
            <a:ext cx="5846445" cy="1232646"/>
          </a:xfrm>
          <a:prstGeom prst="rect">
            <a:avLst/>
          </a:prstGeom>
        </p:spPr>
        <p:txBody>
          <a:bodyPr vert="horz" wrap="square" lIns="0" tIns="16511" rIns="0" bIns="0" rtlCol="0">
            <a:spAutoFit/>
          </a:bodyPr>
          <a:lstStyle/>
          <a:p>
            <a:pPr marL="2641534">
              <a:spcBef>
                <a:spcPts val="131"/>
              </a:spcBef>
            </a:pPr>
            <a:r>
              <a:rPr spc="15" dirty="0"/>
              <a:t>Activation</a:t>
            </a:r>
            <a:r>
              <a:rPr spc="-11" dirty="0"/>
              <a:t> </a:t>
            </a:r>
            <a:r>
              <a:rPr spc="25" dirty="0"/>
              <a:t>Functions</a:t>
            </a:r>
          </a:p>
        </p:txBody>
      </p:sp>
      <p:sp>
        <p:nvSpPr>
          <p:cNvPr id="4" name="object 4"/>
          <p:cNvSpPr txBox="1">
            <a:spLocks noGrp="1"/>
          </p:cNvSpPr>
          <p:nvPr>
            <p:ph type="subTitle" idx="4"/>
          </p:nvPr>
        </p:nvSpPr>
        <p:spPr>
          <a:xfrm>
            <a:off x="459391" y="3140267"/>
            <a:ext cx="5939219" cy="2784161"/>
          </a:xfrm>
          <a:prstGeom prst="rect">
            <a:avLst/>
          </a:prstGeom>
        </p:spPr>
        <p:txBody>
          <a:bodyPr vert="horz" wrap="square" lIns="0" tIns="11431" rIns="0" bIns="0" rtlCol="0">
            <a:spAutoFit/>
          </a:bodyPr>
          <a:lstStyle/>
          <a:p>
            <a:pPr marL="2631374" marR="5080" indent="514338">
              <a:lnSpc>
                <a:spcPct val="117300"/>
              </a:lnSpc>
              <a:spcBef>
                <a:spcPts val="91"/>
              </a:spcBef>
            </a:pPr>
            <a:r>
              <a:rPr spc="20" dirty="0"/>
              <a:t>Why </a:t>
            </a:r>
            <a:r>
              <a:rPr spc="15" dirty="0"/>
              <a:t>do </a:t>
            </a:r>
            <a:r>
              <a:rPr spc="5" dirty="0"/>
              <a:t>we </a:t>
            </a:r>
            <a:r>
              <a:rPr spc="35" dirty="0"/>
              <a:t>need  </a:t>
            </a:r>
            <a:r>
              <a:rPr spc="15" dirty="0"/>
              <a:t>activation</a:t>
            </a:r>
            <a:r>
              <a:rPr spc="20" dirty="0"/>
              <a:t> </a:t>
            </a:r>
            <a:r>
              <a:rPr spc="31" dirty="0"/>
              <a:t>functions?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E02BBF-9A21-B843-A527-3702F6E70D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209550"/>
            <a:ext cx="8305800" cy="430274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3B6D9A-6515-D44F-BDAD-2A55F16A67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156523"/>
            <a:ext cx="8441976" cy="4167827"/>
          </a:xfrm>
          <a:prstGeom prst="rect">
            <a:avLst/>
          </a:prstGeom>
        </p:spPr>
      </p:pic>
    </p:spTree>
    <p:extLst>
      <p:ext uri="{BB962C8B-B14F-4D97-AF65-F5344CB8AC3E}">
        <p14:creationId xmlns:p14="http://schemas.microsoft.com/office/powerpoint/2010/main" val="16928363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8FFE61-3C36-5E48-8B03-D56FA98E1C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146051"/>
            <a:ext cx="8978835" cy="4330700"/>
          </a:xfrm>
          <a:prstGeom prst="rect">
            <a:avLst/>
          </a:prstGeom>
        </p:spPr>
      </p:pic>
    </p:spTree>
    <p:extLst>
      <p:ext uri="{BB962C8B-B14F-4D97-AF65-F5344CB8AC3E}">
        <p14:creationId xmlns:p14="http://schemas.microsoft.com/office/powerpoint/2010/main" val="17759576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28951" y="2552701"/>
            <a:ext cx="5705475" cy="38100"/>
          </a:xfrm>
          <a:custGeom>
            <a:avLst/>
            <a:gdLst/>
            <a:ahLst/>
            <a:cxnLst/>
            <a:rect l="l" t="t" r="r" b="b"/>
            <a:pathLst>
              <a:path w="5705475" h="38100">
                <a:moveTo>
                  <a:pt x="5705475" y="0"/>
                </a:moveTo>
                <a:lnTo>
                  <a:pt x="0" y="0"/>
                </a:lnTo>
                <a:lnTo>
                  <a:pt x="0" y="38100"/>
                </a:lnTo>
                <a:lnTo>
                  <a:pt x="5705475" y="38100"/>
                </a:lnTo>
                <a:lnTo>
                  <a:pt x="5705475" y="0"/>
                </a:lnTo>
                <a:close/>
              </a:path>
            </a:pathLst>
          </a:custGeom>
          <a:solidFill>
            <a:srgbClr val="0070EA"/>
          </a:solidFill>
        </p:spPr>
        <p:txBody>
          <a:bodyPr wrap="square" lIns="0" tIns="0" rIns="0" bIns="0" rtlCol="0"/>
          <a:lstStyle/>
          <a:p>
            <a:endParaRPr/>
          </a:p>
        </p:txBody>
      </p:sp>
      <p:sp>
        <p:nvSpPr>
          <p:cNvPr id="3" name="object 3"/>
          <p:cNvSpPr txBox="1"/>
          <p:nvPr/>
        </p:nvSpPr>
        <p:spPr>
          <a:xfrm>
            <a:off x="4199635" y="744918"/>
            <a:ext cx="3362960" cy="1188018"/>
          </a:xfrm>
          <a:prstGeom prst="rect">
            <a:avLst/>
          </a:prstGeom>
        </p:spPr>
        <p:txBody>
          <a:bodyPr vert="horz" wrap="square" lIns="0" tIns="8255" rIns="0" bIns="0" rtlCol="0">
            <a:spAutoFit/>
          </a:bodyPr>
          <a:lstStyle/>
          <a:p>
            <a:pPr marL="12700" marR="5080" indent="428615">
              <a:lnSpc>
                <a:spcPct val="101400"/>
              </a:lnSpc>
              <a:spcBef>
                <a:spcPts val="65"/>
              </a:spcBef>
            </a:pPr>
            <a:r>
              <a:rPr sz="3951" spc="31" dirty="0">
                <a:solidFill>
                  <a:srgbClr val="8C1515"/>
                </a:solidFill>
                <a:latin typeface="Verdana"/>
                <a:cs typeface="Verdana"/>
              </a:rPr>
              <a:t>Multiclass  </a:t>
            </a:r>
            <a:r>
              <a:rPr sz="3951" spc="15" dirty="0">
                <a:solidFill>
                  <a:srgbClr val="8C1515"/>
                </a:solidFill>
                <a:latin typeface="Verdana"/>
                <a:cs typeface="Verdana"/>
              </a:rPr>
              <a:t>C</a:t>
            </a:r>
            <a:r>
              <a:rPr sz="3951" spc="31" dirty="0">
                <a:solidFill>
                  <a:srgbClr val="8C1515"/>
                </a:solidFill>
                <a:latin typeface="Verdana"/>
                <a:cs typeface="Verdana"/>
              </a:rPr>
              <a:t>l</a:t>
            </a:r>
            <a:r>
              <a:rPr sz="3951" spc="15" dirty="0">
                <a:solidFill>
                  <a:srgbClr val="8C1515"/>
                </a:solidFill>
                <a:latin typeface="Verdana"/>
                <a:cs typeface="Verdana"/>
              </a:rPr>
              <a:t>a</a:t>
            </a:r>
            <a:r>
              <a:rPr sz="3951" spc="45" dirty="0">
                <a:solidFill>
                  <a:srgbClr val="8C1515"/>
                </a:solidFill>
                <a:latin typeface="Verdana"/>
                <a:cs typeface="Verdana"/>
              </a:rPr>
              <a:t>s</a:t>
            </a:r>
            <a:r>
              <a:rPr sz="3951" spc="35" dirty="0">
                <a:solidFill>
                  <a:srgbClr val="8C1515"/>
                </a:solidFill>
                <a:latin typeface="Verdana"/>
                <a:cs typeface="Verdana"/>
              </a:rPr>
              <a:t>s</a:t>
            </a:r>
            <a:r>
              <a:rPr sz="3951" spc="31" dirty="0">
                <a:solidFill>
                  <a:srgbClr val="8C1515"/>
                </a:solidFill>
                <a:latin typeface="Verdana"/>
                <a:cs typeface="Verdana"/>
              </a:rPr>
              <a:t>ifi</a:t>
            </a:r>
            <a:r>
              <a:rPr sz="3951" spc="35" dirty="0">
                <a:solidFill>
                  <a:srgbClr val="8C1515"/>
                </a:solidFill>
                <a:latin typeface="Verdana"/>
                <a:cs typeface="Verdana"/>
              </a:rPr>
              <a:t>c</a:t>
            </a:r>
            <a:r>
              <a:rPr sz="3951" spc="15" dirty="0">
                <a:solidFill>
                  <a:srgbClr val="8C1515"/>
                </a:solidFill>
                <a:latin typeface="Verdana"/>
                <a:cs typeface="Verdana"/>
              </a:rPr>
              <a:t>a</a:t>
            </a:r>
            <a:r>
              <a:rPr sz="3951" spc="20" dirty="0">
                <a:solidFill>
                  <a:srgbClr val="8C1515"/>
                </a:solidFill>
                <a:latin typeface="Verdana"/>
                <a:cs typeface="Verdana"/>
              </a:rPr>
              <a:t>t</a:t>
            </a:r>
            <a:r>
              <a:rPr sz="3951" spc="31" dirty="0">
                <a:solidFill>
                  <a:srgbClr val="8C1515"/>
                </a:solidFill>
                <a:latin typeface="Verdana"/>
                <a:cs typeface="Verdana"/>
              </a:rPr>
              <a:t>i</a:t>
            </a:r>
            <a:r>
              <a:rPr sz="3951" spc="-5" dirty="0">
                <a:solidFill>
                  <a:srgbClr val="8C1515"/>
                </a:solidFill>
                <a:latin typeface="Verdana"/>
                <a:cs typeface="Verdana"/>
              </a:rPr>
              <a:t>o</a:t>
            </a:r>
            <a:r>
              <a:rPr sz="3951" spc="20" dirty="0">
                <a:solidFill>
                  <a:srgbClr val="8C1515"/>
                </a:solidFill>
                <a:latin typeface="Verdana"/>
                <a:cs typeface="Verdana"/>
              </a:rPr>
              <a:t>n</a:t>
            </a:r>
            <a:endParaRPr sz="3951">
              <a:latin typeface="Verdana"/>
              <a:cs typeface="Verdana"/>
            </a:endParaRPr>
          </a:p>
        </p:txBody>
      </p:sp>
      <p:sp>
        <p:nvSpPr>
          <p:cNvPr id="4" name="object 4"/>
          <p:cNvSpPr txBox="1"/>
          <p:nvPr/>
        </p:nvSpPr>
        <p:spPr>
          <a:xfrm>
            <a:off x="4633215" y="3239451"/>
            <a:ext cx="2508885" cy="624659"/>
          </a:xfrm>
          <a:prstGeom prst="rect">
            <a:avLst/>
          </a:prstGeom>
        </p:spPr>
        <p:txBody>
          <a:bodyPr vert="horz" wrap="square" lIns="0" tIns="16511" rIns="0" bIns="0" rtlCol="0">
            <a:spAutoFit/>
          </a:bodyPr>
          <a:lstStyle/>
          <a:p>
            <a:pPr marL="12700">
              <a:spcBef>
                <a:spcPts val="131"/>
              </a:spcBef>
            </a:pPr>
            <a:r>
              <a:rPr sz="3951" spc="31" dirty="0">
                <a:latin typeface="Verdana"/>
                <a:cs typeface="Verdana"/>
              </a:rPr>
              <a:t>Multiclass</a:t>
            </a:r>
            <a:endParaRPr sz="3951">
              <a:latin typeface="Verdana"/>
              <a:cs typeface="Verdan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D2DE29-2F2A-F24D-9D94-5E714E204B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260350"/>
            <a:ext cx="8763000" cy="43338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6F65392-946C-434B-830E-0BAACEF242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6850"/>
            <a:ext cx="8686800" cy="4343400"/>
          </a:xfrm>
          <a:prstGeom prst="rect">
            <a:avLst/>
          </a:prstGeom>
        </p:spPr>
      </p:pic>
    </p:spTree>
    <p:extLst>
      <p:ext uri="{BB962C8B-B14F-4D97-AF65-F5344CB8AC3E}">
        <p14:creationId xmlns:p14="http://schemas.microsoft.com/office/powerpoint/2010/main" val="39451942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28951" y="2552701"/>
            <a:ext cx="5705475" cy="38100"/>
          </a:xfrm>
          <a:custGeom>
            <a:avLst/>
            <a:gdLst/>
            <a:ahLst/>
            <a:cxnLst/>
            <a:rect l="l" t="t" r="r" b="b"/>
            <a:pathLst>
              <a:path w="5705475" h="38100">
                <a:moveTo>
                  <a:pt x="5705475" y="0"/>
                </a:moveTo>
                <a:lnTo>
                  <a:pt x="0" y="0"/>
                </a:lnTo>
                <a:lnTo>
                  <a:pt x="0" y="38100"/>
                </a:lnTo>
                <a:lnTo>
                  <a:pt x="5705475" y="38100"/>
                </a:lnTo>
                <a:lnTo>
                  <a:pt x="5705475" y="0"/>
                </a:lnTo>
                <a:close/>
              </a:path>
            </a:pathLst>
          </a:custGeom>
          <a:solidFill>
            <a:srgbClr val="0070EA"/>
          </a:solidFill>
        </p:spPr>
        <p:txBody>
          <a:bodyPr wrap="square" lIns="0" tIns="0" rIns="0" bIns="0" rtlCol="0"/>
          <a:lstStyle/>
          <a:p>
            <a:endParaRPr/>
          </a:p>
        </p:txBody>
      </p:sp>
      <p:sp>
        <p:nvSpPr>
          <p:cNvPr id="3" name="object 3"/>
          <p:cNvSpPr txBox="1"/>
          <p:nvPr/>
        </p:nvSpPr>
        <p:spPr>
          <a:xfrm>
            <a:off x="4199635" y="744918"/>
            <a:ext cx="3362960" cy="1188018"/>
          </a:xfrm>
          <a:prstGeom prst="rect">
            <a:avLst/>
          </a:prstGeom>
        </p:spPr>
        <p:txBody>
          <a:bodyPr vert="horz" wrap="square" lIns="0" tIns="8255" rIns="0" bIns="0" rtlCol="0">
            <a:spAutoFit/>
          </a:bodyPr>
          <a:lstStyle/>
          <a:p>
            <a:pPr marL="12700" marR="5080" indent="428615">
              <a:lnSpc>
                <a:spcPct val="101400"/>
              </a:lnSpc>
              <a:spcBef>
                <a:spcPts val="65"/>
              </a:spcBef>
            </a:pPr>
            <a:r>
              <a:rPr sz="3951" spc="31" dirty="0">
                <a:solidFill>
                  <a:srgbClr val="8C1515"/>
                </a:solidFill>
                <a:latin typeface="Verdana"/>
                <a:cs typeface="Verdana"/>
              </a:rPr>
              <a:t>Multiclass  </a:t>
            </a:r>
            <a:r>
              <a:rPr sz="3951" spc="15" dirty="0">
                <a:solidFill>
                  <a:srgbClr val="8C1515"/>
                </a:solidFill>
                <a:latin typeface="Verdana"/>
                <a:cs typeface="Verdana"/>
              </a:rPr>
              <a:t>C</a:t>
            </a:r>
            <a:r>
              <a:rPr sz="3951" spc="31" dirty="0">
                <a:solidFill>
                  <a:srgbClr val="8C1515"/>
                </a:solidFill>
                <a:latin typeface="Verdana"/>
                <a:cs typeface="Verdana"/>
              </a:rPr>
              <a:t>l</a:t>
            </a:r>
            <a:r>
              <a:rPr sz="3951" spc="15" dirty="0">
                <a:solidFill>
                  <a:srgbClr val="8C1515"/>
                </a:solidFill>
                <a:latin typeface="Verdana"/>
                <a:cs typeface="Verdana"/>
              </a:rPr>
              <a:t>a</a:t>
            </a:r>
            <a:r>
              <a:rPr sz="3951" spc="45" dirty="0">
                <a:solidFill>
                  <a:srgbClr val="8C1515"/>
                </a:solidFill>
                <a:latin typeface="Verdana"/>
                <a:cs typeface="Verdana"/>
              </a:rPr>
              <a:t>s</a:t>
            </a:r>
            <a:r>
              <a:rPr sz="3951" spc="35" dirty="0">
                <a:solidFill>
                  <a:srgbClr val="8C1515"/>
                </a:solidFill>
                <a:latin typeface="Verdana"/>
                <a:cs typeface="Verdana"/>
              </a:rPr>
              <a:t>s</a:t>
            </a:r>
            <a:r>
              <a:rPr sz="3951" spc="31" dirty="0">
                <a:solidFill>
                  <a:srgbClr val="8C1515"/>
                </a:solidFill>
                <a:latin typeface="Verdana"/>
                <a:cs typeface="Verdana"/>
              </a:rPr>
              <a:t>ifi</a:t>
            </a:r>
            <a:r>
              <a:rPr sz="3951" spc="35" dirty="0">
                <a:solidFill>
                  <a:srgbClr val="8C1515"/>
                </a:solidFill>
                <a:latin typeface="Verdana"/>
                <a:cs typeface="Verdana"/>
              </a:rPr>
              <a:t>c</a:t>
            </a:r>
            <a:r>
              <a:rPr sz="3951" spc="15" dirty="0">
                <a:solidFill>
                  <a:srgbClr val="8C1515"/>
                </a:solidFill>
                <a:latin typeface="Verdana"/>
                <a:cs typeface="Verdana"/>
              </a:rPr>
              <a:t>a</a:t>
            </a:r>
            <a:r>
              <a:rPr sz="3951" spc="20" dirty="0">
                <a:solidFill>
                  <a:srgbClr val="8C1515"/>
                </a:solidFill>
                <a:latin typeface="Verdana"/>
                <a:cs typeface="Verdana"/>
              </a:rPr>
              <a:t>t</a:t>
            </a:r>
            <a:r>
              <a:rPr sz="3951" spc="31" dirty="0">
                <a:solidFill>
                  <a:srgbClr val="8C1515"/>
                </a:solidFill>
                <a:latin typeface="Verdana"/>
                <a:cs typeface="Verdana"/>
              </a:rPr>
              <a:t>i</a:t>
            </a:r>
            <a:r>
              <a:rPr sz="3951" spc="-5" dirty="0">
                <a:solidFill>
                  <a:srgbClr val="8C1515"/>
                </a:solidFill>
                <a:latin typeface="Verdana"/>
                <a:cs typeface="Verdana"/>
              </a:rPr>
              <a:t>o</a:t>
            </a:r>
            <a:r>
              <a:rPr sz="3951" spc="20" dirty="0">
                <a:solidFill>
                  <a:srgbClr val="8C1515"/>
                </a:solidFill>
                <a:latin typeface="Verdana"/>
                <a:cs typeface="Verdana"/>
              </a:rPr>
              <a:t>n</a:t>
            </a:r>
            <a:endParaRPr sz="3951">
              <a:latin typeface="Verdana"/>
              <a:cs typeface="Verdana"/>
            </a:endParaRPr>
          </a:p>
        </p:txBody>
      </p:sp>
      <p:sp>
        <p:nvSpPr>
          <p:cNvPr id="4" name="object 4"/>
          <p:cNvSpPr txBox="1"/>
          <p:nvPr/>
        </p:nvSpPr>
        <p:spPr>
          <a:xfrm>
            <a:off x="4814571" y="3239451"/>
            <a:ext cx="2153920" cy="624659"/>
          </a:xfrm>
          <a:prstGeom prst="rect">
            <a:avLst/>
          </a:prstGeom>
        </p:spPr>
        <p:txBody>
          <a:bodyPr vert="horz" wrap="square" lIns="0" tIns="16511" rIns="0" bIns="0" rtlCol="0">
            <a:spAutoFit/>
          </a:bodyPr>
          <a:lstStyle/>
          <a:p>
            <a:pPr marL="12700">
              <a:spcBef>
                <a:spcPts val="131"/>
              </a:spcBef>
            </a:pPr>
            <a:r>
              <a:rPr sz="3951" dirty="0">
                <a:latin typeface="Verdana"/>
                <a:cs typeface="Verdana"/>
              </a:rPr>
              <a:t>So</a:t>
            </a:r>
            <a:r>
              <a:rPr sz="3951" spc="31" dirty="0">
                <a:latin typeface="Verdana"/>
                <a:cs typeface="Verdana"/>
              </a:rPr>
              <a:t>f</a:t>
            </a:r>
            <a:r>
              <a:rPr sz="3951" spc="5" dirty="0">
                <a:latin typeface="Verdana"/>
                <a:cs typeface="Verdana"/>
              </a:rPr>
              <a:t>t</a:t>
            </a:r>
            <a:r>
              <a:rPr sz="3951" spc="65" dirty="0">
                <a:latin typeface="Verdana"/>
                <a:cs typeface="Verdana"/>
              </a:rPr>
              <a:t>m</a:t>
            </a:r>
            <a:r>
              <a:rPr sz="3951" spc="15" dirty="0">
                <a:latin typeface="Verdana"/>
                <a:cs typeface="Verdana"/>
              </a:rPr>
              <a:t>ax</a:t>
            </a:r>
            <a:endParaRPr sz="3951">
              <a:latin typeface="Verdana"/>
              <a:cs typeface="Verdan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0971EB-A726-F641-ADE6-3353DE53A2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1" y="133350"/>
            <a:ext cx="8537028" cy="43434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F19F7-5A8D-594E-9C1C-F42D3CCDA2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133350"/>
            <a:ext cx="8707925" cy="4419600"/>
          </a:xfrm>
          <a:prstGeom prst="rect">
            <a:avLst/>
          </a:prstGeom>
        </p:spPr>
      </p:pic>
    </p:spTree>
    <p:extLst>
      <p:ext uri="{BB962C8B-B14F-4D97-AF65-F5344CB8AC3E}">
        <p14:creationId xmlns:p14="http://schemas.microsoft.com/office/powerpoint/2010/main" val="35155302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AAC1A2-0703-C645-B024-F5E8794CDC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57150"/>
            <a:ext cx="8686800" cy="4397829"/>
          </a:xfrm>
          <a:prstGeom prst="rect">
            <a:avLst/>
          </a:prstGeom>
        </p:spPr>
      </p:pic>
    </p:spTree>
    <p:extLst>
      <p:ext uri="{BB962C8B-B14F-4D97-AF65-F5344CB8AC3E}">
        <p14:creationId xmlns:p14="http://schemas.microsoft.com/office/powerpoint/2010/main" val="17140839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0D9086D-ADA6-8247-AFC4-8866700576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1" y="133350"/>
            <a:ext cx="8423495" cy="4419600"/>
          </a:xfrm>
          <a:prstGeom prst="rect">
            <a:avLst/>
          </a:prstGeom>
        </p:spPr>
      </p:pic>
    </p:spTree>
    <p:extLst>
      <p:ext uri="{BB962C8B-B14F-4D97-AF65-F5344CB8AC3E}">
        <p14:creationId xmlns:p14="http://schemas.microsoft.com/office/powerpoint/2010/main" val="19612121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28951" y="2552701"/>
            <a:ext cx="5705475" cy="38100"/>
          </a:xfrm>
          <a:custGeom>
            <a:avLst/>
            <a:gdLst/>
            <a:ahLst/>
            <a:cxnLst/>
            <a:rect l="l" t="t" r="r" b="b"/>
            <a:pathLst>
              <a:path w="5705475" h="38100">
                <a:moveTo>
                  <a:pt x="5705475" y="0"/>
                </a:moveTo>
                <a:lnTo>
                  <a:pt x="0" y="0"/>
                </a:lnTo>
                <a:lnTo>
                  <a:pt x="0" y="38100"/>
                </a:lnTo>
                <a:lnTo>
                  <a:pt x="5705475" y="38100"/>
                </a:lnTo>
                <a:lnTo>
                  <a:pt x="5705475" y="0"/>
                </a:lnTo>
                <a:close/>
              </a:path>
            </a:pathLst>
          </a:custGeom>
          <a:solidFill>
            <a:srgbClr val="0070EA"/>
          </a:solidFill>
        </p:spPr>
        <p:txBody>
          <a:bodyPr wrap="square" lIns="0" tIns="0" rIns="0" bIns="0" rtlCol="0"/>
          <a:lstStyle/>
          <a:p>
            <a:endParaRPr/>
          </a:p>
        </p:txBody>
      </p:sp>
      <p:sp>
        <p:nvSpPr>
          <p:cNvPr id="3" name="object 3"/>
          <p:cNvSpPr txBox="1"/>
          <p:nvPr/>
        </p:nvSpPr>
        <p:spPr>
          <a:xfrm>
            <a:off x="4199635" y="744918"/>
            <a:ext cx="3362960" cy="1188018"/>
          </a:xfrm>
          <a:prstGeom prst="rect">
            <a:avLst/>
          </a:prstGeom>
        </p:spPr>
        <p:txBody>
          <a:bodyPr vert="horz" wrap="square" lIns="0" tIns="8255" rIns="0" bIns="0" rtlCol="0">
            <a:spAutoFit/>
          </a:bodyPr>
          <a:lstStyle/>
          <a:p>
            <a:pPr marL="12700" marR="5080" indent="428615">
              <a:lnSpc>
                <a:spcPct val="101400"/>
              </a:lnSpc>
              <a:spcBef>
                <a:spcPts val="65"/>
              </a:spcBef>
            </a:pPr>
            <a:r>
              <a:rPr sz="3951" spc="31" dirty="0">
                <a:solidFill>
                  <a:srgbClr val="8C1515"/>
                </a:solidFill>
                <a:latin typeface="Verdana"/>
                <a:cs typeface="Verdana"/>
              </a:rPr>
              <a:t>Multiclass  </a:t>
            </a:r>
            <a:r>
              <a:rPr sz="3951" spc="15" dirty="0">
                <a:solidFill>
                  <a:srgbClr val="8C1515"/>
                </a:solidFill>
                <a:latin typeface="Verdana"/>
                <a:cs typeface="Verdana"/>
              </a:rPr>
              <a:t>C</a:t>
            </a:r>
            <a:r>
              <a:rPr sz="3951" spc="31" dirty="0">
                <a:solidFill>
                  <a:srgbClr val="8C1515"/>
                </a:solidFill>
                <a:latin typeface="Verdana"/>
                <a:cs typeface="Verdana"/>
              </a:rPr>
              <a:t>l</a:t>
            </a:r>
            <a:r>
              <a:rPr sz="3951" spc="15" dirty="0">
                <a:solidFill>
                  <a:srgbClr val="8C1515"/>
                </a:solidFill>
                <a:latin typeface="Verdana"/>
                <a:cs typeface="Verdana"/>
              </a:rPr>
              <a:t>a</a:t>
            </a:r>
            <a:r>
              <a:rPr sz="3951" spc="45" dirty="0">
                <a:solidFill>
                  <a:srgbClr val="8C1515"/>
                </a:solidFill>
                <a:latin typeface="Verdana"/>
                <a:cs typeface="Verdana"/>
              </a:rPr>
              <a:t>s</a:t>
            </a:r>
            <a:r>
              <a:rPr sz="3951" spc="35" dirty="0">
                <a:solidFill>
                  <a:srgbClr val="8C1515"/>
                </a:solidFill>
                <a:latin typeface="Verdana"/>
                <a:cs typeface="Verdana"/>
              </a:rPr>
              <a:t>s</a:t>
            </a:r>
            <a:r>
              <a:rPr sz="3951" spc="31" dirty="0">
                <a:solidFill>
                  <a:srgbClr val="8C1515"/>
                </a:solidFill>
                <a:latin typeface="Verdana"/>
                <a:cs typeface="Verdana"/>
              </a:rPr>
              <a:t>ifi</a:t>
            </a:r>
            <a:r>
              <a:rPr sz="3951" spc="35" dirty="0">
                <a:solidFill>
                  <a:srgbClr val="8C1515"/>
                </a:solidFill>
                <a:latin typeface="Verdana"/>
                <a:cs typeface="Verdana"/>
              </a:rPr>
              <a:t>c</a:t>
            </a:r>
            <a:r>
              <a:rPr sz="3951" spc="15" dirty="0">
                <a:solidFill>
                  <a:srgbClr val="8C1515"/>
                </a:solidFill>
                <a:latin typeface="Verdana"/>
                <a:cs typeface="Verdana"/>
              </a:rPr>
              <a:t>a</a:t>
            </a:r>
            <a:r>
              <a:rPr sz="3951" spc="20" dirty="0">
                <a:solidFill>
                  <a:srgbClr val="8C1515"/>
                </a:solidFill>
                <a:latin typeface="Verdana"/>
                <a:cs typeface="Verdana"/>
              </a:rPr>
              <a:t>t</a:t>
            </a:r>
            <a:r>
              <a:rPr sz="3951" spc="31" dirty="0">
                <a:solidFill>
                  <a:srgbClr val="8C1515"/>
                </a:solidFill>
                <a:latin typeface="Verdana"/>
                <a:cs typeface="Verdana"/>
              </a:rPr>
              <a:t>i</a:t>
            </a:r>
            <a:r>
              <a:rPr sz="3951" spc="-5" dirty="0">
                <a:solidFill>
                  <a:srgbClr val="8C1515"/>
                </a:solidFill>
                <a:latin typeface="Verdana"/>
                <a:cs typeface="Verdana"/>
              </a:rPr>
              <a:t>o</a:t>
            </a:r>
            <a:r>
              <a:rPr sz="3951" spc="20" dirty="0">
                <a:solidFill>
                  <a:srgbClr val="8C1515"/>
                </a:solidFill>
                <a:latin typeface="Verdana"/>
                <a:cs typeface="Verdana"/>
              </a:rPr>
              <a:t>n</a:t>
            </a:r>
            <a:endParaRPr sz="3951">
              <a:latin typeface="Verdana"/>
              <a:cs typeface="Verdana"/>
            </a:endParaRPr>
          </a:p>
        </p:txBody>
      </p:sp>
      <p:sp>
        <p:nvSpPr>
          <p:cNvPr id="4" name="object 4"/>
          <p:cNvSpPr txBox="1">
            <a:spLocks noGrp="1"/>
          </p:cNvSpPr>
          <p:nvPr>
            <p:ph type="subTitle" idx="4"/>
          </p:nvPr>
        </p:nvSpPr>
        <p:spPr>
          <a:xfrm>
            <a:off x="459391" y="3140268"/>
            <a:ext cx="5939219" cy="3495510"/>
          </a:xfrm>
          <a:prstGeom prst="rect">
            <a:avLst/>
          </a:prstGeom>
        </p:spPr>
        <p:txBody>
          <a:bodyPr vert="horz" wrap="square" lIns="0" tIns="11431" rIns="0" bIns="0" rtlCol="0">
            <a:spAutoFit/>
          </a:bodyPr>
          <a:lstStyle/>
          <a:p>
            <a:pPr marL="3279693" marR="5080" indent="-619745">
              <a:lnSpc>
                <a:spcPct val="117300"/>
              </a:lnSpc>
              <a:spcBef>
                <a:spcPts val="91"/>
              </a:spcBef>
            </a:pPr>
            <a:r>
              <a:rPr spc="31" dirty="0"/>
              <a:t>Neural </a:t>
            </a:r>
            <a:r>
              <a:rPr spc="20" dirty="0"/>
              <a:t>Network </a:t>
            </a:r>
            <a:r>
              <a:rPr spc="11" dirty="0"/>
              <a:t>with  </a:t>
            </a:r>
            <a:r>
              <a:rPr spc="20" dirty="0"/>
              <a:t>Softmax</a:t>
            </a:r>
            <a:r>
              <a:rPr spc="71" dirty="0"/>
              <a:t> </a:t>
            </a:r>
            <a:r>
              <a:rPr spc="20" dirty="0"/>
              <a:t>output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FA38CE-25C6-484D-993F-1B89E0A09E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1" y="177800"/>
            <a:ext cx="8415935" cy="4298951"/>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FD75F3C-370D-834E-BFBA-2FBF282DA7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713" y="209551"/>
            <a:ext cx="8520289" cy="4167027"/>
          </a:xfrm>
          <a:prstGeom prst="rect">
            <a:avLst/>
          </a:prstGeom>
        </p:spPr>
      </p:pic>
    </p:spTree>
    <p:extLst>
      <p:ext uri="{BB962C8B-B14F-4D97-AF65-F5344CB8AC3E}">
        <p14:creationId xmlns:p14="http://schemas.microsoft.com/office/powerpoint/2010/main" val="96377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601FD5-AD00-1548-8883-38738B5FBC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26107"/>
            <a:ext cx="8153400" cy="4366303"/>
          </a:xfrm>
          <a:prstGeom prst="rect">
            <a:avLst/>
          </a:prstGeom>
        </p:spPr>
      </p:pic>
    </p:spTree>
    <p:extLst>
      <p:ext uri="{BB962C8B-B14F-4D97-AF65-F5344CB8AC3E}">
        <p14:creationId xmlns:p14="http://schemas.microsoft.com/office/powerpoint/2010/main" val="8974958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53314F-02A8-6A4F-84FA-B844A6CFAD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613" y="133350"/>
            <a:ext cx="7892777" cy="4289072"/>
          </a:xfrm>
          <a:prstGeom prst="rect">
            <a:avLst/>
          </a:prstGeom>
        </p:spPr>
      </p:pic>
    </p:spTree>
    <p:extLst>
      <p:ext uri="{BB962C8B-B14F-4D97-AF65-F5344CB8AC3E}">
        <p14:creationId xmlns:p14="http://schemas.microsoft.com/office/powerpoint/2010/main" val="30355811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28951" y="2552701"/>
            <a:ext cx="5705475" cy="38100"/>
          </a:xfrm>
          <a:custGeom>
            <a:avLst/>
            <a:gdLst/>
            <a:ahLst/>
            <a:cxnLst/>
            <a:rect l="l" t="t" r="r" b="b"/>
            <a:pathLst>
              <a:path w="5705475" h="38100">
                <a:moveTo>
                  <a:pt x="5705475" y="0"/>
                </a:moveTo>
                <a:lnTo>
                  <a:pt x="0" y="0"/>
                </a:lnTo>
                <a:lnTo>
                  <a:pt x="0" y="38100"/>
                </a:lnTo>
                <a:lnTo>
                  <a:pt x="5705475" y="38100"/>
                </a:lnTo>
                <a:lnTo>
                  <a:pt x="5705475" y="0"/>
                </a:lnTo>
                <a:close/>
              </a:path>
            </a:pathLst>
          </a:custGeom>
          <a:solidFill>
            <a:srgbClr val="0070EA"/>
          </a:solidFill>
        </p:spPr>
        <p:txBody>
          <a:bodyPr wrap="square" lIns="0" tIns="0" rIns="0" bIns="0" rtlCol="0"/>
          <a:lstStyle/>
          <a:p>
            <a:endParaRPr/>
          </a:p>
        </p:txBody>
      </p:sp>
      <p:sp>
        <p:nvSpPr>
          <p:cNvPr id="3" name="object 3"/>
          <p:cNvSpPr txBox="1"/>
          <p:nvPr/>
        </p:nvSpPr>
        <p:spPr>
          <a:xfrm>
            <a:off x="4199635" y="744918"/>
            <a:ext cx="3362960" cy="1188018"/>
          </a:xfrm>
          <a:prstGeom prst="rect">
            <a:avLst/>
          </a:prstGeom>
        </p:spPr>
        <p:txBody>
          <a:bodyPr vert="horz" wrap="square" lIns="0" tIns="8255" rIns="0" bIns="0" rtlCol="0">
            <a:spAutoFit/>
          </a:bodyPr>
          <a:lstStyle/>
          <a:p>
            <a:pPr marL="12700" marR="5080" indent="428615">
              <a:lnSpc>
                <a:spcPct val="101400"/>
              </a:lnSpc>
              <a:spcBef>
                <a:spcPts val="65"/>
              </a:spcBef>
            </a:pPr>
            <a:r>
              <a:rPr sz="3951" spc="31" dirty="0">
                <a:solidFill>
                  <a:srgbClr val="8C1515"/>
                </a:solidFill>
                <a:latin typeface="Verdana"/>
                <a:cs typeface="Verdana"/>
              </a:rPr>
              <a:t>Multiclass  </a:t>
            </a:r>
            <a:r>
              <a:rPr sz="3951" spc="15" dirty="0">
                <a:solidFill>
                  <a:srgbClr val="8C1515"/>
                </a:solidFill>
                <a:latin typeface="Verdana"/>
                <a:cs typeface="Verdana"/>
              </a:rPr>
              <a:t>C</a:t>
            </a:r>
            <a:r>
              <a:rPr sz="3951" spc="31" dirty="0">
                <a:solidFill>
                  <a:srgbClr val="8C1515"/>
                </a:solidFill>
                <a:latin typeface="Verdana"/>
                <a:cs typeface="Verdana"/>
              </a:rPr>
              <a:t>l</a:t>
            </a:r>
            <a:r>
              <a:rPr sz="3951" spc="15" dirty="0">
                <a:solidFill>
                  <a:srgbClr val="8C1515"/>
                </a:solidFill>
                <a:latin typeface="Verdana"/>
                <a:cs typeface="Verdana"/>
              </a:rPr>
              <a:t>a</a:t>
            </a:r>
            <a:r>
              <a:rPr sz="3951" spc="45" dirty="0">
                <a:solidFill>
                  <a:srgbClr val="8C1515"/>
                </a:solidFill>
                <a:latin typeface="Verdana"/>
                <a:cs typeface="Verdana"/>
              </a:rPr>
              <a:t>s</a:t>
            </a:r>
            <a:r>
              <a:rPr sz="3951" spc="35" dirty="0">
                <a:solidFill>
                  <a:srgbClr val="8C1515"/>
                </a:solidFill>
                <a:latin typeface="Verdana"/>
                <a:cs typeface="Verdana"/>
              </a:rPr>
              <a:t>s</a:t>
            </a:r>
            <a:r>
              <a:rPr sz="3951" spc="31" dirty="0">
                <a:solidFill>
                  <a:srgbClr val="8C1515"/>
                </a:solidFill>
                <a:latin typeface="Verdana"/>
                <a:cs typeface="Verdana"/>
              </a:rPr>
              <a:t>ifi</a:t>
            </a:r>
            <a:r>
              <a:rPr sz="3951" spc="35" dirty="0">
                <a:solidFill>
                  <a:srgbClr val="8C1515"/>
                </a:solidFill>
                <a:latin typeface="Verdana"/>
                <a:cs typeface="Verdana"/>
              </a:rPr>
              <a:t>c</a:t>
            </a:r>
            <a:r>
              <a:rPr sz="3951" spc="15" dirty="0">
                <a:solidFill>
                  <a:srgbClr val="8C1515"/>
                </a:solidFill>
                <a:latin typeface="Verdana"/>
                <a:cs typeface="Verdana"/>
              </a:rPr>
              <a:t>a</a:t>
            </a:r>
            <a:r>
              <a:rPr sz="3951" spc="20" dirty="0">
                <a:solidFill>
                  <a:srgbClr val="8C1515"/>
                </a:solidFill>
                <a:latin typeface="Verdana"/>
                <a:cs typeface="Verdana"/>
              </a:rPr>
              <a:t>t</a:t>
            </a:r>
            <a:r>
              <a:rPr sz="3951" spc="31" dirty="0">
                <a:solidFill>
                  <a:srgbClr val="8C1515"/>
                </a:solidFill>
                <a:latin typeface="Verdana"/>
                <a:cs typeface="Verdana"/>
              </a:rPr>
              <a:t>i</a:t>
            </a:r>
            <a:r>
              <a:rPr sz="3951" spc="-5" dirty="0">
                <a:solidFill>
                  <a:srgbClr val="8C1515"/>
                </a:solidFill>
                <a:latin typeface="Verdana"/>
                <a:cs typeface="Verdana"/>
              </a:rPr>
              <a:t>o</a:t>
            </a:r>
            <a:r>
              <a:rPr sz="3951" spc="20" dirty="0">
                <a:solidFill>
                  <a:srgbClr val="8C1515"/>
                </a:solidFill>
                <a:latin typeface="Verdana"/>
                <a:cs typeface="Verdana"/>
              </a:rPr>
              <a:t>n</a:t>
            </a:r>
            <a:endParaRPr sz="3951">
              <a:latin typeface="Verdana"/>
              <a:cs typeface="Verdana"/>
            </a:endParaRPr>
          </a:p>
        </p:txBody>
      </p:sp>
      <p:sp>
        <p:nvSpPr>
          <p:cNvPr id="4" name="object 4"/>
          <p:cNvSpPr txBox="1"/>
          <p:nvPr/>
        </p:nvSpPr>
        <p:spPr>
          <a:xfrm>
            <a:off x="3203195" y="3159444"/>
            <a:ext cx="5361940" cy="1088247"/>
          </a:xfrm>
          <a:prstGeom prst="rect">
            <a:avLst/>
          </a:prstGeom>
        </p:spPr>
        <p:txBody>
          <a:bodyPr vert="horz" wrap="square" lIns="0" tIns="12065" rIns="0" bIns="0" rtlCol="0">
            <a:spAutoFit/>
          </a:bodyPr>
          <a:lstStyle/>
          <a:p>
            <a:pPr marL="1595080" marR="5080" indent="-1583015">
              <a:lnSpc>
                <a:spcPct val="115399"/>
              </a:lnSpc>
              <a:spcBef>
                <a:spcPts val="95"/>
              </a:spcBef>
            </a:pPr>
            <a:r>
              <a:rPr sz="3200" spc="11" dirty="0">
                <a:latin typeface="Verdana"/>
                <a:cs typeface="Verdana"/>
              </a:rPr>
              <a:t>Improved</a:t>
            </a:r>
            <a:r>
              <a:rPr sz="3200" spc="-125" dirty="0">
                <a:latin typeface="Verdana"/>
                <a:cs typeface="Verdana"/>
              </a:rPr>
              <a:t> </a:t>
            </a:r>
            <a:r>
              <a:rPr sz="3200" spc="11" dirty="0">
                <a:latin typeface="Verdana"/>
                <a:cs typeface="Verdana"/>
              </a:rPr>
              <a:t>implementation  </a:t>
            </a:r>
            <a:r>
              <a:rPr sz="3200" spc="15" dirty="0">
                <a:latin typeface="Verdana"/>
                <a:cs typeface="Verdana"/>
              </a:rPr>
              <a:t>of</a:t>
            </a:r>
            <a:r>
              <a:rPr sz="3200" spc="-35" dirty="0">
                <a:latin typeface="Verdana"/>
                <a:cs typeface="Verdana"/>
              </a:rPr>
              <a:t> </a:t>
            </a:r>
            <a:r>
              <a:rPr sz="3200" spc="11" dirty="0">
                <a:latin typeface="Verdana"/>
                <a:cs typeface="Verdana"/>
              </a:rPr>
              <a:t>softmax</a:t>
            </a:r>
            <a:endParaRPr sz="3200">
              <a:latin typeface="Verdana"/>
              <a:cs typeface="Verdan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25F8E5-6BEC-7F45-BE12-F3AE1D5D5C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442" y="285750"/>
            <a:ext cx="7795119" cy="41148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16991D-3BCD-4E43-A820-5D13A902BD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296334"/>
            <a:ext cx="8763000" cy="4710441"/>
          </a:xfrm>
          <a:prstGeom prst="rect">
            <a:avLst/>
          </a:prstGeom>
        </p:spPr>
      </p:pic>
    </p:spTree>
    <p:extLst>
      <p:ext uri="{BB962C8B-B14F-4D97-AF65-F5344CB8AC3E}">
        <p14:creationId xmlns:p14="http://schemas.microsoft.com/office/powerpoint/2010/main" val="28044057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050F88-6F28-DB43-8209-D7217F7C85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292099"/>
            <a:ext cx="8886504" cy="4184651"/>
          </a:xfrm>
          <a:prstGeom prst="rect">
            <a:avLst/>
          </a:prstGeom>
        </p:spPr>
      </p:pic>
    </p:spTree>
    <p:extLst>
      <p:ext uri="{BB962C8B-B14F-4D97-AF65-F5344CB8AC3E}">
        <p14:creationId xmlns:p14="http://schemas.microsoft.com/office/powerpoint/2010/main" val="23935644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B5DA77-C5EE-5548-9C7B-CCAC14FC42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20462"/>
            <a:ext cx="8864509" cy="4227689"/>
          </a:xfrm>
          <a:prstGeom prst="rect">
            <a:avLst/>
          </a:prstGeom>
        </p:spPr>
      </p:pic>
    </p:spTree>
    <p:extLst>
      <p:ext uri="{BB962C8B-B14F-4D97-AF65-F5344CB8AC3E}">
        <p14:creationId xmlns:p14="http://schemas.microsoft.com/office/powerpoint/2010/main" val="32086668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F00A1F-1657-2E4E-8E28-35C30A9035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96851"/>
            <a:ext cx="8564011" cy="4127500"/>
          </a:xfrm>
          <a:prstGeom prst="rect">
            <a:avLst/>
          </a:prstGeom>
        </p:spPr>
      </p:pic>
    </p:spTree>
    <p:extLst>
      <p:ext uri="{BB962C8B-B14F-4D97-AF65-F5344CB8AC3E}">
        <p14:creationId xmlns:p14="http://schemas.microsoft.com/office/powerpoint/2010/main" val="20794898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EA1F7BF-237A-5D4F-A37F-41B6EB373E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49578"/>
            <a:ext cx="7924800" cy="4586779"/>
          </a:xfrm>
          <a:prstGeom prst="rect">
            <a:avLst/>
          </a:prstGeom>
        </p:spPr>
      </p:pic>
    </p:spTree>
    <p:extLst>
      <p:ext uri="{BB962C8B-B14F-4D97-AF65-F5344CB8AC3E}">
        <p14:creationId xmlns:p14="http://schemas.microsoft.com/office/powerpoint/2010/main" val="38890893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84576" y="744919"/>
            <a:ext cx="4601845" cy="4110805"/>
          </a:xfrm>
          <a:prstGeom prst="rect">
            <a:avLst/>
          </a:prstGeom>
        </p:spPr>
        <p:txBody>
          <a:bodyPr vert="horz" wrap="square" lIns="0" tIns="8255" rIns="0" bIns="0" rtlCol="0">
            <a:spAutoFit/>
          </a:bodyPr>
          <a:lstStyle/>
          <a:p>
            <a:pPr marL="627364" marR="629270" indent="4445" algn="ctr">
              <a:lnSpc>
                <a:spcPct val="101400"/>
              </a:lnSpc>
              <a:spcBef>
                <a:spcPts val="65"/>
              </a:spcBef>
            </a:pPr>
            <a:r>
              <a:rPr sz="3951" spc="31" dirty="0">
                <a:solidFill>
                  <a:srgbClr val="8C1515"/>
                </a:solidFill>
                <a:latin typeface="Verdana"/>
                <a:cs typeface="Verdana"/>
              </a:rPr>
              <a:t>Multi-label  </a:t>
            </a:r>
            <a:r>
              <a:rPr sz="3951" spc="15" dirty="0">
                <a:solidFill>
                  <a:srgbClr val="8C1515"/>
                </a:solidFill>
                <a:latin typeface="Verdana"/>
                <a:cs typeface="Verdana"/>
              </a:rPr>
              <a:t>C</a:t>
            </a:r>
            <a:r>
              <a:rPr sz="3951" spc="31" dirty="0">
                <a:solidFill>
                  <a:srgbClr val="8C1515"/>
                </a:solidFill>
                <a:latin typeface="Verdana"/>
                <a:cs typeface="Verdana"/>
              </a:rPr>
              <a:t>l</a:t>
            </a:r>
            <a:r>
              <a:rPr sz="3951" spc="15" dirty="0">
                <a:solidFill>
                  <a:srgbClr val="8C1515"/>
                </a:solidFill>
                <a:latin typeface="Verdana"/>
                <a:cs typeface="Verdana"/>
              </a:rPr>
              <a:t>a</a:t>
            </a:r>
            <a:r>
              <a:rPr sz="3951" spc="45" dirty="0">
                <a:solidFill>
                  <a:srgbClr val="8C1515"/>
                </a:solidFill>
                <a:latin typeface="Verdana"/>
                <a:cs typeface="Verdana"/>
              </a:rPr>
              <a:t>s</a:t>
            </a:r>
            <a:r>
              <a:rPr sz="3951" spc="35" dirty="0">
                <a:solidFill>
                  <a:srgbClr val="8C1515"/>
                </a:solidFill>
                <a:latin typeface="Verdana"/>
                <a:cs typeface="Verdana"/>
              </a:rPr>
              <a:t>s</a:t>
            </a:r>
            <a:r>
              <a:rPr sz="3951" spc="31" dirty="0">
                <a:solidFill>
                  <a:srgbClr val="8C1515"/>
                </a:solidFill>
                <a:latin typeface="Verdana"/>
                <a:cs typeface="Verdana"/>
              </a:rPr>
              <a:t>ifi</a:t>
            </a:r>
            <a:r>
              <a:rPr sz="3951" spc="35" dirty="0">
                <a:solidFill>
                  <a:srgbClr val="8C1515"/>
                </a:solidFill>
                <a:latin typeface="Verdana"/>
                <a:cs typeface="Verdana"/>
              </a:rPr>
              <a:t>c</a:t>
            </a:r>
            <a:r>
              <a:rPr sz="3951" spc="15" dirty="0">
                <a:solidFill>
                  <a:srgbClr val="8C1515"/>
                </a:solidFill>
                <a:latin typeface="Verdana"/>
                <a:cs typeface="Verdana"/>
              </a:rPr>
              <a:t>a</a:t>
            </a:r>
            <a:r>
              <a:rPr sz="3951" spc="20" dirty="0">
                <a:solidFill>
                  <a:srgbClr val="8C1515"/>
                </a:solidFill>
                <a:latin typeface="Verdana"/>
                <a:cs typeface="Verdana"/>
              </a:rPr>
              <a:t>t</a:t>
            </a:r>
            <a:r>
              <a:rPr sz="3951" spc="31" dirty="0">
                <a:solidFill>
                  <a:srgbClr val="8C1515"/>
                </a:solidFill>
                <a:latin typeface="Verdana"/>
                <a:cs typeface="Verdana"/>
              </a:rPr>
              <a:t>i</a:t>
            </a:r>
            <a:r>
              <a:rPr sz="3951" spc="-5" dirty="0">
                <a:solidFill>
                  <a:srgbClr val="8C1515"/>
                </a:solidFill>
                <a:latin typeface="Verdana"/>
                <a:cs typeface="Verdana"/>
              </a:rPr>
              <a:t>o</a:t>
            </a:r>
            <a:r>
              <a:rPr sz="3951" spc="20" dirty="0">
                <a:solidFill>
                  <a:srgbClr val="8C1515"/>
                </a:solidFill>
                <a:latin typeface="Verdana"/>
                <a:cs typeface="Verdana"/>
              </a:rPr>
              <a:t>n</a:t>
            </a:r>
            <a:endParaRPr sz="3951">
              <a:latin typeface="Verdana"/>
              <a:cs typeface="Verdana"/>
            </a:endParaRPr>
          </a:p>
          <a:p>
            <a:pPr>
              <a:spcBef>
                <a:spcPts val="55"/>
              </a:spcBef>
            </a:pPr>
            <a:endParaRPr sz="5200">
              <a:latin typeface="Verdana"/>
              <a:cs typeface="Verdana"/>
            </a:endParaRPr>
          </a:p>
          <a:p>
            <a:pPr marL="12700" marR="5080" algn="ctr">
              <a:lnSpc>
                <a:spcPct val="116500"/>
              </a:lnSpc>
              <a:spcBef>
                <a:spcPts val="5"/>
              </a:spcBef>
            </a:pPr>
            <a:r>
              <a:rPr sz="3951" spc="25" dirty="0">
                <a:latin typeface="Verdana"/>
                <a:cs typeface="Verdana"/>
              </a:rPr>
              <a:t>Classification</a:t>
            </a:r>
            <a:r>
              <a:rPr sz="3951" spc="-111" dirty="0">
                <a:latin typeface="Verdana"/>
                <a:cs typeface="Verdana"/>
              </a:rPr>
              <a:t> </a:t>
            </a:r>
            <a:r>
              <a:rPr sz="3951" spc="11" dirty="0">
                <a:latin typeface="Verdana"/>
                <a:cs typeface="Verdana"/>
              </a:rPr>
              <a:t>with  </a:t>
            </a:r>
            <a:r>
              <a:rPr sz="3951" spc="31" dirty="0">
                <a:latin typeface="Verdana"/>
                <a:cs typeface="Verdana"/>
              </a:rPr>
              <a:t>multiple </a:t>
            </a:r>
            <a:r>
              <a:rPr sz="3951" spc="15" dirty="0">
                <a:latin typeface="Verdana"/>
                <a:cs typeface="Verdana"/>
              </a:rPr>
              <a:t>outputs  </a:t>
            </a:r>
            <a:r>
              <a:rPr sz="3951" spc="20" dirty="0">
                <a:latin typeface="Verdana"/>
                <a:cs typeface="Verdana"/>
              </a:rPr>
              <a:t>(Optional)</a:t>
            </a:r>
            <a:endParaRPr sz="3951">
              <a:latin typeface="Verdana"/>
              <a:cs typeface="Verdan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8F2C24-12E0-3B43-96E6-74E5DE1983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890" y="361950"/>
            <a:ext cx="8494111" cy="39624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4C3DD9-563F-BE4C-87C3-CC5B0D33F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204611"/>
            <a:ext cx="8862416" cy="4272139"/>
          </a:xfrm>
          <a:prstGeom prst="rect">
            <a:avLst/>
          </a:prstGeom>
        </p:spPr>
      </p:pic>
    </p:spTree>
    <p:extLst>
      <p:ext uri="{BB962C8B-B14F-4D97-AF65-F5344CB8AC3E}">
        <p14:creationId xmlns:p14="http://schemas.microsoft.com/office/powerpoint/2010/main" val="37313113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605277" y="1171194"/>
            <a:ext cx="4518660" cy="844462"/>
          </a:xfrm>
          <a:prstGeom prst="rect">
            <a:avLst/>
          </a:prstGeom>
        </p:spPr>
        <p:txBody>
          <a:bodyPr vert="horz" wrap="square" lIns="0" tIns="13335" rIns="0" bIns="0" rtlCol="0">
            <a:spAutoFit/>
          </a:bodyPr>
          <a:lstStyle/>
          <a:p>
            <a:pPr marL="1433159" marR="5080" indent="-1420459">
              <a:spcBef>
                <a:spcPts val="105"/>
              </a:spcBef>
            </a:pPr>
            <a:r>
              <a:rPr sz="2700" spc="40" dirty="0">
                <a:solidFill>
                  <a:srgbClr val="8C1515"/>
                </a:solidFill>
                <a:latin typeface="Verdana"/>
                <a:cs typeface="Verdana"/>
              </a:rPr>
              <a:t>Additional </a:t>
            </a:r>
            <a:r>
              <a:rPr sz="2700" dirty="0">
                <a:solidFill>
                  <a:srgbClr val="8C1515"/>
                </a:solidFill>
                <a:latin typeface="Verdana"/>
                <a:cs typeface="Verdana"/>
              </a:rPr>
              <a:t>Neural</a:t>
            </a:r>
            <a:r>
              <a:rPr sz="2700" spc="-525" dirty="0">
                <a:solidFill>
                  <a:srgbClr val="8C1515"/>
                </a:solidFill>
                <a:latin typeface="Verdana"/>
                <a:cs typeface="Verdana"/>
              </a:rPr>
              <a:t> </a:t>
            </a:r>
            <a:r>
              <a:rPr sz="2700" spc="-31" dirty="0">
                <a:solidFill>
                  <a:srgbClr val="8C1515"/>
                </a:solidFill>
                <a:latin typeface="Verdana"/>
                <a:cs typeface="Verdana"/>
              </a:rPr>
              <a:t>Network  </a:t>
            </a:r>
            <a:r>
              <a:rPr sz="2700" spc="80" dirty="0">
                <a:solidFill>
                  <a:srgbClr val="8C1515"/>
                </a:solidFill>
                <a:latin typeface="Verdana"/>
                <a:cs typeface="Verdana"/>
              </a:rPr>
              <a:t>Concepts</a:t>
            </a:r>
            <a:endParaRPr sz="2700">
              <a:latin typeface="Verdana"/>
              <a:cs typeface="Verdana"/>
            </a:endParaRPr>
          </a:p>
        </p:txBody>
      </p:sp>
      <p:sp>
        <p:nvSpPr>
          <p:cNvPr id="3" name="object 3"/>
          <p:cNvSpPr txBox="1"/>
          <p:nvPr/>
        </p:nvSpPr>
        <p:spPr>
          <a:xfrm>
            <a:off x="3326130" y="3191573"/>
            <a:ext cx="5198745" cy="555281"/>
          </a:xfrm>
          <a:prstGeom prst="rect">
            <a:avLst/>
          </a:prstGeom>
        </p:spPr>
        <p:txBody>
          <a:bodyPr vert="horz" wrap="square" lIns="0" tIns="16511" rIns="0" bIns="0" rtlCol="0">
            <a:spAutoFit/>
          </a:bodyPr>
          <a:lstStyle/>
          <a:p>
            <a:pPr marL="12700">
              <a:spcBef>
                <a:spcPts val="131"/>
              </a:spcBef>
            </a:pPr>
            <a:r>
              <a:rPr sz="3500" spc="5" dirty="0">
                <a:solidFill>
                  <a:srgbClr val="585858"/>
                </a:solidFill>
                <a:latin typeface="Verdana"/>
                <a:cs typeface="Verdana"/>
              </a:rPr>
              <a:t>Advanced</a:t>
            </a:r>
            <a:r>
              <a:rPr sz="3500" spc="-165" dirty="0">
                <a:solidFill>
                  <a:srgbClr val="585858"/>
                </a:solidFill>
                <a:latin typeface="Verdana"/>
                <a:cs typeface="Verdana"/>
              </a:rPr>
              <a:t> </a:t>
            </a:r>
            <a:r>
              <a:rPr sz="3500" spc="15" dirty="0">
                <a:solidFill>
                  <a:srgbClr val="585858"/>
                </a:solidFill>
                <a:latin typeface="Verdana"/>
                <a:cs typeface="Verdana"/>
              </a:rPr>
              <a:t>Optimization</a:t>
            </a:r>
            <a:endParaRPr sz="3500">
              <a:latin typeface="Verdana"/>
              <a:cs typeface="Verdan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4F18E7-2073-9742-8685-D3C72E0A6A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1" y="57152"/>
            <a:ext cx="8013700" cy="4362759"/>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70FB3E-A50F-AB46-9E98-D06F1405FD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1" y="285750"/>
            <a:ext cx="8080268" cy="3810000"/>
          </a:xfrm>
          <a:prstGeom prst="rect">
            <a:avLst/>
          </a:prstGeom>
        </p:spPr>
      </p:pic>
    </p:spTree>
    <p:extLst>
      <p:ext uri="{BB962C8B-B14F-4D97-AF65-F5344CB8AC3E}">
        <p14:creationId xmlns:p14="http://schemas.microsoft.com/office/powerpoint/2010/main" val="18767104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B20CCF-B2C7-924C-9E12-6F92D4CA4C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285750"/>
            <a:ext cx="7772400" cy="3940629"/>
          </a:xfrm>
          <a:prstGeom prst="rect">
            <a:avLst/>
          </a:prstGeom>
        </p:spPr>
      </p:pic>
    </p:spTree>
    <p:extLst>
      <p:ext uri="{BB962C8B-B14F-4D97-AF65-F5344CB8AC3E}">
        <p14:creationId xmlns:p14="http://schemas.microsoft.com/office/powerpoint/2010/main" val="34872470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5EBC01-E2BD-CF49-A7B1-CA354F43C1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323851"/>
            <a:ext cx="7830949" cy="4076700"/>
          </a:xfrm>
          <a:prstGeom prst="rect">
            <a:avLst/>
          </a:prstGeom>
        </p:spPr>
      </p:pic>
    </p:spTree>
    <p:extLst>
      <p:ext uri="{BB962C8B-B14F-4D97-AF65-F5344CB8AC3E}">
        <p14:creationId xmlns:p14="http://schemas.microsoft.com/office/powerpoint/2010/main" val="34609058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605277" y="1171194"/>
            <a:ext cx="4518660" cy="844462"/>
          </a:xfrm>
          <a:prstGeom prst="rect">
            <a:avLst/>
          </a:prstGeom>
        </p:spPr>
        <p:txBody>
          <a:bodyPr vert="horz" wrap="square" lIns="0" tIns="13335" rIns="0" bIns="0" rtlCol="0">
            <a:spAutoFit/>
          </a:bodyPr>
          <a:lstStyle/>
          <a:p>
            <a:pPr marL="1433159" marR="5080" indent="-1420459">
              <a:spcBef>
                <a:spcPts val="105"/>
              </a:spcBef>
            </a:pPr>
            <a:r>
              <a:rPr sz="2700" spc="40" dirty="0">
                <a:solidFill>
                  <a:srgbClr val="8C1515"/>
                </a:solidFill>
                <a:latin typeface="Verdana"/>
                <a:cs typeface="Verdana"/>
              </a:rPr>
              <a:t>Additional </a:t>
            </a:r>
            <a:r>
              <a:rPr sz="2700" dirty="0">
                <a:solidFill>
                  <a:srgbClr val="8C1515"/>
                </a:solidFill>
                <a:latin typeface="Verdana"/>
                <a:cs typeface="Verdana"/>
              </a:rPr>
              <a:t>Neural</a:t>
            </a:r>
            <a:r>
              <a:rPr sz="2700" spc="-525" dirty="0">
                <a:solidFill>
                  <a:srgbClr val="8C1515"/>
                </a:solidFill>
                <a:latin typeface="Verdana"/>
                <a:cs typeface="Verdana"/>
              </a:rPr>
              <a:t> </a:t>
            </a:r>
            <a:r>
              <a:rPr sz="2700" spc="-31" dirty="0">
                <a:solidFill>
                  <a:srgbClr val="8C1515"/>
                </a:solidFill>
                <a:latin typeface="Verdana"/>
                <a:cs typeface="Verdana"/>
              </a:rPr>
              <a:t>Network  </a:t>
            </a:r>
            <a:r>
              <a:rPr sz="2700" spc="80" dirty="0">
                <a:solidFill>
                  <a:srgbClr val="8C1515"/>
                </a:solidFill>
                <a:latin typeface="Verdana"/>
                <a:cs typeface="Verdana"/>
              </a:rPr>
              <a:t>Concepts</a:t>
            </a:r>
            <a:endParaRPr sz="2700">
              <a:latin typeface="Verdana"/>
              <a:cs typeface="Verdana"/>
            </a:endParaRPr>
          </a:p>
        </p:txBody>
      </p:sp>
      <p:sp>
        <p:nvSpPr>
          <p:cNvPr id="3" name="object 3"/>
          <p:cNvSpPr txBox="1"/>
          <p:nvPr/>
        </p:nvSpPr>
        <p:spPr>
          <a:xfrm>
            <a:off x="3383534" y="3191573"/>
            <a:ext cx="5096511" cy="555281"/>
          </a:xfrm>
          <a:prstGeom prst="rect">
            <a:avLst/>
          </a:prstGeom>
        </p:spPr>
        <p:txBody>
          <a:bodyPr vert="horz" wrap="square" lIns="0" tIns="16511" rIns="0" bIns="0" rtlCol="0">
            <a:spAutoFit/>
          </a:bodyPr>
          <a:lstStyle/>
          <a:p>
            <a:pPr marL="12700">
              <a:spcBef>
                <a:spcPts val="131"/>
              </a:spcBef>
            </a:pPr>
            <a:r>
              <a:rPr sz="3500" spc="11" dirty="0">
                <a:solidFill>
                  <a:srgbClr val="585858"/>
                </a:solidFill>
                <a:latin typeface="Verdana"/>
                <a:cs typeface="Verdana"/>
              </a:rPr>
              <a:t>Additional </a:t>
            </a:r>
            <a:r>
              <a:rPr sz="3500" spc="5" dirty="0">
                <a:solidFill>
                  <a:srgbClr val="585858"/>
                </a:solidFill>
                <a:latin typeface="Verdana"/>
                <a:cs typeface="Verdana"/>
              </a:rPr>
              <a:t>Layer</a:t>
            </a:r>
            <a:r>
              <a:rPr sz="3500" spc="-331" dirty="0">
                <a:solidFill>
                  <a:srgbClr val="585858"/>
                </a:solidFill>
                <a:latin typeface="Verdana"/>
                <a:cs typeface="Verdana"/>
              </a:rPr>
              <a:t> </a:t>
            </a:r>
            <a:r>
              <a:rPr sz="3500" spc="11" dirty="0">
                <a:solidFill>
                  <a:srgbClr val="585858"/>
                </a:solidFill>
                <a:latin typeface="Verdana"/>
                <a:cs typeface="Verdana"/>
              </a:rPr>
              <a:t>Types</a:t>
            </a:r>
            <a:endParaRPr sz="3500">
              <a:latin typeface="Verdana"/>
              <a:cs typeface="Verdan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352802-62A8-6C42-8034-B1CEFD6052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26108"/>
            <a:ext cx="5943600" cy="398393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6CDD53-C64D-9241-8402-F008524E78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314679"/>
            <a:ext cx="7772400" cy="4100223"/>
          </a:xfrm>
          <a:prstGeom prst="rect">
            <a:avLst/>
          </a:prstGeom>
        </p:spPr>
      </p:pic>
    </p:spTree>
    <p:extLst>
      <p:ext uri="{BB962C8B-B14F-4D97-AF65-F5344CB8AC3E}">
        <p14:creationId xmlns:p14="http://schemas.microsoft.com/office/powerpoint/2010/main" val="16825543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55AD265-C341-8642-8CAA-9EB6A09A76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857" y="209550"/>
            <a:ext cx="8447145" cy="4191000"/>
          </a:xfrm>
          <a:prstGeom prst="rect">
            <a:avLst/>
          </a:prstGeom>
        </p:spPr>
      </p:pic>
    </p:spTree>
    <p:extLst>
      <p:ext uri="{BB962C8B-B14F-4D97-AF65-F5344CB8AC3E}">
        <p14:creationId xmlns:p14="http://schemas.microsoft.com/office/powerpoint/2010/main" val="6459300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0720994-706B-324F-87B2-80C2EA46C7A2}"/>
              </a:ext>
            </a:extLst>
          </p:cNvPr>
          <p:cNvSpPr>
            <a:spLocks noGrp="1"/>
          </p:cNvSpPr>
          <p:nvPr>
            <p:ph type="body" idx="1"/>
          </p:nvPr>
        </p:nvSpPr>
        <p:spPr>
          <a:xfrm>
            <a:off x="260032" y="725091"/>
            <a:ext cx="8623936" cy="3693319"/>
          </a:xfrm>
        </p:spPr>
        <p:txBody>
          <a:bodyPr/>
          <a:lstStyle/>
          <a:p>
            <a:pPr marL="285744" indent="-285744">
              <a:buFont typeface="Arial" panose="020B0604020202020204" pitchFamily="34" charset="0"/>
              <a:buChar char="•"/>
            </a:pPr>
            <a:r>
              <a:rPr lang="en-US" sz="2400" dirty="0">
                <a:latin typeface="+mj-lt"/>
              </a:rPr>
              <a:t>Modern architectures like </a:t>
            </a:r>
            <a:r>
              <a:rPr lang="en-US" sz="2400" b="1" dirty="0">
                <a:latin typeface="+mj-lt"/>
              </a:rPr>
              <a:t>Transformers, LSTMs, and Attention models</a:t>
            </a:r>
            <a:r>
              <a:rPr lang="en-US" sz="2400" dirty="0">
                <a:latin typeface="+mj-lt"/>
              </a:rPr>
              <a:t> are based on designing new types of neural network layers.</a:t>
            </a:r>
          </a:p>
          <a:p>
            <a:pPr marL="285744" indent="-285744">
              <a:buFont typeface="Arial" panose="020B0604020202020204" pitchFamily="34" charset="0"/>
              <a:buChar char="•"/>
            </a:pPr>
            <a:r>
              <a:rPr lang="en-US" sz="2400" dirty="0">
                <a:latin typeface="+mj-lt"/>
              </a:rPr>
              <a:t>Current research in deep learning focuses on </a:t>
            </a:r>
            <a:r>
              <a:rPr lang="en-US" sz="2400" b="1" dirty="0">
                <a:latin typeface="+mj-lt"/>
              </a:rPr>
              <a:t>inventing new layer types</a:t>
            </a:r>
            <a:r>
              <a:rPr lang="en-US" sz="2400" dirty="0">
                <a:latin typeface="+mj-lt"/>
              </a:rPr>
              <a:t>.</a:t>
            </a:r>
          </a:p>
          <a:p>
            <a:pPr marL="285744" indent="-285744">
              <a:buFont typeface="Arial" panose="020B0604020202020204" pitchFamily="34" charset="0"/>
              <a:buChar char="•"/>
            </a:pPr>
            <a:r>
              <a:rPr lang="en-US" sz="2400" dirty="0">
                <a:latin typeface="+mj-lt"/>
              </a:rPr>
              <a:t>These layers are used as </a:t>
            </a:r>
            <a:r>
              <a:rPr lang="en-US" sz="2400" b="1" dirty="0">
                <a:latin typeface="+mj-lt"/>
              </a:rPr>
              <a:t>building blocks</a:t>
            </a:r>
            <a:r>
              <a:rPr lang="en-US" sz="2400" dirty="0">
                <a:latin typeface="+mj-lt"/>
              </a:rPr>
              <a:t> to create more powerful and complex neural networks.</a:t>
            </a:r>
          </a:p>
          <a:p>
            <a:pPr marL="285744" indent="-285744">
              <a:buFont typeface="Arial" panose="020B0604020202020204" pitchFamily="34" charset="0"/>
              <a:buChar char="•"/>
            </a:pPr>
            <a:r>
              <a:rPr lang="en-US" sz="2400" dirty="0">
                <a:latin typeface="+mj-lt"/>
              </a:rPr>
              <a:t>Neural network design is an evolving field, with continuous improvements in architecture.</a:t>
            </a:r>
          </a:p>
          <a:p>
            <a:pPr marL="285744" indent="-285744" algn="l" rtl="0">
              <a:buFont typeface="Arial" panose="020B0604020202020204" pitchFamily="34" charset="0"/>
              <a:buChar char="•"/>
            </a:pPr>
            <a:endParaRPr lang="en-IL" sz="2400" dirty="0">
              <a:latin typeface="+mj-lt"/>
            </a:endParaRPr>
          </a:p>
        </p:txBody>
      </p:sp>
      <p:sp>
        <p:nvSpPr>
          <p:cNvPr id="6" name="Title 5">
            <a:extLst>
              <a:ext uri="{FF2B5EF4-FFF2-40B4-BE49-F238E27FC236}">
                <a16:creationId xmlns:a16="http://schemas.microsoft.com/office/drawing/2014/main" id="{6E0F1ADD-BAB6-0648-AA85-9EDD09E23A39}"/>
              </a:ext>
            </a:extLst>
          </p:cNvPr>
          <p:cNvSpPr>
            <a:spLocks noGrp="1"/>
          </p:cNvSpPr>
          <p:nvPr>
            <p:ph type="title"/>
          </p:nvPr>
        </p:nvSpPr>
        <p:spPr>
          <a:xfrm>
            <a:off x="152400" y="144082"/>
            <a:ext cx="8731568" cy="369332"/>
          </a:xfrm>
        </p:spPr>
        <p:txBody>
          <a:bodyPr/>
          <a:lstStyle/>
          <a:p>
            <a:r>
              <a:rPr lang="en-US" sz="2400" dirty="0"/>
              <a:t>Modern Neural Network Architectures and What’s Next</a:t>
            </a:r>
            <a:endParaRPr lang="en-IL" sz="2400" dirty="0"/>
          </a:p>
        </p:txBody>
      </p:sp>
    </p:spTree>
    <p:extLst>
      <p:ext uri="{BB962C8B-B14F-4D97-AF65-F5344CB8AC3E}">
        <p14:creationId xmlns:p14="http://schemas.microsoft.com/office/powerpoint/2010/main" val="35889450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2365</TotalTime>
  <Words>11489</Words>
  <Application>Microsoft Macintosh PowerPoint</Application>
  <PresentationFormat>On-screen Show (16:9)</PresentationFormat>
  <Paragraphs>449</Paragraphs>
  <Slides>55</Slides>
  <Notes>55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Arial</vt:lpstr>
      <vt:lpstr>Calibri</vt:lpstr>
      <vt:lpstr>Courier New</vt:lpstr>
      <vt:lpstr>ui-sans-serif</vt:lpstr>
      <vt:lpstr>Verdana</vt:lpstr>
      <vt:lpstr>Office Theme</vt:lpstr>
      <vt:lpstr>PowerPoint Presentation</vt:lpstr>
      <vt:lpstr>Content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Activation Functions</vt:lpstr>
      <vt:lpstr>PowerPoint Presentation</vt:lpstr>
      <vt:lpstr>PowerPoint Presentation</vt:lpstr>
      <vt:lpstr>Activation Functions</vt:lpstr>
      <vt:lpstr>PowerPoint Presentation</vt:lpstr>
      <vt:lpstr>PowerPoint Presentation</vt:lpstr>
      <vt:lpstr>PowerPoint Presentation</vt:lpstr>
      <vt:lpstr>Other Activation Functions</vt:lpstr>
      <vt:lpstr>Activation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Modern Neural Network Architectures and What’s Next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Copyright Notice</dc:title>
  <cp:lastModifiedBy>Khalid Said Hussien Rabaya</cp:lastModifiedBy>
  <cp:revision>32</cp:revision>
  <dcterms:created xsi:type="dcterms:W3CDTF">2023-10-25T18:48:09Z</dcterms:created>
  <dcterms:modified xsi:type="dcterms:W3CDTF">2026-02-11T12:00:25Z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2022-06-24T00:00:00Z</vt:filetime>
  </property>
  <property fmtid="{D5CDD505-2E9C-101B-9397-08002B2CF9AE}" pid="3" name="LastSaved">
    <vt:filetime>2023-10-25T00:00:00Z</vt:filetime>
  </property>
</Properties>
</file>