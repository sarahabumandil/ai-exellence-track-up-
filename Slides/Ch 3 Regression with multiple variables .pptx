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notesMasterIdLst>
    <p:notesMasterId r:id="rId58"/>
  </p:notesMasterIdLst>
  <p:sldIdLst>
    <p:sldId id="257" r:id="rId2"/>
    <p:sldId id="308" r:id="rId3"/>
    <p:sldId id="291" r:id="rId4"/>
    <p:sldId id="293" r:id="rId5"/>
    <p:sldId id="258" r:id="rId6"/>
    <p:sldId id="259" r:id="rId7"/>
    <p:sldId id="260" r:id="rId8"/>
    <p:sldId id="294" r:id="rId9"/>
    <p:sldId id="297" r:id="rId10"/>
    <p:sldId id="261" r:id="rId11"/>
    <p:sldId id="262" r:id="rId12"/>
    <p:sldId id="295" r:id="rId13"/>
    <p:sldId id="296" r:id="rId14"/>
    <p:sldId id="263" r:id="rId15"/>
    <p:sldId id="298" r:id="rId16"/>
    <p:sldId id="299" r:id="rId17"/>
    <p:sldId id="300" r:id="rId18"/>
    <p:sldId id="264" r:id="rId19"/>
    <p:sldId id="265" r:id="rId20"/>
    <p:sldId id="266" r:id="rId21"/>
    <p:sldId id="301" r:id="rId22"/>
    <p:sldId id="302" r:id="rId23"/>
    <p:sldId id="267" r:id="rId24"/>
    <p:sldId id="268" r:id="rId25"/>
    <p:sldId id="269" r:id="rId26"/>
    <p:sldId id="270" r:id="rId27"/>
    <p:sldId id="303" r:id="rId28"/>
    <p:sldId id="271" r:id="rId29"/>
    <p:sldId id="304" r:id="rId30"/>
    <p:sldId id="305" r:id="rId31"/>
    <p:sldId id="306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307" r:id="rId40"/>
    <p:sldId id="280" r:id="rId41"/>
    <p:sldId id="281" r:id="rId42"/>
    <p:sldId id="310" r:id="rId43"/>
    <p:sldId id="282" r:id="rId44"/>
    <p:sldId id="309" r:id="rId45"/>
    <p:sldId id="311" r:id="rId46"/>
    <p:sldId id="283" r:id="rId47"/>
    <p:sldId id="312" r:id="rId48"/>
    <p:sldId id="284" r:id="rId49"/>
    <p:sldId id="285" r:id="rId50"/>
    <p:sldId id="286" r:id="rId51"/>
    <p:sldId id="313" r:id="rId52"/>
    <p:sldId id="314" r:id="rId53"/>
    <p:sldId id="287" r:id="rId54"/>
    <p:sldId id="288" r:id="rId55"/>
    <p:sldId id="289" r:id="rId56"/>
    <p:sldId id="290" r:id="rId57"/>
  </p:sldIdLst>
  <p:sldSz cx="9144000" cy="5143500" type="screen16x9"/>
  <p:notesSz cx="9144000" cy="5143500"/>
  <p:defaultTextStyle>
    <a:defPPr>
      <a:defRPr lang="en-P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01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3"/>
    <p:restoredTop sz="94473"/>
  </p:normalViewPr>
  <p:slideViewPr>
    <p:cSldViewPr>
      <p:cViewPr varScale="1">
        <p:scale>
          <a:sx n="119" d="100"/>
          <a:sy n="119" d="100"/>
        </p:scale>
        <p:origin x="3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45EF1-5A2C-E44A-A425-705F9F6C4458}" type="datetimeFigureOut">
              <a:rPr lang="en-PS" smtClean="0"/>
              <a:t>12/12/25</a:t>
            </a:fld>
            <a:endParaRPr lang="en-P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F0A15-D123-954C-9FC2-EB784356E408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03473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F0A15-D123-954C-9FC2-EB784356E408}" type="slidenum">
              <a:rPr lang="en-PS" smtClean="0"/>
              <a:t>28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51680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F150-515B-9371-8EAB-8212FF1FF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857CA-8877-1436-575B-BF31B0FBA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9A82D-579A-EA98-6446-88C3C18B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A4EA-9F82-ED40-888F-4FACDB6608F5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75C32-A746-DBF3-3942-3191D2A28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112ED-58B7-0372-DA21-9DD77D49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41260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7006-15DE-0044-E0FD-4F6B4997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844"/>
            <a:ext cx="813435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BD34-BC17-BC2C-0969-7A108CA67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69218"/>
            <a:ext cx="8134350" cy="3500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0004E-48D5-3E16-D43A-2566EF0E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67263"/>
            <a:ext cx="438150" cy="273844"/>
          </a:xfrm>
        </p:spPr>
        <p:txBody>
          <a:bodyPr/>
          <a:lstStyle>
            <a:lvl1pPr>
              <a:defRPr sz="1200">
                <a:solidFill>
                  <a:srgbClr val="0432FF"/>
                </a:solidFill>
              </a:defRPr>
            </a:lvl1pPr>
          </a:lstStyle>
          <a:p>
            <a:fld id="{B6F15528-21DE-4FAA-801E-634DDDAF4B2B}" type="slidenum">
              <a:rPr lang="en-PS" smtClean="0"/>
              <a:pPr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70011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3F65-FA2A-D45D-F2CF-E977FE61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DE008-BB0F-2005-A3A1-8DBD31776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79B3-39D1-6235-9141-EA8D49B7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D97-5C6A-1B47-A7BF-D9335A9BCF6E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41C8-44F3-8FDA-1B02-C7951E2E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F765-4EBA-CF79-F6A7-5D7E287F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27586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638D-3CFB-76C6-322C-89226834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6938-5D1C-BB8C-C549-6E173CAA9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D2513-5522-8D54-5B13-2FB47082F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BBF23-F765-4962-B002-B626B89D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C83F-09D5-074B-BFA4-BE235E07D082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18307-D911-519D-6FE3-CDFCCEFB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FB29A-EC05-C4D3-49BA-5652DC11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51019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BB38-66CF-291D-F7B3-6754E6F4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44BB7-D84D-673B-F057-50C9AD1D3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BAF11-2220-8BC8-58F3-2376F47C2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8A70E-B859-C337-1C9E-36FDFF7B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80BD3-8F0A-12A1-5612-1201023E6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B378C-65A5-C9F5-9E91-884B0CC8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D71B8-8101-9D46-B524-3D607BA9A4C6}" type="datetime1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F93F1D-4F4B-B43B-BEFE-4BF65A541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02E96-1529-369F-2DD0-66C52D76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89572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1410-CDC3-59CE-DC4D-66FECA6B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68D74-1998-CF15-4294-2DC0521A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0E827-2860-5544-B12A-7F6865C9E288}" type="datetime1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98E76-F2B7-1D34-F975-EE811D9C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2A1C5-E8B3-F8E5-BB4E-FC0A99D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93352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90E16-BD44-7059-C960-80AE37B7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D1C4-8F6C-3C48-B2A5-A845715566ED}" type="datetime1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2241A-8F83-7758-E7F6-13522384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BEDF-F84B-EC00-BBC9-1D2D469C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91218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1E2D-C7B0-CB57-02FE-BE2BBB86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1F99-AC72-2BA8-A4FC-E4526562B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EEF2B-FFAC-601C-4797-A0966F45A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0D345-CB5E-A1A3-2503-DFB0BE02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6EDE-8238-C64E-8FA5-3DEA6BC80A05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ABBBD-DCD4-01C7-8EF8-BA87A10B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7A2C7-47CA-8080-EEA7-12B2B2F5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423140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E9AC-1FE9-7E5B-373F-52D67110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CA633-ED98-BB5B-8C59-726537735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7DAD4-DF49-8652-8E59-3D8AC704C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B6A0-65F9-17B6-B964-F4B6A10B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36CC-D37E-6C44-815B-9178F5FEE976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9698F-6DBB-77C8-F7CF-9091FD20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0B778-4260-B9F7-59AE-F38D4BF1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90197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9013-C9E7-9574-1D0A-9184B838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82921-7217-2C97-D3E9-C79125B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0955-79AF-CE30-6CA2-D92319A3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93DBD-E822-EB42-B03B-BA1726950D31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0E1DF-2765-D260-CF27-31213E04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24B36-33CB-DB98-1D3D-45F4EDD3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21001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A1475-A2B7-8108-2742-FCAA41B0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E5768-C724-7EEE-0AFD-54F38A8D5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8B9C9-19D0-BC67-4EDD-8C5FC741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C920-A8B2-4848-947F-8378A9C0DA0A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BBC9F-966A-2989-48CD-F4E1061E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7BA99-7C68-AC9F-CFB2-DF5BCF49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862485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1568" y="744918"/>
            <a:ext cx="8420862" cy="124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070E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05865" y="2948495"/>
            <a:ext cx="6732269" cy="143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An</a:t>
            </a:r>
            <a:r>
              <a:rPr spc="25" dirty="0"/>
              <a:t>d</a:t>
            </a:r>
            <a:r>
              <a:rPr dirty="0"/>
              <a:t>r</a:t>
            </a:r>
            <a:r>
              <a:rPr spc="-10" dirty="0"/>
              <a:t>e</a:t>
            </a:r>
            <a:r>
              <a:rPr spc="20" dirty="0"/>
              <a:t>w</a:t>
            </a:r>
            <a:r>
              <a:rPr spc="-85" dirty="0"/>
              <a:t> </a:t>
            </a:r>
            <a:r>
              <a:rPr dirty="0"/>
              <a:t>N</a:t>
            </a:r>
            <a:r>
              <a:rPr spc="1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F2128-88C7-6249-AD52-8CC109FEFAE3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1149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An</a:t>
            </a:r>
            <a:r>
              <a:rPr spc="25" dirty="0"/>
              <a:t>d</a:t>
            </a:r>
            <a:r>
              <a:rPr dirty="0"/>
              <a:t>r</a:t>
            </a:r>
            <a:r>
              <a:rPr spc="-10" dirty="0"/>
              <a:t>e</a:t>
            </a:r>
            <a:r>
              <a:rPr spc="20" dirty="0"/>
              <a:t>w</a:t>
            </a:r>
            <a:r>
              <a:rPr spc="-85" dirty="0"/>
              <a:t> </a:t>
            </a:r>
            <a:r>
              <a:rPr dirty="0"/>
              <a:t>N</a:t>
            </a:r>
            <a:r>
              <a:rPr spc="15" dirty="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B6BE8-DFA6-DD4E-A6FE-72FC3358EF98}" type="datetime1">
              <a:rPr lang="en-US" smtClean="0"/>
              <a:t>12/12/25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121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5958D-7112-0E96-AC5D-253244DA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6D283-911E-7A07-C8E0-2C682E4A2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CE4D3-3148-BCE6-9BCB-FC3FDFC70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A7DB0-2951-AD43-85BE-DCF484F7B42A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B85E-0FCC-DEB5-386C-CEB307897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5"/>
              <a:t>An</a:t>
            </a:r>
            <a:r>
              <a:rPr lang="en-US" spc="25"/>
              <a:t>d</a:t>
            </a:r>
            <a:r>
              <a:rPr lang="en-US"/>
              <a:t>r</a:t>
            </a:r>
            <a:r>
              <a:rPr lang="en-US" spc="-10"/>
              <a:t>e</a:t>
            </a:r>
            <a:r>
              <a:rPr lang="en-US" spc="20"/>
              <a:t>w</a:t>
            </a:r>
            <a:r>
              <a:rPr lang="en-US" spc="-85"/>
              <a:t> </a:t>
            </a:r>
            <a:r>
              <a:rPr lang="en-US"/>
              <a:t>N</a:t>
            </a:r>
            <a:r>
              <a:rPr lang="en-US" spc="15"/>
              <a:t>g</a:t>
            </a:r>
            <a:endParaRPr lang="en-US" spc="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40E78-BF97-CB0E-53B5-F910108B1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PS" smtClean="0"/>
              <a:t>‹#›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20975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31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9" Type="http://schemas.openxmlformats.org/officeDocument/2006/relationships/image" Target="../media/image97.png"/><Relationship Id="rId21" Type="http://schemas.openxmlformats.org/officeDocument/2006/relationships/image" Target="../media/image79.png"/><Relationship Id="rId34" Type="http://schemas.openxmlformats.org/officeDocument/2006/relationships/image" Target="../media/image92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41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32" Type="http://schemas.openxmlformats.org/officeDocument/2006/relationships/image" Target="../media/image90.png"/><Relationship Id="rId37" Type="http://schemas.openxmlformats.org/officeDocument/2006/relationships/image" Target="../media/image95.png"/><Relationship Id="rId40" Type="http://schemas.openxmlformats.org/officeDocument/2006/relationships/image" Target="../media/image98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36" Type="http://schemas.openxmlformats.org/officeDocument/2006/relationships/image" Target="../media/image94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31" Type="http://schemas.openxmlformats.org/officeDocument/2006/relationships/image" Target="../media/image89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3.png"/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33" Type="http://schemas.openxmlformats.org/officeDocument/2006/relationships/image" Target="../media/image91.png"/><Relationship Id="rId38" Type="http://schemas.openxmlformats.org/officeDocument/2006/relationships/image" Target="../media/image9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3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4.png"/><Relationship Id="rId5" Type="http://schemas.openxmlformats.org/officeDocument/2006/relationships/image" Target="../media/image127.png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76.png"/><Relationship Id="rId21" Type="http://schemas.openxmlformats.org/officeDocument/2006/relationships/image" Target="../media/image194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2" Type="http://schemas.openxmlformats.org/officeDocument/2006/relationships/image" Target="../media/image175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18" Type="http://schemas.openxmlformats.org/officeDocument/2006/relationships/image" Target="../media/image219.png"/><Relationship Id="rId26" Type="http://schemas.openxmlformats.org/officeDocument/2006/relationships/image" Target="../media/image227.png"/><Relationship Id="rId3" Type="http://schemas.openxmlformats.org/officeDocument/2006/relationships/image" Target="../media/image204.png"/><Relationship Id="rId21" Type="http://schemas.openxmlformats.org/officeDocument/2006/relationships/image" Target="../media/image222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17" Type="http://schemas.openxmlformats.org/officeDocument/2006/relationships/image" Target="../media/image218.png"/><Relationship Id="rId25" Type="http://schemas.openxmlformats.org/officeDocument/2006/relationships/image" Target="../media/image226.png"/><Relationship Id="rId2" Type="http://schemas.openxmlformats.org/officeDocument/2006/relationships/image" Target="../media/image203.png"/><Relationship Id="rId16" Type="http://schemas.openxmlformats.org/officeDocument/2006/relationships/image" Target="../media/image217.png"/><Relationship Id="rId20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24" Type="http://schemas.openxmlformats.org/officeDocument/2006/relationships/image" Target="../media/image225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23" Type="http://schemas.openxmlformats.org/officeDocument/2006/relationships/image" Target="../media/image224.png"/><Relationship Id="rId10" Type="http://schemas.openxmlformats.org/officeDocument/2006/relationships/image" Target="../media/image211.png"/><Relationship Id="rId19" Type="http://schemas.openxmlformats.org/officeDocument/2006/relationships/image" Target="../media/image220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Relationship Id="rId22" Type="http://schemas.openxmlformats.org/officeDocument/2006/relationships/image" Target="../media/image22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image" Target="../media/image239.png"/><Relationship Id="rId18" Type="http://schemas.openxmlformats.org/officeDocument/2006/relationships/image" Target="../media/image244.png"/><Relationship Id="rId26" Type="http://schemas.openxmlformats.org/officeDocument/2006/relationships/image" Target="../media/image252.png"/><Relationship Id="rId3" Type="http://schemas.openxmlformats.org/officeDocument/2006/relationships/image" Target="../media/image229.png"/><Relationship Id="rId21" Type="http://schemas.openxmlformats.org/officeDocument/2006/relationships/image" Target="../media/image247.png"/><Relationship Id="rId7" Type="http://schemas.openxmlformats.org/officeDocument/2006/relationships/image" Target="../media/image233.png"/><Relationship Id="rId12" Type="http://schemas.openxmlformats.org/officeDocument/2006/relationships/image" Target="../media/image238.png"/><Relationship Id="rId17" Type="http://schemas.openxmlformats.org/officeDocument/2006/relationships/image" Target="../media/image243.png"/><Relationship Id="rId25" Type="http://schemas.openxmlformats.org/officeDocument/2006/relationships/image" Target="../media/image251.png"/><Relationship Id="rId2" Type="http://schemas.openxmlformats.org/officeDocument/2006/relationships/image" Target="../media/image228.png"/><Relationship Id="rId16" Type="http://schemas.openxmlformats.org/officeDocument/2006/relationships/image" Target="../media/image242.png"/><Relationship Id="rId20" Type="http://schemas.openxmlformats.org/officeDocument/2006/relationships/image" Target="../media/image246.png"/><Relationship Id="rId29" Type="http://schemas.openxmlformats.org/officeDocument/2006/relationships/image" Target="../media/image2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11" Type="http://schemas.openxmlformats.org/officeDocument/2006/relationships/image" Target="../media/image237.png"/><Relationship Id="rId24" Type="http://schemas.openxmlformats.org/officeDocument/2006/relationships/image" Target="../media/image250.png"/><Relationship Id="rId5" Type="http://schemas.openxmlformats.org/officeDocument/2006/relationships/image" Target="../media/image231.png"/><Relationship Id="rId15" Type="http://schemas.openxmlformats.org/officeDocument/2006/relationships/image" Target="../media/image241.png"/><Relationship Id="rId23" Type="http://schemas.openxmlformats.org/officeDocument/2006/relationships/image" Target="../media/image249.png"/><Relationship Id="rId28" Type="http://schemas.openxmlformats.org/officeDocument/2006/relationships/image" Target="../media/image254.png"/><Relationship Id="rId10" Type="http://schemas.openxmlformats.org/officeDocument/2006/relationships/image" Target="../media/image236.png"/><Relationship Id="rId19" Type="http://schemas.openxmlformats.org/officeDocument/2006/relationships/image" Target="../media/image245.png"/><Relationship Id="rId4" Type="http://schemas.openxmlformats.org/officeDocument/2006/relationships/image" Target="../media/image230.png"/><Relationship Id="rId9" Type="http://schemas.openxmlformats.org/officeDocument/2006/relationships/image" Target="../media/image235.png"/><Relationship Id="rId14" Type="http://schemas.openxmlformats.org/officeDocument/2006/relationships/image" Target="../media/image240.png"/><Relationship Id="rId22" Type="http://schemas.openxmlformats.org/officeDocument/2006/relationships/image" Target="../media/image248.png"/><Relationship Id="rId27" Type="http://schemas.openxmlformats.org/officeDocument/2006/relationships/image" Target="../media/image25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7" Type="http://schemas.openxmlformats.org/officeDocument/2006/relationships/image" Target="../media/image263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4" Type="http://schemas.openxmlformats.org/officeDocument/2006/relationships/image" Target="../media/image26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65.png"/><Relationship Id="rId7" Type="http://schemas.openxmlformats.org/officeDocument/2006/relationships/image" Target="../media/image269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Relationship Id="rId9" Type="http://schemas.openxmlformats.org/officeDocument/2006/relationships/image" Target="../media/image26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281.png"/><Relationship Id="rId3" Type="http://schemas.openxmlformats.org/officeDocument/2006/relationships/image" Target="../media/image271.png"/><Relationship Id="rId7" Type="http://schemas.openxmlformats.org/officeDocument/2006/relationships/image" Target="../media/image275.png"/><Relationship Id="rId12" Type="http://schemas.openxmlformats.org/officeDocument/2006/relationships/image" Target="../media/image280.png"/><Relationship Id="rId2" Type="http://schemas.openxmlformats.org/officeDocument/2006/relationships/image" Target="../media/image270.png"/><Relationship Id="rId16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11" Type="http://schemas.openxmlformats.org/officeDocument/2006/relationships/image" Target="../media/image279.png"/><Relationship Id="rId5" Type="http://schemas.openxmlformats.org/officeDocument/2006/relationships/image" Target="../media/image273.png"/><Relationship Id="rId15" Type="http://schemas.openxmlformats.org/officeDocument/2006/relationships/image" Target="../media/image283.png"/><Relationship Id="rId10" Type="http://schemas.openxmlformats.org/officeDocument/2006/relationships/image" Target="../media/image278.png"/><Relationship Id="rId4" Type="http://schemas.openxmlformats.org/officeDocument/2006/relationships/image" Target="../media/image272.png"/><Relationship Id="rId9" Type="http://schemas.openxmlformats.org/officeDocument/2006/relationships/image" Target="../media/image277.png"/><Relationship Id="rId14" Type="http://schemas.openxmlformats.org/officeDocument/2006/relationships/image" Target="../media/image28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3" Type="http://schemas.openxmlformats.org/officeDocument/2006/relationships/image" Target="../media/image286.png"/><Relationship Id="rId7" Type="http://schemas.openxmlformats.org/officeDocument/2006/relationships/image" Target="../media/image290.png"/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28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3" Type="http://schemas.openxmlformats.org/officeDocument/2006/relationships/image" Target="../media/image293.png"/><Relationship Id="rId7" Type="http://schemas.openxmlformats.org/officeDocument/2006/relationships/image" Target="../media/image297.png"/><Relationship Id="rId12" Type="http://schemas.openxmlformats.org/officeDocument/2006/relationships/image" Target="../media/image302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6.png"/><Relationship Id="rId11" Type="http://schemas.openxmlformats.org/officeDocument/2006/relationships/image" Target="../media/image301.png"/><Relationship Id="rId5" Type="http://schemas.openxmlformats.org/officeDocument/2006/relationships/image" Target="../media/image295.png"/><Relationship Id="rId10" Type="http://schemas.openxmlformats.org/officeDocument/2006/relationships/image" Target="../media/image300.png"/><Relationship Id="rId4" Type="http://schemas.openxmlformats.org/officeDocument/2006/relationships/image" Target="../media/image294.png"/><Relationship Id="rId9" Type="http://schemas.openxmlformats.org/officeDocument/2006/relationships/image" Target="../media/image29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png"/><Relationship Id="rId13" Type="http://schemas.openxmlformats.org/officeDocument/2006/relationships/image" Target="../media/image313.png"/><Relationship Id="rId3" Type="http://schemas.openxmlformats.org/officeDocument/2006/relationships/image" Target="../media/image303.png"/><Relationship Id="rId7" Type="http://schemas.openxmlformats.org/officeDocument/2006/relationships/image" Target="../media/image307.png"/><Relationship Id="rId12" Type="http://schemas.openxmlformats.org/officeDocument/2006/relationships/image" Target="../media/image312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6.png"/><Relationship Id="rId11" Type="http://schemas.openxmlformats.org/officeDocument/2006/relationships/image" Target="../media/image311.png"/><Relationship Id="rId5" Type="http://schemas.openxmlformats.org/officeDocument/2006/relationships/image" Target="../media/image305.png"/><Relationship Id="rId15" Type="http://schemas.openxmlformats.org/officeDocument/2006/relationships/image" Target="../media/image315.png"/><Relationship Id="rId10" Type="http://schemas.openxmlformats.org/officeDocument/2006/relationships/image" Target="../media/image310.png"/><Relationship Id="rId4" Type="http://schemas.openxmlformats.org/officeDocument/2006/relationships/image" Target="../media/image304.png"/><Relationship Id="rId9" Type="http://schemas.openxmlformats.org/officeDocument/2006/relationships/image" Target="../media/image309.png"/><Relationship Id="rId14" Type="http://schemas.openxmlformats.org/officeDocument/2006/relationships/image" Target="../media/image3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24000" y="3028950"/>
            <a:ext cx="440436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4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35A71A-B56C-09EF-42E3-408C002D1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569" y="1733550"/>
            <a:ext cx="8420862" cy="498598"/>
          </a:xfrm>
        </p:spPr>
        <p:txBody>
          <a:bodyPr/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with multiple variables</a:t>
            </a:r>
            <a:endParaRPr lang="en-P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CC421-0D33-6418-E393-1C84E72A8F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EF591D-D981-C508-68D3-0C3B87922717}"/>
              </a:ext>
            </a:extLst>
          </p:cNvPr>
          <p:cNvSpPr txBox="1"/>
          <p:nvPr/>
        </p:nvSpPr>
        <p:spPr>
          <a:xfrm>
            <a:off x="367815" y="666750"/>
            <a:ext cx="4873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Regression with multiple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34299C-C0CD-B138-27E1-890C9570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3350"/>
            <a:ext cx="8134350" cy="545306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P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6CC76-AE06-532D-52FB-F192F950A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837853"/>
            <a:ext cx="4055225" cy="4048125"/>
          </a:xfrm>
        </p:spPr>
        <p:txBody>
          <a:bodyPr>
            <a:normAutofit/>
          </a:bodyPr>
          <a:lstStyle/>
          <a:p>
            <a: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None/>
            </a:pPr>
            <a:r>
              <a:rPr lang="en-GB" sz="20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Linear Regression</a:t>
            </a:r>
            <a:r>
              <a:rPr lang="en-P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713" indent="-1651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Features</a:t>
            </a:r>
          </a:p>
          <a:p>
            <a:pPr marL="493713" indent="-1651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 </a:t>
            </a:r>
          </a:p>
          <a:p>
            <a:pPr marL="493713" indent="-1651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Lab: Python, NumPy and Vectorization</a:t>
            </a:r>
          </a:p>
          <a:p>
            <a:pPr marL="493713" indent="-1651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for Multiple Regression</a:t>
            </a:r>
          </a:p>
          <a:p>
            <a:pPr marL="493713" indent="-1651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Lab: Multiple Linear Regression</a:t>
            </a:r>
          </a:p>
          <a:p>
            <a:pPr marL="493713" indent="-1651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Quiz: Multiple Linear Regression </a:t>
            </a:r>
          </a:p>
          <a:p>
            <a: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P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D82CC-D5DF-0FB4-B96B-98715EC3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</a:t>
            </a:fld>
            <a:endParaRPr lang="en-PS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44E4CF73-35AF-7EE6-5D0E-9EB6C62737DB}"/>
              </a:ext>
            </a:extLst>
          </p:cNvPr>
          <p:cNvSpPr txBox="1">
            <a:spLocks/>
          </p:cNvSpPr>
          <p:nvPr/>
        </p:nvSpPr>
        <p:spPr>
          <a:xfrm>
            <a:off x="4419600" y="438149"/>
            <a:ext cx="4512425" cy="46029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Gradient Descent in practice</a:t>
            </a:r>
            <a:r>
              <a:rPr lang="en-PS" sz="2000" dirty="0">
                <a:effectLst/>
                <a:latin typeface="Times New Roman" panose="02020603050405020304" pitchFamily="18" charset="0"/>
                <a:cs typeface="+mj-cs"/>
              </a:rPr>
              <a:t> </a:t>
            </a:r>
            <a:endParaRPr lang="ar-SA" sz="2000" dirty="0">
              <a:effectLst/>
              <a:latin typeface="Times New Roman" panose="02020603050405020304" pitchFamily="18" charset="0"/>
              <a:cs typeface="+mj-cs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+mj-cs"/>
              </a:rPr>
              <a:t>Feature Scaling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Gradient Descent for Convergence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</a:t>
            </a:r>
          </a:p>
          <a:p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Lab: Feature Scaling and Learning rate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</a:t>
            </a:r>
          </a:p>
          <a:p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Lab: Feature engineering and Polynomial Regression</a:t>
            </a:r>
          </a:p>
          <a:p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Lab: Linear regression with Scikit-learn</a:t>
            </a:r>
          </a:p>
          <a:p>
            <a:endParaRPr lang="en-US" sz="2000" dirty="0">
              <a:latin typeface="Gill Sans MT" panose="020B0502020104020203" pitchFamily="34" charset="77"/>
              <a:cs typeface="+mj-cs"/>
            </a:endParaRPr>
          </a:p>
          <a:p>
            <a:endParaRPr lang="en-US" sz="2000" dirty="0">
              <a:latin typeface="Gill Sans MT" panose="020B0502020104020203" pitchFamily="34" charset="77"/>
              <a:cs typeface="+mj-cs"/>
            </a:endParaRPr>
          </a:p>
          <a:p>
            <a:endParaRPr lang="en-PS" sz="2000" dirty="0">
              <a:latin typeface="Gill Sans MT" panose="020B0502020104020203" pitchFamily="34" charset="7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3788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6A02EB-FE77-0401-FF21-5CEB19D7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module is all about ...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0F5A43-9C12-F5F5-4A49-3087186B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you'll extend linear regression </a:t>
            </a:r>
            <a:r>
              <a:rPr lang="en-GB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single input 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input features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You'll also learn some methods for improving your model's training and performance, such as </a:t>
            </a:r>
            <a:r>
              <a:rPr lang="en-US" sz="24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module, you'll get to </a:t>
            </a:r>
            <a:r>
              <a:rPr lang="en-US" sz="24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 implementing 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python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9EE38-0282-7F75-F2A1-78528540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17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D99786-72EF-3393-B060-975117E7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01973"/>
            <a:ext cx="7886700" cy="2139553"/>
          </a:xfrm>
        </p:spPr>
        <p:txBody>
          <a:bodyPr anchor="ctr">
            <a:normAutofit/>
          </a:bodyPr>
          <a:lstStyle/>
          <a:p>
            <a:r>
              <a:rPr lang="en-PS" sz="44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Features (variables)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5E8CA-D6D8-A630-EEAF-C85F9FA0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Gill Sans MT" panose="020B0502020104020203" pitchFamily="34" charset="77"/>
              </a:rPr>
              <a:t>4</a:t>
            </a:fld>
            <a:endParaRPr lang="en-PS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5951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2CDB493-E724-F44D-9B60-550A7BBBDFF5}"/>
              </a:ext>
            </a:extLst>
          </p:cNvPr>
          <p:cNvGrpSpPr/>
          <p:nvPr/>
        </p:nvGrpSpPr>
        <p:grpSpPr>
          <a:xfrm>
            <a:off x="3048000" y="3370522"/>
            <a:ext cx="2303780" cy="458470"/>
            <a:chOff x="3390265" y="3397567"/>
            <a:chExt cx="2303780" cy="458470"/>
          </a:xfrm>
        </p:grpSpPr>
        <p:sp>
          <p:nvSpPr>
            <p:cNvPr id="2" name="object 2"/>
            <p:cNvSpPr txBox="1"/>
            <p:nvPr/>
          </p:nvSpPr>
          <p:spPr>
            <a:xfrm>
              <a:off x="3390265" y="3464242"/>
              <a:ext cx="560705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3600" spc="-15" baseline="1157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sz="17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𝑤,𝑏</a:t>
              </a:r>
              <a:endParaRPr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object 3"/>
            <p:cNvSpPr/>
            <p:nvPr/>
          </p:nvSpPr>
          <p:spPr>
            <a:xfrm>
              <a:off x="3956303" y="3483736"/>
              <a:ext cx="368300" cy="282575"/>
            </a:xfrm>
            <a:custGeom>
              <a:avLst/>
              <a:gdLst/>
              <a:ahLst/>
              <a:cxnLst/>
              <a:rect l="l" t="t" r="r" b="b"/>
              <a:pathLst>
                <a:path w="368300" h="282575">
                  <a:moveTo>
                    <a:pt x="278130" y="0"/>
                  </a:moveTo>
                  <a:lnTo>
                    <a:pt x="274193" y="11430"/>
                  </a:lnTo>
                  <a:lnTo>
                    <a:pt x="290500" y="18577"/>
                  </a:lnTo>
                  <a:lnTo>
                    <a:pt x="304546" y="28416"/>
                  </a:lnTo>
                  <a:lnTo>
                    <a:pt x="333089" y="73925"/>
                  </a:lnTo>
                  <a:lnTo>
                    <a:pt x="341471" y="115732"/>
                  </a:lnTo>
                  <a:lnTo>
                    <a:pt x="342519" y="139826"/>
                  </a:lnTo>
                  <a:lnTo>
                    <a:pt x="341471" y="164689"/>
                  </a:lnTo>
                  <a:lnTo>
                    <a:pt x="333089" y="207603"/>
                  </a:lnTo>
                  <a:lnTo>
                    <a:pt x="304593" y="253857"/>
                  </a:lnTo>
                  <a:lnTo>
                    <a:pt x="274574" y="270891"/>
                  </a:lnTo>
                  <a:lnTo>
                    <a:pt x="278130" y="282321"/>
                  </a:lnTo>
                  <a:lnTo>
                    <a:pt x="316690" y="264302"/>
                  </a:lnTo>
                  <a:lnTo>
                    <a:pt x="345059" y="233044"/>
                  </a:lnTo>
                  <a:lnTo>
                    <a:pt x="362378" y="191135"/>
                  </a:lnTo>
                  <a:lnTo>
                    <a:pt x="368173" y="141224"/>
                  </a:lnTo>
                  <a:lnTo>
                    <a:pt x="366720" y="115341"/>
                  </a:lnTo>
                  <a:lnTo>
                    <a:pt x="355099" y="69482"/>
                  </a:lnTo>
                  <a:lnTo>
                    <a:pt x="332029" y="32146"/>
                  </a:lnTo>
                  <a:lnTo>
                    <a:pt x="298604" y="7381"/>
                  </a:lnTo>
                  <a:lnTo>
                    <a:pt x="278130" y="0"/>
                  </a:lnTo>
                  <a:close/>
                </a:path>
                <a:path w="368300" h="282575">
                  <a:moveTo>
                    <a:pt x="90043" y="0"/>
                  </a:moveTo>
                  <a:lnTo>
                    <a:pt x="51657" y="18097"/>
                  </a:lnTo>
                  <a:lnTo>
                    <a:pt x="23368" y="49529"/>
                  </a:lnTo>
                  <a:lnTo>
                    <a:pt x="5826" y="91424"/>
                  </a:lnTo>
                  <a:lnTo>
                    <a:pt x="0" y="141224"/>
                  </a:lnTo>
                  <a:lnTo>
                    <a:pt x="1452" y="167179"/>
                  </a:lnTo>
                  <a:lnTo>
                    <a:pt x="13073" y="213090"/>
                  </a:lnTo>
                  <a:lnTo>
                    <a:pt x="36125" y="250334"/>
                  </a:lnTo>
                  <a:lnTo>
                    <a:pt x="69514" y="274960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549" y="263773"/>
                  </a:lnTo>
                  <a:lnTo>
                    <a:pt x="63690" y="253857"/>
                  </a:lnTo>
                  <a:lnTo>
                    <a:pt x="35210" y="207603"/>
                  </a:lnTo>
                  <a:lnTo>
                    <a:pt x="26828" y="164689"/>
                  </a:lnTo>
                  <a:lnTo>
                    <a:pt x="25781" y="139826"/>
                  </a:lnTo>
                  <a:lnTo>
                    <a:pt x="26828" y="115732"/>
                  </a:lnTo>
                  <a:lnTo>
                    <a:pt x="35210" y="73925"/>
                  </a:lnTo>
                  <a:lnTo>
                    <a:pt x="63801" y="28416"/>
                  </a:lnTo>
                  <a:lnTo>
                    <a:pt x="94107" y="11430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4044950" y="3397567"/>
              <a:ext cx="1649095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403225" algn="l"/>
                </a:tabLst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𝑥	=</a:t>
              </a:r>
              <a:r>
                <a:rPr sz="2400" spc="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𝑤𝑥</a:t>
              </a:r>
              <a:r>
                <a:rPr sz="24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𝑏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60954" y="1056957"/>
            <a:ext cx="4678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184400" algn="l"/>
              </a:tabLst>
            </a:pP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sz="1800" spc="-37" baseline="254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800" spc="750" baseline="254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(𝑥)	</a:t>
            </a:r>
            <a:r>
              <a:rPr sz="2700" spc="-22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sz="2700" spc="127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15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($)</a:t>
            </a:r>
            <a:r>
              <a:rPr sz="2700" spc="-60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37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700" spc="52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37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1000’s</a:t>
            </a:r>
            <a:r>
              <a:rPr sz="2700" spc="209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22" baseline="15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(𝑦)</a:t>
            </a:r>
            <a:endParaRPr sz="2700" baseline="154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00376" y="1024000"/>
            <a:ext cx="4613275" cy="1946275"/>
          </a:xfrm>
          <a:custGeom>
            <a:avLst/>
            <a:gdLst/>
            <a:ahLst/>
            <a:cxnLst/>
            <a:rect l="l" t="t" r="r" b="b"/>
            <a:pathLst>
              <a:path w="4613275" h="1946275">
                <a:moveTo>
                  <a:pt x="0" y="428625"/>
                </a:moveTo>
                <a:lnTo>
                  <a:pt x="4613021" y="428625"/>
                </a:lnTo>
              </a:path>
              <a:path w="4613275" h="1946275">
                <a:moveTo>
                  <a:pt x="2095500" y="1946148"/>
                </a:moveTo>
                <a:lnTo>
                  <a:pt x="2095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39820"/>
              </p:ext>
            </p:extLst>
          </p:nvPr>
        </p:nvGraphicFramePr>
        <p:xfrm>
          <a:off x="3267964" y="1580165"/>
          <a:ext cx="2593975" cy="13899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219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2104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9465" algn="ctr">
                        <a:lnSpc>
                          <a:spcPts val="176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400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24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1416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9465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232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609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1534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9465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315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28">
                <a:tc>
                  <a:txBody>
                    <a:bodyPr/>
                    <a:lstStyle/>
                    <a:p>
                      <a:pPr marL="88900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852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9465" algn="ctr">
                        <a:lnSpc>
                          <a:spcPts val="195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178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501">
                <a:tc>
                  <a:txBody>
                    <a:bodyPr/>
                    <a:lstStyle/>
                    <a:p>
                      <a:pPr marL="193675">
                        <a:lnSpc>
                          <a:spcPts val="1950"/>
                        </a:lnSpc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9625" algn="ctr">
                        <a:lnSpc>
                          <a:spcPts val="1950"/>
                        </a:lnSpc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365" y="1114425"/>
            <a:ext cx="414527" cy="1917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31B9B6-5BB8-DC64-166B-CDD130B94652}"/>
              </a:ext>
            </a:extLst>
          </p:cNvPr>
          <p:cNvSpPr txBox="1"/>
          <p:nvPr/>
        </p:nvSpPr>
        <p:spPr>
          <a:xfrm>
            <a:off x="170142" y="4156792"/>
            <a:ext cx="8714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Uptill now we have discussed a regression model with only single input variabe,</a:t>
            </a:r>
          </a:p>
          <a:p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module we will introduce a regression model with mult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input variables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21B786-4965-6B75-6EAC-57CABD3CD4B0}"/>
              </a:ext>
            </a:extLst>
          </p:cNvPr>
          <p:cNvSpPr txBox="1"/>
          <p:nvPr/>
        </p:nvSpPr>
        <p:spPr>
          <a:xfrm>
            <a:off x="7855527" y="1147156"/>
            <a:ext cx="875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(Label)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0842" y="32999"/>
            <a:ext cx="871418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3000" spc="-24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3000" spc="-9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(variables)</a:t>
            </a:r>
            <a:r>
              <a:rPr lang="en-GB" sz="3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of single feature regression </a:t>
            </a:r>
            <a:endParaRPr sz="3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0518B1-F75B-5576-65D2-C3E486A2B15A}"/>
              </a:ext>
            </a:extLst>
          </p:cNvPr>
          <p:cNvGrpSpPr/>
          <p:nvPr/>
        </p:nvGrpSpPr>
        <p:grpSpPr>
          <a:xfrm>
            <a:off x="387124" y="1523637"/>
            <a:ext cx="1805305" cy="630047"/>
            <a:chOff x="384711" y="1134617"/>
            <a:chExt cx="1805305" cy="630047"/>
          </a:xfrm>
        </p:grpSpPr>
        <p:grpSp>
          <p:nvGrpSpPr>
            <p:cNvPr id="9" name="object 9"/>
            <p:cNvGrpSpPr/>
            <p:nvPr/>
          </p:nvGrpSpPr>
          <p:grpSpPr>
            <a:xfrm>
              <a:off x="384711" y="1207134"/>
              <a:ext cx="1805305" cy="557530"/>
              <a:chOff x="446862" y="1164844"/>
              <a:chExt cx="1805305" cy="557530"/>
            </a:xfrm>
          </p:grpSpPr>
          <p:pic>
            <p:nvPicPr>
              <p:cNvPr id="10" name="object 10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677797" y="1164844"/>
                <a:ext cx="573869" cy="208279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46862" y="1409573"/>
                <a:ext cx="1262938" cy="312419"/>
              </a:xfrm>
              <a:prstGeom prst="rect">
                <a:avLst/>
              </a:prstGeom>
            </p:spPr>
          </p:pic>
        </p:grp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239" y="1134617"/>
              <a:ext cx="608972" cy="195199"/>
            </a:xfrm>
            <a:prstGeom prst="rect">
              <a:avLst/>
            </a:prstGeom>
          </p:spPr>
        </p:pic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F53C6B-EA7D-BA7E-DE2A-B8AA033F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206" y="54515"/>
            <a:ext cx="544068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3000" spc="-24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3000" spc="-9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(variables)</a:t>
            </a:r>
            <a:endParaRPr sz="3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6892" y="742822"/>
            <a:ext cx="6654165" cy="982980"/>
          </a:xfrm>
          <a:custGeom>
            <a:avLst/>
            <a:gdLst/>
            <a:ahLst/>
            <a:cxnLst/>
            <a:rect l="l" t="t" r="r" b="b"/>
            <a:pathLst>
              <a:path w="6654165" h="982980">
                <a:moveTo>
                  <a:pt x="2376233" y="0"/>
                </a:moveTo>
                <a:lnTo>
                  <a:pt x="1188135" y="0"/>
                </a:lnTo>
                <a:lnTo>
                  <a:pt x="0" y="0"/>
                </a:lnTo>
                <a:lnTo>
                  <a:pt x="0" y="982980"/>
                </a:lnTo>
                <a:lnTo>
                  <a:pt x="1188097" y="982980"/>
                </a:lnTo>
                <a:lnTo>
                  <a:pt x="2376233" y="982980"/>
                </a:lnTo>
                <a:lnTo>
                  <a:pt x="2376233" y="0"/>
                </a:lnTo>
                <a:close/>
              </a:path>
              <a:path w="6654165" h="982980">
                <a:moveTo>
                  <a:pt x="6653543" y="0"/>
                </a:moveTo>
                <a:lnTo>
                  <a:pt x="5069344" y="0"/>
                </a:lnTo>
                <a:lnTo>
                  <a:pt x="3564432" y="0"/>
                </a:lnTo>
                <a:lnTo>
                  <a:pt x="2376309" y="0"/>
                </a:lnTo>
                <a:lnTo>
                  <a:pt x="2376309" y="982980"/>
                </a:lnTo>
                <a:lnTo>
                  <a:pt x="3564394" y="982980"/>
                </a:lnTo>
                <a:lnTo>
                  <a:pt x="5069344" y="982980"/>
                </a:lnTo>
                <a:lnTo>
                  <a:pt x="6653543" y="982980"/>
                </a:lnTo>
                <a:lnTo>
                  <a:pt x="66535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616955"/>
              </p:ext>
            </p:extLst>
          </p:nvPr>
        </p:nvGraphicFramePr>
        <p:xfrm>
          <a:off x="611850" y="687230"/>
          <a:ext cx="6653527" cy="24243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114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38100">
                      <a:solidFill>
                        <a:srgbClr val="FF93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 marR="262890" indent="-104775">
                        <a:lnSpc>
                          <a:spcPct val="105000"/>
                        </a:lnSpc>
                        <a:spcBef>
                          <a:spcPts val="225"/>
                        </a:spcBef>
                      </a:pPr>
                      <a:r>
                        <a:rPr sz="1550" b="0" i="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</a:t>
                      </a:r>
                      <a:r>
                        <a:rPr sz="1550" b="0" i="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</a:t>
                      </a:r>
                      <a:r>
                        <a:rPr sz="1550" b="0" i="0" spc="-5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feet</a:t>
                      </a:r>
                      <a:r>
                        <a:rPr sz="1575" b="0" i="0" spc="15" baseline="18518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575" b="0" i="0" baseline="18518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53975">
                      <a:solidFill>
                        <a:srgbClr val="FF93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50" b="0" i="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550" b="0" i="0" spc="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endParaRPr sz="15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550" b="0" i="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  <a:endParaRPr sz="15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640" marB="0">
                    <a:lnL w="53975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50" b="0" i="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550" b="0" i="0" spc="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endParaRPr sz="155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550" b="0" i="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floors</a:t>
                      </a:r>
                      <a:endParaRPr sz="155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5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r>
                        <a:rPr sz="1550" b="0" i="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550" b="0" i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endParaRPr sz="155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550" b="0" i="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550" b="0" i="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sz="155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50" b="0" i="0" spc="20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r>
                        <a:rPr sz="1550" b="0" i="0" spc="-15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10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($)</a:t>
                      </a:r>
                      <a:r>
                        <a:rPr sz="1550" b="0" i="0" spc="-20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0" i="0" spc="20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endParaRPr sz="1550" b="0" i="0" dirty="0">
                        <a:solidFill>
                          <a:srgbClr val="043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550" b="0" i="0" spc="30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$1000’s</a:t>
                      </a:r>
                      <a:endParaRPr sz="1550" b="0" i="0" dirty="0">
                        <a:solidFill>
                          <a:srgbClr val="043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922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38100">
                      <a:solidFill>
                        <a:srgbClr val="FF93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4955" algn="ctr">
                        <a:lnSpc>
                          <a:spcPts val="1900"/>
                        </a:lnSpc>
                        <a:spcBef>
                          <a:spcPts val="85"/>
                        </a:spcBef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2104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53975">
                      <a:solidFill>
                        <a:srgbClr val="FF93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900"/>
                        </a:lnSpc>
                        <a:spcBef>
                          <a:spcPts val="85"/>
                        </a:spcBef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10795" marB="0">
                    <a:lnL w="53975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ts val="1900"/>
                        </a:lnSpc>
                        <a:spcBef>
                          <a:spcPts val="85"/>
                        </a:spcBef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" algn="ctr">
                        <a:lnSpc>
                          <a:spcPts val="1900"/>
                        </a:lnSpc>
                        <a:spcBef>
                          <a:spcPts val="85"/>
                        </a:spcBef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0" i="0" spc="-25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460</a:t>
                      </a:r>
                      <a:endParaRPr sz="1800" b="0" i="0" dirty="0">
                        <a:solidFill>
                          <a:srgbClr val="043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0" i="0" spc="-25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232</a:t>
                      </a:r>
                      <a:endParaRPr sz="1800" b="0" i="0" dirty="0">
                        <a:solidFill>
                          <a:srgbClr val="043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0" i="0" spc="-25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315</a:t>
                      </a:r>
                      <a:endParaRPr sz="1800" b="0" i="0" dirty="0">
                        <a:solidFill>
                          <a:srgbClr val="043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0" i="0" spc="-25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  <a:endParaRPr sz="1800" b="0" i="0" dirty="0">
                        <a:solidFill>
                          <a:srgbClr val="043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985" algn="ctr">
                        <a:lnSpc>
                          <a:spcPts val="2000"/>
                        </a:lnSpc>
                        <a:spcBef>
                          <a:spcPts val="65"/>
                        </a:spcBef>
                      </a:pPr>
                      <a:r>
                        <a:rPr sz="1800" b="0" i="0" dirty="0">
                          <a:solidFill>
                            <a:srgbClr val="043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FF93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49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1416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53975">
                      <a:solidFill>
                        <a:srgbClr val="FF93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8575" marB="0">
                    <a:lnL w="53975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9300"/>
                      </a:solidFill>
                      <a:prstDash val="solid"/>
                    </a:lnR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9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FF93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4955" algn="ctr">
                        <a:lnSpc>
                          <a:spcPts val="1985"/>
                        </a:lnSpc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1534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53975">
                      <a:solidFill>
                        <a:srgbClr val="FF93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985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ts val="1985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93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6985" algn="ctr">
                        <a:lnSpc>
                          <a:spcPts val="1985"/>
                        </a:lnSpc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sz="18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FF9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FF93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5430" algn="ctr">
                        <a:lnSpc>
                          <a:spcPts val="1975"/>
                        </a:lnSpc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852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53975">
                      <a:solidFill>
                        <a:srgbClr val="FF93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975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ts val="1975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985" algn="ctr">
                        <a:lnSpc>
                          <a:spcPts val="1975"/>
                        </a:lnSpc>
                      </a:pPr>
                      <a:r>
                        <a:rPr sz="1800" b="0" i="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71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FF93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4320" algn="ctr">
                        <a:lnSpc>
                          <a:spcPts val="1814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FF9300"/>
                      </a:solidFill>
                      <a:prstDash val="solid"/>
                    </a:lnL>
                    <a:lnR w="53975">
                      <a:solidFill>
                        <a:srgbClr val="FF9300"/>
                      </a:solidFill>
                      <a:prstDash val="solid"/>
                    </a:lnR>
                    <a:lnB w="38100">
                      <a:solidFill>
                        <a:srgbClr val="FF9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14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FF93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ts val="1814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sz="1800" b="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985" algn="ctr">
                        <a:lnSpc>
                          <a:spcPts val="1814"/>
                        </a:lnSpc>
                      </a:pPr>
                      <a:r>
                        <a:rPr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5F12CA35-BAAA-D234-6B71-73976111C3C7}"/>
              </a:ext>
            </a:extLst>
          </p:cNvPr>
          <p:cNvGrpSpPr/>
          <p:nvPr/>
        </p:nvGrpSpPr>
        <p:grpSpPr>
          <a:xfrm>
            <a:off x="591249" y="3490214"/>
            <a:ext cx="5363527" cy="1270546"/>
            <a:chOff x="788352" y="3152139"/>
            <a:chExt cx="5363527" cy="1270546"/>
          </a:xfrm>
        </p:grpSpPr>
        <p:sp>
          <p:nvSpPr>
            <p:cNvPr id="5" name="object 5"/>
            <p:cNvSpPr txBox="1"/>
            <p:nvPr/>
          </p:nvSpPr>
          <p:spPr>
            <a:xfrm>
              <a:off x="801051" y="3152139"/>
              <a:ext cx="4141303" cy="29046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1800" spc="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sz="2025" spc="15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𝑗</a:t>
              </a:r>
              <a:r>
                <a:rPr sz="2025" spc="254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spc="-3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8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𝑗</a:t>
              </a:r>
              <a:r>
                <a:rPr sz="2025" spc="127" baseline="26748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𝑡</a:t>
              </a:r>
              <a:r>
                <a:rPr sz="2025" spc="127" baseline="26748" dirty="0" err="1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ℎ</a:t>
              </a:r>
              <a:r>
                <a:rPr sz="2025" spc="75" baseline="26748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</a:t>
              </a:r>
              <a:r>
                <a:rPr lang="en-GB"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 = 1 , ...., 4,   n = 4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object 6"/>
            <p:cNvGrpSpPr/>
            <p:nvPr/>
          </p:nvGrpSpPr>
          <p:grpSpPr>
            <a:xfrm>
              <a:off x="838225" y="3771772"/>
              <a:ext cx="313690" cy="159385"/>
              <a:chOff x="838225" y="3771772"/>
              <a:chExt cx="313690" cy="159385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838225" y="3798569"/>
                <a:ext cx="113030" cy="55244"/>
              </a:xfrm>
              <a:custGeom>
                <a:avLst/>
                <a:gdLst/>
                <a:ahLst/>
                <a:cxnLst/>
                <a:rect l="l" t="t" r="r" b="b"/>
                <a:pathLst>
                  <a:path w="113030" h="55245">
                    <a:moveTo>
                      <a:pt x="84721" y="0"/>
                    </a:moveTo>
                    <a:lnTo>
                      <a:pt x="78803" y="6603"/>
                    </a:lnTo>
                    <a:lnTo>
                      <a:pt x="96659" y="22224"/>
                    </a:lnTo>
                    <a:lnTo>
                      <a:pt x="0" y="22224"/>
                    </a:lnTo>
                    <a:lnTo>
                      <a:pt x="0" y="32638"/>
                    </a:lnTo>
                    <a:lnTo>
                      <a:pt x="96659" y="32638"/>
                    </a:lnTo>
                    <a:lnTo>
                      <a:pt x="78803" y="48132"/>
                    </a:lnTo>
                    <a:lnTo>
                      <a:pt x="84721" y="54863"/>
                    </a:lnTo>
                    <a:lnTo>
                      <a:pt x="112737" y="30606"/>
                    </a:lnTo>
                    <a:lnTo>
                      <a:pt x="112737" y="24129"/>
                    </a:lnTo>
                    <a:lnTo>
                      <a:pt x="84721" y="0"/>
                    </a:lnTo>
                    <a:close/>
                  </a:path>
                </a:pathLst>
              </a:custGeom>
              <a:solidFill>
                <a:srgbClr val="FF93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8" name="object 8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977125" y="3771772"/>
                <a:ext cx="174371" cy="158800"/>
              </a:xfrm>
              <a:prstGeom prst="rect">
                <a:avLst/>
              </a:prstGeom>
            </p:spPr>
          </p:pic>
        </p:grpSp>
        <p:sp>
          <p:nvSpPr>
            <p:cNvPr id="9" name="object 9"/>
            <p:cNvSpPr txBox="1"/>
            <p:nvPr/>
          </p:nvSpPr>
          <p:spPr>
            <a:xfrm>
              <a:off x="788352" y="3457892"/>
              <a:ext cx="3004820" cy="5010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50800">
                <a:lnSpc>
                  <a:spcPts val="1870"/>
                </a:lnSpc>
                <a:spcBef>
                  <a:spcPts val="100"/>
                </a:spcBef>
                <a:tabLst>
                  <a:tab pos="508000" algn="l"/>
                </a:tabLst>
              </a:pP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𝑛	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  <a:r>
                <a:rPr sz="1800" spc="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</a:t>
              </a:r>
              <a:r>
                <a:rPr sz="18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0800">
                <a:lnSpc>
                  <a:spcPts val="1870"/>
                </a:lnSpc>
              </a:pPr>
              <a:r>
                <a:rPr sz="2700" baseline="-21604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sz="2700" spc="270" baseline="-21604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5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𝑖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21702" y="4202112"/>
              <a:ext cx="106045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41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𝑗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125" y="4067035"/>
              <a:ext cx="174371" cy="158813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801052" y="3954145"/>
              <a:ext cx="32702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7777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sz="2700" spc="247" baseline="-27777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spc="45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𝑖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182369" y="3694493"/>
              <a:ext cx="4969510" cy="674370"/>
            </a:xfrm>
            <a:prstGeom prst="rect">
              <a:avLst/>
            </a:prstGeom>
          </p:spPr>
          <p:txBody>
            <a:bodyPr vert="horz" wrap="square" lIns="0" tIns="62865" rIns="0" bIns="0" rtlCol="0">
              <a:spAutoFit/>
            </a:bodyPr>
            <a:lstStyle/>
            <a:p>
              <a:pPr marL="95250">
                <a:lnSpc>
                  <a:spcPct val="100000"/>
                </a:lnSpc>
                <a:spcBef>
                  <a:spcPts val="495"/>
                </a:spcBef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</a:t>
              </a:r>
              <a:r>
                <a:rPr sz="1800" spc="1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85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𝑖</a:t>
              </a:r>
              <a:r>
                <a:rPr sz="2025" spc="127" baseline="28806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𝑡ℎ</a:t>
              </a:r>
              <a:r>
                <a:rPr sz="2025" spc="427" baseline="28806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</a:t>
              </a:r>
              <a:r>
                <a:rPr sz="1800" spc="2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8100">
                <a:lnSpc>
                  <a:spcPct val="100000"/>
                </a:lnSpc>
                <a:spcBef>
                  <a:spcPts val="395"/>
                </a:spcBef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spc="-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r>
                <a:rPr sz="1800" spc="9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</a:t>
              </a:r>
              <a:r>
                <a:rPr sz="1800" spc="1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𝑗</a:t>
              </a:r>
              <a:r>
                <a:rPr sz="1800" spc="229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sz="18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85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𝑖</a:t>
              </a:r>
              <a:r>
                <a:rPr sz="2025" spc="127" baseline="28806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𝑡ℎ</a:t>
              </a:r>
              <a:r>
                <a:rPr sz="2025" spc="540" baseline="28806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</a:t>
              </a:r>
              <a:r>
                <a:rPr sz="1800" spc="18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example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854640-A981-DE05-CA23-14A00A826DFE}"/>
              </a:ext>
            </a:extLst>
          </p:cNvPr>
          <p:cNvGrpSpPr/>
          <p:nvPr/>
        </p:nvGrpSpPr>
        <p:grpSpPr>
          <a:xfrm>
            <a:off x="6096049" y="3947161"/>
            <a:ext cx="944322" cy="353060"/>
            <a:chOff x="7314945" y="3901109"/>
            <a:chExt cx="1062355" cy="48345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4945" y="3901109"/>
              <a:ext cx="492125" cy="4834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5778" y="4115917"/>
              <a:ext cx="178562" cy="1294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0031" y="3996372"/>
              <a:ext cx="247269" cy="311150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1478" y="2012442"/>
            <a:ext cx="327279" cy="30988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9481" y="2065020"/>
            <a:ext cx="364375" cy="22986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EB98F777-F294-BFF2-8792-BDC068DF2EE6}"/>
              </a:ext>
            </a:extLst>
          </p:cNvPr>
          <p:cNvGrpSpPr/>
          <p:nvPr/>
        </p:nvGrpSpPr>
        <p:grpSpPr>
          <a:xfrm>
            <a:off x="7488873" y="1380681"/>
            <a:ext cx="1130934" cy="856870"/>
            <a:chOff x="7445375" y="786637"/>
            <a:chExt cx="1130934" cy="856870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1546" y="1334897"/>
              <a:ext cx="603250" cy="30861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4242" y="802258"/>
              <a:ext cx="43145" cy="386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45375" y="908430"/>
              <a:ext cx="127000" cy="26162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53146" y="888872"/>
              <a:ext cx="169163" cy="9817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06893" y="818769"/>
              <a:ext cx="148429" cy="24345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24879" y="983488"/>
              <a:ext cx="178936" cy="7416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95334" y="786637"/>
              <a:ext cx="180975" cy="260985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EB7F97C-3A9A-4833-84E1-A084BE9D52E0}"/>
              </a:ext>
            </a:extLst>
          </p:cNvPr>
          <p:cNvGrpSpPr/>
          <p:nvPr/>
        </p:nvGrpSpPr>
        <p:grpSpPr>
          <a:xfrm>
            <a:off x="1097089" y="1398777"/>
            <a:ext cx="4169981" cy="313056"/>
            <a:chOff x="1097089" y="1398777"/>
            <a:chExt cx="4169981" cy="313056"/>
          </a:xfrm>
        </p:grpSpPr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97089" y="1398777"/>
              <a:ext cx="338391" cy="2458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52548" y="1412621"/>
              <a:ext cx="357885" cy="2310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22471" y="1427099"/>
              <a:ext cx="297137" cy="25450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57571" y="1424305"/>
              <a:ext cx="309499" cy="287528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BCA14B0-0FCF-4EA6-AB38-8A7EFBD0673F}"/>
              </a:ext>
            </a:extLst>
          </p:cNvPr>
          <p:cNvGrpSpPr/>
          <p:nvPr/>
        </p:nvGrpSpPr>
        <p:grpSpPr>
          <a:xfrm>
            <a:off x="5344395" y="3050093"/>
            <a:ext cx="3195657" cy="595574"/>
            <a:chOff x="5798863" y="3215059"/>
            <a:chExt cx="3195657" cy="595574"/>
          </a:xfrm>
        </p:grpSpPr>
        <p:pic>
          <p:nvPicPr>
            <p:cNvPr id="19" name="object 1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67827" y="3435858"/>
              <a:ext cx="194309" cy="1879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744206" y="3490214"/>
              <a:ext cx="175260" cy="31750"/>
            </a:xfrm>
            <a:custGeom>
              <a:avLst/>
              <a:gdLst/>
              <a:ahLst/>
              <a:cxnLst/>
              <a:rect l="l" t="t" r="r" b="b"/>
              <a:pathLst>
                <a:path w="175259" h="31750">
                  <a:moveTo>
                    <a:pt x="45250" y="7498"/>
                  </a:moveTo>
                  <a:lnTo>
                    <a:pt x="3430" y="12827"/>
                  </a:lnTo>
                  <a:lnTo>
                    <a:pt x="0" y="18542"/>
                  </a:lnTo>
                  <a:lnTo>
                    <a:pt x="1144" y="27813"/>
                  </a:lnTo>
                  <a:lnTo>
                    <a:pt x="5716" y="31623"/>
                  </a:lnTo>
                  <a:lnTo>
                    <a:pt x="34291" y="28956"/>
                  </a:lnTo>
                  <a:lnTo>
                    <a:pt x="36133" y="28956"/>
                  </a:lnTo>
                  <a:lnTo>
                    <a:pt x="46610" y="28321"/>
                  </a:lnTo>
                  <a:lnTo>
                    <a:pt x="47626" y="28194"/>
                  </a:lnTo>
                  <a:lnTo>
                    <a:pt x="70159" y="24765"/>
                  </a:lnTo>
                  <a:lnTo>
                    <a:pt x="69978" y="24765"/>
                  </a:lnTo>
                  <a:lnTo>
                    <a:pt x="70994" y="24637"/>
                  </a:lnTo>
                  <a:lnTo>
                    <a:pt x="72264" y="24637"/>
                  </a:lnTo>
                  <a:lnTo>
                    <a:pt x="76836" y="24384"/>
                  </a:lnTo>
                  <a:lnTo>
                    <a:pt x="133817" y="24384"/>
                  </a:lnTo>
                  <a:lnTo>
                    <a:pt x="138304" y="24130"/>
                  </a:lnTo>
                  <a:lnTo>
                    <a:pt x="138685" y="24130"/>
                  </a:lnTo>
                  <a:lnTo>
                    <a:pt x="143003" y="23749"/>
                  </a:lnTo>
                  <a:lnTo>
                    <a:pt x="142749" y="23749"/>
                  </a:lnTo>
                  <a:lnTo>
                    <a:pt x="149226" y="23368"/>
                  </a:lnTo>
                  <a:lnTo>
                    <a:pt x="151131" y="23113"/>
                  </a:lnTo>
                  <a:lnTo>
                    <a:pt x="153078" y="22606"/>
                  </a:lnTo>
                  <a:lnTo>
                    <a:pt x="154052" y="22352"/>
                  </a:lnTo>
                  <a:lnTo>
                    <a:pt x="154645" y="22352"/>
                  </a:lnTo>
                  <a:lnTo>
                    <a:pt x="155449" y="22225"/>
                  </a:lnTo>
                  <a:lnTo>
                    <a:pt x="155703" y="22225"/>
                  </a:lnTo>
                  <a:lnTo>
                    <a:pt x="157862" y="21843"/>
                  </a:lnTo>
                  <a:lnTo>
                    <a:pt x="158412" y="21843"/>
                  </a:lnTo>
                  <a:lnTo>
                    <a:pt x="159624" y="21698"/>
                  </a:lnTo>
                  <a:lnTo>
                    <a:pt x="156846" y="20574"/>
                  </a:lnTo>
                  <a:lnTo>
                    <a:pt x="155774" y="18542"/>
                  </a:lnTo>
                  <a:lnTo>
                    <a:pt x="154560" y="18542"/>
                  </a:lnTo>
                  <a:lnTo>
                    <a:pt x="152655" y="17525"/>
                  </a:lnTo>
                  <a:lnTo>
                    <a:pt x="150623" y="16510"/>
                  </a:lnTo>
                  <a:lnTo>
                    <a:pt x="149946" y="14478"/>
                  </a:lnTo>
                  <a:lnTo>
                    <a:pt x="149988" y="13969"/>
                  </a:lnTo>
                  <a:lnTo>
                    <a:pt x="151029" y="11937"/>
                  </a:lnTo>
                  <a:lnTo>
                    <a:pt x="151258" y="11556"/>
                  </a:lnTo>
                  <a:lnTo>
                    <a:pt x="152968" y="10036"/>
                  </a:lnTo>
                  <a:lnTo>
                    <a:pt x="153036" y="9779"/>
                  </a:lnTo>
                  <a:lnTo>
                    <a:pt x="153274" y="9652"/>
                  </a:lnTo>
                  <a:lnTo>
                    <a:pt x="153369" y="9525"/>
                  </a:lnTo>
                  <a:lnTo>
                    <a:pt x="153681" y="7619"/>
                  </a:lnTo>
                  <a:lnTo>
                    <a:pt x="44451" y="7619"/>
                  </a:lnTo>
                  <a:lnTo>
                    <a:pt x="45250" y="7498"/>
                  </a:lnTo>
                  <a:close/>
                </a:path>
                <a:path w="175259" h="31750">
                  <a:moveTo>
                    <a:pt x="36133" y="28956"/>
                  </a:moveTo>
                  <a:lnTo>
                    <a:pt x="34291" y="28956"/>
                  </a:lnTo>
                  <a:lnTo>
                    <a:pt x="34037" y="29083"/>
                  </a:lnTo>
                  <a:lnTo>
                    <a:pt x="36133" y="28956"/>
                  </a:lnTo>
                  <a:close/>
                </a:path>
                <a:path w="175259" h="31750">
                  <a:moveTo>
                    <a:pt x="70994" y="24637"/>
                  </a:moveTo>
                  <a:lnTo>
                    <a:pt x="69978" y="24765"/>
                  </a:lnTo>
                  <a:lnTo>
                    <a:pt x="70264" y="24749"/>
                  </a:lnTo>
                  <a:lnTo>
                    <a:pt x="70994" y="24637"/>
                  </a:lnTo>
                  <a:close/>
                </a:path>
                <a:path w="175259" h="31750">
                  <a:moveTo>
                    <a:pt x="72264" y="24637"/>
                  </a:moveTo>
                  <a:lnTo>
                    <a:pt x="70994" y="24637"/>
                  </a:lnTo>
                  <a:lnTo>
                    <a:pt x="70264" y="24749"/>
                  </a:lnTo>
                  <a:lnTo>
                    <a:pt x="72264" y="24637"/>
                  </a:lnTo>
                  <a:close/>
                </a:path>
                <a:path w="175259" h="31750">
                  <a:moveTo>
                    <a:pt x="133817" y="24384"/>
                  </a:moveTo>
                  <a:lnTo>
                    <a:pt x="82678" y="24384"/>
                  </a:lnTo>
                  <a:lnTo>
                    <a:pt x="88901" y="24511"/>
                  </a:lnTo>
                  <a:lnTo>
                    <a:pt x="131573" y="24511"/>
                  </a:lnTo>
                  <a:lnTo>
                    <a:pt x="133817" y="24384"/>
                  </a:lnTo>
                  <a:close/>
                </a:path>
                <a:path w="175259" h="31750">
                  <a:moveTo>
                    <a:pt x="165521" y="21590"/>
                  </a:moveTo>
                  <a:lnTo>
                    <a:pt x="160529" y="21590"/>
                  </a:lnTo>
                  <a:lnTo>
                    <a:pt x="159624" y="21698"/>
                  </a:lnTo>
                  <a:lnTo>
                    <a:pt x="162180" y="22733"/>
                  </a:lnTo>
                  <a:lnTo>
                    <a:pt x="165521" y="21590"/>
                  </a:lnTo>
                  <a:close/>
                </a:path>
                <a:path w="175259" h="31750">
                  <a:moveTo>
                    <a:pt x="154645" y="22352"/>
                  </a:moveTo>
                  <a:lnTo>
                    <a:pt x="154052" y="22352"/>
                  </a:lnTo>
                  <a:lnTo>
                    <a:pt x="153143" y="22589"/>
                  </a:lnTo>
                  <a:lnTo>
                    <a:pt x="154645" y="22352"/>
                  </a:lnTo>
                  <a:close/>
                </a:path>
                <a:path w="175259" h="31750">
                  <a:moveTo>
                    <a:pt x="158412" y="21843"/>
                  </a:moveTo>
                  <a:lnTo>
                    <a:pt x="157862" y="21843"/>
                  </a:lnTo>
                  <a:lnTo>
                    <a:pt x="157354" y="21971"/>
                  </a:lnTo>
                  <a:lnTo>
                    <a:pt x="158412" y="21843"/>
                  </a:lnTo>
                  <a:close/>
                </a:path>
                <a:path w="175259" h="31750">
                  <a:moveTo>
                    <a:pt x="173870" y="7747"/>
                  </a:moveTo>
                  <a:lnTo>
                    <a:pt x="156846" y="7747"/>
                  </a:lnTo>
                  <a:lnTo>
                    <a:pt x="159132" y="8255"/>
                  </a:lnTo>
                  <a:lnTo>
                    <a:pt x="160275" y="10160"/>
                  </a:lnTo>
                  <a:lnTo>
                    <a:pt x="161418" y="11937"/>
                  </a:lnTo>
                  <a:lnTo>
                    <a:pt x="160910" y="14350"/>
                  </a:lnTo>
                  <a:lnTo>
                    <a:pt x="159132" y="15493"/>
                  </a:lnTo>
                  <a:lnTo>
                    <a:pt x="157989" y="16256"/>
                  </a:lnTo>
                  <a:lnTo>
                    <a:pt x="157534" y="16451"/>
                  </a:lnTo>
                  <a:lnTo>
                    <a:pt x="156973" y="17653"/>
                  </a:lnTo>
                  <a:lnTo>
                    <a:pt x="155576" y="18167"/>
                  </a:lnTo>
                  <a:lnTo>
                    <a:pt x="156846" y="20574"/>
                  </a:lnTo>
                  <a:lnTo>
                    <a:pt x="159624" y="21698"/>
                  </a:lnTo>
                  <a:lnTo>
                    <a:pt x="160529" y="21590"/>
                  </a:lnTo>
                  <a:lnTo>
                    <a:pt x="165521" y="21590"/>
                  </a:lnTo>
                  <a:lnTo>
                    <a:pt x="174222" y="12192"/>
                  </a:lnTo>
                  <a:lnTo>
                    <a:pt x="174104" y="9302"/>
                  </a:lnTo>
                  <a:lnTo>
                    <a:pt x="173870" y="7747"/>
                  </a:lnTo>
                  <a:close/>
                </a:path>
                <a:path w="175259" h="31750">
                  <a:moveTo>
                    <a:pt x="171567" y="19561"/>
                  </a:moveTo>
                  <a:lnTo>
                    <a:pt x="165521" y="21590"/>
                  </a:lnTo>
                  <a:lnTo>
                    <a:pt x="169419" y="21590"/>
                  </a:lnTo>
                  <a:lnTo>
                    <a:pt x="171567" y="19561"/>
                  </a:lnTo>
                  <a:close/>
                </a:path>
                <a:path w="175259" h="31750">
                  <a:moveTo>
                    <a:pt x="172278" y="18889"/>
                  </a:moveTo>
                  <a:lnTo>
                    <a:pt x="171567" y="19561"/>
                  </a:lnTo>
                  <a:lnTo>
                    <a:pt x="171959" y="19431"/>
                  </a:lnTo>
                  <a:lnTo>
                    <a:pt x="172278" y="18889"/>
                  </a:lnTo>
                  <a:close/>
                </a:path>
                <a:path w="175259" h="31750">
                  <a:moveTo>
                    <a:pt x="174054" y="15877"/>
                  </a:moveTo>
                  <a:lnTo>
                    <a:pt x="172278" y="18889"/>
                  </a:lnTo>
                  <a:lnTo>
                    <a:pt x="173991" y="17272"/>
                  </a:lnTo>
                  <a:lnTo>
                    <a:pt x="174054" y="15877"/>
                  </a:lnTo>
                  <a:close/>
                </a:path>
                <a:path w="175259" h="31750">
                  <a:moveTo>
                    <a:pt x="152968" y="10036"/>
                  </a:moveTo>
                  <a:lnTo>
                    <a:pt x="151258" y="11556"/>
                  </a:lnTo>
                  <a:lnTo>
                    <a:pt x="150877" y="12192"/>
                  </a:lnTo>
                  <a:lnTo>
                    <a:pt x="149988" y="13969"/>
                  </a:lnTo>
                  <a:lnTo>
                    <a:pt x="149946" y="14478"/>
                  </a:lnTo>
                  <a:lnTo>
                    <a:pt x="150623" y="16510"/>
                  </a:lnTo>
                  <a:lnTo>
                    <a:pt x="152655" y="17525"/>
                  </a:lnTo>
                  <a:lnTo>
                    <a:pt x="154560" y="18542"/>
                  </a:lnTo>
                  <a:lnTo>
                    <a:pt x="155576" y="18167"/>
                  </a:lnTo>
                  <a:lnTo>
                    <a:pt x="154179" y="15493"/>
                  </a:lnTo>
                  <a:lnTo>
                    <a:pt x="153417" y="13969"/>
                  </a:lnTo>
                  <a:lnTo>
                    <a:pt x="152401" y="12192"/>
                  </a:lnTo>
                  <a:lnTo>
                    <a:pt x="152968" y="10036"/>
                  </a:lnTo>
                  <a:close/>
                </a:path>
                <a:path w="175259" h="31750">
                  <a:moveTo>
                    <a:pt x="155576" y="18167"/>
                  </a:moveTo>
                  <a:lnTo>
                    <a:pt x="154560" y="18542"/>
                  </a:lnTo>
                  <a:lnTo>
                    <a:pt x="155774" y="18542"/>
                  </a:lnTo>
                  <a:lnTo>
                    <a:pt x="155576" y="18167"/>
                  </a:lnTo>
                  <a:close/>
                </a:path>
                <a:path w="175259" h="31750">
                  <a:moveTo>
                    <a:pt x="153339" y="9706"/>
                  </a:moveTo>
                  <a:lnTo>
                    <a:pt x="152968" y="10036"/>
                  </a:lnTo>
                  <a:lnTo>
                    <a:pt x="152401" y="12192"/>
                  </a:lnTo>
                  <a:lnTo>
                    <a:pt x="153417" y="13969"/>
                  </a:lnTo>
                  <a:lnTo>
                    <a:pt x="155576" y="18167"/>
                  </a:lnTo>
                  <a:lnTo>
                    <a:pt x="156973" y="17653"/>
                  </a:lnTo>
                  <a:lnTo>
                    <a:pt x="157269" y="17018"/>
                  </a:lnTo>
                  <a:lnTo>
                    <a:pt x="155957" y="17018"/>
                  </a:lnTo>
                  <a:lnTo>
                    <a:pt x="158243" y="14986"/>
                  </a:lnTo>
                  <a:lnTo>
                    <a:pt x="159922" y="14986"/>
                  </a:lnTo>
                  <a:lnTo>
                    <a:pt x="160910" y="14350"/>
                  </a:lnTo>
                  <a:lnTo>
                    <a:pt x="161418" y="11937"/>
                  </a:lnTo>
                  <a:lnTo>
                    <a:pt x="161173" y="11556"/>
                  </a:lnTo>
                  <a:lnTo>
                    <a:pt x="153036" y="11556"/>
                  </a:lnTo>
                  <a:lnTo>
                    <a:pt x="153339" y="9706"/>
                  </a:lnTo>
                  <a:close/>
                </a:path>
                <a:path w="175259" h="31750">
                  <a:moveTo>
                    <a:pt x="158243" y="14986"/>
                  </a:moveTo>
                  <a:lnTo>
                    <a:pt x="155957" y="17018"/>
                  </a:lnTo>
                  <a:lnTo>
                    <a:pt x="157100" y="16637"/>
                  </a:lnTo>
                  <a:lnTo>
                    <a:pt x="157534" y="16451"/>
                  </a:lnTo>
                  <a:lnTo>
                    <a:pt x="158243" y="14986"/>
                  </a:lnTo>
                  <a:close/>
                </a:path>
                <a:path w="175259" h="31750">
                  <a:moveTo>
                    <a:pt x="157534" y="16451"/>
                  </a:moveTo>
                  <a:lnTo>
                    <a:pt x="157100" y="16637"/>
                  </a:lnTo>
                  <a:lnTo>
                    <a:pt x="155957" y="17018"/>
                  </a:lnTo>
                  <a:lnTo>
                    <a:pt x="157269" y="17018"/>
                  </a:lnTo>
                  <a:lnTo>
                    <a:pt x="157534" y="16451"/>
                  </a:lnTo>
                  <a:close/>
                </a:path>
                <a:path w="175259" h="31750">
                  <a:moveTo>
                    <a:pt x="159922" y="14986"/>
                  </a:moveTo>
                  <a:lnTo>
                    <a:pt x="158243" y="14986"/>
                  </a:lnTo>
                  <a:lnTo>
                    <a:pt x="157534" y="16451"/>
                  </a:lnTo>
                  <a:lnTo>
                    <a:pt x="157989" y="16256"/>
                  </a:lnTo>
                  <a:lnTo>
                    <a:pt x="159922" y="14986"/>
                  </a:lnTo>
                  <a:close/>
                </a:path>
                <a:path w="175259" h="31750">
                  <a:moveTo>
                    <a:pt x="174295" y="10579"/>
                  </a:moveTo>
                  <a:lnTo>
                    <a:pt x="174054" y="15877"/>
                  </a:lnTo>
                  <a:lnTo>
                    <a:pt x="174880" y="14478"/>
                  </a:lnTo>
                  <a:lnTo>
                    <a:pt x="174295" y="10579"/>
                  </a:lnTo>
                  <a:close/>
                </a:path>
                <a:path w="175259" h="31750">
                  <a:moveTo>
                    <a:pt x="154137" y="9302"/>
                  </a:moveTo>
                  <a:lnTo>
                    <a:pt x="153544" y="9525"/>
                  </a:lnTo>
                  <a:lnTo>
                    <a:pt x="153401" y="9652"/>
                  </a:lnTo>
                  <a:lnTo>
                    <a:pt x="153285" y="10036"/>
                  </a:lnTo>
                  <a:lnTo>
                    <a:pt x="153036" y="11556"/>
                  </a:lnTo>
                  <a:lnTo>
                    <a:pt x="154215" y="9652"/>
                  </a:lnTo>
                  <a:lnTo>
                    <a:pt x="153671" y="9652"/>
                  </a:lnTo>
                  <a:lnTo>
                    <a:pt x="154137" y="9302"/>
                  </a:lnTo>
                  <a:close/>
                </a:path>
                <a:path w="175259" h="31750">
                  <a:moveTo>
                    <a:pt x="159665" y="9143"/>
                  </a:moveTo>
                  <a:lnTo>
                    <a:pt x="154560" y="9143"/>
                  </a:lnTo>
                  <a:lnTo>
                    <a:pt x="154432" y="9302"/>
                  </a:lnTo>
                  <a:lnTo>
                    <a:pt x="153036" y="11556"/>
                  </a:lnTo>
                  <a:lnTo>
                    <a:pt x="161173" y="11556"/>
                  </a:lnTo>
                  <a:lnTo>
                    <a:pt x="159665" y="9143"/>
                  </a:lnTo>
                  <a:close/>
                </a:path>
                <a:path w="175259" h="31750">
                  <a:moveTo>
                    <a:pt x="173433" y="4829"/>
                  </a:moveTo>
                  <a:lnTo>
                    <a:pt x="174295" y="10579"/>
                  </a:lnTo>
                  <a:lnTo>
                    <a:pt x="174499" y="6096"/>
                  </a:lnTo>
                  <a:lnTo>
                    <a:pt x="173433" y="4829"/>
                  </a:lnTo>
                  <a:close/>
                </a:path>
                <a:path w="175259" h="31750">
                  <a:moveTo>
                    <a:pt x="153355" y="9608"/>
                  </a:moveTo>
                  <a:lnTo>
                    <a:pt x="153036" y="9779"/>
                  </a:lnTo>
                  <a:lnTo>
                    <a:pt x="152968" y="10036"/>
                  </a:lnTo>
                  <a:lnTo>
                    <a:pt x="153258" y="9779"/>
                  </a:lnTo>
                  <a:lnTo>
                    <a:pt x="153355" y="9608"/>
                  </a:lnTo>
                  <a:close/>
                </a:path>
                <a:path w="175259" h="31750">
                  <a:moveTo>
                    <a:pt x="154648" y="8919"/>
                  </a:moveTo>
                  <a:lnTo>
                    <a:pt x="153355" y="9608"/>
                  </a:lnTo>
                  <a:lnTo>
                    <a:pt x="153544" y="9525"/>
                  </a:lnTo>
                  <a:lnTo>
                    <a:pt x="154137" y="9302"/>
                  </a:lnTo>
                  <a:lnTo>
                    <a:pt x="154648" y="8919"/>
                  </a:lnTo>
                  <a:close/>
                </a:path>
                <a:path w="175259" h="31750">
                  <a:moveTo>
                    <a:pt x="154521" y="9158"/>
                  </a:moveTo>
                  <a:lnTo>
                    <a:pt x="154137" y="9302"/>
                  </a:lnTo>
                  <a:lnTo>
                    <a:pt x="153671" y="9652"/>
                  </a:lnTo>
                  <a:lnTo>
                    <a:pt x="154521" y="9158"/>
                  </a:lnTo>
                  <a:close/>
                </a:path>
                <a:path w="175259" h="31750">
                  <a:moveTo>
                    <a:pt x="154513" y="9170"/>
                  </a:moveTo>
                  <a:lnTo>
                    <a:pt x="153671" y="9652"/>
                  </a:lnTo>
                  <a:lnTo>
                    <a:pt x="154215" y="9652"/>
                  </a:lnTo>
                  <a:lnTo>
                    <a:pt x="154513" y="9170"/>
                  </a:lnTo>
                  <a:close/>
                </a:path>
                <a:path w="175259" h="31750">
                  <a:moveTo>
                    <a:pt x="159386" y="0"/>
                  </a:moveTo>
                  <a:lnTo>
                    <a:pt x="154306" y="3810"/>
                  </a:lnTo>
                  <a:lnTo>
                    <a:pt x="153355" y="9608"/>
                  </a:lnTo>
                  <a:lnTo>
                    <a:pt x="156846" y="7747"/>
                  </a:lnTo>
                  <a:lnTo>
                    <a:pt x="173870" y="7747"/>
                  </a:lnTo>
                  <a:lnTo>
                    <a:pt x="173433" y="4829"/>
                  </a:lnTo>
                  <a:lnTo>
                    <a:pt x="172184" y="3346"/>
                  </a:lnTo>
                  <a:lnTo>
                    <a:pt x="169555" y="1168"/>
                  </a:lnTo>
                  <a:lnTo>
                    <a:pt x="159386" y="0"/>
                  </a:lnTo>
                  <a:close/>
                </a:path>
                <a:path w="175259" h="31750">
                  <a:moveTo>
                    <a:pt x="154679" y="8902"/>
                  </a:moveTo>
                  <a:lnTo>
                    <a:pt x="154137" y="9302"/>
                  </a:lnTo>
                  <a:lnTo>
                    <a:pt x="154530" y="9143"/>
                  </a:lnTo>
                  <a:lnTo>
                    <a:pt x="154679" y="8902"/>
                  </a:lnTo>
                  <a:close/>
                </a:path>
                <a:path w="175259" h="31750">
                  <a:moveTo>
                    <a:pt x="156846" y="7747"/>
                  </a:moveTo>
                  <a:lnTo>
                    <a:pt x="154669" y="8919"/>
                  </a:lnTo>
                  <a:lnTo>
                    <a:pt x="154521" y="9158"/>
                  </a:lnTo>
                  <a:lnTo>
                    <a:pt x="159665" y="9143"/>
                  </a:lnTo>
                  <a:lnTo>
                    <a:pt x="159132" y="8255"/>
                  </a:lnTo>
                  <a:lnTo>
                    <a:pt x="156846" y="7747"/>
                  </a:lnTo>
                  <a:close/>
                </a:path>
                <a:path w="175259" h="31750">
                  <a:moveTo>
                    <a:pt x="153702" y="7493"/>
                  </a:moveTo>
                  <a:lnTo>
                    <a:pt x="45302" y="7498"/>
                  </a:lnTo>
                  <a:lnTo>
                    <a:pt x="44451" y="7619"/>
                  </a:lnTo>
                  <a:lnTo>
                    <a:pt x="153681" y="7619"/>
                  </a:lnTo>
                  <a:close/>
                </a:path>
                <a:path w="175259" h="31750">
                  <a:moveTo>
                    <a:pt x="146899" y="2482"/>
                  </a:moveTo>
                  <a:lnTo>
                    <a:pt x="141606" y="2793"/>
                  </a:lnTo>
                  <a:lnTo>
                    <a:pt x="141225" y="2793"/>
                  </a:lnTo>
                  <a:lnTo>
                    <a:pt x="136907" y="3175"/>
                  </a:lnTo>
                  <a:lnTo>
                    <a:pt x="137288" y="3175"/>
                  </a:lnTo>
                  <a:lnTo>
                    <a:pt x="130430" y="3556"/>
                  </a:lnTo>
                  <a:lnTo>
                    <a:pt x="75693" y="3556"/>
                  </a:lnTo>
                  <a:lnTo>
                    <a:pt x="68835" y="3937"/>
                  </a:lnTo>
                  <a:lnTo>
                    <a:pt x="67819" y="4063"/>
                  </a:lnTo>
                  <a:lnTo>
                    <a:pt x="45250" y="7498"/>
                  </a:lnTo>
                  <a:lnTo>
                    <a:pt x="153702" y="7493"/>
                  </a:lnTo>
                  <a:lnTo>
                    <a:pt x="154306" y="3810"/>
                  </a:lnTo>
                  <a:lnTo>
                    <a:pt x="155830" y="2667"/>
                  </a:lnTo>
                  <a:lnTo>
                    <a:pt x="146051" y="2667"/>
                  </a:lnTo>
                  <a:lnTo>
                    <a:pt x="146899" y="2482"/>
                  </a:lnTo>
                  <a:close/>
                </a:path>
                <a:path w="175259" h="31750">
                  <a:moveTo>
                    <a:pt x="172184" y="3346"/>
                  </a:moveTo>
                  <a:lnTo>
                    <a:pt x="173433" y="4829"/>
                  </a:lnTo>
                  <a:lnTo>
                    <a:pt x="173356" y="4318"/>
                  </a:lnTo>
                  <a:lnTo>
                    <a:pt x="172184" y="3346"/>
                  </a:lnTo>
                  <a:close/>
                </a:path>
                <a:path w="175259" h="31750">
                  <a:moveTo>
                    <a:pt x="130938" y="3429"/>
                  </a:moveTo>
                  <a:lnTo>
                    <a:pt x="126239" y="3556"/>
                  </a:lnTo>
                  <a:lnTo>
                    <a:pt x="130430" y="3556"/>
                  </a:lnTo>
                  <a:lnTo>
                    <a:pt x="130938" y="3429"/>
                  </a:lnTo>
                  <a:close/>
                </a:path>
                <a:path w="175259" h="31750">
                  <a:moveTo>
                    <a:pt x="169555" y="1168"/>
                  </a:moveTo>
                  <a:lnTo>
                    <a:pt x="172184" y="3346"/>
                  </a:lnTo>
                  <a:lnTo>
                    <a:pt x="170435" y="1269"/>
                  </a:lnTo>
                  <a:lnTo>
                    <a:pt x="169555" y="1168"/>
                  </a:lnTo>
                  <a:close/>
                </a:path>
                <a:path w="175259" h="31750">
                  <a:moveTo>
                    <a:pt x="148083" y="2412"/>
                  </a:moveTo>
                  <a:lnTo>
                    <a:pt x="146899" y="2482"/>
                  </a:lnTo>
                  <a:lnTo>
                    <a:pt x="146051" y="2667"/>
                  </a:lnTo>
                  <a:lnTo>
                    <a:pt x="148083" y="2412"/>
                  </a:lnTo>
                  <a:close/>
                </a:path>
                <a:path w="175259" h="31750">
                  <a:moveTo>
                    <a:pt x="156169" y="2412"/>
                  </a:moveTo>
                  <a:lnTo>
                    <a:pt x="148083" y="2412"/>
                  </a:lnTo>
                  <a:lnTo>
                    <a:pt x="146051" y="2667"/>
                  </a:lnTo>
                  <a:lnTo>
                    <a:pt x="155830" y="2667"/>
                  </a:lnTo>
                  <a:lnTo>
                    <a:pt x="156169" y="2412"/>
                  </a:lnTo>
                  <a:close/>
                </a:path>
                <a:path w="175259" h="31750">
                  <a:moveTo>
                    <a:pt x="158539" y="635"/>
                  </a:moveTo>
                  <a:lnTo>
                    <a:pt x="158243" y="635"/>
                  </a:lnTo>
                  <a:lnTo>
                    <a:pt x="155068" y="1016"/>
                  </a:lnTo>
                  <a:lnTo>
                    <a:pt x="154433" y="1143"/>
                  </a:lnTo>
                  <a:lnTo>
                    <a:pt x="152274" y="1397"/>
                  </a:lnTo>
                  <a:lnTo>
                    <a:pt x="152528" y="1397"/>
                  </a:lnTo>
                  <a:lnTo>
                    <a:pt x="149988" y="1778"/>
                  </a:lnTo>
                  <a:lnTo>
                    <a:pt x="148972" y="2031"/>
                  </a:lnTo>
                  <a:lnTo>
                    <a:pt x="146899" y="2482"/>
                  </a:lnTo>
                  <a:lnTo>
                    <a:pt x="148083" y="2412"/>
                  </a:lnTo>
                  <a:lnTo>
                    <a:pt x="156169" y="2412"/>
                  </a:lnTo>
                  <a:lnTo>
                    <a:pt x="158539" y="635"/>
                  </a:lnTo>
                  <a:close/>
                </a:path>
                <a:path w="175259" h="31750">
                  <a:moveTo>
                    <a:pt x="168911" y="635"/>
                  </a:moveTo>
                  <a:lnTo>
                    <a:pt x="164911" y="635"/>
                  </a:lnTo>
                  <a:lnTo>
                    <a:pt x="169555" y="1168"/>
                  </a:lnTo>
                  <a:lnTo>
                    <a:pt x="168911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37477" y="3589782"/>
              <a:ext cx="223520" cy="36195"/>
            </a:xfrm>
            <a:custGeom>
              <a:avLst/>
              <a:gdLst/>
              <a:ahLst/>
              <a:cxnLst/>
              <a:rect l="l" t="t" r="r" b="b"/>
              <a:pathLst>
                <a:path w="223520" h="36195">
                  <a:moveTo>
                    <a:pt x="7366" y="10287"/>
                  </a:moveTo>
                  <a:lnTo>
                    <a:pt x="2286" y="13843"/>
                  </a:lnTo>
                  <a:lnTo>
                    <a:pt x="0" y="24511"/>
                  </a:lnTo>
                  <a:lnTo>
                    <a:pt x="3428" y="29718"/>
                  </a:lnTo>
                  <a:lnTo>
                    <a:pt x="20827" y="33909"/>
                  </a:lnTo>
                  <a:lnTo>
                    <a:pt x="21463" y="34036"/>
                  </a:lnTo>
                  <a:lnTo>
                    <a:pt x="32639" y="35814"/>
                  </a:lnTo>
                  <a:lnTo>
                    <a:pt x="34925" y="36068"/>
                  </a:lnTo>
                  <a:lnTo>
                    <a:pt x="41021" y="35687"/>
                  </a:lnTo>
                  <a:lnTo>
                    <a:pt x="42164" y="35560"/>
                  </a:lnTo>
                  <a:lnTo>
                    <a:pt x="47831" y="34671"/>
                  </a:lnTo>
                  <a:lnTo>
                    <a:pt x="47498" y="34671"/>
                  </a:lnTo>
                  <a:lnTo>
                    <a:pt x="48641" y="34544"/>
                  </a:lnTo>
                  <a:lnTo>
                    <a:pt x="50927" y="34544"/>
                  </a:lnTo>
                  <a:lnTo>
                    <a:pt x="54355" y="34417"/>
                  </a:lnTo>
                  <a:lnTo>
                    <a:pt x="55372" y="34290"/>
                  </a:lnTo>
                  <a:lnTo>
                    <a:pt x="62611" y="33274"/>
                  </a:lnTo>
                  <a:lnTo>
                    <a:pt x="61975" y="33274"/>
                  </a:lnTo>
                  <a:lnTo>
                    <a:pt x="98805" y="29845"/>
                  </a:lnTo>
                  <a:lnTo>
                    <a:pt x="98425" y="29845"/>
                  </a:lnTo>
                  <a:lnTo>
                    <a:pt x="122174" y="28448"/>
                  </a:lnTo>
                  <a:lnTo>
                    <a:pt x="122681" y="28448"/>
                  </a:lnTo>
                  <a:lnTo>
                    <a:pt x="132333" y="27432"/>
                  </a:lnTo>
                  <a:lnTo>
                    <a:pt x="131952" y="27432"/>
                  </a:lnTo>
                  <a:lnTo>
                    <a:pt x="156337" y="26035"/>
                  </a:lnTo>
                  <a:lnTo>
                    <a:pt x="156845" y="26035"/>
                  </a:lnTo>
                  <a:lnTo>
                    <a:pt x="185927" y="23241"/>
                  </a:lnTo>
                  <a:lnTo>
                    <a:pt x="185547" y="23241"/>
                  </a:lnTo>
                  <a:lnTo>
                    <a:pt x="192024" y="22860"/>
                  </a:lnTo>
                  <a:lnTo>
                    <a:pt x="192786" y="22733"/>
                  </a:lnTo>
                  <a:lnTo>
                    <a:pt x="197154" y="22225"/>
                  </a:lnTo>
                  <a:lnTo>
                    <a:pt x="196723" y="22225"/>
                  </a:lnTo>
                  <a:lnTo>
                    <a:pt x="198247" y="22098"/>
                  </a:lnTo>
                  <a:lnTo>
                    <a:pt x="215735" y="22098"/>
                  </a:lnTo>
                  <a:lnTo>
                    <a:pt x="219201" y="20066"/>
                  </a:lnTo>
                  <a:lnTo>
                    <a:pt x="221106" y="16637"/>
                  </a:lnTo>
                  <a:lnTo>
                    <a:pt x="222010" y="15113"/>
                  </a:lnTo>
                  <a:lnTo>
                    <a:pt x="36068" y="15113"/>
                  </a:lnTo>
                  <a:lnTo>
                    <a:pt x="33654" y="14986"/>
                  </a:lnTo>
                  <a:lnTo>
                    <a:pt x="34814" y="14913"/>
                  </a:lnTo>
                  <a:lnTo>
                    <a:pt x="25690" y="13462"/>
                  </a:lnTo>
                  <a:lnTo>
                    <a:pt x="25019" y="13462"/>
                  </a:lnTo>
                  <a:lnTo>
                    <a:pt x="7366" y="10287"/>
                  </a:lnTo>
                  <a:close/>
                </a:path>
                <a:path w="223520" h="36195">
                  <a:moveTo>
                    <a:pt x="48641" y="34544"/>
                  </a:moveTo>
                  <a:lnTo>
                    <a:pt x="47498" y="34671"/>
                  </a:lnTo>
                  <a:lnTo>
                    <a:pt x="47934" y="34654"/>
                  </a:lnTo>
                  <a:lnTo>
                    <a:pt x="48641" y="34544"/>
                  </a:lnTo>
                  <a:close/>
                </a:path>
                <a:path w="223520" h="36195">
                  <a:moveTo>
                    <a:pt x="50927" y="34544"/>
                  </a:moveTo>
                  <a:lnTo>
                    <a:pt x="48641" y="34544"/>
                  </a:lnTo>
                  <a:lnTo>
                    <a:pt x="47934" y="34654"/>
                  </a:lnTo>
                  <a:lnTo>
                    <a:pt x="50927" y="34544"/>
                  </a:lnTo>
                  <a:close/>
                </a:path>
                <a:path w="223520" h="36195">
                  <a:moveTo>
                    <a:pt x="198247" y="22098"/>
                  </a:moveTo>
                  <a:lnTo>
                    <a:pt x="196723" y="22225"/>
                  </a:lnTo>
                  <a:lnTo>
                    <a:pt x="197154" y="22225"/>
                  </a:lnTo>
                  <a:lnTo>
                    <a:pt x="198247" y="22098"/>
                  </a:lnTo>
                  <a:close/>
                </a:path>
                <a:path w="223520" h="36195">
                  <a:moveTo>
                    <a:pt x="215735" y="22098"/>
                  </a:moveTo>
                  <a:lnTo>
                    <a:pt x="198247" y="22098"/>
                  </a:lnTo>
                  <a:lnTo>
                    <a:pt x="197154" y="22225"/>
                  </a:lnTo>
                  <a:lnTo>
                    <a:pt x="215519" y="22225"/>
                  </a:lnTo>
                  <a:lnTo>
                    <a:pt x="215735" y="22098"/>
                  </a:lnTo>
                  <a:close/>
                </a:path>
                <a:path w="223520" h="36195">
                  <a:moveTo>
                    <a:pt x="34814" y="14913"/>
                  </a:moveTo>
                  <a:lnTo>
                    <a:pt x="33654" y="14986"/>
                  </a:lnTo>
                  <a:lnTo>
                    <a:pt x="36068" y="15113"/>
                  </a:lnTo>
                  <a:lnTo>
                    <a:pt x="34814" y="14913"/>
                  </a:lnTo>
                  <a:close/>
                </a:path>
                <a:path w="223520" h="36195">
                  <a:moveTo>
                    <a:pt x="39292" y="14633"/>
                  </a:moveTo>
                  <a:lnTo>
                    <a:pt x="34814" y="14913"/>
                  </a:lnTo>
                  <a:lnTo>
                    <a:pt x="36068" y="15113"/>
                  </a:lnTo>
                  <a:lnTo>
                    <a:pt x="222010" y="15113"/>
                  </a:lnTo>
                  <a:lnTo>
                    <a:pt x="222235" y="14732"/>
                  </a:lnTo>
                  <a:lnTo>
                    <a:pt x="38734" y="14732"/>
                  </a:lnTo>
                  <a:lnTo>
                    <a:pt x="39292" y="14633"/>
                  </a:lnTo>
                  <a:close/>
                </a:path>
                <a:path w="223520" h="36195">
                  <a:moveTo>
                    <a:pt x="39750" y="14605"/>
                  </a:moveTo>
                  <a:lnTo>
                    <a:pt x="39292" y="14633"/>
                  </a:lnTo>
                  <a:lnTo>
                    <a:pt x="38734" y="14732"/>
                  </a:lnTo>
                  <a:lnTo>
                    <a:pt x="39750" y="14605"/>
                  </a:lnTo>
                  <a:close/>
                </a:path>
                <a:path w="223520" h="36195">
                  <a:moveTo>
                    <a:pt x="222311" y="14605"/>
                  </a:moveTo>
                  <a:lnTo>
                    <a:pt x="39750" y="14605"/>
                  </a:lnTo>
                  <a:lnTo>
                    <a:pt x="38734" y="14732"/>
                  </a:lnTo>
                  <a:lnTo>
                    <a:pt x="222235" y="14732"/>
                  </a:lnTo>
                  <a:close/>
                </a:path>
                <a:path w="223520" h="36195">
                  <a:moveTo>
                    <a:pt x="190753" y="762"/>
                  </a:moveTo>
                  <a:lnTo>
                    <a:pt x="184276" y="1143"/>
                  </a:lnTo>
                  <a:lnTo>
                    <a:pt x="183769" y="1143"/>
                  </a:lnTo>
                  <a:lnTo>
                    <a:pt x="165480" y="3048"/>
                  </a:lnTo>
                  <a:lnTo>
                    <a:pt x="154558" y="4064"/>
                  </a:lnTo>
                  <a:lnTo>
                    <a:pt x="155067" y="4064"/>
                  </a:lnTo>
                  <a:lnTo>
                    <a:pt x="130555" y="5461"/>
                  </a:lnTo>
                  <a:lnTo>
                    <a:pt x="129921" y="5588"/>
                  </a:lnTo>
                  <a:lnTo>
                    <a:pt x="120269" y="6731"/>
                  </a:lnTo>
                  <a:lnTo>
                    <a:pt x="120903" y="6731"/>
                  </a:lnTo>
                  <a:lnTo>
                    <a:pt x="97154" y="8128"/>
                  </a:lnTo>
                  <a:lnTo>
                    <a:pt x="96647" y="8255"/>
                  </a:lnTo>
                  <a:lnTo>
                    <a:pt x="85851" y="9271"/>
                  </a:lnTo>
                  <a:lnTo>
                    <a:pt x="67182" y="11176"/>
                  </a:lnTo>
                  <a:lnTo>
                    <a:pt x="59817" y="11938"/>
                  </a:lnTo>
                  <a:lnTo>
                    <a:pt x="59436" y="12065"/>
                  </a:lnTo>
                  <a:lnTo>
                    <a:pt x="52197" y="13081"/>
                  </a:lnTo>
                  <a:lnTo>
                    <a:pt x="53213" y="13081"/>
                  </a:lnTo>
                  <a:lnTo>
                    <a:pt x="46354" y="13462"/>
                  </a:lnTo>
                  <a:lnTo>
                    <a:pt x="45212" y="13589"/>
                  </a:lnTo>
                  <a:lnTo>
                    <a:pt x="39292" y="14633"/>
                  </a:lnTo>
                  <a:lnTo>
                    <a:pt x="39750" y="14605"/>
                  </a:lnTo>
                  <a:lnTo>
                    <a:pt x="222311" y="14605"/>
                  </a:lnTo>
                  <a:lnTo>
                    <a:pt x="223063" y="13335"/>
                  </a:lnTo>
                  <a:lnTo>
                    <a:pt x="223139" y="9017"/>
                  </a:lnTo>
                  <a:lnTo>
                    <a:pt x="221038" y="5461"/>
                  </a:lnTo>
                  <a:lnTo>
                    <a:pt x="219201" y="2032"/>
                  </a:lnTo>
                  <a:lnTo>
                    <a:pt x="217130" y="889"/>
                  </a:lnTo>
                  <a:lnTo>
                    <a:pt x="189865" y="889"/>
                  </a:lnTo>
                  <a:lnTo>
                    <a:pt x="190753" y="762"/>
                  </a:lnTo>
                  <a:close/>
                </a:path>
                <a:path w="223520" h="36195">
                  <a:moveTo>
                    <a:pt x="24892" y="13335"/>
                  </a:moveTo>
                  <a:lnTo>
                    <a:pt x="25019" y="13462"/>
                  </a:lnTo>
                  <a:lnTo>
                    <a:pt x="25690" y="13462"/>
                  </a:lnTo>
                  <a:lnTo>
                    <a:pt x="24892" y="13335"/>
                  </a:lnTo>
                  <a:close/>
                </a:path>
                <a:path w="223520" h="36195">
                  <a:moveTo>
                    <a:pt x="215519" y="0"/>
                  </a:moveTo>
                  <a:lnTo>
                    <a:pt x="196723" y="0"/>
                  </a:lnTo>
                  <a:lnTo>
                    <a:pt x="195325" y="127"/>
                  </a:lnTo>
                  <a:lnTo>
                    <a:pt x="189865" y="889"/>
                  </a:lnTo>
                  <a:lnTo>
                    <a:pt x="217130" y="889"/>
                  </a:lnTo>
                  <a:lnTo>
                    <a:pt x="2155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79410" y="3437001"/>
              <a:ext cx="194818" cy="2159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87843" y="3433571"/>
              <a:ext cx="140334" cy="20701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40371" y="3352165"/>
              <a:ext cx="354964" cy="4254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04859" y="3334384"/>
              <a:ext cx="389661" cy="476249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5CC087D-2AB3-0533-43FF-11D48C7FD1BC}"/>
                </a:ext>
              </a:extLst>
            </p:cNvPr>
            <p:cNvGrpSpPr/>
            <p:nvPr/>
          </p:nvGrpSpPr>
          <p:grpSpPr>
            <a:xfrm>
              <a:off x="5798863" y="3215059"/>
              <a:ext cx="802449" cy="546989"/>
              <a:chOff x="5831522" y="3181350"/>
              <a:chExt cx="802449" cy="546989"/>
            </a:xfrm>
          </p:grpSpPr>
          <p:grpSp>
            <p:nvGrpSpPr>
              <p:cNvPr id="14" name="object 14"/>
              <p:cNvGrpSpPr/>
              <p:nvPr/>
            </p:nvGrpSpPr>
            <p:grpSpPr>
              <a:xfrm>
                <a:off x="5954776" y="3316351"/>
                <a:ext cx="679195" cy="411988"/>
                <a:chOff x="5954776" y="3316351"/>
                <a:chExt cx="679195" cy="411988"/>
              </a:xfrm>
            </p:grpSpPr>
            <p:pic>
              <p:nvPicPr>
                <p:cNvPr id="15" name="object 15"/>
                <p:cNvPicPr/>
                <p:nvPr/>
              </p:nvPicPr>
              <p:blipFill>
                <a:blip r:embed="rId25" cstate="print"/>
                <a:stretch>
                  <a:fillRect/>
                </a:stretch>
              </p:blipFill>
              <p:spPr>
                <a:xfrm>
                  <a:off x="6364732" y="3336671"/>
                  <a:ext cx="269239" cy="214630"/>
                </a:xfrm>
                <a:prstGeom prst="rect">
                  <a:avLst/>
                </a:prstGeom>
              </p:spPr>
            </p:pic>
            <p:pic>
              <p:nvPicPr>
                <p:cNvPr id="16" name="object 16"/>
                <p:cNvPicPr/>
                <p:nvPr/>
              </p:nvPicPr>
              <p:blipFill>
                <a:blip r:embed="rId26" cstate="print"/>
                <a:stretch>
                  <a:fillRect/>
                </a:stretch>
              </p:blipFill>
              <p:spPr>
                <a:xfrm>
                  <a:off x="5954776" y="3316351"/>
                  <a:ext cx="385825" cy="411988"/>
                </a:xfrm>
                <a:prstGeom prst="rect">
                  <a:avLst/>
                </a:prstGeom>
              </p:spPr>
            </p:pic>
          </p:grp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F627646-B6E0-6E1F-2260-5742B23097FB}"/>
                  </a:ext>
                </a:extLst>
              </p:cNvPr>
              <p:cNvSpPr/>
              <p:nvPr/>
            </p:nvSpPr>
            <p:spPr>
              <a:xfrm>
                <a:off x="5831522" y="3181350"/>
                <a:ext cx="320357" cy="36995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55B3017-C549-A29A-ACC4-804BC90F9649}"/>
              </a:ext>
            </a:extLst>
          </p:cNvPr>
          <p:cNvCxnSpPr/>
          <p:nvPr/>
        </p:nvCxnSpPr>
        <p:spPr>
          <a:xfrm>
            <a:off x="4191000" y="1962150"/>
            <a:ext cx="1415402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93B6857-1867-2E0A-A917-70BA10AD92AE}"/>
              </a:ext>
            </a:extLst>
          </p:cNvPr>
          <p:cNvSpPr txBox="1"/>
          <p:nvPr/>
        </p:nvSpPr>
        <p:spPr>
          <a:xfrm>
            <a:off x="7090444" y="3842232"/>
            <a:ext cx="194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3rd value of </a:t>
            </a:r>
          </a:p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2nd training </a:t>
            </a:r>
          </a:p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of the</a:t>
            </a:r>
          </a:p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feature X3</a:t>
            </a: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D63FC046-7A9D-1AA8-4C2C-3EE9CF16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84171" y="4851206"/>
            <a:ext cx="247523" cy="273844"/>
          </a:xfrm>
        </p:spPr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90" y="189237"/>
            <a:ext cx="6736970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GB" sz="3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Multiple Features </a:t>
            </a:r>
            <a:endParaRPr sz="3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0D02A4-BEC1-ED50-75BA-D69895BFF83F}"/>
              </a:ext>
            </a:extLst>
          </p:cNvPr>
          <p:cNvGrpSpPr/>
          <p:nvPr/>
        </p:nvGrpSpPr>
        <p:grpSpPr>
          <a:xfrm>
            <a:off x="358587" y="897254"/>
            <a:ext cx="4115307" cy="382797"/>
            <a:chOff x="1232916" y="1071880"/>
            <a:chExt cx="4115307" cy="382797"/>
          </a:xfrm>
        </p:grpSpPr>
        <p:sp>
          <p:nvSpPr>
            <p:cNvPr id="3" name="object 3"/>
            <p:cNvSpPr txBox="1"/>
            <p:nvPr/>
          </p:nvSpPr>
          <p:spPr>
            <a:xfrm>
              <a:off x="1232916" y="1071880"/>
              <a:ext cx="2372360" cy="38279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Previously:</a:t>
              </a:r>
              <a:r>
                <a:rPr sz="24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sz="2400" spc="-15" baseline="-179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𝑤,𝑏</a:t>
              </a:r>
              <a:endParaRPr sz="2400" baseline="-1797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610990" y="1162938"/>
              <a:ext cx="368300" cy="282575"/>
            </a:xfrm>
            <a:custGeom>
              <a:avLst/>
              <a:gdLst/>
              <a:ahLst/>
              <a:cxnLst/>
              <a:rect l="l" t="t" r="r" b="b"/>
              <a:pathLst>
                <a:path w="368300" h="282575">
                  <a:moveTo>
                    <a:pt x="278130" y="0"/>
                  </a:moveTo>
                  <a:lnTo>
                    <a:pt x="274066" y="11430"/>
                  </a:lnTo>
                  <a:lnTo>
                    <a:pt x="290447" y="18522"/>
                  </a:lnTo>
                  <a:lnTo>
                    <a:pt x="304530" y="28352"/>
                  </a:lnTo>
                  <a:lnTo>
                    <a:pt x="333069" y="73852"/>
                  </a:lnTo>
                  <a:lnTo>
                    <a:pt x="341364" y="115623"/>
                  </a:lnTo>
                  <a:lnTo>
                    <a:pt x="342392" y="139700"/>
                  </a:lnTo>
                  <a:lnTo>
                    <a:pt x="341346" y="164633"/>
                  </a:lnTo>
                  <a:lnTo>
                    <a:pt x="333015" y="207547"/>
                  </a:lnTo>
                  <a:lnTo>
                    <a:pt x="304546" y="253841"/>
                  </a:lnTo>
                  <a:lnTo>
                    <a:pt x="274574" y="270890"/>
                  </a:lnTo>
                  <a:lnTo>
                    <a:pt x="278130" y="282321"/>
                  </a:lnTo>
                  <a:lnTo>
                    <a:pt x="316626" y="264239"/>
                  </a:lnTo>
                  <a:lnTo>
                    <a:pt x="344932" y="232918"/>
                  </a:lnTo>
                  <a:lnTo>
                    <a:pt x="362362" y="191119"/>
                  </a:lnTo>
                  <a:lnTo>
                    <a:pt x="368173" y="141224"/>
                  </a:lnTo>
                  <a:lnTo>
                    <a:pt x="366720" y="115341"/>
                  </a:lnTo>
                  <a:lnTo>
                    <a:pt x="355099" y="69482"/>
                  </a:lnTo>
                  <a:lnTo>
                    <a:pt x="331976" y="32146"/>
                  </a:lnTo>
                  <a:lnTo>
                    <a:pt x="298586" y="7381"/>
                  </a:lnTo>
                  <a:lnTo>
                    <a:pt x="278130" y="0"/>
                  </a:lnTo>
                  <a:close/>
                </a:path>
                <a:path w="368300" h="282575">
                  <a:moveTo>
                    <a:pt x="90043" y="0"/>
                  </a:moveTo>
                  <a:lnTo>
                    <a:pt x="51641" y="18097"/>
                  </a:lnTo>
                  <a:lnTo>
                    <a:pt x="23241" y="49530"/>
                  </a:lnTo>
                  <a:lnTo>
                    <a:pt x="5810" y="91424"/>
                  </a:lnTo>
                  <a:lnTo>
                    <a:pt x="0" y="141224"/>
                  </a:lnTo>
                  <a:lnTo>
                    <a:pt x="1452" y="167177"/>
                  </a:lnTo>
                  <a:lnTo>
                    <a:pt x="13073" y="213036"/>
                  </a:lnTo>
                  <a:lnTo>
                    <a:pt x="36125" y="250227"/>
                  </a:lnTo>
                  <a:lnTo>
                    <a:pt x="69514" y="274941"/>
                  </a:lnTo>
                  <a:lnTo>
                    <a:pt x="90043" y="282321"/>
                  </a:lnTo>
                  <a:lnTo>
                    <a:pt x="93599" y="270890"/>
                  </a:lnTo>
                  <a:lnTo>
                    <a:pt x="77529" y="263771"/>
                  </a:lnTo>
                  <a:lnTo>
                    <a:pt x="63627" y="253841"/>
                  </a:lnTo>
                  <a:lnTo>
                    <a:pt x="35157" y="207547"/>
                  </a:lnTo>
                  <a:lnTo>
                    <a:pt x="26826" y="164633"/>
                  </a:lnTo>
                  <a:lnTo>
                    <a:pt x="25781" y="139700"/>
                  </a:lnTo>
                  <a:lnTo>
                    <a:pt x="26826" y="115623"/>
                  </a:lnTo>
                  <a:lnTo>
                    <a:pt x="35157" y="73852"/>
                  </a:lnTo>
                  <a:lnTo>
                    <a:pt x="63738" y="28352"/>
                  </a:lnTo>
                  <a:lnTo>
                    <a:pt x="94107" y="11430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699128" y="1071880"/>
              <a:ext cx="1649095" cy="38279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  <a:tabLst>
                  <a:tab pos="403225" algn="l"/>
                </a:tabLst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𝑥	=</a:t>
              </a:r>
              <a:r>
                <a:rPr sz="2400" spc="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𝑤𝑥</a:t>
              </a:r>
              <a:r>
                <a:rPr sz="2400" spc="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𝑏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2BC4FBE-56DF-1694-18BF-8E0183451FD0}"/>
              </a:ext>
            </a:extLst>
          </p:cNvPr>
          <p:cNvGrpSpPr/>
          <p:nvPr/>
        </p:nvGrpSpPr>
        <p:grpSpPr>
          <a:xfrm>
            <a:off x="1250449" y="4186300"/>
            <a:ext cx="6620282" cy="489868"/>
            <a:chOff x="1342771" y="3938587"/>
            <a:chExt cx="5307584" cy="489868"/>
          </a:xfrm>
        </p:grpSpPr>
        <p:sp>
          <p:nvSpPr>
            <p:cNvPr id="35" name="object 35"/>
            <p:cNvSpPr txBox="1"/>
            <p:nvPr/>
          </p:nvSpPr>
          <p:spPr>
            <a:xfrm>
              <a:off x="1342771" y="4005262"/>
              <a:ext cx="560705" cy="42319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4000" spc="-15" baseline="11574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𝑓</a:t>
              </a:r>
              <a:r>
                <a:rPr spc="-10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𝑤,𝑏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911095" y="4023817"/>
              <a:ext cx="339725" cy="282575"/>
            </a:xfrm>
            <a:custGeom>
              <a:avLst/>
              <a:gdLst/>
              <a:ahLst/>
              <a:cxnLst/>
              <a:rect l="l" t="t" r="r" b="b"/>
              <a:pathLst>
                <a:path w="339725" h="282575">
                  <a:moveTo>
                    <a:pt x="249681" y="0"/>
                  </a:moveTo>
                  <a:lnTo>
                    <a:pt x="245618" y="11455"/>
                  </a:lnTo>
                  <a:lnTo>
                    <a:pt x="261927" y="18551"/>
                  </a:lnTo>
                  <a:lnTo>
                    <a:pt x="275986" y="28371"/>
                  </a:lnTo>
                  <a:lnTo>
                    <a:pt x="304567" y="73880"/>
                  </a:lnTo>
                  <a:lnTo>
                    <a:pt x="312898" y="115661"/>
                  </a:lnTo>
                  <a:lnTo>
                    <a:pt x="313944" y="139750"/>
                  </a:lnTo>
                  <a:lnTo>
                    <a:pt x="312896" y="164649"/>
                  </a:lnTo>
                  <a:lnTo>
                    <a:pt x="304514" y="207587"/>
                  </a:lnTo>
                  <a:lnTo>
                    <a:pt x="276018" y="253828"/>
                  </a:lnTo>
                  <a:lnTo>
                    <a:pt x="245999" y="270865"/>
                  </a:lnTo>
                  <a:lnTo>
                    <a:pt x="249681" y="282333"/>
                  </a:lnTo>
                  <a:lnTo>
                    <a:pt x="288131" y="264264"/>
                  </a:lnTo>
                  <a:lnTo>
                    <a:pt x="316484" y="232994"/>
                  </a:lnTo>
                  <a:lnTo>
                    <a:pt x="333851" y="191115"/>
                  </a:lnTo>
                  <a:lnTo>
                    <a:pt x="339598" y="141236"/>
                  </a:lnTo>
                  <a:lnTo>
                    <a:pt x="338145" y="115357"/>
                  </a:lnTo>
                  <a:lnTo>
                    <a:pt x="326524" y="69484"/>
                  </a:lnTo>
                  <a:lnTo>
                    <a:pt x="303474" y="32139"/>
                  </a:lnTo>
                  <a:lnTo>
                    <a:pt x="270136" y="7393"/>
                  </a:lnTo>
                  <a:lnTo>
                    <a:pt x="249681" y="0"/>
                  </a:lnTo>
                  <a:close/>
                </a:path>
                <a:path w="339725" h="282575">
                  <a:moveTo>
                    <a:pt x="90043" y="0"/>
                  </a:moveTo>
                  <a:lnTo>
                    <a:pt x="51657" y="18107"/>
                  </a:lnTo>
                  <a:lnTo>
                    <a:pt x="23368" y="49491"/>
                  </a:lnTo>
                  <a:lnTo>
                    <a:pt x="5826" y="91439"/>
                  </a:lnTo>
                  <a:lnTo>
                    <a:pt x="0" y="141236"/>
                  </a:lnTo>
                  <a:lnTo>
                    <a:pt x="1452" y="167175"/>
                  </a:lnTo>
                  <a:lnTo>
                    <a:pt x="13073" y="213056"/>
                  </a:lnTo>
                  <a:lnTo>
                    <a:pt x="36125" y="250279"/>
                  </a:lnTo>
                  <a:lnTo>
                    <a:pt x="69514" y="274949"/>
                  </a:lnTo>
                  <a:lnTo>
                    <a:pt x="90043" y="282333"/>
                  </a:lnTo>
                  <a:lnTo>
                    <a:pt x="93599" y="270865"/>
                  </a:lnTo>
                  <a:lnTo>
                    <a:pt x="77549" y="263743"/>
                  </a:lnTo>
                  <a:lnTo>
                    <a:pt x="63690" y="253828"/>
                  </a:lnTo>
                  <a:lnTo>
                    <a:pt x="35210" y="207587"/>
                  </a:lnTo>
                  <a:lnTo>
                    <a:pt x="26828" y="164649"/>
                  </a:lnTo>
                  <a:lnTo>
                    <a:pt x="25781" y="139750"/>
                  </a:lnTo>
                  <a:lnTo>
                    <a:pt x="26828" y="115661"/>
                  </a:lnTo>
                  <a:lnTo>
                    <a:pt x="35210" y="73880"/>
                  </a:lnTo>
                  <a:lnTo>
                    <a:pt x="63801" y="28371"/>
                  </a:lnTo>
                  <a:lnTo>
                    <a:pt x="94106" y="11455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1972310" y="3938587"/>
              <a:ext cx="4678045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  <a:tabLst>
                  <a:tab pos="400050" algn="l"/>
                  <a:tab pos="2802890" algn="l"/>
                </a:tabLst>
              </a:pPr>
              <a:r>
                <a:rPr sz="2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	</a:t>
              </a: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2800" spc="1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spc="5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800" spc="7" baseline="-17973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800" spc="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800" spc="7" baseline="-179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800" spc="307" baseline="-179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spc="45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800" spc="67" baseline="-17973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800" spc="4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800" spc="67" baseline="-179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800" spc="307" baseline="-179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	⋯</a:t>
              </a:r>
              <a:r>
                <a:rPr sz="2800" spc="-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8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spc="80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800" spc="120" baseline="-17973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𝑛</a:t>
              </a:r>
              <a:r>
                <a:rPr sz="2800" spc="8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800" spc="120" baseline="-179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𝑛</a:t>
              </a:r>
              <a:r>
                <a:rPr sz="2800" spc="315" baseline="-179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8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800" dirty="0">
                  <a:solidFill>
                    <a:srgbClr val="009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𝑏</a:t>
              </a: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7FD40-EF49-2DD9-D354-E28E65862BA6}"/>
              </a:ext>
            </a:extLst>
          </p:cNvPr>
          <p:cNvGrpSpPr/>
          <p:nvPr/>
        </p:nvGrpSpPr>
        <p:grpSpPr>
          <a:xfrm>
            <a:off x="804540" y="1885925"/>
            <a:ext cx="7933397" cy="1877553"/>
            <a:chOff x="929297" y="1760743"/>
            <a:chExt cx="7933397" cy="1877553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6366" y="1760743"/>
              <a:ext cx="429259" cy="4051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9289" y="1958339"/>
              <a:ext cx="109961" cy="165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2329" y="1768601"/>
              <a:ext cx="101092" cy="3975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7530" y="1790064"/>
              <a:ext cx="107823" cy="4127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5464" y="1855089"/>
              <a:ext cx="201168" cy="2731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6639" y="1896745"/>
              <a:ext cx="199262" cy="1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4525" y="1842135"/>
              <a:ext cx="371475" cy="2449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34232" y="1823211"/>
              <a:ext cx="326135" cy="2623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9104" y="1823085"/>
              <a:ext cx="169360" cy="1910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34002" y="1823847"/>
              <a:ext cx="745617" cy="2755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69153" y="1821052"/>
              <a:ext cx="226323" cy="1785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15102" y="1815845"/>
              <a:ext cx="772668" cy="3318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82384" y="1859407"/>
              <a:ext cx="178942" cy="1990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01028" y="1843151"/>
              <a:ext cx="378332" cy="3437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51496" y="1846452"/>
              <a:ext cx="280161" cy="3242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57516" y="1854200"/>
              <a:ext cx="126745" cy="17792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32597" y="1782698"/>
              <a:ext cx="192997" cy="31876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9297" y="2639441"/>
              <a:ext cx="680994" cy="4366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684147" y="2614041"/>
              <a:ext cx="97790" cy="461645"/>
            </a:xfrm>
            <a:custGeom>
              <a:avLst/>
              <a:gdLst/>
              <a:ahLst/>
              <a:cxnLst/>
              <a:rect l="l" t="t" r="r" b="b"/>
              <a:pathLst>
                <a:path w="97789" h="461644">
                  <a:moveTo>
                    <a:pt x="94469" y="454913"/>
                  </a:moveTo>
                  <a:lnTo>
                    <a:pt x="75183" y="454913"/>
                  </a:lnTo>
                  <a:lnTo>
                    <a:pt x="82676" y="461136"/>
                  </a:lnTo>
                  <a:lnTo>
                    <a:pt x="89407" y="460628"/>
                  </a:lnTo>
                  <a:lnTo>
                    <a:pt x="94469" y="454913"/>
                  </a:lnTo>
                  <a:close/>
                </a:path>
                <a:path w="97789" h="461644">
                  <a:moveTo>
                    <a:pt x="70329" y="418719"/>
                  </a:moveTo>
                  <a:lnTo>
                    <a:pt x="43306" y="418719"/>
                  </a:lnTo>
                  <a:lnTo>
                    <a:pt x="43814" y="419481"/>
                  </a:lnTo>
                  <a:lnTo>
                    <a:pt x="45719" y="422782"/>
                  </a:lnTo>
                  <a:lnTo>
                    <a:pt x="46227" y="423544"/>
                  </a:lnTo>
                  <a:lnTo>
                    <a:pt x="52450" y="431800"/>
                  </a:lnTo>
                  <a:lnTo>
                    <a:pt x="52548" y="432053"/>
                  </a:lnTo>
                  <a:lnTo>
                    <a:pt x="70230" y="450850"/>
                  </a:lnTo>
                  <a:lnTo>
                    <a:pt x="73405" y="453644"/>
                  </a:lnTo>
                  <a:lnTo>
                    <a:pt x="74548" y="454659"/>
                  </a:lnTo>
                  <a:lnTo>
                    <a:pt x="76072" y="455675"/>
                  </a:lnTo>
                  <a:lnTo>
                    <a:pt x="75183" y="454913"/>
                  </a:lnTo>
                  <a:lnTo>
                    <a:pt x="94469" y="454913"/>
                  </a:lnTo>
                  <a:lnTo>
                    <a:pt x="97281" y="451738"/>
                  </a:lnTo>
                  <a:lnTo>
                    <a:pt x="96900" y="444881"/>
                  </a:lnTo>
                  <a:lnTo>
                    <a:pt x="92455" y="440944"/>
                  </a:lnTo>
                  <a:lnTo>
                    <a:pt x="89661" y="438276"/>
                  </a:lnTo>
                  <a:lnTo>
                    <a:pt x="89280" y="438022"/>
                  </a:lnTo>
                  <a:lnTo>
                    <a:pt x="87883" y="436879"/>
                  </a:lnTo>
                  <a:lnTo>
                    <a:pt x="84581" y="433831"/>
                  </a:lnTo>
                  <a:lnTo>
                    <a:pt x="84200" y="433450"/>
                  </a:lnTo>
                  <a:lnTo>
                    <a:pt x="82422" y="432053"/>
                  </a:lnTo>
                  <a:lnTo>
                    <a:pt x="78891" y="428751"/>
                  </a:lnTo>
                  <a:lnTo>
                    <a:pt x="77597" y="427481"/>
                  </a:lnTo>
                  <a:lnTo>
                    <a:pt x="77469" y="427481"/>
                  </a:lnTo>
                  <a:lnTo>
                    <a:pt x="72008" y="421004"/>
                  </a:lnTo>
                  <a:lnTo>
                    <a:pt x="70329" y="418719"/>
                  </a:lnTo>
                  <a:close/>
                </a:path>
                <a:path w="97789" h="461644">
                  <a:moveTo>
                    <a:pt x="69722" y="450469"/>
                  </a:moveTo>
                  <a:lnTo>
                    <a:pt x="70164" y="450850"/>
                  </a:lnTo>
                  <a:lnTo>
                    <a:pt x="69722" y="450469"/>
                  </a:lnTo>
                  <a:close/>
                </a:path>
                <a:path w="97789" h="461644">
                  <a:moveTo>
                    <a:pt x="87981" y="436879"/>
                  </a:moveTo>
                  <a:lnTo>
                    <a:pt x="88264" y="437133"/>
                  </a:lnTo>
                  <a:lnTo>
                    <a:pt x="87981" y="436879"/>
                  </a:lnTo>
                  <a:close/>
                </a:path>
                <a:path w="97789" h="461644">
                  <a:moveTo>
                    <a:pt x="82513" y="432053"/>
                  </a:moveTo>
                  <a:lnTo>
                    <a:pt x="82930" y="432434"/>
                  </a:lnTo>
                  <a:lnTo>
                    <a:pt x="82513" y="432053"/>
                  </a:lnTo>
                  <a:close/>
                </a:path>
                <a:path w="97789" h="461644">
                  <a:moveTo>
                    <a:pt x="78612" y="428497"/>
                  </a:moveTo>
                  <a:lnTo>
                    <a:pt x="78866" y="428751"/>
                  </a:lnTo>
                  <a:lnTo>
                    <a:pt x="78612" y="428497"/>
                  </a:lnTo>
                  <a:close/>
                </a:path>
                <a:path w="97789" h="461644">
                  <a:moveTo>
                    <a:pt x="76787" y="426672"/>
                  </a:moveTo>
                  <a:lnTo>
                    <a:pt x="77469" y="427481"/>
                  </a:lnTo>
                  <a:lnTo>
                    <a:pt x="77597" y="427481"/>
                  </a:lnTo>
                  <a:lnTo>
                    <a:pt x="76787" y="426672"/>
                  </a:lnTo>
                  <a:close/>
                </a:path>
                <a:path w="97789" h="461644">
                  <a:moveTo>
                    <a:pt x="76720" y="426592"/>
                  </a:moveTo>
                  <a:close/>
                </a:path>
                <a:path w="97789" h="461644">
                  <a:moveTo>
                    <a:pt x="72095" y="421004"/>
                  </a:moveTo>
                  <a:lnTo>
                    <a:pt x="72389" y="421385"/>
                  </a:lnTo>
                  <a:lnTo>
                    <a:pt x="72095" y="421004"/>
                  </a:lnTo>
                  <a:close/>
                </a:path>
                <a:path w="97789" h="461644">
                  <a:moveTo>
                    <a:pt x="43516" y="419072"/>
                  </a:moveTo>
                  <a:lnTo>
                    <a:pt x="43759" y="419481"/>
                  </a:lnTo>
                  <a:lnTo>
                    <a:pt x="43516" y="419072"/>
                  </a:lnTo>
                  <a:close/>
                </a:path>
                <a:path w="97789" h="461644">
                  <a:moveTo>
                    <a:pt x="43306" y="418719"/>
                  </a:moveTo>
                  <a:lnTo>
                    <a:pt x="43516" y="419072"/>
                  </a:lnTo>
                  <a:lnTo>
                    <a:pt x="43814" y="419481"/>
                  </a:lnTo>
                  <a:lnTo>
                    <a:pt x="43306" y="418719"/>
                  </a:lnTo>
                  <a:close/>
                </a:path>
                <a:path w="97789" h="461644">
                  <a:moveTo>
                    <a:pt x="27163" y="325373"/>
                  </a:moveTo>
                  <a:lnTo>
                    <a:pt x="5714" y="325373"/>
                  </a:lnTo>
                  <a:lnTo>
                    <a:pt x="5841" y="326389"/>
                  </a:lnTo>
                  <a:lnTo>
                    <a:pt x="6350" y="332231"/>
                  </a:lnTo>
                  <a:lnTo>
                    <a:pt x="6476" y="332739"/>
                  </a:lnTo>
                  <a:lnTo>
                    <a:pt x="8508" y="348233"/>
                  </a:lnTo>
                  <a:lnTo>
                    <a:pt x="9651" y="354838"/>
                  </a:lnTo>
                  <a:lnTo>
                    <a:pt x="9778" y="355853"/>
                  </a:lnTo>
                  <a:lnTo>
                    <a:pt x="13334" y="370204"/>
                  </a:lnTo>
                  <a:lnTo>
                    <a:pt x="14096" y="372109"/>
                  </a:lnTo>
                  <a:lnTo>
                    <a:pt x="16509" y="377570"/>
                  </a:lnTo>
                  <a:lnTo>
                    <a:pt x="22859" y="389635"/>
                  </a:lnTo>
                  <a:lnTo>
                    <a:pt x="23240" y="390144"/>
                  </a:lnTo>
                  <a:lnTo>
                    <a:pt x="26034" y="394842"/>
                  </a:lnTo>
                  <a:lnTo>
                    <a:pt x="26542" y="395604"/>
                  </a:lnTo>
                  <a:lnTo>
                    <a:pt x="33654" y="405638"/>
                  </a:lnTo>
                  <a:lnTo>
                    <a:pt x="33781" y="405764"/>
                  </a:lnTo>
                  <a:lnTo>
                    <a:pt x="36956" y="410082"/>
                  </a:lnTo>
                  <a:lnTo>
                    <a:pt x="43516" y="419072"/>
                  </a:lnTo>
                  <a:lnTo>
                    <a:pt x="43306" y="418719"/>
                  </a:lnTo>
                  <a:lnTo>
                    <a:pt x="70329" y="418719"/>
                  </a:lnTo>
                  <a:lnTo>
                    <a:pt x="64134" y="410336"/>
                  </a:lnTo>
                  <a:lnTo>
                    <a:pt x="61975" y="406907"/>
                  </a:lnTo>
                  <a:lnTo>
                    <a:pt x="54736" y="397128"/>
                  </a:lnTo>
                  <a:lnTo>
                    <a:pt x="54609" y="396875"/>
                  </a:lnTo>
                  <a:lnTo>
                    <a:pt x="51307" y="392683"/>
                  </a:lnTo>
                  <a:lnTo>
                    <a:pt x="44775" y="383413"/>
                  </a:lnTo>
                  <a:lnTo>
                    <a:pt x="41782" y="378713"/>
                  </a:lnTo>
                  <a:lnTo>
                    <a:pt x="36271" y="368300"/>
                  </a:lnTo>
                  <a:lnTo>
                    <a:pt x="34622" y="364997"/>
                  </a:lnTo>
                  <a:lnTo>
                    <a:pt x="34416" y="364997"/>
                  </a:lnTo>
                  <a:lnTo>
                    <a:pt x="33654" y="362965"/>
                  </a:lnTo>
                  <a:lnTo>
                    <a:pt x="33900" y="362965"/>
                  </a:lnTo>
                  <a:lnTo>
                    <a:pt x="30733" y="350519"/>
                  </a:lnTo>
                  <a:lnTo>
                    <a:pt x="29912" y="345185"/>
                  </a:lnTo>
                  <a:lnTo>
                    <a:pt x="27739" y="330072"/>
                  </a:lnTo>
                  <a:lnTo>
                    <a:pt x="27163" y="325373"/>
                  </a:lnTo>
                  <a:close/>
                </a:path>
                <a:path w="97789" h="461644">
                  <a:moveTo>
                    <a:pt x="64188" y="410336"/>
                  </a:moveTo>
                  <a:lnTo>
                    <a:pt x="64515" y="410844"/>
                  </a:lnTo>
                  <a:lnTo>
                    <a:pt x="64188" y="410336"/>
                  </a:lnTo>
                  <a:close/>
                </a:path>
                <a:path w="97789" h="461644">
                  <a:moveTo>
                    <a:pt x="51381" y="392683"/>
                  </a:moveTo>
                  <a:lnTo>
                    <a:pt x="51561" y="392938"/>
                  </a:lnTo>
                  <a:lnTo>
                    <a:pt x="51381" y="392683"/>
                  </a:lnTo>
                  <a:close/>
                </a:path>
                <a:path w="97789" h="461644">
                  <a:moveTo>
                    <a:pt x="44322" y="382777"/>
                  </a:moveTo>
                  <a:lnTo>
                    <a:pt x="44703" y="383413"/>
                  </a:lnTo>
                  <a:lnTo>
                    <a:pt x="44322" y="382777"/>
                  </a:lnTo>
                  <a:close/>
                </a:path>
                <a:path w="97789" h="461644">
                  <a:moveTo>
                    <a:pt x="42081" y="379193"/>
                  </a:moveTo>
                  <a:lnTo>
                    <a:pt x="42163" y="379348"/>
                  </a:lnTo>
                  <a:lnTo>
                    <a:pt x="42081" y="379193"/>
                  </a:lnTo>
                  <a:close/>
                </a:path>
                <a:path w="97789" h="461644">
                  <a:moveTo>
                    <a:pt x="41825" y="378713"/>
                  </a:moveTo>
                  <a:lnTo>
                    <a:pt x="42081" y="379193"/>
                  </a:lnTo>
                  <a:lnTo>
                    <a:pt x="41825" y="378713"/>
                  </a:lnTo>
                  <a:close/>
                </a:path>
                <a:path w="97789" h="461644">
                  <a:moveTo>
                    <a:pt x="36067" y="367919"/>
                  </a:moveTo>
                  <a:lnTo>
                    <a:pt x="36194" y="368300"/>
                  </a:lnTo>
                  <a:lnTo>
                    <a:pt x="36067" y="367919"/>
                  </a:lnTo>
                  <a:close/>
                </a:path>
                <a:path w="97789" h="461644">
                  <a:moveTo>
                    <a:pt x="33654" y="362965"/>
                  </a:moveTo>
                  <a:lnTo>
                    <a:pt x="34416" y="364997"/>
                  </a:lnTo>
                  <a:lnTo>
                    <a:pt x="34181" y="364070"/>
                  </a:lnTo>
                  <a:lnTo>
                    <a:pt x="33654" y="362965"/>
                  </a:lnTo>
                  <a:close/>
                </a:path>
                <a:path w="97789" h="461644">
                  <a:moveTo>
                    <a:pt x="34181" y="364070"/>
                  </a:moveTo>
                  <a:lnTo>
                    <a:pt x="34416" y="364997"/>
                  </a:lnTo>
                  <a:lnTo>
                    <a:pt x="34622" y="364997"/>
                  </a:lnTo>
                  <a:lnTo>
                    <a:pt x="34181" y="364070"/>
                  </a:lnTo>
                  <a:close/>
                </a:path>
                <a:path w="97789" h="461644">
                  <a:moveTo>
                    <a:pt x="33900" y="362965"/>
                  </a:moveTo>
                  <a:lnTo>
                    <a:pt x="33654" y="362965"/>
                  </a:lnTo>
                  <a:lnTo>
                    <a:pt x="34181" y="364070"/>
                  </a:lnTo>
                  <a:lnTo>
                    <a:pt x="33900" y="362965"/>
                  </a:lnTo>
                  <a:close/>
                </a:path>
                <a:path w="97789" h="461644">
                  <a:moveTo>
                    <a:pt x="30853" y="350519"/>
                  </a:moveTo>
                  <a:lnTo>
                    <a:pt x="30987" y="351281"/>
                  </a:lnTo>
                  <a:lnTo>
                    <a:pt x="30853" y="350519"/>
                  </a:lnTo>
                  <a:close/>
                </a:path>
                <a:path w="97789" h="461644">
                  <a:moveTo>
                    <a:pt x="29844" y="344804"/>
                  </a:moveTo>
                  <a:lnTo>
                    <a:pt x="29844" y="345185"/>
                  </a:lnTo>
                  <a:lnTo>
                    <a:pt x="29844" y="344804"/>
                  </a:lnTo>
                  <a:close/>
                </a:path>
                <a:path w="97789" h="461644">
                  <a:moveTo>
                    <a:pt x="27685" y="329691"/>
                  </a:moveTo>
                  <a:lnTo>
                    <a:pt x="27685" y="330072"/>
                  </a:lnTo>
                  <a:lnTo>
                    <a:pt x="27685" y="329691"/>
                  </a:lnTo>
                  <a:close/>
                </a:path>
                <a:path w="97789" h="461644">
                  <a:moveTo>
                    <a:pt x="5777" y="326050"/>
                  </a:moveTo>
                  <a:lnTo>
                    <a:pt x="5809" y="326389"/>
                  </a:lnTo>
                  <a:lnTo>
                    <a:pt x="5777" y="326050"/>
                  </a:lnTo>
                  <a:close/>
                </a:path>
                <a:path w="97789" h="461644">
                  <a:moveTo>
                    <a:pt x="26776" y="179958"/>
                  </a:moveTo>
                  <a:lnTo>
                    <a:pt x="6222" y="179958"/>
                  </a:lnTo>
                  <a:lnTo>
                    <a:pt x="3936" y="193928"/>
                  </a:lnTo>
                  <a:lnTo>
                    <a:pt x="3936" y="194182"/>
                  </a:lnTo>
                  <a:lnTo>
                    <a:pt x="2793" y="203200"/>
                  </a:lnTo>
                  <a:lnTo>
                    <a:pt x="2793" y="203707"/>
                  </a:lnTo>
                  <a:lnTo>
                    <a:pt x="1650" y="216661"/>
                  </a:lnTo>
                  <a:lnTo>
                    <a:pt x="634" y="225678"/>
                  </a:lnTo>
                  <a:lnTo>
                    <a:pt x="507" y="226567"/>
                  </a:lnTo>
                  <a:lnTo>
                    <a:pt x="126" y="240664"/>
                  </a:lnTo>
                  <a:lnTo>
                    <a:pt x="0" y="267842"/>
                  </a:lnTo>
                  <a:lnTo>
                    <a:pt x="380" y="283209"/>
                  </a:lnTo>
                  <a:lnTo>
                    <a:pt x="658" y="287654"/>
                  </a:lnTo>
                  <a:lnTo>
                    <a:pt x="761" y="289813"/>
                  </a:lnTo>
                  <a:lnTo>
                    <a:pt x="2793" y="310769"/>
                  </a:lnTo>
                  <a:lnTo>
                    <a:pt x="3047" y="311657"/>
                  </a:lnTo>
                  <a:lnTo>
                    <a:pt x="5777" y="326050"/>
                  </a:lnTo>
                  <a:lnTo>
                    <a:pt x="5714" y="325373"/>
                  </a:lnTo>
                  <a:lnTo>
                    <a:pt x="27163" y="325373"/>
                  </a:lnTo>
                  <a:lnTo>
                    <a:pt x="26923" y="323214"/>
                  </a:lnTo>
                  <a:lnTo>
                    <a:pt x="26796" y="322325"/>
                  </a:lnTo>
                  <a:lnTo>
                    <a:pt x="24027" y="308356"/>
                  </a:lnTo>
                  <a:lnTo>
                    <a:pt x="23270" y="302132"/>
                  </a:lnTo>
                  <a:lnTo>
                    <a:pt x="21880" y="288035"/>
                  </a:lnTo>
                  <a:lnTo>
                    <a:pt x="21542" y="283209"/>
                  </a:lnTo>
                  <a:lnTo>
                    <a:pt x="21462" y="282447"/>
                  </a:lnTo>
                  <a:lnTo>
                    <a:pt x="21088" y="267842"/>
                  </a:lnTo>
                  <a:lnTo>
                    <a:pt x="20962" y="241172"/>
                  </a:lnTo>
                  <a:lnTo>
                    <a:pt x="21311" y="227964"/>
                  </a:lnTo>
                  <a:lnTo>
                    <a:pt x="21586" y="225678"/>
                  </a:lnTo>
                  <a:lnTo>
                    <a:pt x="22351" y="218694"/>
                  </a:lnTo>
                  <a:lnTo>
                    <a:pt x="22351" y="218312"/>
                  </a:lnTo>
                  <a:lnTo>
                    <a:pt x="23461" y="205739"/>
                  </a:lnTo>
                  <a:lnTo>
                    <a:pt x="24341" y="197103"/>
                  </a:lnTo>
                  <a:lnTo>
                    <a:pt x="24442" y="196722"/>
                  </a:lnTo>
                  <a:lnTo>
                    <a:pt x="26542" y="183006"/>
                  </a:lnTo>
                  <a:lnTo>
                    <a:pt x="26542" y="182371"/>
                  </a:lnTo>
                  <a:lnTo>
                    <a:pt x="26776" y="179958"/>
                  </a:lnTo>
                  <a:close/>
                </a:path>
                <a:path w="97789" h="461644">
                  <a:moveTo>
                    <a:pt x="23967" y="308057"/>
                  </a:moveTo>
                  <a:lnTo>
                    <a:pt x="24002" y="308356"/>
                  </a:lnTo>
                  <a:lnTo>
                    <a:pt x="23967" y="308057"/>
                  </a:lnTo>
                  <a:close/>
                </a:path>
                <a:path w="97789" h="461644">
                  <a:moveTo>
                    <a:pt x="23913" y="307594"/>
                  </a:moveTo>
                  <a:lnTo>
                    <a:pt x="23967" y="308057"/>
                  </a:lnTo>
                  <a:lnTo>
                    <a:pt x="23913" y="307594"/>
                  </a:lnTo>
                  <a:close/>
                </a:path>
                <a:path w="97789" h="461644">
                  <a:moveTo>
                    <a:pt x="23240" y="301878"/>
                  </a:moveTo>
                  <a:lnTo>
                    <a:pt x="23240" y="302132"/>
                  </a:lnTo>
                  <a:lnTo>
                    <a:pt x="23240" y="301878"/>
                  </a:lnTo>
                  <a:close/>
                </a:path>
                <a:path w="97789" h="461644">
                  <a:moveTo>
                    <a:pt x="21843" y="287654"/>
                  </a:moveTo>
                  <a:lnTo>
                    <a:pt x="21843" y="288035"/>
                  </a:lnTo>
                  <a:lnTo>
                    <a:pt x="21843" y="287654"/>
                  </a:lnTo>
                  <a:close/>
                </a:path>
                <a:path w="97789" h="461644">
                  <a:moveTo>
                    <a:pt x="21462" y="281939"/>
                  </a:moveTo>
                  <a:lnTo>
                    <a:pt x="21462" y="282447"/>
                  </a:lnTo>
                  <a:lnTo>
                    <a:pt x="21462" y="281939"/>
                  </a:lnTo>
                  <a:close/>
                </a:path>
                <a:path w="97789" h="461644">
                  <a:moveTo>
                    <a:pt x="21433" y="227075"/>
                  </a:moveTo>
                  <a:lnTo>
                    <a:pt x="21335" y="227964"/>
                  </a:lnTo>
                  <a:lnTo>
                    <a:pt x="21433" y="227075"/>
                  </a:lnTo>
                  <a:close/>
                </a:path>
                <a:path w="97789" h="461644">
                  <a:moveTo>
                    <a:pt x="1650" y="216281"/>
                  </a:moveTo>
                  <a:lnTo>
                    <a:pt x="1609" y="216661"/>
                  </a:lnTo>
                  <a:lnTo>
                    <a:pt x="1650" y="216281"/>
                  </a:lnTo>
                  <a:close/>
                </a:path>
                <a:path w="97789" h="461644">
                  <a:moveTo>
                    <a:pt x="23494" y="205358"/>
                  </a:moveTo>
                  <a:lnTo>
                    <a:pt x="23367" y="205739"/>
                  </a:lnTo>
                  <a:lnTo>
                    <a:pt x="23494" y="205358"/>
                  </a:lnTo>
                  <a:close/>
                </a:path>
                <a:path w="97789" h="461644">
                  <a:moveTo>
                    <a:pt x="24442" y="196722"/>
                  </a:moveTo>
                  <a:lnTo>
                    <a:pt x="24383" y="197103"/>
                  </a:lnTo>
                  <a:lnTo>
                    <a:pt x="24442" y="196722"/>
                  </a:lnTo>
                  <a:close/>
                </a:path>
                <a:path w="97789" h="461644">
                  <a:moveTo>
                    <a:pt x="41887" y="21081"/>
                  </a:moveTo>
                  <a:lnTo>
                    <a:pt x="40766" y="24256"/>
                  </a:lnTo>
                  <a:lnTo>
                    <a:pt x="39115" y="28575"/>
                  </a:lnTo>
                  <a:lnTo>
                    <a:pt x="38988" y="28828"/>
                  </a:lnTo>
                  <a:lnTo>
                    <a:pt x="37210" y="33781"/>
                  </a:lnTo>
                  <a:lnTo>
                    <a:pt x="37083" y="34035"/>
                  </a:lnTo>
                  <a:lnTo>
                    <a:pt x="35305" y="39369"/>
                  </a:lnTo>
                  <a:lnTo>
                    <a:pt x="35178" y="39623"/>
                  </a:lnTo>
                  <a:lnTo>
                    <a:pt x="33400" y="45338"/>
                  </a:lnTo>
                  <a:lnTo>
                    <a:pt x="33266" y="45338"/>
                  </a:lnTo>
                  <a:lnTo>
                    <a:pt x="31241" y="51053"/>
                  </a:lnTo>
                  <a:lnTo>
                    <a:pt x="31150" y="51434"/>
                  </a:lnTo>
                  <a:lnTo>
                    <a:pt x="28924" y="57657"/>
                  </a:lnTo>
                  <a:lnTo>
                    <a:pt x="25780" y="70357"/>
                  </a:lnTo>
                  <a:lnTo>
                    <a:pt x="23621" y="77850"/>
                  </a:lnTo>
                  <a:lnTo>
                    <a:pt x="23367" y="78612"/>
                  </a:lnTo>
                  <a:lnTo>
                    <a:pt x="19684" y="95503"/>
                  </a:lnTo>
                  <a:lnTo>
                    <a:pt x="19684" y="95631"/>
                  </a:lnTo>
                  <a:lnTo>
                    <a:pt x="16509" y="111378"/>
                  </a:lnTo>
                  <a:lnTo>
                    <a:pt x="13588" y="125348"/>
                  </a:lnTo>
                  <a:lnTo>
                    <a:pt x="13461" y="125856"/>
                  </a:lnTo>
                  <a:lnTo>
                    <a:pt x="10159" y="146431"/>
                  </a:lnTo>
                  <a:lnTo>
                    <a:pt x="9016" y="154431"/>
                  </a:lnTo>
                  <a:lnTo>
                    <a:pt x="9016" y="154685"/>
                  </a:lnTo>
                  <a:lnTo>
                    <a:pt x="6857" y="172338"/>
                  </a:lnTo>
                  <a:lnTo>
                    <a:pt x="6857" y="172592"/>
                  </a:lnTo>
                  <a:lnTo>
                    <a:pt x="6095" y="180466"/>
                  </a:lnTo>
                  <a:lnTo>
                    <a:pt x="6222" y="179958"/>
                  </a:lnTo>
                  <a:lnTo>
                    <a:pt x="26776" y="179958"/>
                  </a:lnTo>
                  <a:lnTo>
                    <a:pt x="27280" y="174751"/>
                  </a:lnTo>
                  <a:lnTo>
                    <a:pt x="27336" y="174497"/>
                  </a:lnTo>
                  <a:lnTo>
                    <a:pt x="29463" y="157225"/>
                  </a:lnTo>
                  <a:lnTo>
                    <a:pt x="29336" y="157225"/>
                  </a:lnTo>
                  <a:lnTo>
                    <a:pt x="30443" y="149606"/>
                  </a:lnTo>
                  <a:lnTo>
                    <a:pt x="33573" y="129539"/>
                  </a:lnTo>
                  <a:lnTo>
                    <a:pt x="36321" y="115442"/>
                  </a:lnTo>
                  <a:lnTo>
                    <a:pt x="43099" y="83184"/>
                  </a:lnTo>
                  <a:lnTo>
                    <a:pt x="45084" y="75310"/>
                  </a:lnTo>
                  <a:lnTo>
                    <a:pt x="45084" y="75056"/>
                  </a:lnTo>
                  <a:lnTo>
                    <a:pt x="47848" y="63881"/>
                  </a:lnTo>
                  <a:lnTo>
                    <a:pt x="49666" y="57657"/>
                  </a:lnTo>
                  <a:lnTo>
                    <a:pt x="51815" y="51434"/>
                  </a:lnTo>
                  <a:lnTo>
                    <a:pt x="51942" y="51181"/>
                  </a:lnTo>
                  <a:lnTo>
                    <a:pt x="53682" y="45465"/>
                  </a:lnTo>
                  <a:lnTo>
                    <a:pt x="33400" y="45338"/>
                  </a:lnTo>
                  <a:lnTo>
                    <a:pt x="33400" y="44957"/>
                  </a:lnTo>
                  <a:lnTo>
                    <a:pt x="53763" y="44957"/>
                  </a:lnTo>
                  <a:lnTo>
                    <a:pt x="55329" y="40258"/>
                  </a:lnTo>
                  <a:lnTo>
                    <a:pt x="57104" y="35432"/>
                  </a:lnTo>
                  <a:lnTo>
                    <a:pt x="58800" y="30733"/>
                  </a:lnTo>
                  <a:lnTo>
                    <a:pt x="60325" y="26034"/>
                  </a:lnTo>
                  <a:lnTo>
                    <a:pt x="60718" y="23875"/>
                  </a:lnTo>
                  <a:lnTo>
                    <a:pt x="60905" y="21970"/>
                  </a:lnTo>
                  <a:lnTo>
                    <a:pt x="41782" y="21970"/>
                  </a:lnTo>
                  <a:lnTo>
                    <a:pt x="41887" y="21081"/>
                  </a:lnTo>
                  <a:close/>
                </a:path>
                <a:path w="97789" h="461644">
                  <a:moveTo>
                    <a:pt x="27336" y="174497"/>
                  </a:moveTo>
                  <a:lnTo>
                    <a:pt x="27304" y="174751"/>
                  </a:lnTo>
                  <a:lnTo>
                    <a:pt x="27336" y="174497"/>
                  </a:lnTo>
                  <a:close/>
                </a:path>
                <a:path w="97789" h="461644">
                  <a:moveTo>
                    <a:pt x="30479" y="149351"/>
                  </a:moveTo>
                  <a:lnTo>
                    <a:pt x="30352" y="149606"/>
                  </a:lnTo>
                  <a:lnTo>
                    <a:pt x="30479" y="149351"/>
                  </a:lnTo>
                  <a:close/>
                </a:path>
                <a:path w="97789" h="461644">
                  <a:moveTo>
                    <a:pt x="33654" y="129031"/>
                  </a:moveTo>
                  <a:lnTo>
                    <a:pt x="33527" y="129539"/>
                  </a:lnTo>
                  <a:lnTo>
                    <a:pt x="33654" y="129031"/>
                  </a:lnTo>
                  <a:close/>
                </a:path>
                <a:path w="97789" h="461644">
                  <a:moveTo>
                    <a:pt x="43179" y="82803"/>
                  </a:moveTo>
                  <a:lnTo>
                    <a:pt x="43052" y="83184"/>
                  </a:lnTo>
                  <a:lnTo>
                    <a:pt x="43179" y="82803"/>
                  </a:lnTo>
                  <a:close/>
                </a:path>
                <a:path w="97789" h="461644">
                  <a:moveTo>
                    <a:pt x="25780" y="69976"/>
                  </a:moveTo>
                  <a:lnTo>
                    <a:pt x="25676" y="70357"/>
                  </a:lnTo>
                  <a:lnTo>
                    <a:pt x="25780" y="69976"/>
                  </a:lnTo>
                  <a:close/>
                </a:path>
                <a:path w="97789" h="461644">
                  <a:moveTo>
                    <a:pt x="48005" y="63245"/>
                  </a:moveTo>
                  <a:lnTo>
                    <a:pt x="47751" y="63881"/>
                  </a:lnTo>
                  <a:lnTo>
                    <a:pt x="48005" y="63245"/>
                  </a:lnTo>
                  <a:close/>
                </a:path>
                <a:path w="97789" h="461644">
                  <a:moveTo>
                    <a:pt x="53720" y="45338"/>
                  </a:moveTo>
                  <a:close/>
                </a:path>
                <a:path w="97789" h="461644">
                  <a:moveTo>
                    <a:pt x="55417" y="40131"/>
                  </a:moveTo>
                  <a:close/>
                </a:path>
                <a:path w="97789" h="461644">
                  <a:moveTo>
                    <a:pt x="57150" y="35306"/>
                  </a:moveTo>
                  <a:lnTo>
                    <a:pt x="57022" y="35432"/>
                  </a:lnTo>
                  <a:lnTo>
                    <a:pt x="57150" y="35306"/>
                  </a:lnTo>
                  <a:close/>
                </a:path>
                <a:path w="97789" h="461644">
                  <a:moveTo>
                    <a:pt x="40893" y="23875"/>
                  </a:moveTo>
                  <a:lnTo>
                    <a:pt x="40749" y="24256"/>
                  </a:lnTo>
                  <a:lnTo>
                    <a:pt x="40893" y="23875"/>
                  </a:lnTo>
                  <a:close/>
                </a:path>
                <a:path w="97789" h="461644">
                  <a:moveTo>
                    <a:pt x="42290" y="19938"/>
                  </a:moveTo>
                  <a:lnTo>
                    <a:pt x="41887" y="21081"/>
                  </a:lnTo>
                  <a:lnTo>
                    <a:pt x="41782" y="21970"/>
                  </a:lnTo>
                  <a:lnTo>
                    <a:pt x="42290" y="19938"/>
                  </a:lnTo>
                  <a:close/>
                </a:path>
                <a:path w="97789" h="461644">
                  <a:moveTo>
                    <a:pt x="61104" y="19938"/>
                  </a:moveTo>
                  <a:lnTo>
                    <a:pt x="42290" y="19938"/>
                  </a:lnTo>
                  <a:lnTo>
                    <a:pt x="41782" y="21970"/>
                  </a:lnTo>
                  <a:lnTo>
                    <a:pt x="60905" y="21970"/>
                  </a:lnTo>
                  <a:lnTo>
                    <a:pt x="61104" y="19938"/>
                  </a:lnTo>
                  <a:close/>
                </a:path>
                <a:path w="97789" h="461644">
                  <a:moveTo>
                    <a:pt x="48640" y="0"/>
                  </a:moveTo>
                  <a:lnTo>
                    <a:pt x="44195" y="3556"/>
                  </a:lnTo>
                  <a:lnTo>
                    <a:pt x="43560" y="8508"/>
                  </a:lnTo>
                  <a:lnTo>
                    <a:pt x="42544" y="15366"/>
                  </a:lnTo>
                  <a:lnTo>
                    <a:pt x="42544" y="15493"/>
                  </a:lnTo>
                  <a:lnTo>
                    <a:pt x="41887" y="21081"/>
                  </a:lnTo>
                  <a:lnTo>
                    <a:pt x="42290" y="19938"/>
                  </a:lnTo>
                  <a:lnTo>
                    <a:pt x="61104" y="19938"/>
                  </a:lnTo>
                  <a:lnTo>
                    <a:pt x="61340" y="17525"/>
                  </a:lnTo>
                  <a:lnTo>
                    <a:pt x="61467" y="17398"/>
                  </a:lnTo>
                  <a:lnTo>
                    <a:pt x="62356" y="5460"/>
                  </a:lnTo>
                  <a:lnTo>
                    <a:pt x="58673" y="1015"/>
                  </a:lnTo>
                  <a:lnTo>
                    <a:pt x="4864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42744" y="2649220"/>
              <a:ext cx="92710" cy="4546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53310" y="2767964"/>
              <a:ext cx="173481" cy="25387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87980" y="2777870"/>
              <a:ext cx="239306" cy="138430"/>
            </a:xfrm>
            <a:prstGeom prst="rect">
              <a:avLst/>
            </a:prstGeom>
          </p:spPr>
        </p:pic>
        <p:grpSp>
          <p:nvGrpSpPr>
            <p:cNvPr id="30" name="object 30"/>
            <p:cNvGrpSpPr/>
            <p:nvPr/>
          </p:nvGrpSpPr>
          <p:grpSpPr>
            <a:xfrm>
              <a:off x="4221226" y="2610739"/>
              <a:ext cx="4641468" cy="960627"/>
              <a:chOff x="4221226" y="2610739"/>
              <a:chExt cx="4641468" cy="960627"/>
            </a:xfrm>
          </p:grpSpPr>
          <p:pic>
            <p:nvPicPr>
              <p:cNvPr id="31" name="object 31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7356801" y="2650998"/>
                <a:ext cx="242116" cy="230504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5445479" y="2610739"/>
                <a:ext cx="3417215" cy="942467"/>
              </a:xfrm>
              <a:prstGeom prst="rect">
                <a:avLst/>
              </a:prstGeom>
            </p:spPr>
          </p:pic>
          <p:pic>
            <p:nvPicPr>
              <p:cNvPr id="33" name="object 33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4420743" y="2650617"/>
                <a:ext cx="1233932" cy="920749"/>
              </a:xfrm>
              <a:prstGeom prst="rect">
                <a:avLst/>
              </a:prstGeom>
            </p:spPr>
          </p:pic>
          <p:pic>
            <p:nvPicPr>
              <p:cNvPr id="34" name="object 34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4221226" y="2678303"/>
                <a:ext cx="435737" cy="520572"/>
              </a:xfrm>
              <a:prstGeom prst="rect">
                <a:avLst/>
              </a:prstGeom>
            </p:spPr>
          </p:pic>
        </p:grpSp>
        <p:pic>
          <p:nvPicPr>
            <p:cNvPr id="38" name="object 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00857" y="2675254"/>
              <a:ext cx="466089" cy="25260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04666" y="3398520"/>
              <a:ext cx="574802" cy="2397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64610" y="2667380"/>
              <a:ext cx="584073" cy="62255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32198" y="3323463"/>
              <a:ext cx="203962" cy="242570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57FCFC2-994C-14BF-02DA-4F10609E410A}"/>
                </a:ext>
              </a:extLst>
            </p:cNvPr>
            <p:cNvSpPr/>
            <p:nvPr/>
          </p:nvSpPr>
          <p:spPr>
            <a:xfrm>
              <a:off x="4132198" y="3021837"/>
              <a:ext cx="288545" cy="216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6132B13-BA5D-0762-11DE-DEA67EEECA63}"/>
                </a:ext>
              </a:extLst>
            </p:cNvPr>
            <p:cNvSpPr/>
            <p:nvPr/>
          </p:nvSpPr>
          <p:spPr>
            <a:xfrm>
              <a:off x="5125343" y="3082926"/>
              <a:ext cx="288545" cy="216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0BAB351-78C2-5F1C-4172-2446A9603B25}"/>
                </a:ext>
              </a:extLst>
            </p:cNvPr>
            <p:cNvSpPr/>
            <p:nvPr/>
          </p:nvSpPr>
          <p:spPr>
            <a:xfrm>
              <a:off x="6174410" y="3082926"/>
              <a:ext cx="288545" cy="216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022005F6-70A3-E0DC-E71C-A83CE31C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A8BF14-21AF-968B-6A4D-9EB19CD1DFF4}"/>
              </a:ext>
            </a:extLst>
          </p:cNvPr>
          <p:cNvSpPr txBox="1"/>
          <p:nvPr/>
        </p:nvSpPr>
        <p:spPr>
          <a:xfrm>
            <a:off x="4771239" y="906973"/>
            <a:ext cx="1762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feature 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A3F5F1-BAE3-AEE7-E2D2-BB1E3815EFBC}"/>
              </a:ext>
            </a:extLst>
          </p:cNvPr>
          <p:cNvSpPr txBox="1"/>
          <p:nvPr/>
        </p:nvSpPr>
        <p:spPr>
          <a:xfrm>
            <a:off x="195586" y="2241250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EE8DA3-182B-9F28-FE56-CE3F931D5113}"/>
              </a:ext>
            </a:extLst>
          </p:cNvPr>
          <p:cNvSpPr txBox="1"/>
          <p:nvPr/>
        </p:nvSpPr>
        <p:spPr>
          <a:xfrm>
            <a:off x="358587" y="1487446"/>
            <a:ext cx="163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Model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E70E5-7132-93DE-65FA-5780E89A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01489C-7974-6192-F8ED-DCC9AEACAE92}"/>
              </a:ext>
            </a:extLst>
          </p:cNvPr>
          <p:cNvSpPr txBox="1"/>
          <p:nvPr/>
        </p:nvSpPr>
        <p:spPr>
          <a:xfrm>
            <a:off x="456160" y="1064028"/>
            <a:ext cx="579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Y=80+w</a:t>
            </a:r>
            <a:r>
              <a:rPr lang="en-US" sz="2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​⋅X1 ​+ w</a:t>
            </a:r>
            <a:r>
              <a:rPr lang="en-US" sz="2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​⋅X</a:t>
            </a:r>
            <a:r>
              <a:rPr lang="en-US" sz="2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​+ w</a:t>
            </a:r>
            <a:r>
              <a:rPr lang="en-US" sz="2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​⋅X</a:t>
            </a:r>
            <a:r>
              <a:rPr lang="en-US" sz="2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 + w</a:t>
            </a:r>
            <a:r>
              <a:rPr lang="en-US" sz="2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​⋅X</a:t>
            </a:r>
            <a:r>
              <a:rPr lang="en-US" sz="220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P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7D091-46D6-D8C2-9A35-D4B5BB379E63}"/>
              </a:ext>
            </a:extLst>
          </p:cNvPr>
          <p:cNvSpPr txBox="1"/>
          <p:nvPr/>
        </p:nvSpPr>
        <p:spPr>
          <a:xfrm>
            <a:off x="304800" y="1609066"/>
            <a:ext cx="8301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Estimated Price=80 + w</a:t>
            </a:r>
            <a:r>
              <a:rPr lang="en-US" sz="220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​⋅Size + w</a:t>
            </a:r>
            <a:r>
              <a:rPr lang="en-US" sz="220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​⋅Bedrooms + w</a:t>
            </a:r>
            <a:r>
              <a:rPr lang="en-US" sz="220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​⋅Floors + w4​⋅Age</a:t>
            </a:r>
            <a:endParaRPr lang="en-P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596D7-F1E2-4E6C-808E-C17C35DA02FE}"/>
              </a:ext>
            </a:extLst>
          </p:cNvPr>
          <p:cNvSpPr txBox="1"/>
          <p:nvPr/>
        </p:nvSpPr>
        <p:spPr>
          <a:xfrm>
            <a:off x="309797" y="2186313"/>
            <a:ext cx="81343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Estimated Price=80 + 0.1​⋅Size + 4​⋅Bedrooms + 10​⋅Floors + -2​⋅Age</a:t>
            </a:r>
            <a:endParaRPr lang="en-PS" sz="22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35F7E0-7033-E080-B6A8-9539C5F58707}"/>
              </a:ext>
            </a:extLst>
          </p:cNvPr>
          <p:cNvSpPr txBox="1"/>
          <p:nvPr/>
        </p:nvSpPr>
        <p:spPr>
          <a:xfrm>
            <a:off x="421524" y="2794338"/>
            <a:ext cx="8610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Size: The unit for the coefficient 0.1 would be $100 (dollars) per square foot.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Bedrooms: The unit for the coefficient 4 would be 4x1000 (dollars) per additional bedroom.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Floors: The unit for the coefficient 10 would be 10X $1000 (dollars) per additional floor.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Age : The unit for the coefficient −2 would be </a:t>
            </a:r>
            <a:r>
              <a:rPr lang="en-US" sz="2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-2x</a:t>
            </a:r>
            <a:r>
              <a:rPr lang="en-US" sz="2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$1000 (dollars) per additional year of age.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45A3D-E6A7-2BFA-E7BA-7DBF75021DF0}"/>
              </a:ext>
            </a:extLst>
          </p:cNvPr>
          <p:cNvSpPr txBox="1"/>
          <p:nvPr/>
        </p:nvSpPr>
        <p:spPr>
          <a:xfrm>
            <a:off x="332282" y="129790"/>
            <a:ext cx="5362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32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interprete coefficients </a:t>
            </a:r>
          </a:p>
        </p:txBody>
      </p:sp>
    </p:spTree>
    <p:extLst>
      <p:ext uri="{BB962C8B-B14F-4D97-AF65-F5344CB8AC3E}">
        <p14:creationId xmlns:p14="http://schemas.microsoft.com/office/powerpoint/2010/main" val="244163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50A4-0766-28B0-6092-8930A0B0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C1C5B-58D7-9717-0714-46C9E03E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1F03F-2B8A-C92D-1946-42A191CB6397}"/>
              </a:ext>
            </a:extLst>
          </p:cNvPr>
          <p:cNvSpPr txBox="1"/>
          <p:nvPr/>
        </p:nvSpPr>
        <p:spPr>
          <a:xfrm>
            <a:off x="304800" y="1123950"/>
            <a:ext cx="853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training set below, what is x</a:t>
            </a:r>
            <a:r>
              <a:rPr lang="en-US" sz="2400" baseline="-25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aseline="-25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aseline="30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9280B4-94AB-2AA4-E0DF-38952447A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74481"/>
            <a:ext cx="631821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46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330" y="127397"/>
            <a:ext cx="801786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expression (</a:t>
            </a:r>
            <a:r>
              <a:rPr lang="en-GB" sz="2400" spc="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Notation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6323" y="713259"/>
            <a:ext cx="8157209" cy="4648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28625" algn="l"/>
                <a:tab pos="2831465" algn="l"/>
              </a:tabLs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spc="127" baseline="12731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𝑓</a:t>
            </a:r>
            <a:r>
              <a:rPr lang="en-US" sz="2400" spc="85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w,𝑏(x)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550" spc="15" baseline="-179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spc="10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2550" spc="15" baseline="-179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550" spc="419" baseline="-179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5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550" spc="37" baseline="-179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spc="2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2550" spc="37" baseline="-179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550" spc="419" baseline="-179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+⋯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550" spc="112" baseline="-179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𝑛</a:t>
            </a:r>
            <a:r>
              <a:rPr sz="2400" spc="7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2550" spc="112" baseline="-179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𝑛</a:t>
            </a:r>
            <a:r>
              <a:rPr sz="2550" spc="434" baseline="-179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𝑏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9CA752B-64A8-7D1B-3111-7D19962B11F1}"/>
              </a:ext>
            </a:extLst>
          </p:cNvPr>
          <p:cNvGrpSpPr/>
          <p:nvPr/>
        </p:nvGrpSpPr>
        <p:grpSpPr>
          <a:xfrm>
            <a:off x="1196340" y="4476750"/>
            <a:ext cx="1745615" cy="373380"/>
            <a:chOff x="1656588" y="3384198"/>
            <a:chExt cx="1745615" cy="37338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6588" y="3431666"/>
              <a:ext cx="502538" cy="25018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492" y="3384198"/>
              <a:ext cx="1077711" cy="37338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DA79221-5C73-230E-1B59-F0D643030A2B}"/>
              </a:ext>
            </a:extLst>
          </p:cNvPr>
          <p:cNvGrpSpPr/>
          <p:nvPr/>
        </p:nvGrpSpPr>
        <p:grpSpPr>
          <a:xfrm>
            <a:off x="80010" y="3615223"/>
            <a:ext cx="8506396" cy="510284"/>
            <a:chOff x="448828" y="2819481"/>
            <a:chExt cx="8506396" cy="51028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AAE3D6A-977D-F80C-1772-C7F416878201}"/>
                </a:ext>
              </a:extLst>
            </p:cNvPr>
            <p:cNvGrpSpPr/>
            <p:nvPr/>
          </p:nvGrpSpPr>
          <p:grpSpPr>
            <a:xfrm>
              <a:off x="448828" y="2870534"/>
              <a:ext cx="2901315" cy="459231"/>
              <a:chOff x="370522" y="2813304"/>
              <a:chExt cx="2901315" cy="459231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579513" y="3019805"/>
                <a:ext cx="195580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195579" h="52705">
                    <a:moveTo>
                      <a:pt x="168109" y="0"/>
                    </a:moveTo>
                    <a:lnTo>
                      <a:pt x="162433" y="6476"/>
                    </a:lnTo>
                    <a:lnTo>
                      <a:pt x="179552" y="21336"/>
                    </a:lnTo>
                    <a:lnTo>
                      <a:pt x="0" y="21336"/>
                    </a:lnTo>
                    <a:lnTo>
                      <a:pt x="0" y="31368"/>
                    </a:lnTo>
                    <a:lnTo>
                      <a:pt x="179552" y="31368"/>
                    </a:lnTo>
                    <a:lnTo>
                      <a:pt x="162433" y="46227"/>
                    </a:lnTo>
                    <a:lnTo>
                      <a:pt x="168109" y="52705"/>
                    </a:lnTo>
                    <a:lnTo>
                      <a:pt x="194957" y="29463"/>
                    </a:lnTo>
                    <a:lnTo>
                      <a:pt x="194957" y="23241"/>
                    </a:lnTo>
                    <a:lnTo>
                      <a:pt x="168109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370522" y="2880105"/>
                <a:ext cx="617855" cy="39243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US" sz="3600" spc="127" baseline="12731" dirty="0">
                    <a:solidFill>
                      <a:srgbClr val="009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𝑓</a:t>
                </a:r>
                <a:r>
                  <a:rPr lang="en-US" sz="1700" spc="85" dirty="0">
                    <a:solidFill>
                      <a:srgbClr val="009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w,𝑏</a:t>
                </a: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" name="object 8"/>
              <p:cNvGrpSpPr/>
              <p:nvPr/>
            </p:nvGrpSpPr>
            <p:grpSpPr>
              <a:xfrm>
                <a:off x="996835" y="2885694"/>
                <a:ext cx="349250" cy="297815"/>
                <a:chOff x="996835" y="2885694"/>
                <a:chExt cx="349250" cy="297815"/>
              </a:xfrm>
            </p:grpSpPr>
            <p:sp>
              <p:nvSpPr>
                <p:cNvPr id="9" name="object 9"/>
                <p:cNvSpPr/>
                <p:nvPr/>
              </p:nvSpPr>
              <p:spPr>
                <a:xfrm>
                  <a:off x="996835" y="2901061"/>
                  <a:ext cx="349250" cy="28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0" h="282575">
                      <a:moveTo>
                        <a:pt x="259105" y="0"/>
                      </a:moveTo>
                      <a:lnTo>
                        <a:pt x="255079" y="11430"/>
                      </a:lnTo>
                      <a:lnTo>
                        <a:pt x="271416" y="18522"/>
                      </a:lnTo>
                      <a:lnTo>
                        <a:pt x="285476" y="28352"/>
                      </a:lnTo>
                      <a:lnTo>
                        <a:pt x="314026" y="73852"/>
                      </a:lnTo>
                      <a:lnTo>
                        <a:pt x="322408" y="115623"/>
                      </a:lnTo>
                      <a:lnTo>
                        <a:pt x="323456" y="139700"/>
                      </a:lnTo>
                      <a:lnTo>
                        <a:pt x="322408" y="164633"/>
                      </a:lnTo>
                      <a:lnTo>
                        <a:pt x="314026" y="207547"/>
                      </a:lnTo>
                      <a:lnTo>
                        <a:pt x="285534" y="253793"/>
                      </a:lnTo>
                      <a:lnTo>
                        <a:pt x="255536" y="270890"/>
                      </a:lnTo>
                      <a:lnTo>
                        <a:pt x="259105" y="282320"/>
                      </a:lnTo>
                      <a:lnTo>
                        <a:pt x="297616" y="264239"/>
                      </a:lnTo>
                      <a:lnTo>
                        <a:pt x="325869" y="232918"/>
                      </a:lnTo>
                      <a:lnTo>
                        <a:pt x="343300" y="191071"/>
                      </a:lnTo>
                      <a:lnTo>
                        <a:pt x="349110" y="141224"/>
                      </a:lnTo>
                      <a:lnTo>
                        <a:pt x="347657" y="115339"/>
                      </a:lnTo>
                      <a:lnTo>
                        <a:pt x="336037" y="69429"/>
                      </a:lnTo>
                      <a:lnTo>
                        <a:pt x="312967" y="32093"/>
                      </a:lnTo>
                      <a:lnTo>
                        <a:pt x="279558" y="7379"/>
                      </a:lnTo>
                      <a:lnTo>
                        <a:pt x="259105" y="0"/>
                      </a:lnTo>
                      <a:close/>
                    </a:path>
                    <a:path w="349250" h="282575">
                      <a:moveTo>
                        <a:pt x="90030" y="0"/>
                      </a:moveTo>
                      <a:lnTo>
                        <a:pt x="51617" y="18081"/>
                      </a:lnTo>
                      <a:lnTo>
                        <a:pt x="23291" y="49402"/>
                      </a:lnTo>
                      <a:lnTo>
                        <a:pt x="5821" y="91408"/>
                      </a:lnTo>
                      <a:lnTo>
                        <a:pt x="0" y="141224"/>
                      </a:lnTo>
                      <a:lnTo>
                        <a:pt x="1450" y="167159"/>
                      </a:lnTo>
                      <a:lnTo>
                        <a:pt x="13056" y="212982"/>
                      </a:lnTo>
                      <a:lnTo>
                        <a:pt x="36093" y="250227"/>
                      </a:lnTo>
                      <a:lnTo>
                        <a:pt x="69501" y="274941"/>
                      </a:lnTo>
                      <a:lnTo>
                        <a:pt x="90030" y="282320"/>
                      </a:lnTo>
                      <a:lnTo>
                        <a:pt x="93611" y="270890"/>
                      </a:lnTo>
                      <a:lnTo>
                        <a:pt x="77521" y="263717"/>
                      </a:lnTo>
                      <a:lnTo>
                        <a:pt x="63636" y="253793"/>
                      </a:lnTo>
                      <a:lnTo>
                        <a:pt x="35156" y="207547"/>
                      </a:lnTo>
                      <a:lnTo>
                        <a:pt x="26788" y="164633"/>
                      </a:lnTo>
                      <a:lnTo>
                        <a:pt x="25742" y="139700"/>
                      </a:lnTo>
                      <a:lnTo>
                        <a:pt x="26788" y="115623"/>
                      </a:lnTo>
                      <a:lnTo>
                        <a:pt x="35156" y="73852"/>
                      </a:lnTo>
                      <a:lnTo>
                        <a:pt x="63749" y="28352"/>
                      </a:lnTo>
                      <a:lnTo>
                        <a:pt x="94056" y="11430"/>
                      </a:lnTo>
                      <a:lnTo>
                        <a:pt x="9003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0" name="object 10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1084338" y="2885694"/>
                  <a:ext cx="150317" cy="73279"/>
                </a:xfrm>
                <a:prstGeom prst="rect">
                  <a:avLst/>
                </a:prstGeom>
              </p:spPr>
            </p:pic>
          </p:grpSp>
          <p:pic>
            <p:nvPicPr>
              <p:cNvPr id="11" name="object 1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36801" y="2885694"/>
                <a:ext cx="236093" cy="73279"/>
              </a:xfrm>
              <a:prstGeom prst="rect">
                <a:avLst/>
              </a:prstGeom>
            </p:spPr>
          </p:pic>
          <p:pic>
            <p:nvPicPr>
              <p:cNvPr id="12" name="object 12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284476" y="2885694"/>
                <a:ext cx="150368" cy="73279"/>
              </a:xfrm>
              <a:prstGeom prst="rect">
                <a:avLst/>
              </a:prstGeom>
            </p:spPr>
          </p:pic>
          <p:sp>
            <p:nvSpPr>
              <p:cNvPr id="13" name="object 13"/>
              <p:cNvSpPr txBox="1"/>
              <p:nvPr/>
            </p:nvSpPr>
            <p:spPr>
              <a:xfrm>
                <a:off x="1082357" y="2813304"/>
                <a:ext cx="2189480" cy="39243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  <a:tabLst>
                    <a:tab pos="374650" algn="l"/>
                    <a:tab pos="755650" algn="l"/>
                  </a:tabLst>
                </a:pPr>
                <a:r>
                  <a:rPr sz="2400" dirty="0">
                    <a:solidFill>
                      <a:srgbClr val="FF9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	</a:t>
                </a: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	</a:t>
                </a:r>
                <a:r>
                  <a:rPr sz="2400" dirty="0">
                    <a:solidFill>
                      <a:srgbClr val="4285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sz="2400" spc="-80" dirty="0">
                    <a:solidFill>
                      <a:srgbClr val="4285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400" spc="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∙</a:t>
                </a:r>
                <a:r>
                  <a:rPr sz="24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400" dirty="0">
                    <a:solidFill>
                      <a:srgbClr val="FF9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sz="2400" spc="-60" dirty="0">
                    <a:solidFill>
                      <a:srgbClr val="FF9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sz="2400" spc="-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400" dirty="0">
                    <a:solidFill>
                      <a:srgbClr val="4285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𝑏</a:t>
                </a:r>
                <a:r>
                  <a:rPr sz="2400" spc="-40" dirty="0">
                    <a:solidFill>
                      <a:srgbClr val="4285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7712F9D-C8D4-86A9-AA37-80623339FB72}"/>
                </a:ext>
              </a:extLst>
            </p:cNvPr>
            <p:cNvGrpSpPr/>
            <p:nvPr/>
          </p:nvGrpSpPr>
          <p:grpSpPr>
            <a:xfrm>
              <a:off x="3609581" y="2819481"/>
              <a:ext cx="5345643" cy="385699"/>
              <a:chOff x="3681385" y="2870326"/>
              <a:chExt cx="5345643" cy="385699"/>
            </a:xfrm>
          </p:grpSpPr>
          <p:pic>
            <p:nvPicPr>
              <p:cNvPr id="24" name="object 24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681385" y="2936620"/>
                <a:ext cx="691478" cy="280923"/>
              </a:xfrm>
              <a:prstGeom prst="rect">
                <a:avLst/>
              </a:prstGeom>
            </p:spPr>
          </p:pic>
          <p:pic>
            <p:nvPicPr>
              <p:cNvPr id="25" name="object 2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464303" y="2944876"/>
                <a:ext cx="174751" cy="184397"/>
              </a:xfrm>
              <a:prstGeom prst="rect">
                <a:avLst/>
              </a:prstGeom>
            </p:spPr>
          </p:pic>
          <p:pic>
            <p:nvPicPr>
              <p:cNvPr id="27" name="object 27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436995" y="2894838"/>
                <a:ext cx="215391" cy="212089"/>
              </a:xfrm>
              <a:prstGeom prst="rect">
                <a:avLst/>
              </a:prstGeom>
            </p:spPr>
          </p:pic>
          <p:pic>
            <p:nvPicPr>
              <p:cNvPr id="28" name="object 28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744084" y="2908300"/>
                <a:ext cx="884174" cy="347725"/>
              </a:xfrm>
              <a:prstGeom prst="rect">
                <a:avLst/>
              </a:prstGeom>
            </p:spPr>
          </p:pic>
          <p:pic>
            <p:nvPicPr>
              <p:cNvPr id="29" name="object 29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884845" y="2982214"/>
                <a:ext cx="86984" cy="79501"/>
              </a:xfrm>
              <a:prstGeom prst="rect">
                <a:avLst/>
              </a:prstGeom>
            </p:spPr>
          </p:pic>
          <p:pic>
            <p:nvPicPr>
              <p:cNvPr id="30" name="object 30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057062" y="2969895"/>
                <a:ext cx="70988" cy="84455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7248294" y="2969514"/>
                <a:ext cx="122281" cy="84455"/>
              </a:xfrm>
              <a:prstGeom prst="rect">
                <a:avLst/>
              </a:prstGeom>
            </p:spPr>
          </p:pic>
          <p:pic>
            <p:nvPicPr>
              <p:cNvPr id="37" name="object 37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490704" y="2872867"/>
                <a:ext cx="1233433" cy="352170"/>
              </a:xfrm>
              <a:prstGeom prst="rect">
                <a:avLst/>
              </a:prstGeom>
            </p:spPr>
          </p:pic>
          <p:pic>
            <p:nvPicPr>
              <p:cNvPr id="47" name="object 47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8838818" y="2870326"/>
                <a:ext cx="188210" cy="280669"/>
              </a:xfrm>
              <a:prstGeom prst="rect">
                <a:avLst/>
              </a:prstGeom>
            </p:spPr>
          </p:pic>
          <p:pic>
            <p:nvPicPr>
              <p:cNvPr id="55" name="object 55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699596" y="2965450"/>
                <a:ext cx="599217" cy="267462"/>
              </a:xfrm>
              <a:prstGeom prst="rect">
                <a:avLst/>
              </a:prstGeom>
            </p:spPr>
          </p:pic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F48B0-FE75-7B83-C5AC-EFC27512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83080" y="2322946"/>
            <a:ext cx="1521713" cy="726567"/>
            <a:chOff x="1343152" y="1776983"/>
            <a:chExt cx="1521713" cy="726567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93263" y="1865375"/>
              <a:ext cx="371602" cy="6381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50961" y="1776983"/>
              <a:ext cx="672858" cy="45554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43152" y="1991867"/>
              <a:ext cx="695324" cy="177164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C2F34B3-764B-1421-EBE6-4A6700B30D32}"/>
              </a:ext>
            </a:extLst>
          </p:cNvPr>
          <p:cNvSpPr txBox="1"/>
          <p:nvPr/>
        </p:nvSpPr>
        <p:spPr>
          <a:xfrm>
            <a:off x="130692" y="3130970"/>
            <a:ext cx="3467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the model can be written as 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C4131BC-AD5F-3EB2-CFD8-2144BB489F90}"/>
              </a:ext>
            </a:extLst>
          </p:cNvPr>
          <p:cNvCxnSpPr/>
          <p:nvPr/>
        </p:nvCxnSpPr>
        <p:spPr>
          <a:xfrm flipH="1" flipV="1">
            <a:off x="1886585" y="3872777"/>
            <a:ext cx="155987" cy="603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49A0A99-3FBB-949A-4AB5-9D7398F661CA}"/>
              </a:ext>
            </a:extLst>
          </p:cNvPr>
          <p:cNvGrpSpPr/>
          <p:nvPr/>
        </p:nvGrpSpPr>
        <p:grpSpPr>
          <a:xfrm>
            <a:off x="2139819" y="1311219"/>
            <a:ext cx="6320925" cy="1772675"/>
            <a:chOff x="2135723" y="799075"/>
            <a:chExt cx="6320925" cy="177267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778FCF0-E054-929B-A17B-5A765F140E8F}"/>
                </a:ext>
              </a:extLst>
            </p:cNvPr>
            <p:cNvGrpSpPr/>
            <p:nvPr/>
          </p:nvGrpSpPr>
          <p:grpSpPr>
            <a:xfrm>
              <a:off x="2135723" y="799075"/>
              <a:ext cx="6320925" cy="1527819"/>
              <a:chOff x="2135723" y="799075"/>
              <a:chExt cx="6320925" cy="1527819"/>
            </a:xfrm>
          </p:grpSpPr>
          <p:pic>
            <p:nvPicPr>
              <p:cNvPr id="14" name="object 14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2203323" y="1402461"/>
                <a:ext cx="146050" cy="252729"/>
              </a:xfrm>
              <a:prstGeom prst="rect">
                <a:avLst/>
              </a:prstGeom>
            </p:spPr>
          </p:pic>
          <p:pic>
            <p:nvPicPr>
              <p:cNvPr id="15" name="object 15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2573058" y="1369822"/>
                <a:ext cx="49902" cy="253873"/>
              </a:xfrm>
              <a:prstGeom prst="rect">
                <a:avLst/>
              </a:prstGeom>
            </p:spPr>
          </p:pic>
          <p:pic>
            <p:nvPicPr>
              <p:cNvPr id="16" name="object 16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3949319" y="1340992"/>
                <a:ext cx="464057" cy="209550"/>
              </a:xfrm>
              <a:prstGeom prst="rect">
                <a:avLst/>
              </a:prstGeom>
            </p:spPr>
          </p:pic>
          <p:pic>
            <p:nvPicPr>
              <p:cNvPr id="17" name="object 17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2931414" y="1952244"/>
                <a:ext cx="308483" cy="284225"/>
              </a:xfrm>
              <a:prstGeom prst="rect">
                <a:avLst/>
              </a:prstGeom>
            </p:spPr>
          </p:pic>
          <p:pic>
            <p:nvPicPr>
              <p:cNvPr id="18" name="object 18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3536188" y="1937257"/>
                <a:ext cx="303022" cy="310388"/>
              </a:xfrm>
              <a:prstGeom prst="rect">
                <a:avLst/>
              </a:prstGeom>
            </p:spPr>
          </p:pic>
          <p:pic>
            <p:nvPicPr>
              <p:cNvPr id="19" name="object 19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4136390" y="1944242"/>
                <a:ext cx="385445" cy="330962"/>
              </a:xfrm>
              <a:prstGeom prst="rect">
                <a:avLst/>
              </a:prstGeom>
            </p:spPr>
          </p:pic>
          <p:pic>
            <p:nvPicPr>
              <p:cNvPr id="20" name="object 20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4681458" y="2154682"/>
                <a:ext cx="75072" cy="72136"/>
              </a:xfrm>
              <a:prstGeom prst="rect">
                <a:avLst/>
              </a:prstGeom>
            </p:spPr>
          </p:pic>
          <p:pic>
            <p:nvPicPr>
              <p:cNvPr id="21" name="object 21"/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4859719" y="2137282"/>
                <a:ext cx="70459" cy="78867"/>
              </a:xfrm>
              <a:prstGeom prst="rect">
                <a:avLst/>
              </a:prstGeom>
            </p:spPr>
          </p:pic>
          <p:pic>
            <p:nvPicPr>
              <p:cNvPr id="22" name="object 22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4994961" y="2132583"/>
                <a:ext cx="77719" cy="77724"/>
              </a:xfrm>
              <a:prstGeom prst="rect">
                <a:avLst/>
              </a:prstGeom>
            </p:spPr>
          </p:pic>
          <p:pic>
            <p:nvPicPr>
              <p:cNvPr id="23" name="object 23"/>
              <p:cNvPicPr/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5203063" y="1864614"/>
                <a:ext cx="525272" cy="462280"/>
              </a:xfrm>
              <a:prstGeom prst="rect">
                <a:avLst/>
              </a:prstGeom>
            </p:spPr>
          </p:pic>
          <p:pic>
            <p:nvPicPr>
              <p:cNvPr id="26" name="object 26"/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3273805" y="1287525"/>
                <a:ext cx="594277" cy="309118"/>
              </a:xfrm>
              <a:prstGeom prst="rect">
                <a:avLst/>
              </a:prstGeom>
            </p:spPr>
          </p:pic>
          <p:pic>
            <p:nvPicPr>
              <p:cNvPr id="31" name="object 31"/>
              <p:cNvPicPr/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2690876" y="1344675"/>
                <a:ext cx="474725" cy="280162"/>
              </a:xfrm>
              <a:prstGeom prst="rect">
                <a:avLst/>
              </a:prstGeom>
            </p:spPr>
          </p:pic>
          <p:pic>
            <p:nvPicPr>
              <p:cNvPr id="54" name="object 54"/>
              <p:cNvPicPr/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7088109" y="1087627"/>
                <a:ext cx="1368539" cy="483742"/>
              </a:xfrm>
              <a:prstGeom prst="rect">
                <a:avLst/>
              </a:prstGeom>
            </p:spPr>
          </p:pic>
          <p:pic>
            <p:nvPicPr>
              <p:cNvPr id="56" name="object 56"/>
              <p:cNvPicPr/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2515107" y="977391"/>
                <a:ext cx="151384" cy="94361"/>
              </a:xfrm>
              <a:prstGeom prst="rect">
                <a:avLst/>
              </a:prstGeom>
            </p:spPr>
          </p:pic>
          <p:pic>
            <p:nvPicPr>
              <p:cNvPr id="57" name="object 57"/>
              <p:cNvPicPr/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2767329" y="859663"/>
                <a:ext cx="489433" cy="356870"/>
              </a:xfrm>
              <a:prstGeom prst="rect">
                <a:avLst/>
              </a:prstGeom>
            </p:spPr>
          </p:pic>
          <p:pic>
            <p:nvPicPr>
              <p:cNvPr id="58" name="object 58"/>
              <p:cNvPicPr/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3452748" y="923416"/>
                <a:ext cx="428625" cy="228981"/>
              </a:xfrm>
              <a:prstGeom prst="rect">
                <a:avLst/>
              </a:prstGeom>
            </p:spPr>
          </p:pic>
          <p:pic>
            <p:nvPicPr>
              <p:cNvPr id="59" name="object 59"/>
              <p:cNvPicPr/>
              <p:nvPr/>
            </p:nvPicPr>
            <p:blipFill>
              <a:blip r:embed="rId36" cstate="print"/>
              <a:stretch>
                <a:fillRect/>
              </a:stretch>
            </p:blipFill>
            <p:spPr>
              <a:xfrm>
                <a:off x="4045330" y="910336"/>
                <a:ext cx="438785" cy="298450"/>
              </a:xfrm>
              <a:prstGeom prst="rect">
                <a:avLst/>
              </a:prstGeom>
            </p:spPr>
          </p:pic>
          <p:pic>
            <p:nvPicPr>
              <p:cNvPr id="60" name="object 60"/>
              <p:cNvPicPr/>
              <p:nvPr/>
            </p:nvPicPr>
            <p:blipFill>
              <a:blip r:embed="rId37" cstate="print"/>
              <a:stretch>
                <a:fillRect/>
              </a:stretch>
            </p:blipFill>
            <p:spPr>
              <a:xfrm>
                <a:off x="4632697" y="1087627"/>
                <a:ext cx="55964" cy="53086"/>
              </a:xfrm>
              <a:prstGeom prst="rect">
                <a:avLst/>
              </a:prstGeom>
            </p:spPr>
          </p:pic>
          <p:pic>
            <p:nvPicPr>
              <p:cNvPr id="61" name="object 61"/>
              <p:cNvPicPr/>
              <p:nvPr/>
            </p:nvPicPr>
            <p:blipFill>
              <a:blip r:embed="rId38" cstate="print"/>
              <a:stretch>
                <a:fillRect/>
              </a:stretch>
            </p:blipFill>
            <p:spPr>
              <a:xfrm>
                <a:off x="4787631" y="1070863"/>
                <a:ext cx="68433" cy="55372"/>
              </a:xfrm>
              <a:prstGeom prst="rect">
                <a:avLst/>
              </a:prstGeom>
            </p:spPr>
          </p:pic>
          <p:pic>
            <p:nvPicPr>
              <p:cNvPr id="62" name="object 62"/>
              <p:cNvPicPr/>
              <p:nvPr/>
            </p:nvPicPr>
            <p:blipFill>
              <a:blip r:embed="rId39" cstate="print"/>
              <a:stretch>
                <a:fillRect/>
              </a:stretch>
            </p:blipFill>
            <p:spPr>
              <a:xfrm>
                <a:off x="4941025" y="1073530"/>
                <a:ext cx="79512" cy="61975"/>
              </a:xfrm>
              <a:prstGeom prst="rect">
                <a:avLst/>
              </a:prstGeom>
            </p:spPr>
          </p:pic>
          <p:pic>
            <p:nvPicPr>
              <p:cNvPr id="63" name="object 63"/>
              <p:cNvPicPr/>
              <p:nvPr/>
            </p:nvPicPr>
            <p:blipFill>
              <a:blip r:embed="rId40" cstate="print"/>
              <a:stretch>
                <a:fillRect/>
              </a:stretch>
            </p:blipFill>
            <p:spPr>
              <a:xfrm>
                <a:off x="5129403" y="829436"/>
                <a:ext cx="543051" cy="386079"/>
              </a:xfrm>
              <a:prstGeom prst="rect">
                <a:avLst/>
              </a:prstGeom>
            </p:spPr>
          </p:pic>
          <p:pic>
            <p:nvPicPr>
              <p:cNvPr id="64" name="object 64"/>
              <p:cNvPicPr/>
              <p:nvPr/>
            </p:nvPicPr>
            <p:blipFill>
              <a:blip r:embed="rId41" cstate="print"/>
              <a:stretch>
                <a:fillRect/>
              </a:stretch>
            </p:blipFill>
            <p:spPr>
              <a:xfrm>
                <a:off x="2135723" y="838835"/>
                <a:ext cx="228508" cy="289813"/>
              </a:xfrm>
              <a:prstGeom prst="rect">
                <a:avLst/>
              </a:prstGeom>
            </p:spPr>
          </p:pic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4912A0A1-D449-EB50-F646-E05DB69502B5}"/>
                  </a:ext>
                </a:extLst>
              </p:cNvPr>
              <p:cNvSpPr/>
              <p:nvPr/>
            </p:nvSpPr>
            <p:spPr>
              <a:xfrm>
                <a:off x="2728725" y="1267840"/>
                <a:ext cx="288545" cy="2169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1" eaLnBrk="1" latinLnBrk="0" hangingPunct="1"/>
                <a:endParaRPr lang="en-P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6A75784-CA87-BD85-5B1D-6F4D928EC052}"/>
                  </a:ext>
                </a:extLst>
              </p:cNvPr>
              <p:cNvSpPr/>
              <p:nvPr/>
            </p:nvSpPr>
            <p:spPr>
              <a:xfrm>
                <a:off x="3250553" y="1215515"/>
                <a:ext cx="288545" cy="2169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1AC80A0-37F2-6E58-3151-1B6B314BC3AC}"/>
                  </a:ext>
                </a:extLst>
              </p:cNvPr>
              <p:cNvSpPr txBox="1"/>
              <p:nvPr/>
            </p:nvSpPr>
            <p:spPr>
              <a:xfrm>
                <a:off x="5732304" y="799075"/>
                <a:ext cx="958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(Vector)</a:t>
                </a:r>
              </a:p>
            </p:txBody>
          </p:sp>
        </p:grp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317C5B5-915D-D587-A4BB-93478FFB3654}"/>
                </a:ext>
              </a:extLst>
            </p:cNvPr>
            <p:cNvSpPr/>
            <p:nvPr/>
          </p:nvSpPr>
          <p:spPr>
            <a:xfrm>
              <a:off x="2559651" y="2326894"/>
              <a:ext cx="241046" cy="2448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0E41124-E0C0-7E47-807F-DB0E8BD09576}"/>
              </a:ext>
            </a:extLst>
          </p:cNvPr>
          <p:cNvSpPr txBox="1"/>
          <p:nvPr/>
        </p:nvSpPr>
        <p:spPr>
          <a:xfrm>
            <a:off x="4419809" y="4400803"/>
            <a:ext cx="3568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en-US" sz="2400" dirty="0"/>
              <a:t>Multiple Linear Regression </a:t>
            </a:r>
            <a:endParaRPr lang="en-IL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0376" y="2647950"/>
            <a:ext cx="7026274" cy="665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08685" marR="5080" indent="-896619">
              <a:lnSpc>
                <a:spcPct val="117300"/>
              </a:lnSpc>
              <a:spcBef>
                <a:spcPts val="9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4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4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sz="4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6BF1B-1CF5-DAF7-9AEC-23E13E6D4A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Gill Sans MT" panose="020B0502020104020203" pitchFamily="34" charset="77"/>
              </a:rPr>
              <a:t>11</a:t>
            </a:fld>
            <a:endParaRPr lang="en-PS"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29A56C-3E9E-BDBC-5B89-99653379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Vectorization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B25C9-578B-8CBE-ED98-59CF5E6CC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 in multivariate regression involves using mathematical </a:t>
            </a:r>
            <a:r>
              <a:rPr lang="en-US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entire sets of data at once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taking advantage of </a:t>
            </a:r>
            <a:r>
              <a:rPr lang="en-US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principles. Instead of individually processing each data point and feature in loops.</a:t>
            </a:r>
          </a:p>
          <a:p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ectorization allows for </a:t>
            </a:r>
            <a:r>
              <a:rPr lang="en-US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computations 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operating on matrices as a whole. </a:t>
            </a:r>
          </a:p>
          <a:p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</a:t>
            </a:r>
            <a:r>
              <a:rPr lang="en-US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computational speed 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is particularly useful for handling </a:t>
            </a:r>
            <a:r>
              <a:rPr lang="en-US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making the </a:t>
            </a:r>
            <a:r>
              <a:rPr lang="en-US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more concise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leveraging optimized, hardware-accelerated operations on matrices.</a:t>
            </a:r>
            <a:endParaRPr lang="en-P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ACF7-2786-F3C2-5060-93BC7EEF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033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E4AA-7449-6844-50B0-1406C78B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844"/>
            <a:ext cx="8134350" cy="659606"/>
          </a:xfrm>
        </p:spPr>
        <p:txBody>
          <a:bodyPr/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vectorization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8BD68-71CB-09C2-4A23-F456A178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5DE08E-C9D1-5D2E-926C-528EB0BCD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45252"/>
              </p:ext>
            </p:extLst>
          </p:nvPr>
        </p:nvGraphicFramePr>
        <p:xfrm>
          <a:off x="381000" y="1097131"/>
          <a:ext cx="8305800" cy="33528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3835">
                  <a:extLst>
                    <a:ext uri="{9D8B030D-6E8A-4147-A177-3AD203B41FA5}">
                      <a16:colId xmlns:a16="http://schemas.microsoft.com/office/drawing/2014/main" val="1875529279"/>
                    </a:ext>
                  </a:extLst>
                </a:gridCol>
                <a:gridCol w="6051965">
                  <a:extLst>
                    <a:ext uri="{9D8B030D-6E8A-4147-A177-3AD203B41FA5}">
                      <a16:colId xmlns:a16="http://schemas.microsoft.com/office/drawing/2014/main" val="3207899831"/>
                    </a:ext>
                  </a:extLst>
                </a:gridCol>
              </a:tblGrid>
              <a:tr h="407350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806170"/>
                  </a:ext>
                </a:extLst>
              </a:tr>
              <a:tr h="981817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Efficiency</a:t>
                      </a:r>
                    </a:p>
                  </a:txBody>
                  <a:tcPr marL="152400" marR="152400" marT="152400" marB="1524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Vectorization significantly reduces computation time by processing multiple data points simultaneously.</a:t>
                      </a:r>
                    </a:p>
                  </a:txBody>
                  <a:tcPr marL="152400" marR="152400" marT="152400" marB="152400" anchor="ctr"/>
                </a:tc>
                <a:extLst>
                  <a:ext uri="{0D108BD9-81ED-4DB2-BD59-A6C34878D82A}">
                    <a16:rowId xmlns:a16="http://schemas.microsoft.com/office/drawing/2014/main" val="3673449488"/>
                  </a:ext>
                </a:extLst>
              </a:tr>
              <a:tr h="981817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marL="152400" marR="152400" marT="152400" marB="1524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Vectorized algorithms can handle large datasets effectively, making them scalable to real-world applications.</a:t>
                      </a:r>
                    </a:p>
                  </a:txBody>
                  <a:tcPr marL="152400" marR="152400" marT="152400" marB="152400" anchor="ctr"/>
                </a:tc>
                <a:extLst>
                  <a:ext uri="{0D108BD9-81ED-4DB2-BD59-A6C34878D82A}">
                    <a16:rowId xmlns:a16="http://schemas.microsoft.com/office/drawing/2014/main" val="1340801934"/>
                  </a:ext>
                </a:extLst>
              </a:tr>
              <a:tr h="981817">
                <a:tc>
                  <a:txBody>
                    <a:bodyPr/>
                    <a:lstStyle/>
                    <a:p>
                      <a:r>
                        <a:rPr lang="en-US" sz="18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Simplicity</a:t>
                      </a:r>
                    </a:p>
                  </a:txBody>
                  <a:tcPr marL="152400" marR="152400" marT="152400" marB="1524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Vectorized code is often more concise and easier to understand compared to iterative code.</a:t>
                      </a:r>
                    </a:p>
                  </a:txBody>
                  <a:tcPr marL="152400" marR="152400" marT="152400" marB="152400" anchor="ctr"/>
                </a:tc>
                <a:extLst>
                  <a:ext uri="{0D108BD9-81ED-4DB2-BD59-A6C34878D82A}">
                    <a16:rowId xmlns:a16="http://schemas.microsoft.com/office/drawing/2014/main" val="388466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95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74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400" spc="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400" spc="1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B83144B-C275-6A09-95E3-98B2DAF67315}"/>
              </a:ext>
            </a:extLst>
          </p:cNvPr>
          <p:cNvGrpSpPr/>
          <p:nvPr/>
        </p:nvGrpSpPr>
        <p:grpSpPr>
          <a:xfrm>
            <a:off x="4109601" y="790683"/>
            <a:ext cx="2191194" cy="363917"/>
            <a:chOff x="215225" y="1341691"/>
            <a:chExt cx="1874711" cy="373380"/>
          </a:xfrm>
        </p:grpSpPr>
        <p:sp>
          <p:nvSpPr>
            <p:cNvPr id="3" name="object 3"/>
            <p:cNvSpPr/>
            <p:nvPr/>
          </p:nvSpPr>
          <p:spPr>
            <a:xfrm>
              <a:off x="227734" y="144583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744" y="0"/>
                  </a:moveTo>
                  <a:lnTo>
                    <a:pt x="85090" y="7493"/>
                  </a:lnTo>
                  <a:lnTo>
                    <a:pt x="105181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05181" y="36830"/>
                  </a:lnTo>
                  <a:lnTo>
                    <a:pt x="85090" y="54228"/>
                  </a:lnTo>
                  <a:lnTo>
                    <a:pt x="91744" y="61849"/>
                  </a:lnTo>
                  <a:lnTo>
                    <a:pt x="123266" y="34544"/>
                  </a:lnTo>
                  <a:lnTo>
                    <a:pt x="123266" y="27305"/>
                  </a:lnTo>
                  <a:lnTo>
                    <a:pt x="91744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>
                <a:latin typeface="Gill Sans MT" panose="020B0502020104020203" pitchFamily="34" charset="77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15225" y="1379791"/>
              <a:ext cx="408940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000" spc="10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x</a:t>
              </a:r>
              <a:r>
                <a:rPr sz="2000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Gill Sans MT" panose="020B0502020104020203" pitchFamily="34" charset="77"/>
                  <a:cs typeface="Times New Roman" panose="02020603050405020304" pitchFamily="18" charset="0"/>
                </a:rPr>
                <a:t>=</a:t>
              </a:r>
              <a:endParaRPr sz="2000">
                <a:latin typeface="Gill Sans MT" panose="020B0502020104020203" pitchFamily="34" charset="77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033421" y="1456371"/>
              <a:ext cx="56515" cy="240029"/>
            </a:xfrm>
            <a:custGeom>
              <a:avLst/>
              <a:gdLst/>
              <a:ahLst/>
              <a:cxnLst/>
              <a:rect l="l" t="t" r="r" b="b"/>
              <a:pathLst>
                <a:path w="56514" h="240030">
                  <a:moveTo>
                    <a:pt x="5600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052" y="10160"/>
                  </a:lnTo>
                  <a:lnTo>
                    <a:pt x="35052" y="229870"/>
                  </a:lnTo>
                  <a:lnTo>
                    <a:pt x="0" y="229870"/>
                  </a:lnTo>
                  <a:lnTo>
                    <a:pt x="0" y="240030"/>
                  </a:lnTo>
                  <a:lnTo>
                    <a:pt x="56007" y="240030"/>
                  </a:lnTo>
                  <a:lnTo>
                    <a:pt x="56007" y="229870"/>
                  </a:lnTo>
                  <a:lnTo>
                    <a:pt x="56007" y="10160"/>
                  </a:lnTo>
                  <a:lnTo>
                    <a:pt x="56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Gill Sans MT" panose="020B0502020104020203" pitchFamily="34" charset="77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13573" y="1456371"/>
              <a:ext cx="56515" cy="240029"/>
            </a:xfrm>
            <a:custGeom>
              <a:avLst/>
              <a:gdLst/>
              <a:ahLst/>
              <a:cxnLst/>
              <a:rect l="l" t="t" r="r" b="b"/>
              <a:pathLst>
                <a:path w="56515" h="240030">
                  <a:moveTo>
                    <a:pt x="55994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29870"/>
                  </a:lnTo>
                  <a:lnTo>
                    <a:pt x="0" y="240030"/>
                  </a:lnTo>
                  <a:lnTo>
                    <a:pt x="55994" y="240030"/>
                  </a:lnTo>
                  <a:lnTo>
                    <a:pt x="55994" y="229870"/>
                  </a:lnTo>
                  <a:lnTo>
                    <a:pt x="20840" y="229870"/>
                  </a:lnTo>
                  <a:lnTo>
                    <a:pt x="20840" y="10160"/>
                  </a:lnTo>
                  <a:lnTo>
                    <a:pt x="55994" y="10160"/>
                  </a:lnTo>
                  <a:lnTo>
                    <a:pt x="559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Gill Sans MT" panose="020B0502020104020203" pitchFamily="34" charset="77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33385" y="1341691"/>
              <a:ext cx="132143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  <a:tabLst>
                  <a:tab pos="534035" algn="l"/>
                  <a:tab pos="1038860" algn="l"/>
                </a:tabLst>
              </a:pPr>
              <a:r>
                <a:rPr sz="2000" spc="-30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𝑥</a:t>
              </a:r>
              <a:r>
                <a:rPr sz="2250" spc="-44" baseline="-16666" dirty="0">
                  <a:solidFill>
                    <a:srgbClr val="C000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1	</a:t>
              </a:r>
              <a:r>
                <a:rPr sz="2000" spc="5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𝑥</a:t>
              </a:r>
              <a:r>
                <a:rPr sz="2250" spc="7" baseline="-16666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2	</a:t>
              </a:r>
              <a:r>
                <a:rPr sz="2000" spc="10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𝑥</a:t>
              </a:r>
              <a:r>
                <a:rPr sz="2250" spc="15" baseline="-16666" dirty="0">
                  <a:solidFill>
                    <a:srgbClr val="FF930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3</a:t>
              </a:r>
              <a:endParaRPr sz="2250" baseline="-16666" dirty="0">
                <a:latin typeface="Gill Sans MT" panose="020B0502020104020203" pitchFamily="34" charset="7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13E5D27-DE0F-3BF0-3B85-C7F29A690172}"/>
              </a:ext>
            </a:extLst>
          </p:cNvPr>
          <p:cNvGrpSpPr/>
          <p:nvPr/>
        </p:nvGrpSpPr>
        <p:grpSpPr>
          <a:xfrm>
            <a:off x="1595897" y="796353"/>
            <a:ext cx="2084261" cy="373444"/>
            <a:chOff x="215225" y="771460"/>
            <a:chExt cx="2084261" cy="373444"/>
          </a:xfrm>
        </p:grpSpPr>
        <p:sp>
          <p:nvSpPr>
            <p:cNvPr id="35" name="object 35"/>
            <p:cNvSpPr/>
            <p:nvPr/>
          </p:nvSpPr>
          <p:spPr>
            <a:xfrm>
              <a:off x="227734" y="876743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29">
                  <a:moveTo>
                    <a:pt x="167944" y="0"/>
                  </a:moveTo>
                  <a:lnTo>
                    <a:pt x="161290" y="7493"/>
                  </a:lnTo>
                  <a:lnTo>
                    <a:pt x="181381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81381" y="36830"/>
                  </a:lnTo>
                  <a:lnTo>
                    <a:pt x="161290" y="54228"/>
                  </a:lnTo>
                  <a:lnTo>
                    <a:pt x="167944" y="61722"/>
                  </a:lnTo>
                  <a:lnTo>
                    <a:pt x="199466" y="34544"/>
                  </a:lnTo>
                  <a:lnTo>
                    <a:pt x="199466" y="27305"/>
                  </a:lnTo>
                  <a:lnTo>
                    <a:pt x="16794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>
                <a:latin typeface="Gill Sans MT" panose="020B0502020104020203" pitchFamily="34" charset="77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215225" y="810259"/>
              <a:ext cx="485140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20" dirty="0">
                  <a:solidFill>
                    <a:srgbClr val="0096FF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w</a:t>
              </a:r>
              <a:r>
                <a:rPr sz="2000" spc="5" dirty="0">
                  <a:solidFill>
                    <a:srgbClr val="0096FF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Gill Sans MT" panose="020B0502020104020203" pitchFamily="34" charset="77"/>
                  <a:cs typeface="Times New Roman" panose="02020603050405020304" pitchFamily="18" charset="0"/>
                </a:rPr>
                <a:t>=</a:t>
              </a:r>
              <a:endParaRPr sz="2000" dirty="0">
                <a:latin typeface="Gill Sans MT" panose="020B0502020104020203" pitchFamily="34" charset="77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2242971" y="887411"/>
              <a:ext cx="56515" cy="240029"/>
            </a:xfrm>
            <a:custGeom>
              <a:avLst/>
              <a:gdLst/>
              <a:ahLst/>
              <a:cxnLst/>
              <a:rect l="l" t="t" r="r" b="b"/>
              <a:pathLst>
                <a:path w="56514" h="240029">
                  <a:moveTo>
                    <a:pt x="5600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5052" y="10160"/>
                  </a:lnTo>
                  <a:lnTo>
                    <a:pt x="35052" y="229870"/>
                  </a:lnTo>
                  <a:lnTo>
                    <a:pt x="0" y="229870"/>
                  </a:lnTo>
                  <a:lnTo>
                    <a:pt x="0" y="240030"/>
                  </a:lnTo>
                  <a:lnTo>
                    <a:pt x="56007" y="240030"/>
                  </a:lnTo>
                  <a:lnTo>
                    <a:pt x="56007" y="229870"/>
                  </a:lnTo>
                  <a:lnTo>
                    <a:pt x="56007" y="10160"/>
                  </a:lnTo>
                  <a:lnTo>
                    <a:pt x="56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Gill Sans MT" panose="020B0502020104020203" pitchFamily="34" charset="77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80248" y="887411"/>
              <a:ext cx="56515" cy="240029"/>
            </a:xfrm>
            <a:custGeom>
              <a:avLst/>
              <a:gdLst/>
              <a:ahLst/>
              <a:cxnLst/>
              <a:rect l="l" t="t" r="r" b="b"/>
              <a:pathLst>
                <a:path w="56515" h="240029">
                  <a:moveTo>
                    <a:pt x="5600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29870"/>
                  </a:lnTo>
                  <a:lnTo>
                    <a:pt x="0" y="240030"/>
                  </a:lnTo>
                  <a:lnTo>
                    <a:pt x="56007" y="240030"/>
                  </a:lnTo>
                  <a:lnTo>
                    <a:pt x="56007" y="229870"/>
                  </a:lnTo>
                  <a:lnTo>
                    <a:pt x="20840" y="229870"/>
                  </a:lnTo>
                  <a:lnTo>
                    <a:pt x="20840" y="10160"/>
                  </a:lnTo>
                  <a:lnTo>
                    <a:pt x="56007" y="10160"/>
                  </a:lnTo>
                  <a:lnTo>
                    <a:pt x="56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Gill Sans MT" panose="020B0502020104020203" pitchFamily="34" charset="77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84185" y="771460"/>
              <a:ext cx="149288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63500">
                <a:lnSpc>
                  <a:spcPct val="100000"/>
                </a:lnSpc>
                <a:spcBef>
                  <a:spcPts val="130"/>
                </a:spcBef>
                <a:tabLst>
                  <a:tab pos="606425" algn="l"/>
                  <a:tab pos="1160145" algn="l"/>
                </a:tabLst>
              </a:pPr>
              <a:r>
                <a:rPr sz="2000" spc="-85" dirty="0">
                  <a:solidFill>
                    <a:srgbClr val="0070C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𝑤</a:t>
              </a:r>
              <a:r>
                <a:rPr sz="2250" spc="-127" baseline="-16666" dirty="0">
                  <a:solidFill>
                    <a:srgbClr val="0070C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1	</a:t>
              </a:r>
              <a:r>
                <a:rPr sz="2000" spc="-45" dirty="0">
                  <a:solidFill>
                    <a:srgbClr val="0070C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𝑤</a:t>
              </a:r>
              <a:r>
                <a:rPr sz="2250" spc="-67" baseline="-16666" dirty="0">
                  <a:solidFill>
                    <a:srgbClr val="0070C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2	</a:t>
              </a:r>
              <a:r>
                <a:rPr sz="2000" spc="-45" dirty="0">
                  <a:solidFill>
                    <a:srgbClr val="0070C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𝑤</a:t>
              </a:r>
              <a:r>
                <a:rPr sz="2250" spc="-67" baseline="-16666" dirty="0">
                  <a:solidFill>
                    <a:srgbClr val="0070C0"/>
                  </a:solidFill>
                  <a:latin typeface="Gill Sans MT" panose="020B0502020104020203" pitchFamily="34" charset="77"/>
                  <a:cs typeface="Times New Roman" panose="02020603050405020304" pitchFamily="18" charset="0"/>
                </a:rPr>
                <a:t>3</a:t>
              </a:r>
              <a:endParaRPr sz="2250" baseline="-16666" dirty="0">
                <a:solidFill>
                  <a:srgbClr val="0070C0"/>
                </a:solidFill>
                <a:latin typeface="Gill Sans MT" panose="020B0502020104020203" pitchFamily="34" charset="77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570218" y="824529"/>
            <a:ext cx="17862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solidFill>
                  <a:srgbClr val="0096FF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𝑏</a:t>
            </a:r>
            <a:r>
              <a:rPr sz="2000" spc="240" dirty="0">
                <a:solidFill>
                  <a:srgbClr val="0096FF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Gill Sans MT" panose="020B0502020104020203" pitchFamily="34" charset="77"/>
                <a:cs typeface="Verdana"/>
              </a:rPr>
              <a:t>is</a:t>
            </a:r>
            <a:r>
              <a:rPr sz="2000" spc="20" dirty="0">
                <a:latin typeface="Gill Sans MT" panose="020B0502020104020203" pitchFamily="34" charset="77"/>
                <a:cs typeface="Verdana"/>
              </a:rPr>
              <a:t> </a:t>
            </a:r>
            <a:r>
              <a:rPr sz="2000" spc="15" dirty="0">
                <a:latin typeface="Gill Sans MT" panose="020B0502020104020203" pitchFamily="34" charset="77"/>
                <a:cs typeface="Verdana"/>
              </a:rPr>
              <a:t>a</a:t>
            </a:r>
            <a:r>
              <a:rPr sz="2000" spc="-65" dirty="0">
                <a:latin typeface="Gill Sans MT" panose="020B0502020104020203" pitchFamily="34" charset="77"/>
                <a:cs typeface="Verdana"/>
              </a:rPr>
              <a:t> </a:t>
            </a:r>
            <a:r>
              <a:rPr sz="2000" spc="10" dirty="0">
                <a:latin typeface="Gill Sans MT" panose="020B0502020104020203" pitchFamily="34" charset="77"/>
                <a:cs typeface="Verdana"/>
              </a:rPr>
              <a:t>number</a:t>
            </a:r>
            <a:endParaRPr sz="2000" dirty="0">
              <a:latin typeface="Gill Sans MT" panose="020B0502020104020203" pitchFamily="34" charset="77"/>
              <a:cs typeface="Verdana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3A7ED0C-7BBF-42D2-186D-D2779A49F0B9}"/>
              </a:ext>
            </a:extLst>
          </p:cNvPr>
          <p:cNvGrpSpPr/>
          <p:nvPr/>
        </p:nvGrpSpPr>
        <p:grpSpPr>
          <a:xfrm>
            <a:off x="381000" y="1997952"/>
            <a:ext cx="4010025" cy="1130809"/>
            <a:chOff x="122198" y="1917508"/>
            <a:chExt cx="4010025" cy="1130809"/>
          </a:xfrm>
        </p:grpSpPr>
        <p:sp>
          <p:nvSpPr>
            <p:cNvPr id="47" name="object 47"/>
            <p:cNvSpPr/>
            <p:nvPr/>
          </p:nvSpPr>
          <p:spPr>
            <a:xfrm>
              <a:off x="122198" y="2124392"/>
              <a:ext cx="4010025" cy="923925"/>
            </a:xfrm>
            <a:custGeom>
              <a:avLst/>
              <a:gdLst/>
              <a:ahLst/>
              <a:cxnLst/>
              <a:rect l="l" t="t" r="r" b="b"/>
              <a:pathLst>
                <a:path w="4010025" h="923925">
                  <a:moveTo>
                    <a:pt x="4010025" y="0"/>
                  </a:moveTo>
                  <a:lnTo>
                    <a:pt x="0" y="0"/>
                  </a:lnTo>
                  <a:lnTo>
                    <a:pt x="0" y="923925"/>
                  </a:lnTo>
                  <a:lnTo>
                    <a:pt x="4010025" y="9239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122198" y="2124392"/>
              <a:ext cx="4010025" cy="85190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95250" marR="92075">
                <a:lnSpc>
                  <a:spcPct val="101000"/>
                </a:lnSpc>
                <a:spcBef>
                  <a:spcPts val="120"/>
                </a:spcBef>
              </a:pPr>
              <a:r>
                <a:rPr sz="1800" b="1" dirty="0">
                  <a:latin typeface="Courier New"/>
                  <a:cs typeface="Courier New"/>
                </a:rPr>
                <a:t>w</a:t>
              </a:r>
              <a:r>
                <a:rPr sz="1800" b="1" spc="-10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=</a:t>
              </a:r>
              <a:r>
                <a:rPr sz="1800" b="1" spc="-30" dirty="0">
                  <a:latin typeface="Courier New"/>
                  <a:cs typeface="Courier New"/>
                </a:rPr>
                <a:t> </a:t>
              </a:r>
              <a:r>
                <a:rPr sz="1800" b="1" spc="-10" dirty="0">
                  <a:solidFill>
                    <a:srgbClr val="0432FF"/>
                  </a:solidFill>
                  <a:latin typeface="Courier New"/>
                  <a:cs typeface="Courier New"/>
                </a:rPr>
                <a:t>np</a:t>
              </a:r>
              <a:r>
                <a:rPr sz="1800" b="1" spc="-10" dirty="0">
                  <a:latin typeface="Courier New"/>
                  <a:cs typeface="Courier New"/>
                </a:rPr>
                <a:t>.array([1.0,2.5,-3.3]) </a:t>
              </a:r>
              <a:r>
                <a:rPr sz="1800" b="1" spc="-106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b</a:t>
              </a:r>
              <a:r>
                <a:rPr sz="1800" b="1" spc="-70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=</a:t>
              </a:r>
              <a:r>
                <a:rPr sz="1800" b="1" spc="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4</a:t>
              </a:r>
              <a:endParaRPr sz="1800" dirty="0">
                <a:latin typeface="Courier New"/>
                <a:cs typeface="Courier New"/>
              </a:endParaRPr>
            </a:p>
            <a:p>
              <a:pPr marL="95250">
                <a:lnSpc>
                  <a:spcPct val="100000"/>
                </a:lnSpc>
                <a:spcBef>
                  <a:spcPts val="15"/>
                </a:spcBef>
              </a:pPr>
              <a:r>
                <a:rPr sz="1800" b="1" dirty="0">
                  <a:latin typeface="Courier New"/>
                  <a:cs typeface="Courier New"/>
                </a:rPr>
                <a:t>x</a:t>
              </a:r>
              <a:r>
                <a:rPr sz="1800" b="1" spc="-8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=</a:t>
              </a:r>
              <a:r>
                <a:rPr sz="1800" b="1" spc="-5" dirty="0">
                  <a:latin typeface="Courier New"/>
                  <a:cs typeface="Courier New"/>
                </a:rPr>
                <a:t> </a:t>
              </a:r>
              <a:r>
                <a:rPr sz="1800" b="1" spc="-10" dirty="0">
                  <a:solidFill>
                    <a:srgbClr val="0432FF"/>
                  </a:solidFill>
                  <a:latin typeface="Courier New"/>
                  <a:cs typeface="Courier New"/>
                </a:rPr>
                <a:t>np</a:t>
              </a:r>
              <a:r>
                <a:rPr sz="1800" b="1" spc="-10" dirty="0">
                  <a:latin typeface="Courier New"/>
                  <a:cs typeface="Courier New"/>
                </a:rPr>
                <a:t>.array([10,20,30])</a:t>
              </a:r>
              <a:endParaRPr sz="1800" dirty="0">
                <a:latin typeface="Courier New"/>
                <a:cs typeface="Courier New"/>
              </a:endParaRPr>
            </a:p>
          </p:txBody>
        </p:sp>
        <p:grpSp>
          <p:nvGrpSpPr>
            <p:cNvPr id="52" name="object 52"/>
            <p:cNvGrpSpPr/>
            <p:nvPr/>
          </p:nvGrpSpPr>
          <p:grpSpPr>
            <a:xfrm>
              <a:off x="1901560" y="1917508"/>
              <a:ext cx="1895475" cy="765810"/>
              <a:chOff x="1950812" y="1469516"/>
              <a:chExt cx="1895475" cy="765810"/>
            </a:xfrm>
          </p:grpSpPr>
          <p:pic>
            <p:nvPicPr>
              <p:cNvPr id="53" name="object 5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50812" y="1494535"/>
                <a:ext cx="435415" cy="173100"/>
              </a:xfrm>
              <a:prstGeom prst="rect">
                <a:avLst/>
              </a:prstGeom>
            </p:spPr>
          </p:pic>
          <p:pic>
            <p:nvPicPr>
              <p:cNvPr id="54" name="object 5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698611" y="1469516"/>
                <a:ext cx="407935" cy="185674"/>
              </a:xfrm>
              <a:prstGeom prst="rect">
                <a:avLst/>
              </a:prstGeom>
            </p:spPr>
          </p:pic>
          <p:pic>
            <p:nvPicPr>
              <p:cNvPr id="55" name="object 55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392169" y="1474977"/>
                <a:ext cx="453643" cy="176022"/>
              </a:xfrm>
              <a:prstGeom prst="rect">
                <a:avLst/>
              </a:prstGeom>
            </p:spPr>
          </p:pic>
          <p:pic>
            <p:nvPicPr>
              <p:cNvPr id="56" name="object 56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14823" y="2040127"/>
                <a:ext cx="376713" cy="195072"/>
              </a:xfrm>
              <a:prstGeom prst="rect">
                <a:avLst/>
              </a:prstGeom>
            </p:spPr>
          </p:pic>
          <p:pic>
            <p:nvPicPr>
              <p:cNvPr id="57" name="object 57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68701" y="2042413"/>
                <a:ext cx="385064" cy="188341"/>
              </a:xfrm>
              <a:prstGeom prst="rect">
                <a:avLst/>
              </a:prstGeom>
            </p:spPr>
          </p:pic>
          <p:pic>
            <p:nvPicPr>
              <p:cNvPr id="58" name="object 58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101212" y="2010155"/>
                <a:ext cx="390906" cy="217169"/>
              </a:xfrm>
              <a:prstGeom prst="rect">
                <a:avLst/>
              </a:prstGeom>
            </p:spPr>
          </p:pic>
        </p:grpSp>
      </p:grpSp>
      <p:sp>
        <p:nvSpPr>
          <p:cNvPr id="63" name="object 63"/>
          <p:cNvSpPr txBox="1"/>
          <p:nvPr/>
        </p:nvSpPr>
        <p:spPr>
          <a:xfrm>
            <a:off x="311181" y="1478595"/>
            <a:ext cx="3895172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6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sz="2400" spc="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6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400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9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</a:t>
            </a:r>
            <a:r>
              <a:rPr sz="2400" spc="-16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400" spc="-7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xfrm>
            <a:off x="173632" y="93340"/>
            <a:ext cx="7674764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4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spc="-18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sz="2800" spc="-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3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spc="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GB" sz="28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vectorization </a:t>
            </a:r>
            <a:endParaRPr sz="28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object 8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6174" y="3973988"/>
            <a:ext cx="1344076" cy="400678"/>
          </a:xfrm>
          <a:prstGeom prst="rect">
            <a:avLst/>
          </a:prstGeom>
        </p:spPr>
      </p:pic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1EC457A6-0890-2F87-4CC9-EA6422DE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14</a:t>
            </a:fld>
            <a:endParaRPr lang="en-P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0173F7E-08CA-1F52-E050-05DE5CB48BF0}"/>
              </a:ext>
            </a:extLst>
          </p:cNvPr>
          <p:cNvSpPr txBox="1"/>
          <p:nvPr/>
        </p:nvSpPr>
        <p:spPr>
          <a:xfrm>
            <a:off x="247475" y="818718"/>
            <a:ext cx="1080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Gill Sans MT" panose="020B0502020104020203" pitchFamily="34" charset="77"/>
              </a:rPr>
              <a:t>for n = 3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44DAF7-94ED-FDBA-0E7C-8E16912BD5A6}"/>
              </a:ext>
            </a:extLst>
          </p:cNvPr>
          <p:cNvSpPr txBox="1"/>
          <p:nvPr/>
        </p:nvSpPr>
        <p:spPr>
          <a:xfrm>
            <a:off x="1971571" y="4028996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Linear algebra library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856E19-C5EB-D537-526F-4AD5B1DDE62C}"/>
              </a:ext>
            </a:extLst>
          </p:cNvPr>
          <p:cNvSpPr txBox="1"/>
          <p:nvPr/>
        </p:nvSpPr>
        <p:spPr>
          <a:xfrm>
            <a:off x="381000" y="3233862"/>
            <a:ext cx="3018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lang="en-US" sz="2400" spc="10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c</a:t>
            </a:r>
            <a:r>
              <a:rPr lang="en-US" sz="2400" spc="4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o</a:t>
            </a:r>
            <a:r>
              <a:rPr lang="en-US" sz="2400" spc="20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d</a:t>
            </a:r>
            <a:r>
              <a:rPr lang="en-US" sz="2400" spc="-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e</a:t>
            </a:r>
            <a:r>
              <a:rPr lang="en-US" sz="2400" spc="10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:</a:t>
            </a:r>
            <a:r>
              <a:rPr lang="en-US" sz="2400" spc="-9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 </a:t>
            </a:r>
            <a:r>
              <a:rPr lang="en-US" sz="2400" spc="10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c</a:t>
            </a:r>
            <a:r>
              <a:rPr lang="en-US" sz="2400" spc="4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o</a:t>
            </a:r>
            <a:r>
              <a:rPr lang="en-US" sz="2400" spc="1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unt</a:t>
            </a:r>
            <a:r>
              <a:rPr lang="en-US" sz="2400" spc="-160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 </a:t>
            </a:r>
            <a:r>
              <a:rPr lang="en-US" sz="2400" spc="2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f</a:t>
            </a:r>
            <a:r>
              <a:rPr lang="en-US" sz="2400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r</a:t>
            </a:r>
            <a:r>
              <a:rPr lang="en-US" sz="2400" spc="4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o</a:t>
            </a:r>
            <a:r>
              <a:rPr lang="en-US" sz="2400" spc="2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m</a:t>
            </a:r>
            <a:r>
              <a:rPr lang="en-US" sz="2400" spc="-7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 </a:t>
            </a:r>
            <a:r>
              <a:rPr lang="en-US" sz="2400" spc="15" dirty="0">
                <a:solidFill>
                  <a:srgbClr val="C00000"/>
                </a:solidFill>
                <a:latin typeface="Gill Sans MT" panose="020B0502020104020203" pitchFamily="34" charset="77"/>
                <a:cs typeface="Verdana"/>
              </a:rPr>
              <a:t>0</a:t>
            </a:r>
            <a:endParaRPr lang="en-US" sz="2400" dirty="0">
              <a:solidFill>
                <a:srgbClr val="C00000"/>
              </a:solidFill>
              <a:latin typeface="Gill Sans MT" panose="020B0502020104020203" pitchFamily="34" charset="77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74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400" spc="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400" spc="1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50194" y="189977"/>
            <a:ext cx="3967352" cy="10810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3200" spc="5" dirty="0">
                <a:solidFill>
                  <a:srgbClr val="15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3200" spc="-100" dirty="0">
                <a:solidFill>
                  <a:srgbClr val="15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15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  <a:r>
              <a:rPr lang="en-GB" sz="3200" dirty="0">
                <a:solidFill>
                  <a:srgbClr val="15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vs. with Vectorization  </a:t>
            </a:r>
            <a:endParaRPr sz="3200" dirty="0">
              <a:solidFill>
                <a:srgbClr val="1501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1EC457A6-0890-2F87-4CC9-EA6422DE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15</a:t>
            </a:fld>
            <a:endParaRPr lang="en-P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F249C39-E66A-2904-DC13-598950B3663D}"/>
              </a:ext>
            </a:extLst>
          </p:cNvPr>
          <p:cNvGrpSpPr/>
          <p:nvPr/>
        </p:nvGrpSpPr>
        <p:grpSpPr>
          <a:xfrm>
            <a:off x="177334" y="2266013"/>
            <a:ext cx="3908425" cy="392684"/>
            <a:chOff x="134580" y="3668711"/>
            <a:chExt cx="3908425" cy="392684"/>
          </a:xfrm>
        </p:grpSpPr>
        <p:sp>
          <p:nvSpPr>
            <p:cNvPr id="87" name="object 41">
              <a:extLst>
                <a:ext uri="{FF2B5EF4-FFF2-40B4-BE49-F238E27FC236}">
                  <a16:creationId xmlns:a16="http://schemas.microsoft.com/office/drawing/2014/main" id="{93E86CA4-8883-3B74-F9D3-6E49E9EE7FB1}"/>
                </a:ext>
              </a:extLst>
            </p:cNvPr>
            <p:cNvSpPr/>
            <p:nvPr/>
          </p:nvSpPr>
          <p:spPr>
            <a:xfrm>
              <a:off x="315250" y="3830509"/>
              <a:ext cx="165735" cy="45720"/>
            </a:xfrm>
            <a:custGeom>
              <a:avLst/>
              <a:gdLst/>
              <a:ahLst/>
              <a:cxnLst/>
              <a:rect l="l" t="t" r="r" b="b"/>
              <a:pathLst>
                <a:path w="165734" h="45720">
                  <a:moveTo>
                    <a:pt x="142036" y="0"/>
                  </a:moveTo>
                  <a:lnTo>
                    <a:pt x="137109" y="5587"/>
                  </a:lnTo>
                  <a:lnTo>
                    <a:pt x="151980" y="18541"/>
                  </a:lnTo>
                  <a:lnTo>
                    <a:pt x="0" y="18541"/>
                  </a:lnTo>
                  <a:lnTo>
                    <a:pt x="0" y="27304"/>
                  </a:lnTo>
                  <a:lnTo>
                    <a:pt x="151980" y="27304"/>
                  </a:lnTo>
                  <a:lnTo>
                    <a:pt x="137109" y="40258"/>
                  </a:lnTo>
                  <a:lnTo>
                    <a:pt x="142036" y="45719"/>
                  </a:lnTo>
                  <a:lnTo>
                    <a:pt x="165379" y="25653"/>
                  </a:lnTo>
                  <a:lnTo>
                    <a:pt x="165379" y="20192"/>
                  </a:lnTo>
                  <a:lnTo>
                    <a:pt x="142036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88" name="object 42">
              <a:extLst>
                <a:ext uri="{FF2B5EF4-FFF2-40B4-BE49-F238E27FC236}">
                  <a16:creationId xmlns:a16="http://schemas.microsoft.com/office/drawing/2014/main" id="{DE63E2BF-E2E7-C8D4-480C-7B095B3407B5}"/>
                </a:ext>
              </a:extLst>
            </p:cNvPr>
            <p:cNvSpPr txBox="1"/>
            <p:nvPr/>
          </p:nvSpPr>
          <p:spPr>
            <a:xfrm>
              <a:off x="134580" y="3726115"/>
              <a:ext cx="53403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3000" b="1" spc="75" baseline="12500" dirty="0">
                  <a:solidFill>
                    <a:srgbClr val="0096FF"/>
                  </a:solidFill>
                  <a:latin typeface="Cambria Math"/>
                  <a:cs typeface="Cambria Math"/>
                </a:rPr>
                <a:t>𝑓</a:t>
              </a:r>
              <a:r>
                <a:rPr sz="1500" b="1" spc="50" dirty="0">
                  <a:solidFill>
                    <a:srgbClr val="0096FF"/>
                  </a:solidFill>
                  <a:latin typeface="Cambria Math"/>
                  <a:cs typeface="Cambria Math"/>
                </a:rPr>
                <a:t>w,𝑏</a:t>
              </a:r>
              <a:endParaRPr sz="1500" b="1" dirty="0">
                <a:latin typeface="Cambria Math"/>
                <a:cs typeface="Cambria Math"/>
              </a:endParaRPr>
            </a:p>
          </p:txBody>
        </p:sp>
        <p:grpSp>
          <p:nvGrpSpPr>
            <p:cNvPr id="89" name="object 43">
              <a:extLst>
                <a:ext uri="{FF2B5EF4-FFF2-40B4-BE49-F238E27FC236}">
                  <a16:creationId xmlns:a16="http://schemas.microsoft.com/office/drawing/2014/main" id="{16A40AB9-C9B1-CBA3-92BF-C3A41672FFA7}"/>
                </a:ext>
              </a:extLst>
            </p:cNvPr>
            <p:cNvGrpSpPr/>
            <p:nvPr/>
          </p:nvGrpSpPr>
          <p:grpSpPr>
            <a:xfrm>
              <a:off x="671218" y="3730433"/>
              <a:ext cx="290195" cy="250190"/>
              <a:chOff x="720470" y="3282441"/>
              <a:chExt cx="290195" cy="250190"/>
            </a:xfrm>
          </p:grpSpPr>
          <p:sp>
            <p:nvSpPr>
              <p:cNvPr id="91" name="object 44">
                <a:extLst>
                  <a:ext uri="{FF2B5EF4-FFF2-40B4-BE49-F238E27FC236}">
                    <a16:creationId xmlns:a16="http://schemas.microsoft.com/office/drawing/2014/main" id="{E5D8C026-2EBB-19E4-ECA4-3B4EE0C7123C}"/>
                  </a:ext>
                </a:extLst>
              </p:cNvPr>
              <p:cNvSpPr/>
              <p:nvPr/>
            </p:nvSpPr>
            <p:spPr>
              <a:xfrm>
                <a:off x="720470" y="3293871"/>
                <a:ext cx="290195" cy="238760"/>
              </a:xfrm>
              <a:custGeom>
                <a:avLst/>
                <a:gdLst/>
                <a:ahLst/>
                <a:cxnLst/>
                <a:rect l="l" t="t" r="r" b="b"/>
                <a:pathLst>
                  <a:path w="290194" h="238760">
                    <a:moveTo>
                      <a:pt x="214160" y="0"/>
                    </a:moveTo>
                    <a:lnTo>
                      <a:pt x="210769" y="9651"/>
                    </a:lnTo>
                    <a:lnTo>
                      <a:pt x="224558" y="15652"/>
                    </a:lnTo>
                    <a:lnTo>
                      <a:pt x="236418" y="23939"/>
                    </a:lnTo>
                    <a:lnTo>
                      <a:pt x="260501" y="62349"/>
                    </a:lnTo>
                    <a:lnTo>
                      <a:pt x="268414" y="117855"/>
                    </a:lnTo>
                    <a:lnTo>
                      <a:pt x="267531" y="138884"/>
                    </a:lnTo>
                    <a:lnTo>
                      <a:pt x="254279" y="190372"/>
                    </a:lnTo>
                    <a:lnTo>
                      <a:pt x="224725" y="222573"/>
                    </a:lnTo>
                    <a:lnTo>
                      <a:pt x="211150" y="228599"/>
                    </a:lnTo>
                    <a:lnTo>
                      <a:pt x="214160" y="238251"/>
                    </a:lnTo>
                    <a:lnTo>
                      <a:pt x="259680" y="211195"/>
                    </a:lnTo>
                    <a:lnTo>
                      <a:pt x="285235" y="161242"/>
                    </a:lnTo>
                    <a:lnTo>
                      <a:pt x="290131" y="119125"/>
                    </a:lnTo>
                    <a:lnTo>
                      <a:pt x="288904" y="97289"/>
                    </a:lnTo>
                    <a:lnTo>
                      <a:pt x="279083" y="58618"/>
                    </a:lnTo>
                    <a:lnTo>
                      <a:pt x="246575" y="15271"/>
                    </a:lnTo>
                    <a:lnTo>
                      <a:pt x="231431" y="6242"/>
                    </a:lnTo>
                    <a:lnTo>
                      <a:pt x="214160" y="0"/>
                    </a:lnTo>
                    <a:close/>
                  </a:path>
                  <a:path w="290194" h="238760">
                    <a:moveTo>
                      <a:pt x="75971" y="0"/>
                    </a:moveTo>
                    <a:lnTo>
                      <a:pt x="30546" y="27110"/>
                    </a:lnTo>
                    <a:lnTo>
                      <a:pt x="4914" y="77120"/>
                    </a:lnTo>
                    <a:lnTo>
                      <a:pt x="0" y="119125"/>
                    </a:lnTo>
                    <a:lnTo>
                      <a:pt x="1225" y="141035"/>
                    </a:lnTo>
                    <a:lnTo>
                      <a:pt x="11026" y="179758"/>
                    </a:lnTo>
                    <a:lnTo>
                      <a:pt x="43483" y="222996"/>
                    </a:lnTo>
                    <a:lnTo>
                      <a:pt x="75971" y="238251"/>
                    </a:lnTo>
                    <a:lnTo>
                      <a:pt x="78994" y="228599"/>
                    </a:lnTo>
                    <a:lnTo>
                      <a:pt x="65418" y="222573"/>
                    </a:lnTo>
                    <a:lnTo>
                      <a:pt x="53703" y="214201"/>
                    </a:lnTo>
                    <a:lnTo>
                      <a:pt x="29675" y="175131"/>
                    </a:lnTo>
                    <a:lnTo>
                      <a:pt x="21729" y="117855"/>
                    </a:lnTo>
                    <a:lnTo>
                      <a:pt x="22612" y="97591"/>
                    </a:lnTo>
                    <a:lnTo>
                      <a:pt x="35852" y="47370"/>
                    </a:lnTo>
                    <a:lnTo>
                      <a:pt x="65627" y="15652"/>
                    </a:lnTo>
                    <a:lnTo>
                      <a:pt x="79362" y="9651"/>
                    </a:lnTo>
                    <a:lnTo>
                      <a:pt x="7597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b="1"/>
              </a:p>
            </p:txBody>
          </p:sp>
          <p:sp>
            <p:nvSpPr>
              <p:cNvPr id="92" name="object 45">
                <a:extLst>
                  <a:ext uri="{FF2B5EF4-FFF2-40B4-BE49-F238E27FC236}">
                    <a16:creationId xmlns:a16="http://schemas.microsoft.com/office/drawing/2014/main" id="{ABA4B329-526F-5786-9DD4-F6C4ACE96BD0}"/>
                  </a:ext>
                </a:extLst>
              </p:cNvPr>
              <p:cNvSpPr/>
              <p:nvPr/>
            </p:nvSpPr>
            <p:spPr>
              <a:xfrm>
                <a:off x="802652" y="3282441"/>
                <a:ext cx="123825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2229">
                    <a:moveTo>
                      <a:pt x="91732" y="0"/>
                    </a:moveTo>
                    <a:lnTo>
                      <a:pt x="85077" y="7492"/>
                    </a:lnTo>
                    <a:lnTo>
                      <a:pt x="105168" y="25018"/>
                    </a:lnTo>
                    <a:lnTo>
                      <a:pt x="0" y="25018"/>
                    </a:lnTo>
                    <a:lnTo>
                      <a:pt x="0" y="36829"/>
                    </a:lnTo>
                    <a:lnTo>
                      <a:pt x="105168" y="36829"/>
                    </a:lnTo>
                    <a:lnTo>
                      <a:pt x="85077" y="54228"/>
                    </a:lnTo>
                    <a:lnTo>
                      <a:pt x="91732" y="61721"/>
                    </a:lnTo>
                    <a:lnTo>
                      <a:pt x="123253" y="34543"/>
                    </a:lnTo>
                    <a:lnTo>
                      <a:pt x="123253" y="27177"/>
                    </a:lnTo>
                    <a:lnTo>
                      <a:pt x="91732" y="0"/>
                    </a:lnTo>
                    <a:close/>
                  </a:path>
                </a:pathLst>
              </a:custGeom>
              <a:solidFill>
                <a:srgbClr val="FF9300"/>
              </a:solidFill>
            </p:spPr>
            <p:txBody>
              <a:bodyPr wrap="square" lIns="0" tIns="0" rIns="0" bIns="0" rtlCol="0"/>
              <a:lstStyle/>
              <a:p>
                <a:endParaRPr b="1"/>
              </a:p>
            </p:txBody>
          </p:sp>
        </p:grpSp>
        <p:sp>
          <p:nvSpPr>
            <p:cNvPr id="90" name="object 46">
              <a:extLst>
                <a:ext uri="{FF2B5EF4-FFF2-40B4-BE49-F238E27FC236}">
                  <a16:creationId xmlns:a16="http://schemas.microsoft.com/office/drawing/2014/main" id="{A1B7E415-49B0-A1A8-4FB5-8DB6BC5B9A77}"/>
                </a:ext>
              </a:extLst>
            </p:cNvPr>
            <p:cNvSpPr txBox="1"/>
            <p:nvPr/>
          </p:nvSpPr>
          <p:spPr>
            <a:xfrm>
              <a:off x="716240" y="3668711"/>
              <a:ext cx="332676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  <a:tabLst>
                  <a:tab pos="323850" algn="l"/>
                </a:tabLst>
              </a:pPr>
              <a:r>
                <a:rPr sz="2000" b="1" spc="10" dirty="0">
                  <a:solidFill>
                    <a:srgbClr val="FF9300"/>
                  </a:solidFill>
                  <a:latin typeface="Cambria Math"/>
                  <a:cs typeface="Cambria Math"/>
                </a:rPr>
                <a:t>x	</a:t>
              </a:r>
              <a:r>
                <a:rPr sz="2000" b="1" spc="20" dirty="0">
                  <a:latin typeface="Cambria Math"/>
                  <a:cs typeface="Cambria Math"/>
                </a:rPr>
                <a:t>=</a:t>
              </a:r>
              <a:r>
                <a:rPr sz="2000" b="1" spc="140" dirty="0">
                  <a:latin typeface="Cambria Math"/>
                  <a:cs typeface="Cambria Math"/>
                </a:rPr>
                <a:t> </a:t>
              </a:r>
              <a:r>
                <a:rPr sz="2000" b="1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b="1" spc="209" baseline="-16666" dirty="0">
                  <a:solidFill>
                    <a:srgbClr val="C00000"/>
                  </a:solidFill>
                  <a:latin typeface="Cambria Math"/>
                  <a:cs typeface="Cambria Math"/>
                </a:rPr>
                <a:t>1</a:t>
              </a:r>
              <a:r>
                <a:rPr sz="2000" b="1" spc="-75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250" b="1" spc="52" baseline="-16666" dirty="0">
                  <a:solidFill>
                    <a:srgbClr val="C00000"/>
                  </a:solidFill>
                  <a:latin typeface="Cambria Math"/>
                  <a:cs typeface="Cambria Math"/>
                </a:rPr>
                <a:t>1</a:t>
              </a:r>
              <a:r>
                <a:rPr sz="2250" b="1" baseline="-16666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250" b="1" spc="-157" baseline="-16666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00" b="1" spc="20" dirty="0">
                  <a:latin typeface="Cambria Math"/>
                  <a:cs typeface="Cambria Math"/>
                </a:rPr>
                <a:t>+</a:t>
              </a:r>
              <a:r>
                <a:rPr sz="2000" b="1" spc="-5" dirty="0">
                  <a:latin typeface="Cambria Math"/>
                  <a:cs typeface="Cambria Math"/>
                </a:rPr>
                <a:t> </a:t>
              </a:r>
              <a:r>
                <a:rPr sz="2000" b="1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b="1" spc="209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2</a:t>
              </a:r>
              <a:r>
                <a:rPr sz="2000" b="1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250" b="1" spc="52" baseline="-16666" dirty="0">
                  <a:solidFill>
                    <a:srgbClr val="FF9300"/>
                  </a:solidFill>
                  <a:latin typeface="Cambria Math"/>
                  <a:cs typeface="Cambria Math"/>
                </a:rPr>
                <a:t>2</a:t>
              </a:r>
              <a:r>
                <a:rPr sz="2250" b="1" spc="225" baseline="-16666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2000" b="1" spc="20" dirty="0">
                  <a:latin typeface="Cambria Math"/>
                  <a:cs typeface="Cambria Math"/>
                </a:rPr>
                <a:t>+</a:t>
              </a:r>
              <a:r>
                <a:rPr sz="2000" b="1" spc="-5" dirty="0">
                  <a:latin typeface="Cambria Math"/>
                  <a:cs typeface="Cambria Math"/>
                </a:rPr>
                <a:t> </a:t>
              </a:r>
              <a:r>
                <a:rPr sz="2000" b="1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b="1" spc="52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3</a:t>
              </a:r>
              <a:r>
                <a:rPr sz="2250" b="1" spc="-225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b="1" spc="-5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250" b="1" spc="52" baseline="-16666" dirty="0">
                  <a:solidFill>
                    <a:srgbClr val="FF9300"/>
                  </a:solidFill>
                  <a:latin typeface="Cambria Math"/>
                  <a:cs typeface="Cambria Math"/>
                </a:rPr>
                <a:t>3</a:t>
              </a:r>
              <a:r>
                <a:rPr sz="2250" b="1" spc="225" baseline="-16666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2000" b="1" spc="20" dirty="0">
                  <a:latin typeface="Cambria Math"/>
                  <a:cs typeface="Cambria Math"/>
                </a:rPr>
                <a:t>+</a:t>
              </a:r>
              <a:r>
                <a:rPr sz="2000" b="1" spc="-5" dirty="0">
                  <a:latin typeface="Cambria Math"/>
                  <a:cs typeface="Cambria Math"/>
                </a:rPr>
                <a:t> </a:t>
              </a:r>
              <a:r>
                <a:rPr sz="2000" b="1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2000" b="1" dirty="0">
                <a:latin typeface="Cambria Math"/>
                <a:cs typeface="Cambria Math"/>
              </a:endParaRPr>
            </a:p>
          </p:txBody>
        </p:sp>
      </p:grpSp>
      <p:graphicFrame>
        <p:nvGraphicFramePr>
          <p:cNvPr id="93" name="object 50">
            <a:extLst>
              <a:ext uri="{FF2B5EF4-FFF2-40B4-BE49-F238E27FC236}">
                <a16:creationId xmlns:a16="http://schemas.microsoft.com/office/drawing/2014/main" id="{DD1362BC-7318-345A-690E-6DB3136AE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695738"/>
              </p:ext>
            </p:extLst>
          </p:nvPr>
        </p:nvGraphicFramePr>
        <p:xfrm>
          <a:off x="293958" y="3040819"/>
          <a:ext cx="2845984" cy="1141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5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770"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800" b="1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b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w[</a:t>
                      </a:r>
                      <a:r>
                        <a:rPr sz="1800" b="1" spc="-5" dirty="0">
                          <a:solidFill>
                            <a:srgbClr val="FF40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6669" marB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18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x[</a:t>
                      </a:r>
                      <a:r>
                        <a:rPr sz="1800" b="1" spc="-5" dirty="0">
                          <a:solidFill>
                            <a:srgbClr val="FF40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]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6669" marB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6669" marB="0"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756">
                <a:tc>
                  <a:txBody>
                    <a:bodyPr/>
                    <a:lstStyle/>
                    <a:p>
                      <a:pPr marR="57150" algn="r">
                        <a:lnSpc>
                          <a:spcPts val="193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w[1]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93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18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x[1]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3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+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326">
                <a:tc>
                  <a:txBody>
                    <a:bodyPr/>
                    <a:lstStyle/>
                    <a:p>
                      <a:pPr marR="57150" algn="r">
                        <a:lnSpc>
                          <a:spcPts val="193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w[2]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93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1800" b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x[2]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3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800" b="1" spc="-1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b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4" name="TextBox 93">
            <a:extLst>
              <a:ext uri="{FF2B5EF4-FFF2-40B4-BE49-F238E27FC236}">
                <a16:creationId xmlns:a16="http://schemas.microsoft.com/office/drawing/2014/main" id="{3CD72C94-9854-37F7-E7F5-93DF7FC1DE4A}"/>
              </a:ext>
            </a:extLst>
          </p:cNvPr>
          <p:cNvSpPr txBox="1"/>
          <p:nvPr/>
        </p:nvSpPr>
        <p:spPr>
          <a:xfrm>
            <a:off x="66515" y="1638937"/>
            <a:ext cx="4105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P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 Direct </a:t>
            </a:r>
            <a:r>
              <a:rPr lang="en-P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C487DB-53E3-7156-D800-02F28672775C}"/>
              </a:ext>
            </a:extLst>
          </p:cNvPr>
          <p:cNvSpPr txBox="1"/>
          <p:nvPr/>
        </p:nvSpPr>
        <p:spPr>
          <a:xfrm>
            <a:off x="153214" y="4466266"/>
            <a:ext cx="3755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 library uses parallel processing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1A5FC52-D8B1-8646-8224-D0B3C8B3EC5E}"/>
              </a:ext>
            </a:extLst>
          </p:cNvPr>
          <p:cNvGrpSpPr/>
          <p:nvPr/>
        </p:nvGrpSpPr>
        <p:grpSpPr>
          <a:xfrm>
            <a:off x="4953000" y="3785663"/>
            <a:ext cx="3967352" cy="1428750"/>
            <a:chOff x="212508" y="3714750"/>
            <a:chExt cx="3967352" cy="1428750"/>
          </a:xfrm>
        </p:grpSpPr>
        <p:sp>
          <p:nvSpPr>
            <p:cNvPr id="33" name="object 33"/>
            <p:cNvSpPr txBox="1"/>
            <p:nvPr/>
          </p:nvSpPr>
          <p:spPr>
            <a:xfrm>
              <a:off x="219643" y="3741167"/>
              <a:ext cx="2909873" cy="323807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GB" sz="2000" dirty="0">
                  <a:latin typeface="Verdana"/>
                  <a:cs typeface="Verdana"/>
                </a:rPr>
                <a:t>with </a:t>
              </a:r>
              <a:r>
                <a:rPr sz="2000" dirty="0">
                  <a:latin typeface="Verdana"/>
                  <a:cs typeface="Verdana"/>
                </a:rPr>
                <a:t>Vectorization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5725D10-C5C6-D5CC-7497-981D0FCFCDD7}"/>
                </a:ext>
              </a:extLst>
            </p:cNvPr>
            <p:cNvGrpSpPr/>
            <p:nvPr/>
          </p:nvGrpSpPr>
          <p:grpSpPr>
            <a:xfrm>
              <a:off x="534980" y="4182014"/>
              <a:ext cx="2781300" cy="834448"/>
              <a:chOff x="2655420" y="4108046"/>
              <a:chExt cx="2781300" cy="834448"/>
            </a:xfrm>
          </p:grpSpPr>
          <p:sp>
            <p:nvSpPr>
              <p:cNvPr id="24" name="object 24"/>
              <p:cNvSpPr/>
              <p:nvPr/>
            </p:nvSpPr>
            <p:spPr>
              <a:xfrm>
                <a:off x="2889354" y="4269145"/>
                <a:ext cx="16573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165735" h="46354">
                    <a:moveTo>
                      <a:pt x="142112" y="0"/>
                    </a:moveTo>
                    <a:lnTo>
                      <a:pt x="137160" y="5587"/>
                    </a:lnTo>
                    <a:lnTo>
                      <a:pt x="152018" y="18541"/>
                    </a:lnTo>
                    <a:lnTo>
                      <a:pt x="0" y="18541"/>
                    </a:lnTo>
                    <a:lnTo>
                      <a:pt x="0" y="27304"/>
                    </a:lnTo>
                    <a:lnTo>
                      <a:pt x="152018" y="27304"/>
                    </a:lnTo>
                    <a:lnTo>
                      <a:pt x="137160" y="40258"/>
                    </a:lnTo>
                    <a:lnTo>
                      <a:pt x="142112" y="45846"/>
                    </a:lnTo>
                    <a:lnTo>
                      <a:pt x="165353" y="25653"/>
                    </a:lnTo>
                    <a:lnTo>
                      <a:pt x="165353" y="20192"/>
                    </a:lnTo>
                    <a:lnTo>
                      <a:pt x="142112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pPr algn="ctr"/>
                <a:endParaRPr b="1"/>
              </a:p>
            </p:txBody>
          </p:sp>
          <p:sp>
            <p:nvSpPr>
              <p:cNvPr id="25" name="object 25"/>
              <p:cNvSpPr txBox="1"/>
              <p:nvPr/>
            </p:nvSpPr>
            <p:spPr>
              <a:xfrm>
                <a:off x="2713585" y="4165196"/>
                <a:ext cx="534035" cy="334645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38100" algn="ctr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3000" b="1" spc="82" baseline="12500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𝑓</a:t>
                </a:r>
                <a:r>
                  <a:rPr sz="1500" b="1" spc="5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w,𝑏</a:t>
                </a:r>
                <a:endParaRPr sz="1500" b="1" dirty="0">
                  <a:latin typeface="Cambria Math"/>
                  <a:cs typeface="Cambria Math"/>
                </a:endParaRPr>
              </a:p>
            </p:txBody>
          </p:sp>
          <p:grpSp>
            <p:nvGrpSpPr>
              <p:cNvPr id="26" name="object 26"/>
              <p:cNvGrpSpPr/>
              <p:nvPr/>
            </p:nvGrpSpPr>
            <p:grpSpPr>
              <a:xfrm>
                <a:off x="3245335" y="4169069"/>
                <a:ext cx="290195" cy="250190"/>
                <a:chOff x="5438140" y="3385565"/>
                <a:chExt cx="290195" cy="250190"/>
              </a:xfrm>
            </p:grpSpPr>
            <p:sp>
              <p:nvSpPr>
                <p:cNvPr id="27" name="object 27"/>
                <p:cNvSpPr/>
                <p:nvPr/>
              </p:nvSpPr>
              <p:spPr>
                <a:xfrm>
                  <a:off x="5438140" y="3396995"/>
                  <a:ext cx="290195" cy="23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195" h="238760">
                      <a:moveTo>
                        <a:pt x="214122" y="0"/>
                      </a:moveTo>
                      <a:lnTo>
                        <a:pt x="210820" y="9651"/>
                      </a:lnTo>
                      <a:lnTo>
                        <a:pt x="224609" y="15652"/>
                      </a:lnTo>
                      <a:lnTo>
                        <a:pt x="236458" y="23939"/>
                      </a:lnTo>
                      <a:lnTo>
                        <a:pt x="260548" y="62351"/>
                      </a:lnTo>
                      <a:lnTo>
                        <a:pt x="268477" y="117982"/>
                      </a:lnTo>
                      <a:lnTo>
                        <a:pt x="267577" y="138955"/>
                      </a:lnTo>
                      <a:lnTo>
                        <a:pt x="254254" y="190372"/>
                      </a:lnTo>
                      <a:lnTo>
                        <a:pt x="224750" y="222573"/>
                      </a:lnTo>
                      <a:lnTo>
                        <a:pt x="211200" y="228599"/>
                      </a:lnTo>
                      <a:lnTo>
                        <a:pt x="214122" y="238251"/>
                      </a:lnTo>
                      <a:lnTo>
                        <a:pt x="259645" y="211195"/>
                      </a:lnTo>
                      <a:lnTo>
                        <a:pt x="285257" y="161258"/>
                      </a:lnTo>
                      <a:lnTo>
                        <a:pt x="290195" y="119252"/>
                      </a:lnTo>
                      <a:lnTo>
                        <a:pt x="288958" y="97397"/>
                      </a:lnTo>
                      <a:lnTo>
                        <a:pt x="279104" y="58638"/>
                      </a:lnTo>
                      <a:lnTo>
                        <a:pt x="246602" y="15319"/>
                      </a:lnTo>
                      <a:lnTo>
                        <a:pt x="231433" y="6260"/>
                      </a:lnTo>
                      <a:lnTo>
                        <a:pt x="214122" y="0"/>
                      </a:lnTo>
                      <a:close/>
                    </a:path>
                    <a:path w="290195" h="238760">
                      <a:moveTo>
                        <a:pt x="75946" y="0"/>
                      </a:moveTo>
                      <a:lnTo>
                        <a:pt x="30565" y="27164"/>
                      </a:lnTo>
                      <a:lnTo>
                        <a:pt x="4937" y="77184"/>
                      </a:lnTo>
                      <a:lnTo>
                        <a:pt x="0" y="119252"/>
                      </a:lnTo>
                      <a:lnTo>
                        <a:pt x="1216" y="141089"/>
                      </a:lnTo>
                      <a:lnTo>
                        <a:pt x="10983" y="179760"/>
                      </a:lnTo>
                      <a:lnTo>
                        <a:pt x="43465" y="222996"/>
                      </a:lnTo>
                      <a:lnTo>
                        <a:pt x="75946" y="238251"/>
                      </a:lnTo>
                      <a:lnTo>
                        <a:pt x="78994" y="228599"/>
                      </a:lnTo>
                      <a:lnTo>
                        <a:pt x="65442" y="222573"/>
                      </a:lnTo>
                      <a:lnTo>
                        <a:pt x="53736" y="214201"/>
                      </a:lnTo>
                      <a:lnTo>
                        <a:pt x="29646" y="175186"/>
                      </a:lnTo>
                      <a:lnTo>
                        <a:pt x="21717" y="117982"/>
                      </a:lnTo>
                      <a:lnTo>
                        <a:pt x="22598" y="97645"/>
                      </a:lnTo>
                      <a:lnTo>
                        <a:pt x="35813" y="47370"/>
                      </a:lnTo>
                      <a:lnTo>
                        <a:pt x="65657" y="15652"/>
                      </a:lnTo>
                      <a:lnTo>
                        <a:pt x="79375" y="9651"/>
                      </a:lnTo>
                      <a:lnTo>
                        <a:pt x="759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algn="ctr"/>
                  <a:endParaRPr b="1"/>
                </a:p>
              </p:txBody>
            </p:sp>
            <p:sp>
              <p:nvSpPr>
                <p:cNvPr id="28" name="object 28"/>
                <p:cNvSpPr/>
                <p:nvPr/>
              </p:nvSpPr>
              <p:spPr>
                <a:xfrm>
                  <a:off x="5520309" y="3385565"/>
                  <a:ext cx="123825" cy="62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2229">
                      <a:moveTo>
                        <a:pt x="91693" y="0"/>
                      </a:moveTo>
                      <a:lnTo>
                        <a:pt x="85089" y="7492"/>
                      </a:lnTo>
                      <a:lnTo>
                        <a:pt x="105155" y="25018"/>
                      </a:lnTo>
                      <a:lnTo>
                        <a:pt x="0" y="25018"/>
                      </a:lnTo>
                      <a:lnTo>
                        <a:pt x="0" y="36829"/>
                      </a:lnTo>
                      <a:lnTo>
                        <a:pt x="105155" y="36829"/>
                      </a:lnTo>
                      <a:lnTo>
                        <a:pt x="85089" y="54228"/>
                      </a:lnTo>
                      <a:lnTo>
                        <a:pt x="91693" y="61848"/>
                      </a:lnTo>
                      <a:lnTo>
                        <a:pt x="123316" y="34543"/>
                      </a:lnTo>
                      <a:lnTo>
                        <a:pt x="123316" y="27304"/>
                      </a:lnTo>
                      <a:lnTo>
                        <a:pt x="91693" y="0"/>
                      </a:lnTo>
                      <a:close/>
                    </a:path>
                  </a:pathLst>
                </a:custGeom>
                <a:solidFill>
                  <a:srgbClr val="FF9300"/>
                </a:solidFill>
              </p:spPr>
              <p:txBody>
                <a:bodyPr wrap="square" lIns="0" tIns="0" rIns="0" bIns="0" rtlCol="0"/>
                <a:lstStyle/>
                <a:p>
                  <a:pPr algn="ctr"/>
                  <a:endParaRPr b="1"/>
                </a:p>
              </p:txBody>
            </p:sp>
          </p:grpSp>
          <p:sp>
            <p:nvSpPr>
              <p:cNvPr id="29" name="object 29"/>
              <p:cNvSpPr/>
              <p:nvPr/>
            </p:nvSpPr>
            <p:spPr>
              <a:xfrm>
                <a:off x="3879954" y="4169069"/>
                <a:ext cx="200025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2229">
                    <a:moveTo>
                      <a:pt x="167893" y="0"/>
                    </a:moveTo>
                    <a:lnTo>
                      <a:pt x="161289" y="7492"/>
                    </a:lnTo>
                    <a:lnTo>
                      <a:pt x="181355" y="25018"/>
                    </a:lnTo>
                    <a:lnTo>
                      <a:pt x="0" y="25018"/>
                    </a:lnTo>
                    <a:lnTo>
                      <a:pt x="0" y="36829"/>
                    </a:lnTo>
                    <a:lnTo>
                      <a:pt x="181355" y="36829"/>
                    </a:lnTo>
                    <a:lnTo>
                      <a:pt x="161289" y="54228"/>
                    </a:lnTo>
                    <a:lnTo>
                      <a:pt x="167893" y="61848"/>
                    </a:lnTo>
                    <a:lnTo>
                      <a:pt x="199516" y="34543"/>
                    </a:lnTo>
                    <a:lnTo>
                      <a:pt x="199516" y="27304"/>
                    </a:lnTo>
                    <a:lnTo>
                      <a:pt x="167893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pPr algn="ctr"/>
                <a:endParaRPr b="1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4260954" y="4169069"/>
                <a:ext cx="123825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2229">
                    <a:moveTo>
                      <a:pt x="91693" y="0"/>
                    </a:moveTo>
                    <a:lnTo>
                      <a:pt x="85089" y="7492"/>
                    </a:lnTo>
                    <a:lnTo>
                      <a:pt x="105156" y="25018"/>
                    </a:lnTo>
                    <a:lnTo>
                      <a:pt x="0" y="25018"/>
                    </a:lnTo>
                    <a:lnTo>
                      <a:pt x="0" y="36829"/>
                    </a:lnTo>
                    <a:lnTo>
                      <a:pt x="105156" y="36829"/>
                    </a:lnTo>
                    <a:lnTo>
                      <a:pt x="85089" y="54228"/>
                    </a:lnTo>
                    <a:lnTo>
                      <a:pt x="91693" y="61848"/>
                    </a:lnTo>
                    <a:lnTo>
                      <a:pt x="123316" y="34543"/>
                    </a:lnTo>
                    <a:lnTo>
                      <a:pt x="123316" y="27304"/>
                    </a:lnTo>
                    <a:lnTo>
                      <a:pt x="91693" y="0"/>
                    </a:lnTo>
                    <a:close/>
                  </a:path>
                </a:pathLst>
              </a:custGeom>
              <a:solidFill>
                <a:srgbClr val="FF9300"/>
              </a:solidFill>
            </p:spPr>
            <p:txBody>
              <a:bodyPr wrap="square" lIns="0" tIns="0" rIns="0" bIns="0" rtlCol="0"/>
              <a:lstStyle/>
              <a:p>
                <a:pPr algn="ctr"/>
                <a:endParaRPr b="1"/>
              </a:p>
            </p:txBody>
          </p:sp>
          <p:sp>
            <p:nvSpPr>
              <p:cNvPr id="31" name="object 31"/>
              <p:cNvSpPr txBox="1"/>
              <p:nvPr/>
            </p:nvSpPr>
            <p:spPr>
              <a:xfrm>
                <a:off x="3320646" y="4108046"/>
                <a:ext cx="1518285" cy="334645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25"/>
                  </a:spcBef>
                  <a:tabLst>
                    <a:tab pos="298450" algn="l"/>
                  </a:tabLst>
                </a:pPr>
                <a:r>
                  <a:rPr sz="2000" b="1" spc="10" dirty="0">
                    <a:solidFill>
                      <a:srgbClr val="FF9300"/>
                    </a:solidFill>
                    <a:latin typeface="Cambria Math"/>
                    <a:cs typeface="Cambria Math"/>
                  </a:rPr>
                  <a:t>x	</a:t>
                </a:r>
                <a:r>
                  <a:rPr sz="2000" b="1" spc="20" dirty="0">
                    <a:latin typeface="Cambria Math"/>
                    <a:cs typeface="Cambria Math"/>
                  </a:rPr>
                  <a:t>=</a:t>
                </a:r>
                <a:r>
                  <a:rPr sz="2000" b="1" spc="120" dirty="0">
                    <a:latin typeface="Cambria Math"/>
                    <a:cs typeface="Cambria Math"/>
                  </a:rPr>
                  <a:t> </a:t>
                </a:r>
                <a:r>
                  <a:rPr sz="2000" b="1" spc="20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w</a:t>
                </a:r>
                <a:r>
                  <a:rPr sz="2000" b="1" spc="-7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 </a:t>
                </a:r>
                <a:r>
                  <a:rPr sz="2000" b="1" spc="75" dirty="0">
                    <a:latin typeface="Cambria Math"/>
                    <a:cs typeface="Cambria Math"/>
                  </a:rPr>
                  <a:t>∙</a:t>
                </a:r>
                <a:r>
                  <a:rPr sz="2000" b="1" spc="20" dirty="0">
                    <a:latin typeface="Cambria Math"/>
                    <a:cs typeface="Cambria Math"/>
                  </a:rPr>
                  <a:t> </a:t>
                </a:r>
                <a:r>
                  <a:rPr sz="2000" b="1" spc="10" dirty="0">
                    <a:solidFill>
                      <a:srgbClr val="FF9300"/>
                    </a:solidFill>
                    <a:latin typeface="Cambria Math"/>
                    <a:cs typeface="Cambria Math"/>
                  </a:rPr>
                  <a:t>x</a:t>
                </a:r>
                <a:r>
                  <a:rPr sz="2000" b="1" spc="-15" dirty="0">
                    <a:solidFill>
                      <a:srgbClr val="FF930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000" b="1" spc="20" dirty="0">
                    <a:latin typeface="Cambria Math"/>
                    <a:cs typeface="Cambria Math"/>
                  </a:rPr>
                  <a:t>+</a:t>
                </a:r>
                <a:r>
                  <a:rPr sz="2000" b="1" spc="-95" dirty="0">
                    <a:latin typeface="Cambria Math"/>
                    <a:cs typeface="Cambria Math"/>
                  </a:rPr>
                  <a:t> </a:t>
                </a:r>
                <a:r>
                  <a:rPr sz="2000" b="1" spc="10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𝑏</a:t>
                </a:r>
                <a:endParaRPr sz="2000" b="1">
                  <a:latin typeface="Cambria Math"/>
                  <a:cs typeface="Cambria Math"/>
                </a:endParaRPr>
              </a:p>
            </p:txBody>
          </p:sp>
          <p:sp>
            <p:nvSpPr>
              <p:cNvPr id="34" name="object 34"/>
              <p:cNvSpPr txBox="1"/>
              <p:nvPr/>
            </p:nvSpPr>
            <p:spPr>
              <a:xfrm>
                <a:off x="2655420" y="4641129"/>
                <a:ext cx="2781300" cy="301365"/>
              </a:xfrm>
              <a:prstGeom prst="rect">
                <a:avLst/>
              </a:prstGeom>
              <a:solidFill>
                <a:srgbClr val="DEDEDE"/>
              </a:solidFill>
            </p:spPr>
            <p:txBody>
              <a:bodyPr vert="horz" wrap="square" lIns="0" tIns="24130" rIns="0" bIns="0" rtlCol="0">
                <a:spAutoFit/>
              </a:bodyPr>
              <a:lstStyle/>
              <a:p>
                <a:pPr marL="95885" algn="ctr">
                  <a:lnSpc>
                    <a:spcPct val="100000"/>
                  </a:lnSpc>
                  <a:spcBef>
                    <a:spcPts val="190"/>
                  </a:spcBef>
                </a:pPr>
                <a:r>
                  <a:rPr sz="1800" b="1" dirty="0">
                    <a:latin typeface="Courier New"/>
                    <a:cs typeface="Courier New"/>
                  </a:rPr>
                  <a:t>f</a:t>
                </a:r>
                <a:r>
                  <a:rPr sz="1800" b="1" spc="-80" dirty="0">
                    <a:latin typeface="Courier New"/>
                    <a:cs typeface="Courier New"/>
                  </a:rPr>
                  <a:t> </a:t>
                </a:r>
                <a:r>
                  <a:rPr sz="1800" b="1" dirty="0">
                    <a:latin typeface="Courier New"/>
                    <a:cs typeface="Courier New"/>
                  </a:rPr>
                  <a:t>= </a:t>
                </a:r>
                <a:r>
                  <a:rPr sz="1800" b="1" spc="-10" dirty="0">
                    <a:solidFill>
                      <a:srgbClr val="0432FF"/>
                    </a:solidFill>
                    <a:latin typeface="Courier New"/>
                    <a:cs typeface="Courier New"/>
                  </a:rPr>
                  <a:t>np</a:t>
                </a:r>
                <a:r>
                  <a:rPr sz="1800" b="1" spc="-10" dirty="0">
                    <a:latin typeface="Courier New"/>
                    <a:cs typeface="Courier New"/>
                  </a:rPr>
                  <a:t>.dot(w,x)</a:t>
                </a:r>
                <a:r>
                  <a:rPr sz="1800" b="1" spc="-5" dirty="0">
                    <a:latin typeface="Courier New"/>
                    <a:cs typeface="Courier New"/>
                  </a:rPr>
                  <a:t> </a:t>
                </a:r>
                <a:r>
                  <a:rPr sz="1800" b="1" dirty="0">
                    <a:latin typeface="Courier New"/>
                    <a:cs typeface="Courier New"/>
                  </a:rPr>
                  <a:t>+</a:t>
                </a:r>
                <a:r>
                  <a:rPr sz="1800" b="1" spc="-75" dirty="0">
                    <a:latin typeface="Courier New"/>
                    <a:cs typeface="Courier New"/>
                  </a:rPr>
                  <a:t> </a:t>
                </a:r>
                <a:r>
                  <a:rPr sz="1800" b="1" dirty="0">
                    <a:latin typeface="Courier New"/>
                    <a:cs typeface="Courier New"/>
                  </a:rPr>
                  <a:t>b</a:t>
                </a:r>
              </a:p>
            </p:txBody>
          </p:sp>
        </p:grp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441844B-276A-9F04-4FDB-D33A8BE56B75}"/>
                </a:ext>
              </a:extLst>
            </p:cNvPr>
            <p:cNvSpPr/>
            <p:nvPr/>
          </p:nvSpPr>
          <p:spPr>
            <a:xfrm>
              <a:off x="212508" y="3714750"/>
              <a:ext cx="3967352" cy="14287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PS"/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B5B788-7623-4A41-9568-7E70A021FE69}"/>
              </a:ext>
            </a:extLst>
          </p:cNvPr>
          <p:cNvSpPr/>
          <p:nvPr/>
        </p:nvSpPr>
        <p:spPr>
          <a:xfrm>
            <a:off x="66515" y="1561269"/>
            <a:ext cx="4182776" cy="2843275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EAEB7B-BB0C-2743-B26D-270AF1F37381}"/>
              </a:ext>
            </a:extLst>
          </p:cNvPr>
          <p:cNvGrpSpPr/>
          <p:nvPr/>
        </p:nvGrpSpPr>
        <p:grpSpPr>
          <a:xfrm>
            <a:off x="4894712" y="55625"/>
            <a:ext cx="4111268" cy="3657731"/>
            <a:chOff x="4907821" y="666750"/>
            <a:chExt cx="4236179" cy="3833637"/>
          </a:xfrm>
        </p:grpSpPr>
        <p:sp>
          <p:nvSpPr>
            <p:cNvPr id="32" name="object 32"/>
            <p:cNvSpPr txBox="1"/>
            <p:nvPr/>
          </p:nvSpPr>
          <p:spPr>
            <a:xfrm>
              <a:off x="5397651" y="3016626"/>
              <a:ext cx="3166110" cy="1130300"/>
            </a:xfrm>
            <a:prstGeom prst="rect">
              <a:avLst/>
            </a:prstGeom>
            <a:solidFill>
              <a:schemeClr val="bg2"/>
            </a:solidFill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-100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=</a:t>
              </a:r>
              <a:r>
                <a:rPr sz="1800" b="1" spc="-20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0</a:t>
              </a:r>
              <a:endParaRPr sz="1800" dirty="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20"/>
                </a:spcBef>
              </a:pPr>
              <a:r>
                <a:rPr sz="1800" b="1" spc="-25" dirty="0">
                  <a:latin typeface="Courier New"/>
                  <a:cs typeface="Courier New"/>
                </a:rPr>
                <a:t>for</a:t>
              </a:r>
              <a:r>
                <a:rPr sz="1800" b="1" spc="-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j</a:t>
              </a:r>
              <a:r>
                <a:rPr sz="1800" b="1" spc="-75" dirty="0">
                  <a:latin typeface="Courier New"/>
                  <a:cs typeface="Courier New"/>
                </a:rPr>
                <a:t> </a:t>
              </a:r>
              <a:r>
                <a:rPr sz="1800" b="1" spc="20" dirty="0">
                  <a:latin typeface="Courier New"/>
                  <a:cs typeface="Courier New"/>
                </a:rPr>
                <a:t>in</a:t>
              </a:r>
              <a:r>
                <a:rPr sz="1800" b="1" spc="-80" dirty="0">
                  <a:latin typeface="Courier New"/>
                  <a:cs typeface="Courier New"/>
                </a:rPr>
                <a:t> </a:t>
              </a:r>
              <a:r>
                <a:rPr sz="1800" b="1" spc="-5" dirty="0">
                  <a:latin typeface="Courier New"/>
                  <a:cs typeface="Courier New"/>
                </a:rPr>
                <a:t>range(</a:t>
              </a:r>
              <a:r>
                <a:rPr sz="1800" b="1" spc="-5" dirty="0">
                  <a:solidFill>
                    <a:srgbClr val="C00000"/>
                  </a:solidFill>
                  <a:latin typeface="Courier New"/>
                  <a:cs typeface="Courier New"/>
                </a:rPr>
                <a:t>0</a:t>
              </a:r>
              <a:r>
                <a:rPr sz="1800" b="1" spc="-5" dirty="0">
                  <a:latin typeface="Courier New"/>
                  <a:cs typeface="Courier New"/>
                </a:rPr>
                <a:t>,n):</a:t>
              </a:r>
              <a:endParaRPr sz="1800" dirty="0">
                <a:latin typeface="Courier New"/>
                <a:cs typeface="Courier New"/>
              </a:endParaRPr>
            </a:p>
            <a:p>
              <a:pPr marL="556260">
                <a:lnSpc>
                  <a:spcPct val="100000"/>
                </a:lnSpc>
                <a:spcBef>
                  <a:spcPts val="20"/>
                </a:spcBef>
              </a:pP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-70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=</a:t>
              </a:r>
              <a:r>
                <a:rPr sz="1800" b="1" spc="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+</a:t>
              </a:r>
              <a:r>
                <a:rPr sz="1800" b="1" spc="-75" dirty="0">
                  <a:latin typeface="Courier New"/>
                  <a:cs typeface="Courier New"/>
                </a:rPr>
                <a:t> </a:t>
              </a:r>
              <a:r>
                <a:rPr sz="1800" b="1" spc="-10" dirty="0">
                  <a:latin typeface="Courier New"/>
                  <a:cs typeface="Courier New"/>
                </a:rPr>
                <a:t>w[j]</a:t>
              </a:r>
              <a:r>
                <a:rPr sz="1800" b="1" spc="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*</a:t>
              </a:r>
              <a:r>
                <a:rPr sz="1800" b="1" spc="5" dirty="0">
                  <a:latin typeface="Courier New"/>
                  <a:cs typeface="Courier New"/>
                </a:rPr>
                <a:t> </a:t>
              </a:r>
              <a:r>
                <a:rPr sz="1800" b="1" spc="-10" dirty="0">
                  <a:latin typeface="Courier New"/>
                  <a:cs typeface="Courier New"/>
                </a:rPr>
                <a:t>x[j]</a:t>
              </a:r>
              <a:endParaRPr sz="1800" dirty="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spcBef>
                  <a:spcPts val="15"/>
                </a:spcBef>
              </a:pP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-8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=</a:t>
              </a:r>
              <a:r>
                <a:rPr sz="1800" b="1" spc="-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-80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+ b</a:t>
              </a:r>
              <a:endParaRPr sz="1800" dirty="0">
                <a:latin typeface="Courier New"/>
                <a:cs typeface="Courier New"/>
              </a:endParaRPr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D95028D-FFB8-ACB3-DC4B-44460ECA37D1}"/>
                </a:ext>
              </a:extLst>
            </p:cNvPr>
            <p:cNvGrpSpPr/>
            <p:nvPr/>
          </p:nvGrpSpPr>
          <p:grpSpPr>
            <a:xfrm>
              <a:off x="4939816" y="1513729"/>
              <a:ext cx="4081780" cy="1341693"/>
              <a:chOff x="4937171" y="870424"/>
              <a:chExt cx="4081780" cy="1341693"/>
            </a:xfrm>
          </p:grpSpPr>
          <p:grpSp>
            <p:nvGrpSpPr>
              <p:cNvPr id="13" name="object 13"/>
              <p:cNvGrpSpPr/>
              <p:nvPr/>
            </p:nvGrpSpPr>
            <p:grpSpPr>
              <a:xfrm>
                <a:off x="5809781" y="1005235"/>
                <a:ext cx="1326515" cy="745249"/>
                <a:chOff x="5815457" y="596772"/>
                <a:chExt cx="1326515" cy="679958"/>
              </a:xfrm>
            </p:grpSpPr>
            <p:sp>
              <p:nvSpPr>
                <p:cNvPr id="14" name="object 14"/>
                <p:cNvSpPr/>
                <p:nvPr/>
              </p:nvSpPr>
              <p:spPr>
                <a:xfrm>
                  <a:off x="5815457" y="596772"/>
                  <a:ext cx="566420" cy="491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420" h="491490">
                      <a:moveTo>
                        <a:pt x="154686" y="263271"/>
                      </a:moveTo>
                      <a:lnTo>
                        <a:pt x="0" y="263271"/>
                      </a:lnTo>
                      <a:lnTo>
                        <a:pt x="0" y="279908"/>
                      </a:lnTo>
                      <a:lnTo>
                        <a:pt x="154686" y="279908"/>
                      </a:lnTo>
                      <a:lnTo>
                        <a:pt x="154686" y="263271"/>
                      </a:lnTo>
                      <a:close/>
                    </a:path>
                    <a:path w="566420" h="491490">
                      <a:moveTo>
                        <a:pt x="154686" y="211074"/>
                      </a:moveTo>
                      <a:lnTo>
                        <a:pt x="0" y="211074"/>
                      </a:lnTo>
                      <a:lnTo>
                        <a:pt x="0" y="227838"/>
                      </a:lnTo>
                      <a:lnTo>
                        <a:pt x="154686" y="227838"/>
                      </a:lnTo>
                      <a:lnTo>
                        <a:pt x="154686" y="211074"/>
                      </a:lnTo>
                      <a:close/>
                    </a:path>
                    <a:path w="566420" h="491490">
                      <a:moveTo>
                        <a:pt x="566420" y="399034"/>
                      </a:moveTo>
                      <a:lnTo>
                        <a:pt x="547751" y="399034"/>
                      </a:lnTo>
                      <a:lnTo>
                        <a:pt x="544855" y="415086"/>
                      </a:lnTo>
                      <a:lnTo>
                        <a:pt x="541731" y="428015"/>
                      </a:lnTo>
                      <a:lnTo>
                        <a:pt x="538327" y="437807"/>
                      </a:lnTo>
                      <a:lnTo>
                        <a:pt x="534670" y="444500"/>
                      </a:lnTo>
                      <a:lnTo>
                        <a:pt x="529463" y="451231"/>
                      </a:lnTo>
                      <a:lnTo>
                        <a:pt x="522097" y="454660"/>
                      </a:lnTo>
                      <a:lnTo>
                        <a:pt x="294640" y="454660"/>
                      </a:lnTo>
                      <a:lnTo>
                        <a:pt x="456438" y="235077"/>
                      </a:lnTo>
                      <a:lnTo>
                        <a:pt x="456438" y="219964"/>
                      </a:lnTo>
                      <a:lnTo>
                        <a:pt x="306578" y="16510"/>
                      </a:lnTo>
                      <a:lnTo>
                        <a:pt x="504698" y="16510"/>
                      </a:lnTo>
                      <a:lnTo>
                        <a:pt x="535381" y="40513"/>
                      </a:lnTo>
                      <a:lnTo>
                        <a:pt x="543052" y="74422"/>
                      </a:lnTo>
                      <a:lnTo>
                        <a:pt x="559562" y="74422"/>
                      </a:lnTo>
                      <a:lnTo>
                        <a:pt x="559562" y="0"/>
                      </a:lnTo>
                      <a:lnTo>
                        <a:pt x="256413" y="0"/>
                      </a:lnTo>
                      <a:lnTo>
                        <a:pt x="256413" y="11938"/>
                      </a:lnTo>
                      <a:lnTo>
                        <a:pt x="427101" y="240157"/>
                      </a:lnTo>
                      <a:lnTo>
                        <a:pt x="251206" y="478536"/>
                      </a:lnTo>
                      <a:lnTo>
                        <a:pt x="251206" y="490982"/>
                      </a:lnTo>
                      <a:lnTo>
                        <a:pt x="559943" y="490982"/>
                      </a:lnTo>
                      <a:lnTo>
                        <a:pt x="566420" y="3990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 b="1"/>
                </a:p>
              </p:txBody>
            </p:sp>
            <p:pic>
              <p:nvPicPr>
                <p:cNvPr id="15" name="object 15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6065774" y="1108075"/>
                  <a:ext cx="80263" cy="168655"/>
                </a:xfrm>
                <a:prstGeom prst="rect">
                  <a:avLst/>
                </a:prstGeom>
              </p:spPr>
            </p:pic>
            <p:sp>
              <p:nvSpPr>
                <p:cNvPr id="16" name="object 16"/>
                <p:cNvSpPr/>
                <p:nvPr/>
              </p:nvSpPr>
              <p:spPr>
                <a:xfrm>
                  <a:off x="6174359" y="1157858"/>
                  <a:ext cx="107314" cy="5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14" h="55244">
                      <a:moveTo>
                        <a:pt x="107188" y="40513"/>
                      </a:moveTo>
                      <a:lnTo>
                        <a:pt x="0" y="40513"/>
                      </a:lnTo>
                      <a:lnTo>
                        <a:pt x="0" y="54737"/>
                      </a:lnTo>
                      <a:lnTo>
                        <a:pt x="107188" y="54737"/>
                      </a:lnTo>
                      <a:lnTo>
                        <a:pt x="107188" y="40513"/>
                      </a:lnTo>
                      <a:close/>
                    </a:path>
                    <a:path w="107314" h="55244">
                      <a:moveTo>
                        <a:pt x="107188" y="0"/>
                      </a:moveTo>
                      <a:lnTo>
                        <a:pt x="0" y="0"/>
                      </a:lnTo>
                      <a:lnTo>
                        <a:pt x="0" y="14224"/>
                      </a:lnTo>
                      <a:lnTo>
                        <a:pt x="107188" y="14224"/>
                      </a:lnTo>
                      <a:lnTo>
                        <a:pt x="10718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 b="1"/>
                </a:p>
              </p:txBody>
            </p:sp>
            <p:pic>
              <p:nvPicPr>
                <p:cNvPr id="17" name="object 17"/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318503" y="1119759"/>
                  <a:ext cx="78867" cy="119887"/>
                </a:xfrm>
                <a:prstGeom prst="rect">
                  <a:avLst/>
                </a:prstGeom>
              </p:spPr>
            </p:pic>
            <p:pic>
              <p:nvPicPr>
                <p:cNvPr id="19" name="object 19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451346" y="795655"/>
                  <a:ext cx="237617" cy="214375"/>
                </a:xfrm>
                <a:prstGeom prst="rect">
                  <a:avLst/>
                </a:prstGeom>
              </p:spPr>
            </p:pic>
            <p:pic>
              <p:nvPicPr>
                <p:cNvPr id="20" name="object 20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714870" y="793623"/>
                  <a:ext cx="183642" cy="216407"/>
                </a:xfrm>
                <a:prstGeom prst="rect">
                  <a:avLst/>
                </a:prstGeom>
              </p:spPr>
            </p:pic>
            <p:sp>
              <p:nvSpPr>
                <p:cNvPr id="21" name="object 21"/>
                <p:cNvSpPr/>
                <p:nvPr/>
              </p:nvSpPr>
              <p:spPr>
                <a:xfrm>
                  <a:off x="6987032" y="761999"/>
                  <a:ext cx="154940" cy="161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40" h="161290">
                      <a:moveTo>
                        <a:pt x="154686" y="72390"/>
                      </a:moveTo>
                      <a:lnTo>
                        <a:pt x="86233" y="72390"/>
                      </a:lnTo>
                      <a:lnTo>
                        <a:pt x="86233" y="0"/>
                      </a:lnTo>
                      <a:lnTo>
                        <a:pt x="68326" y="0"/>
                      </a:lnTo>
                      <a:lnTo>
                        <a:pt x="68326" y="72390"/>
                      </a:lnTo>
                      <a:lnTo>
                        <a:pt x="0" y="72390"/>
                      </a:lnTo>
                      <a:lnTo>
                        <a:pt x="0" y="88900"/>
                      </a:lnTo>
                      <a:lnTo>
                        <a:pt x="68326" y="88900"/>
                      </a:lnTo>
                      <a:lnTo>
                        <a:pt x="68326" y="161290"/>
                      </a:lnTo>
                      <a:lnTo>
                        <a:pt x="86233" y="161290"/>
                      </a:lnTo>
                      <a:lnTo>
                        <a:pt x="86233" y="88900"/>
                      </a:lnTo>
                      <a:lnTo>
                        <a:pt x="154686" y="88900"/>
                      </a:lnTo>
                      <a:lnTo>
                        <a:pt x="154686" y="723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 b="1"/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A792B214-E013-F4AD-9052-73A9B27FAD83}"/>
                  </a:ext>
                </a:extLst>
              </p:cNvPr>
              <p:cNvGrpSpPr/>
              <p:nvPr/>
            </p:nvGrpSpPr>
            <p:grpSpPr>
              <a:xfrm>
                <a:off x="4937171" y="870424"/>
                <a:ext cx="4081780" cy="1341693"/>
                <a:chOff x="4878728" y="849057"/>
                <a:chExt cx="4081780" cy="1341693"/>
              </a:xfrm>
            </p:grpSpPr>
            <p:pic>
              <p:nvPicPr>
                <p:cNvPr id="8" name="object 8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878728" y="1183448"/>
                  <a:ext cx="446913" cy="263143"/>
                </a:xfrm>
                <a:prstGeom prst="rect">
                  <a:avLst/>
                </a:prstGeom>
              </p:spPr>
            </p:pic>
            <p:grpSp>
              <p:nvGrpSpPr>
                <p:cNvPr id="9" name="object 9"/>
                <p:cNvGrpSpPr/>
                <p:nvPr/>
              </p:nvGrpSpPr>
              <p:grpSpPr>
                <a:xfrm>
                  <a:off x="5379489" y="1161350"/>
                  <a:ext cx="290195" cy="250190"/>
                  <a:chOff x="5428741" y="713358"/>
                  <a:chExt cx="290195" cy="250190"/>
                </a:xfrm>
              </p:grpSpPr>
              <p:sp>
                <p:nvSpPr>
                  <p:cNvPr id="10" name="object 10"/>
                  <p:cNvSpPr/>
                  <p:nvPr/>
                </p:nvSpPr>
                <p:spPr>
                  <a:xfrm>
                    <a:off x="5428741" y="724788"/>
                    <a:ext cx="290195" cy="23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195" h="238759">
                        <a:moveTo>
                          <a:pt x="214249" y="0"/>
                        </a:moveTo>
                        <a:lnTo>
                          <a:pt x="210820" y="9651"/>
                        </a:lnTo>
                        <a:lnTo>
                          <a:pt x="224609" y="15652"/>
                        </a:lnTo>
                        <a:lnTo>
                          <a:pt x="236458" y="23939"/>
                        </a:lnTo>
                        <a:lnTo>
                          <a:pt x="260548" y="62349"/>
                        </a:lnTo>
                        <a:lnTo>
                          <a:pt x="268478" y="117856"/>
                        </a:lnTo>
                        <a:lnTo>
                          <a:pt x="267594" y="138884"/>
                        </a:lnTo>
                        <a:lnTo>
                          <a:pt x="254254" y="190373"/>
                        </a:lnTo>
                        <a:lnTo>
                          <a:pt x="224750" y="222573"/>
                        </a:lnTo>
                        <a:lnTo>
                          <a:pt x="211200" y="228600"/>
                        </a:lnTo>
                        <a:lnTo>
                          <a:pt x="214249" y="238251"/>
                        </a:lnTo>
                        <a:lnTo>
                          <a:pt x="259701" y="211195"/>
                        </a:lnTo>
                        <a:lnTo>
                          <a:pt x="285257" y="161242"/>
                        </a:lnTo>
                        <a:lnTo>
                          <a:pt x="290195" y="119125"/>
                        </a:lnTo>
                        <a:lnTo>
                          <a:pt x="288958" y="97289"/>
                        </a:lnTo>
                        <a:lnTo>
                          <a:pt x="279104" y="58618"/>
                        </a:lnTo>
                        <a:lnTo>
                          <a:pt x="246618" y="15271"/>
                        </a:lnTo>
                        <a:lnTo>
                          <a:pt x="231487" y="6242"/>
                        </a:lnTo>
                        <a:lnTo>
                          <a:pt x="214249" y="0"/>
                        </a:lnTo>
                        <a:close/>
                      </a:path>
                      <a:path w="290195" h="238759">
                        <a:moveTo>
                          <a:pt x="75946" y="0"/>
                        </a:moveTo>
                        <a:lnTo>
                          <a:pt x="30565" y="27110"/>
                        </a:lnTo>
                        <a:lnTo>
                          <a:pt x="4937" y="77120"/>
                        </a:lnTo>
                        <a:lnTo>
                          <a:pt x="0" y="119125"/>
                        </a:lnTo>
                        <a:lnTo>
                          <a:pt x="1234" y="141035"/>
                        </a:lnTo>
                        <a:lnTo>
                          <a:pt x="11037" y="179758"/>
                        </a:lnTo>
                        <a:lnTo>
                          <a:pt x="43465" y="222996"/>
                        </a:lnTo>
                        <a:lnTo>
                          <a:pt x="75946" y="238251"/>
                        </a:lnTo>
                        <a:lnTo>
                          <a:pt x="78994" y="228600"/>
                        </a:lnTo>
                        <a:lnTo>
                          <a:pt x="65444" y="222573"/>
                        </a:lnTo>
                        <a:lnTo>
                          <a:pt x="53752" y="214201"/>
                        </a:lnTo>
                        <a:lnTo>
                          <a:pt x="29700" y="175131"/>
                        </a:lnTo>
                        <a:lnTo>
                          <a:pt x="21717" y="117856"/>
                        </a:lnTo>
                        <a:lnTo>
                          <a:pt x="22600" y="97591"/>
                        </a:lnTo>
                        <a:lnTo>
                          <a:pt x="35941" y="47371"/>
                        </a:lnTo>
                        <a:lnTo>
                          <a:pt x="65659" y="15652"/>
                        </a:lnTo>
                        <a:lnTo>
                          <a:pt x="79375" y="9651"/>
                        </a:lnTo>
                        <a:lnTo>
                          <a:pt x="7594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 b="1"/>
                  </a:p>
                </p:txBody>
              </p:sp>
              <p:sp>
                <p:nvSpPr>
                  <p:cNvPr id="11" name="object 11"/>
                  <p:cNvSpPr/>
                  <p:nvPr/>
                </p:nvSpPr>
                <p:spPr>
                  <a:xfrm>
                    <a:off x="5510910" y="713358"/>
                    <a:ext cx="123825" cy="622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25" h="62229">
                        <a:moveTo>
                          <a:pt x="91821" y="0"/>
                        </a:moveTo>
                        <a:lnTo>
                          <a:pt x="85089" y="7492"/>
                        </a:lnTo>
                        <a:lnTo>
                          <a:pt x="105155" y="25018"/>
                        </a:lnTo>
                        <a:lnTo>
                          <a:pt x="0" y="25018"/>
                        </a:lnTo>
                        <a:lnTo>
                          <a:pt x="0" y="36829"/>
                        </a:lnTo>
                        <a:lnTo>
                          <a:pt x="105155" y="36829"/>
                        </a:lnTo>
                        <a:lnTo>
                          <a:pt x="85089" y="54228"/>
                        </a:lnTo>
                        <a:lnTo>
                          <a:pt x="91821" y="61721"/>
                        </a:lnTo>
                        <a:lnTo>
                          <a:pt x="123316" y="34543"/>
                        </a:lnTo>
                        <a:lnTo>
                          <a:pt x="123316" y="27177"/>
                        </a:lnTo>
                        <a:lnTo>
                          <a:pt x="91821" y="0"/>
                        </a:lnTo>
                        <a:close/>
                      </a:path>
                    </a:pathLst>
                  </a:custGeom>
                  <a:solidFill>
                    <a:srgbClr val="FF9300"/>
                  </a:solidFill>
                </p:spPr>
                <p:txBody>
                  <a:bodyPr wrap="square" lIns="0" tIns="0" rIns="0" bIns="0" rtlCol="0"/>
                  <a:lstStyle/>
                  <a:p>
                    <a:endParaRPr b="1"/>
                  </a:p>
                </p:txBody>
              </p:sp>
              <p:pic>
                <p:nvPicPr>
                  <p:cNvPr id="12" name="object 12"/>
                  <p:cNvPicPr/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5513831" y="795654"/>
                    <a:ext cx="118490" cy="12014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2" name="object 22"/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6122694" y="878268"/>
                  <a:ext cx="116458" cy="96647"/>
                </a:xfrm>
                <a:prstGeom prst="rect">
                  <a:avLst/>
                </a:prstGeom>
              </p:spPr>
            </p:pic>
            <p:pic>
              <p:nvPicPr>
                <p:cNvPr id="23" name="object 23"/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7178191" y="1184211"/>
                  <a:ext cx="113918" cy="181609"/>
                </a:xfrm>
                <a:prstGeom prst="rect">
                  <a:avLst/>
                </a:prstGeom>
              </p:spPr>
            </p:pic>
            <p:grpSp>
              <p:nvGrpSpPr>
                <p:cNvPr id="66" name="object 66"/>
                <p:cNvGrpSpPr/>
                <p:nvPr/>
              </p:nvGrpSpPr>
              <p:grpSpPr>
                <a:xfrm>
                  <a:off x="7500008" y="849057"/>
                  <a:ext cx="1460500" cy="726440"/>
                  <a:chOff x="7549260" y="401065"/>
                  <a:chExt cx="1460500" cy="726440"/>
                </a:xfrm>
              </p:grpSpPr>
              <p:pic>
                <p:nvPicPr>
                  <p:cNvPr id="67" name="object 67"/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7549260" y="401065"/>
                    <a:ext cx="1216025" cy="726059"/>
                  </a:xfrm>
                  <a:prstGeom prst="rect">
                    <a:avLst/>
                  </a:prstGeom>
                </p:spPr>
              </p:pic>
              <p:pic>
                <p:nvPicPr>
                  <p:cNvPr id="68" name="object 68"/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8450960" y="545845"/>
                    <a:ext cx="558546" cy="23571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0" name="object 70"/>
                <p:cNvGrpSpPr/>
                <p:nvPr/>
              </p:nvGrpSpPr>
              <p:grpSpPr>
                <a:xfrm>
                  <a:off x="5909207" y="860678"/>
                  <a:ext cx="1105276" cy="1164082"/>
                  <a:chOff x="5958459" y="412686"/>
                  <a:chExt cx="1105276" cy="1164082"/>
                </a:xfrm>
              </p:grpSpPr>
              <p:pic>
                <p:nvPicPr>
                  <p:cNvPr id="71" name="object 71"/>
                  <p:cNvPicPr/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5958459" y="422020"/>
                    <a:ext cx="106933" cy="871219"/>
                  </a:xfrm>
                  <a:prstGeom prst="rect">
                    <a:avLst/>
                  </a:prstGeom>
                </p:spPr>
              </p:pic>
              <p:pic>
                <p:nvPicPr>
                  <p:cNvPr id="74" name="object 74"/>
                  <p:cNvPicPr/>
                  <p:nvPr/>
                </p:nvPicPr>
                <p:blipFill>
                  <a:blip r:embed="rId13" cstate="print"/>
                  <a:stretch>
                    <a:fillRect/>
                  </a:stretch>
                </p:blipFill>
                <p:spPr>
                  <a:xfrm>
                    <a:off x="6772609" y="412686"/>
                    <a:ext cx="291126" cy="116408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92E1A0BF-4524-2409-5205-AF155135CB87}"/>
                    </a:ext>
                  </a:extLst>
                </p:cNvPr>
                <p:cNvSpPr/>
                <p:nvPr/>
              </p:nvSpPr>
              <p:spPr>
                <a:xfrm>
                  <a:off x="6709194" y="1685193"/>
                  <a:ext cx="468997" cy="5055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S" b="1"/>
                </a:p>
              </p:txBody>
            </p:sp>
          </p:grp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1273204-8FA4-7C6B-2769-C850F2B30D7D}"/>
                </a:ext>
              </a:extLst>
            </p:cNvPr>
            <p:cNvSpPr txBox="1"/>
            <p:nvPr/>
          </p:nvSpPr>
          <p:spPr>
            <a:xfrm>
              <a:off x="5340817" y="738501"/>
              <a:ext cx="34467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vectorization For loop 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F96A56D-9CF1-7BF3-C6F5-C2499BAA071A}"/>
                </a:ext>
              </a:extLst>
            </p:cNvPr>
            <p:cNvSpPr txBox="1"/>
            <p:nvPr/>
          </p:nvSpPr>
          <p:spPr>
            <a:xfrm>
              <a:off x="5364412" y="2565609"/>
              <a:ext cx="32390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sz="2000" dirty="0">
                  <a:solidFill>
                    <a:srgbClr val="C00000"/>
                  </a:solidFill>
                </a:rPr>
                <a:t>range (0,n) = 0, 1, 2, 3, ... n-1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7DB9AF24-3C86-414D-B214-C93E6298C2B7}"/>
                </a:ext>
              </a:extLst>
            </p:cNvPr>
            <p:cNvSpPr/>
            <p:nvPr/>
          </p:nvSpPr>
          <p:spPr>
            <a:xfrm>
              <a:off x="4907821" y="666750"/>
              <a:ext cx="4236179" cy="383363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356191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CCF4-3727-FBE6-7A87-41D833B7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1950"/>
            <a:ext cx="8134350" cy="621506"/>
          </a:xfrm>
        </p:spPr>
        <p:txBody>
          <a:bodyPr/>
          <a:lstStyle/>
          <a:p>
            <a:r>
              <a:rPr lang="en-PS" dirty="0">
                <a:latin typeface="Gill Sans MT" panose="020B0502020104020203" pitchFamily="34" charset="77"/>
              </a:rPr>
              <a:t>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007F9-0E62-123E-494A-79435F99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Gill Sans MT" panose="020B0502020104020203" pitchFamily="34" charset="77"/>
              </a:rPr>
              <a:pPr/>
              <a:t>16</a:t>
            </a:fld>
            <a:endParaRPr lang="en-PS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647BC-2ADC-E1DC-8302-F0079F65788E}"/>
              </a:ext>
            </a:extLst>
          </p:cNvPr>
          <p:cNvSpPr txBox="1"/>
          <p:nvPr/>
        </p:nvSpPr>
        <p:spPr>
          <a:xfrm>
            <a:off x="381000" y="1200150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is a vectorized implementation for computing a linear regression model’s prediction?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B61D4-605F-DB75-2079-8D06DEA20744}"/>
              </a:ext>
            </a:extLst>
          </p:cNvPr>
          <p:cNvSpPr txBox="1"/>
          <p:nvPr/>
        </p:nvSpPr>
        <p:spPr>
          <a:xfrm>
            <a:off x="381000" y="2577684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Courier" pitchFamily="2" charset="0"/>
              </a:rPr>
              <a:t>f = np.dot(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Courier" pitchFamily="2" charset="0"/>
              </a:rPr>
              <a:t>w,x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Courier" pitchFamily="2" charset="0"/>
              </a:rPr>
              <a:t>) + 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Courier" pitchFamily="2" charset="0"/>
              </a:rPr>
              <a:t>f=0</a:t>
            </a:r>
          </a:p>
          <a:p>
            <a:pPr algn="l"/>
            <a:r>
              <a:rPr lang="en-US" sz="2000" b="0" i="0" dirty="0">
                <a:solidFill>
                  <a:srgbClr val="333333"/>
                </a:solidFill>
                <a:effectLst/>
                <a:latin typeface="Courier" pitchFamily="2" charset="0"/>
              </a:rPr>
              <a:t>    For j in range(n):</a:t>
            </a:r>
          </a:p>
          <a:p>
            <a:pPr algn="l"/>
            <a:r>
              <a:rPr lang="en-US" sz="2000" b="0" i="0" dirty="0">
                <a:solidFill>
                  <a:srgbClr val="333333"/>
                </a:solidFill>
                <a:effectLst/>
                <a:latin typeface="Courier" pitchFamily="2" charset="0"/>
              </a:rPr>
              <a:t>     f = f + w[j] * x[j]</a:t>
            </a:r>
          </a:p>
          <a:p>
            <a:pPr algn="l"/>
            <a:r>
              <a:rPr lang="en-US" sz="2000" b="0" i="0" dirty="0">
                <a:solidFill>
                  <a:srgbClr val="333333"/>
                </a:solidFill>
                <a:effectLst/>
                <a:latin typeface="Courier" pitchFamily="2" charset="0"/>
              </a:rPr>
              <a:t>    f=f + b</a:t>
            </a:r>
          </a:p>
        </p:txBody>
      </p:sp>
    </p:spTree>
    <p:extLst>
      <p:ext uri="{BB962C8B-B14F-4D97-AF65-F5344CB8AC3E}">
        <p14:creationId xmlns:p14="http://schemas.microsoft.com/office/powerpoint/2010/main" val="90165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9091-1BFC-6D46-2DCA-3FEC8527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>
                <a:solidFill>
                  <a:srgbClr val="15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conclude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986A-639C-8245-E703-16F2F7E6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61" y="1510203"/>
            <a:ext cx="8134350" cy="897732"/>
          </a:xfrm>
        </p:spPr>
        <p:txBody>
          <a:bodyPr/>
          <a:lstStyle/>
          <a:p>
            <a:pPr marL="0" indent="0">
              <a:buNone/>
            </a:pPr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 is a critical technique that makes your code simpler, easier to write and to read and it runs much faster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75E0F-770E-681E-7E5D-61509EAB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FC04F-FD0A-F820-C3B1-8AE942742330}"/>
              </a:ext>
            </a:extLst>
          </p:cNvPr>
          <p:cNvSpPr txBox="1"/>
          <p:nvPr/>
        </p:nvSpPr>
        <p:spPr>
          <a:xfrm>
            <a:off x="304800" y="2650122"/>
            <a:ext cx="769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what is the magic behind vectorization that makes it run so much faster ???</a:t>
            </a:r>
          </a:p>
          <a:p>
            <a:r>
              <a:rPr lang="en-P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see in the next section what computers do behind the seens to make computers run much faster  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66E7130-7063-BD39-518E-503B1D77828E}"/>
              </a:ext>
            </a:extLst>
          </p:cNvPr>
          <p:cNvSpPr/>
          <p:nvPr/>
        </p:nvSpPr>
        <p:spPr>
          <a:xfrm>
            <a:off x="7924800" y="3585180"/>
            <a:ext cx="685800" cy="5105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197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593201"/>
            <a:ext cx="7315200" cy="665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08685" marR="5080" indent="-896619">
              <a:lnSpc>
                <a:spcPct val="117300"/>
              </a:lnSpc>
              <a:spcBef>
                <a:spcPts val="90"/>
              </a:spcBef>
            </a:pPr>
            <a:r>
              <a:rPr lang="en-GB" sz="4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sz="4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4000" spc="4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0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spc="3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40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spc="4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000"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sz="4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6E67B-BA38-CD51-4A60-44C464739E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Gill Sans MT" panose="020B0502020104020203" pitchFamily="34" charset="77"/>
              </a:rPr>
              <a:t>18</a:t>
            </a:fld>
            <a:endParaRPr lang="en-PS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DFFBB-3C5B-4F37-964A-CDF579BADF0F}"/>
              </a:ext>
            </a:extLst>
          </p:cNvPr>
          <p:cNvSpPr txBox="1"/>
          <p:nvPr/>
        </p:nvSpPr>
        <p:spPr>
          <a:xfrm>
            <a:off x="397481" y="3135861"/>
            <a:ext cx="795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secret that makes vectorization make computers run faster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275" y="723900"/>
            <a:ext cx="3438525" cy="647700"/>
          </a:xfrm>
          <a:custGeom>
            <a:avLst/>
            <a:gdLst/>
            <a:ahLst/>
            <a:cxnLst/>
            <a:rect l="l" t="t" r="r" b="b"/>
            <a:pathLst>
              <a:path w="3438525" h="647700">
                <a:moveTo>
                  <a:pt x="3438525" y="0"/>
                </a:moveTo>
                <a:lnTo>
                  <a:pt x="0" y="0"/>
                </a:lnTo>
                <a:lnTo>
                  <a:pt x="0" y="647700"/>
                </a:lnTo>
                <a:lnTo>
                  <a:pt x="3438525" y="647700"/>
                </a:lnTo>
                <a:lnTo>
                  <a:pt x="3438525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8933" y="573538"/>
            <a:ext cx="1819275" cy="300723"/>
          </a:xfrm>
          <a:prstGeom prst="rect">
            <a:avLst/>
          </a:prstGeom>
          <a:solidFill>
            <a:srgbClr val="DEDEDE"/>
          </a:solidFill>
        </p:spPr>
        <p:txBody>
          <a:bodyPr vert="horz" wrap="square" lIns="0" tIns="2349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85"/>
              </a:spcBef>
            </a:pPr>
            <a:r>
              <a:rPr sz="1800" b="1" spc="-10" dirty="0">
                <a:solidFill>
                  <a:srgbClr val="0432FF"/>
                </a:solidFill>
                <a:latin typeface="Courier New"/>
                <a:cs typeface="Courier New"/>
              </a:rPr>
              <a:t>np.dot(w,x)</a:t>
            </a:r>
            <a:endParaRPr sz="1800" dirty="0">
              <a:solidFill>
                <a:srgbClr val="0432FF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7216" y="215452"/>
            <a:ext cx="3856356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loop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8720" y="200723"/>
            <a:ext cx="16954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79010" y="959186"/>
            <a:ext cx="473824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35" dirty="0">
                <a:latin typeface="Cambria Math"/>
                <a:cs typeface="Cambria Math"/>
              </a:rPr>
              <a:t>𝑡</a:t>
            </a:r>
            <a:r>
              <a:rPr sz="2000" spc="52" baseline="-16666" dirty="0">
                <a:latin typeface="Cambria Math"/>
                <a:cs typeface="Cambria Math"/>
              </a:rPr>
              <a:t>0</a:t>
            </a:r>
            <a:r>
              <a:rPr lang="en-GB" sz="2000" spc="52" baseline="-16666" dirty="0">
                <a:latin typeface="Cambria Math"/>
                <a:cs typeface="Cambria Math"/>
              </a:rPr>
              <a:t> </a:t>
            </a:r>
            <a:r>
              <a:rPr lang="en-GB" sz="2000" spc="52" dirty="0">
                <a:latin typeface="Cambria Math"/>
                <a:cs typeface="Cambria Math"/>
              </a:rPr>
              <a:t> (process done at one time</a:t>
            </a:r>
            <a:endParaRPr sz="2000" baseline="-16666" dirty="0">
              <a:latin typeface="Cambria Math"/>
              <a:cs typeface="Cambria Math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915153" y="1442592"/>
          <a:ext cx="36525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spc="-35" dirty="0">
                          <a:latin typeface="Courier New"/>
                          <a:cs typeface="Courier New"/>
                        </a:rPr>
                        <a:t>w[0]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spc="-35" dirty="0">
                          <a:latin typeface="Courier New"/>
                          <a:cs typeface="Courier New"/>
                        </a:rPr>
                        <a:t>w[1]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w[15]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907026" y="2320544"/>
          <a:ext cx="3652520" cy="370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30" dirty="0">
                          <a:latin typeface="Courier New"/>
                          <a:cs typeface="Courier New"/>
                        </a:rPr>
                        <a:t>x[0]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35" dirty="0">
                          <a:latin typeface="Courier New"/>
                          <a:cs typeface="Courier New"/>
                        </a:rPr>
                        <a:t>x[1]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x[15]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300345" y="1866836"/>
            <a:ext cx="163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4490" y="1866836"/>
            <a:ext cx="163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8129" y="1866836"/>
            <a:ext cx="163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42275" y="1866836"/>
            <a:ext cx="163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9546" y="3101848"/>
            <a:ext cx="150431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85"/>
              </a:spcBef>
            </a:pPr>
            <a:r>
              <a:rPr sz="1800" b="1" spc="-15" dirty="0">
                <a:latin typeface="Courier New"/>
                <a:cs typeface="Courier New"/>
              </a:rPr>
              <a:t>w[0]*x[0]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46878" y="3097276"/>
            <a:ext cx="150431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85"/>
              </a:spcBef>
            </a:pPr>
            <a:r>
              <a:rPr sz="1800" b="1" spc="-15" dirty="0">
                <a:latin typeface="Courier New"/>
                <a:cs typeface="Courier New"/>
              </a:rPr>
              <a:t>w[1]*x[1]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82433" y="3100323"/>
            <a:ext cx="1734820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80"/>
              </a:spcBef>
            </a:pPr>
            <a:r>
              <a:rPr sz="1800" b="1" spc="-10" dirty="0">
                <a:latin typeface="Courier New"/>
                <a:cs typeface="Courier New"/>
              </a:rPr>
              <a:t>w[15]*x[15]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4440" y="3112198"/>
            <a:ext cx="163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89419" y="3113341"/>
            <a:ext cx="4832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307" baseline="1543" dirty="0">
                <a:latin typeface="Courier New"/>
                <a:cs typeface="Courier New"/>
              </a:rPr>
              <a:t>+</a:t>
            </a:r>
            <a:r>
              <a:rPr sz="2700" b="1" baseline="1543" dirty="0">
                <a:latin typeface="Courier New"/>
                <a:cs typeface="Courier New"/>
              </a:rPr>
              <a:t>…</a:t>
            </a:r>
            <a:r>
              <a:rPr sz="2700" b="1" spc="-1395" baseline="1543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29100" y="2744089"/>
            <a:ext cx="1127125" cy="383540"/>
          </a:xfrm>
          <a:custGeom>
            <a:avLst/>
            <a:gdLst/>
            <a:ahLst/>
            <a:cxnLst/>
            <a:rect l="l" t="t" r="r" b="b"/>
            <a:pathLst>
              <a:path w="1127125" h="383539">
                <a:moveTo>
                  <a:pt x="92583" y="273685"/>
                </a:moveTo>
                <a:lnTo>
                  <a:pt x="0" y="361823"/>
                </a:lnTo>
                <a:lnTo>
                  <a:pt x="125984" y="383031"/>
                </a:lnTo>
                <a:lnTo>
                  <a:pt x="116557" y="352171"/>
                </a:lnTo>
                <a:lnTo>
                  <a:pt x="96647" y="352171"/>
                </a:lnTo>
                <a:lnTo>
                  <a:pt x="85471" y="315722"/>
                </a:lnTo>
                <a:lnTo>
                  <a:pt x="103715" y="310130"/>
                </a:lnTo>
                <a:lnTo>
                  <a:pt x="92583" y="273685"/>
                </a:lnTo>
                <a:close/>
              </a:path>
              <a:path w="1127125" h="383539">
                <a:moveTo>
                  <a:pt x="103715" y="310130"/>
                </a:moveTo>
                <a:lnTo>
                  <a:pt x="85471" y="315722"/>
                </a:lnTo>
                <a:lnTo>
                  <a:pt x="96647" y="352171"/>
                </a:lnTo>
                <a:lnTo>
                  <a:pt x="114852" y="346589"/>
                </a:lnTo>
                <a:lnTo>
                  <a:pt x="103715" y="310130"/>
                </a:lnTo>
                <a:close/>
              </a:path>
              <a:path w="1127125" h="383539">
                <a:moveTo>
                  <a:pt x="114852" y="346589"/>
                </a:moveTo>
                <a:lnTo>
                  <a:pt x="96647" y="352171"/>
                </a:lnTo>
                <a:lnTo>
                  <a:pt x="116557" y="352171"/>
                </a:lnTo>
                <a:lnTo>
                  <a:pt x="114852" y="346589"/>
                </a:lnTo>
                <a:close/>
              </a:path>
              <a:path w="1127125" h="383539">
                <a:moveTo>
                  <a:pt x="1115695" y="0"/>
                </a:moveTo>
                <a:lnTo>
                  <a:pt x="103715" y="310130"/>
                </a:lnTo>
                <a:lnTo>
                  <a:pt x="114852" y="346589"/>
                </a:lnTo>
                <a:lnTo>
                  <a:pt x="1126871" y="36322"/>
                </a:lnTo>
                <a:lnTo>
                  <a:pt x="1115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00750" y="2685795"/>
            <a:ext cx="255270" cy="409575"/>
          </a:xfrm>
          <a:custGeom>
            <a:avLst/>
            <a:gdLst/>
            <a:ahLst/>
            <a:cxnLst/>
            <a:rect l="l" t="t" r="r" b="b"/>
            <a:pathLst>
              <a:path w="255270" h="409575">
                <a:moveTo>
                  <a:pt x="9525" y="281813"/>
                </a:moveTo>
                <a:lnTo>
                  <a:pt x="0" y="409321"/>
                </a:lnTo>
                <a:lnTo>
                  <a:pt x="107696" y="340487"/>
                </a:lnTo>
                <a:lnTo>
                  <a:pt x="102383" y="337312"/>
                </a:lnTo>
                <a:lnTo>
                  <a:pt x="65277" y="337312"/>
                </a:lnTo>
                <a:lnTo>
                  <a:pt x="32512" y="317754"/>
                </a:lnTo>
                <a:lnTo>
                  <a:pt x="42287" y="301394"/>
                </a:lnTo>
                <a:lnTo>
                  <a:pt x="9525" y="281813"/>
                </a:lnTo>
                <a:close/>
              </a:path>
              <a:path w="255270" h="409575">
                <a:moveTo>
                  <a:pt x="42287" y="301394"/>
                </a:moveTo>
                <a:lnTo>
                  <a:pt x="32512" y="317754"/>
                </a:lnTo>
                <a:lnTo>
                  <a:pt x="65277" y="337312"/>
                </a:lnTo>
                <a:lnTo>
                  <a:pt x="75042" y="320970"/>
                </a:lnTo>
                <a:lnTo>
                  <a:pt x="42287" y="301394"/>
                </a:lnTo>
                <a:close/>
              </a:path>
              <a:path w="255270" h="409575">
                <a:moveTo>
                  <a:pt x="75042" y="320970"/>
                </a:moveTo>
                <a:lnTo>
                  <a:pt x="65277" y="337312"/>
                </a:lnTo>
                <a:lnTo>
                  <a:pt x="102383" y="337312"/>
                </a:lnTo>
                <a:lnTo>
                  <a:pt x="75042" y="320970"/>
                </a:lnTo>
                <a:close/>
              </a:path>
              <a:path w="255270" h="409575">
                <a:moveTo>
                  <a:pt x="222376" y="0"/>
                </a:moveTo>
                <a:lnTo>
                  <a:pt x="42287" y="301394"/>
                </a:lnTo>
                <a:lnTo>
                  <a:pt x="75042" y="320970"/>
                </a:lnTo>
                <a:lnTo>
                  <a:pt x="255142" y="19558"/>
                </a:lnTo>
                <a:lnTo>
                  <a:pt x="2223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84946" y="2695067"/>
            <a:ext cx="114300" cy="403225"/>
          </a:xfrm>
          <a:custGeom>
            <a:avLst/>
            <a:gdLst/>
            <a:ahLst/>
            <a:cxnLst/>
            <a:rect l="l" t="t" r="r" b="b"/>
            <a:pathLst>
              <a:path w="114300" h="403225">
                <a:moveTo>
                  <a:pt x="38096" y="289306"/>
                </a:moveTo>
                <a:lnTo>
                  <a:pt x="0" y="290321"/>
                </a:lnTo>
                <a:lnTo>
                  <a:pt x="60198" y="403097"/>
                </a:lnTo>
                <a:lnTo>
                  <a:pt x="104452" y="308356"/>
                </a:lnTo>
                <a:lnTo>
                  <a:pt x="38607" y="308356"/>
                </a:lnTo>
                <a:lnTo>
                  <a:pt x="38096" y="289306"/>
                </a:lnTo>
                <a:close/>
              </a:path>
              <a:path w="114300" h="403225">
                <a:moveTo>
                  <a:pt x="76196" y="288290"/>
                </a:moveTo>
                <a:lnTo>
                  <a:pt x="38096" y="289306"/>
                </a:lnTo>
                <a:lnTo>
                  <a:pt x="38607" y="308356"/>
                </a:lnTo>
                <a:lnTo>
                  <a:pt x="76707" y="307339"/>
                </a:lnTo>
                <a:lnTo>
                  <a:pt x="76196" y="288290"/>
                </a:lnTo>
                <a:close/>
              </a:path>
              <a:path w="114300" h="403225">
                <a:moveTo>
                  <a:pt x="114300" y="287274"/>
                </a:moveTo>
                <a:lnTo>
                  <a:pt x="76196" y="288290"/>
                </a:lnTo>
                <a:lnTo>
                  <a:pt x="76707" y="307339"/>
                </a:lnTo>
                <a:lnTo>
                  <a:pt x="38607" y="308356"/>
                </a:lnTo>
                <a:lnTo>
                  <a:pt x="104452" y="308356"/>
                </a:lnTo>
                <a:lnTo>
                  <a:pt x="114300" y="287274"/>
                </a:lnTo>
                <a:close/>
              </a:path>
              <a:path w="114300" h="403225">
                <a:moveTo>
                  <a:pt x="68452" y="0"/>
                </a:moveTo>
                <a:lnTo>
                  <a:pt x="30352" y="1015"/>
                </a:lnTo>
                <a:lnTo>
                  <a:pt x="38096" y="289306"/>
                </a:lnTo>
                <a:lnTo>
                  <a:pt x="76196" y="288290"/>
                </a:lnTo>
                <a:lnTo>
                  <a:pt x="68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88535" y="2598102"/>
            <a:ext cx="2819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5" dirty="0">
                <a:latin typeface="Cambria Math"/>
                <a:cs typeface="Cambria Math"/>
              </a:rPr>
              <a:t>𝑡</a:t>
            </a:r>
            <a:r>
              <a:rPr sz="2250" spc="-7" baseline="-16666" dirty="0">
                <a:latin typeface="Cambria Math"/>
                <a:cs typeface="Cambria Math"/>
              </a:rPr>
              <a:t>1</a:t>
            </a:r>
            <a:endParaRPr sz="2250" baseline="-16666">
              <a:latin typeface="Cambria Math"/>
              <a:cs typeface="Cambria Math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890D88-9224-AA4A-82BD-FD0A2F5D7B0B}"/>
              </a:ext>
            </a:extLst>
          </p:cNvPr>
          <p:cNvGrpSpPr/>
          <p:nvPr/>
        </p:nvGrpSpPr>
        <p:grpSpPr>
          <a:xfrm>
            <a:off x="227585" y="734377"/>
            <a:ext cx="3391875" cy="3476943"/>
            <a:chOff x="227585" y="734377"/>
            <a:chExt cx="3391875" cy="3476943"/>
          </a:xfrm>
        </p:grpSpPr>
        <p:sp>
          <p:nvSpPr>
            <p:cNvPr id="3" name="object 3"/>
            <p:cNvSpPr txBox="1"/>
            <p:nvPr/>
          </p:nvSpPr>
          <p:spPr>
            <a:xfrm>
              <a:off x="372745" y="734377"/>
              <a:ext cx="3166110" cy="5772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20" dirty="0">
                  <a:solidFill>
                    <a:srgbClr val="0432FF"/>
                  </a:solidFill>
                  <a:latin typeface="Courier New"/>
                  <a:cs typeface="Courier New"/>
                </a:rPr>
                <a:t>for</a:t>
              </a:r>
              <a:r>
                <a:rPr sz="1800" b="1" spc="-5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dirty="0">
                  <a:solidFill>
                    <a:srgbClr val="0432FF"/>
                  </a:solidFill>
                  <a:latin typeface="Courier New"/>
                  <a:cs typeface="Courier New"/>
                </a:rPr>
                <a:t>j</a:t>
              </a:r>
              <a:r>
                <a:rPr sz="1800" b="1" spc="-70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spc="20" dirty="0">
                  <a:solidFill>
                    <a:srgbClr val="0432FF"/>
                  </a:solidFill>
                  <a:latin typeface="Courier New"/>
                  <a:cs typeface="Courier New"/>
                </a:rPr>
                <a:t>in</a:t>
              </a:r>
              <a:r>
                <a:rPr sz="1800" b="1" spc="-70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spc="-10" dirty="0">
                  <a:solidFill>
                    <a:srgbClr val="0432FF"/>
                  </a:solidFill>
                  <a:latin typeface="Courier New"/>
                  <a:cs typeface="Courier New"/>
                </a:rPr>
                <a:t>range(0,16):</a:t>
              </a:r>
              <a:endParaRPr sz="1800" dirty="0">
                <a:solidFill>
                  <a:srgbClr val="0432FF"/>
                </a:solidFill>
                <a:latin typeface="Courier New"/>
                <a:cs typeface="Courier New"/>
              </a:endParaRPr>
            </a:p>
            <a:p>
              <a:pPr marL="556260">
                <a:lnSpc>
                  <a:spcPct val="100000"/>
                </a:lnSpc>
                <a:spcBef>
                  <a:spcPts val="20"/>
                </a:spcBef>
              </a:pPr>
              <a:r>
                <a:rPr sz="1800" b="1" dirty="0">
                  <a:solidFill>
                    <a:srgbClr val="0432FF"/>
                  </a:solidFill>
                  <a:latin typeface="Courier New"/>
                  <a:cs typeface="Courier New"/>
                </a:rPr>
                <a:t>f</a:t>
              </a:r>
              <a:r>
                <a:rPr sz="1800" b="1" spc="-70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dirty="0">
                  <a:solidFill>
                    <a:srgbClr val="0432FF"/>
                  </a:solidFill>
                  <a:latin typeface="Courier New"/>
                  <a:cs typeface="Courier New"/>
                </a:rPr>
                <a:t>=</a:t>
              </a:r>
              <a:r>
                <a:rPr sz="1800" b="1" spc="5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dirty="0">
                  <a:solidFill>
                    <a:srgbClr val="0432FF"/>
                  </a:solidFill>
                  <a:latin typeface="Courier New"/>
                  <a:cs typeface="Courier New"/>
                </a:rPr>
                <a:t>f</a:t>
              </a:r>
              <a:r>
                <a:rPr sz="1800" b="1" spc="5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dirty="0">
                  <a:solidFill>
                    <a:srgbClr val="0432FF"/>
                  </a:solidFill>
                  <a:latin typeface="Courier New"/>
                  <a:cs typeface="Courier New"/>
                </a:rPr>
                <a:t>+</a:t>
              </a:r>
              <a:r>
                <a:rPr sz="1800" b="1" spc="-75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spc="-10" dirty="0">
                  <a:solidFill>
                    <a:srgbClr val="0432FF"/>
                  </a:solidFill>
                  <a:latin typeface="Courier New"/>
                  <a:cs typeface="Courier New"/>
                </a:rPr>
                <a:t>w[j]</a:t>
              </a:r>
              <a:r>
                <a:rPr sz="1800" b="1" spc="5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dirty="0">
                  <a:solidFill>
                    <a:srgbClr val="0432FF"/>
                  </a:solidFill>
                  <a:latin typeface="Courier New"/>
                  <a:cs typeface="Courier New"/>
                </a:rPr>
                <a:t>*</a:t>
              </a:r>
              <a:r>
                <a:rPr sz="1800" b="1" spc="5" dirty="0">
                  <a:solidFill>
                    <a:srgbClr val="0432FF"/>
                  </a:solidFill>
                  <a:latin typeface="Courier New"/>
                  <a:cs typeface="Courier New"/>
                </a:rPr>
                <a:t> </a:t>
              </a:r>
              <a:r>
                <a:rPr sz="1800" b="1" spc="-10" dirty="0">
                  <a:solidFill>
                    <a:srgbClr val="0432FF"/>
                  </a:solidFill>
                  <a:latin typeface="Courier New"/>
                  <a:cs typeface="Courier New"/>
                </a:rPr>
                <a:t>x[j]</a:t>
              </a:r>
              <a:endParaRPr sz="1800" dirty="0">
                <a:solidFill>
                  <a:srgbClr val="0432FF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76311" y="1452079"/>
              <a:ext cx="3343149" cy="32508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1800" spc="-5" dirty="0">
                  <a:latin typeface="Cambria Math"/>
                  <a:cs typeface="Cambria Math"/>
                </a:rPr>
                <a:t>𝑡</a:t>
              </a:r>
              <a:r>
                <a:rPr sz="2025" spc="-7" baseline="-16460" dirty="0">
                  <a:latin typeface="Cambria Math"/>
                  <a:cs typeface="Cambria Math"/>
                </a:rPr>
                <a:t>0</a:t>
              </a:r>
              <a:r>
                <a:rPr lang="en-GB" sz="2025" spc="-7" baseline="-16460" dirty="0">
                  <a:latin typeface="Cambria Math"/>
                  <a:cs typeface="Cambria Math"/>
                </a:rPr>
                <a:t> </a:t>
              </a:r>
              <a:r>
                <a:rPr lang="en-GB" sz="2025" spc="-7" dirty="0">
                  <a:latin typeface="Cambria Math"/>
                  <a:cs typeface="Cambria Math"/>
                </a:rPr>
                <a:t>(operates on the 1</a:t>
              </a:r>
              <a:r>
                <a:rPr lang="en-GB" sz="2025" spc="-7" baseline="30000" dirty="0">
                  <a:latin typeface="Cambria Math"/>
                  <a:cs typeface="Cambria Math"/>
                </a:rPr>
                <a:t>st </a:t>
              </a:r>
              <a:r>
                <a:rPr lang="en-GB" sz="2025" spc="-7" dirty="0">
                  <a:latin typeface="Cambria Math"/>
                  <a:cs typeface="Cambria Math"/>
                </a:rPr>
                <a:t> term </a:t>
              </a:r>
              <a:endParaRPr sz="2025" baseline="-16460" dirty="0">
                <a:latin typeface="Cambria Math"/>
                <a:cs typeface="Cambria Math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524878" y="2057245"/>
              <a:ext cx="206819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-80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+</a:t>
              </a:r>
              <a:r>
                <a:rPr sz="1800" b="1" spc="-5" dirty="0">
                  <a:latin typeface="Courier New"/>
                  <a:cs typeface="Courier New"/>
                </a:rPr>
                <a:t> w[0]</a:t>
              </a:r>
              <a:r>
                <a:rPr sz="1800" b="1" spc="-7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*</a:t>
              </a:r>
              <a:r>
                <a:rPr sz="1800" b="1" spc="-5" dirty="0">
                  <a:latin typeface="Courier New"/>
                  <a:cs typeface="Courier New"/>
                </a:rPr>
                <a:t> </a:t>
              </a:r>
              <a:r>
                <a:rPr sz="1800" b="1" spc="-15" dirty="0">
                  <a:latin typeface="Courier New"/>
                  <a:cs typeface="Courier New"/>
                </a:rPr>
                <a:t>x[0]</a:t>
              </a:r>
              <a:endParaRPr sz="1800" dirty="0">
                <a:latin typeface="Courier New"/>
                <a:cs typeface="Courier New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27585" y="2578226"/>
              <a:ext cx="2601595" cy="5448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50800">
                <a:lnSpc>
                  <a:spcPts val="2039"/>
                </a:lnSpc>
                <a:spcBef>
                  <a:spcPts val="105"/>
                </a:spcBef>
              </a:pPr>
              <a:r>
                <a:rPr sz="1800" spc="-40" dirty="0">
                  <a:latin typeface="Cambria Math"/>
                  <a:cs typeface="Cambria Math"/>
                </a:rPr>
                <a:t>𝑡</a:t>
              </a:r>
              <a:r>
                <a:rPr sz="2025" spc="-60" baseline="-16460" dirty="0">
                  <a:latin typeface="Cambria Math"/>
                  <a:cs typeface="Cambria Math"/>
                </a:rPr>
                <a:t>1</a:t>
              </a:r>
              <a:endParaRPr sz="2025" baseline="-16460" dirty="0">
                <a:latin typeface="Cambria Math"/>
                <a:cs typeface="Cambria Math"/>
              </a:endParaRPr>
            </a:p>
            <a:p>
              <a:pPr marL="537845">
                <a:lnSpc>
                  <a:spcPts val="2039"/>
                </a:lnSpc>
              </a:pPr>
              <a:r>
                <a:rPr sz="1800" b="1" dirty="0">
                  <a:latin typeface="Courier New"/>
                  <a:cs typeface="Courier New"/>
                </a:rPr>
                <a:t>f</a:t>
              </a:r>
              <a:r>
                <a:rPr sz="1800" b="1" spc="-8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+</a:t>
              </a:r>
              <a:r>
                <a:rPr sz="1800" b="1" spc="-10" dirty="0">
                  <a:latin typeface="Courier New"/>
                  <a:cs typeface="Courier New"/>
                </a:rPr>
                <a:t> w[1]</a:t>
              </a:r>
              <a:r>
                <a:rPr sz="1800" b="1" spc="-85" dirty="0">
                  <a:latin typeface="Courier New"/>
                  <a:cs typeface="Courier New"/>
                </a:rPr>
                <a:t> </a:t>
              </a:r>
              <a:r>
                <a:rPr sz="1800" b="1" dirty="0">
                  <a:latin typeface="Courier New"/>
                  <a:cs typeface="Courier New"/>
                </a:rPr>
                <a:t>*</a:t>
              </a:r>
              <a:r>
                <a:rPr sz="1800" b="1" spc="-10" dirty="0">
                  <a:latin typeface="Courier New"/>
                  <a:cs typeface="Courier New"/>
                </a:rPr>
                <a:t> </a:t>
              </a:r>
              <a:r>
                <a:rPr sz="1800" b="1" spc="-15" dirty="0">
                  <a:latin typeface="Courier New"/>
                  <a:cs typeface="Courier New"/>
                </a:rPr>
                <a:t>x[1]</a:t>
              </a:r>
              <a:endParaRPr sz="1800" dirty="0">
                <a:latin typeface="Courier New"/>
                <a:cs typeface="Courier New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7FD534B-F927-538B-EF66-FD200795CD02}"/>
                </a:ext>
              </a:extLst>
            </p:cNvPr>
            <p:cNvGrpSpPr/>
            <p:nvPr/>
          </p:nvGrpSpPr>
          <p:grpSpPr>
            <a:xfrm>
              <a:off x="247216" y="3714750"/>
              <a:ext cx="2861627" cy="496570"/>
              <a:chOff x="287972" y="3306127"/>
              <a:chExt cx="2861627" cy="496570"/>
            </a:xfrm>
          </p:grpSpPr>
          <p:sp>
            <p:nvSpPr>
              <p:cNvPr id="10" name="object 10"/>
              <p:cNvSpPr txBox="1"/>
              <p:nvPr/>
            </p:nvSpPr>
            <p:spPr>
              <a:xfrm>
                <a:off x="287972" y="3306127"/>
                <a:ext cx="344170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700" spc="-52" baseline="10802" dirty="0">
                    <a:latin typeface="Cambria Math"/>
                    <a:cs typeface="Cambria Math"/>
                  </a:rPr>
                  <a:t>𝑡</a:t>
                </a:r>
                <a:r>
                  <a:rPr sz="1350" spc="-35" dirty="0">
                    <a:latin typeface="Cambria Math"/>
                    <a:cs typeface="Cambria Math"/>
                  </a:rPr>
                  <a:t>15</a:t>
                </a:r>
                <a:endParaRPr sz="1350">
                  <a:latin typeface="Cambria Math"/>
                  <a:cs typeface="Cambria Math"/>
                </a:endParaRPr>
              </a:p>
            </p:txBody>
          </p:sp>
          <p:sp>
            <p:nvSpPr>
              <p:cNvPr id="11" name="object 11"/>
              <p:cNvSpPr txBox="1"/>
              <p:nvPr/>
            </p:nvSpPr>
            <p:spPr>
              <a:xfrm>
                <a:off x="800734" y="3502342"/>
                <a:ext cx="2348865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b="1" dirty="0">
                    <a:latin typeface="Courier New"/>
                    <a:cs typeface="Courier New"/>
                  </a:rPr>
                  <a:t>f</a:t>
                </a:r>
                <a:r>
                  <a:rPr sz="1800" b="1" spc="-80" dirty="0">
                    <a:latin typeface="Courier New"/>
                    <a:cs typeface="Courier New"/>
                  </a:rPr>
                  <a:t> </a:t>
                </a:r>
                <a:r>
                  <a:rPr sz="1800" b="1" dirty="0">
                    <a:latin typeface="Courier New"/>
                    <a:cs typeface="Courier New"/>
                  </a:rPr>
                  <a:t>+</a:t>
                </a:r>
                <a:r>
                  <a:rPr sz="1800" b="1" spc="-10" dirty="0">
                    <a:latin typeface="Courier New"/>
                    <a:cs typeface="Courier New"/>
                  </a:rPr>
                  <a:t> w[15]</a:t>
                </a:r>
                <a:r>
                  <a:rPr sz="1800" b="1" spc="-5" dirty="0">
                    <a:latin typeface="Courier New"/>
                    <a:cs typeface="Courier New"/>
                  </a:rPr>
                  <a:t> </a:t>
                </a:r>
                <a:r>
                  <a:rPr sz="1800" b="1" dirty="0">
                    <a:latin typeface="Courier New"/>
                    <a:cs typeface="Courier New"/>
                  </a:rPr>
                  <a:t>*</a:t>
                </a:r>
                <a:r>
                  <a:rPr sz="1800" b="1" spc="-80" dirty="0">
                    <a:latin typeface="Courier New"/>
                    <a:cs typeface="Courier New"/>
                  </a:rPr>
                  <a:t> </a:t>
                </a:r>
                <a:r>
                  <a:rPr sz="1800" b="1" spc="5" dirty="0">
                    <a:latin typeface="Courier New"/>
                    <a:cs typeface="Courier New"/>
                  </a:rPr>
                  <a:t>x[15]</a:t>
                </a:r>
                <a:endParaRPr sz="1800" dirty="0">
                  <a:latin typeface="Courier New"/>
                  <a:cs typeface="Courier New"/>
                </a:endParaRPr>
              </a:p>
            </p:txBody>
          </p:sp>
        </p:grpSp>
        <p:sp>
          <p:nvSpPr>
            <p:cNvPr id="28" name="object 28"/>
            <p:cNvSpPr txBox="1"/>
            <p:nvPr/>
          </p:nvSpPr>
          <p:spPr>
            <a:xfrm>
              <a:off x="295275" y="3132518"/>
              <a:ext cx="16319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Courier New"/>
                  <a:cs typeface="Courier New"/>
                </a:rPr>
                <a:t>…</a:t>
              </a:r>
              <a:endParaRPr sz="1800" dirty="0">
                <a:latin typeface="Courier New"/>
                <a:cs typeface="Courier New"/>
              </a:endParaRPr>
            </a:p>
          </p:txBody>
        </p:sp>
      </p:grp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1891" y="1917192"/>
            <a:ext cx="223520" cy="26555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5389" y="1888617"/>
            <a:ext cx="882903" cy="323342"/>
          </a:xfrm>
          <a:prstGeom prst="rect">
            <a:avLst/>
          </a:prstGeom>
        </p:spPr>
      </p:pic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2944FE3-2E22-821A-A28F-C98E2650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19</a:t>
            </a:fld>
            <a:endParaRPr lang="en-P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F0CDDD-C609-2F47-2449-38DB4375B6A1}"/>
              </a:ext>
            </a:extLst>
          </p:cNvPr>
          <p:cNvSpPr txBox="1"/>
          <p:nvPr/>
        </p:nvSpPr>
        <p:spPr>
          <a:xfrm>
            <a:off x="247216" y="4409123"/>
            <a:ext cx="7797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4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Vectorization: efficient calculation and scale to large data set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47186" y="278638"/>
            <a:ext cx="200025" cy="62230"/>
          </a:xfrm>
          <a:custGeom>
            <a:avLst/>
            <a:gdLst/>
            <a:ahLst/>
            <a:cxnLst/>
            <a:rect l="l" t="t" r="r" b="b"/>
            <a:pathLst>
              <a:path w="200025" h="62229">
                <a:moveTo>
                  <a:pt x="168021" y="0"/>
                </a:moveTo>
                <a:lnTo>
                  <a:pt x="161289" y="7492"/>
                </a:lnTo>
                <a:lnTo>
                  <a:pt x="181355" y="25019"/>
                </a:lnTo>
                <a:lnTo>
                  <a:pt x="0" y="25019"/>
                </a:lnTo>
                <a:lnTo>
                  <a:pt x="0" y="36829"/>
                </a:lnTo>
                <a:lnTo>
                  <a:pt x="181355" y="36829"/>
                </a:lnTo>
                <a:lnTo>
                  <a:pt x="161289" y="54228"/>
                </a:lnTo>
                <a:lnTo>
                  <a:pt x="168021" y="61722"/>
                </a:lnTo>
                <a:lnTo>
                  <a:pt x="199516" y="34544"/>
                </a:lnTo>
                <a:lnTo>
                  <a:pt x="199516" y="27304"/>
                </a:lnTo>
                <a:lnTo>
                  <a:pt x="1680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03192" y="290068"/>
            <a:ext cx="2128520" cy="238760"/>
          </a:xfrm>
          <a:custGeom>
            <a:avLst/>
            <a:gdLst/>
            <a:ahLst/>
            <a:cxnLst/>
            <a:rect l="l" t="t" r="r" b="b"/>
            <a:pathLst>
              <a:path w="2128520" h="238759">
                <a:moveTo>
                  <a:pt x="2052574" y="0"/>
                </a:moveTo>
                <a:lnTo>
                  <a:pt x="2049145" y="9652"/>
                </a:lnTo>
                <a:lnTo>
                  <a:pt x="2062934" y="15652"/>
                </a:lnTo>
                <a:lnTo>
                  <a:pt x="2074783" y="23939"/>
                </a:lnTo>
                <a:lnTo>
                  <a:pt x="2098873" y="62351"/>
                </a:lnTo>
                <a:lnTo>
                  <a:pt x="2106803" y="117983"/>
                </a:lnTo>
                <a:lnTo>
                  <a:pt x="2105919" y="138938"/>
                </a:lnTo>
                <a:lnTo>
                  <a:pt x="2092579" y="190373"/>
                </a:lnTo>
                <a:lnTo>
                  <a:pt x="2063075" y="222573"/>
                </a:lnTo>
                <a:lnTo>
                  <a:pt x="2049526" y="228600"/>
                </a:lnTo>
                <a:lnTo>
                  <a:pt x="2052574" y="238252"/>
                </a:lnTo>
                <a:lnTo>
                  <a:pt x="2098079" y="211195"/>
                </a:lnTo>
                <a:lnTo>
                  <a:pt x="2123598" y="161242"/>
                </a:lnTo>
                <a:lnTo>
                  <a:pt x="2128520" y="119126"/>
                </a:lnTo>
                <a:lnTo>
                  <a:pt x="2127283" y="97343"/>
                </a:lnTo>
                <a:lnTo>
                  <a:pt x="2117429" y="58636"/>
                </a:lnTo>
                <a:lnTo>
                  <a:pt x="2084943" y="15271"/>
                </a:lnTo>
                <a:lnTo>
                  <a:pt x="2069812" y="6242"/>
                </a:lnTo>
                <a:lnTo>
                  <a:pt x="2052574" y="0"/>
                </a:lnTo>
                <a:close/>
              </a:path>
              <a:path w="2128520" h="238759">
                <a:moveTo>
                  <a:pt x="76073" y="0"/>
                </a:moveTo>
                <a:lnTo>
                  <a:pt x="30567" y="27110"/>
                </a:lnTo>
                <a:lnTo>
                  <a:pt x="4937" y="77168"/>
                </a:lnTo>
                <a:lnTo>
                  <a:pt x="0" y="119126"/>
                </a:lnTo>
                <a:lnTo>
                  <a:pt x="1236" y="141035"/>
                </a:lnTo>
                <a:lnTo>
                  <a:pt x="11090" y="179758"/>
                </a:lnTo>
                <a:lnTo>
                  <a:pt x="43497" y="222996"/>
                </a:lnTo>
                <a:lnTo>
                  <a:pt x="76073" y="238252"/>
                </a:lnTo>
                <a:lnTo>
                  <a:pt x="78994" y="228600"/>
                </a:lnTo>
                <a:lnTo>
                  <a:pt x="65444" y="222573"/>
                </a:lnTo>
                <a:lnTo>
                  <a:pt x="53752" y="214201"/>
                </a:lnTo>
                <a:lnTo>
                  <a:pt x="29700" y="175132"/>
                </a:lnTo>
                <a:lnTo>
                  <a:pt x="21717" y="117983"/>
                </a:lnTo>
                <a:lnTo>
                  <a:pt x="22600" y="97645"/>
                </a:lnTo>
                <a:lnTo>
                  <a:pt x="35941" y="47371"/>
                </a:lnTo>
                <a:lnTo>
                  <a:pt x="65659" y="15652"/>
                </a:lnTo>
                <a:lnTo>
                  <a:pt x="79375" y="9652"/>
                </a:lnTo>
                <a:lnTo>
                  <a:pt x="760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9317" y="551561"/>
            <a:ext cx="142875" cy="62230"/>
          </a:xfrm>
          <a:custGeom>
            <a:avLst/>
            <a:gdLst/>
            <a:ahLst/>
            <a:cxnLst/>
            <a:rect l="l" t="t" r="r" b="b"/>
            <a:pathLst>
              <a:path w="142875" h="62229">
                <a:moveTo>
                  <a:pt x="110870" y="0"/>
                </a:moveTo>
                <a:lnTo>
                  <a:pt x="104140" y="7492"/>
                </a:lnTo>
                <a:lnTo>
                  <a:pt x="124206" y="24891"/>
                </a:lnTo>
                <a:lnTo>
                  <a:pt x="0" y="24891"/>
                </a:lnTo>
                <a:lnTo>
                  <a:pt x="0" y="36702"/>
                </a:lnTo>
                <a:lnTo>
                  <a:pt x="124206" y="36702"/>
                </a:lnTo>
                <a:lnTo>
                  <a:pt x="104140" y="54228"/>
                </a:lnTo>
                <a:lnTo>
                  <a:pt x="110870" y="61722"/>
                </a:lnTo>
                <a:lnTo>
                  <a:pt x="142367" y="34543"/>
                </a:lnTo>
                <a:lnTo>
                  <a:pt x="142367" y="27177"/>
                </a:lnTo>
                <a:lnTo>
                  <a:pt x="1108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8173" y="620141"/>
            <a:ext cx="2157095" cy="238760"/>
          </a:xfrm>
          <a:custGeom>
            <a:avLst/>
            <a:gdLst/>
            <a:ahLst/>
            <a:cxnLst/>
            <a:rect l="l" t="t" r="r" b="b"/>
            <a:pathLst>
              <a:path w="2157095" h="238759">
                <a:moveTo>
                  <a:pt x="2081149" y="0"/>
                </a:moveTo>
                <a:lnTo>
                  <a:pt x="2077720" y="9651"/>
                </a:lnTo>
                <a:lnTo>
                  <a:pt x="2091509" y="15652"/>
                </a:lnTo>
                <a:lnTo>
                  <a:pt x="2103358" y="23939"/>
                </a:lnTo>
                <a:lnTo>
                  <a:pt x="2127448" y="62277"/>
                </a:lnTo>
                <a:lnTo>
                  <a:pt x="2135378" y="117856"/>
                </a:lnTo>
                <a:lnTo>
                  <a:pt x="2134496" y="138884"/>
                </a:lnTo>
                <a:lnTo>
                  <a:pt x="2121280" y="190373"/>
                </a:lnTo>
                <a:lnTo>
                  <a:pt x="2091652" y="222502"/>
                </a:lnTo>
                <a:lnTo>
                  <a:pt x="2078101" y="228473"/>
                </a:lnTo>
                <a:lnTo>
                  <a:pt x="2081149" y="238251"/>
                </a:lnTo>
                <a:lnTo>
                  <a:pt x="2126654" y="211141"/>
                </a:lnTo>
                <a:lnTo>
                  <a:pt x="2152173" y="161242"/>
                </a:lnTo>
                <a:lnTo>
                  <a:pt x="2157095" y="119125"/>
                </a:lnTo>
                <a:lnTo>
                  <a:pt x="2155858" y="97289"/>
                </a:lnTo>
                <a:lnTo>
                  <a:pt x="2146004" y="58618"/>
                </a:lnTo>
                <a:lnTo>
                  <a:pt x="2113518" y="15271"/>
                </a:lnTo>
                <a:lnTo>
                  <a:pt x="2098387" y="6242"/>
                </a:lnTo>
                <a:lnTo>
                  <a:pt x="2081149" y="0"/>
                </a:lnTo>
                <a:close/>
              </a:path>
              <a:path w="2157095" h="238759">
                <a:moveTo>
                  <a:pt x="76073" y="0"/>
                </a:moveTo>
                <a:lnTo>
                  <a:pt x="30567" y="27110"/>
                </a:lnTo>
                <a:lnTo>
                  <a:pt x="4937" y="77120"/>
                </a:lnTo>
                <a:lnTo>
                  <a:pt x="0" y="119125"/>
                </a:lnTo>
                <a:lnTo>
                  <a:pt x="1236" y="141035"/>
                </a:lnTo>
                <a:lnTo>
                  <a:pt x="11090" y="179758"/>
                </a:lnTo>
                <a:lnTo>
                  <a:pt x="43497" y="222948"/>
                </a:lnTo>
                <a:lnTo>
                  <a:pt x="76073" y="238251"/>
                </a:lnTo>
                <a:lnTo>
                  <a:pt x="78993" y="228473"/>
                </a:lnTo>
                <a:lnTo>
                  <a:pt x="65444" y="222502"/>
                </a:lnTo>
                <a:lnTo>
                  <a:pt x="53752" y="214137"/>
                </a:lnTo>
                <a:lnTo>
                  <a:pt x="29700" y="175131"/>
                </a:lnTo>
                <a:lnTo>
                  <a:pt x="21716" y="117856"/>
                </a:lnTo>
                <a:lnTo>
                  <a:pt x="22600" y="97520"/>
                </a:lnTo>
                <a:lnTo>
                  <a:pt x="35940" y="47371"/>
                </a:lnTo>
                <a:lnTo>
                  <a:pt x="65659" y="15652"/>
                </a:lnTo>
                <a:lnTo>
                  <a:pt x="79375" y="9651"/>
                </a:lnTo>
                <a:lnTo>
                  <a:pt x="760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2516" y="114046"/>
            <a:ext cx="2080895" cy="7632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95"/>
              </a:spcBef>
              <a:tabLst>
                <a:tab pos="676275" algn="l"/>
                <a:tab pos="1219835" algn="l"/>
                <a:tab pos="1772920" algn="l"/>
              </a:tabLst>
            </a:pPr>
            <a:r>
              <a:rPr sz="3000" spc="30" baseline="-83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3000" spc="127" baseline="-83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30" baseline="-83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=	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250" spc="-127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250" spc="-75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⋯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">
              <a:lnSpc>
                <a:spcPct val="100000"/>
              </a:lnSpc>
              <a:spcBef>
                <a:spcPts val="505"/>
              </a:spcBef>
              <a:tabLst>
                <a:tab pos="708660" algn="l"/>
                <a:tab pos="1280795" algn="l"/>
                <a:tab pos="1795780" algn="l"/>
              </a:tabLst>
            </a:pP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	</a:t>
            </a:r>
            <a:r>
              <a:rPr sz="3000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𝑑</a:t>
            </a:r>
            <a:r>
              <a:rPr sz="2250" baseline="-14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sz="3000" spc="60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𝑑</a:t>
            </a:r>
            <a:r>
              <a:rPr sz="2250" spc="60" baseline="-14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sz="3000" spc="3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⋯</a:t>
            </a:r>
            <a:endParaRPr sz="3000" baseline="13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14950" y="180783"/>
            <a:ext cx="470534" cy="7442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3000" spc="-37" baseline="1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">
              <a:lnSpc>
                <a:spcPct val="100000"/>
              </a:lnSpc>
              <a:spcBef>
                <a:spcPts val="430"/>
              </a:spcBef>
            </a:pPr>
            <a:r>
              <a:rPr sz="3000" spc="52" baseline="1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𝑑</a:t>
            </a:r>
            <a:r>
              <a:rPr sz="15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16EF661-C7BE-E563-B1EE-ED85EFF02B9D}"/>
              </a:ext>
            </a:extLst>
          </p:cNvPr>
          <p:cNvGrpSpPr/>
          <p:nvPr/>
        </p:nvGrpSpPr>
        <p:grpSpPr>
          <a:xfrm>
            <a:off x="193492" y="2603500"/>
            <a:ext cx="3448367" cy="2330450"/>
            <a:chOff x="238125" y="2161679"/>
            <a:chExt cx="3448367" cy="2330450"/>
          </a:xfrm>
        </p:grpSpPr>
        <p:sp>
          <p:nvSpPr>
            <p:cNvPr id="2" name="object 2"/>
            <p:cNvSpPr txBox="1"/>
            <p:nvPr/>
          </p:nvSpPr>
          <p:spPr>
            <a:xfrm>
              <a:off x="238125" y="3916330"/>
              <a:ext cx="3153719" cy="575799"/>
            </a:xfrm>
            <a:prstGeom prst="rect">
              <a:avLst/>
            </a:prstGeom>
            <a:solidFill>
              <a:srgbClr val="DEDEDE"/>
            </a:solidFill>
          </p:spPr>
          <p:txBody>
            <a:bodyPr vert="horz" wrap="square" lIns="0" tIns="21590" rIns="0" bIns="0" rtlCol="0">
              <a:spAutoFit/>
            </a:bodyPr>
            <a:lstStyle/>
            <a:p>
              <a:pPr marR="1002030" algn="ctr">
                <a:lnSpc>
                  <a:spcPct val="100000"/>
                </a:lnSpc>
                <a:spcBef>
                  <a:spcPts val="170"/>
                </a:spcBef>
              </a:pP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r>
                <a:rPr sz="1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range(0,16):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87680" algn="ctr">
                <a:lnSpc>
                  <a:spcPct val="100000"/>
                </a:lnSpc>
                <a:spcBef>
                  <a:spcPts val="20"/>
                </a:spcBef>
              </a:pP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w[j]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spc="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w[j]</a:t>
              </a:r>
              <a:r>
                <a:rPr sz="1800" spc="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sz="1800" spc="-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</a:t>
              </a:r>
              <a:r>
                <a:rPr sz="1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d[j]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877252" y="2161679"/>
              <a:ext cx="2809240" cy="1644650"/>
            </a:xfrm>
            <a:prstGeom prst="rect">
              <a:avLst/>
            </a:prstGeom>
          </p:spPr>
          <p:txBody>
            <a:bodyPr vert="horz" wrap="square" lIns="0" tIns="45719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59"/>
                </a:spcBef>
              </a:pPr>
              <a:r>
                <a:rPr sz="20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Without</a:t>
              </a:r>
              <a:r>
                <a:rPr sz="2000" spc="-9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vectorization</a:t>
              </a:r>
            </a:p>
            <a:p>
              <a:pPr marR="292100" algn="ctr">
                <a:lnSpc>
                  <a:spcPct val="100000"/>
                </a:lnSpc>
                <a:spcBef>
                  <a:spcPts val="260"/>
                </a:spcBef>
              </a:pPr>
              <a:r>
                <a:rPr sz="2000" spc="-8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250" spc="-127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250" spc="517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8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250" spc="-127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250" spc="412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sz="2000" spc="-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0.1𝑑</a:t>
              </a:r>
              <a:r>
                <a:rPr sz="2250" spc="22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2250" baseline="-1666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R="254635" algn="ctr">
                <a:lnSpc>
                  <a:spcPct val="100000"/>
                </a:lnSpc>
                <a:spcBef>
                  <a:spcPts val="115"/>
                </a:spcBef>
              </a:pPr>
              <a:r>
                <a:rPr sz="20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250" spc="-75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250" spc="419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2000" spc="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250" spc="-67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250" spc="315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sz="20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0.1𝑑</a:t>
              </a:r>
              <a:r>
                <a:rPr sz="2250" spc="15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2250" baseline="-1666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R="457200" algn="ctr">
                <a:lnSpc>
                  <a:spcPts val="2300"/>
                </a:lnSpc>
                <a:spcBef>
                  <a:spcPts val="309"/>
                </a:spcBef>
              </a:pPr>
              <a:r>
                <a:rPr sz="20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⋮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6830" algn="ctr">
                <a:lnSpc>
                  <a:spcPts val="2300"/>
                </a:lnSpc>
              </a:pPr>
              <a:r>
                <a:rPr sz="2000" spc="-3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250" spc="-52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sz="2250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2000" spc="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𝑤</a:t>
              </a:r>
              <a:r>
                <a:rPr sz="2250" spc="-15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sz="2250" spc="202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sz="2000" spc="-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0.1𝑑</a:t>
              </a:r>
              <a:r>
                <a:rPr sz="2250" spc="37" baseline="-166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sz="2250" baseline="-1666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40502" y="1809750"/>
            <a:ext cx="5135436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250" spc="697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</a:t>
            </a:r>
            <a:r>
              <a:rPr sz="2250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50" spc="-22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2250" spc="697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</a:t>
            </a:r>
            <a:r>
              <a:rPr sz="2250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50" spc="-135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000" spc="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𝑑</a:t>
            </a:r>
            <a:r>
              <a:rPr sz="2250" spc="697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</a:t>
            </a:r>
            <a:r>
              <a:rPr sz="2250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50" spc="-135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50" spc="-135" baseline="-16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𝑗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sz="20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808" y="1857743"/>
            <a:ext cx="2543992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2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spc="2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3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0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(update) </a:t>
            </a:r>
            <a:endParaRPr sz="2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0281" y="-60487"/>
            <a:ext cx="3756837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000" spc="4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spc="-3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15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escen</a:t>
            </a:r>
            <a:r>
              <a:rPr sz="2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vectorization </a:t>
            </a:r>
            <a:endParaRPr sz="2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4023" y="227456"/>
            <a:ext cx="568832" cy="26022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9734" y="273050"/>
            <a:ext cx="1337183" cy="26022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846AC69-DF26-138A-851D-586088C49F97}"/>
              </a:ext>
            </a:extLst>
          </p:cNvPr>
          <p:cNvGrpSpPr/>
          <p:nvPr/>
        </p:nvGrpSpPr>
        <p:grpSpPr>
          <a:xfrm>
            <a:off x="5026485" y="2601537"/>
            <a:ext cx="3893946" cy="2133220"/>
            <a:chOff x="5134864" y="1972055"/>
            <a:chExt cx="3893946" cy="2133220"/>
          </a:xfrm>
        </p:grpSpPr>
        <p:sp>
          <p:nvSpPr>
            <p:cNvPr id="9" name="object 9"/>
            <p:cNvSpPr/>
            <p:nvPr/>
          </p:nvSpPr>
          <p:spPr>
            <a:xfrm>
              <a:off x="5172075" y="3743325"/>
              <a:ext cx="2295525" cy="361950"/>
            </a:xfrm>
            <a:custGeom>
              <a:avLst/>
              <a:gdLst/>
              <a:ahLst/>
              <a:cxnLst/>
              <a:rect l="l" t="t" r="r" b="b"/>
              <a:pathLst>
                <a:path w="2295525" h="361950">
                  <a:moveTo>
                    <a:pt x="229552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2295525" y="361950"/>
                  </a:lnTo>
                  <a:lnTo>
                    <a:pt x="2295525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172075" y="3743325"/>
              <a:ext cx="2295525" cy="298800"/>
            </a:xfrm>
            <a:prstGeom prst="rect">
              <a:avLst/>
            </a:prstGeom>
          </p:spPr>
          <p:txBody>
            <a:bodyPr vert="horz" wrap="square" lIns="0" tIns="21590" rIns="0" bIns="0" rtlCol="0">
              <a:spAutoFit/>
            </a:bodyPr>
            <a:lstStyle/>
            <a:p>
              <a:pPr marL="98425">
                <a:lnSpc>
                  <a:spcPct val="100000"/>
                </a:lnSpc>
                <a:spcBef>
                  <a:spcPts val="170"/>
                </a:spcBef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sz="18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w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sz="1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</a:t>
              </a:r>
              <a:r>
                <a:rPr sz="18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 d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617209" y="2520823"/>
              <a:ext cx="199390" cy="62230"/>
            </a:xfrm>
            <a:custGeom>
              <a:avLst/>
              <a:gdLst/>
              <a:ahLst/>
              <a:cxnLst/>
              <a:rect l="l" t="t" r="r" b="b"/>
              <a:pathLst>
                <a:path w="199389" h="62230">
                  <a:moveTo>
                    <a:pt x="167893" y="0"/>
                  </a:moveTo>
                  <a:lnTo>
                    <a:pt x="161289" y="7493"/>
                  </a:lnTo>
                  <a:lnTo>
                    <a:pt x="181355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81355" y="36829"/>
                  </a:lnTo>
                  <a:lnTo>
                    <a:pt x="161289" y="54228"/>
                  </a:lnTo>
                  <a:lnTo>
                    <a:pt x="167893" y="61849"/>
                  </a:lnTo>
                  <a:lnTo>
                    <a:pt x="199389" y="34543"/>
                  </a:lnTo>
                  <a:lnTo>
                    <a:pt x="199389" y="27304"/>
                  </a:lnTo>
                  <a:lnTo>
                    <a:pt x="167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141084" y="2520823"/>
              <a:ext cx="199390" cy="62230"/>
            </a:xfrm>
            <a:custGeom>
              <a:avLst/>
              <a:gdLst/>
              <a:ahLst/>
              <a:cxnLst/>
              <a:rect l="l" t="t" r="r" b="b"/>
              <a:pathLst>
                <a:path w="199389" h="62230">
                  <a:moveTo>
                    <a:pt x="167893" y="0"/>
                  </a:moveTo>
                  <a:lnTo>
                    <a:pt x="161289" y="7493"/>
                  </a:lnTo>
                  <a:lnTo>
                    <a:pt x="181355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81355" y="36829"/>
                  </a:lnTo>
                  <a:lnTo>
                    <a:pt x="161289" y="54228"/>
                  </a:lnTo>
                  <a:lnTo>
                    <a:pt x="167893" y="61849"/>
                  </a:lnTo>
                  <a:lnTo>
                    <a:pt x="199389" y="34543"/>
                  </a:lnTo>
                  <a:lnTo>
                    <a:pt x="199389" y="27304"/>
                  </a:lnTo>
                  <a:lnTo>
                    <a:pt x="167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036434" y="2463673"/>
              <a:ext cx="142240" cy="62230"/>
            </a:xfrm>
            <a:custGeom>
              <a:avLst/>
              <a:gdLst/>
              <a:ahLst/>
              <a:cxnLst/>
              <a:rect l="l" t="t" r="r" b="b"/>
              <a:pathLst>
                <a:path w="142240" h="62230">
                  <a:moveTo>
                    <a:pt x="110744" y="0"/>
                  </a:moveTo>
                  <a:lnTo>
                    <a:pt x="104140" y="7493"/>
                  </a:lnTo>
                  <a:lnTo>
                    <a:pt x="12420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24206" y="36829"/>
                  </a:lnTo>
                  <a:lnTo>
                    <a:pt x="104140" y="54228"/>
                  </a:lnTo>
                  <a:lnTo>
                    <a:pt x="110744" y="61849"/>
                  </a:lnTo>
                  <a:lnTo>
                    <a:pt x="142240" y="34543"/>
                  </a:lnTo>
                  <a:lnTo>
                    <a:pt x="142240" y="27304"/>
                  </a:lnTo>
                  <a:lnTo>
                    <a:pt x="1107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134864" y="1972055"/>
              <a:ext cx="2339975" cy="820419"/>
            </a:xfrm>
            <a:prstGeom prst="rect">
              <a:avLst/>
            </a:prstGeom>
          </p:spPr>
          <p:txBody>
            <a:bodyPr vert="horz" wrap="square" lIns="0" tIns="1047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825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sz="2000" spc="-1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vectorization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87680">
                <a:lnSpc>
                  <a:spcPct val="100000"/>
                </a:lnSpc>
                <a:spcBef>
                  <a:spcPts val="730"/>
                </a:spcBef>
              </a:pP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sz="2000" spc="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2000" spc="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sz="2000" spc="3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sz="2000" spc="-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0.1d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1357" y="2215769"/>
              <a:ext cx="2107453" cy="1763699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095A05-6EBC-6265-0A1C-941028999A70}"/>
              </a:ext>
            </a:extLst>
          </p:cNvPr>
          <p:cNvGrpSpPr/>
          <p:nvPr/>
        </p:nvGrpSpPr>
        <p:grpSpPr>
          <a:xfrm>
            <a:off x="1743138" y="931603"/>
            <a:ext cx="4819650" cy="647700"/>
            <a:chOff x="2262187" y="906978"/>
            <a:chExt cx="4819650" cy="647700"/>
          </a:xfrm>
        </p:grpSpPr>
        <p:sp>
          <p:nvSpPr>
            <p:cNvPr id="11" name="object 11"/>
            <p:cNvSpPr/>
            <p:nvPr/>
          </p:nvSpPr>
          <p:spPr>
            <a:xfrm>
              <a:off x="2262187" y="906978"/>
              <a:ext cx="4819650" cy="647700"/>
            </a:xfrm>
            <a:custGeom>
              <a:avLst/>
              <a:gdLst/>
              <a:ahLst/>
              <a:cxnLst/>
              <a:rect l="l" t="t" r="r" b="b"/>
              <a:pathLst>
                <a:path w="4819650" h="647700">
                  <a:moveTo>
                    <a:pt x="4819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4819650" y="647700"/>
                  </a:lnTo>
                  <a:lnTo>
                    <a:pt x="481965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2262187" y="945006"/>
              <a:ext cx="4819650" cy="57131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95250">
                <a:lnSpc>
                  <a:spcPct val="100000"/>
                </a:lnSpc>
                <a:spcBef>
                  <a:spcPts val="135"/>
                </a:spcBef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sz="18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np.array([0.5,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1.3,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3.4])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5250">
                <a:lnSpc>
                  <a:spcPct val="100000"/>
                </a:lnSpc>
                <a:spcBef>
                  <a:spcPts val="20"/>
                </a:spcBef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sz="1800" spc="-7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np.array([0.3,</a:t>
              </a:r>
              <a:r>
                <a:rPr sz="1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0.2,</a:t>
              </a:r>
              <a:r>
                <a:rPr sz="1800" spc="-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r>
                <a:rPr sz="18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0.4])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4CDA608A-F007-6F2E-1254-D442E9B9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F9B2E5-2C68-43AB-716F-5F3FA0CCBC7B}"/>
              </a:ext>
            </a:extLst>
          </p:cNvPr>
          <p:cNvSpPr txBox="1"/>
          <p:nvPr/>
        </p:nvSpPr>
        <p:spPr>
          <a:xfrm>
            <a:off x="1921670" y="482147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Derivatives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897BEE-8448-A730-B24C-94CCBF8BAF63}"/>
              </a:ext>
            </a:extLst>
          </p:cNvPr>
          <p:cNvSpPr txBox="1"/>
          <p:nvPr/>
        </p:nvSpPr>
        <p:spPr>
          <a:xfrm>
            <a:off x="310027" y="931603"/>
            <a:ext cx="1376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values </a:t>
            </a:r>
          </a:p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arrays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3D23B7-3A61-22ED-1FB0-45C049020E26}"/>
              </a:ext>
            </a:extLst>
          </p:cNvPr>
          <p:cNvSpPr txBox="1"/>
          <p:nvPr/>
        </p:nvSpPr>
        <p:spPr>
          <a:xfrm>
            <a:off x="3926871" y="2184529"/>
            <a:ext cx="162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BEFD1C-FAAC-FCB2-1BF7-374D797D976A}"/>
              </a:ext>
            </a:extLst>
          </p:cNvPr>
          <p:cNvSpPr txBox="1"/>
          <p:nvPr/>
        </p:nvSpPr>
        <p:spPr>
          <a:xfrm>
            <a:off x="6551413" y="913166"/>
            <a:ext cx="131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3F1736-97F8-4121-7A8D-41DD93861D59}"/>
              </a:ext>
            </a:extLst>
          </p:cNvPr>
          <p:cNvSpPr txBox="1"/>
          <p:nvPr/>
        </p:nvSpPr>
        <p:spPr>
          <a:xfrm>
            <a:off x="6580780" y="1221851"/>
            <a:ext cx="1254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derivatives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3D280A-052D-EA5D-95C9-3F11D0E58225}"/>
              </a:ext>
            </a:extLst>
          </p:cNvPr>
          <p:cNvCxnSpPr/>
          <p:nvPr/>
        </p:nvCxnSpPr>
        <p:spPr>
          <a:xfrm flipV="1">
            <a:off x="4415745" y="2151110"/>
            <a:ext cx="156255" cy="186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0A567DA-42A6-971A-5CF0-E02D529BE4F7}"/>
              </a:ext>
            </a:extLst>
          </p:cNvPr>
          <p:cNvSpPr txBox="1"/>
          <p:nvPr/>
        </p:nvSpPr>
        <p:spPr>
          <a:xfrm>
            <a:off x="217633" y="280810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  <a:p>
            <a:pPr algn="ctr"/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06EA7A-5DDA-1286-5B4B-B22C1C1FBB36}"/>
              </a:ext>
            </a:extLst>
          </p:cNvPr>
          <p:cNvSpPr txBox="1"/>
          <p:nvPr/>
        </p:nvSpPr>
        <p:spPr>
          <a:xfrm>
            <a:off x="4660361" y="3488450"/>
            <a:ext cx="1862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the calculation</a:t>
            </a:r>
          </a:p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69AC7-D5DD-6041-B0D1-F781ACA926E5}"/>
              </a:ext>
            </a:extLst>
          </p:cNvPr>
          <p:cNvCxnSpPr/>
          <p:nvPr/>
        </p:nvCxnSpPr>
        <p:spPr>
          <a:xfrm>
            <a:off x="3886200" y="2601537"/>
            <a:ext cx="0" cy="22605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EAF6B4-F41F-4741-BF37-0B20784CA16C}"/>
              </a:ext>
            </a:extLst>
          </p:cNvPr>
          <p:cNvCxnSpPr/>
          <p:nvPr/>
        </p:nvCxnSpPr>
        <p:spPr>
          <a:xfrm flipV="1">
            <a:off x="617742" y="2571750"/>
            <a:ext cx="7217164" cy="318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D9BD-D556-049F-4C0B-3B6FC4934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844"/>
            <a:ext cx="8134350" cy="545306"/>
          </a:xfrm>
        </p:spPr>
        <p:txBody>
          <a:bodyPr/>
          <a:lstStyle/>
          <a:p>
            <a:r>
              <a:rPr lang="en-PS" dirty="0"/>
              <a:t>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4ABBB-F458-ADC3-5E1E-EEF6B2A2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pPr/>
              <a:t>21</a:t>
            </a:fld>
            <a:endParaRPr lang="en-P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929DE-4495-67EF-4B48-2C81886101C0}"/>
              </a:ext>
            </a:extLst>
          </p:cNvPr>
          <p:cNvSpPr txBox="1"/>
          <p:nvPr/>
        </p:nvSpPr>
        <p:spPr>
          <a:xfrm>
            <a:off x="381000" y="989091"/>
            <a:ext cx="838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43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is a vectorized implementation for computing a linear regression model’s prediction?</a:t>
            </a:r>
            <a:endParaRPr lang="en-PS" sz="28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AC47E-E27B-5CD2-C909-D9736135289F}"/>
              </a:ext>
            </a:extLst>
          </p:cNvPr>
          <p:cNvSpPr txBox="1"/>
          <p:nvPr/>
        </p:nvSpPr>
        <p:spPr>
          <a:xfrm>
            <a:off x="530629" y="26290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 = 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np.dot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w,x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+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8D8C5-D9D8-87E8-BEDC-D3795BD7A479}"/>
              </a:ext>
            </a:extLst>
          </p:cNvPr>
          <p:cNvSpPr txBox="1"/>
          <p:nvPr/>
        </p:nvSpPr>
        <p:spPr>
          <a:xfrm>
            <a:off x="563880" y="3251248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 = w[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* x[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+ w[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* x[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+ w[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* x[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+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124EC5-B0FE-ABDF-00CA-F0A3B2DEFA92}"/>
              </a:ext>
            </a:extLst>
          </p:cNvPr>
          <p:cNvSpPr txBox="1"/>
          <p:nvPr/>
        </p:nvSpPr>
        <p:spPr>
          <a:xfrm>
            <a:off x="533400" y="373468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 = </a:t>
            </a:r>
            <a:r>
              <a:rPr lang="en-US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 = f + w[j] * x[j]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 = f + b</a:t>
            </a:r>
          </a:p>
        </p:txBody>
      </p:sp>
    </p:spTree>
    <p:extLst>
      <p:ext uri="{BB962C8B-B14F-4D97-AF65-F5344CB8AC3E}">
        <p14:creationId xmlns:p14="http://schemas.microsoft.com/office/powerpoint/2010/main" val="273657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E4E6-C2DC-A24E-01B4-151148F5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conclude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BEF7-C916-3724-2960-67A641F1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062" y="1733550"/>
            <a:ext cx="8134350" cy="2269332"/>
          </a:xfrm>
        </p:spPr>
        <p:txBody>
          <a:bodyPr>
            <a:normAutofit fontScale="92500"/>
          </a:bodyPr>
          <a:lstStyle/>
          <a:p>
            <a:pPr algn="l"/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You've learned one of the most important and useful techniques in implementing machine learning algorithms. </a:t>
            </a:r>
          </a:p>
          <a:p>
            <a:pPr algn="l"/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next section, we'll put the math of multiple linear regression together with vectorization, so that you will influence gradient descent for multiple linear regression with vectorization. </a:t>
            </a:r>
          </a:p>
          <a:p>
            <a:pPr algn="l"/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go on to the next section.</a:t>
            </a:r>
          </a:p>
          <a:p>
            <a:endParaRPr lang="en-P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1D48B-F68A-CF84-B938-B8330221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pPr/>
              <a:t>22</a:t>
            </a:fld>
            <a:endParaRPr lang="en-P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4EEC894-D6FD-84B8-88D0-E3D198543887}"/>
              </a:ext>
            </a:extLst>
          </p:cNvPr>
          <p:cNvSpPr/>
          <p:nvPr/>
        </p:nvSpPr>
        <p:spPr>
          <a:xfrm>
            <a:off x="7391400" y="4095750"/>
            <a:ext cx="762000" cy="5500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4189955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0050" y="991965"/>
            <a:ext cx="7905750" cy="1266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marR="5080" indent="-171450">
              <a:lnSpc>
                <a:spcPct val="117300"/>
              </a:lnSpc>
              <a:spcBef>
                <a:spcPts val="90"/>
              </a:spcBef>
            </a:pPr>
            <a:r>
              <a:rPr sz="36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3600" spc="-7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Descent</a:t>
            </a:r>
            <a:r>
              <a:rPr sz="36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3600" spc="-137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3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3600" spc="-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US" sz="3600" spc="25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marR="5080" indent="-171450">
              <a:lnSpc>
                <a:spcPct val="117300"/>
              </a:lnSpc>
              <a:spcBef>
                <a:spcPts val="90"/>
              </a:spcBef>
            </a:pPr>
            <a:r>
              <a:rPr lang="en-US" sz="36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L" sz="36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ith Vectorization</a:t>
            </a:r>
            <a:endParaRPr sz="36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FBC8-5D2A-3A8C-8448-FD4386910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23</a:t>
            </a:fld>
            <a:endParaRPr lang="en-P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34584-9A73-1519-597B-8856ED69E012}"/>
              </a:ext>
            </a:extLst>
          </p:cNvPr>
          <p:cNvSpPr txBox="1"/>
          <p:nvPr/>
        </p:nvSpPr>
        <p:spPr>
          <a:xfrm>
            <a:off x="431914" y="2942190"/>
            <a:ext cx="83310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You've learned about gradient descents about multiple linear regression and also vectorization. </a:t>
            </a:r>
          </a:p>
          <a:p>
            <a:pPr algn="l"/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put it all together to implement gradient descent for </a:t>
            </a:r>
          </a:p>
          <a:p>
            <a:pPr algn="l"/>
            <a:r>
              <a:rPr lang="en-US" sz="2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 with vectorization.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4102" y="555681"/>
            <a:ext cx="1726513" cy="434734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900"/>
              </a:spcBef>
            </a:pPr>
            <a:r>
              <a:rPr sz="2000" spc="-19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52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250" spc="-225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25" dirty="0">
                <a:latin typeface="Cambria Math"/>
                <a:cs typeface="Cambria Math"/>
              </a:rPr>
              <a:t>⋯</a:t>
            </a:r>
            <a:r>
              <a:rPr sz="2000" spc="-155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12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300" baseline="-16666" dirty="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endParaRPr sz="2250" baseline="-16666" dirty="0">
              <a:latin typeface="Cambria Math"/>
              <a:cs typeface="Cambria Math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6F6918-4F9C-6FF9-1E52-C62FE33985BF}"/>
              </a:ext>
            </a:extLst>
          </p:cNvPr>
          <p:cNvGrpSpPr/>
          <p:nvPr/>
        </p:nvGrpSpPr>
        <p:grpSpPr>
          <a:xfrm>
            <a:off x="5791200" y="1909952"/>
            <a:ext cx="755207" cy="334645"/>
            <a:chOff x="5585776" y="1944541"/>
            <a:chExt cx="755207" cy="334645"/>
          </a:xfrm>
        </p:grpSpPr>
        <p:sp>
          <p:nvSpPr>
            <p:cNvPr id="4" name="object 4"/>
            <p:cNvSpPr/>
            <p:nvPr/>
          </p:nvSpPr>
          <p:spPr>
            <a:xfrm>
              <a:off x="5726938" y="2001011"/>
              <a:ext cx="614045" cy="250190"/>
            </a:xfrm>
            <a:custGeom>
              <a:avLst/>
              <a:gdLst/>
              <a:ahLst/>
              <a:cxnLst/>
              <a:rect l="l" t="t" r="r" b="b"/>
              <a:pathLst>
                <a:path w="614045" h="250189">
                  <a:moveTo>
                    <a:pt x="79375" y="21209"/>
                  </a:moveTo>
                  <a:lnTo>
                    <a:pt x="76073" y="11430"/>
                  </a:lnTo>
                  <a:lnTo>
                    <a:pt x="58750" y="17691"/>
                  </a:lnTo>
                  <a:lnTo>
                    <a:pt x="43586" y="26758"/>
                  </a:lnTo>
                  <a:lnTo>
                    <a:pt x="11087" y="70129"/>
                  </a:lnTo>
                  <a:lnTo>
                    <a:pt x="1231" y="108851"/>
                  </a:lnTo>
                  <a:lnTo>
                    <a:pt x="0" y="130683"/>
                  </a:lnTo>
                  <a:lnTo>
                    <a:pt x="1231" y="152539"/>
                  </a:lnTo>
                  <a:lnTo>
                    <a:pt x="11087" y="191249"/>
                  </a:lnTo>
                  <a:lnTo>
                    <a:pt x="43497" y="234429"/>
                  </a:lnTo>
                  <a:lnTo>
                    <a:pt x="76073" y="249682"/>
                  </a:lnTo>
                  <a:lnTo>
                    <a:pt x="78994" y="240030"/>
                  </a:lnTo>
                  <a:lnTo>
                    <a:pt x="65443" y="234010"/>
                  </a:lnTo>
                  <a:lnTo>
                    <a:pt x="53746" y="225640"/>
                  </a:lnTo>
                  <a:lnTo>
                    <a:pt x="29743" y="186639"/>
                  </a:lnTo>
                  <a:lnTo>
                    <a:pt x="21717" y="129413"/>
                  </a:lnTo>
                  <a:lnTo>
                    <a:pt x="22606" y="109080"/>
                  </a:lnTo>
                  <a:lnTo>
                    <a:pt x="35941" y="58928"/>
                  </a:lnTo>
                  <a:lnTo>
                    <a:pt x="65659" y="27139"/>
                  </a:lnTo>
                  <a:lnTo>
                    <a:pt x="79375" y="21209"/>
                  </a:lnTo>
                  <a:close/>
                </a:path>
                <a:path w="614045" h="250189">
                  <a:moveTo>
                    <a:pt x="281686" y="27305"/>
                  </a:moveTo>
                  <a:lnTo>
                    <a:pt x="250190" y="0"/>
                  </a:lnTo>
                  <a:lnTo>
                    <a:pt x="243459" y="7620"/>
                  </a:lnTo>
                  <a:lnTo>
                    <a:pt x="263652" y="25019"/>
                  </a:lnTo>
                  <a:lnTo>
                    <a:pt x="82169" y="25019"/>
                  </a:lnTo>
                  <a:lnTo>
                    <a:pt x="82169" y="36830"/>
                  </a:lnTo>
                  <a:lnTo>
                    <a:pt x="263652" y="36830"/>
                  </a:lnTo>
                  <a:lnTo>
                    <a:pt x="243459" y="54229"/>
                  </a:lnTo>
                  <a:lnTo>
                    <a:pt x="250190" y="61849"/>
                  </a:lnTo>
                  <a:lnTo>
                    <a:pt x="281686" y="34544"/>
                  </a:lnTo>
                  <a:lnTo>
                    <a:pt x="281686" y="27305"/>
                  </a:lnTo>
                  <a:close/>
                </a:path>
                <a:path w="614045" h="250189">
                  <a:moveTo>
                    <a:pt x="614045" y="130683"/>
                  </a:moveTo>
                  <a:lnTo>
                    <a:pt x="609104" y="88671"/>
                  </a:lnTo>
                  <a:lnTo>
                    <a:pt x="594360" y="53213"/>
                  </a:lnTo>
                  <a:lnTo>
                    <a:pt x="555332" y="17691"/>
                  </a:lnTo>
                  <a:lnTo>
                    <a:pt x="538099" y="11430"/>
                  </a:lnTo>
                  <a:lnTo>
                    <a:pt x="534670" y="21209"/>
                  </a:lnTo>
                  <a:lnTo>
                    <a:pt x="548449" y="27139"/>
                  </a:lnTo>
                  <a:lnTo>
                    <a:pt x="560298" y="35407"/>
                  </a:lnTo>
                  <a:lnTo>
                    <a:pt x="584390" y="73837"/>
                  </a:lnTo>
                  <a:lnTo>
                    <a:pt x="592328" y="129413"/>
                  </a:lnTo>
                  <a:lnTo>
                    <a:pt x="591439" y="150444"/>
                  </a:lnTo>
                  <a:lnTo>
                    <a:pt x="578231" y="201803"/>
                  </a:lnTo>
                  <a:lnTo>
                    <a:pt x="548601" y="234010"/>
                  </a:lnTo>
                  <a:lnTo>
                    <a:pt x="535051" y="240030"/>
                  </a:lnTo>
                  <a:lnTo>
                    <a:pt x="538099" y="249682"/>
                  </a:lnTo>
                  <a:lnTo>
                    <a:pt x="583603" y="222631"/>
                  </a:lnTo>
                  <a:lnTo>
                    <a:pt x="609117" y="172745"/>
                  </a:lnTo>
                  <a:lnTo>
                    <a:pt x="612800" y="152539"/>
                  </a:lnTo>
                  <a:lnTo>
                    <a:pt x="614045" y="13068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585776" y="1944541"/>
              <a:ext cx="659765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25" dirty="0">
                  <a:latin typeface="Cambria Math"/>
                  <a:cs typeface="Cambria Math"/>
                </a:rPr>
                <a:t>𝐽 </a:t>
              </a:r>
              <a:r>
                <a:rPr sz="2000" spc="-80" dirty="0">
                  <a:latin typeface="Cambria Math"/>
                  <a:cs typeface="Cambria Math"/>
                </a:rPr>
                <a:t> </a:t>
              </a:r>
              <a:r>
                <a:rPr sz="2000" spc="20" dirty="0">
                  <a:solidFill>
                    <a:srgbClr val="4285F4"/>
                  </a:solidFill>
                  <a:latin typeface="Cambria Math"/>
                  <a:cs typeface="Cambria Math"/>
                </a:rPr>
                <a:t>w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10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solidFill>
                    <a:srgbClr val="4285F4"/>
                  </a:solidFill>
                  <a:latin typeface="Cambria Math"/>
                  <a:cs typeface="Cambria Math"/>
                </a:rPr>
                <a:t>𝑏</a:t>
              </a:r>
              <a:endParaRPr sz="2000" dirty="0">
                <a:latin typeface="Cambria Math"/>
                <a:cs typeface="Cambria Math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24EEA20-B2F3-8F0D-622D-55E263EDFD1A}"/>
              </a:ext>
            </a:extLst>
          </p:cNvPr>
          <p:cNvGrpSpPr/>
          <p:nvPr/>
        </p:nvGrpSpPr>
        <p:grpSpPr>
          <a:xfrm>
            <a:off x="774591" y="3287315"/>
            <a:ext cx="3533333" cy="401637"/>
            <a:chOff x="1587053" y="3240658"/>
            <a:chExt cx="3533333" cy="401637"/>
          </a:xfrm>
        </p:grpSpPr>
        <p:sp>
          <p:nvSpPr>
            <p:cNvPr id="6" name="object 6"/>
            <p:cNvSpPr txBox="1"/>
            <p:nvPr/>
          </p:nvSpPr>
          <p:spPr>
            <a:xfrm>
              <a:off x="2977512" y="3387660"/>
              <a:ext cx="427990" cy="2546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500" spc="125" dirty="0">
                  <a:latin typeface="Cambria Math"/>
                  <a:cs typeface="Cambria Math"/>
                </a:rPr>
                <a:t>𝜕</a:t>
              </a:r>
              <a:r>
                <a:rPr sz="1500" spc="12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800" spc="187" baseline="-13888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endParaRPr sz="1800" baseline="-13888">
                <a:latin typeface="Cambria Math"/>
                <a:cs typeface="Cambria Math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587053" y="3240658"/>
              <a:ext cx="3533333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0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spc="69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r>
                <a:rPr sz="225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250" spc="-3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=</a:t>
              </a:r>
              <a:r>
                <a:rPr sz="2000" spc="70" dirty="0">
                  <a:latin typeface="Cambria Math"/>
                  <a:cs typeface="Cambria Math"/>
                </a:rPr>
                <a:t> </a:t>
              </a:r>
              <a:r>
                <a:rPr sz="20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spc="69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r>
                <a:rPr sz="2250" spc="24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−</a:t>
              </a:r>
              <a:r>
                <a:rPr sz="2000" spc="-5" dirty="0">
                  <a:latin typeface="Cambria Math"/>
                  <a:cs typeface="Cambria Math"/>
                </a:rPr>
                <a:t> </a:t>
              </a:r>
              <a:r>
                <a:rPr sz="2000" spc="60" dirty="0">
                  <a:latin typeface="Cambria Math"/>
                  <a:cs typeface="Cambria Math"/>
                </a:rPr>
                <a:t>𝛼</a:t>
              </a:r>
              <a:r>
                <a:rPr sz="2250" u="sng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250" u="sng" spc="262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250" u="sng" spc="254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2250" u="sng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 </a:t>
              </a:r>
              <a:r>
                <a:rPr sz="2250" u="sng" spc="-112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r>
                <a:rPr sz="2250" spc="112" baseline="31481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latin typeface="Cambria Math"/>
                  <a:cs typeface="Cambria Math"/>
                </a:rPr>
                <a:t>𝐽</a:t>
              </a:r>
              <a:r>
                <a:rPr sz="2000" dirty="0">
                  <a:latin typeface="Cambria Math"/>
                  <a:cs typeface="Cambria Math"/>
                </a:rPr>
                <a:t> </a:t>
              </a:r>
              <a:r>
                <a:rPr sz="2000" spc="-85" dirty="0">
                  <a:latin typeface="Cambria Math"/>
                  <a:cs typeface="Cambria Math"/>
                </a:rPr>
                <a:t> </a:t>
              </a:r>
              <a:r>
                <a:rPr lang="en-GB" sz="2000" spc="-85" dirty="0">
                  <a:latin typeface="Cambria Math"/>
                  <a:cs typeface="Cambria Math"/>
                </a:rPr>
                <a:t>(</a:t>
              </a:r>
              <a:r>
                <a:rPr sz="2000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spc="209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05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latin typeface="Cambria Math"/>
                  <a:cs typeface="Cambria Math"/>
                </a:rPr>
                <a:t>⋯</a:t>
              </a:r>
              <a:r>
                <a:rPr sz="2000" spc="-155" dirty="0">
                  <a:latin typeface="Cambria Math"/>
                  <a:cs typeface="Cambria Math"/>
                </a:rPr>
                <a:t> 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05" dirty="0">
                  <a:latin typeface="Cambria Math"/>
                  <a:cs typeface="Cambria Math"/>
                </a:rPr>
                <a:t> </a:t>
              </a:r>
              <a:r>
                <a:rPr sz="2000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spc="412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𝑛</a:t>
              </a:r>
              <a:r>
                <a:rPr lang="en-GB" sz="2000" spc="5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,</a:t>
              </a:r>
              <a:r>
                <a:rPr lang="en-GB" sz="2000" spc="5" dirty="0">
                  <a:solidFill>
                    <a:srgbClr val="0096FF"/>
                  </a:solidFill>
                  <a:latin typeface="Cambria Math"/>
                  <a:cs typeface="Cambria Math"/>
                </a:rPr>
                <a:t>b)</a:t>
              </a:r>
              <a:r>
                <a:rPr sz="2000" spc="-110" dirty="0">
                  <a:latin typeface="Cambria Math"/>
                  <a:cs typeface="Cambria Math"/>
                </a:rPr>
                <a:t> </a:t>
              </a:r>
              <a:endParaRPr sz="2000" dirty="0">
                <a:latin typeface="Cambria Math"/>
                <a:cs typeface="Cambria Math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4545" y="2182095"/>
            <a:ext cx="2329815" cy="88265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000" spc="15" dirty="0">
                <a:latin typeface="Verdana"/>
                <a:cs typeface="Verdana"/>
              </a:rPr>
              <a:t>G</a:t>
            </a:r>
            <a:r>
              <a:rPr sz="2000" spc="4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spc="20" dirty="0">
                <a:latin typeface="Verdana"/>
                <a:cs typeface="Verdana"/>
              </a:rPr>
              <a:t>d</a:t>
            </a:r>
            <a:r>
              <a:rPr sz="2000" spc="-30" dirty="0">
                <a:latin typeface="Verdana"/>
                <a:cs typeface="Verdana"/>
              </a:rPr>
              <a:t>i</a:t>
            </a:r>
            <a:r>
              <a:rPr sz="2000" spc="5" dirty="0">
                <a:latin typeface="Verdana"/>
                <a:cs typeface="Verdana"/>
              </a:rPr>
              <a:t>en</a:t>
            </a:r>
            <a:r>
              <a:rPr sz="2000" spc="10" dirty="0">
                <a:latin typeface="Verdana"/>
                <a:cs typeface="Verdana"/>
              </a:rPr>
              <a:t>t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d</a:t>
            </a:r>
            <a:r>
              <a:rPr sz="2000" spc="5" dirty="0">
                <a:latin typeface="Verdana"/>
                <a:cs typeface="Verdana"/>
              </a:rPr>
              <a:t>escen</a:t>
            </a:r>
            <a:r>
              <a:rPr sz="2000" spc="10" dirty="0">
                <a:latin typeface="Verdana"/>
                <a:cs typeface="Verdana"/>
              </a:rPr>
              <a:t>t</a:t>
            </a:r>
            <a:endParaRPr sz="2000" dirty="0">
              <a:latin typeface="Verdana"/>
              <a:cs typeface="Verdana"/>
            </a:endParaRPr>
          </a:p>
          <a:p>
            <a:pPr marL="1320165">
              <a:lnSpc>
                <a:spcPct val="100000"/>
              </a:lnSpc>
              <a:spcBef>
                <a:spcPts val="975"/>
              </a:spcBef>
            </a:pPr>
            <a:r>
              <a:rPr sz="2000" spc="40" dirty="0">
                <a:latin typeface="Verdana"/>
                <a:cs typeface="Verdana"/>
              </a:rPr>
              <a:t>r</a:t>
            </a:r>
            <a:r>
              <a:rPr sz="2000" spc="5" dirty="0">
                <a:latin typeface="Verdana"/>
                <a:cs typeface="Verdana"/>
              </a:rPr>
              <a:t>e</a:t>
            </a:r>
            <a:r>
              <a:rPr sz="2000" spc="20" dirty="0">
                <a:latin typeface="Verdana"/>
                <a:cs typeface="Verdana"/>
              </a:rPr>
              <a:t>p</a:t>
            </a:r>
            <a:r>
              <a:rPr sz="2000" spc="5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spc="10" dirty="0">
                <a:latin typeface="Verdana"/>
                <a:cs typeface="Verdana"/>
              </a:rPr>
              <a:t>t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{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9757" y="4508621"/>
            <a:ext cx="317063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latin typeface="Cambria Math"/>
                <a:cs typeface="Cambria Math"/>
              </a:rPr>
              <a:t>}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745" y="700205"/>
            <a:ext cx="15024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latin typeface="Verdana"/>
                <a:cs typeface="Verdana"/>
              </a:rPr>
              <a:t>Parameters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20892" y="741933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89" h="62229">
                <a:moveTo>
                  <a:pt x="167894" y="0"/>
                </a:moveTo>
                <a:lnTo>
                  <a:pt x="161290" y="7619"/>
                </a:lnTo>
                <a:lnTo>
                  <a:pt x="181356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6" y="36829"/>
                </a:lnTo>
                <a:lnTo>
                  <a:pt x="161290" y="54355"/>
                </a:lnTo>
                <a:lnTo>
                  <a:pt x="167894" y="61849"/>
                </a:lnTo>
                <a:lnTo>
                  <a:pt x="199390" y="34543"/>
                </a:lnTo>
                <a:lnTo>
                  <a:pt x="199390" y="27304"/>
                </a:lnTo>
                <a:lnTo>
                  <a:pt x="16789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69327" y="753109"/>
            <a:ext cx="56515" cy="238760"/>
          </a:xfrm>
          <a:custGeom>
            <a:avLst/>
            <a:gdLst/>
            <a:ahLst/>
            <a:cxnLst/>
            <a:rect l="l" t="t" r="r" b="b"/>
            <a:pathLst>
              <a:path w="56515" h="238759">
                <a:moveTo>
                  <a:pt x="56007" y="0"/>
                </a:moveTo>
                <a:lnTo>
                  <a:pt x="0" y="0"/>
                </a:lnTo>
                <a:lnTo>
                  <a:pt x="0" y="10160"/>
                </a:lnTo>
                <a:lnTo>
                  <a:pt x="35179" y="10160"/>
                </a:lnTo>
                <a:lnTo>
                  <a:pt x="35179" y="229870"/>
                </a:lnTo>
                <a:lnTo>
                  <a:pt x="0" y="229870"/>
                </a:lnTo>
                <a:lnTo>
                  <a:pt x="0" y="238760"/>
                </a:lnTo>
                <a:lnTo>
                  <a:pt x="56007" y="238760"/>
                </a:lnTo>
                <a:lnTo>
                  <a:pt x="56007" y="229870"/>
                </a:lnTo>
                <a:lnTo>
                  <a:pt x="56007" y="10160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885" y="488441"/>
            <a:ext cx="1364995" cy="503427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542414" y="1529714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5" h="46355">
                <a:moveTo>
                  <a:pt x="141985" y="0"/>
                </a:moveTo>
                <a:lnTo>
                  <a:pt x="137033" y="5587"/>
                </a:lnTo>
                <a:lnTo>
                  <a:pt x="151891" y="18542"/>
                </a:lnTo>
                <a:lnTo>
                  <a:pt x="0" y="18542"/>
                </a:lnTo>
                <a:lnTo>
                  <a:pt x="0" y="27305"/>
                </a:lnTo>
                <a:lnTo>
                  <a:pt x="151891" y="27305"/>
                </a:lnTo>
                <a:lnTo>
                  <a:pt x="137033" y="40259"/>
                </a:lnTo>
                <a:lnTo>
                  <a:pt x="141985" y="45847"/>
                </a:lnTo>
                <a:lnTo>
                  <a:pt x="165353" y="25654"/>
                </a:lnTo>
                <a:lnTo>
                  <a:pt x="165353" y="20193"/>
                </a:lnTo>
                <a:lnTo>
                  <a:pt x="14198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6045" y="1246087"/>
            <a:ext cx="1816100" cy="501419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510"/>
              </a:spcBef>
              <a:tabLst>
                <a:tab pos="1294130" algn="l"/>
              </a:tabLst>
            </a:pPr>
            <a:r>
              <a:rPr sz="3000" spc="15" baseline="2777" dirty="0">
                <a:latin typeface="Verdana"/>
                <a:cs typeface="Verdana"/>
              </a:rPr>
              <a:t>Model	</a:t>
            </a:r>
            <a:r>
              <a:rPr sz="3000" spc="75" baseline="12500" dirty="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sz="1500" spc="50" dirty="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500" dirty="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98395" y="1429638"/>
            <a:ext cx="290195" cy="250190"/>
            <a:chOff x="1898395" y="1429638"/>
            <a:chExt cx="290195" cy="250190"/>
          </a:xfrm>
        </p:grpSpPr>
        <p:sp>
          <p:nvSpPr>
            <p:cNvPr id="21" name="object 21"/>
            <p:cNvSpPr/>
            <p:nvPr/>
          </p:nvSpPr>
          <p:spPr>
            <a:xfrm>
              <a:off x="1898395" y="1441068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4" h="238760">
                  <a:moveTo>
                    <a:pt x="214122" y="0"/>
                  </a:moveTo>
                  <a:lnTo>
                    <a:pt x="210693" y="9651"/>
                  </a:lnTo>
                  <a:lnTo>
                    <a:pt x="224500" y="15652"/>
                  </a:lnTo>
                  <a:lnTo>
                    <a:pt x="236378" y="23939"/>
                  </a:lnTo>
                  <a:lnTo>
                    <a:pt x="260421" y="62351"/>
                  </a:lnTo>
                  <a:lnTo>
                    <a:pt x="268351" y="117982"/>
                  </a:lnTo>
                  <a:lnTo>
                    <a:pt x="267469" y="138955"/>
                  </a:lnTo>
                  <a:lnTo>
                    <a:pt x="254254" y="190372"/>
                  </a:lnTo>
                  <a:lnTo>
                    <a:pt x="224696" y="222573"/>
                  </a:lnTo>
                  <a:lnTo>
                    <a:pt x="211074" y="228600"/>
                  </a:lnTo>
                  <a:lnTo>
                    <a:pt x="214122" y="238251"/>
                  </a:lnTo>
                  <a:lnTo>
                    <a:pt x="259627" y="211195"/>
                  </a:lnTo>
                  <a:lnTo>
                    <a:pt x="285194" y="161258"/>
                  </a:lnTo>
                  <a:lnTo>
                    <a:pt x="290068" y="119252"/>
                  </a:lnTo>
                  <a:lnTo>
                    <a:pt x="288849" y="97397"/>
                  </a:lnTo>
                  <a:lnTo>
                    <a:pt x="279030" y="58638"/>
                  </a:lnTo>
                  <a:lnTo>
                    <a:pt x="246491" y="15319"/>
                  </a:lnTo>
                  <a:lnTo>
                    <a:pt x="231360" y="6260"/>
                  </a:lnTo>
                  <a:lnTo>
                    <a:pt x="214122" y="0"/>
                  </a:lnTo>
                  <a:close/>
                </a:path>
                <a:path w="290194" h="238760">
                  <a:moveTo>
                    <a:pt x="75946" y="0"/>
                  </a:moveTo>
                  <a:lnTo>
                    <a:pt x="30493" y="27164"/>
                  </a:lnTo>
                  <a:lnTo>
                    <a:pt x="4873" y="77184"/>
                  </a:lnTo>
                  <a:lnTo>
                    <a:pt x="0" y="119252"/>
                  </a:lnTo>
                  <a:lnTo>
                    <a:pt x="1216" y="141089"/>
                  </a:lnTo>
                  <a:lnTo>
                    <a:pt x="10983" y="179760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993" y="228600"/>
                  </a:lnTo>
                  <a:lnTo>
                    <a:pt x="65371" y="222573"/>
                  </a:lnTo>
                  <a:lnTo>
                    <a:pt x="53641" y="214201"/>
                  </a:lnTo>
                  <a:lnTo>
                    <a:pt x="29646" y="175186"/>
                  </a:lnTo>
                  <a:lnTo>
                    <a:pt x="21717" y="117982"/>
                  </a:lnTo>
                  <a:lnTo>
                    <a:pt x="22598" y="97645"/>
                  </a:lnTo>
                  <a:lnTo>
                    <a:pt x="35814" y="47370"/>
                  </a:lnTo>
                  <a:lnTo>
                    <a:pt x="65585" y="15652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0564" y="1429638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3" y="0"/>
                  </a:moveTo>
                  <a:lnTo>
                    <a:pt x="85090" y="7493"/>
                  </a:lnTo>
                  <a:lnTo>
                    <a:pt x="105156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90" y="54228"/>
                  </a:lnTo>
                  <a:lnTo>
                    <a:pt x="91693" y="61849"/>
                  </a:lnTo>
                  <a:lnTo>
                    <a:pt x="123190" y="34544"/>
                  </a:lnTo>
                  <a:lnTo>
                    <a:pt x="123190" y="27305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44370" y="1364932"/>
            <a:ext cx="3060065" cy="857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33375" algn="l"/>
              </a:tabLst>
            </a:pP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x	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spc="-19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52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250" spc="-232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8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52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225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⋯</a:t>
            </a:r>
            <a:r>
              <a:rPr sz="2000" spc="-15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-12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412" baseline="-16666" dirty="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sz="2000" spc="-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300" baseline="-16666" dirty="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sz="2250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250" spc="-202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 dirty="0">
              <a:latin typeface="Cambria Math"/>
              <a:cs typeface="Cambria Math"/>
            </a:endParaRPr>
          </a:p>
          <a:p>
            <a:pPr marL="398780">
              <a:lnSpc>
                <a:spcPct val="100000"/>
              </a:lnSpc>
              <a:spcBef>
                <a:spcPts val="1725"/>
              </a:spcBef>
            </a:pPr>
            <a:r>
              <a:rPr sz="2000" spc="25" dirty="0">
                <a:latin typeface="Cambria Math"/>
                <a:cs typeface="Cambria Math"/>
              </a:rPr>
              <a:t>𝐽 </a:t>
            </a:r>
            <a:r>
              <a:rPr lang="en-GB" sz="2000" spc="25" dirty="0">
                <a:latin typeface="Cambria Math"/>
                <a:cs typeface="Cambria Math"/>
              </a:rPr>
              <a:t>(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-20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209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⋯</a:t>
            </a:r>
            <a:r>
              <a:rPr sz="2000" spc="-150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12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405" baseline="-16666" dirty="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lang="en-GB" sz="2000" spc="25" dirty="0">
                <a:solidFill>
                  <a:srgbClr val="0096FF"/>
                </a:solidFill>
                <a:latin typeface="Cambria Math"/>
                <a:cs typeface="Cambria Math"/>
              </a:rPr>
              <a:t>)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67092" y="1530222"/>
            <a:ext cx="165735" cy="45720"/>
          </a:xfrm>
          <a:custGeom>
            <a:avLst/>
            <a:gdLst/>
            <a:ahLst/>
            <a:cxnLst/>
            <a:rect l="l" t="t" r="r" b="b"/>
            <a:pathLst>
              <a:path w="165735" h="45719">
                <a:moveTo>
                  <a:pt x="141986" y="0"/>
                </a:moveTo>
                <a:lnTo>
                  <a:pt x="137033" y="5587"/>
                </a:lnTo>
                <a:lnTo>
                  <a:pt x="151891" y="18541"/>
                </a:lnTo>
                <a:lnTo>
                  <a:pt x="0" y="18541"/>
                </a:lnTo>
                <a:lnTo>
                  <a:pt x="0" y="27304"/>
                </a:lnTo>
                <a:lnTo>
                  <a:pt x="151891" y="27304"/>
                </a:lnTo>
                <a:lnTo>
                  <a:pt x="137033" y="40259"/>
                </a:lnTo>
                <a:lnTo>
                  <a:pt x="141986" y="45719"/>
                </a:lnTo>
                <a:lnTo>
                  <a:pt x="165353" y="25653"/>
                </a:lnTo>
                <a:lnTo>
                  <a:pt x="165353" y="20192"/>
                </a:lnTo>
                <a:lnTo>
                  <a:pt x="14198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588634" y="675640"/>
            <a:ext cx="561340" cy="1082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spc="2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spc="4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endParaRPr sz="2000" dirty="0">
              <a:latin typeface="Cambria Math"/>
              <a:cs typeface="Cambria Math"/>
            </a:endParaRPr>
          </a:p>
          <a:p>
            <a:pPr marL="67310">
              <a:lnSpc>
                <a:spcPct val="100000"/>
              </a:lnSpc>
              <a:spcBef>
                <a:spcPts val="85"/>
              </a:spcBef>
            </a:pPr>
            <a:r>
              <a:rPr lang="en-PS" sz="2000" spc="15" dirty="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lang="en-PS" sz="2000" dirty="0">
              <a:latin typeface="Cambria Math"/>
              <a:cs typeface="Cambria Math"/>
            </a:endParaRPr>
          </a:p>
          <a:p>
            <a:pPr marL="64769">
              <a:lnSpc>
                <a:spcPct val="100000"/>
              </a:lnSpc>
              <a:spcBef>
                <a:spcPts val="995"/>
              </a:spcBef>
            </a:pPr>
            <a:r>
              <a:rPr sz="3000" spc="75" baseline="12500" dirty="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sz="1500" spc="50" dirty="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500" dirty="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23072" y="1430147"/>
            <a:ext cx="290195" cy="250190"/>
            <a:chOff x="6147180" y="1430147"/>
            <a:chExt cx="290195" cy="250190"/>
          </a:xfrm>
        </p:grpSpPr>
        <p:sp>
          <p:nvSpPr>
            <p:cNvPr id="27" name="object 27"/>
            <p:cNvSpPr/>
            <p:nvPr/>
          </p:nvSpPr>
          <p:spPr>
            <a:xfrm>
              <a:off x="6147180" y="1441577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60">
                  <a:moveTo>
                    <a:pt x="214122" y="0"/>
                  </a:moveTo>
                  <a:lnTo>
                    <a:pt x="210693" y="9651"/>
                  </a:lnTo>
                  <a:lnTo>
                    <a:pt x="224482" y="15652"/>
                  </a:lnTo>
                  <a:lnTo>
                    <a:pt x="236331" y="23939"/>
                  </a:lnTo>
                  <a:lnTo>
                    <a:pt x="260421" y="62349"/>
                  </a:lnTo>
                  <a:lnTo>
                    <a:pt x="268351" y="117856"/>
                  </a:lnTo>
                  <a:lnTo>
                    <a:pt x="267469" y="138884"/>
                  </a:lnTo>
                  <a:lnTo>
                    <a:pt x="254254" y="190373"/>
                  </a:lnTo>
                  <a:lnTo>
                    <a:pt x="224643" y="222573"/>
                  </a:lnTo>
                  <a:lnTo>
                    <a:pt x="211074" y="228600"/>
                  </a:lnTo>
                  <a:lnTo>
                    <a:pt x="214122" y="238251"/>
                  </a:lnTo>
                  <a:lnTo>
                    <a:pt x="259627" y="211195"/>
                  </a:lnTo>
                  <a:lnTo>
                    <a:pt x="285194" y="161242"/>
                  </a:lnTo>
                  <a:lnTo>
                    <a:pt x="290068" y="119125"/>
                  </a:lnTo>
                  <a:lnTo>
                    <a:pt x="288831" y="97289"/>
                  </a:lnTo>
                  <a:lnTo>
                    <a:pt x="278977" y="58618"/>
                  </a:lnTo>
                  <a:lnTo>
                    <a:pt x="246491" y="15271"/>
                  </a:lnTo>
                  <a:lnTo>
                    <a:pt x="231360" y="6242"/>
                  </a:lnTo>
                  <a:lnTo>
                    <a:pt x="214122" y="0"/>
                  </a:lnTo>
                  <a:close/>
                </a:path>
                <a:path w="290195" h="238760">
                  <a:moveTo>
                    <a:pt x="75946" y="0"/>
                  </a:moveTo>
                  <a:lnTo>
                    <a:pt x="30440" y="27110"/>
                  </a:lnTo>
                  <a:lnTo>
                    <a:pt x="4873" y="77120"/>
                  </a:lnTo>
                  <a:lnTo>
                    <a:pt x="0" y="119125"/>
                  </a:lnTo>
                  <a:lnTo>
                    <a:pt x="1216" y="141035"/>
                  </a:lnTo>
                  <a:lnTo>
                    <a:pt x="10983" y="179758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867" y="228600"/>
                  </a:lnTo>
                  <a:lnTo>
                    <a:pt x="65317" y="222573"/>
                  </a:lnTo>
                  <a:lnTo>
                    <a:pt x="53625" y="214201"/>
                  </a:lnTo>
                  <a:lnTo>
                    <a:pt x="29646" y="175131"/>
                  </a:lnTo>
                  <a:lnTo>
                    <a:pt x="21717" y="117856"/>
                  </a:lnTo>
                  <a:lnTo>
                    <a:pt x="22598" y="97591"/>
                  </a:lnTo>
                  <a:lnTo>
                    <a:pt x="35814" y="47371"/>
                  </a:lnTo>
                  <a:lnTo>
                    <a:pt x="65532" y="15652"/>
                  </a:lnTo>
                  <a:lnTo>
                    <a:pt x="79248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29349" y="1430147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4" y="0"/>
                  </a:moveTo>
                  <a:lnTo>
                    <a:pt x="84962" y="7492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5" y="36829"/>
                  </a:lnTo>
                  <a:lnTo>
                    <a:pt x="84962" y="54228"/>
                  </a:lnTo>
                  <a:lnTo>
                    <a:pt x="91694" y="61722"/>
                  </a:lnTo>
                  <a:lnTo>
                    <a:pt x="123189" y="34543"/>
                  </a:lnTo>
                  <a:lnTo>
                    <a:pt x="123189" y="27177"/>
                  </a:lnTo>
                  <a:lnTo>
                    <a:pt x="91694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6757692" y="1430147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90" h="62230">
                <a:moveTo>
                  <a:pt x="167894" y="0"/>
                </a:moveTo>
                <a:lnTo>
                  <a:pt x="161163" y="7492"/>
                </a:lnTo>
                <a:lnTo>
                  <a:pt x="1813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5" y="36829"/>
                </a:lnTo>
                <a:lnTo>
                  <a:pt x="161163" y="54228"/>
                </a:lnTo>
                <a:lnTo>
                  <a:pt x="167894" y="61722"/>
                </a:lnTo>
                <a:lnTo>
                  <a:pt x="199390" y="34543"/>
                </a:lnTo>
                <a:lnTo>
                  <a:pt x="199390" y="27177"/>
                </a:lnTo>
                <a:lnTo>
                  <a:pt x="167894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38692" y="1430147"/>
            <a:ext cx="123189" cy="62230"/>
          </a:xfrm>
          <a:custGeom>
            <a:avLst/>
            <a:gdLst/>
            <a:ahLst/>
            <a:cxnLst/>
            <a:rect l="l" t="t" r="r" b="b"/>
            <a:pathLst>
              <a:path w="123190" h="62230">
                <a:moveTo>
                  <a:pt x="91694" y="0"/>
                </a:moveTo>
                <a:lnTo>
                  <a:pt x="84963" y="7492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4963" y="54228"/>
                </a:lnTo>
                <a:lnTo>
                  <a:pt x="91694" y="61722"/>
                </a:lnTo>
                <a:lnTo>
                  <a:pt x="123190" y="34543"/>
                </a:lnTo>
                <a:lnTo>
                  <a:pt x="123190" y="27177"/>
                </a:lnTo>
                <a:lnTo>
                  <a:pt x="9169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146187" y="637857"/>
            <a:ext cx="1597025" cy="10623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619125" algn="l"/>
                <a:tab pos="1096010" algn="l"/>
              </a:tabLst>
            </a:pPr>
            <a:r>
              <a:rPr sz="2000" spc="-8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127" baseline="-16666" dirty="0">
                <a:solidFill>
                  <a:srgbClr val="0096FF"/>
                </a:solidFill>
                <a:latin typeface="Cambria Math"/>
                <a:cs typeface="Cambria Math"/>
              </a:rPr>
              <a:t>1	</a:t>
            </a:r>
            <a:r>
              <a:rPr sz="2000" spc="20" dirty="0">
                <a:latin typeface="Cambria Math"/>
                <a:cs typeface="Cambria Math"/>
              </a:rPr>
              <a:t>⋯	</a:t>
            </a:r>
            <a:r>
              <a:rPr sz="2000" spc="-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7" baseline="-16666" dirty="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endParaRPr sz="2250" baseline="-16666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 dirty="0">
              <a:latin typeface="Cambria Math"/>
              <a:cs typeface="Cambria Math"/>
            </a:endParaRPr>
          </a:p>
          <a:p>
            <a:pPr marL="64769">
              <a:lnSpc>
                <a:spcPct val="100000"/>
              </a:lnSpc>
              <a:tabLst>
                <a:tab pos="351155" algn="l"/>
              </a:tabLst>
            </a:pP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x	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sz="2000" spc="-75" dirty="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sz="2000" spc="75" dirty="0">
                <a:latin typeface="Cambria Math"/>
                <a:cs typeface="Cambria Math"/>
              </a:rPr>
              <a:t>∙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2000" spc="-8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72454" y="2758630"/>
            <a:ext cx="10217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40" dirty="0">
                <a:latin typeface="Verdana"/>
                <a:cs typeface="Verdana"/>
              </a:rPr>
              <a:t>r</a:t>
            </a:r>
            <a:r>
              <a:rPr sz="2000" spc="5" dirty="0">
                <a:latin typeface="Verdana"/>
                <a:cs typeface="Verdana"/>
              </a:rPr>
              <a:t>e</a:t>
            </a:r>
            <a:r>
              <a:rPr sz="2000" spc="25" dirty="0">
                <a:latin typeface="Verdana"/>
                <a:cs typeface="Verdana"/>
              </a:rPr>
              <a:t>p</a:t>
            </a:r>
            <a:r>
              <a:rPr sz="2000" spc="5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spc="10" dirty="0">
                <a:latin typeface="Verdana"/>
                <a:cs typeface="Verdana"/>
              </a:rPr>
              <a:t>t</a:t>
            </a:r>
            <a:r>
              <a:rPr sz="2000" spc="-220" dirty="0">
                <a:latin typeface="Verdana"/>
                <a:cs typeface="Verdana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{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7151330-5BB7-22E1-ED7A-CEBC0C2B382F}"/>
              </a:ext>
            </a:extLst>
          </p:cNvPr>
          <p:cNvGrpSpPr/>
          <p:nvPr/>
        </p:nvGrpSpPr>
        <p:grpSpPr>
          <a:xfrm>
            <a:off x="5988875" y="3191700"/>
            <a:ext cx="2621726" cy="631583"/>
            <a:chOff x="6065139" y="3366452"/>
            <a:chExt cx="2478278" cy="631583"/>
          </a:xfrm>
        </p:grpSpPr>
        <p:sp>
          <p:nvSpPr>
            <p:cNvPr id="33" name="object 33"/>
            <p:cNvSpPr txBox="1"/>
            <p:nvPr/>
          </p:nvSpPr>
          <p:spPr>
            <a:xfrm>
              <a:off x="6252845" y="3490277"/>
              <a:ext cx="706120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603250" algn="l"/>
                </a:tabLst>
              </a:pPr>
              <a:r>
                <a:rPr lang="en-PS" sz="1500" spc="459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endParaRPr sz="1500" dirty="0">
                <a:latin typeface="Cambria Math"/>
                <a:cs typeface="Cambria Math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7380858" y="3528377"/>
              <a:ext cx="427990" cy="2546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500" spc="125" dirty="0">
                  <a:latin typeface="Cambria Math"/>
                  <a:cs typeface="Cambria Math"/>
                </a:rPr>
                <a:t>𝜕</a:t>
              </a:r>
              <a:r>
                <a:rPr sz="1500" spc="12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800" spc="187" baseline="-13888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endParaRPr sz="1800" baseline="-13888">
                <a:latin typeface="Cambria Math"/>
                <a:cs typeface="Cambria Math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929372" y="3427348"/>
              <a:ext cx="614045" cy="250190"/>
            </a:xfrm>
            <a:custGeom>
              <a:avLst/>
              <a:gdLst/>
              <a:ahLst/>
              <a:cxnLst/>
              <a:rect l="l" t="t" r="r" b="b"/>
              <a:pathLst>
                <a:path w="614045" h="250189">
                  <a:moveTo>
                    <a:pt x="79375" y="21082"/>
                  </a:moveTo>
                  <a:lnTo>
                    <a:pt x="75946" y="11430"/>
                  </a:lnTo>
                  <a:lnTo>
                    <a:pt x="58699" y="17678"/>
                  </a:lnTo>
                  <a:lnTo>
                    <a:pt x="43573" y="26708"/>
                  </a:lnTo>
                  <a:lnTo>
                    <a:pt x="11087" y="70053"/>
                  </a:lnTo>
                  <a:lnTo>
                    <a:pt x="1231" y="108724"/>
                  </a:lnTo>
                  <a:lnTo>
                    <a:pt x="0" y="130556"/>
                  </a:lnTo>
                  <a:lnTo>
                    <a:pt x="1231" y="152476"/>
                  </a:lnTo>
                  <a:lnTo>
                    <a:pt x="11036" y="191198"/>
                  </a:lnTo>
                  <a:lnTo>
                    <a:pt x="43459" y="234429"/>
                  </a:lnTo>
                  <a:lnTo>
                    <a:pt x="75946" y="249682"/>
                  </a:lnTo>
                  <a:lnTo>
                    <a:pt x="78994" y="240030"/>
                  </a:lnTo>
                  <a:lnTo>
                    <a:pt x="65430" y="234010"/>
                  </a:lnTo>
                  <a:lnTo>
                    <a:pt x="53733" y="225640"/>
                  </a:lnTo>
                  <a:lnTo>
                    <a:pt x="29641" y="186563"/>
                  </a:lnTo>
                  <a:lnTo>
                    <a:pt x="21717" y="129286"/>
                  </a:lnTo>
                  <a:lnTo>
                    <a:pt x="22593" y="109029"/>
                  </a:lnTo>
                  <a:lnTo>
                    <a:pt x="35814" y="58801"/>
                  </a:lnTo>
                  <a:lnTo>
                    <a:pt x="65646" y="27089"/>
                  </a:lnTo>
                  <a:lnTo>
                    <a:pt x="79375" y="21082"/>
                  </a:lnTo>
                  <a:close/>
                </a:path>
                <a:path w="614045" h="250189">
                  <a:moveTo>
                    <a:pt x="281686" y="27178"/>
                  </a:moveTo>
                  <a:lnTo>
                    <a:pt x="250063" y="0"/>
                  </a:lnTo>
                  <a:lnTo>
                    <a:pt x="243459" y="7493"/>
                  </a:lnTo>
                  <a:lnTo>
                    <a:pt x="263525" y="25019"/>
                  </a:lnTo>
                  <a:lnTo>
                    <a:pt x="82169" y="25019"/>
                  </a:lnTo>
                  <a:lnTo>
                    <a:pt x="82169" y="36830"/>
                  </a:lnTo>
                  <a:lnTo>
                    <a:pt x="263525" y="36830"/>
                  </a:lnTo>
                  <a:lnTo>
                    <a:pt x="243459" y="54229"/>
                  </a:lnTo>
                  <a:lnTo>
                    <a:pt x="250063" y="61722"/>
                  </a:lnTo>
                  <a:lnTo>
                    <a:pt x="281686" y="34544"/>
                  </a:lnTo>
                  <a:lnTo>
                    <a:pt x="281686" y="27178"/>
                  </a:lnTo>
                  <a:close/>
                </a:path>
                <a:path w="614045" h="250189">
                  <a:moveTo>
                    <a:pt x="614045" y="130556"/>
                  </a:moveTo>
                  <a:lnTo>
                    <a:pt x="609104" y="88557"/>
                  </a:lnTo>
                  <a:lnTo>
                    <a:pt x="594360" y="53213"/>
                  </a:lnTo>
                  <a:lnTo>
                    <a:pt x="555282" y="17678"/>
                  </a:lnTo>
                  <a:lnTo>
                    <a:pt x="537972" y="11430"/>
                  </a:lnTo>
                  <a:lnTo>
                    <a:pt x="534670" y="21082"/>
                  </a:lnTo>
                  <a:lnTo>
                    <a:pt x="548449" y="27089"/>
                  </a:lnTo>
                  <a:lnTo>
                    <a:pt x="560298" y="35369"/>
                  </a:lnTo>
                  <a:lnTo>
                    <a:pt x="584390" y="73787"/>
                  </a:lnTo>
                  <a:lnTo>
                    <a:pt x="592328" y="129286"/>
                  </a:lnTo>
                  <a:lnTo>
                    <a:pt x="591426" y="150317"/>
                  </a:lnTo>
                  <a:lnTo>
                    <a:pt x="578104" y="201803"/>
                  </a:lnTo>
                  <a:lnTo>
                    <a:pt x="548589" y="234010"/>
                  </a:lnTo>
                  <a:lnTo>
                    <a:pt x="535051" y="240030"/>
                  </a:lnTo>
                  <a:lnTo>
                    <a:pt x="537972" y="249682"/>
                  </a:lnTo>
                  <a:lnTo>
                    <a:pt x="583539" y="222631"/>
                  </a:lnTo>
                  <a:lnTo>
                    <a:pt x="609104" y="172681"/>
                  </a:lnTo>
                  <a:lnTo>
                    <a:pt x="612800" y="152476"/>
                  </a:lnTo>
                  <a:lnTo>
                    <a:pt x="614045" y="130556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6065139" y="3366452"/>
              <a:ext cx="2427605" cy="6315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  <a:tabLst>
                  <a:tab pos="371475" algn="l"/>
                </a:tabLst>
              </a:pPr>
              <a:r>
                <a:rPr sz="2000" spc="25" dirty="0">
                  <a:solidFill>
                    <a:srgbClr val="0096FF"/>
                  </a:solidFill>
                  <a:latin typeface="Cambria Math"/>
                  <a:cs typeface="Cambria Math"/>
                </a:rPr>
                <a:t>𝑤	</a:t>
              </a:r>
              <a:r>
                <a:rPr sz="2000" spc="20" dirty="0">
                  <a:latin typeface="Cambria Math"/>
                  <a:cs typeface="Cambria Math"/>
                </a:rPr>
                <a:t>=</a:t>
              </a:r>
              <a:r>
                <a:rPr sz="2000" spc="70" dirty="0">
                  <a:latin typeface="Cambria Math"/>
                  <a:cs typeface="Cambria Math"/>
                </a:rPr>
                <a:t> </a:t>
              </a:r>
              <a:r>
                <a:rPr lang="en-PS" sz="20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lang="en-PS" sz="2250" spc="69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r>
                <a:rPr sz="2000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95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−</a:t>
              </a:r>
              <a:r>
                <a:rPr sz="2000" spc="-5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latin typeface="Cambria Math"/>
                  <a:cs typeface="Cambria Math"/>
                </a:rPr>
                <a:t>𝛼</a:t>
              </a:r>
              <a:r>
                <a:rPr sz="2250" u="sng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 </a:t>
              </a:r>
              <a:r>
                <a:rPr sz="2250" u="sng" spc="-247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250" u="sng" spc="254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2250" u="sng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 </a:t>
              </a:r>
              <a:r>
                <a:rPr sz="2250" u="sng" spc="-165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r>
                <a:rPr sz="2250" spc="157" baseline="31481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latin typeface="Cambria Math"/>
                  <a:cs typeface="Cambria Math"/>
                </a:rPr>
                <a:t>𝐽</a:t>
              </a:r>
              <a:r>
                <a:rPr sz="2000" dirty="0">
                  <a:latin typeface="Cambria Math"/>
                  <a:cs typeface="Cambria Math"/>
                </a:rPr>
                <a:t> </a:t>
              </a:r>
              <a:r>
                <a:rPr sz="2000" spc="-80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solidFill>
                    <a:srgbClr val="4285F4"/>
                  </a:solidFill>
                  <a:latin typeface="Cambria Math"/>
                  <a:cs typeface="Cambria Math"/>
                </a:rPr>
                <a:t>w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10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solidFill>
                    <a:srgbClr val="4285F4"/>
                  </a:solidFill>
                  <a:latin typeface="Cambria Math"/>
                  <a:cs typeface="Cambria Math"/>
                </a:rPr>
                <a:t>𝑏</a:t>
              </a:r>
              <a:endParaRPr sz="2000" dirty="0">
                <a:latin typeface="Cambria Math"/>
                <a:cs typeface="Cambria Math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121082" y="4470203"/>
            <a:ext cx="22739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latin typeface="Cambria Math"/>
                <a:cs typeface="Cambria Math"/>
              </a:rPr>
              <a:t>}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5915659" y="45148"/>
            <a:ext cx="19907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/>
              <a:t>Vector</a:t>
            </a:r>
            <a:r>
              <a:rPr sz="2000" spc="-125" dirty="0"/>
              <a:t> </a:t>
            </a:r>
            <a:r>
              <a:rPr sz="2000" dirty="0"/>
              <a:t>notation</a:t>
            </a:r>
            <a:endParaRPr sz="2000"/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3289" y="460629"/>
            <a:ext cx="318536" cy="21717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2409" y="434975"/>
            <a:ext cx="794893" cy="38531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64905" y="579247"/>
            <a:ext cx="141350" cy="16382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4064" y="1100582"/>
            <a:ext cx="393077" cy="195198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79107" y="1072261"/>
            <a:ext cx="115062" cy="25933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43014" y="1160780"/>
            <a:ext cx="179324" cy="15367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46925" y="1127252"/>
            <a:ext cx="162178" cy="16002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74499" y="1019302"/>
            <a:ext cx="974480" cy="266445"/>
          </a:xfrm>
          <a:prstGeom prst="rect">
            <a:avLst/>
          </a:prstGeom>
        </p:spPr>
      </p:pic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418741D7-D85F-37A5-ADAD-82FA4185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24</a:t>
            </a:fld>
            <a:endParaRPr lang="en-P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2BA1B2-988D-9385-D3F2-88A62AB4901E}"/>
              </a:ext>
            </a:extLst>
          </p:cNvPr>
          <p:cNvSpPr txBox="1"/>
          <p:nvPr/>
        </p:nvSpPr>
        <p:spPr>
          <a:xfrm>
            <a:off x="1991900" y="128068"/>
            <a:ext cx="2299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990"/>
              </a:spcBef>
            </a:pPr>
            <a:r>
              <a:rPr lang="en-US" sz="1800" spc="5" dirty="0">
                <a:latin typeface="Verdana"/>
                <a:cs typeface="Verdana"/>
              </a:rPr>
              <a:t>Previous</a:t>
            </a:r>
            <a:r>
              <a:rPr lang="en-US" sz="1800" spc="-145" dirty="0">
                <a:latin typeface="Verdana"/>
                <a:cs typeface="Verdana"/>
              </a:rPr>
              <a:t> </a:t>
            </a:r>
            <a:r>
              <a:rPr lang="en-US" sz="1800" dirty="0">
                <a:latin typeface="Verdana"/>
                <a:cs typeface="Verdana"/>
              </a:rPr>
              <a:t>notation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F3F9D0-B581-EC8F-E309-792C4D1222CD}"/>
              </a:ext>
            </a:extLst>
          </p:cNvPr>
          <p:cNvCxnSpPr>
            <a:cxnSpLocks/>
          </p:cNvCxnSpPr>
          <p:nvPr/>
        </p:nvCxnSpPr>
        <p:spPr>
          <a:xfrm>
            <a:off x="4080131" y="867527"/>
            <a:ext cx="701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254F7EE-12EE-044D-C084-6C0967634FC8}"/>
              </a:ext>
            </a:extLst>
          </p:cNvPr>
          <p:cNvSpPr txBox="1"/>
          <p:nvPr/>
        </p:nvSpPr>
        <p:spPr>
          <a:xfrm>
            <a:off x="2774175" y="1017221"/>
            <a:ext cx="393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7310">
              <a:lnSpc>
                <a:spcPct val="100000"/>
              </a:lnSpc>
              <a:spcBef>
                <a:spcPts val="85"/>
              </a:spcBef>
            </a:pPr>
            <a:r>
              <a:rPr lang="en-PS" sz="1800" spc="15" dirty="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lang="en-PS" sz="1800" dirty="0">
              <a:latin typeface="Cambria Math"/>
              <a:cs typeface="Cambria Math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4E46548-19C0-568B-C422-35EFA2D6FC48}"/>
              </a:ext>
            </a:extLst>
          </p:cNvPr>
          <p:cNvCxnSpPr>
            <a:cxnSpLocks/>
          </p:cNvCxnSpPr>
          <p:nvPr/>
        </p:nvCxnSpPr>
        <p:spPr>
          <a:xfrm>
            <a:off x="4074937" y="1214122"/>
            <a:ext cx="701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664C42-282D-8246-D785-9E639778C9D9}"/>
              </a:ext>
            </a:extLst>
          </p:cNvPr>
          <p:cNvSpPr txBox="1"/>
          <p:nvPr/>
        </p:nvSpPr>
        <p:spPr>
          <a:xfrm>
            <a:off x="106045" y="1863015"/>
            <a:ext cx="1744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1425"/>
              </a:spcBef>
            </a:pPr>
            <a:r>
              <a:rPr lang="en-US" sz="1800" spc="5" dirty="0">
                <a:latin typeface="Verdana"/>
                <a:cs typeface="Verdana"/>
              </a:rPr>
              <a:t>Cost</a:t>
            </a:r>
            <a:r>
              <a:rPr lang="en-US" sz="1800" spc="-110" dirty="0">
                <a:latin typeface="Verdana"/>
                <a:cs typeface="Verdana"/>
              </a:rPr>
              <a:t> </a:t>
            </a:r>
            <a:r>
              <a:rPr lang="en-US" sz="1800" spc="5" dirty="0">
                <a:latin typeface="Verdana"/>
                <a:cs typeface="Verdana"/>
              </a:rPr>
              <a:t>function</a:t>
            </a:r>
            <a:endParaRPr lang="en-US" sz="1800" dirty="0">
              <a:latin typeface="Verdana"/>
              <a:cs typeface="Verdana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3BE4C61-3827-3DEA-C301-05208C2A3325}"/>
              </a:ext>
            </a:extLst>
          </p:cNvPr>
          <p:cNvGrpSpPr/>
          <p:nvPr/>
        </p:nvGrpSpPr>
        <p:grpSpPr>
          <a:xfrm>
            <a:off x="903550" y="3940332"/>
            <a:ext cx="2950990" cy="501007"/>
            <a:chOff x="1850069" y="4200842"/>
            <a:chExt cx="2950990" cy="501007"/>
          </a:xfrm>
        </p:grpSpPr>
        <p:sp>
          <p:nvSpPr>
            <p:cNvPr id="11" name="object 11"/>
            <p:cNvSpPr/>
            <p:nvPr/>
          </p:nvSpPr>
          <p:spPr>
            <a:xfrm>
              <a:off x="3348814" y="4297362"/>
              <a:ext cx="1452245" cy="238760"/>
            </a:xfrm>
            <a:custGeom>
              <a:avLst/>
              <a:gdLst/>
              <a:ahLst/>
              <a:cxnLst/>
              <a:rect l="l" t="t" r="r" b="b"/>
              <a:pathLst>
                <a:path w="1452245" h="238760">
                  <a:moveTo>
                    <a:pt x="1376172" y="0"/>
                  </a:moveTo>
                  <a:lnTo>
                    <a:pt x="1372870" y="9651"/>
                  </a:lnTo>
                  <a:lnTo>
                    <a:pt x="1386659" y="15589"/>
                  </a:lnTo>
                  <a:lnTo>
                    <a:pt x="1398508" y="23864"/>
                  </a:lnTo>
                  <a:lnTo>
                    <a:pt x="1422598" y="62275"/>
                  </a:lnTo>
                  <a:lnTo>
                    <a:pt x="1430527" y="117855"/>
                  </a:lnTo>
                  <a:lnTo>
                    <a:pt x="1429644" y="138865"/>
                  </a:lnTo>
                  <a:lnTo>
                    <a:pt x="1416304" y="190309"/>
                  </a:lnTo>
                  <a:lnTo>
                    <a:pt x="1386800" y="222477"/>
                  </a:lnTo>
                  <a:lnTo>
                    <a:pt x="1373251" y="228485"/>
                  </a:lnTo>
                  <a:lnTo>
                    <a:pt x="1376172" y="238163"/>
                  </a:lnTo>
                  <a:lnTo>
                    <a:pt x="1421749" y="211115"/>
                  </a:lnTo>
                  <a:lnTo>
                    <a:pt x="1447307" y="161194"/>
                  </a:lnTo>
                  <a:lnTo>
                    <a:pt x="1452245" y="119113"/>
                  </a:lnTo>
                  <a:lnTo>
                    <a:pt x="1451008" y="97272"/>
                  </a:lnTo>
                  <a:lnTo>
                    <a:pt x="1441154" y="58562"/>
                  </a:lnTo>
                  <a:lnTo>
                    <a:pt x="1408652" y="15208"/>
                  </a:lnTo>
                  <a:lnTo>
                    <a:pt x="1393483" y="6186"/>
                  </a:lnTo>
                  <a:lnTo>
                    <a:pt x="1376172" y="0"/>
                  </a:lnTo>
                  <a:close/>
                </a:path>
                <a:path w="1452245" h="238760">
                  <a:moveTo>
                    <a:pt x="75946" y="0"/>
                  </a:moveTo>
                  <a:lnTo>
                    <a:pt x="30565" y="27049"/>
                  </a:lnTo>
                  <a:lnTo>
                    <a:pt x="4937" y="77088"/>
                  </a:lnTo>
                  <a:lnTo>
                    <a:pt x="0" y="119113"/>
                  </a:lnTo>
                  <a:lnTo>
                    <a:pt x="1234" y="140996"/>
                  </a:lnTo>
                  <a:lnTo>
                    <a:pt x="11037" y="179706"/>
                  </a:lnTo>
                  <a:lnTo>
                    <a:pt x="43465" y="222915"/>
                  </a:lnTo>
                  <a:lnTo>
                    <a:pt x="75946" y="238163"/>
                  </a:lnTo>
                  <a:lnTo>
                    <a:pt x="78994" y="228485"/>
                  </a:lnTo>
                  <a:lnTo>
                    <a:pt x="65442" y="222477"/>
                  </a:lnTo>
                  <a:lnTo>
                    <a:pt x="53736" y="214112"/>
                  </a:lnTo>
                  <a:lnTo>
                    <a:pt x="29646" y="175093"/>
                  </a:lnTo>
                  <a:lnTo>
                    <a:pt x="21717" y="117855"/>
                  </a:lnTo>
                  <a:lnTo>
                    <a:pt x="22598" y="97532"/>
                  </a:lnTo>
                  <a:lnTo>
                    <a:pt x="35813" y="47345"/>
                  </a:lnTo>
                  <a:lnTo>
                    <a:pt x="65657" y="15589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850069" y="4200842"/>
              <a:ext cx="291401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0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r>
                <a:rPr sz="2000" spc="114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=</a:t>
              </a:r>
              <a:r>
                <a:rPr sz="2000" spc="145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r>
                <a:rPr sz="2000" spc="40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−</a:t>
              </a:r>
              <a:r>
                <a:rPr sz="2000" spc="-5" dirty="0">
                  <a:latin typeface="Cambria Math"/>
                  <a:cs typeface="Cambria Math"/>
                </a:rPr>
                <a:t> </a:t>
              </a:r>
              <a:r>
                <a:rPr sz="2000" spc="-15" dirty="0">
                  <a:latin typeface="Cambria Math"/>
                  <a:cs typeface="Cambria Math"/>
                </a:rPr>
                <a:t>𝛼</a:t>
              </a:r>
              <a:r>
                <a:rPr sz="2250" u="sng" spc="142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250" u="sng" spc="254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2250" u="sng" spc="89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r>
                <a:rPr sz="2250" spc="104" baseline="31481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latin typeface="Cambria Math"/>
                  <a:cs typeface="Cambria Math"/>
                </a:rPr>
                <a:t>𝐽</a:t>
              </a:r>
              <a:r>
                <a:rPr sz="2000" dirty="0">
                  <a:latin typeface="Cambria Math"/>
                  <a:cs typeface="Cambria Math"/>
                </a:rPr>
                <a:t> </a:t>
              </a:r>
              <a:r>
                <a:rPr sz="2000" spc="-10" dirty="0">
                  <a:latin typeface="Cambria Math"/>
                  <a:cs typeface="Cambria Math"/>
                </a:rPr>
                <a:t> </a:t>
              </a:r>
              <a:r>
                <a:rPr sz="20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spc="209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10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latin typeface="Cambria Math"/>
                  <a:cs typeface="Cambria Math"/>
                </a:rPr>
                <a:t>⋯</a:t>
              </a:r>
              <a:r>
                <a:rPr sz="2000" spc="-155" dirty="0">
                  <a:latin typeface="Cambria Math"/>
                  <a:cs typeface="Cambria Math"/>
                </a:rPr>
                <a:t> 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05" dirty="0">
                  <a:latin typeface="Cambria Math"/>
                  <a:cs typeface="Cambria Math"/>
                </a:rPr>
                <a:t> </a:t>
              </a:r>
              <a:r>
                <a:rPr sz="2000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250" spc="412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𝑛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10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2000" dirty="0">
                <a:latin typeface="Cambria Math"/>
                <a:cs typeface="Cambria Math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3D22491-D7D3-F553-08B5-B2CFD1019D5A}"/>
                    </a:ext>
                  </a:extLst>
                </p:cNvPr>
                <p:cNvSpPr txBox="1"/>
                <p:nvPr/>
              </p:nvSpPr>
              <p:spPr>
                <a:xfrm>
                  <a:off x="2809405" y="4332517"/>
                  <a:ext cx="4959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P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3D22491-D7D3-F553-08B5-B2CFD1019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405" y="4332517"/>
                  <a:ext cx="49590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267FE37-9F90-D96A-6793-0A23BF25E67B}"/>
              </a:ext>
            </a:extLst>
          </p:cNvPr>
          <p:cNvGrpSpPr/>
          <p:nvPr/>
        </p:nvGrpSpPr>
        <p:grpSpPr>
          <a:xfrm>
            <a:off x="6077740" y="3912303"/>
            <a:ext cx="2086992" cy="474806"/>
            <a:chOff x="6094475" y="3839463"/>
            <a:chExt cx="2086992" cy="474806"/>
          </a:xfrm>
        </p:grpSpPr>
        <p:sp>
          <p:nvSpPr>
            <p:cNvPr id="78" name="object 38">
              <a:extLst>
                <a:ext uri="{FF2B5EF4-FFF2-40B4-BE49-F238E27FC236}">
                  <a16:creationId xmlns:a16="http://schemas.microsoft.com/office/drawing/2014/main" id="{7E93ABC7-6F1A-B57A-C4AF-AB565EADFBDF}"/>
                </a:ext>
              </a:extLst>
            </p:cNvPr>
            <p:cNvSpPr/>
            <p:nvPr/>
          </p:nvSpPr>
          <p:spPr>
            <a:xfrm>
              <a:off x="7576947" y="3875011"/>
              <a:ext cx="604520" cy="250190"/>
            </a:xfrm>
            <a:custGeom>
              <a:avLst/>
              <a:gdLst/>
              <a:ahLst/>
              <a:cxnLst/>
              <a:rect l="l" t="t" r="r" b="b"/>
              <a:pathLst>
                <a:path w="604520" h="250189">
                  <a:moveTo>
                    <a:pt x="79375" y="21107"/>
                  </a:moveTo>
                  <a:lnTo>
                    <a:pt x="75946" y="11442"/>
                  </a:lnTo>
                  <a:lnTo>
                    <a:pt x="58699" y="17691"/>
                  </a:lnTo>
                  <a:lnTo>
                    <a:pt x="43573" y="26720"/>
                  </a:lnTo>
                  <a:lnTo>
                    <a:pt x="11087" y="70078"/>
                  </a:lnTo>
                  <a:lnTo>
                    <a:pt x="1231" y="108775"/>
                  </a:lnTo>
                  <a:lnTo>
                    <a:pt x="0" y="130606"/>
                  </a:lnTo>
                  <a:lnTo>
                    <a:pt x="1231" y="152501"/>
                  </a:lnTo>
                  <a:lnTo>
                    <a:pt x="11036" y="191211"/>
                  </a:lnTo>
                  <a:lnTo>
                    <a:pt x="43459" y="234416"/>
                  </a:lnTo>
                  <a:lnTo>
                    <a:pt x="75946" y="249656"/>
                  </a:lnTo>
                  <a:lnTo>
                    <a:pt x="78994" y="239991"/>
                  </a:lnTo>
                  <a:lnTo>
                    <a:pt x="65430" y="233984"/>
                  </a:lnTo>
                  <a:lnTo>
                    <a:pt x="53733" y="225615"/>
                  </a:lnTo>
                  <a:lnTo>
                    <a:pt x="29641" y="186601"/>
                  </a:lnTo>
                  <a:lnTo>
                    <a:pt x="21717" y="129362"/>
                  </a:lnTo>
                  <a:lnTo>
                    <a:pt x="22593" y="109042"/>
                  </a:lnTo>
                  <a:lnTo>
                    <a:pt x="35814" y="58851"/>
                  </a:lnTo>
                  <a:lnTo>
                    <a:pt x="65646" y="27101"/>
                  </a:lnTo>
                  <a:lnTo>
                    <a:pt x="79375" y="21107"/>
                  </a:lnTo>
                  <a:close/>
                </a:path>
                <a:path w="604520" h="250189">
                  <a:moveTo>
                    <a:pt x="281686" y="27241"/>
                  </a:moveTo>
                  <a:lnTo>
                    <a:pt x="250063" y="0"/>
                  </a:lnTo>
                  <a:lnTo>
                    <a:pt x="243459" y="7531"/>
                  </a:lnTo>
                  <a:lnTo>
                    <a:pt x="263525" y="24980"/>
                  </a:lnTo>
                  <a:lnTo>
                    <a:pt x="82169" y="24980"/>
                  </a:lnTo>
                  <a:lnTo>
                    <a:pt x="82169" y="36791"/>
                  </a:lnTo>
                  <a:lnTo>
                    <a:pt x="263525" y="36791"/>
                  </a:lnTo>
                  <a:lnTo>
                    <a:pt x="243459" y="54241"/>
                  </a:lnTo>
                  <a:lnTo>
                    <a:pt x="250063" y="61772"/>
                  </a:lnTo>
                  <a:lnTo>
                    <a:pt x="281686" y="34531"/>
                  </a:lnTo>
                  <a:lnTo>
                    <a:pt x="281686" y="27241"/>
                  </a:lnTo>
                  <a:close/>
                </a:path>
                <a:path w="604520" h="250189">
                  <a:moveTo>
                    <a:pt x="604520" y="130606"/>
                  </a:moveTo>
                  <a:lnTo>
                    <a:pt x="599579" y="88595"/>
                  </a:lnTo>
                  <a:lnTo>
                    <a:pt x="584835" y="53200"/>
                  </a:lnTo>
                  <a:lnTo>
                    <a:pt x="545757" y="17691"/>
                  </a:lnTo>
                  <a:lnTo>
                    <a:pt x="528447" y="11442"/>
                  </a:lnTo>
                  <a:lnTo>
                    <a:pt x="525145" y="21107"/>
                  </a:lnTo>
                  <a:lnTo>
                    <a:pt x="538924" y="27101"/>
                  </a:lnTo>
                  <a:lnTo>
                    <a:pt x="550773" y="35382"/>
                  </a:lnTo>
                  <a:lnTo>
                    <a:pt x="574865" y="73787"/>
                  </a:lnTo>
                  <a:lnTo>
                    <a:pt x="582803" y="129362"/>
                  </a:lnTo>
                  <a:lnTo>
                    <a:pt x="581901" y="150380"/>
                  </a:lnTo>
                  <a:lnTo>
                    <a:pt x="568579" y="201815"/>
                  </a:lnTo>
                  <a:lnTo>
                    <a:pt x="539064" y="233984"/>
                  </a:lnTo>
                  <a:lnTo>
                    <a:pt x="525526" y="239991"/>
                  </a:lnTo>
                  <a:lnTo>
                    <a:pt x="528447" y="249656"/>
                  </a:lnTo>
                  <a:lnTo>
                    <a:pt x="574014" y="222618"/>
                  </a:lnTo>
                  <a:lnTo>
                    <a:pt x="599579" y="172707"/>
                  </a:lnTo>
                  <a:lnTo>
                    <a:pt x="603275" y="152501"/>
                  </a:lnTo>
                  <a:lnTo>
                    <a:pt x="604520" y="130606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39">
              <a:extLst>
                <a:ext uri="{FF2B5EF4-FFF2-40B4-BE49-F238E27FC236}">
                  <a16:creationId xmlns:a16="http://schemas.microsoft.com/office/drawing/2014/main" id="{8D35CF56-585C-4604-DCAD-BA3D894C0E29}"/>
                </a:ext>
              </a:extLst>
            </p:cNvPr>
            <p:cNvSpPr txBox="1"/>
            <p:nvPr/>
          </p:nvSpPr>
          <p:spPr>
            <a:xfrm>
              <a:off x="6094475" y="3839463"/>
              <a:ext cx="206565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0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r>
                <a:rPr sz="2000" spc="114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=</a:t>
              </a:r>
              <a:r>
                <a:rPr sz="2000" spc="145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r>
                <a:rPr sz="2000" spc="40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−</a:t>
              </a:r>
              <a:r>
                <a:rPr sz="2000" spc="-5" dirty="0">
                  <a:latin typeface="Cambria Math"/>
                  <a:cs typeface="Cambria Math"/>
                </a:rPr>
                <a:t> </a:t>
              </a:r>
              <a:r>
                <a:rPr sz="2000" spc="-45" dirty="0">
                  <a:latin typeface="Cambria Math"/>
                  <a:cs typeface="Cambria Math"/>
                </a:rPr>
                <a:t>𝛼</a:t>
              </a:r>
              <a:r>
                <a:rPr sz="2250" u="sng" spc="195" baseline="29629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250" u="sng" spc="254" baseline="29629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2250" baseline="29629" dirty="0">
                  <a:latin typeface="Cambria Math"/>
                  <a:cs typeface="Cambria Math"/>
                </a:rPr>
                <a:t> </a:t>
              </a:r>
              <a:r>
                <a:rPr sz="2250" spc="202" baseline="29629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latin typeface="Cambria Math"/>
                  <a:cs typeface="Cambria Math"/>
                </a:rPr>
                <a:t>𝐽</a:t>
              </a:r>
              <a:r>
                <a:rPr sz="2000" dirty="0">
                  <a:latin typeface="Cambria Math"/>
                  <a:cs typeface="Cambria Math"/>
                </a:rPr>
                <a:t> </a:t>
              </a:r>
              <a:r>
                <a:rPr sz="2000" spc="-10" dirty="0">
                  <a:latin typeface="Cambria Math"/>
                  <a:cs typeface="Cambria Math"/>
                </a:rPr>
                <a:t> </a:t>
              </a:r>
              <a:r>
                <a:rPr sz="2000" spc="25" dirty="0">
                  <a:solidFill>
                    <a:srgbClr val="4285F4"/>
                  </a:solidFill>
                  <a:latin typeface="Cambria Math"/>
                  <a:cs typeface="Cambria Math"/>
                </a:rPr>
                <a:t>w</a:t>
              </a:r>
              <a:r>
                <a:rPr sz="2000" spc="5" dirty="0">
                  <a:latin typeface="Cambria Math"/>
                  <a:cs typeface="Cambria Math"/>
                </a:rPr>
                <a:t>,</a:t>
              </a:r>
              <a:r>
                <a:rPr sz="2000" spc="-185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solidFill>
                    <a:srgbClr val="4285F4"/>
                  </a:solidFill>
                  <a:latin typeface="Cambria Math"/>
                  <a:cs typeface="Cambria Math"/>
                </a:rPr>
                <a:t>𝑏</a:t>
              </a:r>
              <a:endParaRPr sz="2000" dirty="0">
                <a:latin typeface="Cambria Math"/>
                <a:cs typeface="Cambria Math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B22EBD6-BC9F-9F35-6688-8E15D2808633}"/>
                    </a:ext>
                  </a:extLst>
                </p:cNvPr>
                <p:cNvSpPr txBox="1"/>
                <p:nvPr/>
              </p:nvSpPr>
              <p:spPr>
                <a:xfrm>
                  <a:off x="7046819" y="3944937"/>
                  <a:ext cx="4959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P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B22EBD6-BC9F-9F35-6688-8E15D2808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6819" y="3944937"/>
                  <a:ext cx="49590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216609C-0BCB-B176-612C-A40BA705DBFA}"/>
              </a:ext>
            </a:extLst>
          </p:cNvPr>
          <p:cNvSpPr/>
          <p:nvPr/>
        </p:nvSpPr>
        <p:spPr>
          <a:xfrm>
            <a:off x="5783649" y="1253192"/>
            <a:ext cx="2979344" cy="74999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>
              <a:highlight>
                <a:srgbClr val="00FF00"/>
              </a:highlight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02635" y="88011"/>
            <a:ext cx="295465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Gradient</a:t>
            </a:r>
            <a:r>
              <a:rPr spc="20" dirty="0"/>
              <a:t> </a:t>
            </a:r>
            <a:r>
              <a:rPr spc="-10" dirty="0"/>
              <a:t>descent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E8D4FEA-9981-E87B-2CCE-01D1692DC588}"/>
              </a:ext>
            </a:extLst>
          </p:cNvPr>
          <p:cNvGrpSpPr/>
          <p:nvPr/>
        </p:nvGrpSpPr>
        <p:grpSpPr>
          <a:xfrm>
            <a:off x="319088" y="1024423"/>
            <a:ext cx="3744976" cy="640308"/>
            <a:chOff x="375920" y="1074102"/>
            <a:chExt cx="3744976" cy="640308"/>
          </a:xfrm>
        </p:grpSpPr>
        <p:sp>
          <p:nvSpPr>
            <p:cNvPr id="7" name="object 7"/>
            <p:cNvSpPr/>
            <p:nvPr/>
          </p:nvSpPr>
          <p:spPr>
            <a:xfrm>
              <a:off x="1493138" y="1418081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482089" y="1398587"/>
              <a:ext cx="217804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𝑚</a:t>
              </a:r>
              <a:endParaRPr sz="1800">
                <a:latin typeface="Cambria Math"/>
                <a:cs typeface="Cambria Math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720021" y="1493837"/>
              <a:ext cx="560013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95" dirty="0">
                  <a:latin typeface="Cambria Math"/>
                  <a:cs typeface="Cambria Math"/>
                </a:rPr>
                <a:t>𝑖</a:t>
              </a:r>
              <a:r>
                <a:rPr sz="1350" spc="-35" dirty="0">
                  <a:latin typeface="Cambria Math"/>
                  <a:cs typeface="Cambria Math"/>
                </a:rPr>
                <a:t>=</a:t>
              </a:r>
              <a:r>
                <a:rPr sz="1350" spc="35" dirty="0">
                  <a:latin typeface="Cambria Math"/>
                  <a:cs typeface="Cambria Math"/>
                </a:rPr>
                <a:t>1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736376" y="1109431"/>
              <a:ext cx="18605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55" dirty="0">
                  <a:latin typeface="Cambria Math"/>
                  <a:cs typeface="Cambria Math"/>
                </a:rPr>
                <a:t>𝑚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118100" y="1281302"/>
              <a:ext cx="1648724" cy="276225"/>
            </a:xfrm>
            <a:custGeom>
              <a:avLst/>
              <a:gdLst/>
              <a:ahLst/>
              <a:cxnLst/>
              <a:rect l="l" t="t" r="r" b="b"/>
              <a:pathLst>
                <a:path w="1720214" h="276225">
                  <a:moveTo>
                    <a:pt x="1647311" y="0"/>
                  </a:moveTo>
                  <a:lnTo>
                    <a:pt x="1644517" y="9271"/>
                  </a:lnTo>
                  <a:lnTo>
                    <a:pt x="1657211" y="15819"/>
                  </a:lnTo>
                  <a:lnTo>
                    <a:pt x="1668250" y="25368"/>
                  </a:lnTo>
                  <a:lnTo>
                    <a:pt x="1691485" y="71616"/>
                  </a:lnTo>
                  <a:lnTo>
                    <a:pt x="1698394" y="114010"/>
                  </a:lnTo>
                  <a:lnTo>
                    <a:pt x="1699254" y="138302"/>
                  </a:lnTo>
                  <a:lnTo>
                    <a:pt x="1698394" y="162446"/>
                  </a:lnTo>
                  <a:lnTo>
                    <a:pt x="1691485" y="204686"/>
                  </a:lnTo>
                  <a:lnTo>
                    <a:pt x="1668250" y="250920"/>
                  </a:lnTo>
                  <a:lnTo>
                    <a:pt x="1644517" y="267081"/>
                  </a:lnTo>
                  <a:lnTo>
                    <a:pt x="1647311" y="276225"/>
                  </a:lnTo>
                  <a:lnTo>
                    <a:pt x="1690495" y="246060"/>
                  </a:lnTo>
                  <a:lnTo>
                    <a:pt x="1709219" y="208720"/>
                  </a:lnTo>
                  <a:lnTo>
                    <a:pt x="1718657" y="163468"/>
                  </a:lnTo>
                  <a:lnTo>
                    <a:pt x="1719828" y="138175"/>
                  </a:lnTo>
                  <a:lnTo>
                    <a:pt x="1718657" y="112863"/>
                  </a:lnTo>
                  <a:lnTo>
                    <a:pt x="1709219" y="67524"/>
                  </a:lnTo>
                  <a:lnTo>
                    <a:pt x="1690495" y="30182"/>
                  </a:lnTo>
                  <a:lnTo>
                    <a:pt x="1663721" y="6457"/>
                  </a:lnTo>
                  <a:lnTo>
                    <a:pt x="1647311" y="0"/>
                  </a:lnTo>
                  <a:close/>
                </a:path>
                <a:path w="1720214" h="276225">
                  <a:moveTo>
                    <a:pt x="72511" y="0"/>
                  </a:moveTo>
                  <a:lnTo>
                    <a:pt x="29220" y="30182"/>
                  </a:lnTo>
                  <a:lnTo>
                    <a:pt x="10549" y="67524"/>
                  </a:lnTo>
                  <a:lnTo>
                    <a:pt x="1162" y="112863"/>
                  </a:lnTo>
                  <a:lnTo>
                    <a:pt x="0" y="138302"/>
                  </a:lnTo>
                  <a:lnTo>
                    <a:pt x="1162" y="163468"/>
                  </a:lnTo>
                  <a:lnTo>
                    <a:pt x="10549" y="20872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512"/>
                  </a:lnTo>
                  <a:lnTo>
                    <a:pt x="51572" y="250920"/>
                  </a:lnTo>
                  <a:lnTo>
                    <a:pt x="28336" y="204686"/>
                  </a:lnTo>
                  <a:lnTo>
                    <a:pt x="21427" y="162446"/>
                  </a:lnTo>
                  <a:lnTo>
                    <a:pt x="20572" y="138175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572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3"/>
                <p:cNvSpPr txBox="1"/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156970">
                    <a:lnSpc>
                      <a:spcPts val="1755"/>
                    </a:lnSpc>
                    <a:spcBef>
                      <a:spcPts val="100"/>
                    </a:spcBef>
                  </a:pPr>
                  <a:r>
                    <a:rPr sz="1800" dirty="0">
                      <a:latin typeface="Cambria Math"/>
                      <a:cs typeface="Cambria Math"/>
                    </a:rPr>
                    <a:t>1</a:t>
                  </a:r>
                </a:p>
                <a:p>
                  <a:pPr marL="12700">
                    <a:lnSpc>
                      <a:spcPts val="1755"/>
                    </a:lnSpc>
                    <a:tabLst>
                      <a:tab pos="1346835" algn="l"/>
                    </a:tabLst>
                  </a:pPr>
                  <a:r>
                    <a:rPr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𝑤</a:t>
                  </a:r>
                  <a:r>
                    <a:rPr sz="1800" spc="14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=</a:t>
                  </a:r>
                  <a:r>
                    <a:rPr sz="1800" spc="130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𝑤</a:t>
                  </a:r>
                  <a:r>
                    <a:rPr sz="1800" spc="-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−</a:t>
                  </a:r>
                  <a:r>
                    <a:rPr sz="1800" spc="65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𝛼	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pc="585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Σ</m:t>
                      </m:r>
                    </m:oMath>
                  </a14:m>
                  <a:r>
                    <a:rPr sz="1800" dirty="0">
                      <a:latin typeface="Cambria Math"/>
                      <a:cs typeface="Cambria Math"/>
                    </a:rPr>
                    <a:t>𝑓</a:t>
                  </a:r>
                </a:p>
              </p:txBody>
            </p:sp>
          </mc:Choice>
          <mc:Fallback xmlns="">
            <p:sp>
              <p:nvSpPr>
                <p:cNvPr id="13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  <a:blipFill>
                  <a:blip r:embed="rId2"/>
                  <a:stretch>
                    <a:fillRect l="-6623" t="-20513" b="-30769"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bject 14"/>
            <p:cNvSpPr txBox="1"/>
            <p:nvPr/>
          </p:nvSpPr>
          <p:spPr>
            <a:xfrm>
              <a:off x="2206625" y="1350581"/>
              <a:ext cx="473202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6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350" spc="20" dirty="0">
                  <a:latin typeface="Cambria Math"/>
                  <a:cs typeface="Cambria Math"/>
                </a:rPr>
                <a:t>,</a:t>
              </a:r>
              <a:r>
                <a:rPr sz="1350" spc="15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350" dirty="0">
                <a:latin typeface="Cambria Math"/>
                <a:cs typeface="Cambria Math"/>
              </a:endParaRPr>
            </a:p>
          </p:txBody>
        </p:sp>
        <p:grpSp>
          <p:nvGrpSpPr>
            <p:cNvPr id="15" name="object 15"/>
            <p:cNvGrpSpPr/>
            <p:nvPr/>
          </p:nvGrpSpPr>
          <p:grpSpPr>
            <a:xfrm>
              <a:off x="2541910" y="1278000"/>
              <a:ext cx="510540" cy="280035"/>
              <a:chOff x="2541910" y="1278000"/>
              <a:chExt cx="510540" cy="280035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2541910" y="1281302"/>
                <a:ext cx="51054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276225">
                    <a:moveTo>
                      <a:pt x="437636" y="0"/>
                    </a:moveTo>
                    <a:lnTo>
                      <a:pt x="434842" y="9271"/>
                    </a:lnTo>
                    <a:lnTo>
                      <a:pt x="447536" y="15819"/>
                    </a:lnTo>
                    <a:lnTo>
                      <a:pt x="458575" y="25368"/>
                    </a:lnTo>
                    <a:lnTo>
                      <a:pt x="481810" y="71616"/>
                    </a:lnTo>
                    <a:lnTo>
                      <a:pt x="488719" y="114010"/>
                    </a:lnTo>
                    <a:lnTo>
                      <a:pt x="489579" y="138302"/>
                    </a:lnTo>
                    <a:lnTo>
                      <a:pt x="488719" y="162446"/>
                    </a:lnTo>
                    <a:lnTo>
                      <a:pt x="481810" y="204686"/>
                    </a:lnTo>
                    <a:lnTo>
                      <a:pt x="458575" y="250920"/>
                    </a:lnTo>
                    <a:lnTo>
                      <a:pt x="434842" y="267081"/>
                    </a:lnTo>
                    <a:lnTo>
                      <a:pt x="437636" y="276225"/>
                    </a:lnTo>
                    <a:lnTo>
                      <a:pt x="480820" y="246060"/>
                    </a:lnTo>
                    <a:lnTo>
                      <a:pt x="499544" y="208720"/>
                    </a:lnTo>
                    <a:lnTo>
                      <a:pt x="508982" y="163468"/>
                    </a:lnTo>
                    <a:lnTo>
                      <a:pt x="510153" y="138175"/>
                    </a:lnTo>
                    <a:lnTo>
                      <a:pt x="508982" y="112863"/>
                    </a:lnTo>
                    <a:lnTo>
                      <a:pt x="499544" y="67524"/>
                    </a:lnTo>
                    <a:lnTo>
                      <a:pt x="480820" y="30182"/>
                    </a:lnTo>
                    <a:lnTo>
                      <a:pt x="454046" y="6457"/>
                    </a:lnTo>
                    <a:lnTo>
                      <a:pt x="437636" y="0"/>
                    </a:lnTo>
                    <a:close/>
                  </a:path>
                  <a:path w="510539" h="276225">
                    <a:moveTo>
                      <a:pt x="72511" y="0"/>
                    </a:moveTo>
                    <a:lnTo>
                      <a:pt x="29220" y="30182"/>
                    </a:lnTo>
                    <a:lnTo>
                      <a:pt x="10549" y="67524"/>
                    </a:lnTo>
                    <a:lnTo>
                      <a:pt x="1162" y="112863"/>
                    </a:lnTo>
                    <a:lnTo>
                      <a:pt x="0" y="138302"/>
                    </a:lnTo>
                    <a:lnTo>
                      <a:pt x="1162" y="163468"/>
                    </a:lnTo>
                    <a:lnTo>
                      <a:pt x="10549" y="208720"/>
                    </a:lnTo>
                    <a:lnTo>
                      <a:pt x="29220" y="246060"/>
                    </a:lnTo>
                    <a:lnTo>
                      <a:pt x="72511" y="276225"/>
                    </a:lnTo>
                    <a:lnTo>
                      <a:pt x="75305" y="267081"/>
                    </a:lnTo>
                    <a:lnTo>
                      <a:pt x="62611" y="260512"/>
                    </a:lnTo>
                    <a:lnTo>
                      <a:pt x="51572" y="250920"/>
                    </a:lnTo>
                    <a:lnTo>
                      <a:pt x="28336" y="204686"/>
                    </a:lnTo>
                    <a:lnTo>
                      <a:pt x="21427" y="162446"/>
                    </a:lnTo>
                    <a:lnTo>
                      <a:pt x="20572" y="138175"/>
                    </a:lnTo>
                    <a:lnTo>
                      <a:pt x="21427" y="114010"/>
                    </a:lnTo>
                    <a:lnTo>
                      <a:pt x="28336" y="71616"/>
                    </a:lnTo>
                    <a:lnTo>
                      <a:pt x="51572" y="25368"/>
                    </a:lnTo>
                    <a:lnTo>
                      <a:pt x="75305" y="9271"/>
                    </a:lnTo>
                    <a:lnTo>
                      <a:pt x="7251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1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4950" y="1278000"/>
                <a:ext cx="174370" cy="158876"/>
              </a:xfrm>
              <a:prstGeom prst="rect">
                <a:avLst/>
              </a:prstGeom>
            </p:spPr>
          </p:pic>
        </p:grpSp>
        <p:sp>
          <p:nvSpPr>
            <p:cNvPr id="18" name="object 18"/>
            <p:cNvSpPr txBox="1"/>
            <p:nvPr/>
          </p:nvSpPr>
          <p:spPr>
            <a:xfrm>
              <a:off x="2591054" y="1160081"/>
              <a:ext cx="3371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232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>
                <a:latin typeface="Cambria Math"/>
                <a:cs typeface="Cambria Math"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325" y="1278000"/>
              <a:ext cx="174371" cy="158876"/>
            </a:xfrm>
            <a:prstGeom prst="rect">
              <a:avLst/>
            </a:prstGeom>
          </p:spPr>
        </p:pic>
        <p:sp>
          <p:nvSpPr>
            <p:cNvPr id="20" name="object 20"/>
            <p:cNvSpPr txBox="1"/>
            <p:nvPr/>
          </p:nvSpPr>
          <p:spPr>
            <a:xfrm>
              <a:off x="3077591" y="1245806"/>
              <a:ext cx="5657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−</a:t>
              </a:r>
              <a:r>
                <a:rPr sz="1800" spc="-50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C00000"/>
                  </a:solidFill>
                  <a:latin typeface="Cambria Math"/>
                  <a:cs typeface="Cambria Math"/>
                </a:rPr>
                <a:t>𝑦</a:t>
              </a:r>
              <a:r>
                <a:rPr sz="1800" spc="19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25" spc="67" baseline="26748" dirty="0">
                  <a:latin typeface="Cambria Math"/>
                  <a:cs typeface="Cambria Math"/>
                </a:rPr>
                <a:t>𝑖</a:t>
              </a:r>
              <a:endParaRPr sz="2025" baseline="26748">
                <a:latin typeface="Cambria Math"/>
                <a:cs typeface="Cambria Math"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6525" y="1278000"/>
              <a:ext cx="174371" cy="158876"/>
            </a:xfrm>
            <a:prstGeom prst="rect">
              <a:avLst/>
            </a:prstGeom>
          </p:spPr>
        </p:pic>
        <p:sp>
          <p:nvSpPr>
            <p:cNvPr id="22" name="object 22"/>
            <p:cNvSpPr txBox="1"/>
            <p:nvPr/>
          </p:nvSpPr>
          <p:spPr>
            <a:xfrm>
              <a:off x="3754501" y="1160081"/>
              <a:ext cx="34671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33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>
                <a:latin typeface="Cambria Math"/>
                <a:cs typeface="Cambria Math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99810" y="508952"/>
            <a:ext cx="1146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sz="1800" spc="75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latin typeface="Verdana"/>
                <a:cs typeface="Verdana"/>
              </a:rPr>
              <a:t>features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26757" y="578358"/>
            <a:ext cx="712470" cy="212090"/>
          </a:xfrm>
          <a:custGeom>
            <a:avLst/>
            <a:gdLst/>
            <a:ahLst/>
            <a:cxnLst/>
            <a:rect l="l" t="t" r="r" b="b"/>
            <a:pathLst>
              <a:path w="712470" h="212090">
                <a:moveTo>
                  <a:pt x="644398" y="0"/>
                </a:moveTo>
                <a:lnTo>
                  <a:pt x="641350" y="8636"/>
                </a:lnTo>
                <a:lnTo>
                  <a:pt x="653617" y="13946"/>
                </a:lnTo>
                <a:lnTo>
                  <a:pt x="664146" y="21304"/>
                </a:lnTo>
                <a:lnTo>
                  <a:pt x="685585" y="55449"/>
                </a:lnTo>
                <a:lnTo>
                  <a:pt x="692658" y="104901"/>
                </a:lnTo>
                <a:lnTo>
                  <a:pt x="691872" y="123571"/>
                </a:lnTo>
                <a:lnTo>
                  <a:pt x="680085" y="169290"/>
                </a:lnTo>
                <a:lnTo>
                  <a:pt x="653778" y="197865"/>
                </a:lnTo>
                <a:lnTo>
                  <a:pt x="641731" y="203200"/>
                </a:lnTo>
                <a:lnTo>
                  <a:pt x="644398" y="211836"/>
                </a:lnTo>
                <a:lnTo>
                  <a:pt x="684813" y="187707"/>
                </a:lnTo>
                <a:lnTo>
                  <a:pt x="707580" y="143335"/>
                </a:lnTo>
                <a:lnTo>
                  <a:pt x="711962" y="105917"/>
                </a:lnTo>
                <a:lnTo>
                  <a:pt x="710866" y="86536"/>
                </a:lnTo>
                <a:lnTo>
                  <a:pt x="694436" y="37083"/>
                </a:lnTo>
                <a:lnTo>
                  <a:pt x="659735" y="5544"/>
                </a:lnTo>
                <a:lnTo>
                  <a:pt x="644398" y="0"/>
                </a:lnTo>
                <a:close/>
              </a:path>
              <a:path w="712470" h="212090">
                <a:moveTo>
                  <a:pt x="67564" y="0"/>
                </a:moveTo>
                <a:lnTo>
                  <a:pt x="27112" y="24110"/>
                </a:lnTo>
                <a:lnTo>
                  <a:pt x="4365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35" y="206238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896481" y="508952"/>
            <a:ext cx="591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sz="1800" spc="95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≥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38701" y="862075"/>
            <a:ext cx="0" cy="3538220"/>
          </a:xfrm>
          <a:custGeom>
            <a:avLst/>
            <a:gdLst/>
            <a:ahLst/>
            <a:cxnLst/>
            <a:rect l="l" t="t" r="r" b="b"/>
            <a:pathLst>
              <a:path h="3538220">
                <a:moveTo>
                  <a:pt x="0" y="0"/>
                </a:moveTo>
                <a:lnTo>
                  <a:pt x="0" y="3537762"/>
                </a:lnTo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70522" y="674624"/>
            <a:ext cx="82931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10" dirty="0">
                <a:latin typeface="Verdana"/>
                <a:cs typeface="Verdana"/>
              </a:rPr>
              <a:t>r</a:t>
            </a:r>
            <a:r>
              <a:rPr sz="1550" spc="45" dirty="0">
                <a:latin typeface="Verdana"/>
                <a:cs typeface="Verdana"/>
              </a:rPr>
              <a:t>e</a:t>
            </a:r>
            <a:r>
              <a:rPr sz="1550" spc="5" dirty="0">
                <a:latin typeface="Verdana"/>
                <a:cs typeface="Verdana"/>
              </a:rPr>
              <a:t>p</a:t>
            </a:r>
            <a:r>
              <a:rPr sz="1550" spc="45" dirty="0">
                <a:latin typeface="Verdana"/>
                <a:cs typeface="Verdana"/>
              </a:rPr>
              <a:t>e</a:t>
            </a:r>
            <a:r>
              <a:rPr sz="1550" spc="35" dirty="0">
                <a:latin typeface="Verdana"/>
                <a:cs typeface="Verdana"/>
              </a:rPr>
              <a:t>a</a:t>
            </a:r>
            <a:r>
              <a:rPr sz="1550" spc="10" dirty="0">
                <a:latin typeface="Verdana"/>
                <a:cs typeface="Verdana"/>
              </a:rPr>
              <a:t>t</a:t>
            </a:r>
            <a:r>
              <a:rPr sz="1550" spc="-110" dirty="0">
                <a:latin typeface="Verdana"/>
                <a:cs typeface="Verdana"/>
              </a:rPr>
              <a:t> </a:t>
            </a:r>
            <a:r>
              <a:rPr sz="1800" dirty="0">
                <a:latin typeface="Cambria Math"/>
                <a:cs typeface="Cambria Math"/>
              </a:rPr>
              <a:t>{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53185" y="447293"/>
            <a:ext cx="137160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One</a:t>
            </a: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feature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5959" y="3846512"/>
            <a:ext cx="2794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latin typeface="Verdana"/>
                <a:cs typeface="Verdana"/>
              </a:rPr>
              <a:t>s</a:t>
            </a:r>
            <a:r>
              <a:rPr sz="1550" spc="20" dirty="0">
                <a:latin typeface="Verdana"/>
                <a:cs typeface="Verdana"/>
              </a:rPr>
              <a:t>i</a:t>
            </a:r>
            <a:r>
              <a:rPr sz="1550" spc="-10" dirty="0">
                <a:latin typeface="Verdana"/>
                <a:cs typeface="Verdana"/>
              </a:rPr>
              <a:t>mu</a:t>
            </a:r>
            <a:r>
              <a:rPr sz="1550" spc="20" dirty="0">
                <a:latin typeface="Verdana"/>
                <a:cs typeface="Verdana"/>
              </a:rPr>
              <a:t>l</a:t>
            </a:r>
            <a:r>
              <a:rPr sz="1550" spc="-10" dirty="0">
                <a:latin typeface="Verdana"/>
                <a:cs typeface="Verdana"/>
              </a:rPr>
              <a:t>t</a:t>
            </a:r>
            <a:r>
              <a:rPr sz="1550" spc="40" dirty="0">
                <a:latin typeface="Verdana"/>
                <a:cs typeface="Verdana"/>
              </a:rPr>
              <a:t>a</a:t>
            </a:r>
            <a:r>
              <a:rPr sz="1550" spc="-10" dirty="0">
                <a:latin typeface="Verdana"/>
                <a:cs typeface="Verdana"/>
              </a:rPr>
              <a:t>n</a:t>
            </a:r>
            <a:r>
              <a:rPr sz="1550" spc="50" dirty="0">
                <a:latin typeface="Verdana"/>
                <a:cs typeface="Verdana"/>
              </a:rPr>
              <a:t>e</a:t>
            </a:r>
            <a:r>
              <a:rPr sz="1550" spc="30" dirty="0">
                <a:latin typeface="Verdana"/>
                <a:cs typeface="Verdana"/>
              </a:rPr>
              <a:t>o</a:t>
            </a:r>
            <a:r>
              <a:rPr sz="1550" spc="-10" dirty="0">
                <a:latin typeface="Verdana"/>
                <a:cs typeface="Verdana"/>
              </a:rPr>
              <a:t>u</a:t>
            </a:r>
            <a:r>
              <a:rPr sz="1550" spc="10" dirty="0">
                <a:latin typeface="Verdana"/>
                <a:cs typeface="Verdana"/>
              </a:rPr>
              <a:t>s</a:t>
            </a:r>
            <a:r>
              <a:rPr sz="1550" spc="20" dirty="0">
                <a:latin typeface="Verdana"/>
                <a:cs typeface="Verdana"/>
              </a:rPr>
              <a:t>l</a:t>
            </a:r>
            <a:r>
              <a:rPr sz="1550" spc="15" dirty="0">
                <a:latin typeface="Verdana"/>
                <a:cs typeface="Verdana"/>
              </a:rPr>
              <a:t>y</a:t>
            </a:r>
            <a:r>
              <a:rPr sz="1550" spc="17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u</a:t>
            </a:r>
            <a:r>
              <a:rPr sz="1550" spc="10" dirty="0">
                <a:latin typeface="Verdana"/>
                <a:cs typeface="Verdana"/>
              </a:rPr>
              <a:t>pd</a:t>
            </a:r>
            <a:r>
              <a:rPr sz="1550" spc="40" dirty="0">
                <a:latin typeface="Verdana"/>
                <a:cs typeface="Verdana"/>
              </a:rPr>
              <a:t>a</a:t>
            </a:r>
            <a:r>
              <a:rPr sz="1550" spc="-10" dirty="0">
                <a:latin typeface="Verdana"/>
                <a:cs typeface="Verdana"/>
              </a:rPr>
              <a:t>t</a:t>
            </a:r>
            <a:r>
              <a:rPr sz="1550" spc="15" dirty="0">
                <a:latin typeface="Verdana"/>
                <a:cs typeface="Verdana"/>
              </a:rPr>
              <a:t>e</a:t>
            </a:r>
            <a:r>
              <a:rPr sz="1550" spc="150" dirty="0">
                <a:latin typeface="Verdana"/>
                <a:cs typeface="Verdana"/>
              </a:rPr>
              <a:t> </a:t>
            </a:r>
            <a:r>
              <a:rPr sz="1550" spc="6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550" spc="10" dirty="0">
                <a:latin typeface="Verdana"/>
                <a:cs typeface="Verdana"/>
              </a:rPr>
              <a:t>,</a:t>
            </a:r>
            <a:r>
              <a:rPr sz="1550" spc="-145" dirty="0">
                <a:latin typeface="Verdana"/>
                <a:cs typeface="Verdana"/>
              </a:rPr>
              <a:t> </a:t>
            </a:r>
            <a:r>
              <a:rPr sz="1550" spc="2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2267" y="4132897"/>
            <a:ext cx="114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}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4829175" y="825880"/>
            <a:ext cx="82931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10" dirty="0">
                <a:latin typeface="Verdana"/>
                <a:cs typeface="Verdana"/>
              </a:rPr>
              <a:t>r</a:t>
            </a:r>
            <a:r>
              <a:rPr sz="1550" spc="45" dirty="0">
                <a:latin typeface="Verdana"/>
                <a:cs typeface="Verdana"/>
              </a:rPr>
              <a:t>e</a:t>
            </a:r>
            <a:r>
              <a:rPr sz="1550" spc="5" dirty="0">
                <a:latin typeface="Verdana"/>
                <a:cs typeface="Verdana"/>
              </a:rPr>
              <a:t>p</a:t>
            </a:r>
            <a:r>
              <a:rPr sz="1550" spc="45" dirty="0">
                <a:latin typeface="Verdana"/>
                <a:cs typeface="Verdana"/>
              </a:rPr>
              <a:t>e</a:t>
            </a:r>
            <a:r>
              <a:rPr sz="1550" spc="35" dirty="0">
                <a:latin typeface="Verdana"/>
                <a:cs typeface="Verdana"/>
              </a:rPr>
              <a:t>a</a:t>
            </a:r>
            <a:r>
              <a:rPr sz="1550" spc="10" dirty="0">
                <a:latin typeface="Verdana"/>
                <a:cs typeface="Verdana"/>
              </a:rPr>
              <a:t>t</a:t>
            </a:r>
            <a:r>
              <a:rPr sz="1550" spc="-110" dirty="0">
                <a:latin typeface="Verdana"/>
                <a:cs typeface="Verdana"/>
              </a:rPr>
              <a:t> </a:t>
            </a:r>
            <a:r>
              <a:rPr sz="1800" dirty="0">
                <a:latin typeface="Cambria Math"/>
                <a:cs typeface="Cambria Math"/>
              </a:rPr>
              <a:t>{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70442FB-FF35-D959-AA73-0C75AF6912BF}"/>
              </a:ext>
            </a:extLst>
          </p:cNvPr>
          <p:cNvGrpSpPr/>
          <p:nvPr/>
        </p:nvGrpSpPr>
        <p:grpSpPr>
          <a:xfrm>
            <a:off x="2239835" y="1864772"/>
            <a:ext cx="944626" cy="322389"/>
            <a:chOff x="2200148" y="1946592"/>
            <a:chExt cx="944626" cy="322389"/>
          </a:xfrm>
        </p:grpSpPr>
        <p:sp>
          <p:nvSpPr>
            <p:cNvPr id="95" name="object 95"/>
            <p:cNvSpPr txBox="1"/>
            <p:nvPr/>
          </p:nvSpPr>
          <p:spPr>
            <a:xfrm>
              <a:off x="2200148" y="1946592"/>
              <a:ext cx="2730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350" u="sng" spc="-135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350" u="sng" spc="85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1350" u="sng" spc="-25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endParaRPr sz="1350">
                <a:latin typeface="Cambria Math"/>
                <a:cs typeface="Cambria Math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2604389" y="2051430"/>
              <a:ext cx="540385" cy="212090"/>
            </a:xfrm>
            <a:custGeom>
              <a:avLst/>
              <a:gdLst/>
              <a:ahLst/>
              <a:cxnLst/>
              <a:rect l="l" t="t" r="r" b="b"/>
              <a:pathLst>
                <a:path w="540385" h="212089">
                  <a:moveTo>
                    <a:pt x="472948" y="0"/>
                  </a:moveTo>
                  <a:lnTo>
                    <a:pt x="469900" y="8636"/>
                  </a:lnTo>
                  <a:lnTo>
                    <a:pt x="482167" y="13946"/>
                  </a:lnTo>
                  <a:lnTo>
                    <a:pt x="492696" y="21304"/>
                  </a:lnTo>
                  <a:lnTo>
                    <a:pt x="514115" y="55429"/>
                  </a:lnTo>
                  <a:lnTo>
                    <a:pt x="521081" y="104775"/>
                  </a:lnTo>
                  <a:lnTo>
                    <a:pt x="520297" y="123443"/>
                  </a:lnTo>
                  <a:lnTo>
                    <a:pt x="508635" y="169163"/>
                  </a:lnTo>
                  <a:lnTo>
                    <a:pt x="482328" y="197738"/>
                  </a:lnTo>
                  <a:lnTo>
                    <a:pt x="470281" y="203073"/>
                  </a:lnTo>
                  <a:lnTo>
                    <a:pt x="472948" y="211708"/>
                  </a:lnTo>
                  <a:lnTo>
                    <a:pt x="513345" y="187706"/>
                  </a:lnTo>
                  <a:lnTo>
                    <a:pt x="536067" y="143335"/>
                  </a:lnTo>
                  <a:lnTo>
                    <a:pt x="540385" y="105918"/>
                  </a:lnTo>
                  <a:lnTo>
                    <a:pt x="539309" y="86483"/>
                  </a:lnTo>
                  <a:lnTo>
                    <a:pt x="522986" y="37083"/>
                  </a:lnTo>
                  <a:lnTo>
                    <a:pt x="488285" y="5526"/>
                  </a:lnTo>
                  <a:lnTo>
                    <a:pt x="472948" y="0"/>
                  </a:lnTo>
                  <a:close/>
                </a:path>
                <a:path w="540385" h="212089">
                  <a:moveTo>
                    <a:pt x="67563" y="0"/>
                  </a:moveTo>
                  <a:lnTo>
                    <a:pt x="27094" y="24056"/>
                  </a:lnTo>
                  <a:lnTo>
                    <a:pt x="4365" y="68548"/>
                  </a:lnTo>
                  <a:lnTo>
                    <a:pt x="0" y="105918"/>
                  </a:lnTo>
                  <a:lnTo>
                    <a:pt x="1093" y="125370"/>
                  </a:lnTo>
                  <a:lnTo>
                    <a:pt x="17399" y="174751"/>
                  </a:lnTo>
                  <a:lnTo>
                    <a:pt x="52135" y="206184"/>
                  </a:lnTo>
                  <a:lnTo>
                    <a:pt x="67563" y="211708"/>
                  </a:lnTo>
                  <a:lnTo>
                    <a:pt x="70231" y="203073"/>
                  </a:lnTo>
                  <a:lnTo>
                    <a:pt x="58130" y="197738"/>
                  </a:lnTo>
                  <a:lnTo>
                    <a:pt x="47720" y="190309"/>
                  </a:lnTo>
                  <a:lnTo>
                    <a:pt x="26376" y="155638"/>
                  </a:lnTo>
                  <a:lnTo>
                    <a:pt x="19304" y="104775"/>
                  </a:lnTo>
                  <a:lnTo>
                    <a:pt x="20089" y="86723"/>
                  </a:lnTo>
                  <a:lnTo>
                    <a:pt x="31877" y="42163"/>
                  </a:lnTo>
                  <a:lnTo>
                    <a:pt x="58291" y="13946"/>
                  </a:lnTo>
                  <a:lnTo>
                    <a:pt x="70485" y="8636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 txBox="1"/>
            <p:nvPr/>
          </p:nvSpPr>
          <p:spPr>
            <a:xfrm>
              <a:off x="2208312" y="1968626"/>
              <a:ext cx="92456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025" spc="202" baseline="-30864" dirty="0">
                  <a:latin typeface="Cambria Math"/>
                  <a:cs typeface="Cambria Math"/>
                </a:rPr>
                <a:t>𝜕</a:t>
              </a:r>
              <a:r>
                <a:rPr sz="2025" spc="217" baseline="-30864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025" spc="30" baseline="-30864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1800" dirty="0">
                  <a:latin typeface="Cambria Math"/>
                  <a:cs typeface="Cambria Math"/>
                </a:rPr>
                <a:t>𝐽 </a:t>
              </a:r>
              <a:r>
                <a:rPr sz="1800" spc="-60" dirty="0">
                  <a:latin typeface="Cambria Math"/>
                  <a:cs typeface="Cambria Math"/>
                </a:rPr>
                <a:t> </a:t>
              </a:r>
              <a:r>
                <a:rPr sz="1800" spc="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800" dirty="0">
                  <a:latin typeface="Cambria Math"/>
                  <a:cs typeface="Cambria Math"/>
                </a:rPr>
                <a:t>,</a:t>
              </a:r>
              <a:r>
                <a:rPr sz="1800" spc="-95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800" dirty="0">
                <a:latin typeface="Cambria Math"/>
                <a:cs typeface="Cambria Math"/>
              </a:endParaRPr>
            </a:p>
          </p:txBody>
        </p:sp>
      </p:grpSp>
      <p:sp>
        <p:nvSpPr>
          <p:cNvPr id="113" name="Slide Number Placeholder 112">
            <a:extLst>
              <a:ext uri="{FF2B5EF4-FFF2-40B4-BE49-F238E27FC236}">
                <a16:creationId xmlns:a16="http://schemas.microsoft.com/office/drawing/2014/main" id="{E6B79609-5BEA-7D3D-AF13-70A3AD20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25</a:t>
            </a:fld>
            <a:endParaRPr lang="en-P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A5AD852-CF20-4168-2ADD-5264CB850391}"/>
              </a:ext>
            </a:extLst>
          </p:cNvPr>
          <p:cNvGrpSpPr/>
          <p:nvPr/>
        </p:nvGrpSpPr>
        <p:grpSpPr>
          <a:xfrm>
            <a:off x="335721" y="2874519"/>
            <a:ext cx="3390904" cy="640308"/>
            <a:chOff x="375920" y="1074102"/>
            <a:chExt cx="3390904" cy="640308"/>
          </a:xfrm>
        </p:grpSpPr>
        <p:sp>
          <p:nvSpPr>
            <p:cNvPr id="116" name="object 7">
              <a:extLst>
                <a:ext uri="{FF2B5EF4-FFF2-40B4-BE49-F238E27FC236}">
                  <a16:creationId xmlns:a16="http://schemas.microsoft.com/office/drawing/2014/main" id="{18634602-F6E2-6FE6-30FD-5DA6902C96A9}"/>
                </a:ext>
              </a:extLst>
            </p:cNvPr>
            <p:cNvSpPr/>
            <p:nvPr/>
          </p:nvSpPr>
          <p:spPr>
            <a:xfrm>
              <a:off x="1493138" y="1418081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9">
              <a:extLst>
                <a:ext uri="{FF2B5EF4-FFF2-40B4-BE49-F238E27FC236}">
                  <a16:creationId xmlns:a16="http://schemas.microsoft.com/office/drawing/2014/main" id="{7CBCECDA-1A56-DDEC-6A29-CBA12DE5BCBD}"/>
                </a:ext>
              </a:extLst>
            </p:cNvPr>
            <p:cNvSpPr txBox="1"/>
            <p:nvPr/>
          </p:nvSpPr>
          <p:spPr>
            <a:xfrm>
              <a:off x="1482089" y="1398587"/>
              <a:ext cx="217804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𝑚</a:t>
              </a:r>
              <a:endParaRPr sz="1800">
                <a:latin typeface="Cambria Math"/>
                <a:cs typeface="Cambria Math"/>
              </a:endParaRPr>
            </a:p>
          </p:txBody>
        </p:sp>
        <p:sp>
          <p:nvSpPr>
            <p:cNvPr id="118" name="object 10">
              <a:extLst>
                <a:ext uri="{FF2B5EF4-FFF2-40B4-BE49-F238E27FC236}">
                  <a16:creationId xmlns:a16="http://schemas.microsoft.com/office/drawing/2014/main" id="{AB7EFA71-65BF-9D7E-8421-798E7E33FBDE}"/>
                </a:ext>
              </a:extLst>
            </p:cNvPr>
            <p:cNvSpPr txBox="1"/>
            <p:nvPr/>
          </p:nvSpPr>
          <p:spPr>
            <a:xfrm>
              <a:off x="1720021" y="1493837"/>
              <a:ext cx="560013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95" dirty="0">
                  <a:latin typeface="Cambria Math"/>
                  <a:cs typeface="Cambria Math"/>
                </a:rPr>
                <a:t>𝑖</a:t>
              </a:r>
              <a:r>
                <a:rPr sz="1350" spc="-35" dirty="0">
                  <a:latin typeface="Cambria Math"/>
                  <a:cs typeface="Cambria Math"/>
                </a:rPr>
                <a:t>=</a:t>
              </a:r>
              <a:r>
                <a:rPr sz="1350" spc="35" dirty="0">
                  <a:latin typeface="Cambria Math"/>
                  <a:cs typeface="Cambria Math"/>
                </a:rPr>
                <a:t>1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19" name="object 11">
              <a:extLst>
                <a:ext uri="{FF2B5EF4-FFF2-40B4-BE49-F238E27FC236}">
                  <a16:creationId xmlns:a16="http://schemas.microsoft.com/office/drawing/2014/main" id="{1732602F-5F23-A4EA-23CF-1AEAE66DB99A}"/>
                </a:ext>
              </a:extLst>
            </p:cNvPr>
            <p:cNvSpPr txBox="1"/>
            <p:nvPr/>
          </p:nvSpPr>
          <p:spPr>
            <a:xfrm>
              <a:off x="1736376" y="1109431"/>
              <a:ext cx="18605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55" dirty="0">
                  <a:latin typeface="Cambria Math"/>
                  <a:cs typeface="Cambria Math"/>
                </a:rPr>
                <a:t>𝑚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20" name="object 12">
              <a:extLst>
                <a:ext uri="{FF2B5EF4-FFF2-40B4-BE49-F238E27FC236}">
                  <a16:creationId xmlns:a16="http://schemas.microsoft.com/office/drawing/2014/main" id="{D5B13376-2EEA-5E4B-DE7F-B08EDB50F81A}"/>
                </a:ext>
              </a:extLst>
            </p:cNvPr>
            <p:cNvSpPr/>
            <p:nvPr/>
          </p:nvSpPr>
          <p:spPr>
            <a:xfrm>
              <a:off x="2118100" y="1281302"/>
              <a:ext cx="1648724" cy="276225"/>
            </a:xfrm>
            <a:custGeom>
              <a:avLst/>
              <a:gdLst/>
              <a:ahLst/>
              <a:cxnLst/>
              <a:rect l="l" t="t" r="r" b="b"/>
              <a:pathLst>
                <a:path w="1720214" h="276225">
                  <a:moveTo>
                    <a:pt x="1647311" y="0"/>
                  </a:moveTo>
                  <a:lnTo>
                    <a:pt x="1644517" y="9271"/>
                  </a:lnTo>
                  <a:lnTo>
                    <a:pt x="1657211" y="15819"/>
                  </a:lnTo>
                  <a:lnTo>
                    <a:pt x="1668250" y="25368"/>
                  </a:lnTo>
                  <a:lnTo>
                    <a:pt x="1691485" y="71616"/>
                  </a:lnTo>
                  <a:lnTo>
                    <a:pt x="1698394" y="114010"/>
                  </a:lnTo>
                  <a:lnTo>
                    <a:pt x="1699254" y="138302"/>
                  </a:lnTo>
                  <a:lnTo>
                    <a:pt x="1698394" y="162446"/>
                  </a:lnTo>
                  <a:lnTo>
                    <a:pt x="1691485" y="204686"/>
                  </a:lnTo>
                  <a:lnTo>
                    <a:pt x="1668250" y="250920"/>
                  </a:lnTo>
                  <a:lnTo>
                    <a:pt x="1644517" y="267081"/>
                  </a:lnTo>
                  <a:lnTo>
                    <a:pt x="1647311" y="276225"/>
                  </a:lnTo>
                  <a:lnTo>
                    <a:pt x="1690495" y="246060"/>
                  </a:lnTo>
                  <a:lnTo>
                    <a:pt x="1709219" y="208720"/>
                  </a:lnTo>
                  <a:lnTo>
                    <a:pt x="1718657" y="163468"/>
                  </a:lnTo>
                  <a:lnTo>
                    <a:pt x="1719828" y="138175"/>
                  </a:lnTo>
                  <a:lnTo>
                    <a:pt x="1718657" y="112863"/>
                  </a:lnTo>
                  <a:lnTo>
                    <a:pt x="1709219" y="67524"/>
                  </a:lnTo>
                  <a:lnTo>
                    <a:pt x="1690495" y="30182"/>
                  </a:lnTo>
                  <a:lnTo>
                    <a:pt x="1663721" y="6457"/>
                  </a:lnTo>
                  <a:lnTo>
                    <a:pt x="1647311" y="0"/>
                  </a:lnTo>
                  <a:close/>
                </a:path>
                <a:path w="1720214" h="276225">
                  <a:moveTo>
                    <a:pt x="72511" y="0"/>
                  </a:moveTo>
                  <a:lnTo>
                    <a:pt x="29220" y="30182"/>
                  </a:lnTo>
                  <a:lnTo>
                    <a:pt x="10549" y="67524"/>
                  </a:lnTo>
                  <a:lnTo>
                    <a:pt x="1162" y="112863"/>
                  </a:lnTo>
                  <a:lnTo>
                    <a:pt x="0" y="138302"/>
                  </a:lnTo>
                  <a:lnTo>
                    <a:pt x="1162" y="163468"/>
                  </a:lnTo>
                  <a:lnTo>
                    <a:pt x="10549" y="20872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512"/>
                  </a:lnTo>
                  <a:lnTo>
                    <a:pt x="51572" y="250920"/>
                  </a:lnTo>
                  <a:lnTo>
                    <a:pt x="28336" y="204686"/>
                  </a:lnTo>
                  <a:lnTo>
                    <a:pt x="21427" y="162446"/>
                  </a:lnTo>
                  <a:lnTo>
                    <a:pt x="20572" y="138175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572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object 13">
                  <a:extLst>
                    <a:ext uri="{FF2B5EF4-FFF2-40B4-BE49-F238E27FC236}">
                      <a16:creationId xmlns:a16="http://schemas.microsoft.com/office/drawing/2014/main" id="{3C59E9CB-8352-888D-2D3A-4A15613863F7}"/>
                    </a:ext>
                  </a:extLst>
                </p:cNvPr>
                <p:cNvSpPr txBox="1"/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156970">
                    <a:lnSpc>
                      <a:spcPts val="1755"/>
                    </a:lnSpc>
                    <a:spcBef>
                      <a:spcPts val="100"/>
                    </a:spcBef>
                  </a:pPr>
                  <a:r>
                    <a:rPr sz="1800" dirty="0">
                      <a:latin typeface="Cambria Math"/>
                      <a:cs typeface="Cambria Math"/>
                    </a:rPr>
                    <a:t>1</a:t>
                  </a:r>
                </a:p>
                <a:p>
                  <a:pPr marL="12700">
                    <a:lnSpc>
                      <a:spcPts val="1755"/>
                    </a:lnSpc>
                    <a:tabLst>
                      <a:tab pos="1346835" algn="l"/>
                    </a:tabLst>
                  </a:pPr>
                  <a:r>
                    <a:rPr lang="en-GB"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b</a:t>
                  </a:r>
                  <a:r>
                    <a:rPr sz="1800" spc="14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=</a:t>
                  </a:r>
                  <a:r>
                    <a:rPr sz="1800" spc="130" dirty="0">
                      <a:latin typeface="Cambria Math"/>
                      <a:cs typeface="Cambria Math"/>
                    </a:rPr>
                    <a:t> </a:t>
                  </a:r>
                  <a:r>
                    <a:rPr lang="en-GB"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b</a:t>
                  </a:r>
                  <a:r>
                    <a:rPr sz="1800" spc="-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−</a:t>
                  </a:r>
                  <a:r>
                    <a:rPr sz="1800" spc="65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𝛼	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pc="585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Σ</m:t>
                      </m:r>
                    </m:oMath>
                  </a14:m>
                  <a:r>
                    <a:rPr sz="1800" dirty="0">
                      <a:latin typeface="Cambria Math"/>
                      <a:cs typeface="Cambria Math"/>
                    </a:rPr>
                    <a:t>𝑓</a:t>
                  </a:r>
                </a:p>
              </p:txBody>
            </p:sp>
          </mc:Choice>
          <mc:Fallback xmlns="">
            <p:sp>
              <p:nvSpPr>
                <p:cNvPr id="121" name="object 13">
                  <a:extLst>
                    <a:ext uri="{FF2B5EF4-FFF2-40B4-BE49-F238E27FC236}">
                      <a16:creationId xmlns:a16="http://schemas.microsoft.com/office/drawing/2014/main" id="{3C59E9CB-8352-888D-2D3A-4A1561386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  <a:blipFill>
                  <a:blip r:embed="rId4"/>
                  <a:stretch>
                    <a:fillRect l="-6667" t="-21053" b="-31579"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object 14">
              <a:extLst>
                <a:ext uri="{FF2B5EF4-FFF2-40B4-BE49-F238E27FC236}">
                  <a16:creationId xmlns:a16="http://schemas.microsoft.com/office/drawing/2014/main" id="{6491CE8E-5207-6F85-EE3F-7F159A5A22C9}"/>
                </a:ext>
              </a:extLst>
            </p:cNvPr>
            <p:cNvSpPr txBox="1"/>
            <p:nvPr/>
          </p:nvSpPr>
          <p:spPr>
            <a:xfrm>
              <a:off x="2206625" y="1350581"/>
              <a:ext cx="473202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6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350" spc="20" dirty="0">
                  <a:latin typeface="Cambria Math"/>
                  <a:cs typeface="Cambria Math"/>
                </a:rPr>
                <a:t>,</a:t>
              </a:r>
              <a:r>
                <a:rPr sz="1350" spc="15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350" dirty="0">
                <a:latin typeface="Cambria Math"/>
                <a:cs typeface="Cambria Math"/>
              </a:endParaRPr>
            </a:p>
          </p:txBody>
        </p:sp>
        <p:grpSp>
          <p:nvGrpSpPr>
            <p:cNvPr id="123" name="object 15">
              <a:extLst>
                <a:ext uri="{FF2B5EF4-FFF2-40B4-BE49-F238E27FC236}">
                  <a16:creationId xmlns:a16="http://schemas.microsoft.com/office/drawing/2014/main" id="{74402186-7F13-D561-D777-5410490935DB}"/>
                </a:ext>
              </a:extLst>
            </p:cNvPr>
            <p:cNvGrpSpPr/>
            <p:nvPr/>
          </p:nvGrpSpPr>
          <p:grpSpPr>
            <a:xfrm>
              <a:off x="2541910" y="1278000"/>
              <a:ext cx="510540" cy="280035"/>
              <a:chOff x="2541910" y="1278000"/>
              <a:chExt cx="510540" cy="280035"/>
            </a:xfrm>
          </p:grpSpPr>
          <p:sp>
            <p:nvSpPr>
              <p:cNvPr id="129" name="object 16">
                <a:extLst>
                  <a:ext uri="{FF2B5EF4-FFF2-40B4-BE49-F238E27FC236}">
                    <a16:creationId xmlns:a16="http://schemas.microsoft.com/office/drawing/2014/main" id="{AB2D145B-27D1-1A49-F59C-7414FFAD2A9D}"/>
                  </a:ext>
                </a:extLst>
              </p:cNvPr>
              <p:cNvSpPr/>
              <p:nvPr/>
            </p:nvSpPr>
            <p:spPr>
              <a:xfrm>
                <a:off x="2541910" y="1281302"/>
                <a:ext cx="51054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276225">
                    <a:moveTo>
                      <a:pt x="437636" y="0"/>
                    </a:moveTo>
                    <a:lnTo>
                      <a:pt x="434842" y="9271"/>
                    </a:lnTo>
                    <a:lnTo>
                      <a:pt x="447536" y="15819"/>
                    </a:lnTo>
                    <a:lnTo>
                      <a:pt x="458575" y="25368"/>
                    </a:lnTo>
                    <a:lnTo>
                      <a:pt x="481810" y="71616"/>
                    </a:lnTo>
                    <a:lnTo>
                      <a:pt x="488719" y="114010"/>
                    </a:lnTo>
                    <a:lnTo>
                      <a:pt x="489579" y="138302"/>
                    </a:lnTo>
                    <a:lnTo>
                      <a:pt x="488719" y="162446"/>
                    </a:lnTo>
                    <a:lnTo>
                      <a:pt x="481810" y="204686"/>
                    </a:lnTo>
                    <a:lnTo>
                      <a:pt x="458575" y="250920"/>
                    </a:lnTo>
                    <a:lnTo>
                      <a:pt x="434842" y="267081"/>
                    </a:lnTo>
                    <a:lnTo>
                      <a:pt x="437636" y="276225"/>
                    </a:lnTo>
                    <a:lnTo>
                      <a:pt x="480820" y="246060"/>
                    </a:lnTo>
                    <a:lnTo>
                      <a:pt x="499544" y="208720"/>
                    </a:lnTo>
                    <a:lnTo>
                      <a:pt x="508982" y="163468"/>
                    </a:lnTo>
                    <a:lnTo>
                      <a:pt x="510153" y="138175"/>
                    </a:lnTo>
                    <a:lnTo>
                      <a:pt x="508982" y="112863"/>
                    </a:lnTo>
                    <a:lnTo>
                      <a:pt x="499544" y="67524"/>
                    </a:lnTo>
                    <a:lnTo>
                      <a:pt x="480820" y="30182"/>
                    </a:lnTo>
                    <a:lnTo>
                      <a:pt x="454046" y="6457"/>
                    </a:lnTo>
                    <a:lnTo>
                      <a:pt x="437636" y="0"/>
                    </a:lnTo>
                    <a:close/>
                  </a:path>
                  <a:path w="510539" h="276225">
                    <a:moveTo>
                      <a:pt x="72511" y="0"/>
                    </a:moveTo>
                    <a:lnTo>
                      <a:pt x="29220" y="30182"/>
                    </a:lnTo>
                    <a:lnTo>
                      <a:pt x="10549" y="67524"/>
                    </a:lnTo>
                    <a:lnTo>
                      <a:pt x="1162" y="112863"/>
                    </a:lnTo>
                    <a:lnTo>
                      <a:pt x="0" y="138302"/>
                    </a:lnTo>
                    <a:lnTo>
                      <a:pt x="1162" y="163468"/>
                    </a:lnTo>
                    <a:lnTo>
                      <a:pt x="10549" y="208720"/>
                    </a:lnTo>
                    <a:lnTo>
                      <a:pt x="29220" y="246060"/>
                    </a:lnTo>
                    <a:lnTo>
                      <a:pt x="72511" y="276225"/>
                    </a:lnTo>
                    <a:lnTo>
                      <a:pt x="75305" y="267081"/>
                    </a:lnTo>
                    <a:lnTo>
                      <a:pt x="62611" y="260512"/>
                    </a:lnTo>
                    <a:lnTo>
                      <a:pt x="51572" y="250920"/>
                    </a:lnTo>
                    <a:lnTo>
                      <a:pt x="28336" y="204686"/>
                    </a:lnTo>
                    <a:lnTo>
                      <a:pt x="21427" y="162446"/>
                    </a:lnTo>
                    <a:lnTo>
                      <a:pt x="20572" y="138175"/>
                    </a:lnTo>
                    <a:lnTo>
                      <a:pt x="21427" y="114010"/>
                    </a:lnTo>
                    <a:lnTo>
                      <a:pt x="28336" y="71616"/>
                    </a:lnTo>
                    <a:lnTo>
                      <a:pt x="51572" y="25368"/>
                    </a:lnTo>
                    <a:lnTo>
                      <a:pt x="75305" y="9271"/>
                    </a:lnTo>
                    <a:lnTo>
                      <a:pt x="7251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0" name="object 17">
                <a:extLst>
                  <a:ext uri="{FF2B5EF4-FFF2-40B4-BE49-F238E27FC236}">
                    <a16:creationId xmlns:a16="http://schemas.microsoft.com/office/drawing/2014/main" id="{F4E4F018-3F00-C117-FB01-539959E472F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4950" y="1278000"/>
                <a:ext cx="174370" cy="158876"/>
              </a:xfrm>
              <a:prstGeom prst="rect">
                <a:avLst/>
              </a:prstGeom>
            </p:spPr>
          </p:pic>
        </p:grpSp>
        <p:sp>
          <p:nvSpPr>
            <p:cNvPr id="124" name="object 18">
              <a:extLst>
                <a:ext uri="{FF2B5EF4-FFF2-40B4-BE49-F238E27FC236}">
                  <a16:creationId xmlns:a16="http://schemas.microsoft.com/office/drawing/2014/main" id="{357FAE2A-3AFA-4C38-1DDA-647A0FBFAE66}"/>
                </a:ext>
              </a:extLst>
            </p:cNvPr>
            <p:cNvSpPr txBox="1"/>
            <p:nvPr/>
          </p:nvSpPr>
          <p:spPr>
            <a:xfrm>
              <a:off x="2591054" y="1160081"/>
              <a:ext cx="3371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232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 dirty="0">
                <a:latin typeface="Cambria Math"/>
                <a:cs typeface="Cambria Math"/>
              </a:endParaRPr>
            </a:p>
          </p:txBody>
        </p:sp>
        <p:pic>
          <p:nvPicPr>
            <p:cNvPr id="125" name="object 19">
              <a:extLst>
                <a:ext uri="{FF2B5EF4-FFF2-40B4-BE49-F238E27FC236}">
                  <a16:creationId xmlns:a16="http://schemas.microsoft.com/office/drawing/2014/main" id="{9F9F72B4-7E4C-725D-7709-489E9CB2E6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325" y="1278000"/>
              <a:ext cx="174371" cy="158876"/>
            </a:xfrm>
            <a:prstGeom prst="rect">
              <a:avLst/>
            </a:prstGeom>
          </p:spPr>
        </p:pic>
        <p:sp>
          <p:nvSpPr>
            <p:cNvPr id="126" name="object 20">
              <a:extLst>
                <a:ext uri="{FF2B5EF4-FFF2-40B4-BE49-F238E27FC236}">
                  <a16:creationId xmlns:a16="http://schemas.microsoft.com/office/drawing/2014/main" id="{A18EA579-8B31-7E9B-78AF-48C82C0A1960}"/>
                </a:ext>
              </a:extLst>
            </p:cNvPr>
            <p:cNvSpPr txBox="1"/>
            <p:nvPr/>
          </p:nvSpPr>
          <p:spPr>
            <a:xfrm>
              <a:off x="3077591" y="1245806"/>
              <a:ext cx="5657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−</a:t>
              </a:r>
              <a:r>
                <a:rPr sz="1800" spc="-50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C00000"/>
                  </a:solidFill>
                  <a:latin typeface="Cambria Math"/>
                  <a:cs typeface="Cambria Math"/>
                </a:rPr>
                <a:t>𝑦</a:t>
              </a:r>
              <a:r>
                <a:rPr sz="1800" spc="19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25" spc="67" baseline="26748" dirty="0">
                  <a:latin typeface="Cambria Math"/>
                  <a:cs typeface="Cambria Math"/>
                </a:rPr>
                <a:t>𝑖</a:t>
              </a:r>
              <a:endParaRPr sz="2025" baseline="26748">
                <a:latin typeface="Cambria Math"/>
                <a:cs typeface="Cambria Math"/>
              </a:endParaRPr>
            </a:p>
          </p:txBody>
        </p:sp>
      </p:grp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B6350864-C17D-BA18-6173-CB1AD489B219}"/>
              </a:ext>
            </a:extLst>
          </p:cNvPr>
          <p:cNvSpPr/>
          <p:nvPr/>
        </p:nvSpPr>
        <p:spPr>
          <a:xfrm>
            <a:off x="1425257" y="975614"/>
            <a:ext cx="2689543" cy="7499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  <p:sp>
        <p:nvSpPr>
          <p:cNvPr id="132" name="Bent-Up Arrow 131">
            <a:extLst>
              <a:ext uri="{FF2B5EF4-FFF2-40B4-BE49-F238E27FC236}">
                <a16:creationId xmlns:a16="http://schemas.microsoft.com/office/drawing/2014/main" id="{D8A18921-FD1B-F0E4-B0B4-015B412BBC39}"/>
              </a:ext>
            </a:extLst>
          </p:cNvPr>
          <p:cNvSpPr/>
          <p:nvPr/>
        </p:nvSpPr>
        <p:spPr>
          <a:xfrm rot="5400000">
            <a:off x="1673804" y="1716983"/>
            <a:ext cx="352002" cy="53258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45C8D4C-2949-95F3-ED0F-259DAB1F1053}"/>
              </a:ext>
            </a:extLst>
          </p:cNvPr>
          <p:cNvSpPr txBox="1"/>
          <p:nvPr/>
        </p:nvSpPr>
        <p:spPr>
          <a:xfrm>
            <a:off x="4463242" y="1023030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</a:rPr>
              <a:t>j = 1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81E1466-499A-5D4A-6F25-FAF2A3096536}"/>
              </a:ext>
            </a:extLst>
          </p:cNvPr>
          <p:cNvGrpSpPr/>
          <p:nvPr/>
        </p:nvGrpSpPr>
        <p:grpSpPr>
          <a:xfrm>
            <a:off x="4490162" y="2347143"/>
            <a:ext cx="4064884" cy="640308"/>
            <a:chOff x="375920" y="1074102"/>
            <a:chExt cx="3744976" cy="640308"/>
          </a:xfrm>
        </p:grpSpPr>
        <p:sp>
          <p:nvSpPr>
            <p:cNvPr id="152" name="object 7">
              <a:extLst>
                <a:ext uri="{FF2B5EF4-FFF2-40B4-BE49-F238E27FC236}">
                  <a16:creationId xmlns:a16="http://schemas.microsoft.com/office/drawing/2014/main" id="{7FD6F3DB-B583-87C6-CEAF-FA9797211CDF}"/>
                </a:ext>
              </a:extLst>
            </p:cNvPr>
            <p:cNvSpPr/>
            <p:nvPr/>
          </p:nvSpPr>
          <p:spPr>
            <a:xfrm>
              <a:off x="1493138" y="1418081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9">
              <a:extLst>
                <a:ext uri="{FF2B5EF4-FFF2-40B4-BE49-F238E27FC236}">
                  <a16:creationId xmlns:a16="http://schemas.microsoft.com/office/drawing/2014/main" id="{A6665D46-767D-CAF6-4149-00B4552FD5FC}"/>
                </a:ext>
              </a:extLst>
            </p:cNvPr>
            <p:cNvSpPr txBox="1"/>
            <p:nvPr/>
          </p:nvSpPr>
          <p:spPr>
            <a:xfrm>
              <a:off x="1482089" y="1398587"/>
              <a:ext cx="217804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𝑚</a:t>
              </a:r>
              <a:endParaRPr sz="1800">
                <a:latin typeface="Cambria Math"/>
                <a:cs typeface="Cambria Math"/>
              </a:endParaRPr>
            </a:p>
          </p:txBody>
        </p:sp>
        <p:sp>
          <p:nvSpPr>
            <p:cNvPr id="154" name="object 10">
              <a:extLst>
                <a:ext uri="{FF2B5EF4-FFF2-40B4-BE49-F238E27FC236}">
                  <a16:creationId xmlns:a16="http://schemas.microsoft.com/office/drawing/2014/main" id="{C916F30F-007B-5C02-1899-74CAA1FE73E8}"/>
                </a:ext>
              </a:extLst>
            </p:cNvPr>
            <p:cNvSpPr txBox="1"/>
            <p:nvPr/>
          </p:nvSpPr>
          <p:spPr>
            <a:xfrm>
              <a:off x="1720021" y="1493837"/>
              <a:ext cx="560013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95" dirty="0">
                  <a:latin typeface="Cambria Math"/>
                  <a:cs typeface="Cambria Math"/>
                </a:rPr>
                <a:t>𝑖</a:t>
              </a:r>
              <a:r>
                <a:rPr sz="1350" spc="-35" dirty="0">
                  <a:latin typeface="Cambria Math"/>
                  <a:cs typeface="Cambria Math"/>
                </a:rPr>
                <a:t>=</a:t>
              </a:r>
              <a:r>
                <a:rPr sz="1350" spc="35" dirty="0">
                  <a:latin typeface="Cambria Math"/>
                  <a:cs typeface="Cambria Math"/>
                </a:rPr>
                <a:t>1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55" name="object 11">
              <a:extLst>
                <a:ext uri="{FF2B5EF4-FFF2-40B4-BE49-F238E27FC236}">
                  <a16:creationId xmlns:a16="http://schemas.microsoft.com/office/drawing/2014/main" id="{760B8A34-FC11-51C4-7BAA-A5732D1C9299}"/>
                </a:ext>
              </a:extLst>
            </p:cNvPr>
            <p:cNvSpPr txBox="1"/>
            <p:nvPr/>
          </p:nvSpPr>
          <p:spPr>
            <a:xfrm>
              <a:off x="1736376" y="1109431"/>
              <a:ext cx="18605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55" dirty="0">
                  <a:latin typeface="Cambria Math"/>
                  <a:cs typeface="Cambria Math"/>
                </a:rPr>
                <a:t>𝑚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56" name="object 12">
              <a:extLst>
                <a:ext uri="{FF2B5EF4-FFF2-40B4-BE49-F238E27FC236}">
                  <a16:creationId xmlns:a16="http://schemas.microsoft.com/office/drawing/2014/main" id="{ABC1A01B-3034-BB44-66EA-9772E047148E}"/>
                </a:ext>
              </a:extLst>
            </p:cNvPr>
            <p:cNvSpPr/>
            <p:nvPr/>
          </p:nvSpPr>
          <p:spPr>
            <a:xfrm>
              <a:off x="2118100" y="1281302"/>
              <a:ext cx="1648724" cy="276225"/>
            </a:xfrm>
            <a:custGeom>
              <a:avLst/>
              <a:gdLst/>
              <a:ahLst/>
              <a:cxnLst/>
              <a:rect l="l" t="t" r="r" b="b"/>
              <a:pathLst>
                <a:path w="1720214" h="276225">
                  <a:moveTo>
                    <a:pt x="1647311" y="0"/>
                  </a:moveTo>
                  <a:lnTo>
                    <a:pt x="1644517" y="9271"/>
                  </a:lnTo>
                  <a:lnTo>
                    <a:pt x="1657211" y="15819"/>
                  </a:lnTo>
                  <a:lnTo>
                    <a:pt x="1668250" y="25368"/>
                  </a:lnTo>
                  <a:lnTo>
                    <a:pt x="1691485" y="71616"/>
                  </a:lnTo>
                  <a:lnTo>
                    <a:pt x="1698394" y="114010"/>
                  </a:lnTo>
                  <a:lnTo>
                    <a:pt x="1699254" y="138302"/>
                  </a:lnTo>
                  <a:lnTo>
                    <a:pt x="1698394" y="162446"/>
                  </a:lnTo>
                  <a:lnTo>
                    <a:pt x="1691485" y="204686"/>
                  </a:lnTo>
                  <a:lnTo>
                    <a:pt x="1668250" y="250920"/>
                  </a:lnTo>
                  <a:lnTo>
                    <a:pt x="1644517" y="267081"/>
                  </a:lnTo>
                  <a:lnTo>
                    <a:pt x="1647311" y="276225"/>
                  </a:lnTo>
                  <a:lnTo>
                    <a:pt x="1690495" y="246060"/>
                  </a:lnTo>
                  <a:lnTo>
                    <a:pt x="1709219" y="208720"/>
                  </a:lnTo>
                  <a:lnTo>
                    <a:pt x="1718657" y="163468"/>
                  </a:lnTo>
                  <a:lnTo>
                    <a:pt x="1719828" y="138175"/>
                  </a:lnTo>
                  <a:lnTo>
                    <a:pt x="1718657" y="112863"/>
                  </a:lnTo>
                  <a:lnTo>
                    <a:pt x="1709219" y="67524"/>
                  </a:lnTo>
                  <a:lnTo>
                    <a:pt x="1690495" y="30182"/>
                  </a:lnTo>
                  <a:lnTo>
                    <a:pt x="1663721" y="6457"/>
                  </a:lnTo>
                  <a:lnTo>
                    <a:pt x="1647311" y="0"/>
                  </a:lnTo>
                  <a:close/>
                </a:path>
                <a:path w="1720214" h="276225">
                  <a:moveTo>
                    <a:pt x="72511" y="0"/>
                  </a:moveTo>
                  <a:lnTo>
                    <a:pt x="29220" y="30182"/>
                  </a:lnTo>
                  <a:lnTo>
                    <a:pt x="10549" y="67524"/>
                  </a:lnTo>
                  <a:lnTo>
                    <a:pt x="1162" y="112863"/>
                  </a:lnTo>
                  <a:lnTo>
                    <a:pt x="0" y="138302"/>
                  </a:lnTo>
                  <a:lnTo>
                    <a:pt x="1162" y="163468"/>
                  </a:lnTo>
                  <a:lnTo>
                    <a:pt x="10549" y="20872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512"/>
                  </a:lnTo>
                  <a:lnTo>
                    <a:pt x="51572" y="250920"/>
                  </a:lnTo>
                  <a:lnTo>
                    <a:pt x="28336" y="204686"/>
                  </a:lnTo>
                  <a:lnTo>
                    <a:pt x="21427" y="162446"/>
                  </a:lnTo>
                  <a:lnTo>
                    <a:pt x="20572" y="138175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572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object 13">
                  <a:extLst>
                    <a:ext uri="{FF2B5EF4-FFF2-40B4-BE49-F238E27FC236}">
                      <a16:creationId xmlns:a16="http://schemas.microsoft.com/office/drawing/2014/main" id="{5AFC96C3-3DE9-22E8-5C18-89CB6C1D7703}"/>
                    </a:ext>
                  </a:extLst>
                </p:cNvPr>
                <p:cNvSpPr txBox="1"/>
                <p:nvPr/>
              </p:nvSpPr>
              <p:spPr>
                <a:xfrm>
                  <a:off x="375920" y="1074102"/>
                  <a:ext cx="1986289" cy="47743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156970">
                    <a:lnSpc>
                      <a:spcPts val="1755"/>
                    </a:lnSpc>
                    <a:spcBef>
                      <a:spcPts val="100"/>
                    </a:spcBef>
                  </a:pPr>
                  <a:r>
                    <a:rPr lang="en-US" sz="1800" dirty="0">
                      <a:latin typeface="Cambria Math"/>
                      <a:cs typeface="Cambria Math"/>
                    </a:rPr>
                    <a:t>1</a:t>
                  </a:r>
                </a:p>
                <a:p>
                  <a:pPr marL="12700">
                    <a:lnSpc>
                      <a:spcPts val="1755"/>
                    </a:lnSpc>
                    <a:tabLst>
                      <a:tab pos="1346835" algn="l"/>
                    </a:tabLst>
                  </a:pPr>
                  <a:r>
                    <a:rPr lang="en-US"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𝑤</a:t>
                  </a:r>
                  <a:r>
                    <a:rPr lang="en-US" sz="1800" baseline="-250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n</a:t>
                  </a:r>
                  <a:r>
                    <a:rPr lang="en-US" sz="1800" spc="14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lang="en-US" sz="1800" dirty="0">
                      <a:latin typeface="Cambria Math"/>
                      <a:cs typeface="Cambria Math"/>
                    </a:rPr>
                    <a:t>=</a:t>
                  </a:r>
                  <a:r>
                    <a:rPr lang="en-US" sz="1800" spc="130" dirty="0">
                      <a:latin typeface="Cambria Math"/>
                      <a:cs typeface="Cambria Math"/>
                    </a:rPr>
                    <a:t> </a:t>
                  </a:r>
                  <a:r>
                    <a:rPr lang="en-US"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𝑤</a:t>
                  </a:r>
                  <a:r>
                    <a:rPr lang="en-US" sz="1800" baseline="-250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n</a:t>
                  </a:r>
                  <a:r>
                    <a:rPr lang="en-US" sz="1800" spc="-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lang="en-US" sz="1800" dirty="0">
                      <a:latin typeface="Cambria Math"/>
                      <a:cs typeface="Cambria Math"/>
                    </a:rPr>
                    <a:t>−𝛼 	</a:t>
                  </a:r>
                  <a14:m>
                    <m:oMath xmlns:m="http://schemas.openxmlformats.org/officeDocument/2006/math">
                      <m:r>
                        <a:rPr lang="en-US" sz="2000" b="0" i="0" spc="585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000" i="1" spc="585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Σ</m:t>
                      </m:r>
                    </m:oMath>
                  </a14:m>
                  <a:r>
                    <a:rPr lang="el-GR" sz="1800" dirty="0">
                      <a:latin typeface="Cambria Math"/>
                      <a:cs typeface="Cambria Math"/>
                    </a:rPr>
                    <a:t>𝑓</a:t>
                  </a:r>
                  <a:endParaRPr sz="1800" dirty="0">
                    <a:latin typeface="Cambria Math"/>
                    <a:cs typeface="Cambria Math"/>
                  </a:endParaRPr>
                </a:p>
              </p:txBody>
            </p:sp>
          </mc:Choice>
          <mc:Fallback xmlns="">
            <p:sp>
              <p:nvSpPr>
                <p:cNvPr id="157" name="object 13">
                  <a:extLst>
                    <a:ext uri="{FF2B5EF4-FFF2-40B4-BE49-F238E27FC236}">
                      <a16:creationId xmlns:a16="http://schemas.microsoft.com/office/drawing/2014/main" id="{5AFC96C3-3DE9-22E8-5C18-89CB6C1D7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920" y="1074102"/>
                  <a:ext cx="1986289" cy="477438"/>
                </a:xfrm>
                <a:prstGeom prst="rect">
                  <a:avLst/>
                </a:prstGeom>
                <a:blipFill>
                  <a:blip r:embed="rId5"/>
                  <a:stretch>
                    <a:fillRect l="-5848" t="-17949" b="-30769"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object 14">
              <a:extLst>
                <a:ext uri="{FF2B5EF4-FFF2-40B4-BE49-F238E27FC236}">
                  <a16:creationId xmlns:a16="http://schemas.microsoft.com/office/drawing/2014/main" id="{5409D5FD-EDAE-A0AE-BDE1-04EBCB434967}"/>
                </a:ext>
              </a:extLst>
            </p:cNvPr>
            <p:cNvSpPr txBox="1"/>
            <p:nvPr/>
          </p:nvSpPr>
          <p:spPr>
            <a:xfrm>
              <a:off x="2206625" y="1350581"/>
              <a:ext cx="473202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6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350" spc="20" dirty="0">
                  <a:latin typeface="Cambria Math"/>
                  <a:cs typeface="Cambria Math"/>
                </a:rPr>
                <a:t>,</a:t>
              </a:r>
              <a:r>
                <a:rPr sz="1350" spc="15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350" dirty="0">
                <a:latin typeface="Cambria Math"/>
                <a:cs typeface="Cambria Math"/>
              </a:endParaRPr>
            </a:p>
          </p:txBody>
        </p:sp>
        <p:grpSp>
          <p:nvGrpSpPr>
            <p:cNvPr id="159" name="object 15">
              <a:extLst>
                <a:ext uri="{FF2B5EF4-FFF2-40B4-BE49-F238E27FC236}">
                  <a16:creationId xmlns:a16="http://schemas.microsoft.com/office/drawing/2014/main" id="{86D90582-8258-8FC8-7EA6-B03C498DBDB2}"/>
                </a:ext>
              </a:extLst>
            </p:cNvPr>
            <p:cNvGrpSpPr/>
            <p:nvPr/>
          </p:nvGrpSpPr>
          <p:grpSpPr>
            <a:xfrm>
              <a:off x="2541910" y="1278000"/>
              <a:ext cx="510540" cy="280035"/>
              <a:chOff x="2541910" y="1278000"/>
              <a:chExt cx="510540" cy="280035"/>
            </a:xfrm>
          </p:grpSpPr>
          <p:sp>
            <p:nvSpPr>
              <p:cNvPr id="165" name="object 16">
                <a:extLst>
                  <a:ext uri="{FF2B5EF4-FFF2-40B4-BE49-F238E27FC236}">
                    <a16:creationId xmlns:a16="http://schemas.microsoft.com/office/drawing/2014/main" id="{6D1E47F9-20A5-CE00-863E-E36A0866A600}"/>
                  </a:ext>
                </a:extLst>
              </p:cNvPr>
              <p:cNvSpPr/>
              <p:nvPr/>
            </p:nvSpPr>
            <p:spPr>
              <a:xfrm>
                <a:off x="2541910" y="1281302"/>
                <a:ext cx="51054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276225">
                    <a:moveTo>
                      <a:pt x="437636" y="0"/>
                    </a:moveTo>
                    <a:lnTo>
                      <a:pt x="434842" y="9271"/>
                    </a:lnTo>
                    <a:lnTo>
                      <a:pt x="447536" y="15819"/>
                    </a:lnTo>
                    <a:lnTo>
                      <a:pt x="458575" y="25368"/>
                    </a:lnTo>
                    <a:lnTo>
                      <a:pt x="481810" y="71616"/>
                    </a:lnTo>
                    <a:lnTo>
                      <a:pt x="488719" y="114010"/>
                    </a:lnTo>
                    <a:lnTo>
                      <a:pt x="489579" y="138302"/>
                    </a:lnTo>
                    <a:lnTo>
                      <a:pt x="488719" y="162446"/>
                    </a:lnTo>
                    <a:lnTo>
                      <a:pt x="481810" y="204686"/>
                    </a:lnTo>
                    <a:lnTo>
                      <a:pt x="458575" y="250920"/>
                    </a:lnTo>
                    <a:lnTo>
                      <a:pt x="434842" y="267081"/>
                    </a:lnTo>
                    <a:lnTo>
                      <a:pt x="437636" y="276225"/>
                    </a:lnTo>
                    <a:lnTo>
                      <a:pt x="480820" y="246060"/>
                    </a:lnTo>
                    <a:lnTo>
                      <a:pt x="499544" y="208720"/>
                    </a:lnTo>
                    <a:lnTo>
                      <a:pt x="508982" y="163468"/>
                    </a:lnTo>
                    <a:lnTo>
                      <a:pt x="510153" y="138175"/>
                    </a:lnTo>
                    <a:lnTo>
                      <a:pt x="508982" y="112863"/>
                    </a:lnTo>
                    <a:lnTo>
                      <a:pt x="499544" y="67524"/>
                    </a:lnTo>
                    <a:lnTo>
                      <a:pt x="480820" y="30182"/>
                    </a:lnTo>
                    <a:lnTo>
                      <a:pt x="454046" y="6457"/>
                    </a:lnTo>
                    <a:lnTo>
                      <a:pt x="437636" y="0"/>
                    </a:lnTo>
                    <a:close/>
                  </a:path>
                  <a:path w="510539" h="276225">
                    <a:moveTo>
                      <a:pt x="72511" y="0"/>
                    </a:moveTo>
                    <a:lnTo>
                      <a:pt x="29220" y="30182"/>
                    </a:lnTo>
                    <a:lnTo>
                      <a:pt x="10549" y="67524"/>
                    </a:lnTo>
                    <a:lnTo>
                      <a:pt x="1162" y="112863"/>
                    </a:lnTo>
                    <a:lnTo>
                      <a:pt x="0" y="138302"/>
                    </a:lnTo>
                    <a:lnTo>
                      <a:pt x="1162" y="163468"/>
                    </a:lnTo>
                    <a:lnTo>
                      <a:pt x="10549" y="208720"/>
                    </a:lnTo>
                    <a:lnTo>
                      <a:pt x="29220" y="246060"/>
                    </a:lnTo>
                    <a:lnTo>
                      <a:pt x="72511" y="276225"/>
                    </a:lnTo>
                    <a:lnTo>
                      <a:pt x="75305" y="267081"/>
                    </a:lnTo>
                    <a:lnTo>
                      <a:pt x="62611" y="260512"/>
                    </a:lnTo>
                    <a:lnTo>
                      <a:pt x="51572" y="250920"/>
                    </a:lnTo>
                    <a:lnTo>
                      <a:pt x="28336" y="204686"/>
                    </a:lnTo>
                    <a:lnTo>
                      <a:pt x="21427" y="162446"/>
                    </a:lnTo>
                    <a:lnTo>
                      <a:pt x="20572" y="138175"/>
                    </a:lnTo>
                    <a:lnTo>
                      <a:pt x="21427" y="114010"/>
                    </a:lnTo>
                    <a:lnTo>
                      <a:pt x="28336" y="71616"/>
                    </a:lnTo>
                    <a:lnTo>
                      <a:pt x="51572" y="25368"/>
                    </a:lnTo>
                    <a:lnTo>
                      <a:pt x="75305" y="9271"/>
                    </a:lnTo>
                    <a:lnTo>
                      <a:pt x="7251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6" name="object 17">
                <a:extLst>
                  <a:ext uri="{FF2B5EF4-FFF2-40B4-BE49-F238E27FC236}">
                    <a16:creationId xmlns:a16="http://schemas.microsoft.com/office/drawing/2014/main" id="{E6FEFCCA-D957-A011-128E-079725E1C6B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4950" y="1278000"/>
                <a:ext cx="174370" cy="158876"/>
              </a:xfrm>
              <a:prstGeom prst="rect">
                <a:avLst/>
              </a:prstGeom>
            </p:spPr>
          </p:pic>
        </p:grpSp>
        <p:sp>
          <p:nvSpPr>
            <p:cNvPr id="160" name="object 18">
              <a:extLst>
                <a:ext uri="{FF2B5EF4-FFF2-40B4-BE49-F238E27FC236}">
                  <a16:creationId xmlns:a16="http://schemas.microsoft.com/office/drawing/2014/main" id="{BD2F51FD-4E94-3EA6-07C5-D271200890B1}"/>
                </a:ext>
              </a:extLst>
            </p:cNvPr>
            <p:cNvSpPr txBox="1"/>
            <p:nvPr/>
          </p:nvSpPr>
          <p:spPr>
            <a:xfrm>
              <a:off x="2591054" y="1160081"/>
              <a:ext cx="3371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232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>
                <a:latin typeface="Cambria Math"/>
                <a:cs typeface="Cambria Math"/>
              </a:endParaRPr>
            </a:p>
          </p:txBody>
        </p:sp>
        <p:pic>
          <p:nvPicPr>
            <p:cNvPr id="161" name="object 19">
              <a:extLst>
                <a:ext uri="{FF2B5EF4-FFF2-40B4-BE49-F238E27FC236}">
                  <a16:creationId xmlns:a16="http://schemas.microsoft.com/office/drawing/2014/main" id="{F91A6242-4928-3262-4F22-46FA6944ECB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325" y="1278000"/>
              <a:ext cx="174371" cy="158876"/>
            </a:xfrm>
            <a:prstGeom prst="rect">
              <a:avLst/>
            </a:prstGeom>
          </p:spPr>
        </p:pic>
        <p:sp>
          <p:nvSpPr>
            <p:cNvPr id="162" name="object 20">
              <a:extLst>
                <a:ext uri="{FF2B5EF4-FFF2-40B4-BE49-F238E27FC236}">
                  <a16:creationId xmlns:a16="http://schemas.microsoft.com/office/drawing/2014/main" id="{01418945-5C86-DBC1-A276-A3EBBD958445}"/>
                </a:ext>
              </a:extLst>
            </p:cNvPr>
            <p:cNvSpPr txBox="1"/>
            <p:nvPr/>
          </p:nvSpPr>
          <p:spPr>
            <a:xfrm>
              <a:off x="3077591" y="1245806"/>
              <a:ext cx="5657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−</a:t>
              </a:r>
              <a:r>
                <a:rPr sz="1800" spc="-50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C00000"/>
                  </a:solidFill>
                  <a:latin typeface="Cambria Math"/>
                  <a:cs typeface="Cambria Math"/>
                </a:rPr>
                <a:t>𝑦</a:t>
              </a:r>
              <a:r>
                <a:rPr sz="1800" spc="19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25" spc="67" baseline="26748" dirty="0">
                  <a:latin typeface="Cambria Math"/>
                  <a:cs typeface="Cambria Math"/>
                </a:rPr>
                <a:t>𝑖</a:t>
              </a:r>
              <a:endParaRPr sz="2025" baseline="26748">
                <a:latin typeface="Cambria Math"/>
                <a:cs typeface="Cambria Math"/>
              </a:endParaRPr>
            </a:p>
          </p:txBody>
        </p:sp>
        <p:pic>
          <p:nvPicPr>
            <p:cNvPr id="163" name="object 21">
              <a:extLst>
                <a:ext uri="{FF2B5EF4-FFF2-40B4-BE49-F238E27FC236}">
                  <a16:creationId xmlns:a16="http://schemas.microsoft.com/office/drawing/2014/main" id="{0C31975F-E5CB-E7EA-7C2A-00C6A74C756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6525" y="1278000"/>
              <a:ext cx="174371" cy="158876"/>
            </a:xfrm>
            <a:prstGeom prst="rect">
              <a:avLst/>
            </a:prstGeom>
          </p:spPr>
        </p:pic>
        <p:sp>
          <p:nvSpPr>
            <p:cNvPr id="164" name="object 22">
              <a:extLst>
                <a:ext uri="{FF2B5EF4-FFF2-40B4-BE49-F238E27FC236}">
                  <a16:creationId xmlns:a16="http://schemas.microsoft.com/office/drawing/2014/main" id="{258E7C0B-91DA-31C9-3F8B-2892DD129405}"/>
                </a:ext>
              </a:extLst>
            </p:cNvPr>
            <p:cNvSpPr txBox="1"/>
            <p:nvPr/>
          </p:nvSpPr>
          <p:spPr>
            <a:xfrm>
              <a:off x="3754501" y="1160081"/>
              <a:ext cx="34671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33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>
                <a:latin typeface="Cambria Math"/>
                <a:cs typeface="Cambria Math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E1BC3DEF-71E1-AB5B-376B-9463DC7A4D39}"/>
              </a:ext>
            </a:extLst>
          </p:cNvPr>
          <p:cNvSpPr txBox="1"/>
          <p:nvPr/>
        </p:nvSpPr>
        <p:spPr>
          <a:xfrm>
            <a:off x="4746567" y="1803862"/>
            <a:ext cx="242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/>
              <a:t>.</a:t>
            </a:r>
          </a:p>
          <a:p>
            <a:r>
              <a:rPr lang="en-PS" dirty="0"/>
              <a:t>.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C8EA19A-C094-942D-168F-B375689AEA2F}"/>
              </a:ext>
            </a:extLst>
          </p:cNvPr>
          <p:cNvGrpSpPr/>
          <p:nvPr/>
        </p:nvGrpSpPr>
        <p:grpSpPr>
          <a:xfrm>
            <a:off x="4611751" y="1287100"/>
            <a:ext cx="4072466" cy="640308"/>
            <a:chOff x="375920" y="1074102"/>
            <a:chExt cx="3744976" cy="640308"/>
          </a:xfrm>
        </p:grpSpPr>
        <p:sp>
          <p:nvSpPr>
            <p:cNvPr id="169" name="object 7">
              <a:extLst>
                <a:ext uri="{FF2B5EF4-FFF2-40B4-BE49-F238E27FC236}">
                  <a16:creationId xmlns:a16="http://schemas.microsoft.com/office/drawing/2014/main" id="{314FD8B3-5CE1-6064-80F0-280EABE0318D}"/>
                </a:ext>
              </a:extLst>
            </p:cNvPr>
            <p:cNvSpPr/>
            <p:nvPr/>
          </p:nvSpPr>
          <p:spPr>
            <a:xfrm>
              <a:off x="1493138" y="1418081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9">
              <a:extLst>
                <a:ext uri="{FF2B5EF4-FFF2-40B4-BE49-F238E27FC236}">
                  <a16:creationId xmlns:a16="http://schemas.microsoft.com/office/drawing/2014/main" id="{9C12A66C-E4EA-967B-ADCF-97E4DDF4012B}"/>
                </a:ext>
              </a:extLst>
            </p:cNvPr>
            <p:cNvSpPr txBox="1"/>
            <p:nvPr/>
          </p:nvSpPr>
          <p:spPr>
            <a:xfrm>
              <a:off x="1482089" y="1398587"/>
              <a:ext cx="217804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𝑚</a:t>
              </a:r>
              <a:endParaRPr sz="1800">
                <a:latin typeface="Cambria Math"/>
                <a:cs typeface="Cambria Math"/>
              </a:endParaRPr>
            </a:p>
          </p:txBody>
        </p:sp>
        <p:sp>
          <p:nvSpPr>
            <p:cNvPr id="171" name="object 10">
              <a:extLst>
                <a:ext uri="{FF2B5EF4-FFF2-40B4-BE49-F238E27FC236}">
                  <a16:creationId xmlns:a16="http://schemas.microsoft.com/office/drawing/2014/main" id="{F5EC9E74-2003-2C9F-821D-8684C8F9F118}"/>
                </a:ext>
              </a:extLst>
            </p:cNvPr>
            <p:cNvSpPr txBox="1"/>
            <p:nvPr/>
          </p:nvSpPr>
          <p:spPr>
            <a:xfrm>
              <a:off x="1720021" y="1493837"/>
              <a:ext cx="560013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95" dirty="0">
                  <a:latin typeface="Cambria Math"/>
                  <a:cs typeface="Cambria Math"/>
                </a:rPr>
                <a:t>𝑖</a:t>
              </a:r>
              <a:r>
                <a:rPr sz="1350" spc="-35" dirty="0">
                  <a:latin typeface="Cambria Math"/>
                  <a:cs typeface="Cambria Math"/>
                </a:rPr>
                <a:t>=</a:t>
              </a:r>
              <a:r>
                <a:rPr sz="1350" spc="35" dirty="0">
                  <a:latin typeface="Cambria Math"/>
                  <a:cs typeface="Cambria Math"/>
                </a:rPr>
                <a:t>1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72" name="object 11">
              <a:extLst>
                <a:ext uri="{FF2B5EF4-FFF2-40B4-BE49-F238E27FC236}">
                  <a16:creationId xmlns:a16="http://schemas.microsoft.com/office/drawing/2014/main" id="{CD8DB6C3-103D-5C68-2C8D-F31F191475C6}"/>
                </a:ext>
              </a:extLst>
            </p:cNvPr>
            <p:cNvSpPr txBox="1"/>
            <p:nvPr/>
          </p:nvSpPr>
          <p:spPr>
            <a:xfrm>
              <a:off x="1736376" y="1109431"/>
              <a:ext cx="18605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55" dirty="0">
                  <a:latin typeface="Cambria Math"/>
                  <a:cs typeface="Cambria Math"/>
                </a:rPr>
                <a:t>𝑚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73" name="object 12">
              <a:extLst>
                <a:ext uri="{FF2B5EF4-FFF2-40B4-BE49-F238E27FC236}">
                  <a16:creationId xmlns:a16="http://schemas.microsoft.com/office/drawing/2014/main" id="{E77E80DE-2BBB-8D89-CB78-EDB99A876CD5}"/>
                </a:ext>
              </a:extLst>
            </p:cNvPr>
            <p:cNvSpPr/>
            <p:nvPr/>
          </p:nvSpPr>
          <p:spPr>
            <a:xfrm>
              <a:off x="2118100" y="1281302"/>
              <a:ext cx="1648724" cy="276225"/>
            </a:xfrm>
            <a:custGeom>
              <a:avLst/>
              <a:gdLst/>
              <a:ahLst/>
              <a:cxnLst/>
              <a:rect l="l" t="t" r="r" b="b"/>
              <a:pathLst>
                <a:path w="1720214" h="276225">
                  <a:moveTo>
                    <a:pt x="1647311" y="0"/>
                  </a:moveTo>
                  <a:lnTo>
                    <a:pt x="1644517" y="9271"/>
                  </a:lnTo>
                  <a:lnTo>
                    <a:pt x="1657211" y="15819"/>
                  </a:lnTo>
                  <a:lnTo>
                    <a:pt x="1668250" y="25368"/>
                  </a:lnTo>
                  <a:lnTo>
                    <a:pt x="1691485" y="71616"/>
                  </a:lnTo>
                  <a:lnTo>
                    <a:pt x="1698394" y="114010"/>
                  </a:lnTo>
                  <a:lnTo>
                    <a:pt x="1699254" y="138302"/>
                  </a:lnTo>
                  <a:lnTo>
                    <a:pt x="1698394" y="162446"/>
                  </a:lnTo>
                  <a:lnTo>
                    <a:pt x="1691485" y="204686"/>
                  </a:lnTo>
                  <a:lnTo>
                    <a:pt x="1668250" y="250920"/>
                  </a:lnTo>
                  <a:lnTo>
                    <a:pt x="1644517" y="267081"/>
                  </a:lnTo>
                  <a:lnTo>
                    <a:pt x="1647311" y="276225"/>
                  </a:lnTo>
                  <a:lnTo>
                    <a:pt x="1690495" y="246060"/>
                  </a:lnTo>
                  <a:lnTo>
                    <a:pt x="1709219" y="208720"/>
                  </a:lnTo>
                  <a:lnTo>
                    <a:pt x="1718657" y="163468"/>
                  </a:lnTo>
                  <a:lnTo>
                    <a:pt x="1719828" y="138175"/>
                  </a:lnTo>
                  <a:lnTo>
                    <a:pt x="1718657" y="112863"/>
                  </a:lnTo>
                  <a:lnTo>
                    <a:pt x="1709219" y="67524"/>
                  </a:lnTo>
                  <a:lnTo>
                    <a:pt x="1690495" y="30182"/>
                  </a:lnTo>
                  <a:lnTo>
                    <a:pt x="1663721" y="6457"/>
                  </a:lnTo>
                  <a:lnTo>
                    <a:pt x="1647311" y="0"/>
                  </a:lnTo>
                  <a:close/>
                </a:path>
                <a:path w="1720214" h="276225">
                  <a:moveTo>
                    <a:pt x="72511" y="0"/>
                  </a:moveTo>
                  <a:lnTo>
                    <a:pt x="29220" y="30182"/>
                  </a:lnTo>
                  <a:lnTo>
                    <a:pt x="10549" y="67524"/>
                  </a:lnTo>
                  <a:lnTo>
                    <a:pt x="1162" y="112863"/>
                  </a:lnTo>
                  <a:lnTo>
                    <a:pt x="0" y="138302"/>
                  </a:lnTo>
                  <a:lnTo>
                    <a:pt x="1162" y="163468"/>
                  </a:lnTo>
                  <a:lnTo>
                    <a:pt x="10549" y="20872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512"/>
                  </a:lnTo>
                  <a:lnTo>
                    <a:pt x="51572" y="250920"/>
                  </a:lnTo>
                  <a:lnTo>
                    <a:pt x="28336" y="204686"/>
                  </a:lnTo>
                  <a:lnTo>
                    <a:pt x="21427" y="162446"/>
                  </a:lnTo>
                  <a:lnTo>
                    <a:pt x="20572" y="138175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572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object 13">
                  <a:extLst>
                    <a:ext uri="{FF2B5EF4-FFF2-40B4-BE49-F238E27FC236}">
                      <a16:creationId xmlns:a16="http://schemas.microsoft.com/office/drawing/2014/main" id="{A0C7857E-FF83-0EF4-FB87-10C119B4A0CD}"/>
                    </a:ext>
                  </a:extLst>
                </p:cNvPr>
                <p:cNvSpPr txBox="1"/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156970">
                    <a:lnSpc>
                      <a:spcPts val="1755"/>
                    </a:lnSpc>
                    <a:spcBef>
                      <a:spcPts val="100"/>
                    </a:spcBef>
                  </a:pPr>
                  <a:r>
                    <a:rPr lang="en-GB" sz="1800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1</a:t>
                  </a:r>
                </a:p>
                <a:p>
                  <a:pPr marL="12700">
                    <a:lnSpc>
                      <a:spcPts val="1755"/>
                    </a:lnSpc>
                    <a:tabLst>
                      <a:tab pos="1346835" algn="l"/>
                    </a:tabLst>
                  </a:pPr>
                  <a:r>
                    <a:rPr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𝑤</a:t>
                  </a:r>
                  <a:r>
                    <a:rPr lang="en-GB" sz="1800" baseline="-250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1</a:t>
                  </a:r>
                  <a:r>
                    <a:rPr sz="1800" spc="14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=</a:t>
                  </a:r>
                  <a:r>
                    <a:rPr sz="1800" spc="130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𝑤</a:t>
                  </a:r>
                  <a:r>
                    <a:rPr lang="en-GB" sz="1800" baseline="-250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1</a:t>
                  </a:r>
                  <a:r>
                    <a:rPr sz="1800" dirty="0">
                      <a:latin typeface="Cambria Math"/>
                      <a:cs typeface="Cambria Math"/>
                    </a:rPr>
                    <a:t>−</a:t>
                  </a:r>
                  <a:r>
                    <a:rPr sz="1800" spc="65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𝛼	</a:t>
                  </a:r>
                  <a:r>
                    <a:rPr lang="en-GB" sz="1800" dirty="0">
                      <a:latin typeface="Cambria Math"/>
                      <a:cs typeface="Cambria Math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pc="585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Σ</m:t>
                      </m:r>
                    </m:oMath>
                  </a14:m>
                  <a:r>
                    <a:rPr sz="1800" dirty="0">
                      <a:latin typeface="Cambria Math"/>
                      <a:cs typeface="Cambria Math"/>
                    </a:rPr>
                    <a:t>𝑓</a:t>
                  </a:r>
                </a:p>
              </p:txBody>
            </p:sp>
          </mc:Choice>
          <mc:Fallback xmlns="">
            <p:sp>
              <p:nvSpPr>
                <p:cNvPr id="174" name="object 13">
                  <a:extLst>
                    <a:ext uri="{FF2B5EF4-FFF2-40B4-BE49-F238E27FC236}">
                      <a16:creationId xmlns:a16="http://schemas.microsoft.com/office/drawing/2014/main" id="{A0C7857E-FF83-0EF4-FB87-10C119B4A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  <a:blipFill>
                  <a:blip r:embed="rId6"/>
                  <a:stretch>
                    <a:fillRect l="-6748" t="-21053" b="-31579"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object 14">
              <a:extLst>
                <a:ext uri="{FF2B5EF4-FFF2-40B4-BE49-F238E27FC236}">
                  <a16:creationId xmlns:a16="http://schemas.microsoft.com/office/drawing/2014/main" id="{2C2645A7-3D65-617E-6F7F-FA02D9821FA1}"/>
                </a:ext>
              </a:extLst>
            </p:cNvPr>
            <p:cNvSpPr txBox="1"/>
            <p:nvPr/>
          </p:nvSpPr>
          <p:spPr>
            <a:xfrm>
              <a:off x="2206625" y="1350581"/>
              <a:ext cx="473202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6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350" spc="20" dirty="0">
                  <a:latin typeface="Cambria Math"/>
                  <a:cs typeface="Cambria Math"/>
                </a:rPr>
                <a:t>,</a:t>
              </a:r>
              <a:r>
                <a:rPr sz="1350" spc="15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350" dirty="0">
                <a:latin typeface="Cambria Math"/>
                <a:cs typeface="Cambria Math"/>
              </a:endParaRPr>
            </a:p>
          </p:txBody>
        </p:sp>
        <p:grpSp>
          <p:nvGrpSpPr>
            <p:cNvPr id="176" name="object 15">
              <a:extLst>
                <a:ext uri="{FF2B5EF4-FFF2-40B4-BE49-F238E27FC236}">
                  <a16:creationId xmlns:a16="http://schemas.microsoft.com/office/drawing/2014/main" id="{18BE579D-1B12-1630-D6A6-F245516D452D}"/>
                </a:ext>
              </a:extLst>
            </p:cNvPr>
            <p:cNvGrpSpPr/>
            <p:nvPr/>
          </p:nvGrpSpPr>
          <p:grpSpPr>
            <a:xfrm>
              <a:off x="2541910" y="1278000"/>
              <a:ext cx="510540" cy="280035"/>
              <a:chOff x="2541910" y="1278000"/>
              <a:chExt cx="510540" cy="280035"/>
            </a:xfrm>
          </p:grpSpPr>
          <p:sp>
            <p:nvSpPr>
              <p:cNvPr id="182" name="object 16">
                <a:extLst>
                  <a:ext uri="{FF2B5EF4-FFF2-40B4-BE49-F238E27FC236}">
                    <a16:creationId xmlns:a16="http://schemas.microsoft.com/office/drawing/2014/main" id="{B9786E3C-0545-8114-2657-E85CAE2D42F1}"/>
                  </a:ext>
                </a:extLst>
              </p:cNvPr>
              <p:cNvSpPr/>
              <p:nvPr/>
            </p:nvSpPr>
            <p:spPr>
              <a:xfrm>
                <a:off x="2541910" y="1281302"/>
                <a:ext cx="51054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276225">
                    <a:moveTo>
                      <a:pt x="437636" y="0"/>
                    </a:moveTo>
                    <a:lnTo>
                      <a:pt x="434842" y="9271"/>
                    </a:lnTo>
                    <a:lnTo>
                      <a:pt x="447536" y="15819"/>
                    </a:lnTo>
                    <a:lnTo>
                      <a:pt x="458575" y="25368"/>
                    </a:lnTo>
                    <a:lnTo>
                      <a:pt x="481810" y="71616"/>
                    </a:lnTo>
                    <a:lnTo>
                      <a:pt x="488719" y="114010"/>
                    </a:lnTo>
                    <a:lnTo>
                      <a:pt x="489579" y="138302"/>
                    </a:lnTo>
                    <a:lnTo>
                      <a:pt x="488719" y="162446"/>
                    </a:lnTo>
                    <a:lnTo>
                      <a:pt x="481810" y="204686"/>
                    </a:lnTo>
                    <a:lnTo>
                      <a:pt x="458575" y="250920"/>
                    </a:lnTo>
                    <a:lnTo>
                      <a:pt x="434842" y="267081"/>
                    </a:lnTo>
                    <a:lnTo>
                      <a:pt x="437636" y="276225"/>
                    </a:lnTo>
                    <a:lnTo>
                      <a:pt x="480820" y="246060"/>
                    </a:lnTo>
                    <a:lnTo>
                      <a:pt x="499544" y="208720"/>
                    </a:lnTo>
                    <a:lnTo>
                      <a:pt x="508982" y="163468"/>
                    </a:lnTo>
                    <a:lnTo>
                      <a:pt x="510153" y="138175"/>
                    </a:lnTo>
                    <a:lnTo>
                      <a:pt x="508982" y="112863"/>
                    </a:lnTo>
                    <a:lnTo>
                      <a:pt x="499544" y="67524"/>
                    </a:lnTo>
                    <a:lnTo>
                      <a:pt x="480820" y="30182"/>
                    </a:lnTo>
                    <a:lnTo>
                      <a:pt x="454046" y="6457"/>
                    </a:lnTo>
                    <a:lnTo>
                      <a:pt x="437636" y="0"/>
                    </a:lnTo>
                    <a:close/>
                  </a:path>
                  <a:path w="510539" h="276225">
                    <a:moveTo>
                      <a:pt x="72511" y="0"/>
                    </a:moveTo>
                    <a:lnTo>
                      <a:pt x="29220" y="30182"/>
                    </a:lnTo>
                    <a:lnTo>
                      <a:pt x="10549" y="67524"/>
                    </a:lnTo>
                    <a:lnTo>
                      <a:pt x="1162" y="112863"/>
                    </a:lnTo>
                    <a:lnTo>
                      <a:pt x="0" y="138302"/>
                    </a:lnTo>
                    <a:lnTo>
                      <a:pt x="1162" y="163468"/>
                    </a:lnTo>
                    <a:lnTo>
                      <a:pt x="10549" y="208720"/>
                    </a:lnTo>
                    <a:lnTo>
                      <a:pt x="29220" y="246060"/>
                    </a:lnTo>
                    <a:lnTo>
                      <a:pt x="72511" y="276225"/>
                    </a:lnTo>
                    <a:lnTo>
                      <a:pt x="75305" y="267081"/>
                    </a:lnTo>
                    <a:lnTo>
                      <a:pt x="62611" y="260512"/>
                    </a:lnTo>
                    <a:lnTo>
                      <a:pt x="51572" y="250920"/>
                    </a:lnTo>
                    <a:lnTo>
                      <a:pt x="28336" y="204686"/>
                    </a:lnTo>
                    <a:lnTo>
                      <a:pt x="21427" y="162446"/>
                    </a:lnTo>
                    <a:lnTo>
                      <a:pt x="20572" y="138175"/>
                    </a:lnTo>
                    <a:lnTo>
                      <a:pt x="21427" y="114010"/>
                    </a:lnTo>
                    <a:lnTo>
                      <a:pt x="28336" y="71616"/>
                    </a:lnTo>
                    <a:lnTo>
                      <a:pt x="51572" y="25368"/>
                    </a:lnTo>
                    <a:lnTo>
                      <a:pt x="75305" y="9271"/>
                    </a:lnTo>
                    <a:lnTo>
                      <a:pt x="7251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3" name="object 17">
                <a:extLst>
                  <a:ext uri="{FF2B5EF4-FFF2-40B4-BE49-F238E27FC236}">
                    <a16:creationId xmlns:a16="http://schemas.microsoft.com/office/drawing/2014/main" id="{53C90EA9-0B7E-1619-F045-85D509282E1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4950" y="1278000"/>
                <a:ext cx="174370" cy="158876"/>
              </a:xfrm>
              <a:prstGeom prst="rect">
                <a:avLst/>
              </a:prstGeom>
            </p:spPr>
          </p:pic>
        </p:grpSp>
        <p:sp>
          <p:nvSpPr>
            <p:cNvPr id="177" name="object 18">
              <a:extLst>
                <a:ext uri="{FF2B5EF4-FFF2-40B4-BE49-F238E27FC236}">
                  <a16:creationId xmlns:a16="http://schemas.microsoft.com/office/drawing/2014/main" id="{8BDCFCE9-7F71-834C-235F-2C717D6C74F7}"/>
                </a:ext>
              </a:extLst>
            </p:cNvPr>
            <p:cNvSpPr txBox="1"/>
            <p:nvPr/>
          </p:nvSpPr>
          <p:spPr>
            <a:xfrm>
              <a:off x="2591054" y="1160081"/>
              <a:ext cx="3371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232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 dirty="0">
                <a:latin typeface="Cambria Math"/>
                <a:cs typeface="Cambria Math"/>
              </a:endParaRPr>
            </a:p>
          </p:txBody>
        </p:sp>
        <p:pic>
          <p:nvPicPr>
            <p:cNvPr id="178" name="object 19">
              <a:extLst>
                <a:ext uri="{FF2B5EF4-FFF2-40B4-BE49-F238E27FC236}">
                  <a16:creationId xmlns:a16="http://schemas.microsoft.com/office/drawing/2014/main" id="{E77B730C-95FB-DC4A-1B43-8EE43688836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325" y="1278000"/>
              <a:ext cx="174371" cy="158876"/>
            </a:xfrm>
            <a:prstGeom prst="rect">
              <a:avLst/>
            </a:prstGeom>
          </p:spPr>
        </p:pic>
        <p:sp>
          <p:nvSpPr>
            <p:cNvPr id="179" name="object 20">
              <a:extLst>
                <a:ext uri="{FF2B5EF4-FFF2-40B4-BE49-F238E27FC236}">
                  <a16:creationId xmlns:a16="http://schemas.microsoft.com/office/drawing/2014/main" id="{AF1990D0-9F9A-099F-347D-09FAEB443F63}"/>
                </a:ext>
              </a:extLst>
            </p:cNvPr>
            <p:cNvSpPr txBox="1"/>
            <p:nvPr/>
          </p:nvSpPr>
          <p:spPr>
            <a:xfrm>
              <a:off x="3077591" y="1245806"/>
              <a:ext cx="5657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−</a:t>
              </a:r>
              <a:r>
                <a:rPr sz="1800" spc="-50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C00000"/>
                  </a:solidFill>
                  <a:latin typeface="Cambria Math"/>
                  <a:cs typeface="Cambria Math"/>
                </a:rPr>
                <a:t>𝑦</a:t>
              </a:r>
              <a:r>
                <a:rPr sz="1800" spc="19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25" spc="67" baseline="26748" dirty="0">
                  <a:latin typeface="Cambria Math"/>
                  <a:cs typeface="Cambria Math"/>
                </a:rPr>
                <a:t>𝑖</a:t>
              </a:r>
              <a:endParaRPr sz="2025" baseline="26748">
                <a:latin typeface="Cambria Math"/>
                <a:cs typeface="Cambria Math"/>
              </a:endParaRPr>
            </a:p>
          </p:txBody>
        </p:sp>
        <p:pic>
          <p:nvPicPr>
            <p:cNvPr id="180" name="object 21">
              <a:extLst>
                <a:ext uri="{FF2B5EF4-FFF2-40B4-BE49-F238E27FC236}">
                  <a16:creationId xmlns:a16="http://schemas.microsoft.com/office/drawing/2014/main" id="{D088EB94-E047-9B8D-5CD6-14CE944692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6525" y="1278000"/>
              <a:ext cx="174371" cy="158876"/>
            </a:xfrm>
            <a:prstGeom prst="rect">
              <a:avLst/>
            </a:prstGeom>
          </p:spPr>
        </p:pic>
        <p:sp>
          <p:nvSpPr>
            <p:cNvPr id="181" name="object 22">
              <a:extLst>
                <a:ext uri="{FF2B5EF4-FFF2-40B4-BE49-F238E27FC236}">
                  <a16:creationId xmlns:a16="http://schemas.microsoft.com/office/drawing/2014/main" id="{CC82D96D-10C1-1BA9-756D-F871035B1401}"/>
                </a:ext>
              </a:extLst>
            </p:cNvPr>
            <p:cNvSpPr txBox="1"/>
            <p:nvPr/>
          </p:nvSpPr>
          <p:spPr>
            <a:xfrm>
              <a:off x="3754501" y="1160081"/>
              <a:ext cx="34671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33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>
                <a:latin typeface="Cambria Math"/>
                <a:cs typeface="Cambria Math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69C1095-C68A-E722-4DCA-5BB5DC5CD3C8}"/>
              </a:ext>
            </a:extLst>
          </p:cNvPr>
          <p:cNvGrpSpPr/>
          <p:nvPr/>
        </p:nvGrpSpPr>
        <p:grpSpPr>
          <a:xfrm>
            <a:off x="4735635" y="3336852"/>
            <a:ext cx="3390904" cy="640308"/>
            <a:chOff x="375920" y="1074102"/>
            <a:chExt cx="3390904" cy="640308"/>
          </a:xfrm>
        </p:grpSpPr>
        <p:sp>
          <p:nvSpPr>
            <p:cNvPr id="185" name="object 7">
              <a:extLst>
                <a:ext uri="{FF2B5EF4-FFF2-40B4-BE49-F238E27FC236}">
                  <a16:creationId xmlns:a16="http://schemas.microsoft.com/office/drawing/2014/main" id="{6441E7B6-1171-CF18-D30B-747313867B56}"/>
                </a:ext>
              </a:extLst>
            </p:cNvPr>
            <p:cNvSpPr/>
            <p:nvPr/>
          </p:nvSpPr>
          <p:spPr>
            <a:xfrm>
              <a:off x="1493138" y="1418081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9">
              <a:extLst>
                <a:ext uri="{FF2B5EF4-FFF2-40B4-BE49-F238E27FC236}">
                  <a16:creationId xmlns:a16="http://schemas.microsoft.com/office/drawing/2014/main" id="{F5751B4A-97D9-1FC1-8523-A453D5FE8371}"/>
                </a:ext>
              </a:extLst>
            </p:cNvPr>
            <p:cNvSpPr txBox="1"/>
            <p:nvPr/>
          </p:nvSpPr>
          <p:spPr>
            <a:xfrm>
              <a:off x="1482089" y="1398587"/>
              <a:ext cx="217804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𝑚</a:t>
              </a:r>
              <a:endParaRPr sz="1800">
                <a:latin typeface="Cambria Math"/>
                <a:cs typeface="Cambria Math"/>
              </a:endParaRPr>
            </a:p>
          </p:txBody>
        </p:sp>
        <p:sp>
          <p:nvSpPr>
            <p:cNvPr id="187" name="object 10">
              <a:extLst>
                <a:ext uri="{FF2B5EF4-FFF2-40B4-BE49-F238E27FC236}">
                  <a16:creationId xmlns:a16="http://schemas.microsoft.com/office/drawing/2014/main" id="{271DEA70-F798-1A7B-95E5-C2971405F868}"/>
                </a:ext>
              </a:extLst>
            </p:cNvPr>
            <p:cNvSpPr txBox="1"/>
            <p:nvPr/>
          </p:nvSpPr>
          <p:spPr>
            <a:xfrm>
              <a:off x="1720021" y="1493837"/>
              <a:ext cx="560013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95" dirty="0">
                  <a:latin typeface="Cambria Math"/>
                  <a:cs typeface="Cambria Math"/>
                </a:rPr>
                <a:t>𝑖</a:t>
              </a:r>
              <a:r>
                <a:rPr sz="1350" spc="-35" dirty="0">
                  <a:latin typeface="Cambria Math"/>
                  <a:cs typeface="Cambria Math"/>
                </a:rPr>
                <a:t>=</a:t>
              </a:r>
              <a:r>
                <a:rPr sz="1350" spc="35" dirty="0">
                  <a:latin typeface="Cambria Math"/>
                  <a:cs typeface="Cambria Math"/>
                </a:rPr>
                <a:t>1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88" name="object 11">
              <a:extLst>
                <a:ext uri="{FF2B5EF4-FFF2-40B4-BE49-F238E27FC236}">
                  <a16:creationId xmlns:a16="http://schemas.microsoft.com/office/drawing/2014/main" id="{4AA1457E-ACED-2A44-8107-8862CD39645E}"/>
                </a:ext>
              </a:extLst>
            </p:cNvPr>
            <p:cNvSpPr txBox="1"/>
            <p:nvPr/>
          </p:nvSpPr>
          <p:spPr>
            <a:xfrm>
              <a:off x="1736376" y="1109431"/>
              <a:ext cx="186055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55" dirty="0">
                  <a:latin typeface="Cambria Math"/>
                  <a:cs typeface="Cambria Math"/>
                </a:rPr>
                <a:t>𝑚</a:t>
              </a:r>
              <a:endParaRPr sz="1350" dirty="0">
                <a:latin typeface="Cambria Math"/>
                <a:cs typeface="Cambria Math"/>
              </a:endParaRPr>
            </a:p>
          </p:txBody>
        </p:sp>
        <p:sp>
          <p:nvSpPr>
            <p:cNvPr id="189" name="object 12">
              <a:extLst>
                <a:ext uri="{FF2B5EF4-FFF2-40B4-BE49-F238E27FC236}">
                  <a16:creationId xmlns:a16="http://schemas.microsoft.com/office/drawing/2014/main" id="{D4987D7A-4B0B-83DF-CE98-A476300A10FD}"/>
                </a:ext>
              </a:extLst>
            </p:cNvPr>
            <p:cNvSpPr/>
            <p:nvPr/>
          </p:nvSpPr>
          <p:spPr>
            <a:xfrm>
              <a:off x="2118100" y="1281302"/>
              <a:ext cx="1648724" cy="276225"/>
            </a:xfrm>
            <a:custGeom>
              <a:avLst/>
              <a:gdLst/>
              <a:ahLst/>
              <a:cxnLst/>
              <a:rect l="l" t="t" r="r" b="b"/>
              <a:pathLst>
                <a:path w="1720214" h="276225">
                  <a:moveTo>
                    <a:pt x="1647311" y="0"/>
                  </a:moveTo>
                  <a:lnTo>
                    <a:pt x="1644517" y="9271"/>
                  </a:lnTo>
                  <a:lnTo>
                    <a:pt x="1657211" y="15819"/>
                  </a:lnTo>
                  <a:lnTo>
                    <a:pt x="1668250" y="25368"/>
                  </a:lnTo>
                  <a:lnTo>
                    <a:pt x="1691485" y="71616"/>
                  </a:lnTo>
                  <a:lnTo>
                    <a:pt x="1698394" y="114010"/>
                  </a:lnTo>
                  <a:lnTo>
                    <a:pt x="1699254" y="138302"/>
                  </a:lnTo>
                  <a:lnTo>
                    <a:pt x="1698394" y="162446"/>
                  </a:lnTo>
                  <a:lnTo>
                    <a:pt x="1691485" y="204686"/>
                  </a:lnTo>
                  <a:lnTo>
                    <a:pt x="1668250" y="250920"/>
                  </a:lnTo>
                  <a:lnTo>
                    <a:pt x="1644517" y="267081"/>
                  </a:lnTo>
                  <a:lnTo>
                    <a:pt x="1647311" y="276225"/>
                  </a:lnTo>
                  <a:lnTo>
                    <a:pt x="1690495" y="246060"/>
                  </a:lnTo>
                  <a:lnTo>
                    <a:pt x="1709219" y="208720"/>
                  </a:lnTo>
                  <a:lnTo>
                    <a:pt x="1718657" y="163468"/>
                  </a:lnTo>
                  <a:lnTo>
                    <a:pt x="1719828" y="138175"/>
                  </a:lnTo>
                  <a:lnTo>
                    <a:pt x="1718657" y="112863"/>
                  </a:lnTo>
                  <a:lnTo>
                    <a:pt x="1709219" y="67524"/>
                  </a:lnTo>
                  <a:lnTo>
                    <a:pt x="1690495" y="30182"/>
                  </a:lnTo>
                  <a:lnTo>
                    <a:pt x="1663721" y="6457"/>
                  </a:lnTo>
                  <a:lnTo>
                    <a:pt x="1647311" y="0"/>
                  </a:lnTo>
                  <a:close/>
                </a:path>
                <a:path w="1720214" h="276225">
                  <a:moveTo>
                    <a:pt x="72511" y="0"/>
                  </a:moveTo>
                  <a:lnTo>
                    <a:pt x="29220" y="30182"/>
                  </a:lnTo>
                  <a:lnTo>
                    <a:pt x="10549" y="67524"/>
                  </a:lnTo>
                  <a:lnTo>
                    <a:pt x="1162" y="112863"/>
                  </a:lnTo>
                  <a:lnTo>
                    <a:pt x="0" y="138302"/>
                  </a:lnTo>
                  <a:lnTo>
                    <a:pt x="1162" y="163468"/>
                  </a:lnTo>
                  <a:lnTo>
                    <a:pt x="10549" y="20872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512"/>
                  </a:lnTo>
                  <a:lnTo>
                    <a:pt x="51572" y="250920"/>
                  </a:lnTo>
                  <a:lnTo>
                    <a:pt x="28336" y="204686"/>
                  </a:lnTo>
                  <a:lnTo>
                    <a:pt x="21427" y="162446"/>
                  </a:lnTo>
                  <a:lnTo>
                    <a:pt x="20572" y="138175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572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object 13">
                  <a:extLst>
                    <a:ext uri="{FF2B5EF4-FFF2-40B4-BE49-F238E27FC236}">
                      <a16:creationId xmlns:a16="http://schemas.microsoft.com/office/drawing/2014/main" id="{6FACACC1-0121-5AFF-93DA-BE8179391F95}"/>
                    </a:ext>
                  </a:extLst>
                </p:cNvPr>
                <p:cNvSpPr txBox="1"/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156970">
                    <a:lnSpc>
                      <a:spcPts val="1755"/>
                    </a:lnSpc>
                    <a:spcBef>
                      <a:spcPts val="100"/>
                    </a:spcBef>
                  </a:pPr>
                  <a:r>
                    <a:rPr sz="1800" dirty="0">
                      <a:latin typeface="Cambria Math"/>
                      <a:cs typeface="Cambria Math"/>
                    </a:rPr>
                    <a:t>1</a:t>
                  </a:r>
                </a:p>
                <a:p>
                  <a:pPr marL="12700">
                    <a:lnSpc>
                      <a:spcPts val="1755"/>
                    </a:lnSpc>
                    <a:tabLst>
                      <a:tab pos="1346835" algn="l"/>
                    </a:tabLst>
                  </a:pPr>
                  <a:r>
                    <a:rPr lang="en-GB"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b</a:t>
                  </a:r>
                  <a:r>
                    <a:rPr sz="1800" spc="14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=</a:t>
                  </a:r>
                  <a:r>
                    <a:rPr sz="1800" spc="130" dirty="0">
                      <a:latin typeface="Cambria Math"/>
                      <a:cs typeface="Cambria Math"/>
                    </a:rPr>
                    <a:t> </a:t>
                  </a:r>
                  <a:r>
                    <a:rPr lang="en-GB" sz="180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b</a:t>
                  </a:r>
                  <a:r>
                    <a:rPr sz="1800" spc="-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−</a:t>
                  </a:r>
                  <a:r>
                    <a:rPr sz="1800" spc="65" dirty="0">
                      <a:latin typeface="Cambria Math"/>
                      <a:cs typeface="Cambria Math"/>
                    </a:rPr>
                    <a:t> </a:t>
                  </a:r>
                  <a:r>
                    <a:rPr sz="1800" dirty="0">
                      <a:latin typeface="Cambria Math"/>
                      <a:cs typeface="Cambria Math"/>
                    </a:rPr>
                    <a:t>𝛼	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pc="585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Σ</m:t>
                      </m:r>
                    </m:oMath>
                  </a14:m>
                  <a:r>
                    <a:rPr sz="1800" dirty="0">
                      <a:latin typeface="Cambria Math"/>
                      <a:cs typeface="Cambria Math"/>
                    </a:rPr>
                    <a:t>𝑓</a:t>
                  </a:r>
                </a:p>
              </p:txBody>
            </p:sp>
          </mc:Choice>
          <mc:Fallback xmlns="">
            <p:sp>
              <p:nvSpPr>
                <p:cNvPr id="190" name="object 13">
                  <a:extLst>
                    <a:ext uri="{FF2B5EF4-FFF2-40B4-BE49-F238E27FC236}">
                      <a16:creationId xmlns:a16="http://schemas.microsoft.com/office/drawing/2014/main" id="{6FACACC1-0121-5AFF-93DA-BE8179391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920" y="1074102"/>
                  <a:ext cx="1896745" cy="477438"/>
                </a:xfrm>
                <a:prstGeom prst="rect">
                  <a:avLst/>
                </a:prstGeom>
                <a:blipFill>
                  <a:blip r:embed="rId7"/>
                  <a:stretch>
                    <a:fillRect l="-6623" t="-20513" b="-28205"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1" name="object 14">
              <a:extLst>
                <a:ext uri="{FF2B5EF4-FFF2-40B4-BE49-F238E27FC236}">
                  <a16:creationId xmlns:a16="http://schemas.microsoft.com/office/drawing/2014/main" id="{DE73EAAB-37A4-A5B1-B7B3-9E7B2DECE027}"/>
                </a:ext>
              </a:extLst>
            </p:cNvPr>
            <p:cNvSpPr txBox="1"/>
            <p:nvPr/>
          </p:nvSpPr>
          <p:spPr>
            <a:xfrm>
              <a:off x="2206625" y="1350581"/>
              <a:ext cx="473202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16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350" spc="20" dirty="0">
                  <a:latin typeface="Cambria Math"/>
                  <a:cs typeface="Cambria Math"/>
                </a:rPr>
                <a:t>,</a:t>
              </a:r>
              <a:r>
                <a:rPr sz="1350" spc="15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350" dirty="0">
                <a:latin typeface="Cambria Math"/>
                <a:cs typeface="Cambria Math"/>
              </a:endParaRPr>
            </a:p>
          </p:txBody>
        </p:sp>
        <p:grpSp>
          <p:nvGrpSpPr>
            <p:cNvPr id="192" name="object 15">
              <a:extLst>
                <a:ext uri="{FF2B5EF4-FFF2-40B4-BE49-F238E27FC236}">
                  <a16:creationId xmlns:a16="http://schemas.microsoft.com/office/drawing/2014/main" id="{3A3749F7-6F6F-5EE1-51F3-64318DFF6EEA}"/>
                </a:ext>
              </a:extLst>
            </p:cNvPr>
            <p:cNvGrpSpPr/>
            <p:nvPr/>
          </p:nvGrpSpPr>
          <p:grpSpPr>
            <a:xfrm>
              <a:off x="2541910" y="1278000"/>
              <a:ext cx="510540" cy="280035"/>
              <a:chOff x="2541910" y="1278000"/>
              <a:chExt cx="510540" cy="280035"/>
            </a:xfrm>
          </p:grpSpPr>
          <p:sp>
            <p:nvSpPr>
              <p:cNvPr id="196" name="object 16">
                <a:extLst>
                  <a:ext uri="{FF2B5EF4-FFF2-40B4-BE49-F238E27FC236}">
                    <a16:creationId xmlns:a16="http://schemas.microsoft.com/office/drawing/2014/main" id="{B4ACA21D-B6AB-C920-940A-2B02F98888F4}"/>
                  </a:ext>
                </a:extLst>
              </p:cNvPr>
              <p:cNvSpPr/>
              <p:nvPr/>
            </p:nvSpPr>
            <p:spPr>
              <a:xfrm>
                <a:off x="2541910" y="1281302"/>
                <a:ext cx="51054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276225">
                    <a:moveTo>
                      <a:pt x="437636" y="0"/>
                    </a:moveTo>
                    <a:lnTo>
                      <a:pt x="434842" y="9271"/>
                    </a:lnTo>
                    <a:lnTo>
                      <a:pt x="447536" y="15819"/>
                    </a:lnTo>
                    <a:lnTo>
                      <a:pt x="458575" y="25368"/>
                    </a:lnTo>
                    <a:lnTo>
                      <a:pt x="481810" y="71616"/>
                    </a:lnTo>
                    <a:lnTo>
                      <a:pt x="488719" y="114010"/>
                    </a:lnTo>
                    <a:lnTo>
                      <a:pt x="489579" y="138302"/>
                    </a:lnTo>
                    <a:lnTo>
                      <a:pt x="488719" y="162446"/>
                    </a:lnTo>
                    <a:lnTo>
                      <a:pt x="481810" y="204686"/>
                    </a:lnTo>
                    <a:lnTo>
                      <a:pt x="458575" y="250920"/>
                    </a:lnTo>
                    <a:lnTo>
                      <a:pt x="434842" y="267081"/>
                    </a:lnTo>
                    <a:lnTo>
                      <a:pt x="437636" y="276225"/>
                    </a:lnTo>
                    <a:lnTo>
                      <a:pt x="480820" y="246060"/>
                    </a:lnTo>
                    <a:lnTo>
                      <a:pt x="499544" y="208720"/>
                    </a:lnTo>
                    <a:lnTo>
                      <a:pt x="508982" y="163468"/>
                    </a:lnTo>
                    <a:lnTo>
                      <a:pt x="510153" y="138175"/>
                    </a:lnTo>
                    <a:lnTo>
                      <a:pt x="508982" y="112863"/>
                    </a:lnTo>
                    <a:lnTo>
                      <a:pt x="499544" y="67524"/>
                    </a:lnTo>
                    <a:lnTo>
                      <a:pt x="480820" y="30182"/>
                    </a:lnTo>
                    <a:lnTo>
                      <a:pt x="454046" y="6457"/>
                    </a:lnTo>
                    <a:lnTo>
                      <a:pt x="437636" y="0"/>
                    </a:lnTo>
                    <a:close/>
                  </a:path>
                  <a:path w="510539" h="276225">
                    <a:moveTo>
                      <a:pt x="72511" y="0"/>
                    </a:moveTo>
                    <a:lnTo>
                      <a:pt x="29220" y="30182"/>
                    </a:lnTo>
                    <a:lnTo>
                      <a:pt x="10549" y="67524"/>
                    </a:lnTo>
                    <a:lnTo>
                      <a:pt x="1162" y="112863"/>
                    </a:lnTo>
                    <a:lnTo>
                      <a:pt x="0" y="138302"/>
                    </a:lnTo>
                    <a:lnTo>
                      <a:pt x="1162" y="163468"/>
                    </a:lnTo>
                    <a:lnTo>
                      <a:pt x="10549" y="208720"/>
                    </a:lnTo>
                    <a:lnTo>
                      <a:pt x="29220" y="246060"/>
                    </a:lnTo>
                    <a:lnTo>
                      <a:pt x="72511" y="276225"/>
                    </a:lnTo>
                    <a:lnTo>
                      <a:pt x="75305" y="267081"/>
                    </a:lnTo>
                    <a:lnTo>
                      <a:pt x="62611" y="260512"/>
                    </a:lnTo>
                    <a:lnTo>
                      <a:pt x="51572" y="250920"/>
                    </a:lnTo>
                    <a:lnTo>
                      <a:pt x="28336" y="204686"/>
                    </a:lnTo>
                    <a:lnTo>
                      <a:pt x="21427" y="162446"/>
                    </a:lnTo>
                    <a:lnTo>
                      <a:pt x="20572" y="138175"/>
                    </a:lnTo>
                    <a:lnTo>
                      <a:pt x="21427" y="114010"/>
                    </a:lnTo>
                    <a:lnTo>
                      <a:pt x="28336" y="71616"/>
                    </a:lnTo>
                    <a:lnTo>
                      <a:pt x="51572" y="25368"/>
                    </a:lnTo>
                    <a:lnTo>
                      <a:pt x="75305" y="9271"/>
                    </a:lnTo>
                    <a:lnTo>
                      <a:pt x="7251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7" name="object 17">
                <a:extLst>
                  <a:ext uri="{FF2B5EF4-FFF2-40B4-BE49-F238E27FC236}">
                    <a16:creationId xmlns:a16="http://schemas.microsoft.com/office/drawing/2014/main" id="{BAB2561C-2B1C-4EA0-01E7-049535BF8AF5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4950" y="1278000"/>
                <a:ext cx="174370" cy="158876"/>
              </a:xfrm>
              <a:prstGeom prst="rect">
                <a:avLst/>
              </a:prstGeom>
            </p:spPr>
          </p:pic>
        </p:grpSp>
        <p:sp>
          <p:nvSpPr>
            <p:cNvPr id="193" name="object 18">
              <a:extLst>
                <a:ext uri="{FF2B5EF4-FFF2-40B4-BE49-F238E27FC236}">
                  <a16:creationId xmlns:a16="http://schemas.microsoft.com/office/drawing/2014/main" id="{69A3CCA8-ED25-0603-983B-EDA2FA595589}"/>
                </a:ext>
              </a:extLst>
            </p:cNvPr>
            <p:cNvSpPr txBox="1"/>
            <p:nvPr/>
          </p:nvSpPr>
          <p:spPr>
            <a:xfrm>
              <a:off x="2591054" y="1160081"/>
              <a:ext cx="3371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700" spc="232" baseline="-21604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1350" spc="45" dirty="0">
                  <a:latin typeface="Cambria Math"/>
                  <a:cs typeface="Cambria Math"/>
                </a:rPr>
                <a:t>𝑖</a:t>
              </a:r>
              <a:endParaRPr sz="1350" dirty="0">
                <a:latin typeface="Cambria Math"/>
                <a:cs typeface="Cambria Math"/>
              </a:endParaRPr>
            </a:p>
          </p:txBody>
        </p:sp>
        <p:pic>
          <p:nvPicPr>
            <p:cNvPr id="194" name="object 19">
              <a:extLst>
                <a:ext uri="{FF2B5EF4-FFF2-40B4-BE49-F238E27FC236}">
                  <a16:creationId xmlns:a16="http://schemas.microsoft.com/office/drawing/2014/main" id="{054A2B15-2AF8-5BF4-8DB4-FD85A78288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325" y="1278000"/>
              <a:ext cx="174371" cy="158876"/>
            </a:xfrm>
            <a:prstGeom prst="rect">
              <a:avLst/>
            </a:prstGeom>
          </p:spPr>
        </p:pic>
        <p:sp>
          <p:nvSpPr>
            <p:cNvPr id="195" name="object 20">
              <a:extLst>
                <a:ext uri="{FF2B5EF4-FFF2-40B4-BE49-F238E27FC236}">
                  <a16:creationId xmlns:a16="http://schemas.microsoft.com/office/drawing/2014/main" id="{3AAC1E06-45B7-E32D-9D28-0F970161E0B8}"/>
                </a:ext>
              </a:extLst>
            </p:cNvPr>
            <p:cNvSpPr txBox="1"/>
            <p:nvPr/>
          </p:nvSpPr>
          <p:spPr>
            <a:xfrm>
              <a:off x="3077591" y="1245806"/>
              <a:ext cx="56578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mbria Math"/>
                  <a:cs typeface="Cambria Math"/>
                </a:rPr>
                <a:t>−</a:t>
              </a:r>
              <a:r>
                <a:rPr sz="1800" spc="-50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C00000"/>
                  </a:solidFill>
                  <a:latin typeface="Cambria Math"/>
                  <a:cs typeface="Cambria Math"/>
                </a:rPr>
                <a:t>𝑦</a:t>
              </a:r>
              <a:r>
                <a:rPr sz="1800" spc="19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25" spc="67" baseline="26748" dirty="0">
                  <a:latin typeface="Cambria Math"/>
                  <a:cs typeface="Cambria Math"/>
                </a:rPr>
                <a:t>𝑖</a:t>
              </a:r>
              <a:endParaRPr sz="2025" baseline="26748">
                <a:latin typeface="Cambria Math"/>
                <a:cs typeface="Cambria Math"/>
              </a:endParaRPr>
            </a:p>
          </p:txBody>
        </p:sp>
      </p:grpSp>
      <p:sp>
        <p:nvSpPr>
          <p:cNvPr id="198" name="object 41">
            <a:extLst>
              <a:ext uri="{FF2B5EF4-FFF2-40B4-BE49-F238E27FC236}">
                <a16:creationId xmlns:a16="http://schemas.microsoft.com/office/drawing/2014/main" id="{656369F9-2E16-BD63-109C-FE4B8B3AA872}"/>
              </a:ext>
            </a:extLst>
          </p:cNvPr>
          <p:cNvSpPr txBox="1"/>
          <p:nvPr/>
        </p:nvSpPr>
        <p:spPr>
          <a:xfrm>
            <a:off x="4893628" y="4199804"/>
            <a:ext cx="114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}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9608467-50C7-41A6-7E90-23DA3198D13B}"/>
              </a:ext>
            </a:extLst>
          </p:cNvPr>
          <p:cNvSpPr txBox="1"/>
          <p:nvPr/>
        </p:nvSpPr>
        <p:spPr>
          <a:xfrm>
            <a:off x="5562855" y="4241976"/>
            <a:ext cx="248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</a:rPr>
              <a:t>simultaneous update </a:t>
            </a:r>
          </a:p>
          <a:p>
            <a:r>
              <a:rPr lang="en-PS" dirty="0">
                <a:solidFill>
                  <a:srgbClr val="0432FF"/>
                </a:solidFill>
              </a:rPr>
              <a:t>w</a:t>
            </a:r>
            <a:r>
              <a:rPr lang="en-PS" baseline="-25000" dirty="0">
                <a:solidFill>
                  <a:srgbClr val="0432FF"/>
                </a:solidFill>
              </a:rPr>
              <a:t>j </a:t>
            </a:r>
            <a:r>
              <a:rPr lang="en-PS" dirty="0">
                <a:solidFill>
                  <a:srgbClr val="0432FF"/>
                </a:solidFill>
              </a:rPr>
              <a:t> for j = 1 ... n) and b</a:t>
            </a:r>
          </a:p>
        </p:txBody>
      </p:sp>
      <p:sp>
        <p:nvSpPr>
          <p:cNvPr id="27" name="Bent-Up Arrow 26">
            <a:extLst>
              <a:ext uri="{FF2B5EF4-FFF2-40B4-BE49-F238E27FC236}">
                <a16:creationId xmlns:a16="http://schemas.microsoft.com/office/drawing/2014/main" id="{647AB47B-604A-054B-2D31-FCC4C8538FFC}"/>
              </a:ext>
            </a:extLst>
          </p:cNvPr>
          <p:cNvSpPr/>
          <p:nvPr/>
        </p:nvSpPr>
        <p:spPr>
          <a:xfrm rot="5400000">
            <a:off x="6424845" y="1912923"/>
            <a:ext cx="352002" cy="53258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1705D5-CABE-1938-48AD-1A7DDDD97B36}"/>
              </a:ext>
            </a:extLst>
          </p:cNvPr>
          <p:cNvGrpSpPr/>
          <p:nvPr/>
        </p:nvGrpSpPr>
        <p:grpSpPr>
          <a:xfrm>
            <a:off x="6929426" y="2068710"/>
            <a:ext cx="1227926" cy="316928"/>
            <a:chOff x="2200148" y="1946592"/>
            <a:chExt cx="944626" cy="316928"/>
          </a:xfrm>
        </p:grpSpPr>
        <p:sp>
          <p:nvSpPr>
            <p:cNvPr id="29" name="object 95">
              <a:extLst>
                <a:ext uri="{FF2B5EF4-FFF2-40B4-BE49-F238E27FC236}">
                  <a16:creationId xmlns:a16="http://schemas.microsoft.com/office/drawing/2014/main" id="{9FE79185-E2EA-FF6D-BCCD-59510CD96A51}"/>
                </a:ext>
              </a:extLst>
            </p:cNvPr>
            <p:cNvSpPr txBox="1"/>
            <p:nvPr/>
          </p:nvSpPr>
          <p:spPr>
            <a:xfrm>
              <a:off x="2200148" y="1946592"/>
              <a:ext cx="273050" cy="2317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350" u="sng" spc="-135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350" u="sng" spc="85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1350" u="sng" spc="-25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endParaRPr sz="1350">
                <a:latin typeface="Cambria Math"/>
                <a:cs typeface="Cambria Math"/>
              </a:endParaRPr>
            </a:p>
          </p:txBody>
        </p:sp>
        <p:sp>
          <p:nvSpPr>
            <p:cNvPr id="30" name="object 96">
              <a:extLst>
                <a:ext uri="{FF2B5EF4-FFF2-40B4-BE49-F238E27FC236}">
                  <a16:creationId xmlns:a16="http://schemas.microsoft.com/office/drawing/2014/main" id="{E4B3F0A5-AD83-46C0-685A-8998FAAA5EB1}"/>
                </a:ext>
              </a:extLst>
            </p:cNvPr>
            <p:cNvSpPr/>
            <p:nvPr/>
          </p:nvSpPr>
          <p:spPr>
            <a:xfrm>
              <a:off x="2604389" y="2051430"/>
              <a:ext cx="540385" cy="212090"/>
            </a:xfrm>
            <a:custGeom>
              <a:avLst/>
              <a:gdLst/>
              <a:ahLst/>
              <a:cxnLst/>
              <a:rect l="l" t="t" r="r" b="b"/>
              <a:pathLst>
                <a:path w="540385" h="212089">
                  <a:moveTo>
                    <a:pt x="472948" y="0"/>
                  </a:moveTo>
                  <a:lnTo>
                    <a:pt x="469900" y="8636"/>
                  </a:lnTo>
                  <a:lnTo>
                    <a:pt x="482167" y="13946"/>
                  </a:lnTo>
                  <a:lnTo>
                    <a:pt x="492696" y="21304"/>
                  </a:lnTo>
                  <a:lnTo>
                    <a:pt x="514115" y="55429"/>
                  </a:lnTo>
                  <a:lnTo>
                    <a:pt x="521081" y="104775"/>
                  </a:lnTo>
                  <a:lnTo>
                    <a:pt x="520297" y="123443"/>
                  </a:lnTo>
                  <a:lnTo>
                    <a:pt x="508635" y="169163"/>
                  </a:lnTo>
                  <a:lnTo>
                    <a:pt x="482328" y="197738"/>
                  </a:lnTo>
                  <a:lnTo>
                    <a:pt x="470281" y="203073"/>
                  </a:lnTo>
                  <a:lnTo>
                    <a:pt x="472948" y="211708"/>
                  </a:lnTo>
                  <a:lnTo>
                    <a:pt x="513345" y="187706"/>
                  </a:lnTo>
                  <a:lnTo>
                    <a:pt x="536067" y="143335"/>
                  </a:lnTo>
                  <a:lnTo>
                    <a:pt x="540385" y="105918"/>
                  </a:lnTo>
                  <a:lnTo>
                    <a:pt x="539309" y="86483"/>
                  </a:lnTo>
                  <a:lnTo>
                    <a:pt x="522986" y="37083"/>
                  </a:lnTo>
                  <a:lnTo>
                    <a:pt x="488285" y="5526"/>
                  </a:lnTo>
                  <a:lnTo>
                    <a:pt x="472948" y="0"/>
                  </a:lnTo>
                  <a:close/>
                </a:path>
                <a:path w="540385" h="212089">
                  <a:moveTo>
                    <a:pt x="67563" y="0"/>
                  </a:moveTo>
                  <a:lnTo>
                    <a:pt x="27094" y="24056"/>
                  </a:lnTo>
                  <a:lnTo>
                    <a:pt x="4365" y="68548"/>
                  </a:lnTo>
                  <a:lnTo>
                    <a:pt x="0" y="105918"/>
                  </a:lnTo>
                  <a:lnTo>
                    <a:pt x="1093" y="125370"/>
                  </a:lnTo>
                  <a:lnTo>
                    <a:pt x="17399" y="174751"/>
                  </a:lnTo>
                  <a:lnTo>
                    <a:pt x="52135" y="206184"/>
                  </a:lnTo>
                  <a:lnTo>
                    <a:pt x="67563" y="211708"/>
                  </a:lnTo>
                  <a:lnTo>
                    <a:pt x="70231" y="203073"/>
                  </a:lnTo>
                  <a:lnTo>
                    <a:pt x="58130" y="197738"/>
                  </a:lnTo>
                  <a:lnTo>
                    <a:pt x="47720" y="190309"/>
                  </a:lnTo>
                  <a:lnTo>
                    <a:pt x="26376" y="155638"/>
                  </a:lnTo>
                  <a:lnTo>
                    <a:pt x="19304" y="104775"/>
                  </a:lnTo>
                  <a:lnTo>
                    <a:pt x="20089" y="86723"/>
                  </a:lnTo>
                  <a:lnTo>
                    <a:pt x="31877" y="42163"/>
                  </a:lnTo>
                  <a:lnTo>
                    <a:pt x="58291" y="13946"/>
                  </a:lnTo>
                  <a:lnTo>
                    <a:pt x="70485" y="8636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97">
              <a:extLst>
                <a:ext uri="{FF2B5EF4-FFF2-40B4-BE49-F238E27FC236}">
                  <a16:creationId xmlns:a16="http://schemas.microsoft.com/office/drawing/2014/main" id="{847F97B1-8E0D-C08A-5A44-3D45C476F88B}"/>
                </a:ext>
              </a:extLst>
            </p:cNvPr>
            <p:cNvSpPr txBox="1"/>
            <p:nvPr/>
          </p:nvSpPr>
          <p:spPr>
            <a:xfrm>
              <a:off x="2208312" y="1968626"/>
              <a:ext cx="92456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025" spc="202" baseline="-30864" dirty="0">
                  <a:latin typeface="Cambria Math"/>
                  <a:cs typeface="Cambria Math"/>
                </a:rPr>
                <a:t>𝜕</a:t>
              </a:r>
              <a:r>
                <a:rPr sz="2025" spc="217" baseline="-30864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lang="en-GB" sz="2025" spc="217" baseline="-30864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r>
                <a:rPr sz="2025" spc="30" baseline="-30864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1800" dirty="0">
                  <a:latin typeface="Cambria Math"/>
                  <a:cs typeface="Cambria Math"/>
                </a:rPr>
                <a:t>𝐽 </a:t>
              </a:r>
              <a:r>
                <a:rPr sz="1800" spc="-60" dirty="0">
                  <a:latin typeface="Cambria Math"/>
                  <a:cs typeface="Cambria Math"/>
                </a:rPr>
                <a:t> </a:t>
              </a:r>
              <a:r>
                <a:rPr sz="1800" b="1" spc="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800" dirty="0">
                  <a:latin typeface="Cambria Math"/>
                  <a:cs typeface="Cambria Math"/>
                </a:rPr>
                <a:t>,</a:t>
              </a:r>
              <a:r>
                <a:rPr sz="1800" spc="-95" dirty="0">
                  <a:latin typeface="Cambria Math"/>
                  <a:cs typeface="Cambria Math"/>
                </a:rPr>
                <a:t> </a:t>
              </a:r>
              <a:r>
                <a:rPr sz="180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800" dirty="0">
                <a:latin typeface="Cambria Math"/>
                <a:cs typeface="Cambria Math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61950"/>
            <a:ext cx="59118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" dirty="0"/>
              <a:t>An</a:t>
            </a:r>
            <a:r>
              <a:rPr spc="-40" dirty="0"/>
              <a:t> </a:t>
            </a:r>
            <a:r>
              <a:rPr spc="-20" dirty="0"/>
              <a:t>alternative</a:t>
            </a:r>
            <a:r>
              <a:rPr spc="210" dirty="0"/>
              <a:t> </a:t>
            </a:r>
            <a:r>
              <a:rPr spc="-5" dirty="0"/>
              <a:t>to</a:t>
            </a:r>
            <a:r>
              <a:rPr spc="-40" dirty="0"/>
              <a:t> </a:t>
            </a:r>
            <a:r>
              <a:rPr spc="-20" dirty="0"/>
              <a:t>gradient</a:t>
            </a:r>
            <a:r>
              <a:rPr spc="155" dirty="0"/>
              <a:t> </a:t>
            </a:r>
            <a:r>
              <a:rPr spc="-10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204318"/>
            <a:ext cx="3907791" cy="27526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" dirty="0">
                <a:solidFill>
                  <a:srgbClr val="0432FF"/>
                </a:solidFill>
                <a:latin typeface="Verdana"/>
                <a:cs typeface="Verdana"/>
              </a:rPr>
              <a:t>Normal</a:t>
            </a:r>
            <a:r>
              <a:rPr spc="25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pc="15" dirty="0">
                <a:solidFill>
                  <a:srgbClr val="0432FF"/>
                </a:solidFill>
                <a:latin typeface="Verdana"/>
                <a:cs typeface="Verdana"/>
              </a:rPr>
              <a:t>equation</a:t>
            </a:r>
            <a:endParaRPr dirty="0">
              <a:solidFill>
                <a:srgbClr val="0432FF"/>
              </a:solidFill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pc="20" dirty="0">
                <a:latin typeface="Verdana"/>
                <a:cs typeface="Verdana"/>
              </a:rPr>
              <a:t>Only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for</a:t>
            </a:r>
            <a:r>
              <a:rPr spc="50" dirty="0">
                <a:latin typeface="Verdana"/>
                <a:cs typeface="Verdana"/>
              </a:rPr>
              <a:t> </a:t>
            </a:r>
            <a:r>
              <a:rPr spc="20" dirty="0">
                <a:latin typeface="Verdana"/>
                <a:cs typeface="Verdana"/>
              </a:rPr>
              <a:t>linear</a:t>
            </a:r>
            <a:r>
              <a:rPr spc="45" dirty="0">
                <a:latin typeface="Verdana"/>
                <a:cs typeface="Verdana"/>
              </a:rPr>
              <a:t> </a:t>
            </a:r>
            <a:r>
              <a:rPr spc="20" dirty="0">
                <a:latin typeface="Verdana"/>
                <a:cs typeface="Verdana"/>
              </a:rPr>
              <a:t>regression</a:t>
            </a:r>
            <a:endParaRPr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pc="5" dirty="0">
                <a:latin typeface="Verdana"/>
                <a:cs typeface="Verdana"/>
              </a:rPr>
              <a:t>Solve</a:t>
            </a:r>
            <a:r>
              <a:rPr spc="70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for</a:t>
            </a:r>
            <a:r>
              <a:rPr spc="45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w,</a:t>
            </a:r>
            <a:r>
              <a:rPr spc="60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b</a:t>
            </a:r>
            <a:r>
              <a:rPr spc="35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without</a:t>
            </a:r>
            <a:endParaRPr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spc="15" dirty="0">
                <a:latin typeface="Verdana"/>
                <a:cs typeface="Verdana"/>
              </a:rPr>
              <a:t>iterations</a:t>
            </a:r>
            <a:endParaRPr dirty="0">
              <a:latin typeface="Verdana"/>
              <a:cs typeface="Verdana"/>
            </a:endParaRPr>
          </a:p>
          <a:p>
            <a:pPr marL="30480">
              <a:lnSpc>
                <a:spcPct val="100000"/>
              </a:lnSpc>
              <a:spcBef>
                <a:spcPts val="1545"/>
              </a:spcBef>
            </a:pPr>
            <a:r>
              <a:rPr spc="15" dirty="0">
                <a:latin typeface="Verdana"/>
                <a:cs typeface="Verdana"/>
              </a:rPr>
              <a:t>Disadvantages</a:t>
            </a:r>
            <a:endParaRPr dirty="0">
              <a:latin typeface="Verdana"/>
              <a:cs typeface="Verdana"/>
            </a:endParaRPr>
          </a:p>
          <a:p>
            <a:pPr marL="374015" indent="-344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74015" algn="l"/>
                <a:tab pos="374650" algn="l"/>
              </a:tabLst>
            </a:pPr>
            <a:r>
              <a:rPr spc="15" dirty="0">
                <a:latin typeface="Verdana"/>
                <a:cs typeface="Verdana"/>
              </a:rPr>
              <a:t>Doesn’t</a:t>
            </a:r>
            <a:r>
              <a:rPr spc="20" dirty="0">
                <a:latin typeface="Verdana"/>
                <a:cs typeface="Verdana"/>
              </a:rPr>
              <a:t> generalize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to</a:t>
            </a:r>
            <a:r>
              <a:rPr spc="55" dirty="0">
                <a:latin typeface="Verdana"/>
                <a:cs typeface="Verdana"/>
              </a:rPr>
              <a:t> </a:t>
            </a:r>
            <a:r>
              <a:rPr spc="10" dirty="0">
                <a:latin typeface="Verdana"/>
                <a:cs typeface="Verdana"/>
              </a:rPr>
              <a:t>other</a:t>
            </a:r>
            <a:endParaRPr dirty="0">
              <a:latin typeface="Verdana"/>
              <a:cs typeface="Verdana"/>
            </a:endParaRPr>
          </a:p>
          <a:p>
            <a:pPr marL="374015">
              <a:lnSpc>
                <a:spcPct val="100000"/>
              </a:lnSpc>
              <a:spcBef>
                <a:spcPts val="15"/>
              </a:spcBef>
            </a:pPr>
            <a:r>
              <a:rPr spc="15" dirty="0">
                <a:latin typeface="Verdana"/>
                <a:cs typeface="Verdana"/>
              </a:rPr>
              <a:t>learning </a:t>
            </a:r>
            <a:r>
              <a:rPr spc="10" dirty="0">
                <a:latin typeface="Verdana"/>
                <a:cs typeface="Verdana"/>
              </a:rPr>
              <a:t>algorithms.</a:t>
            </a:r>
            <a:endParaRPr dirty="0">
              <a:latin typeface="Verdana"/>
              <a:cs typeface="Verdana"/>
            </a:endParaRPr>
          </a:p>
          <a:p>
            <a:pPr marL="374015" indent="-344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74015" algn="l"/>
                <a:tab pos="374650" algn="l"/>
              </a:tabLst>
            </a:pPr>
            <a:r>
              <a:rPr spc="15" dirty="0">
                <a:latin typeface="Verdana"/>
                <a:cs typeface="Verdana"/>
              </a:rPr>
              <a:t>Slow</a:t>
            </a:r>
            <a:r>
              <a:rPr spc="25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when</a:t>
            </a:r>
            <a:r>
              <a:rPr spc="95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number</a:t>
            </a:r>
            <a:r>
              <a:rPr spc="195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of </a:t>
            </a:r>
            <a:r>
              <a:rPr spc="10" dirty="0">
                <a:latin typeface="Verdana"/>
                <a:cs typeface="Verdana"/>
              </a:rPr>
              <a:t>features</a:t>
            </a:r>
            <a:r>
              <a:rPr lang="en-GB" spc="10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is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large</a:t>
            </a:r>
            <a:r>
              <a:rPr spc="70" dirty="0">
                <a:latin typeface="Verdana"/>
                <a:cs typeface="Verdana"/>
              </a:rPr>
              <a:t> </a:t>
            </a:r>
            <a:r>
              <a:rPr spc="30" dirty="0">
                <a:latin typeface="Verdana"/>
                <a:cs typeface="Verdana"/>
              </a:rPr>
              <a:t>(&gt;</a:t>
            </a:r>
            <a:r>
              <a:rPr spc="-5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10,000)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6800" y="1260493"/>
            <a:ext cx="4114800" cy="22726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" dirty="0">
                <a:latin typeface="Verdana"/>
                <a:cs typeface="Verdana"/>
              </a:rPr>
              <a:t>What</a:t>
            </a:r>
            <a:r>
              <a:rPr spc="10" dirty="0">
                <a:latin typeface="Verdana"/>
                <a:cs typeface="Verdana"/>
              </a:rPr>
              <a:t> you</a:t>
            </a:r>
            <a:r>
              <a:rPr spc="85" dirty="0">
                <a:latin typeface="Verdana"/>
                <a:cs typeface="Verdana"/>
              </a:rPr>
              <a:t> </a:t>
            </a:r>
            <a:r>
              <a:rPr spc="25" dirty="0">
                <a:latin typeface="Verdana"/>
                <a:cs typeface="Verdana"/>
              </a:rPr>
              <a:t>need</a:t>
            </a:r>
            <a:r>
              <a:rPr spc="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to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know</a:t>
            </a:r>
            <a:endParaRPr dirty="0">
              <a:latin typeface="Verdana"/>
              <a:cs typeface="Verdana"/>
            </a:endParaRPr>
          </a:p>
          <a:p>
            <a:pPr marL="355600" marR="5080" indent="-343535">
              <a:lnSpc>
                <a:spcPct val="103699"/>
              </a:lnSpc>
              <a:spcBef>
                <a:spcPts val="2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pc="20" dirty="0">
                <a:latin typeface="Verdana"/>
                <a:cs typeface="Verdana"/>
              </a:rPr>
              <a:t>Normal</a:t>
            </a:r>
            <a:r>
              <a:rPr spc="45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equation</a:t>
            </a:r>
            <a:r>
              <a:rPr spc="85" dirty="0">
                <a:latin typeface="Verdana"/>
                <a:cs typeface="Verdana"/>
              </a:rPr>
              <a:t> </a:t>
            </a:r>
            <a:r>
              <a:rPr spc="10" dirty="0">
                <a:latin typeface="Verdana"/>
                <a:cs typeface="Verdana"/>
              </a:rPr>
              <a:t>method</a:t>
            </a:r>
            <a:r>
              <a:rPr spc="105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may </a:t>
            </a:r>
            <a:r>
              <a:rPr spc="-530" dirty="0">
                <a:latin typeface="Verdana"/>
                <a:cs typeface="Verdana"/>
              </a:rPr>
              <a:t> </a:t>
            </a:r>
            <a:r>
              <a:rPr spc="10" dirty="0">
                <a:latin typeface="Verdana"/>
                <a:cs typeface="Verdana"/>
              </a:rPr>
              <a:t>be</a:t>
            </a:r>
            <a:r>
              <a:rPr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used</a:t>
            </a:r>
            <a:r>
              <a:rPr spc="110" dirty="0">
                <a:latin typeface="Verdana"/>
                <a:cs typeface="Verdana"/>
              </a:rPr>
              <a:t> </a:t>
            </a:r>
            <a:r>
              <a:rPr spc="20" dirty="0">
                <a:latin typeface="Verdana"/>
                <a:cs typeface="Verdana"/>
              </a:rPr>
              <a:t>in</a:t>
            </a:r>
            <a:r>
              <a:rPr spc="-55" dirty="0">
                <a:latin typeface="Verdana"/>
                <a:cs typeface="Verdana"/>
              </a:rPr>
              <a:t> </a:t>
            </a:r>
            <a:r>
              <a:rPr spc="10" dirty="0">
                <a:latin typeface="Verdana"/>
                <a:cs typeface="Verdana"/>
              </a:rPr>
              <a:t>machine</a:t>
            </a:r>
            <a:r>
              <a:rPr spc="155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learning </a:t>
            </a:r>
            <a:r>
              <a:rPr spc="20" dirty="0">
                <a:latin typeface="Verdana"/>
                <a:cs typeface="Verdana"/>
              </a:rPr>
              <a:t> libraries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that</a:t>
            </a:r>
            <a:r>
              <a:rPr spc="100" dirty="0">
                <a:latin typeface="Verdana"/>
                <a:cs typeface="Verdana"/>
              </a:rPr>
              <a:t> </a:t>
            </a:r>
            <a:r>
              <a:rPr spc="10" dirty="0">
                <a:latin typeface="Verdana"/>
                <a:cs typeface="Verdana"/>
              </a:rPr>
              <a:t>implement</a:t>
            </a:r>
            <a:r>
              <a:rPr spc="105" dirty="0">
                <a:latin typeface="Verdana"/>
                <a:cs typeface="Verdana"/>
              </a:rPr>
              <a:t> </a:t>
            </a:r>
            <a:r>
              <a:rPr spc="20" dirty="0">
                <a:latin typeface="Verdana"/>
                <a:cs typeface="Verdana"/>
              </a:rPr>
              <a:t>linear </a:t>
            </a:r>
            <a:r>
              <a:rPr spc="-530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regression.</a:t>
            </a:r>
            <a:endParaRPr dirty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pc="15" dirty="0">
                <a:latin typeface="Verdana"/>
                <a:cs typeface="Verdana"/>
              </a:rPr>
              <a:t>Gradient</a:t>
            </a:r>
            <a:r>
              <a:rPr spc="90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descent is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the</a:t>
            </a:r>
            <a:endParaRPr dirty="0">
              <a:latin typeface="Verdana"/>
              <a:cs typeface="Verdana"/>
            </a:endParaRPr>
          </a:p>
          <a:p>
            <a:pPr marL="355600" marR="441325">
              <a:lnSpc>
                <a:spcPct val="101099"/>
              </a:lnSpc>
              <a:spcBef>
                <a:spcPts val="70"/>
              </a:spcBef>
            </a:pPr>
            <a:r>
              <a:rPr spc="15" dirty="0">
                <a:latin typeface="Verdana"/>
                <a:cs typeface="Verdana"/>
              </a:rPr>
              <a:t>recommended</a:t>
            </a:r>
            <a:r>
              <a:rPr spc="160" dirty="0">
                <a:latin typeface="Verdana"/>
                <a:cs typeface="Verdana"/>
              </a:rPr>
              <a:t> </a:t>
            </a:r>
            <a:r>
              <a:rPr spc="10" dirty="0">
                <a:latin typeface="Verdana"/>
                <a:cs typeface="Verdana"/>
              </a:rPr>
              <a:t>method</a:t>
            </a:r>
            <a:r>
              <a:rPr spc="100" dirty="0">
                <a:latin typeface="Verdana"/>
                <a:cs typeface="Verdana"/>
              </a:rPr>
              <a:t> </a:t>
            </a:r>
            <a:r>
              <a:rPr spc="5" dirty="0">
                <a:latin typeface="Verdana"/>
                <a:cs typeface="Verdana"/>
              </a:rPr>
              <a:t>for </a:t>
            </a:r>
            <a:r>
              <a:rPr spc="-5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finding</a:t>
            </a:r>
            <a:r>
              <a:rPr spc="114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parameters</a:t>
            </a:r>
            <a:r>
              <a:rPr spc="160" dirty="0">
                <a:latin typeface="Verdana"/>
                <a:cs typeface="Verdana"/>
              </a:rPr>
              <a:t> </a:t>
            </a:r>
            <a:r>
              <a:rPr spc="15" dirty="0">
                <a:latin typeface="Verdana"/>
                <a:cs typeface="Verdana"/>
              </a:rPr>
              <a:t>w,b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33BE-E10D-57A5-39DC-499DAC5069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26</a:t>
            </a:fld>
            <a:endParaRPr lang="en-P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207969-6673-BA61-0D25-E09F52A6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514350"/>
            <a:ext cx="8134350" cy="545306"/>
          </a:xfrm>
        </p:spPr>
        <p:txBody>
          <a:bodyPr/>
          <a:lstStyle/>
          <a:p>
            <a:r>
              <a:rPr lang="en-PS" dirty="0">
                <a:solidFill>
                  <a:srgbClr val="0432FF"/>
                </a:solidFill>
              </a:rPr>
              <a:t>To conclude ...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BAD7D8-F6BD-B03E-2AF1-CCE16EF9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68016"/>
            <a:ext cx="8134350" cy="3500437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OpenSans"/>
              </a:rPr>
              <a:t>You now know multiple linear regression. 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OpenSans"/>
              </a:rPr>
              <a:t>This is probably the single most widely used learning algorithm in the world today.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OpenSans"/>
              </a:rPr>
              <a:t> But there's more. With just a few tricks such as picking and scaling features appropriately and also choosing the learning rate alpha appropriately, you'd really make this work much better. 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OpenSans"/>
              </a:rPr>
              <a:t>Let's go on to the next section to see those little tricks that will help you make multiple linear regression work much better.</a:t>
            </a:r>
          </a:p>
          <a:p>
            <a:endParaRPr lang="en-P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20176-4D55-4E68-0A09-BE6073B9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27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462055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428751" y="2647950"/>
            <a:ext cx="5029199" cy="6636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0975" marR="5080" indent="0" algn="ctr">
              <a:lnSpc>
                <a:spcPct val="117300"/>
              </a:lnSpc>
              <a:spcBef>
                <a:spcPts val="90"/>
              </a:spcBef>
              <a:buNone/>
            </a:pP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endParaRPr spc="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942B-2B79-29D6-D660-43DB48413E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28</a:t>
            </a:fld>
            <a:endParaRPr lang="en-P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4782-9F47-F44C-B44A-65B7ED5BA79D}"/>
              </a:ext>
            </a:extLst>
          </p:cNvPr>
          <p:cNvSpPr txBox="1"/>
          <p:nvPr/>
        </p:nvSpPr>
        <p:spPr>
          <a:xfrm>
            <a:off x="1219200" y="1273784"/>
            <a:ext cx="6969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600" dirty="0">
                <a:solidFill>
                  <a:srgbClr val="15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Tips for Linear Regression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86E2A5-7E81-E875-B79A-B73ACC5C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844"/>
            <a:ext cx="8134350" cy="621506"/>
          </a:xfrm>
        </p:spPr>
        <p:txBody>
          <a:bodyPr/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definiton of feature scaling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395D3-17FE-B1C4-FE0D-8DCDA1C0E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71550"/>
            <a:ext cx="8134350" cy="389810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Imagine you have a dataset with two features: age and income. The age feature might range from 10 to 100, while the income feature might range from $10,000 to $1,000,000. When you train a machine learning model on this data, the model will give more weight to the income feature because it has a larger scale. This can make it difficult for the model to learn the relationship between the age feature and the target variable.</a:t>
            </a:r>
          </a:p>
          <a:p>
            <a:r>
              <a:rPr lang="en-US" sz="24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is a technique that can be used to normalize the features in a dataset so that they all have a similar scale. This can help to improve the performance of machine learning models.</a:t>
            </a:r>
            <a:endParaRPr lang="en-P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1982C-3322-ADB2-24DB-2774A29D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693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9430" y="676770"/>
            <a:ext cx="28378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15" dirty="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sz="2000" spc="30" dirty="0">
                <a:solidFill>
                  <a:srgbClr val="FF40FF"/>
                </a:solidFill>
                <a:latin typeface="Cambria Math"/>
                <a:cs typeface="Cambria Math"/>
              </a:rPr>
              <a:t>𝑟</a:t>
            </a:r>
            <a:r>
              <a:rPr sz="2000" spc="55" dirty="0">
                <a:solidFill>
                  <a:srgbClr val="FF40FF"/>
                </a:solidFill>
                <a:latin typeface="Cambria Math"/>
                <a:cs typeface="Cambria Math"/>
              </a:rPr>
              <a:t>𝑖</a:t>
            </a:r>
            <a:r>
              <a:rPr sz="2000" spc="-10" dirty="0">
                <a:solidFill>
                  <a:srgbClr val="FF40FF"/>
                </a:solidFill>
                <a:latin typeface="Cambria Math"/>
                <a:cs typeface="Cambria Math"/>
              </a:rPr>
              <a:t>𝑐</a:t>
            </a:r>
            <a:r>
              <a:rPr sz="2000" spc="25" dirty="0">
                <a:solidFill>
                  <a:srgbClr val="FF40FF"/>
                </a:solidFill>
                <a:latin typeface="Cambria Math"/>
                <a:cs typeface="Cambria Math"/>
              </a:rPr>
              <a:t>𝑒</a:t>
            </a:r>
            <a:r>
              <a:rPr sz="2000" spc="135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spc="-19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52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250" spc="-225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-8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52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225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-12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209" baseline="-16666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000" spc="-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52" baseline="-16666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250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250" spc="-157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4941" y="430575"/>
            <a:ext cx="2222500" cy="890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50000"/>
              </a:lnSpc>
              <a:spcBef>
                <a:spcPts val="125"/>
              </a:spcBef>
            </a:pPr>
            <a:r>
              <a:rPr sz="2000" spc="2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30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000" spc="20" dirty="0">
                <a:latin typeface="Cambria Math"/>
                <a:cs typeface="Cambria Math"/>
              </a:rPr>
              <a:t>: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Arial MT"/>
                <a:cs typeface="Arial MT"/>
              </a:rPr>
              <a:t>size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(feet</a:t>
            </a:r>
            <a:r>
              <a:rPr sz="2025" spc="7" baseline="24691" dirty="0">
                <a:latin typeface="Arial MT"/>
                <a:cs typeface="Arial MT"/>
              </a:rPr>
              <a:t>2</a:t>
            </a:r>
            <a:r>
              <a:rPr sz="2000" spc="5" dirty="0">
                <a:latin typeface="Arial MT"/>
                <a:cs typeface="Arial MT"/>
              </a:rPr>
              <a:t>)</a:t>
            </a:r>
            <a:endParaRPr sz="2000" dirty="0">
              <a:latin typeface="Arial MT"/>
              <a:cs typeface="Arial MT"/>
            </a:endParaRPr>
          </a:p>
          <a:p>
            <a:pPr marL="38100">
              <a:lnSpc>
                <a:spcPct val="150000"/>
              </a:lnSpc>
              <a:spcBef>
                <a:spcPts val="5"/>
              </a:spcBef>
            </a:pPr>
            <a:r>
              <a:rPr sz="2000" spc="10" dirty="0">
                <a:latin typeface="Arial MT"/>
                <a:cs typeface="Arial MT"/>
              </a:rPr>
              <a:t>range: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300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−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2,000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5247" y="517792"/>
            <a:ext cx="186563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4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67" baseline="-16666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000" spc="45" dirty="0">
                <a:latin typeface="Cambria Math"/>
                <a:cs typeface="Cambria Math"/>
              </a:rPr>
              <a:t>:</a:t>
            </a:r>
            <a:r>
              <a:rPr sz="2000" spc="40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Arial MT"/>
                <a:cs typeface="Arial MT"/>
              </a:rPr>
              <a:t>#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bedrooms</a:t>
            </a:r>
            <a:endParaRPr sz="2000" dirty="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lang="en-GB" sz="2000" spc="10" dirty="0">
                <a:latin typeface="Arial MT"/>
                <a:cs typeface="Arial MT"/>
              </a:rPr>
              <a:t>     </a:t>
            </a:r>
            <a:r>
              <a:rPr sz="2000" spc="10" dirty="0">
                <a:latin typeface="Arial MT"/>
                <a:cs typeface="Arial MT"/>
              </a:rPr>
              <a:t>range: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0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−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5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786" y="1559305"/>
            <a:ext cx="8583613" cy="2691121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285"/>
              </a:spcBef>
            </a:pPr>
            <a:r>
              <a:rPr sz="2000" dirty="0">
                <a:latin typeface="Verdana"/>
                <a:cs typeface="Verdana"/>
              </a:rPr>
              <a:t>House: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-44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7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2000</a:t>
            </a:r>
            <a:r>
              <a:rPr sz="2000" spc="-5" dirty="0">
                <a:latin typeface="Verdana"/>
                <a:cs typeface="Verdana"/>
              </a:rPr>
              <a:t>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7" baseline="-16666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250" spc="450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5</a:t>
            </a:r>
            <a:r>
              <a:rPr sz="2000" spc="10" dirty="0">
                <a:latin typeface="Verdana"/>
                <a:cs typeface="Verdana"/>
              </a:rPr>
              <a:t>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ambria Math"/>
                <a:cs typeface="Cambria Math"/>
              </a:rPr>
              <a:t>𝑝𝑟𝑖𝑐𝑒</a:t>
            </a:r>
            <a:r>
              <a:rPr sz="2000"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$500</a:t>
            </a:r>
            <a:r>
              <a:rPr sz="2000" spc="5" dirty="0">
                <a:latin typeface="Verdana"/>
                <a:cs typeface="Verdana"/>
              </a:rPr>
              <a:t>k</a:t>
            </a:r>
            <a:endParaRPr sz="2000" dirty="0">
              <a:latin typeface="Verdana"/>
              <a:cs typeface="Verdana"/>
            </a:endParaRPr>
          </a:p>
          <a:p>
            <a:pPr marR="595630" algn="ctr">
              <a:lnSpc>
                <a:spcPct val="100000"/>
              </a:lnSpc>
              <a:spcBef>
                <a:spcPts val="1190"/>
              </a:spcBef>
            </a:pPr>
            <a:r>
              <a:rPr sz="2000" spc="5" dirty="0">
                <a:latin typeface="Verdana"/>
                <a:cs typeface="Verdana"/>
              </a:rPr>
              <a:t>s</a:t>
            </a:r>
            <a:r>
              <a:rPr sz="2000" spc="-30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z</a:t>
            </a:r>
            <a:r>
              <a:rPr sz="2000" spc="15" dirty="0">
                <a:latin typeface="Verdana"/>
                <a:cs typeface="Verdana"/>
              </a:rPr>
              <a:t>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spc="10" dirty="0">
                <a:latin typeface="Verdana"/>
                <a:cs typeface="Verdana"/>
              </a:rPr>
              <a:t>f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3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h</a:t>
            </a:r>
            <a:r>
              <a:rPr sz="2000" spc="15" dirty="0">
                <a:latin typeface="Verdana"/>
                <a:cs typeface="Verdana"/>
              </a:rPr>
              <a:t>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25" dirty="0">
                <a:latin typeface="Verdana"/>
                <a:cs typeface="Verdana"/>
              </a:rPr>
              <a:t>p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spc="4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5" dirty="0">
                <a:latin typeface="Verdana"/>
                <a:cs typeface="Verdana"/>
              </a:rPr>
              <a:t>e</a:t>
            </a:r>
            <a:r>
              <a:rPr sz="2000" spc="3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e</a:t>
            </a:r>
            <a:r>
              <a:rPr sz="2000" spc="40" dirty="0">
                <a:latin typeface="Verdana"/>
                <a:cs typeface="Verdana"/>
              </a:rPr>
              <a:t>r</a:t>
            </a:r>
            <a:r>
              <a:rPr sz="2000" spc="15" dirty="0">
                <a:latin typeface="Verdana"/>
                <a:cs typeface="Verdana"/>
              </a:rPr>
              <a:t>s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-20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52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250" spc="-225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12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209" baseline="-16666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000" spc="15" dirty="0">
                <a:latin typeface="Verdana"/>
                <a:cs typeface="Verdana"/>
              </a:rPr>
              <a:t>?</a:t>
            </a:r>
            <a:endParaRPr sz="2000" dirty="0">
              <a:latin typeface="Verdana"/>
              <a:cs typeface="Verdana"/>
            </a:endParaRPr>
          </a:p>
          <a:p>
            <a:pPr marL="152400">
              <a:lnSpc>
                <a:spcPct val="100000"/>
              </a:lnSpc>
              <a:spcBef>
                <a:spcPts val="2290"/>
              </a:spcBef>
              <a:tabLst>
                <a:tab pos="1363345" algn="l"/>
                <a:tab pos="2507615" algn="l"/>
                <a:tab pos="4324985" algn="l"/>
                <a:tab pos="5526405" algn="l"/>
                <a:tab pos="6623050" algn="l"/>
              </a:tabLst>
            </a:pPr>
            <a:r>
              <a:rPr sz="2000" spc="-8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127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250" spc="562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50,	</a:t>
            </a:r>
            <a:r>
              <a:rPr sz="2000" spc="-5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75" baseline="-16666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250" spc="-112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8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0.1,	</a:t>
            </a:r>
            <a:r>
              <a:rPr sz="2000" spc="1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000" spc="114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50	</a:t>
            </a:r>
            <a:r>
              <a:rPr sz="2000" spc="-8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127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250" spc="569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0.1,	</a:t>
            </a:r>
            <a:r>
              <a:rPr sz="2000" spc="-4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67" baseline="-16666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250" spc="-112" baseline="-16666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50,	</a:t>
            </a:r>
            <a:r>
              <a:rPr sz="2000" spc="1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000" spc="8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50</a:t>
            </a: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 dirty="0">
              <a:latin typeface="Cambria Math"/>
              <a:cs typeface="Cambria Math"/>
            </a:endParaRPr>
          </a:p>
          <a:p>
            <a:pPr marL="217170">
              <a:lnSpc>
                <a:spcPct val="100000"/>
              </a:lnSpc>
              <a:tabLst>
                <a:tab pos="4335780" algn="l"/>
              </a:tabLst>
            </a:pPr>
            <a:r>
              <a:rPr lang="en-PS" sz="2000" spc="15" dirty="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lang="en-PS" sz="2000" spc="30" dirty="0">
                <a:solidFill>
                  <a:srgbClr val="FF40FF"/>
                </a:solidFill>
                <a:latin typeface="Cambria Math"/>
                <a:cs typeface="Cambria Math"/>
              </a:rPr>
              <a:t>𝑟</a:t>
            </a:r>
            <a:r>
              <a:rPr lang="en-PS" sz="2000" spc="55" dirty="0">
                <a:solidFill>
                  <a:srgbClr val="FF40FF"/>
                </a:solidFill>
                <a:latin typeface="Cambria Math"/>
                <a:cs typeface="Cambria Math"/>
              </a:rPr>
              <a:t>𝑖</a:t>
            </a:r>
            <a:r>
              <a:rPr lang="en-PS" sz="2000" spc="-10" dirty="0">
                <a:solidFill>
                  <a:srgbClr val="FF40FF"/>
                </a:solidFill>
                <a:latin typeface="Cambria Math"/>
                <a:cs typeface="Cambria Math"/>
              </a:rPr>
              <a:t>𝑐</a:t>
            </a:r>
            <a:r>
              <a:rPr lang="en-PS" sz="2000" spc="25" dirty="0">
                <a:solidFill>
                  <a:srgbClr val="FF40FF"/>
                </a:solidFill>
                <a:latin typeface="Cambria Math"/>
                <a:cs typeface="Cambria Math"/>
              </a:rPr>
              <a:t>𝑒 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r>
              <a:rPr sz="2000" spc="-65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∗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FF9300"/>
                </a:solidFill>
                <a:latin typeface="Cambria Math"/>
                <a:cs typeface="Cambria Math"/>
              </a:rPr>
              <a:t>2000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0096FF"/>
                </a:solidFill>
                <a:latin typeface="Cambria Math"/>
                <a:cs typeface="Cambria Math"/>
              </a:rPr>
              <a:t>0</a:t>
            </a:r>
            <a:r>
              <a:rPr sz="2000" spc="35" dirty="0">
                <a:solidFill>
                  <a:srgbClr val="0096FF"/>
                </a:solidFill>
                <a:latin typeface="Cambria Math"/>
                <a:cs typeface="Cambria Math"/>
              </a:rPr>
              <a:t>.</a:t>
            </a:r>
            <a:r>
              <a:rPr sz="2000" spc="15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∗</a:t>
            </a:r>
            <a:r>
              <a:rPr sz="2000" spc="-70" dirty="0"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FF9300"/>
                </a:solidFill>
                <a:latin typeface="Cambria Math"/>
                <a:cs typeface="Cambria Math"/>
              </a:rPr>
              <a:t>5</a:t>
            </a: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r>
              <a:rPr sz="2000" dirty="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lang="en-PS" sz="3200" spc="15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lang="en-PS" sz="2000" spc="15" dirty="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lang="en-PS" sz="2000" spc="30" dirty="0">
                <a:solidFill>
                  <a:srgbClr val="FF40FF"/>
                </a:solidFill>
                <a:latin typeface="Cambria Math"/>
                <a:cs typeface="Cambria Math"/>
              </a:rPr>
              <a:t>𝑟</a:t>
            </a:r>
            <a:r>
              <a:rPr lang="en-PS" sz="2000" spc="55" dirty="0">
                <a:solidFill>
                  <a:srgbClr val="FF40FF"/>
                </a:solidFill>
                <a:latin typeface="Cambria Math"/>
                <a:cs typeface="Cambria Math"/>
              </a:rPr>
              <a:t>𝑖</a:t>
            </a:r>
            <a:r>
              <a:rPr lang="en-PS" sz="2000" spc="-10" dirty="0">
                <a:solidFill>
                  <a:srgbClr val="FF40FF"/>
                </a:solidFill>
                <a:latin typeface="Cambria Math"/>
                <a:cs typeface="Cambria Math"/>
              </a:rPr>
              <a:t>𝑐</a:t>
            </a:r>
            <a:r>
              <a:rPr lang="en-PS" sz="2000" spc="25" dirty="0">
                <a:solidFill>
                  <a:srgbClr val="FF40FF"/>
                </a:solidFill>
                <a:latin typeface="Cambria Math"/>
                <a:cs typeface="Cambria Math"/>
              </a:rPr>
              <a:t>𝑒</a:t>
            </a:r>
            <a:r>
              <a:rPr lang="en-PS" sz="3200" spc="25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3000" spc="30" baseline="1388" dirty="0">
                <a:latin typeface="Cambria Math"/>
                <a:cs typeface="Cambria Math"/>
              </a:rPr>
              <a:t>=</a:t>
            </a:r>
            <a:r>
              <a:rPr sz="3000" spc="217" baseline="1388" dirty="0">
                <a:latin typeface="Cambria Math"/>
                <a:cs typeface="Cambria Math"/>
              </a:rPr>
              <a:t> </a:t>
            </a:r>
            <a:r>
              <a:rPr sz="3000" spc="22" baseline="1388" dirty="0">
                <a:solidFill>
                  <a:srgbClr val="0096FF"/>
                </a:solidFill>
                <a:latin typeface="Cambria Math"/>
                <a:cs typeface="Cambria Math"/>
              </a:rPr>
              <a:t>0</a:t>
            </a:r>
            <a:r>
              <a:rPr sz="3000" spc="52" baseline="1388" dirty="0">
                <a:solidFill>
                  <a:srgbClr val="0096FF"/>
                </a:solidFill>
                <a:latin typeface="Cambria Math"/>
                <a:cs typeface="Cambria Math"/>
              </a:rPr>
              <a:t>.</a:t>
            </a:r>
            <a:r>
              <a:rPr sz="3000" spc="22" baseline="1388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3000" spc="-97" baseline="1388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3000" spc="15" baseline="1388" dirty="0">
                <a:latin typeface="Cambria Math"/>
                <a:cs typeface="Cambria Math"/>
              </a:rPr>
              <a:t>∗</a:t>
            </a:r>
            <a:r>
              <a:rPr sz="3000" spc="7" baseline="1388" dirty="0">
                <a:latin typeface="Cambria Math"/>
                <a:cs typeface="Cambria Math"/>
              </a:rPr>
              <a:t> </a:t>
            </a:r>
            <a:r>
              <a:rPr sz="3000" spc="22" baseline="1388" dirty="0">
                <a:solidFill>
                  <a:srgbClr val="FF9300"/>
                </a:solidFill>
                <a:latin typeface="Cambria Math"/>
                <a:cs typeface="Cambria Math"/>
              </a:rPr>
              <a:t>2000𝑘</a:t>
            </a:r>
            <a:r>
              <a:rPr sz="3000" spc="-97" baseline="1388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3000" spc="30" baseline="1388" dirty="0">
                <a:latin typeface="Cambria Math"/>
                <a:cs typeface="Cambria Math"/>
              </a:rPr>
              <a:t>+</a:t>
            </a:r>
            <a:r>
              <a:rPr sz="3000" spc="-7" baseline="1388" dirty="0">
                <a:latin typeface="Cambria Math"/>
                <a:cs typeface="Cambria Math"/>
              </a:rPr>
              <a:t> </a:t>
            </a:r>
            <a:r>
              <a:rPr sz="3000" spc="22" baseline="1388" dirty="0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r>
              <a:rPr sz="3000" spc="15" baseline="1388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3000" spc="15" baseline="1388" dirty="0">
                <a:latin typeface="Cambria Math"/>
                <a:cs typeface="Cambria Math"/>
              </a:rPr>
              <a:t>∗</a:t>
            </a:r>
            <a:r>
              <a:rPr sz="3000" spc="7" baseline="1388" dirty="0">
                <a:latin typeface="Cambria Math"/>
                <a:cs typeface="Cambria Math"/>
              </a:rPr>
              <a:t> </a:t>
            </a:r>
            <a:r>
              <a:rPr sz="3000" spc="22" baseline="1388" dirty="0">
                <a:solidFill>
                  <a:srgbClr val="FF9300"/>
                </a:solidFill>
                <a:latin typeface="Cambria Math"/>
                <a:cs typeface="Cambria Math"/>
              </a:rPr>
              <a:t>5</a:t>
            </a:r>
            <a:r>
              <a:rPr sz="3000" spc="15" baseline="1388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3000" spc="30" baseline="1388" dirty="0">
                <a:latin typeface="Cambria Math"/>
                <a:cs typeface="Cambria Math"/>
              </a:rPr>
              <a:t>+</a:t>
            </a:r>
            <a:r>
              <a:rPr sz="3000" spc="-120" baseline="1388" dirty="0">
                <a:latin typeface="Cambria Math"/>
                <a:cs typeface="Cambria Math"/>
              </a:rPr>
              <a:t> </a:t>
            </a:r>
            <a:r>
              <a:rPr sz="3000" spc="22" baseline="1388" dirty="0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endParaRPr sz="3000" baseline="1388" dirty="0">
              <a:latin typeface="Cambria Math"/>
              <a:cs typeface="Cambria Math"/>
            </a:endParaRPr>
          </a:p>
          <a:p>
            <a:pPr marL="217170">
              <a:lnSpc>
                <a:spcPct val="100000"/>
              </a:lnSpc>
              <a:tabLst>
                <a:tab pos="4335780" algn="l"/>
              </a:tabLst>
            </a:pPr>
            <a:r>
              <a:rPr sz="2000" dirty="0">
                <a:solidFill>
                  <a:srgbClr val="FF40FF"/>
                </a:solidFill>
                <a:latin typeface="Verdana"/>
                <a:cs typeface="Verdana"/>
              </a:rPr>
              <a:t>	</a:t>
            </a:r>
            <a:endParaRPr sz="3000" baseline="1388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5938" y="1011415"/>
            <a:ext cx="168107" cy="2498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904" y="1322070"/>
            <a:ext cx="506141" cy="1764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4583" y="1835530"/>
            <a:ext cx="413841" cy="1375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67169" y="1811908"/>
            <a:ext cx="953388" cy="2489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73593" y="1764664"/>
            <a:ext cx="1076832" cy="2406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03788" y="1301877"/>
            <a:ext cx="248835" cy="19659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0188" y="1125474"/>
            <a:ext cx="1174114" cy="35191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00468" y="1277238"/>
            <a:ext cx="558418" cy="212851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375774" y="51989"/>
            <a:ext cx="52285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Feature</a:t>
            </a:r>
            <a:r>
              <a:rPr spc="-25" dirty="0"/>
              <a:t> </a:t>
            </a:r>
            <a:r>
              <a:rPr spc="10" dirty="0"/>
              <a:t>and</a:t>
            </a:r>
            <a:r>
              <a:rPr spc="-20" dirty="0"/>
              <a:t> </a:t>
            </a:r>
            <a:r>
              <a:rPr spc="-10" dirty="0"/>
              <a:t>parameter</a:t>
            </a:r>
            <a:r>
              <a:rPr spc="55" dirty="0"/>
              <a:t> </a:t>
            </a:r>
            <a:r>
              <a:rPr spc="-15" dirty="0"/>
              <a:t>values</a:t>
            </a:r>
          </a:p>
        </p:txBody>
      </p:sp>
      <p:grpSp>
        <p:nvGrpSpPr>
          <p:cNvPr id="29" name="object 29"/>
          <p:cNvGrpSpPr/>
          <p:nvPr/>
        </p:nvGrpSpPr>
        <p:grpSpPr>
          <a:xfrm>
            <a:off x="3405123" y="2462276"/>
            <a:ext cx="1826388" cy="2061845"/>
            <a:chOff x="3405123" y="2462276"/>
            <a:chExt cx="1826388" cy="2061845"/>
          </a:xfrm>
        </p:grpSpPr>
        <p:sp>
          <p:nvSpPr>
            <p:cNvPr id="30" name="object 30"/>
            <p:cNvSpPr/>
            <p:nvPr/>
          </p:nvSpPr>
          <p:spPr>
            <a:xfrm>
              <a:off x="4529201" y="2462276"/>
              <a:ext cx="0" cy="2061845"/>
            </a:xfrm>
            <a:custGeom>
              <a:avLst/>
              <a:gdLst/>
              <a:ahLst/>
              <a:cxnLst/>
              <a:rect l="l" t="t" r="r" b="b"/>
              <a:pathLst>
                <a:path h="2061845">
                  <a:moveTo>
                    <a:pt x="0" y="0"/>
                  </a:moveTo>
                  <a:lnTo>
                    <a:pt x="0" y="2061514"/>
                  </a:lnTo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05123" y="2565400"/>
              <a:ext cx="440943" cy="190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0026" y="2557018"/>
              <a:ext cx="451485" cy="157480"/>
            </a:xfrm>
            <a:prstGeom prst="rect">
              <a:avLst/>
            </a:prstGeom>
          </p:spPr>
        </p:pic>
      </p:grp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5ED455F2-F15E-E4A1-4452-9387BA5F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30</a:t>
            </a:fld>
            <a:endParaRPr lang="en-P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D68AA-FF23-70F5-CE75-3AD0FCCF1802}"/>
              </a:ext>
            </a:extLst>
          </p:cNvPr>
          <p:cNvSpPr txBox="1"/>
          <p:nvPr/>
        </p:nvSpPr>
        <p:spPr>
          <a:xfrm>
            <a:off x="6027569" y="3015606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0B0F0"/>
                </a:solidFill>
              </a:rPr>
              <a:t>large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767637-A251-2013-EE29-8C4B9C64D2C8}"/>
              </a:ext>
            </a:extLst>
          </p:cNvPr>
          <p:cNvSpPr txBox="1"/>
          <p:nvPr/>
        </p:nvSpPr>
        <p:spPr>
          <a:xfrm>
            <a:off x="4848820" y="3012565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0B0F0"/>
                </a:solidFill>
              </a:rPr>
              <a:t>small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2D2F80B-534C-9353-49F1-AFB107A4509E}"/>
              </a:ext>
            </a:extLst>
          </p:cNvPr>
          <p:cNvGrpSpPr/>
          <p:nvPr/>
        </p:nvGrpSpPr>
        <p:grpSpPr>
          <a:xfrm>
            <a:off x="1511000" y="3811681"/>
            <a:ext cx="2795835" cy="369332"/>
            <a:chOff x="1511000" y="3811681"/>
            <a:chExt cx="2795835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79E118-A21A-8CEB-93C9-77563C736902}"/>
                </a:ext>
              </a:extLst>
            </p:cNvPr>
            <p:cNvSpPr txBox="1"/>
            <p:nvPr/>
          </p:nvSpPr>
          <p:spPr>
            <a:xfrm>
              <a:off x="1511000" y="3811681"/>
              <a:ext cx="1101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/>
                <a:t>100,000 k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EAF2E4-A8F6-4AC0-7780-B6AF02BC8076}"/>
                </a:ext>
              </a:extLst>
            </p:cNvPr>
            <p:cNvSpPr txBox="1"/>
            <p:nvPr/>
          </p:nvSpPr>
          <p:spPr>
            <a:xfrm>
              <a:off x="2826295" y="381168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/>
                <a:t>0.5 k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E11C52-E5D9-4EC8-643C-281FF3E774F6}"/>
                </a:ext>
              </a:extLst>
            </p:cNvPr>
            <p:cNvSpPr txBox="1"/>
            <p:nvPr/>
          </p:nvSpPr>
          <p:spPr>
            <a:xfrm>
              <a:off x="3731036" y="3811681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/>
                <a:t>50 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4371E97-7661-CEFD-8C25-1039B7F3FDA2}"/>
              </a:ext>
            </a:extLst>
          </p:cNvPr>
          <p:cNvGrpSpPr/>
          <p:nvPr/>
        </p:nvGrpSpPr>
        <p:grpSpPr>
          <a:xfrm>
            <a:off x="5745019" y="3814476"/>
            <a:ext cx="2795835" cy="369332"/>
            <a:chOff x="1511000" y="3811681"/>
            <a:chExt cx="2795835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6E7015F-0949-C2E8-12C8-A114FEBDF53C}"/>
                </a:ext>
              </a:extLst>
            </p:cNvPr>
            <p:cNvSpPr txBox="1"/>
            <p:nvPr/>
          </p:nvSpPr>
          <p:spPr>
            <a:xfrm>
              <a:off x="1511000" y="381168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/>
                <a:t>200 k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314F1A-9C41-6E84-7A7C-14CCA5183AEF}"/>
                </a:ext>
              </a:extLst>
            </p:cNvPr>
            <p:cNvSpPr txBox="1"/>
            <p:nvPr/>
          </p:nvSpPr>
          <p:spPr>
            <a:xfrm>
              <a:off x="2826295" y="381168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/>
                <a:t>250 k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E8EB587-1D97-BD95-749A-234F50D63616}"/>
                </a:ext>
              </a:extLst>
            </p:cNvPr>
            <p:cNvSpPr txBox="1"/>
            <p:nvPr/>
          </p:nvSpPr>
          <p:spPr>
            <a:xfrm>
              <a:off x="3731036" y="3811681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/>
                <a:t>50 k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CD42369-0CFF-8023-F1DC-6A1A572A2511}"/>
              </a:ext>
            </a:extLst>
          </p:cNvPr>
          <p:cNvSpPr txBox="1"/>
          <p:nvPr/>
        </p:nvSpPr>
        <p:spPr>
          <a:xfrm>
            <a:off x="685800" y="3012565"/>
            <a:ext cx="64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0B0F0"/>
                </a:solidFill>
              </a:rPr>
              <a:t>large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0AB1CC-6B52-2293-8D52-F9C9536E49A1}"/>
              </a:ext>
            </a:extLst>
          </p:cNvPr>
          <p:cNvSpPr txBox="1"/>
          <p:nvPr/>
        </p:nvSpPr>
        <p:spPr>
          <a:xfrm>
            <a:off x="1795570" y="2983738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0B0F0"/>
                </a:solidFill>
              </a:rPr>
              <a:t>small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F42DB9-6118-FA0E-8B52-7C64F618F1FD}"/>
              </a:ext>
            </a:extLst>
          </p:cNvPr>
          <p:cNvSpPr txBox="1"/>
          <p:nvPr/>
        </p:nvSpPr>
        <p:spPr>
          <a:xfrm>
            <a:off x="5258123" y="4181013"/>
            <a:ext cx="2009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15" dirty="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lang="en-US" sz="1800" spc="30" dirty="0">
                <a:solidFill>
                  <a:srgbClr val="FF40FF"/>
                </a:solidFill>
                <a:latin typeface="Cambria Math"/>
                <a:cs typeface="Cambria Math"/>
              </a:rPr>
              <a:t>𝑟</a:t>
            </a:r>
            <a:r>
              <a:rPr lang="en-US" sz="1800" spc="55" dirty="0">
                <a:solidFill>
                  <a:srgbClr val="FF40FF"/>
                </a:solidFill>
                <a:latin typeface="Cambria Math"/>
                <a:cs typeface="Cambria Math"/>
              </a:rPr>
              <a:t>𝑖</a:t>
            </a:r>
            <a:r>
              <a:rPr lang="en-US" sz="1800" spc="-10" dirty="0">
                <a:solidFill>
                  <a:srgbClr val="FF40FF"/>
                </a:solidFill>
                <a:latin typeface="Cambria Math"/>
                <a:cs typeface="Cambria Math"/>
              </a:rPr>
              <a:t>𝑐</a:t>
            </a:r>
            <a:r>
              <a:rPr lang="en-US" sz="1800" spc="25" dirty="0">
                <a:solidFill>
                  <a:srgbClr val="FF40FF"/>
                </a:solidFill>
                <a:latin typeface="Cambria Math"/>
                <a:cs typeface="Cambria Math"/>
              </a:rPr>
              <a:t>𝑒</a:t>
            </a:r>
            <a:r>
              <a:rPr lang="en-US" sz="2800" spc="25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lang="en-US" sz="2800" spc="30" baseline="1388" dirty="0">
                <a:latin typeface="Cambria Math"/>
                <a:cs typeface="Cambria Math"/>
              </a:rPr>
              <a:t>=</a:t>
            </a:r>
            <a:r>
              <a:rPr lang="en-US" sz="2800" spc="217" baseline="1388" dirty="0">
                <a:latin typeface="Cambria Math"/>
                <a:cs typeface="Cambria Math"/>
              </a:rPr>
              <a:t> </a:t>
            </a:r>
            <a:r>
              <a:rPr lang="en-US" sz="2800" spc="52" baseline="1388" dirty="0">
                <a:latin typeface="Cambria Math"/>
                <a:cs typeface="Cambria Math"/>
              </a:rPr>
              <a:t>$</a:t>
            </a:r>
            <a:r>
              <a:rPr lang="en-US" sz="2800" spc="22" baseline="1388" dirty="0">
                <a:solidFill>
                  <a:srgbClr val="FF40FF"/>
                </a:solidFill>
                <a:latin typeface="Cambria Math"/>
                <a:cs typeface="Cambria Math"/>
              </a:rPr>
              <a:t>50</a:t>
            </a:r>
            <a:r>
              <a:rPr lang="en-US" sz="2800" spc="-89" baseline="1388" dirty="0">
                <a:solidFill>
                  <a:srgbClr val="FF40FF"/>
                </a:solidFill>
                <a:latin typeface="Cambria Math"/>
                <a:cs typeface="Cambria Math"/>
              </a:rPr>
              <a:t>0</a:t>
            </a:r>
            <a:r>
              <a:rPr lang="en-US" sz="2800" spc="22" baseline="1388" dirty="0">
                <a:solidFill>
                  <a:srgbClr val="FF40FF"/>
                </a:solidFill>
                <a:latin typeface="Verdana"/>
                <a:cs typeface="Verdana"/>
              </a:rPr>
              <a:t>k</a:t>
            </a:r>
            <a:endParaRPr lang="en-P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033CFE-E392-5CB1-72AA-D340A8F0676D}"/>
              </a:ext>
            </a:extLst>
          </p:cNvPr>
          <p:cNvSpPr txBox="1"/>
          <p:nvPr/>
        </p:nvSpPr>
        <p:spPr>
          <a:xfrm>
            <a:off x="796501" y="4224185"/>
            <a:ext cx="2403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15" dirty="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lang="en-US" sz="1800" spc="30" dirty="0">
                <a:solidFill>
                  <a:srgbClr val="FF40FF"/>
                </a:solidFill>
                <a:latin typeface="Cambria Math"/>
                <a:cs typeface="Cambria Math"/>
              </a:rPr>
              <a:t>𝑟</a:t>
            </a:r>
            <a:r>
              <a:rPr lang="en-US" sz="1800" spc="55" dirty="0">
                <a:solidFill>
                  <a:srgbClr val="FF40FF"/>
                </a:solidFill>
                <a:latin typeface="Cambria Math"/>
                <a:cs typeface="Cambria Math"/>
              </a:rPr>
              <a:t>𝑖</a:t>
            </a:r>
            <a:r>
              <a:rPr lang="en-US" sz="1800" spc="-10" dirty="0">
                <a:solidFill>
                  <a:srgbClr val="FF40FF"/>
                </a:solidFill>
                <a:latin typeface="Cambria Math"/>
                <a:cs typeface="Cambria Math"/>
              </a:rPr>
              <a:t>𝑐</a:t>
            </a:r>
            <a:r>
              <a:rPr lang="en-US" sz="1800" spc="25" dirty="0">
                <a:solidFill>
                  <a:srgbClr val="FF40FF"/>
                </a:solidFill>
                <a:latin typeface="Cambria Math"/>
                <a:cs typeface="Cambria Math"/>
              </a:rPr>
              <a:t>𝑒 </a:t>
            </a:r>
            <a:r>
              <a:rPr lang="en-US" sz="1800" spc="20" dirty="0">
                <a:latin typeface="Cambria Math"/>
                <a:cs typeface="Cambria Math"/>
              </a:rPr>
              <a:t>=</a:t>
            </a:r>
            <a:r>
              <a:rPr lang="en-US" sz="1800" spc="145" dirty="0">
                <a:latin typeface="Cambria Math"/>
                <a:cs typeface="Cambria Math"/>
              </a:rPr>
              <a:t> </a:t>
            </a:r>
            <a:r>
              <a:rPr lang="en-US" sz="1800" spc="35" dirty="0">
                <a:latin typeface="Cambria Math"/>
                <a:cs typeface="Cambria Math"/>
              </a:rPr>
              <a:t>$</a:t>
            </a:r>
            <a:r>
              <a:rPr lang="en-US" sz="1800" spc="15" dirty="0">
                <a:solidFill>
                  <a:srgbClr val="FF40FF"/>
                </a:solidFill>
                <a:latin typeface="Cambria Math"/>
                <a:cs typeface="Cambria Math"/>
              </a:rPr>
              <a:t>100</a:t>
            </a:r>
            <a:r>
              <a:rPr lang="en-US" sz="1800" spc="-40" dirty="0">
                <a:solidFill>
                  <a:srgbClr val="FF40FF"/>
                </a:solidFill>
                <a:latin typeface="Cambria Math"/>
                <a:cs typeface="Cambria Math"/>
              </a:rPr>
              <a:t>,</a:t>
            </a:r>
            <a:r>
              <a:rPr lang="en-US" sz="1800" spc="15" dirty="0">
                <a:solidFill>
                  <a:srgbClr val="FF40FF"/>
                </a:solidFill>
                <a:latin typeface="Cambria Math"/>
                <a:cs typeface="Cambria Math"/>
              </a:rPr>
              <a:t>050</a:t>
            </a:r>
            <a:r>
              <a:rPr lang="en-US" sz="1800" spc="-35" dirty="0">
                <a:solidFill>
                  <a:srgbClr val="FF40FF"/>
                </a:solidFill>
                <a:latin typeface="Cambria Math"/>
                <a:cs typeface="Cambria Math"/>
              </a:rPr>
              <a:t>.</a:t>
            </a:r>
            <a:r>
              <a:rPr lang="en-US" sz="1800" spc="-60" dirty="0">
                <a:solidFill>
                  <a:srgbClr val="FF40FF"/>
                </a:solidFill>
                <a:latin typeface="Cambria Math"/>
                <a:cs typeface="Cambria Math"/>
              </a:rPr>
              <a:t>5</a:t>
            </a:r>
            <a:r>
              <a:rPr lang="en-US" sz="1800" spc="15" dirty="0">
                <a:solidFill>
                  <a:srgbClr val="FF40FF"/>
                </a:solidFill>
                <a:latin typeface="Verdana"/>
                <a:cs typeface="Verdana"/>
              </a:rPr>
              <a:t>k</a:t>
            </a:r>
            <a:endParaRPr lang="en-P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A29345-5E05-B128-3931-B42704B1EE42}"/>
              </a:ext>
            </a:extLst>
          </p:cNvPr>
          <p:cNvSpPr txBox="1"/>
          <p:nvPr/>
        </p:nvSpPr>
        <p:spPr>
          <a:xfrm>
            <a:off x="5576414" y="4712925"/>
            <a:ext cx="183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/>
              <a:t>More Reasonable</a:t>
            </a:r>
          </a:p>
        </p:txBody>
      </p:sp>
    </p:spTree>
    <p:extLst>
      <p:ext uri="{BB962C8B-B14F-4D97-AF65-F5344CB8AC3E}">
        <p14:creationId xmlns:p14="http://schemas.microsoft.com/office/powerpoint/2010/main" val="799048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E7F4-771C-9AF6-39D9-F9ED7349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844"/>
            <a:ext cx="8134350" cy="621506"/>
          </a:xfrm>
        </p:spPr>
        <p:txBody>
          <a:bodyPr/>
          <a:lstStyle/>
          <a:p>
            <a:r>
              <a:rPr lang="en-PS" dirty="0">
                <a:solidFill>
                  <a:srgbClr val="0432FF"/>
                </a:solidFill>
              </a:rPr>
              <a:t>What do we conclude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63862-B661-F9F0-6882-A493F0089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76" y="1200150"/>
            <a:ext cx="8134350" cy="2497932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OpenSans"/>
              </a:rPr>
              <a:t>So hopefully you might notice that when a possible range of values of a feature is large, like the size and square feet which goes all the way up to 2000. It's more likely that a good model will learn to choose a relatively small parameter value, like 0.1. 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OpenSans"/>
              </a:rPr>
              <a:t>Likewise, when the possible values of the feature are small, like the number of bedrooms, then a reasonable value for its parameters will be relatively large like 50.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1FB7A-0617-3EB5-D699-72C15155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pPr/>
              <a:t>31</a:t>
            </a:fld>
            <a:endParaRPr lang="en-P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ECA16-31FF-D5CC-7F77-68F609EAE5F0}"/>
              </a:ext>
            </a:extLst>
          </p:cNvPr>
          <p:cNvSpPr txBox="1"/>
          <p:nvPr/>
        </p:nvSpPr>
        <p:spPr>
          <a:xfrm>
            <a:off x="1143000" y="4095750"/>
            <a:ext cx="6629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PS" sz="2400" dirty="0">
                <a:solidFill>
                  <a:srgbClr val="C00000"/>
                </a:solidFill>
              </a:rPr>
              <a:t>So how is that relate to gradient Descent ...?</a:t>
            </a:r>
          </a:p>
        </p:txBody>
      </p:sp>
    </p:spTree>
    <p:extLst>
      <p:ext uri="{BB962C8B-B14F-4D97-AF65-F5344CB8AC3E}">
        <p14:creationId xmlns:p14="http://schemas.microsoft.com/office/powerpoint/2010/main" val="2702115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94967" y="655701"/>
          <a:ext cx="5367020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5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z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3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2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60" dirty="0">
                          <a:solidFill>
                            <a:srgbClr val="FF9300"/>
                          </a:solidFill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575" baseline="-15873" dirty="0">
                          <a:solidFill>
                            <a:srgbClr val="FF9300"/>
                          </a:solidFill>
                          <a:latin typeface="Cambria Math"/>
                          <a:cs typeface="Cambria Math"/>
                        </a:rPr>
                        <a:t>𝑗</a:t>
                      </a:r>
                      <a:endParaRPr sz="1575" baseline="-15873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5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z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3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5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4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29" dirty="0">
                          <a:solidFill>
                            <a:srgbClr val="0096FF"/>
                          </a:solidFill>
                          <a:latin typeface="Cambria Math"/>
                          <a:cs typeface="Cambria Math"/>
                        </a:rPr>
                        <a:t>𝑤</a:t>
                      </a:r>
                      <a:r>
                        <a:rPr sz="1575" baseline="-15873" dirty="0">
                          <a:solidFill>
                            <a:srgbClr val="0096FF"/>
                          </a:solidFill>
                          <a:latin typeface="Cambria Math"/>
                          <a:cs typeface="Cambria Math"/>
                        </a:rPr>
                        <a:t>𝑗</a:t>
                      </a:r>
                      <a:endParaRPr sz="1575" baseline="-15873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spc="5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z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spc="-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5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2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ee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350" baseline="27777" dirty="0">
                          <a:latin typeface="Cambria Math"/>
                          <a:cs typeface="Cambria Math"/>
                        </a:rPr>
                        <a:t>2</a:t>
                      </a:r>
                      <a:endParaRPr sz="1350" baseline="27777">
                        <a:latin typeface="Cambria Math"/>
                        <a:cs typeface="Cambria Math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spc="15" dirty="0">
                          <a:latin typeface="Verdana"/>
                          <a:cs typeface="Verdana"/>
                        </a:rPr>
                        <a:t>#bedrooms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533775" y="1152525"/>
            <a:ext cx="1013460" cy="114300"/>
          </a:xfrm>
          <a:custGeom>
            <a:avLst/>
            <a:gdLst/>
            <a:ahLst/>
            <a:cxnLst/>
            <a:rect l="l" t="t" r="r" b="b"/>
            <a:pathLst>
              <a:path w="10134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013460" h="114300">
                <a:moveTo>
                  <a:pt x="898651" y="0"/>
                </a:moveTo>
                <a:lnTo>
                  <a:pt x="898651" y="114300"/>
                </a:lnTo>
                <a:lnTo>
                  <a:pt x="974851" y="76200"/>
                </a:lnTo>
                <a:lnTo>
                  <a:pt x="917701" y="76200"/>
                </a:lnTo>
                <a:lnTo>
                  <a:pt x="917701" y="38100"/>
                </a:lnTo>
                <a:lnTo>
                  <a:pt x="974851" y="38100"/>
                </a:lnTo>
                <a:lnTo>
                  <a:pt x="898651" y="0"/>
                </a:lnTo>
                <a:close/>
              </a:path>
              <a:path w="10134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013460" h="114300">
                <a:moveTo>
                  <a:pt x="89865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898651" y="76200"/>
                </a:lnTo>
                <a:lnTo>
                  <a:pt x="898651" y="38100"/>
                </a:lnTo>
                <a:close/>
              </a:path>
              <a:path w="1013460" h="114300">
                <a:moveTo>
                  <a:pt x="974851" y="38100"/>
                </a:moveTo>
                <a:lnTo>
                  <a:pt x="917701" y="38100"/>
                </a:lnTo>
                <a:lnTo>
                  <a:pt x="917701" y="76200"/>
                </a:lnTo>
                <a:lnTo>
                  <a:pt x="974851" y="76200"/>
                </a:lnTo>
                <a:lnTo>
                  <a:pt x="1012951" y="57150"/>
                </a:lnTo>
                <a:lnTo>
                  <a:pt x="974851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29250" y="1162050"/>
            <a:ext cx="511175" cy="114300"/>
          </a:xfrm>
          <a:custGeom>
            <a:avLst/>
            <a:gdLst/>
            <a:ahLst/>
            <a:cxnLst/>
            <a:rect l="l" t="t" r="r" b="b"/>
            <a:pathLst>
              <a:path w="5111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11175" h="114300">
                <a:moveTo>
                  <a:pt x="396748" y="0"/>
                </a:moveTo>
                <a:lnTo>
                  <a:pt x="396748" y="114300"/>
                </a:lnTo>
                <a:lnTo>
                  <a:pt x="472948" y="76200"/>
                </a:lnTo>
                <a:lnTo>
                  <a:pt x="415798" y="76200"/>
                </a:lnTo>
                <a:lnTo>
                  <a:pt x="415798" y="38100"/>
                </a:lnTo>
                <a:lnTo>
                  <a:pt x="472948" y="38100"/>
                </a:lnTo>
                <a:lnTo>
                  <a:pt x="396748" y="0"/>
                </a:lnTo>
                <a:close/>
              </a:path>
              <a:path w="5111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11175" h="114300">
                <a:moveTo>
                  <a:pt x="3967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96748" y="76200"/>
                </a:lnTo>
                <a:lnTo>
                  <a:pt x="396748" y="38100"/>
                </a:lnTo>
                <a:close/>
              </a:path>
              <a:path w="511175" h="114300">
                <a:moveTo>
                  <a:pt x="472948" y="38100"/>
                </a:moveTo>
                <a:lnTo>
                  <a:pt x="415798" y="38100"/>
                </a:lnTo>
                <a:lnTo>
                  <a:pt x="415798" y="76200"/>
                </a:lnTo>
                <a:lnTo>
                  <a:pt x="472948" y="76200"/>
                </a:lnTo>
                <a:lnTo>
                  <a:pt x="511048" y="57150"/>
                </a:lnTo>
                <a:lnTo>
                  <a:pt x="472948" y="381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33775" y="1562100"/>
            <a:ext cx="511175" cy="114300"/>
          </a:xfrm>
          <a:custGeom>
            <a:avLst/>
            <a:gdLst/>
            <a:ahLst/>
            <a:cxnLst/>
            <a:rect l="l" t="t" r="r" b="b"/>
            <a:pathLst>
              <a:path w="5111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11175" h="114300">
                <a:moveTo>
                  <a:pt x="396748" y="0"/>
                </a:moveTo>
                <a:lnTo>
                  <a:pt x="396748" y="114300"/>
                </a:lnTo>
                <a:lnTo>
                  <a:pt x="472948" y="76200"/>
                </a:lnTo>
                <a:lnTo>
                  <a:pt x="415798" y="76200"/>
                </a:lnTo>
                <a:lnTo>
                  <a:pt x="415798" y="38100"/>
                </a:lnTo>
                <a:lnTo>
                  <a:pt x="472948" y="38100"/>
                </a:lnTo>
                <a:lnTo>
                  <a:pt x="396748" y="0"/>
                </a:lnTo>
                <a:close/>
              </a:path>
              <a:path w="5111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11175" h="114300">
                <a:moveTo>
                  <a:pt x="3967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96748" y="76200"/>
                </a:lnTo>
                <a:lnTo>
                  <a:pt x="396748" y="38100"/>
                </a:lnTo>
                <a:close/>
              </a:path>
              <a:path w="511175" h="114300">
                <a:moveTo>
                  <a:pt x="472948" y="38100"/>
                </a:moveTo>
                <a:lnTo>
                  <a:pt x="415798" y="38100"/>
                </a:lnTo>
                <a:lnTo>
                  <a:pt x="415798" y="76200"/>
                </a:lnTo>
                <a:lnTo>
                  <a:pt x="472948" y="76200"/>
                </a:lnTo>
                <a:lnTo>
                  <a:pt x="511048" y="57150"/>
                </a:lnTo>
                <a:lnTo>
                  <a:pt x="472948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29250" y="1562100"/>
            <a:ext cx="1013460" cy="114300"/>
          </a:xfrm>
          <a:custGeom>
            <a:avLst/>
            <a:gdLst/>
            <a:ahLst/>
            <a:cxnLst/>
            <a:rect l="l" t="t" r="r" b="b"/>
            <a:pathLst>
              <a:path w="10134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013460" h="114300">
                <a:moveTo>
                  <a:pt x="898651" y="0"/>
                </a:moveTo>
                <a:lnTo>
                  <a:pt x="898651" y="114300"/>
                </a:lnTo>
                <a:lnTo>
                  <a:pt x="974851" y="76200"/>
                </a:lnTo>
                <a:lnTo>
                  <a:pt x="917701" y="76200"/>
                </a:lnTo>
                <a:lnTo>
                  <a:pt x="917701" y="38100"/>
                </a:lnTo>
                <a:lnTo>
                  <a:pt x="974851" y="38100"/>
                </a:lnTo>
                <a:lnTo>
                  <a:pt x="898651" y="0"/>
                </a:lnTo>
                <a:close/>
              </a:path>
              <a:path w="10134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013460" h="114300">
                <a:moveTo>
                  <a:pt x="89865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898651" y="76200"/>
                </a:lnTo>
                <a:lnTo>
                  <a:pt x="898651" y="38100"/>
                </a:lnTo>
                <a:close/>
              </a:path>
              <a:path w="1013460" h="114300">
                <a:moveTo>
                  <a:pt x="974851" y="38100"/>
                </a:moveTo>
                <a:lnTo>
                  <a:pt x="917701" y="38100"/>
                </a:lnTo>
                <a:lnTo>
                  <a:pt x="917701" y="76200"/>
                </a:lnTo>
                <a:lnTo>
                  <a:pt x="974851" y="76200"/>
                </a:lnTo>
                <a:lnTo>
                  <a:pt x="1012951" y="57150"/>
                </a:lnTo>
                <a:lnTo>
                  <a:pt x="974851" y="381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55978" y="1949704"/>
            <a:ext cx="114935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45" dirty="0">
                <a:solidFill>
                  <a:srgbClr val="FF9300"/>
                </a:solidFill>
                <a:latin typeface="Verdana"/>
                <a:cs typeface="Verdana"/>
              </a:rPr>
              <a:t>F</a:t>
            </a:r>
            <a:r>
              <a:rPr sz="2000" spc="5" dirty="0">
                <a:solidFill>
                  <a:srgbClr val="FF9300"/>
                </a:solidFill>
                <a:latin typeface="Verdana"/>
                <a:cs typeface="Verdana"/>
              </a:rPr>
              <a:t>e</a:t>
            </a:r>
            <a:r>
              <a:rPr sz="2000" spc="-5" dirty="0">
                <a:solidFill>
                  <a:srgbClr val="FF9300"/>
                </a:solidFill>
                <a:latin typeface="Verdana"/>
                <a:cs typeface="Verdana"/>
              </a:rPr>
              <a:t>a</a:t>
            </a:r>
            <a:r>
              <a:rPr sz="2000" spc="30" dirty="0">
                <a:solidFill>
                  <a:srgbClr val="FF9300"/>
                </a:solidFill>
                <a:latin typeface="Verdana"/>
                <a:cs typeface="Verdana"/>
              </a:rPr>
              <a:t>t</a:t>
            </a:r>
            <a:r>
              <a:rPr sz="2000" spc="5" dirty="0">
                <a:solidFill>
                  <a:srgbClr val="FF9300"/>
                </a:solidFill>
                <a:latin typeface="Verdana"/>
                <a:cs typeface="Verdana"/>
              </a:rPr>
              <a:t>u</a:t>
            </a:r>
            <a:r>
              <a:rPr sz="2000" spc="40" dirty="0">
                <a:solidFill>
                  <a:srgbClr val="FF9300"/>
                </a:solidFill>
                <a:latin typeface="Verdana"/>
                <a:cs typeface="Verdana"/>
              </a:rPr>
              <a:t>r</a:t>
            </a:r>
            <a:r>
              <a:rPr sz="2000" spc="5" dirty="0">
                <a:solidFill>
                  <a:srgbClr val="FF9300"/>
                </a:solidFill>
                <a:latin typeface="Verdana"/>
                <a:cs typeface="Verdana"/>
              </a:rPr>
              <a:t>e</a:t>
            </a:r>
            <a:r>
              <a:rPr sz="2000" spc="15" dirty="0">
                <a:solidFill>
                  <a:srgbClr val="FF9300"/>
                </a:solidFill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3451" y="1949704"/>
            <a:ext cx="15017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10" dirty="0">
                <a:solidFill>
                  <a:srgbClr val="0096FF"/>
                </a:solidFill>
                <a:latin typeface="Verdana"/>
                <a:cs typeface="Verdana"/>
              </a:rPr>
              <a:t>Parameters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457323"/>
            <a:ext cx="2035175" cy="182304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37588" y="4251642"/>
            <a:ext cx="1217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1575" spc="67" baseline="-15873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Arial MT"/>
                <a:cs typeface="Arial MT"/>
              </a:rPr>
              <a:t>size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25" dirty="0">
                <a:latin typeface="Arial MT"/>
                <a:cs typeface="Arial MT"/>
              </a:rPr>
              <a:t>feet</a:t>
            </a:r>
            <a:r>
              <a:rPr sz="1350" spc="37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435" y="2931477"/>
            <a:ext cx="1045210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575" baseline="-15873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15" dirty="0">
                <a:latin typeface="Arial MT"/>
                <a:cs typeface="Arial MT"/>
              </a:rPr>
              <a:t>#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30" dirty="0">
                <a:latin typeface="Arial MT"/>
                <a:cs typeface="Arial MT"/>
              </a:rPr>
              <a:t>bedrooms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8051" y="2931477"/>
            <a:ext cx="104203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1435" algn="ctr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575" spc="-30" baseline="-15873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endParaRPr sz="1575" baseline="-15873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15" dirty="0">
                <a:latin typeface="Arial MT"/>
                <a:cs typeface="Arial MT"/>
              </a:rPr>
              <a:t>#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25" dirty="0">
                <a:latin typeface="Arial MT"/>
                <a:cs typeface="Arial MT"/>
              </a:rPr>
              <a:t>bedrooms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620" y="3889184"/>
            <a:ext cx="125984" cy="1333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618" y="3664203"/>
            <a:ext cx="114896" cy="13080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167251" y="1986026"/>
            <a:ext cx="0" cy="2421255"/>
          </a:xfrm>
          <a:custGeom>
            <a:avLst/>
            <a:gdLst/>
            <a:ahLst/>
            <a:cxnLst/>
            <a:rect l="l" t="t" r="r" b="b"/>
            <a:pathLst>
              <a:path h="2421254">
                <a:moveTo>
                  <a:pt x="0" y="0"/>
                </a:moveTo>
                <a:lnTo>
                  <a:pt x="0" y="2421178"/>
                </a:lnTo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84426" y="2389123"/>
            <a:ext cx="1689429" cy="34061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176134" y="2314829"/>
            <a:ext cx="1205866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30" dirty="0">
                <a:latin typeface="Cambria Math"/>
                <a:cs typeface="Cambria Math"/>
              </a:rPr>
              <a:t>𝐽 </a:t>
            </a:r>
            <a:r>
              <a:rPr lang="en-GB" sz="2000" spc="30" dirty="0">
                <a:latin typeface="Cambria Math"/>
                <a:cs typeface="Cambria Math"/>
              </a:rPr>
              <a:t>(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000" spc="5" dirty="0">
                <a:latin typeface="Cambria Math"/>
                <a:cs typeface="Cambria Math"/>
              </a:rPr>
              <a:t>,</a:t>
            </a:r>
            <a:r>
              <a:rPr sz="2000" spc="-185" dirty="0">
                <a:latin typeface="Cambria Math"/>
                <a:cs typeface="Cambria Math"/>
              </a:rPr>
              <a:t> </a:t>
            </a:r>
            <a:r>
              <a:rPr sz="2000" spc="3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lang="en-GB" sz="2000" spc="30" dirty="0">
                <a:solidFill>
                  <a:srgbClr val="0096FF"/>
                </a:solidFill>
                <a:latin typeface="Cambria Math"/>
                <a:cs typeface="Cambria Math"/>
              </a:rPr>
              <a:t>)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66075" y="94549"/>
            <a:ext cx="55594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Feature</a:t>
            </a:r>
            <a:r>
              <a:rPr spc="-30" dirty="0"/>
              <a:t> </a:t>
            </a:r>
            <a:r>
              <a:rPr spc="-15" dirty="0"/>
              <a:t>size</a:t>
            </a:r>
            <a:r>
              <a:rPr spc="55" dirty="0"/>
              <a:t> </a:t>
            </a:r>
            <a:r>
              <a:rPr spc="10" dirty="0"/>
              <a:t>and</a:t>
            </a:r>
            <a:r>
              <a:rPr spc="-20" dirty="0"/>
              <a:t> </a:t>
            </a:r>
            <a:r>
              <a:rPr spc="-15" dirty="0"/>
              <a:t>parameter</a:t>
            </a:r>
            <a:r>
              <a:rPr spc="55" dirty="0"/>
              <a:t> </a:t>
            </a:r>
            <a:r>
              <a:rPr spc="-20" dirty="0"/>
              <a:t>size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1764CD6-14CC-2AED-4A4B-6A6DD315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32</a:t>
            </a:fld>
            <a:endParaRPr lang="en-P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92D93F-20C5-334A-2720-25E08C2C6CF2}"/>
              </a:ext>
            </a:extLst>
          </p:cNvPr>
          <p:cNvGrpSpPr/>
          <p:nvPr/>
        </p:nvGrpSpPr>
        <p:grpSpPr>
          <a:xfrm>
            <a:off x="4750214" y="2504301"/>
            <a:ext cx="2228723" cy="2008643"/>
            <a:chOff x="4750214" y="2504301"/>
            <a:chExt cx="2228723" cy="2008643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0214" y="2504301"/>
              <a:ext cx="2228723" cy="1805317"/>
            </a:xfrm>
            <a:prstGeom prst="rect">
              <a:avLst/>
            </a:prstGeom>
          </p:spPr>
        </p:pic>
        <p:sp>
          <p:nvSpPr>
            <p:cNvPr id="13" name="object 13"/>
            <p:cNvSpPr txBox="1"/>
            <p:nvPr/>
          </p:nvSpPr>
          <p:spPr>
            <a:xfrm>
              <a:off x="5502909" y="4269740"/>
              <a:ext cx="1255395" cy="24320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1400" spc="-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575" spc="-30" baseline="-15873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r>
                <a:rPr sz="1575" spc="165" baseline="-15873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1400" spc="5" dirty="0">
                  <a:latin typeface="Arial MT"/>
                  <a:cs typeface="Arial MT"/>
                </a:rPr>
                <a:t>size</a:t>
              </a:r>
              <a:r>
                <a:rPr sz="1400" spc="-8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in</a:t>
              </a:r>
              <a:r>
                <a:rPr sz="1400" spc="-5" dirty="0">
                  <a:latin typeface="Arial MT"/>
                  <a:cs typeface="Arial MT"/>
                </a:rPr>
                <a:t> </a:t>
              </a:r>
              <a:r>
                <a:rPr sz="1400" spc="25" dirty="0">
                  <a:latin typeface="Arial MT"/>
                  <a:cs typeface="Arial MT"/>
                </a:rPr>
                <a:t>feet</a:t>
              </a:r>
              <a:r>
                <a:rPr sz="1350" spc="37" baseline="27777" dirty="0">
                  <a:latin typeface="Cambria Math"/>
                  <a:cs typeface="Cambria Math"/>
                </a:rPr>
                <a:t>2</a:t>
              </a:r>
              <a:endParaRPr sz="1350" baseline="27777">
                <a:latin typeface="Cambria Math"/>
                <a:cs typeface="Cambria Math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7AF2DF-23FA-F787-1AC6-9ED674689104}"/>
                </a:ext>
              </a:extLst>
            </p:cNvPr>
            <p:cNvSpPr/>
            <p:nvPr/>
          </p:nvSpPr>
          <p:spPr>
            <a:xfrm>
              <a:off x="5389562" y="2637050"/>
              <a:ext cx="590550" cy="1305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5D3051-8471-0534-63E6-871EC777DC4B}"/>
                </a:ext>
              </a:extLst>
            </p:cNvPr>
            <p:cNvSpPr/>
            <p:nvPr/>
          </p:nvSpPr>
          <p:spPr>
            <a:xfrm>
              <a:off x="5490114" y="2777214"/>
              <a:ext cx="377286" cy="10899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175FD7D-8C44-A1BC-AA58-E6B18F7C2A53}"/>
                </a:ext>
              </a:extLst>
            </p:cNvPr>
            <p:cNvSpPr/>
            <p:nvPr/>
          </p:nvSpPr>
          <p:spPr>
            <a:xfrm>
              <a:off x="5529046" y="2916480"/>
              <a:ext cx="263203" cy="8114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2E9CD0B-ABE5-32B5-B797-642638D0570B}"/>
                </a:ext>
              </a:extLst>
            </p:cNvPr>
            <p:cNvSpPr/>
            <p:nvPr/>
          </p:nvSpPr>
          <p:spPr>
            <a:xfrm>
              <a:off x="5562600" y="3074403"/>
              <a:ext cx="185954" cy="51562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60A7097-4667-927F-6E1B-31D74F792C0B}"/>
              </a:ext>
            </a:extLst>
          </p:cNvPr>
          <p:cNvSpPr txBox="1"/>
          <p:nvPr/>
        </p:nvSpPr>
        <p:spPr>
          <a:xfrm>
            <a:off x="6974451" y="2705071"/>
            <a:ext cx="137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/>
              <a:t>Contour plot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889" y="1280223"/>
            <a:ext cx="104457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aseline="-1587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1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bedrooms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9065" y="705484"/>
            <a:ext cx="6892290" cy="1749425"/>
            <a:chOff x="749065" y="705484"/>
            <a:chExt cx="6892290" cy="17494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065" y="2196845"/>
              <a:ext cx="125977" cy="133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784" y="1981199"/>
              <a:ext cx="114884" cy="1308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5533" y="705484"/>
              <a:ext cx="2995802" cy="174929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35015" y="2402903"/>
            <a:ext cx="125539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1575" spc="-30" baseline="-158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575" spc="172" baseline="-158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1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sz="1350" spc="3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350" baseline="277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6276" y="1284605"/>
            <a:ext cx="1042035" cy="463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00" spc="-2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1575" spc="-30" baseline="-158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aseline="-1587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1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bedrooms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37578" y="1312925"/>
            <a:ext cx="604520" cy="250190"/>
            <a:chOff x="7037578" y="1312925"/>
            <a:chExt cx="604520" cy="250190"/>
          </a:xfrm>
        </p:grpSpPr>
        <p:sp>
          <p:nvSpPr>
            <p:cNvPr id="12" name="object 12"/>
            <p:cNvSpPr/>
            <p:nvPr/>
          </p:nvSpPr>
          <p:spPr>
            <a:xfrm>
              <a:off x="7037578" y="1324482"/>
              <a:ext cx="604520" cy="238125"/>
            </a:xfrm>
            <a:custGeom>
              <a:avLst/>
              <a:gdLst/>
              <a:ahLst/>
              <a:cxnLst/>
              <a:rect l="l" t="t" r="r" b="b"/>
              <a:pathLst>
                <a:path w="604520" h="238125">
                  <a:moveTo>
                    <a:pt x="528574" y="0"/>
                  </a:moveTo>
                  <a:lnTo>
                    <a:pt x="525145" y="9651"/>
                  </a:lnTo>
                  <a:lnTo>
                    <a:pt x="538934" y="15652"/>
                  </a:lnTo>
                  <a:lnTo>
                    <a:pt x="550783" y="23939"/>
                  </a:lnTo>
                  <a:lnTo>
                    <a:pt x="574873" y="62277"/>
                  </a:lnTo>
                  <a:lnTo>
                    <a:pt x="582802" y="117855"/>
                  </a:lnTo>
                  <a:lnTo>
                    <a:pt x="581921" y="138884"/>
                  </a:lnTo>
                  <a:lnTo>
                    <a:pt x="568705" y="190372"/>
                  </a:lnTo>
                  <a:lnTo>
                    <a:pt x="539077" y="222448"/>
                  </a:lnTo>
                  <a:lnTo>
                    <a:pt x="525526" y="228472"/>
                  </a:lnTo>
                  <a:lnTo>
                    <a:pt x="528574" y="238125"/>
                  </a:lnTo>
                  <a:lnTo>
                    <a:pt x="574079" y="211139"/>
                  </a:lnTo>
                  <a:lnTo>
                    <a:pt x="599598" y="161242"/>
                  </a:lnTo>
                  <a:lnTo>
                    <a:pt x="604520" y="119125"/>
                  </a:lnTo>
                  <a:lnTo>
                    <a:pt x="603283" y="97287"/>
                  </a:lnTo>
                  <a:lnTo>
                    <a:pt x="593429" y="58564"/>
                  </a:lnTo>
                  <a:lnTo>
                    <a:pt x="560943" y="15208"/>
                  </a:lnTo>
                  <a:lnTo>
                    <a:pt x="545812" y="6187"/>
                  </a:lnTo>
                  <a:lnTo>
                    <a:pt x="528574" y="0"/>
                  </a:lnTo>
                  <a:close/>
                </a:path>
                <a:path w="604520" h="238125">
                  <a:moveTo>
                    <a:pt x="76073" y="0"/>
                  </a:moveTo>
                  <a:lnTo>
                    <a:pt x="30567" y="27039"/>
                  </a:lnTo>
                  <a:lnTo>
                    <a:pt x="4937" y="77104"/>
                  </a:lnTo>
                  <a:lnTo>
                    <a:pt x="0" y="119125"/>
                  </a:lnTo>
                  <a:lnTo>
                    <a:pt x="1236" y="141035"/>
                  </a:lnTo>
                  <a:lnTo>
                    <a:pt x="11090" y="179758"/>
                  </a:lnTo>
                  <a:lnTo>
                    <a:pt x="43497" y="222932"/>
                  </a:lnTo>
                  <a:lnTo>
                    <a:pt x="76073" y="238125"/>
                  </a:lnTo>
                  <a:lnTo>
                    <a:pt x="78994" y="228472"/>
                  </a:lnTo>
                  <a:lnTo>
                    <a:pt x="65444" y="222448"/>
                  </a:lnTo>
                  <a:lnTo>
                    <a:pt x="53752" y="214090"/>
                  </a:lnTo>
                  <a:lnTo>
                    <a:pt x="29700" y="175131"/>
                  </a:lnTo>
                  <a:lnTo>
                    <a:pt x="21717" y="117855"/>
                  </a:lnTo>
                  <a:lnTo>
                    <a:pt x="22600" y="97520"/>
                  </a:lnTo>
                  <a:lnTo>
                    <a:pt x="35941" y="47370"/>
                  </a:lnTo>
                  <a:lnTo>
                    <a:pt x="65659" y="15652"/>
                  </a:lnTo>
                  <a:lnTo>
                    <a:pt x="79375" y="9651"/>
                  </a:lnTo>
                  <a:lnTo>
                    <a:pt x="76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119747" y="1312925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8021" y="0"/>
                  </a:moveTo>
                  <a:lnTo>
                    <a:pt x="161289" y="7620"/>
                  </a:lnTo>
                  <a:lnTo>
                    <a:pt x="181355" y="25019"/>
                  </a:lnTo>
                  <a:lnTo>
                    <a:pt x="0" y="25019"/>
                  </a:lnTo>
                  <a:lnTo>
                    <a:pt x="0" y="36829"/>
                  </a:lnTo>
                  <a:lnTo>
                    <a:pt x="181355" y="36829"/>
                  </a:lnTo>
                  <a:lnTo>
                    <a:pt x="161289" y="54356"/>
                  </a:lnTo>
                  <a:lnTo>
                    <a:pt x="168021" y="61849"/>
                  </a:lnTo>
                  <a:lnTo>
                    <a:pt x="199517" y="34544"/>
                  </a:lnTo>
                  <a:lnTo>
                    <a:pt x="199517" y="27304"/>
                  </a:lnTo>
                  <a:lnTo>
                    <a:pt x="168021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04608" y="1248092"/>
            <a:ext cx="660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𝐽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𝑏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050" y="2619248"/>
            <a:ext cx="1861693" cy="161498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313679" y="4113212"/>
            <a:ext cx="125539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1575" spc="-30" baseline="-158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575" spc="179" baseline="-158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1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sz="1350" spc="3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350" baseline="277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39234" y="3020377"/>
            <a:ext cx="1044575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𝑤</a:t>
            </a:r>
            <a:r>
              <a:rPr sz="1575" spc="-30" baseline="-15873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aseline="-1587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 marR="30480" algn="ctr">
              <a:lnSpc>
                <a:spcPts val="1650"/>
              </a:lnSpc>
              <a:spcBef>
                <a:spcPts val="130"/>
              </a:spcBef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rescaled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47230" y="3120644"/>
            <a:ext cx="604520" cy="250190"/>
            <a:chOff x="7047230" y="3120644"/>
            <a:chExt cx="604520" cy="250190"/>
          </a:xfrm>
        </p:grpSpPr>
        <p:sp>
          <p:nvSpPr>
            <p:cNvPr id="19" name="object 19"/>
            <p:cNvSpPr/>
            <p:nvPr/>
          </p:nvSpPr>
          <p:spPr>
            <a:xfrm>
              <a:off x="7047230" y="3132074"/>
              <a:ext cx="604520" cy="238760"/>
            </a:xfrm>
            <a:custGeom>
              <a:avLst/>
              <a:gdLst/>
              <a:ahLst/>
              <a:cxnLst/>
              <a:rect l="l" t="t" r="r" b="b"/>
              <a:pathLst>
                <a:path w="604520" h="238760">
                  <a:moveTo>
                    <a:pt x="528447" y="0"/>
                  </a:moveTo>
                  <a:lnTo>
                    <a:pt x="525145" y="9778"/>
                  </a:lnTo>
                  <a:lnTo>
                    <a:pt x="538934" y="15708"/>
                  </a:lnTo>
                  <a:lnTo>
                    <a:pt x="550783" y="23971"/>
                  </a:lnTo>
                  <a:lnTo>
                    <a:pt x="574853" y="62404"/>
                  </a:lnTo>
                  <a:lnTo>
                    <a:pt x="582676" y="117982"/>
                  </a:lnTo>
                  <a:lnTo>
                    <a:pt x="581794" y="139009"/>
                  </a:lnTo>
                  <a:lnTo>
                    <a:pt x="568578" y="190373"/>
                  </a:lnTo>
                  <a:lnTo>
                    <a:pt x="539075" y="222573"/>
                  </a:lnTo>
                  <a:lnTo>
                    <a:pt x="525526" y="228600"/>
                  </a:lnTo>
                  <a:lnTo>
                    <a:pt x="528447" y="238251"/>
                  </a:lnTo>
                  <a:lnTo>
                    <a:pt x="573952" y="211195"/>
                  </a:lnTo>
                  <a:lnTo>
                    <a:pt x="599582" y="161305"/>
                  </a:lnTo>
                  <a:lnTo>
                    <a:pt x="604520" y="119252"/>
                  </a:lnTo>
                  <a:lnTo>
                    <a:pt x="603283" y="97414"/>
                  </a:lnTo>
                  <a:lnTo>
                    <a:pt x="593429" y="58691"/>
                  </a:lnTo>
                  <a:lnTo>
                    <a:pt x="560927" y="15319"/>
                  </a:lnTo>
                  <a:lnTo>
                    <a:pt x="545758" y="6260"/>
                  </a:lnTo>
                  <a:lnTo>
                    <a:pt x="528447" y="0"/>
                  </a:lnTo>
                  <a:close/>
                </a:path>
                <a:path w="604520" h="238760">
                  <a:moveTo>
                    <a:pt x="75946" y="0"/>
                  </a:moveTo>
                  <a:lnTo>
                    <a:pt x="30565" y="27164"/>
                  </a:lnTo>
                  <a:lnTo>
                    <a:pt x="4937" y="77231"/>
                  </a:lnTo>
                  <a:lnTo>
                    <a:pt x="0" y="119252"/>
                  </a:lnTo>
                  <a:lnTo>
                    <a:pt x="1216" y="141106"/>
                  </a:lnTo>
                  <a:lnTo>
                    <a:pt x="10983" y="179814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994" y="228600"/>
                  </a:lnTo>
                  <a:lnTo>
                    <a:pt x="65424" y="222573"/>
                  </a:lnTo>
                  <a:lnTo>
                    <a:pt x="53689" y="214201"/>
                  </a:lnTo>
                  <a:lnTo>
                    <a:pt x="29646" y="175204"/>
                  </a:lnTo>
                  <a:lnTo>
                    <a:pt x="21717" y="117982"/>
                  </a:lnTo>
                  <a:lnTo>
                    <a:pt x="22598" y="97647"/>
                  </a:lnTo>
                  <a:lnTo>
                    <a:pt x="35814" y="47498"/>
                  </a:lnTo>
                  <a:lnTo>
                    <a:pt x="65639" y="15708"/>
                  </a:lnTo>
                  <a:lnTo>
                    <a:pt x="79375" y="9778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129399" y="3120644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7894" y="0"/>
                  </a:moveTo>
                  <a:lnTo>
                    <a:pt x="161290" y="7619"/>
                  </a:lnTo>
                  <a:lnTo>
                    <a:pt x="1813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81355" y="36830"/>
                  </a:lnTo>
                  <a:lnTo>
                    <a:pt x="161290" y="54356"/>
                  </a:lnTo>
                  <a:lnTo>
                    <a:pt x="167894" y="61849"/>
                  </a:lnTo>
                  <a:lnTo>
                    <a:pt x="199517" y="34543"/>
                  </a:lnTo>
                  <a:lnTo>
                    <a:pt x="199517" y="27305"/>
                  </a:lnTo>
                  <a:lnTo>
                    <a:pt x="16789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14133" y="3059112"/>
            <a:ext cx="660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𝐽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𝑏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77" y="2949257"/>
            <a:ext cx="1042669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aseline="-1587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670"/>
              </a:lnSpc>
              <a:spcBef>
                <a:spcPts val="50"/>
              </a:spcBef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1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bedrooms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635" algn="ctr">
              <a:lnSpc>
                <a:spcPts val="1670"/>
              </a:lnSpc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rescaled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55128" y="721105"/>
            <a:ext cx="585977" cy="362839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298828" y="-19884"/>
            <a:ext cx="5870575" cy="8290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</a:t>
            </a:r>
          </a:p>
          <a:p>
            <a:pPr marL="150495">
              <a:lnSpc>
                <a:spcPct val="100000"/>
              </a:lnSpc>
              <a:tabLst>
                <a:tab pos="4003675" algn="l"/>
              </a:tabLst>
            </a:pPr>
            <a:r>
              <a:rPr sz="2000" spc="20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	</a:t>
            </a:r>
            <a:r>
              <a:rPr sz="2000" spc="10" dirty="0">
                <a:solidFill>
                  <a:srgbClr val="009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86984" y="4350095"/>
            <a:ext cx="716280" cy="205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  <a:r>
              <a:rPr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D343EFF-1EB8-9EB7-4B41-513A8E4A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1232B8-2162-A983-4CCD-C483874035B4}"/>
              </a:ext>
            </a:extLst>
          </p:cNvPr>
          <p:cNvGrpSpPr/>
          <p:nvPr/>
        </p:nvGrpSpPr>
        <p:grpSpPr>
          <a:xfrm>
            <a:off x="678484" y="801139"/>
            <a:ext cx="2606499" cy="3812060"/>
            <a:chOff x="678484" y="801139"/>
            <a:chExt cx="2606499" cy="3812060"/>
          </a:xfrm>
        </p:grpSpPr>
        <p:pic>
          <p:nvPicPr>
            <p:cNvPr id="2" name="object 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805" y="801139"/>
              <a:ext cx="2567178" cy="3762502"/>
            </a:xfrm>
            <a:prstGeom prst="rect">
              <a:avLst/>
            </a:prstGeom>
          </p:spPr>
        </p:pic>
        <p:sp>
          <p:nvSpPr>
            <p:cNvPr id="3" name="object 3"/>
            <p:cNvSpPr txBox="1"/>
            <p:nvPr/>
          </p:nvSpPr>
          <p:spPr>
            <a:xfrm>
              <a:off x="1371853" y="2633346"/>
              <a:ext cx="1217295" cy="23147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1400" spc="1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1575" spc="22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1575" spc="67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</a:t>
              </a:r>
              <a:r>
                <a:rPr sz="1400" spc="-7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sz="14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feet</a:t>
              </a:r>
              <a:r>
                <a:rPr sz="1350" spc="37" baseline="2777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350" baseline="27777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304289" y="4106545"/>
              <a:ext cx="1217295" cy="23147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1400" spc="1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1575" spc="22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1575" spc="67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</a:t>
              </a:r>
              <a:r>
                <a:rPr sz="1400" spc="-7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sz="14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feet</a:t>
              </a:r>
              <a:r>
                <a:rPr sz="1350" spc="37" baseline="2777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350" baseline="2777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549019" y="4343110"/>
              <a:ext cx="716280" cy="20556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670"/>
                </a:lnSpc>
              </a:pPr>
              <a:r>
                <a:rPr sz="1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sz="1400" spc="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esc</a:t>
              </a:r>
              <a:r>
                <a:rPr sz="1400" spc="-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sz="1400" spc="-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sz="1400" spc="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sz="14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2EEF474-0F35-67C7-4BBF-572067C74C62}"/>
                </a:ext>
              </a:extLst>
            </p:cNvPr>
            <p:cNvSpPr/>
            <p:nvPr/>
          </p:nvSpPr>
          <p:spPr>
            <a:xfrm>
              <a:off x="2895600" y="257175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B23E8D5-7F50-3D9B-9DBB-7D46635FFEF4}"/>
                </a:ext>
              </a:extLst>
            </p:cNvPr>
            <p:cNvSpPr/>
            <p:nvPr/>
          </p:nvSpPr>
          <p:spPr>
            <a:xfrm>
              <a:off x="3048000" y="272415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BE884CB-3192-056B-95AD-3B14E9AD8F38}"/>
                </a:ext>
              </a:extLst>
            </p:cNvPr>
            <p:cNvSpPr/>
            <p:nvPr/>
          </p:nvSpPr>
          <p:spPr>
            <a:xfrm>
              <a:off x="2744027" y="4384599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C5F0C0A-35D5-F9DD-5A2A-092A3938B26F}"/>
                </a:ext>
              </a:extLst>
            </p:cNvPr>
            <p:cNvSpPr/>
            <p:nvPr/>
          </p:nvSpPr>
          <p:spPr>
            <a:xfrm>
              <a:off x="1028810" y="4384599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D5D5BA1-3918-0310-E8AC-B3CBC5DFB1EB}"/>
                </a:ext>
              </a:extLst>
            </p:cNvPr>
            <p:cNvSpPr/>
            <p:nvPr/>
          </p:nvSpPr>
          <p:spPr>
            <a:xfrm>
              <a:off x="678484" y="3774878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C4A9799-1870-F897-12D7-E9551A301833}"/>
              </a:ext>
            </a:extLst>
          </p:cNvPr>
          <p:cNvSpPr txBox="1"/>
          <p:nvPr/>
        </p:nvSpPr>
        <p:spPr>
          <a:xfrm>
            <a:off x="412355" y="4678577"/>
            <a:ext cx="802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rescaled values of the parameters are taking comparable ranges to each others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FB0A-CF73-549C-BAAA-7F09790C64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983D8-FBE6-8084-E345-CF49CCD87D93}"/>
              </a:ext>
            </a:extLst>
          </p:cNvPr>
          <p:cNvSpPr txBox="1"/>
          <p:nvPr/>
        </p:nvSpPr>
        <p:spPr>
          <a:xfrm>
            <a:off x="425767" y="89535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2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</a:t>
            </a:r>
            <a:r>
              <a:rPr lang="en-US" sz="36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Tips </a:t>
            </a:r>
            <a:r>
              <a:rPr lang="en-US" sz="3600" spc="1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600" spc="-137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en-US" sz="3600" spc="-6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PS" sz="36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BE7931F-937B-5FC2-A631-7F4D5552A5E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09600" y="3197761"/>
            <a:ext cx="7404735" cy="443198"/>
          </a:xfrm>
        </p:spPr>
        <p:txBody>
          <a:bodyPr/>
          <a:lstStyle/>
          <a:p>
            <a:pPr marL="0" indent="0">
              <a:buNone/>
            </a:pPr>
            <a:r>
              <a:rPr lang="en-P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implement Feature scaling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875" y="504698"/>
            <a:ext cx="2032380" cy="18366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64944" y="1981136"/>
            <a:ext cx="787400" cy="4400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0025" marR="30480" indent="-162560">
              <a:lnSpc>
                <a:spcPct val="103000"/>
              </a:lnSpc>
              <a:spcBef>
                <a:spcPts val="75"/>
              </a:spcBef>
            </a:pPr>
            <a:r>
              <a:rPr sz="1400" spc="1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1575" spc="37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575" spc="89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sz="1350" spc="3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350" baseline="277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472" y="908748"/>
            <a:ext cx="1042669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aseline="-1587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1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bedrooms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941" y="1921382"/>
            <a:ext cx="125977" cy="1333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661" y="1705864"/>
            <a:ext cx="114896" cy="130810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2358644" y="149787"/>
            <a:ext cx="36464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pc="-7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180A94-243A-FCF5-2B08-6BF69969B11F}"/>
              </a:ext>
            </a:extLst>
          </p:cNvPr>
          <p:cNvGrpSpPr/>
          <p:nvPr/>
        </p:nvGrpSpPr>
        <p:grpSpPr>
          <a:xfrm>
            <a:off x="3698241" y="1119961"/>
            <a:ext cx="2240915" cy="2612390"/>
            <a:chOff x="4251578" y="1052766"/>
            <a:chExt cx="2240915" cy="2612390"/>
          </a:xfrm>
        </p:grpSpPr>
        <p:sp>
          <p:nvSpPr>
            <p:cNvPr id="7" name="object 7"/>
            <p:cNvSpPr txBox="1"/>
            <p:nvPr/>
          </p:nvSpPr>
          <p:spPr>
            <a:xfrm>
              <a:off x="4504054" y="1052766"/>
              <a:ext cx="1983739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  <a:r>
                <a:rPr sz="2000" spc="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3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-44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250" spc="532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2000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495419" y="2221166"/>
              <a:ext cx="14732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609719" y="2325941"/>
              <a:ext cx="699135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1350" spc="2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sz="1350" spc="7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𝑠</a:t>
              </a:r>
              <a:r>
                <a:rPr sz="1350" spc="1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𝑐</a:t>
              </a:r>
              <a:r>
                <a:rPr sz="1350" spc="14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𝑎</a:t>
              </a:r>
              <a:r>
                <a:rPr sz="1350" spc="13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𝑙</a:t>
              </a:r>
              <a:r>
                <a:rPr sz="1350" spc="14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𝑒𝑑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725540" y="2049462"/>
              <a:ext cx="14732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318378" y="2097087"/>
              <a:ext cx="814069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  <a:tabLst>
                  <a:tab pos="534035" algn="l"/>
                  <a:tab pos="775335" algn="l"/>
                </a:tabLst>
              </a:pPr>
              <a:r>
                <a:rPr sz="2700" baseline="-3086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u="sng" dirty="0">
                  <a:solidFill>
                    <a:srgbClr val="FF93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1350" u="sng" spc="35" dirty="0">
                  <a:solidFill>
                    <a:srgbClr val="FF93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	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5582284" y="2373947"/>
              <a:ext cx="52070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2000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251578" y="3330511"/>
              <a:ext cx="2240915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0.15</a:t>
              </a:r>
              <a:r>
                <a:rPr sz="2000" spc="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3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52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1,𝑠𝑐𝑎𝑙𝑒𝑑</a:t>
              </a:r>
              <a:r>
                <a:rPr sz="2250" spc="300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1071" y="1588642"/>
              <a:ext cx="267842" cy="5308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3876" y="2617977"/>
              <a:ext cx="220599" cy="77343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6197" y="1537969"/>
              <a:ext cx="221868" cy="103377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24702" y="1387094"/>
              <a:ext cx="509512" cy="4698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9564" y="2690114"/>
              <a:ext cx="504987" cy="138303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4FD609-7C7E-FF18-ACD9-1B58A60E5734}"/>
              </a:ext>
            </a:extLst>
          </p:cNvPr>
          <p:cNvGrpSpPr/>
          <p:nvPr/>
        </p:nvGrpSpPr>
        <p:grpSpPr>
          <a:xfrm>
            <a:off x="6572090" y="1105736"/>
            <a:ext cx="1990979" cy="2665603"/>
            <a:chOff x="6640194" y="1056703"/>
            <a:chExt cx="1990979" cy="2665603"/>
          </a:xfrm>
        </p:grpSpPr>
        <p:sp>
          <p:nvSpPr>
            <p:cNvPr id="8" name="object 8"/>
            <p:cNvSpPr txBox="1"/>
            <p:nvPr/>
          </p:nvSpPr>
          <p:spPr>
            <a:xfrm>
              <a:off x="6854825" y="1056703"/>
              <a:ext cx="1267460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sz="2000" spc="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15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250" spc="412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640194" y="2221166"/>
              <a:ext cx="14732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764019" y="2325941"/>
              <a:ext cx="68834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1350" spc="2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sz="1350" spc="7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𝑠</a:t>
              </a:r>
              <a:r>
                <a:rPr sz="1350" spc="1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𝑐</a:t>
              </a:r>
              <a:r>
                <a:rPr sz="1350" spc="14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𝑎</a:t>
              </a:r>
              <a:r>
                <a:rPr sz="1350" spc="12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𝑙</a:t>
              </a:r>
              <a:r>
                <a:rPr sz="1350" spc="6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𝑒</a:t>
              </a:r>
              <a:r>
                <a:rPr sz="1350" spc="14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𝑑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7726933" y="2049462"/>
              <a:ext cx="14732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472933" y="2097087"/>
              <a:ext cx="528955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2700" baseline="-3086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1800" u="sng" dirty="0">
                  <a:solidFill>
                    <a:srgbClr val="FF93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sz="1800" u="sng" spc="155" dirty="0">
                  <a:solidFill>
                    <a:srgbClr val="FF93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350" u="sng" spc="35" dirty="0">
                  <a:solidFill>
                    <a:srgbClr val="FF93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774940" y="2373947"/>
              <a:ext cx="15240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733793" y="3387661"/>
              <a:ext cx="1897380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3000" spc="22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sz="3000" spc="97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000" spc="30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3000" spc="75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000" spc="52" baseline="125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1500" spc="3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2,𝑠𝑐𝑎𝑙𝑒𝑑</a:t>
              </a:r>
              <a:r>
                <a:rPr sz="1500" spc="27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000" spc="30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3000" spc="67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000" spc="22" baseline="1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3000" baseline="125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85253" y="1474469"/>
              <a:ext cx="317373" cy="7175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7105" y="2653792"/>
              <a:ext cx="310515" cy="7404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937500" y="1393952"/>
              <a:ext cx="215265" cy="29845"/>
            </a:xfrm>
            <a:custGeom>
              <a:avLst/>
              <a:gdLst/>
              <a:ahLst/>
              <a:cxnLst/>
              <a:rect l="l" t="t" r="r" b="b"/>
              <a:pathLst>
                <a:path w="215265" h="29844">
                  <a:moveTo>
                    <a:pt x="204089" y="8762"/>
                  </a:moveTo>
                  <a:lnTo>
                    <a:pt x="200151" y="10795"/>
                  </a:lnTo>
                  <a:lnTo>
                    <a:pt x="197739" y="12064"/>
                  </a:lnTo>
                  <a:lnTo>
                    <a:pt x="196342" y="12700"/>
                  </a:lnTo>
                  <a:lnTo>
                    <a:pt x="195452" y="14097"/>
                  </a:lnTo>
                  <a:lnTo>
                    <a:pt x="195325" y="15621"/>
                  </a:lnTo>
                  <a:lnTo>
                    <a:pt x="194963" y="18161"/>
                  </a:lnTo>
                  <a:lnTo>
                    <a:pt x="194748" y="20447"/>
                  </a:lnTo>
                  <a:lnTo>
                    <a:pt x="194635" y="22606"/>
                  </a:lnTo>
                  <a:lnTo>
                    <a:pt x="196850" y="26543"/>
                  </a:lnTo>
                  <a:lnTo>
                    <a:pt x="200786" y="28194"/>
                  </a:lnTo>
                  <a:lnTo>
                    <a:pt x="204597" y="29845"/>
                  </a:lnTo>
                  <a:lnTo>
                    <a:pt x="208113" y="29063"/>
                  </a:lnTo>
                  <a:lnTo>
                    <a:pt x="209801" y="28079"/>
                  </a:lnTo>
                  <a:lnTo>
                    <a:pt x="212579" y="24784"/>
                  </a:lnTo>
                  <a:lnTo>
                    <a:pt x="212598" y="24637"/>
                  </a:lnTo>
                  <a:lnTo>
                    <a:pt x="214679" y="21460"/>
                  </a:lnTo>
                  <a:lnTo>
                    <a:pt x="214806" y="19176"/>
                  </a:lnTo>
                  <a:lnTo>
                    <a:pt x="214742" y="17551"/>
                  </a:lnTo>
                  <a:lnTo>
                    <a:pt x="212598" y="14097"/>
                  </a:lnTo>
                  <a:lnTo>
                    <a:pt x="212467" y="13778"/>
                  </a:lnTo>
                  <a:lnTo>
                    <a:pt x="211708" y="12953"/>
                  </a:lnTo>
                  <a:lnTo>
                    <a:pt x="209623" y="10596"/>
                  </a:lnTo>
                  <a:lnTo>
                    <a:pt x="207645" y="9525"/>
                  </a:lnTo>
                  <a:lnTo>
                    <a:pt x="204216" y="9398"/>
                  </a:lnTo>
                  <a:lnTo>
                    <a:pt x="207445" y="9398"/>
                  </a:lnTo>
                  <a:lnTo>
                    <a:pt x="204089" y="8762"/>
                  </a:lnTo>
                  <a:close/>
                </a:path>
                <a:path w="215265" h="29844">
                  <a:moveTo>
                    <a:pt x="199575" y="27686"/>
                  </a:moveTo>
                  <a:lnTo>
                    <a:pt x="190373" y="27686"/>
                  </a:lnTo>
                  <a:lnTo>
                    <a:pt x="195706" y="28701"/>
                  </a:lnTo>
                  <a:lnTo>
                    <a:pt x="197484" y="29083"/>
                  </a:lnTo>
                  <a:lnTo>
                    <a:pt x="199517" y="29337"/>
                  </a:lnTo>
                  <a:lnTo>
                    <a:pt x="203424" y="29337"/>
                  </a:lnTo>
                  <a:lnTo>
                    <a:pt x="199575" y="27686"/>
                  </a:lnTo>
                  <a:close/>
                </a:path>
                <a:path w="215265" h="29844">
                  <a:moveTo>
                    <a:pt x="208113" y="29063"/>
                  </a:moveTo>
                  <a:lnTo>
                    <a:pt x="206882" y="29337"/>
                  </a:lnTo>
                  <a:lnTo>
                    <a:pt x="207645" y="29337"/>
                  </a:lnTo>
                  <a:lnTo>
                    <a:pt x="208113" y="29063"/>
                  </a:lnTo>
                  <a:close/>
                </a:path>
                <a:path w="215265" h="29844">
                  <a:moveTo>
                    <a:pt x="209801" y="28079"/>
                  </a:moveTo>
                  <a:lnTo>
                    <a:pt x="208113" y="29063"/>
                  </a:lnTo>
                  <a:lnTo>
                    <a:pt x="209169" y="28828"/>
                  </a:lnTo>
                  <a:lnTo>
                    <a:pt x="209801" y="28079"/>
                  </a:lnTo>
                  <a:close/>
                </a:path>
                <a:path w="215265" h="29844">
                  <a:moveTo>
                    <a:pt x="212598" y="24762"/>
                  </a:moveTo>
                  <a:lnTo>
                    <a:pt x="209801" y="28079"/>
                  </a:lnTo>
                  <a:lnTo>
                    <a:pt x="210693" y="27559"/>
                  </a:lnTo>
                  <a:lnTo>
                    <a:pt x="212598" y="24762"/>
                  </a:lnTo>
                  <a:close/>
                </a:path>
                <a:path w="215265" h="29844">
                  <a:moveTo>
                    <a:pt x="179509" y="24784"/>
                  </a:moveTo>
                  <a:lnTo>
                    <a:pt x="185927" y="26924"/>
                  </a:lnTo>
                  <a:lnTo>
                    <a:pt x="187705" y="27305"/>
                  </a:lnTo>
                  <a:lnTo>
                    <a:pt x="191007" y="27812"/>
                  </a:lnTo>
                  <a:lnTo>
                    <a:pt x="190373" y="27686"/>
                  </a:lnTo>
                  <a:lnTo>
                    <a:pt x="199575" y="27686"/>
                  </a:lnTo>
                  <a:lnTo>
                    <a:pt x="196850" y="26543"/>
                  </a:lnTo>
                  <a:lnTo>
                    <a:pt x="195992" y="25019"/>
                  </a:lnTo>
                  <a:lnTo>
                    <a:pt x="180721" y="25019"/>
                  </a:lnTo>
                  <a:lnTo>
                    <a:pt x="179509" y="24784"/>
                  </a:lnTo>
                  <a:close/>
                </a:path>
                <a:path w="215265" h="29844">
                  <a:moveTo>
                    <a:pt x="195849" y="24764"/>
                  </a:moveTo>
                  <a:lnTo>
                    <a:pt x="179450" y="24764"/>
                  </a:lnTo>
                  <a:lnTo>
                    <a:pt x="180721" y="25019"/>
                  </a:lnTo>
                  <a:lnTo>
                    <a:pt x="195992" y="25019"/>
                  </a:lnTo>
                  <a:lnTo>
                    <a:pt x="195849" y="24764"/>
                  </a:lnTo>
                  <a:close/>
                </a:path>
                <a:path w="215265" h="29844">
                  <a:moveTo>
                    <a:pt x="195564" y="24257"/>
                  </a:moveTo>
                  <a:lnTo>
                    <a:pt x="176783" y="24257"/>
                  </a:lnTo>
                  <a:lnTo>
                    <a:pt x="179509" y="24784"/>
                  </a:lnTo>
                  <a:lnTo>
                    <a:pt x="195849" y="24764"/>
                  </a:lnTo>
                  <a:lnTo>
                    <a:pt x="195564" y="24257"/>
                  </a:lnTo>
                  <a:close/>
                </a:path>
                <a:path w="215265" h="29844">
                  <a:moveTo>
                    <a:pt x="214679" y="21460"/>
                  </a:moveTo>
                  <a:lnTo>
                    <a:pt x="212598" y="24637"/>
                  </a:lnTo>
                  <a:lnTo>
                    <a:pt x="214629" y="22351"/>
                  </a:lnTo>
                  <a:lnTo>
                    <a:pt x="214679" y="21460"/>
                  </a:lnTo>
                  <a:close/>
                </a:path>
                <a:path w="215265" h="29844">
                  <a:moveTo>
                    <a:pt x="194564" y="22478"/>
                  </a:moveTo>
                  <a:lnTo>
                    <a:pt x="165226" y="22478"/>
                  </a:lnTo>
                  <a:lnTo>
                    <a:pt x="177165" y="24384"/>
                  </a:lnTo>
                  <a:lnTo>
                    <a:pt x="176783" y="24257"/>
                  </a:lnTo>
                  <a:lnTo>
                    <a:pt x="195564" y="24257"/>
                  </a:lnTo>
                  <a:lnTo>
                    <a:pt x="194564" y="22478"/>
                  </a:lnTo>
                  <a:close/>
                </a:path>
                <a:path w="215265" h="29844">
                  <a:moveTo>
                    <a:pt x="119125" y="381"/>
                  </a:moveTo>
                  <a:lnTo>
                    <a:pt x="24765" y="381"/>
                  </a:lnTo>
                  <a:lnTo>
                    <a:pt x="21463" y="508"/>
                  </a:lnTo>
                  <a:lnTo>
                    <a:pt x="15113" y="508"/>
                  </a:lnTo>
                  <a:lnTo>
                    <a:pt x="3555" y="1143"/>
                  </a:lnTo>
                  <a:lnTo>
                    <a:pt x="0" y="4952"/>
                  </a:lnTo>
                  <a:lnTo>
                    <a:pt x="0" y="14350"/>
                  </a:lnTo>
                  <a:lnTo>
                    <a:pt x="3555" y="18161"/>
                  </a:lnTo>
                  <a:lnTo>
                    <a:pt x="15113" y="18796"/>
                  </a:lnTo>
                  <a:lnTo>
                    <a:pt x="21463" y="18796"/>
                  </a:lnTo>
                  <a:lnTo>
                    <a:pt x="28321" y="19050"/>
                  </a:lnTo>
                  <a:lnTo>
                    <a:pt x="37083" y="19050"/>
                  </a:lnTo>
                  <a:lnTo>
                    <a:pt x="42036" y="19176"/>
                  </a:lnTo>
                  <a:lnTo>
                    <a:pt x="66675" y="19176"/>
                  </a:lnTo>
                  <a:lnTo>
                    <a:pt x="73786" y="19303"/>
                  </a:lnTo>
                  <a:lnTo>
                    <a:pt x="103631" y="19303"/>
                  </a:lnTo>
                  <a:lnTo>
                    <a:pt x="111251" y="19685"/>
                  </a:lnTo>
                  <a:lnTo>
                    <a:pt x="118618" y="19685"/>
                  </a:lnTo>
                  <a:lnTo>
                    <a:pt x="132333" y="20065"/>
                  </a:lnTo>
                  <a:lnTo>
                    <a:pt x="132079" y="20065"/>
                  </a:lnTo>
                  <a:lnTo>
                    <a:pt x="140716" y="20447"/>
                  </a:lnTo>
                  <a:lnTo>
                    <a:pt x="140461" y="20447"/>
                  </a:lnTo>
                  <a:lnTo>
                    <a:pt x="158750" y="21844"/>
                  </a:lnTo>
                  <a:lnTo>
                    <a:pt x="158496" y="21844"/>
                  </a:lnTo>
                  <a:lnTo>
                    <a:pt x="165734" y="22606"/>
                  </a:lnTo>
                  <a:lnTo>
                    <a:pt x="165226" y="22478"/>
                  </a:lnTo>
                  <a:lnTo>
                    <a:pt x="194564" y="22478"/>
                  </a:lnTo>
                  <a:lnTo>
                    <a:pt x="194907" y="18699"/>
                  </a:lnTo>
                  <a:lnTo>
                    <a:pt x="195325" y="15621"/>
                  </a:lnTo>
                  <a:lnTo>
                    <a:pt x="195452" y="14097"/>
                  </a:lnTo>
                  <a:lnTo>
                    <a:pt x="196342" y="12700"/>
                  </a:lnTo>
                  <a:lnTo>
                    <a:pt x="197739" y="12064"/>
                  </a:lnTo>
                  <a:lnTo>
                    <a:pt x="202366" y="9651"/>
                  </a:lnTo>
                  <a:lnTo>
                    <a:pt x="201422" y="9651"/>
                  </a:lnTo>
                  <a:lnTo>
                    <a:pt x="199517" y="9398"/>
                  </a:lnTo>
                  <a:lnTo>
                    <a:pt x="200236" y="9398"/>
                  </a:lnTo>
                  <a:lnTo>
                    <a:pt x="199644" y="9271"/>
                  </a:lnTo>
                  <a:lnTo>
                    <a:pt x="194182" y="8255"/>
                  </a:lnTo>
                  <a:lnTo>
                    <a:pt x="192150" y="8255"/>
                  </a:lnTo>
                  <a:lnTo>
                    <a:pt x="189992" y="7747"/>
                  </a:lnTo>
                  <a:lnTo>
                    <a:pt x="190626" y="7747"/>
                  </a:lnTo>
                  <a:lnTo>
                    <a:pt x="185674" y="6096"/>
                  </a:lnTo>
                  <a:lnTo>
                    <a:pt x="184150" y="5714"/>
                  </a:lnTo>
                  <a:lnTo>
                    <a:pt x="180213" y="5080"/>
                  </a:lnTo>
                  <a:lnTo>
                    <a:pt x="180085" y="5080"/>
                  </a:lnTo>
                  <a:lnTo>
                    <a:pt x="168148" y="3301"/>
                  </a:lnTo>
                  <a:lnTo>
                    <a:pt x="167640" y="3175"/>
                  </a:lnTo>
                  <a:lnTo>
                    <a:pt x="160527" y="2539"/>
                  </a:lnTo>
                  <a:lnTo>
                    <a:pt x="160274" y="2412"/>
                  </a:lnTo>
                  <a:lnTo>
                    <a:pt x="141985" y="1015"/>
                  </a:lnTo>
                  <a:lnTo>
                    <a:pt x="141604" y="1015"/>
                  </a:lnTo>
                  <a:lnTo>
                    <a:pt x="132969" y="635"/>
                  </a:lnTo>
                  <a:lnTo>
                    <a:pt x="119125" y="381"/>
                  </a:lnTo>
                  <a:close/>
                </a:path>
                <a:path w="215265" h="29844">
                  <a:moveTo>
                    <a:pt x="214832" y="18699"/>
                  </a:moveTo>
                  <a:lnTo>
                    <a:pt x="214679" y="21460"/>
                  </a:lnTo>
                  <a:lnTo>
                    <a:pt x="215010" y="20955"/>
                  </a:lnTo>
                  <a:lnTo>
                    <a:pt x="214832" y="18699"/>
                  </a:lnTo>
                  <a:close/>
                </a:path>
                <a:path w="215265" h="29844">
                  <a:moveTo>
                    <a:pt x="214742" y="17551"/>
                  </a:moveTo>
                  <a:lnTo>
                    <a:pt x="214832" y="18699"/>
                  </a:lnTo>
                  <a:lnTo>
                    <a:pt x="214883" y="17780"/>
                  </a:lnTo>
                  <a:lnTo>
                    <a:pt x="214742" y="17551"/>
                  </a:lnTo>
                  <a:close/>
                </a:path>
                <a:path w="215265" h="29844">
                  <a:moveTo>
                    <a:pt x="212467" y="13778"/>
                  </a:moveTo>
                  <a:lnTo>
                    <a:pt x="212598" y="13970"/>
                  </a:lnTo>
                  <a:lnTo>
                    <a:pt x="214742" y="17551"/>
                  </a:lnTo>
                  <a:lnTo>
                    <a:pt x="214629" y="16128"/>
                  </a:lnTo>
                  <a:lnTo>
                    <a:pt x="212467" y="13778"/>
                  </a:lnTo>
                  <a:close/>
                </a:path>
                <a:path w="215265" h="29844">
                  <a:moveTo>
                    <a:pt x="209623" y="10596"/>
                  </a:moveTo>
                  <a:lnTo>
                    <a:pt x="211708" y="12953"/>
                  </a:lnTo>
                  <a:lnTo>
                    <a:pt x="212467" y="13778"/>
                  </a:lnTo>
                  <a:lnTo>
                    <a:pt x="210693" y="11175"/>
                  </a:lnTo>
                  <a:lnTo>
                    <a:pt x="209623" y="10596"/>
                  </a:lnTo>
                  <a:close/>
                </a:path>
                <a:path w="215265" h="29844">
                  <a:moveTo>
                    <a:pt x="207445" y="9398"/>
                  </a:moveTo>
                  <a:lnTo>
                    <a:pt x="204216" y="9398"/>
                  </a:lnTo>
                  <a:lnTo>
                    <a:pt x="207645" y="9525"/>
                  </a:lnTo>
                  <a:lnTo>
                    <a:pt x="209623" y="10596"/>
                  </a:lnTo>
                  <a:lnTo>
                    <a:pt x="208788" y="9651"/>
                  </a:lnTo>
                  <a:lnTo>
                    <a:pt x="207445" y="9398"/>
                  </a:lnTo>
                  <a:close/>
                </a:path>
                <a:path w="215265" h="29844">
                  <a:moveTo>
                    <a:pt x="200236" y="9398"/>
                  </a:moveTo>
                  <a:lnTo>
                    <a:pt x="199517" y="9398"/>
                  </a:lnTo>
                  <a:lnTo>
                    <a:pt x="201422" y="9651"/>
                  </a:lnTo>
                  <a:lnTo>
                    <a:pt x="200236" y="9398"/>
                  </a:lnTo>
                  <a:close/>
                </a:path>
                <a:path w="215265" h="29844">
                  <a:moveTo>
                    <a:pt x="202858" y="9398"/>
                  </a:moveTo>
                  <a:lnTo>
                    <a:pt x="200236" y="9398"/>
                  </a:lnTo>
                  <a:lnTo>
                    <a:pt x="201422" y="9651"/>
                  </a:lnTo>
                  <a:lnTo>
                    <a:pt x="202366" y="9651"/>
                  </a:lnTo>
                  <a:lnTo>
                    <a:pt x="202858" y="9398"/>
                  </a:lnTo>
                  <a:close/>
                </a:path>
                <a:path w="215265" h="29844">
                  <a:moveTo>
                    <a:pt x="189992" y="7747"/>
                  </a:moveTo>
                  <a:lnTo>
                    <a:pt x="192150" y="8255"/>
                  </a:lnTo>
                  <a:lnTo>
                    <a:pt x="190827" y="7813"/>
                  </a:lnTo>
                  <a:lnTo>
                    <a:pt x="189992" y="7747"/>
                  </a:lnTo>
                  <a:close/>
                </a:path>
                <a:path w="215265" h="29844">
                  <a:moveTo>
                    <a:pt x="190827" y="7813"/>
                  </a:moveTo>
                  <a:lnTo>
                    <a:pt x="192150" y="8255"/>
                  </a:lnTo>
                  <a:lnTo>
                    <a:pt x="194182" y="8255"/>
                  </a:lnTo>
                  <a:lnTo>
                    <a:pt x="193167" y="8000"/>
                  </a:lnTo>
                  <a:lnTo>
                    <a:pt x="190827" y="7813"/>
                  </a:lnTo>
                  <a:close/>
                </a:path>
                <a:path w="215265" h="29844">
                  <a:moveTo>
                    <a:pt x="190626" y="7747"/>
                  </a:moveTo>
                  <a:lnTo>
                    <a:pt x="189992" y="7747"/>
                  </a:lnTo>
                  <a:lnTo>
                    <a:pt x="190827" y="7813"/>
                  </a:lnTo>
                  <a:lnTo>
                    <a:pt x="190626" y="7747"/>
                  </a:lnTo>
                  <a:close/>
                </a:path>
                <a:path w="215265" h="29844">
                  <a:moveTo>
                    <a:pt x="104521" y="0"/>
                  </a:moveTo>
                  <a:lnTo>
                    <a:pt x="73786" y="0"/>
                  </a:lnTo>
                  <a:lnTo>
                    <a:pt x="66675" y="126"/>
                  </a:lnTo>
                  <a:lnTo>
                    <a:pt x="42036" y="126"/>
                  </a:lnTo>
                  <a:lnTo>
                    <a:pt x="37083" y="253"/>
                  </a:lnTo>
                  <a:lnTo>
                    <a:pt x="28448" y="253"/>
                  </a:lnTo>
                  <a:lnTo>
                    <a:pt x="28321" y="381"/>
                  </a:lnTo>
                  <a:lnTo>
                    <a:pt x="112141" y="381"/>
                  </a:lnTo>
                  <a:lnTo>
                    <a:pt x="1045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87916" y="1476755"/>
              <a:ext cx="259844" cy="104902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75956" y="2664205"/>
              <a:ext cx="453009" cy="163068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18514" y="2619248"/>
            <a:ext cx="1990953" cy="1755127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641729" y="4101147"/>
            <a:ext cx="116776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575" spc="52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1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sz="1350" spc="3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350" spc="-6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rescaled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2259" y="2988881"/>
            <a:ext cx="1042035" cy="673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aseline="-15873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 marR="30480" algn="ctr">
              <a:lnSpc>
                <a:spcPts val="1650"/>
              </a:lnSpc>
              <a:spcBef>
                <a:spcPts val="130"/>
              </a:spcBef>
            </a:pP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rescaled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4BE46B3A-CA96-EC34-16E4-02628514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9CA0A6-D900-EF40-BD15-29541FDF97C7}"/>
              </a:ext>
            </a:extLst>
          </p:cNvPr>
          <p:cNvCxnSpPr>
            <a:cxnSpLocks/>
          </p:cNvCxnSpPr>
          <p:nvPr/>
        </p:nvCxnSpPr>
        <p:spPr>
          <a:xfrm>
            <a:off x="6172200" y="1052766"/>
            <a:ext cx="10794" cy="27381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C63A9D69-4F44-1E9B-CEFE-E8E638107279}"/>
              </a:ext>
            </a:extLst>
          </p:cNvPr>
          <p:cNvGrpSpPr/>
          <p:nvPr/>
        </p:nvGrpSpPr>
        <p:grpSpPr>
          <a:xfrm>
            <a:off x="503619" y="666865"/>
            <a:ext cx="3013455" cy="1970214"/>
            <a:chOff x="622300" y="733298"/>
            <a:chExt cx="3013455" cy="1970214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200" y="733298"/>
              <a:ext cx="1861692" cy="1614932"/>
            </a:xfrm>
            <a:prstGeom prst="rect">
              <a:avLst/>
            </a:prstGeom>
          </p:spPr>
        </p:pic>
        <p:sp>
          <p:nvSpPr>
            <p:cNvPr id="3" name="object 3"/>
            <p:cNvSpPr txBox="1"/>
            <p:nvPr/>
          </p:nvSpPr>
          <p:spPr>
            <a:xfrm>
              <a:off x="2379979" y="2240597"/>
              <a:ext cx="565150" cy="23147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00" spc="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 </a:t>
              </a:r>
              <a:r>
                <a:rPr sz="1400" spc="27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</a:t>
              </a:r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345054" y="2326322"/>
              <a:ext cx="645160" cy="3771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42875">
                <a:lnSpc>
                  <a:spcPts val="1170"/>
                </a:lnSpc>
                <a:spcBef>
                  <a:spcPts val="100"/>
                </a:spcBef>
              </a:pPr>
              <a:r>
                <a:rPr sz="1050" spc="2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10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8100">
                <a:lnSpc>
                  <a:spcPts val="1590"/>
                </a:lnSpc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sz="1400" spc="-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feet</a:t>
              </a:r>
              <a:r>
                <a:rPr sz="1350" spc="37" baseline="2777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350" baseline="2777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22300" y="1229677"/>
              <a:ext cx="1042035" cy="46228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7620" algn="ctr">
                <a:lnSpc>
                  <a:spcPct val="100000"/>
                </a:lnSpc>
                <a:spcBef>
                  <a:spcPts val="125"/>
                </a:spcBef>
              </a:pPr>
              <a:r>
                <a:rPr sz="1400" spc="1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1575" spc="22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575" baseline="-15873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50"/>
                </a:spcBef>
              </a:pPr>
              <a:r>
                <a:rPr sz="14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r>
                <a:rPr sz="1400" spc="-9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bedrooms</a:t>
              </a:r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446" y="1802257"/>
              <a:ext cx="114934" cy="130809"/>
            </a:xfrm>
            <a:prstGeom prst="rect">
              <a:avLst/>
            </a:prstGeom>
          </p:spPr>
        </p:pic>
        <p:grpSp>
          <p:nvGrpSpPr>
            <p:cNvPr id="8" name="object 8"/>
            <p:cNvGrpSpPr/>
            <p:nvPr/>
          </p:nvGrpSpPr>
          <p:grpSpPr>
            <a:xfrm>
              <a:off x="1075182" y="1878329"/>
              <a:ext cx="416559" cy="273050"/>
              <a:chOff x="1075182" y="1878329"/>
              <a:chExt cx="416559" cy="273050"/>
            </a:xfrm>
          </p:grpSpPr>
          <p:pic>
            <p:nvPicPr>
              <p:cNvPr id="9" name="object 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65631" y="2017902"/>
                <a:ext cx="126110" cy="133350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75182" y="1878329"/>
                <a:ext cx="289687" cy="165100"/>
              </a:xfrm>
              <a:prstGeom prst="rect">
                <a:avLst/>
              </a:prstGeom>
            </p:spPr>
          </p:pic>
        </p:grpSp>
        <p:grpSp>
          <p:nvGrpSpPr>
            <p:cNvPr id="26" name="object 26"/>
            <p:cNvGrpSpPr/>
            <p:nvPr/>
          </p:nvGrpSpPr>
          <p:grpSpPr>
            <a:xfrm>
              <a:off x="776808" y="914400"/>
              <a:ext cx="2858947" cy="1504060"/>
              <a:chOff x="776808" y="914400"/>
              <a:chExt cx="2858947" cy="1504060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2033905" y="2023999"/>
                <a:ext cx="1968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9685" h="111125">
                    <a:moveTo>
                      <a:pt x="3682" y="104267"/>
                    </a:moveTo>
                    <a:lnTo>
                      <a:pt x="5587" y="107823"/>
                    </a:lnTo>
                    <a:lnTo>
                      <a:pt x="7619" y="109855"/>
                    </a:lnTo>
                    <a:lnTo>
                      <a:pt x="9397" y="110617"/>
                    </a:lnTo>
                    <a:lnTo>
                      <a:pt x="15367" y="110617"/>
                    </a:lnTo>
                    <a:lnTo>
                      <a:pt x="18542" y="107442"/>
                    </a:lnTo>
                    <a:lnTo>
                      <a:pt x="18542" y="105537"/>
                    </a:lnTo>
                    <a:lnTo>
                      <a:pt x="4699" y="105537"/>
                    </a:lnTo>
                    <a:lnTo>
                      <a:pt x="3682" y="104267"/>
                    </a:lnTo>
                    <a:close/>
                  </a:path>
                  <a:path w="19685" h="111125">
                    <a:moveTo>
                      <a:pt x="3301" y="102488"/>
                    </a:moveTo>
                    <a:lnTo>
                      <a:pt x="3673" y="104221"/>
                    </a:lnTo>
                    <a:lnTo>
                      <a:pt x="4063" y="104648"/>
                    </a:lnTo>
                    <a:lnTo>
                      <a:pt x="4699" y="105537"/>
                    </a:lnTo>
                    <a:lnTo>
                      <a:pt x="3301" y="102488"/>
                    </a:lnTo>
                    <a:close/>
                  </a:path>
                  <a:path w="19685" h="111125">
                    <a:moveTo>
                      <a:pt x="16753" y="102488"/>
                    </a:moveTo>
                    <a:lnTo>
                      <a:pt x="3301" y="102488"/>
                    </a:lnTo>
                    <a:lnTo>
                      <a:pt x="4699" y="105537"/>
                    </a:lnTo>
                    <a:lnTo>
                      <a:pt x="18542" y="105537"/>
                    </a:lnTo>
                    <a:lnTo>
                      <a:pt x="18542" y="104648"/>
                    </a:lnTo>
                    <a:lnTo>
                      <a:pt x="15493" y="104648"/>
                    </a:lnTo>
                    <a:lnTo>
                      <a:pt x="16753" y="102488"/>
                    </a:lnTo>
                    <a:close/>
                  </a:path>
                  <a:path w="19685" h="111125">
                    <a:moveTo>
                      <a:pt x="3682" y="104267"/>
                    </a:moveTo>
                    <a:lnTo>
                      <a:pt x="3987" y="104648"/>
                    </a:lnTo>
                    <a:lnTo>
                      <a:pt x="3682" y="104267"/>
                    </a:lnTo>
                    <a:close/>
                  </a:path>
                  <a:path w="19685" h="111125">
                    <a:moveTo>
                      <a:pt x="3673" y="104221"/>
                    </a:moveTo>
                    <a:lnTo>
                      <a:pt x="4063" y="104648"/>
                    </a:lnTo>
                    <a:lnTo>
                      <a:pt x="3673" y="104221"/>
                    </a:lnTo>
                    <a:close/>
                  </a:path>
                  <a:path w="19685" h="111125">
                    <a:moveTo>
                      <a:pt x="16819" y="102375"/>
                    </a:moveTo>
                    <a:lnTo>
                      <a:pt x="15493" y="104648"/>
                    </a:lnTo>
                    <a:lnTo>
                      <a:pt x="16891" y="103124"/>
                    </a:lnTo>
                    <a:lnTo>
                      <a:pt x="16763" y="103124"/>
                    </a:lnTo>
                    <a:lnTo>
                      <a:pt x="16819" y="102375"/>
                    </a:lnTo>
                    <a:close/>
                  </a:path>
                  <a:path w="19685" h="111125">
                    <a:moveTo>
                      <a:pt x="18542" y="100983"/>
                    </a:moveTo>
                    <a:lnTo>
                      <a:pt x="18287" y="101600"/>
                    </a:lnTo>
                    <a:lnTo>
                      <a:pt x="15493" y="104648"/>
                    </a:lnTo>
                    <a:lnTo>
                      <a:pt x="18542" y="104648"/>
                    </a:lnTo>
                    <a:lnTo>
                      <a:pt x="18542" y="100983"/>
                    </a:lnTo>
                    <a:close/>
                  </a:path>
                  <a:path w="19685" h="111125">
                    <a:moveTo>
                      <a:pt x="5461" y="0"/>
                    </a:moveTo>
                    <a:lnTo>
                      <a:pt x="1269" y="3809"/>
                    </a:lnTo>
                    <a:lnTo>
                      <a:pt x="972" y="9398"/>
                    </a:lnTo>
                    <a:lnTo>
                      <a:pt x="381" y="18033"/>
                    </a:lnTo>
                    <a:lnTo>
                      <a:pt x="253" y="27177"/>
                    </a:lnTo>
                    <a:lnTo>
                      <a:pt x="126" y="33655"/>
                    </a:lnTo>
                    <a:lnTo>
                      <a:pt x="0" y="88264"/>
                    </a:lnTo>
                    <a:lnTo>
                      <a:pt x="239" y="96646"/>
                    </a:lnTo>
                    <a:lnTo>
                      <a:pt x="381" y="99440"/>
                    </a:lnTo>
                    <a:lnTo>
                      <a:pt x="1269" y="101600"/>
                    </a:lnTo>
                    <a:lnTo>
                      <a:pt x="3673" y="104221"/>
                    </a:lnTo>
                    <a:lnTo>
                      <a:pt x="3301" y="102488"/>
                    </a:lnTo>
                    <a:lnTo>
                      <a:pt x="16753" y="102488"/>
                    </a:lnTo>
                    <a:lnTo>
                      <a:pt x="16876" y="101600"/>
                    </a:lnTo>
                    <a:lnTo>
                      <a:pt x="16924" y="100952"/>
                    </a:lnTo>
                    <a:lnTo>
                      <a:pt x="15588" y="98457"/>
                    </a:lnTo>
                    <a:lnTo>
                      <a:pt x="11175" y="96646"/>
                    </a:lnTo>
                    <a:lnTo>
                      <a:pt x="19318" y="96646"/>
                    </a:lnTo>
                    <a:lnTo>
                      <a:pt x="19557" y="88264"/>
                    </a:lnTo>
                    <a:lnTo>
                      <a:pt x="19431" y="33655"/>
                    </a:lnTo>
                    <a:lnTo>
                      <a:pt x="19303" y="30352"/>
                    </a:lnTo>
                    <a:lnTo>
                      <a:pt x="19180" y="18542"/>
                    </a:lnTo>
                    <a:lnTo>
                      <a:pt x="19320" y="8762"/>
                    </a:lnTo>
                    <a:lnTo>
                      <a:pt x="19431" y="4444"/>
                    </a:lnTo>
                    <a:lnTo>
                      <a:pt x="15493" y="381"/>
                    </a:lnTo>
                    <a:lnTo>
                      <a:pt x="10540" y="126"/>
                    </a:lnTo>
                    <a:lnTo>
                      <a:pt x="5461" y="0"/>
                    </a:lnTo>
                    <a:close/>
                  </a:path>
                  <a:path w="19685" h="111125">
                    <a:moveTo>
                      <a:pt x="17271" y="101600"/>
                    </a:moveTo>
                    <a:lnTo>
                      <a:pt x="16819" y="102375"/>
                    </a:lnTo>
                    <a:lnTo>
                      <a:pt x="16763" y="103124"/>
                    </a:lnTo>
                    <a:lnTo>
                      <a:pt x="17271" y="101600"/>
                    </a:lnTo>
                    <a:close/>
                  </a:path>
                  <a:path w="19685" h="111125">
                    <a:moveTo>
                      <a:pt x="18415" y="99694"/>
                    </a:moveTo>
                    <a:lnTo>
                      <a:pt x="17018" y="99694"/>
                    </a:lnTo>
                    <a:lnTo>
                      <a:pt x="17271" y="101600"/>
                    </a:lnTo>
                    <a:lnTo>
                      <a:pt x="16763" y="103124"/>
                    </a:lnTo>
                    <a:lnTo>
                      <a:pt x="16891" y="103124"/>
                    </a:lnTo>
                    <a:lnTo>
                      <a:pt x="18287" y="101600"/>
                    </a:lnTo>
                    <a:lnTo>
                      <a:pt x="18542" y="100983"/>
                    </a:lnTo>
                    <a:lnTo>
                      <a:pt x="18415" y="99694"/>
                    </a:lnTo>
                    <a:close/>
                  </a:path>
                  <a:path w="19685" h="111125">
                    <a:moveTo>
                      <a:pt x="16924" y="100952"/>
                    </a:moveTo>
                    <a:lnTo>
                      <a:pt x="16819" y="102375"/>
                    </a:lnTo>
                    <a:lnTo>
                      <a:pt x="17271" y="101600"/>
                    </a:lnTo>
                    <a:lnTo>
                      <a:pt x="16924" y="100952"/>
                    </a:lnTo>
                    <a:close/>
                  </a:path>
                  <a:path w="19685" h="111125">
                    <a:moveTo>
                      <a:pt x="17018" y="99694"/>
                    </a:moveTo>
                    <a:lnTo>
                      <a:pt x="16941" y="100983"/>
                    </a:lnTo>
                    <a:lnTo>
                      <a:pt x="17271" y="101600"/>
                    </a:lnTo>
                    <a:lnTo>
                      <a:pt x="17018" y="99694"/>
                    </a:lnTo>
                    <a:close/>
                  </a:path>
                  <a:path w="19685" h="111125">
                    <a:moveTo>
                      <a:pt x="19318" y="96646"/>
                    </a:moveTo>
                    <a:lnTo>
                      <a:pt x="15367" y="96646"/>
                    </a:lnTo>
                    <a:lnTo>
                      <a:pt x="18415" y="99694"/>
                    </a:lnTo>
                    <a:lnTo>
                      <a:pt x="18542" y="100983"/>
                    </a:lnTo>
                    <a:lnTo>
                      <a:pt x="19176" y="99440"/>
                    </a:lnTo>
                    <a:lnTo>
                      <a:pt x="19318" y="96646"/>
                    </a:lnTo>
                    <a:close/>
                  </a:path>
                  <a:path w="19685" h="111125">
                    <a:moveTo>
                      <a:pt x="16764" y="98043"/>
                    </a:moveTo>
                    <a:lnTo>
                      <a:pt x="15367" y="98043"/>
                    </a:lnTo>
                    <a:lnTo>
                      <a:pt x="16128" y="98678"/>
                    </a:lnTo>
                    <a:lnTo>
                      <a:pt x="15707" y="98678"/>
                    </a:lnTo>
                    <a:lnTo>
                      <a:pt x="16924" y="100952"/>
                    </a:lnTo>
                    <a:lnTo>
                      <a:pt x="17018" y="99694"/>
                    </a:lnTo>
                    <a:lnTo>
                      <a:pt x="18415" y="99694"/>
                    </a:lnTo>
                    <a:lnTo>
                      <a:pt x="17399" y="98678"/>
                    </a:lnTo>
                    <a:lnTo>
                      <a:pt x="16128" y="98678"/>
                    </a:lnTo>
                    <a:lnTo>
                      <a:pt x="15588" y="98457"/>
                    </a:lnTo>
                    <a:lnTo>
                      <a:pt x="17177" y="98457"/>
                    </a:lnTo>
                    <a:lnTo>
                      <a:pt x="16764" y="98043"/>
                    </a:lnTo>
                    <a:close/>
                  </a:path>
                  <a:path w="19685" h="111125">
                    <a:moveTo>
                      <a:pt x="15367" y="98043"/>
                    </a:moveTo>
                    <a:lnTo>
                      <a:pt x="15588" y="98457"/>
                    </a:lnTo>
                    <a:lnTo>
                      <a:pt x="16128" y="98678"/>
                    </a:lnTo>
                    <a:lnTo>
                      <a:pt x="15367" y="98043"/>
                    </a:lnTo>
                    <a:close/>
                  </a:path>
                  <a:path w="19685" h="111125">
                    <a:moveTo>
                      <a:pt x="15367" y="96646"/>
                    </a:moveTo>
                    <a:lnTo>
                      <a:pt x="11175" y="96646"/>
                    </a:lnTo>
                    <a:lnTo>
                      <a:pt x="15588" y="98457"/>
                    </a:lnTo>
                    <a:lnTo>
                      <a:pt x="15367" y="98043"/>
                    </a:lnTo>
                    <a:lnTo>
                      <a:pt x="16764" y="98043"/>
                    </a:lnTo>
                    <a:lnTo>
                      <a:pt x="15367" y="96646"/>
                    </a:lnTo>
                    <a:close/>
                  </a:path>
                </a:pathLst>
              </a:custGeom>
              <a:solidFill>
                <a:srgbClr val="FF93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object 28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894458" y="2226817"/>
                <a:ext cx="424053" cy="175006"/>
              </a:xfrm>
              <a:prstGeom prst="rect">
                <a:avLst/>
              </a:prstGeom>
            </p:spPr>
          </p:pic>
          <p:sp>
            <p:nvSpPr>
              <p:cNvPr id="29" name="object 29"/>
              <p:cNvSpPr/>
              <p:nvPr/>
            </p:nvSpPr>
            <p:spPr>
              <a:xfrm>
                <a:off x="3186429" y="2016633"/>
                <a:ext cx="36195" cy="147320"/>
              </a:xfrm>
              <a:custGeom>
                <a:avLst/>
                <a:gdLst/>
                <a:ahLst/>
                <a:cxnLst/>
                <a:rect l="l" t="t" r="r" b="b"/>
                <a:pathLst>
                  <a:path w="36194" h="147319">
                    <a:moveTo>
                      <a:pt x="17390" y="141463"/>
                    </a:moveTo>
                    <a:lnTo>
                      <a:pt x="18922" y="144018"/>
                    </a:lnTo>
                    <a:lnTo>
                      <a:pt x="21970" y="145542"/>
                    </a:lnTo>
                    <a:lnTo>
                      <a:pt x="22732" y="145796"/>
                    </a:lnTo>
                    <a:lnTo>
                      <a:pt x="26669" y="146812"/>
                    </a:lnTo>
                    <a:lnTo>
                      <a:pt x="32003" y="146812"/>
                    </a:lnTo>
                    <a:lnTo>
                      <a:pt x="34162" y="144653"/>
                    </a:lnTo>
                    <a:lnTo>
                      <a:pt x="21208" y="144653"/>
                    </a:lnTo>
                    <a:lnTo>
                      <a:pt x="19812" y="143764"/>
                    </a:lnTo>
                    <a:lnTo>
                      <a:pt x="17390" y="141463"/>
                    </a:lnTo>
                    <a:close/>
                  </a:path>
                  <a:path w="36194" h="147319">
                    <a:moveTo>
                      <a:pt x="17018" y="137160"/>
                    </a:moveTo>
                    <a:lnTo>
                      <a:pt x="17018" y="140843"/>
                    </a:lnTo>
                    <a:lnTo>
                      <a:pt x="17390" y="141463"/>
                    </a:lnTo>
                    <a:lnTo>
                      <a:pt x="19812" y="143764"/>
                    </a:lnTo>
                    <a:lnTo>
                      <a:pt x="21208" y="144653"/>
                    </a:lnTo>
                    <a:lnTo>
                      <a:pt x="17018" y="137160"/>
                    </a:lnTo>
                    <a:close/>
                  </a:path>
                  <a:path w="36194" h="147319">
                    <a:moveTo>
                      <a:pt x="34480" y="136811"/>
                    </a:moveTo>
                    <a:lnTo>
                      <a:pt x="34417" y="137160"/>
                    </a:lnTo>
                    <a:lnTo>
                      <a:pt x="17018" y="137160"/>
                    </a:lnTo>
                    <a:lnTo>
                      <a:pt x="21208" y="144653"/>
                    </a:lnTo>
                    <a:lnTo>
                      <a:pt x="34162" y="144653"/>
                    </a:lnTo>
                    <a:lnTo>
                      <a:pt x="36068" y="142748"/>
                    </a:lnTo>
                    <a:lnTo>
                      <a:pt x="36068" y="137541"/>
                    </a:lnTo>
                    <a:lnTo>
                      <a:pt x="34925" y="137541"/>
                    </a:lnTo>
                    <a:lnTo>
                      <a:pt x="34480" y="136811"/>
                    </a:lnTo>
                    <a:close/>
                  </a:path>
                  <a:path w="36194" h="147319">
                    <a:moveTo>
                      <a:pt x="31442" y="131825"/>
                    </a:moveTo>
                    <a:lnTo>
                      <a:pt x="13715" y="131825"/>
                    </a:lnTo>
                    <a:lnTo>
                      <a:pt x="13969" y="132842"/>
                    </a:lnTo>
                    <a:lnTo>
                      <a:pt x="13977" y="133096"/>
                    </a:lnTo>
                    <a:lnTo>
                      <a:pt x="14605" y="136144"/>
                    </a:lnTo>
                    <a:lnTo>
                      <a:pt x="16382" y="140335"/>
                    </a:lnTo>
                    <a:lnTo>
                      <a:pt x="17271" y="141350"/>
                    </a:lnTo>
                    <a:lnTo>
                      <a:pt x="17018" y="140843"/>
                    </a:lnTo>
                    <a:lnTo>
                      <a:pt x="17018" y="137160"/>
                    </a:lnTo>
                    <a:lnTo>
                      <a:pt x="34417" y="137160"/>
                    </a:lnTo>
                    <a:lnTo>
                      <a:pt x="34385" y="136655"/>
                    </a:lnTo>
                    <a:lnTo>
                      <a:pt x="31442" y="131825"/>
                    </a:lnTo>
                    <a:close/>
                  </a:path>
                  <a:path w="36194" h="147319">
                    <a:moveTo>
                      <a:pt x="34670" y="134619"/>
                    </a:moveTo>
                    <a:lnTo>
                      <a:pt x="34601" y="136144"/>
                    </a:lnTo>
                    <a:lnTo>
                      <a:pt x="34480" y="136811"/>
                    </a:lnTo>
                    <a:lnTo>
                      <a:pt x="34925" y="137541"/>
                    </a:lnTo>
                    <a:lnTo>
                      <a:pt x="34785" y="135762"/>
                    </a:lnTo>
                    <a:lnTo>
                      <a:pt x="34670" y="134619"/>
                    </a:lnTo>
                    <a:close/>
                  </a:path>
                  <a:path w="36194" h="147319">
                    <a:moveTo>
                      <a:pt x="34460" y="131284"/>
                    </a:moveTo>
                    <a:lnTo>
                      <a:pt x="34670" y="132715"/>
                    </a:lnTo>
                    <a:lnTo>
                      <a:pt x="34785" y="135762"/>
                    </a:lnTo>
                    <a:lnTo>
                      <a:pt x="34925" y="137541"/>
                    </a:lnTo>
                    <a:lnTo>
                      <a:pt x="36068" y="137541"/>
                    </a:lnTo>
                    <a:lnTo>
                      <a:pt x="36068" y="132842"/>
                    </a:lnTo>
                    <a:lnTo>
                      <a:pt x="34460" y="131284"/>
                    </a:lnTo>
                    <a:close/>
                  </a:path>
                  <a:path w="36194" h="147319">
                    <a:moveTo>
                      <a:pt x="34162" y="133096"/>
                    </a:moveTo>
                    <a:lnTo>
                      <a:pt x="34353" y="136144"/>
                    </a:lnTo>
                    <a:lnTo>
                      <a:pt x="34480" y="136811"/>
                    </a:lnTo>
                    <a:lnTo>
                      <a:pt x="34601" y="136144"/>
                    </a:lnTo>
                    <a:lnTo>
                      <a:pt x="34670" y="134619"/>
                    </a:lnTo>
                    <a:lnTo>
                      <a:pt x="34162" y="133096"/>
                    </a:lnTo>
                    <a:close/>
                  </a:path>
                  <a:path w="36194" h="147319">
                    <a:moveTo>
                      <a:pt x="32528" y="129412"/>
                    </a:moveTo>
                    <a:lnTo>
                      <a:pt x="29971" y="129412"/>
                    </a:lnTo>
                    <a:lnTo>
                      <a:pt x="30733" y="129793"/>
                    </a:lnTo>
                    <a:lnTo>
                      <a:pt x="30204" y="129793"/>
                    </a:lnTo>
                    <a:lnTo>
                      <a:pt x="34385" y="136655"/>
                    </a:lnTo>
                    <a:lnTo>
                      <a:pt x="34162" y="133096"/>
                    </a:lnTo>
                    <a:lnTo>
                      <a:pt x="34670" y="133096"/>
                    </a:lnTo>
                    <a:lnTo>
                      <a:pt x="34591" y="132171"/>
                    </a:lnTo>
                    <a:lnTo>
                      <a:pt x="34460" y="131284"/>
                    </a:lnTo>
                    <a:lnTo>
                      <a:pt x="32921" y="129793"/>
                    </a:lnTo>
                    <a:lnTo>
                      <a:pt x="30733" y="129793"/>
                    </a:lnTo>
                    <a:lnTo>
                      <a:pt x="30122" y="129660"/>
                    </a:lnTo>
                    <a:lnTo>
                      <a:pt x="32783" y="129660"/>
                    </a:lnTo>
                    <a:lnTo>
                      <a:pt x="32528" y="129412"/>
                    </a:lnTo>
                    <a:close/>
                  </a:path>
                  <a:path w="36194" h="147319">
                    <a:moveTo>
                      <a:pt x="34670" y="133096"/>
                    </a:moveTo>
                    <a:lnTo>
                      <a:pt x="34162" y="133096"/>
                    </a:lnTo>
                    <a:lnTo>
                      <a:pt x="34670" y="134619"/>
                    </a:lnTo>
                    <a:lnTo>
                      <a:pt x="34670" y="133096"/>
                    </a:lnTo>
                    <a:close/>
                  </a:path>
                  <a:path w="36194" h="147319">
                    <a:moveTo>
                      <a:pt x="13787" y="132171"/>
                    </a:moveTo>
                    <a:lnTo>
                      <a:pt x="13925" y="132842"/>
                    </a:lnTo>
                    <a:lnTo>
                      <a:pt x="13787" y="132171"/>
                    </a:lnTo>
                    <a:close/>
                  </a:path>
                  <a:path w="36194" h="147319">
                    <a:moveTo>
                      <a:pt x="13715" y="131825"/>
                    </a:moveTo>
                    <a:lnTo>
                      <a:pt x="13787" y="132171"/>
                    </a:lnTo>
                    <a:lnTo>
                      <a:pt x="13969" y="132842"/>
                    </a:lnTo>
                    <a:lnTo>
                      <a:pt x="13715" y="131825"/>
                    </a:lnTo>
                    <a:close/>
                  </a:path>
                  <a:path w="36194" h="147319">
                    <a:moveTo>
                      <a:pt x="32773" y="121793"/>
                    </a:moveTo>
                    <a:lnTo>
                      <a:pt x="11683" y="121793"/>
                    </a:lnTo>
                    <a:lnTo>
                      <a:pt x="12064" y="123062"/>
                    </a:lnTo>
                    <a:lnTo>
                      <a:pt x="12192" y="124333"/>
                    </a:lnTo>
                    <a:lnTo>
                      <a:pt x="12348" y="125349"/>
                    </a:lnTo>
                    <a:lnTo>
                      <a:pt x="13207" y="130048"/>
                    </a:lnTo>
                    <a:lnTo>
                      <a:pt x="13787" y="132171"/>
                    </a:lnTo>
                    <a:lnTo>
                      <a:pt x="13715" y="131825"/>
                    </a:lnTo>
                    <a:lnTo>
                      <a:pt x="31442" y="131825"/>
                    </a:lnTo>
                    <a:lnTo>
                      <a:pt x="30122" y="129660"/>
                    </a:lnTo>
                    <a:lnTo>
                      <a:pt x="26669" y="128905"/>
                    </a:lnTo>
                    <a:lnTo>
                      <a:pt x="34110" y="128905"/>
                    </a:lnTo>
                    <a:lnTo>
                      <a:pt x="34036" y="128397"/>
                    </a:lnTo>
                    <a:lnTo>
                      <a:pt x="33908" y="127889"/>
                    </a:lnTo>
                    <a:lnTo>
                      <a:pt x="33356" y="125349"/>
                    </a:lnTo>
                    <a:lnTo>
                      <a:pt x="33333" y="124968"/>
                    </a:lnTo>
                    <a:lnTo>
                      <a:pt x="32773" y="121793"/>
                    </a:lnTo>
                    <a:close/>
                  </a:path>
                  <a:path w="36194" h="147319">
                    <a:moveTo>
                      <a:pt x="34110" y="128905"/>
                    </a:moveTo>
                    <a:lnTo>
                      <a:pt x="32003" y="128905"/>
                    </a:lnTo>
                    <a:lnTo>
                      <a:pt x="34460" y="131284"/>
                    </a:lnTo>
                    <a:lnTo>
                      <a:pt x="34110" y="128905"/>
                    </a:lnTo>
                    <a:close/>
                  </a:path>
                  <a:path w="36194" h="147319">
                    <a:moveTo>
                      <a:pt x="29971" y="129412"/>
                    </a:moveTo>
                    <a:lnTo>
                      <a:pt x="30122" y="129660"/>
                    </a:lnTo>
                    <a:lnTo>
                      <a:pt x="30733" y="129793"/>
                    </a:lnTo>
                    <a:lnTo>
                      <a:pt x="29971" y="129412"/>
                    </a:lnTo>
                    <a:close/>
                  </a:path>
                  <a:path w="36194" h="147319">
                    <a:moveTo>
                      <a:pt x="32003" y="128905"/>
                    </a:moveTo>
                    <a:lnTo>
                      <a:pt x="26669" y="128905"/>
                    </a:lnTo>
                    <a:lnTo>
                      <a:pt x="30122" y="129660"/>
                    </a:lnTo>
                    <a:lnTo>
                      <a:pt x="29971" y="129412"/>
                    </a:lnTo>
                    <a:lnTo>
                      <a:pt x="32528" y="129412"/>
                    </a:lnTo>
                    <a:lnTo>
                      <a:pt x="32003" y="128905"/>
                    </a:lnTo>
                    <a:close/>
                  </a:path>
                  <a:path w="36194" h="147319">
                    <a:moveTo>
                      <a:pt x="33333" y="124968"/>
                    </a:moveTo>
                    <a:lnTo>
                      <a:pt x="33400" y="125349"/>
                    </a:lnTo>
                    <a:lnTo>
                      <a:pt x="33333" y="124968"/>
                    </a:lnTo>
                    <a:close/>
                  </a:path>
                  <a:path w="36194" h="147319">
                    <a:moveTo>
                      <a:pt x="11718" y="121966"/>
                    </a:moveTo>
                    <a:lnTo>
                      <a:pt x="11937" y="123062"/>
                    </a:lnTo>
                    <a:lnTo>
                      <a:pt x="11718" y="121966"/>
                    </a:lnTo>
                    <a:close/>
                  </a:path>
                  <a:path w="36194" h="147319">
                    <a:moveTo>
                      <a:pt x="11683" y="121793"/>
                    </a:moveTo>
                    <a:lnTo>
                      <a:pt x="11718" y="121966"/>
                    </a:lnTo>
                    <a:lnTo>
                      <a:pt x="12064" y="123062"/>
                    </a:lnTo>
                    <a:lnTo>
                      <a:pt x="11683" y="121793"/>
                    </a:lnTo>
                    <a:close/>
                  </a:path>
                  <a:path w="36194" h="147319">
                    <a:moveTo>
                      <a:pt x="31940" y="116712"/>
                    </a:moveTo>
                    <a:lnTo>
                      <a:pt x="10668" y="116712"/>
                    </a:lnTo>
                    <a:lnTo>
                      <a:pt x="10921" y="117983"/>
                    </a:lnTo>
                    <a:lnTo>
                      <a:pt x="11049" y="119253"/>
                    </a:lnTo>
                    <a:lnTo>
                      <a:pt x="11302" y="120650"/>
                    </a:lnTo>
                    <a:lnTo>
                      <a:pt x="11718" y="121966"/>
                    </a:lnTo>
                    <a:lnTo>
                      <a:pt x="11683" y="121793"/>
                    </a:lnTo>
                    <a:lnTo>
                      <a:pt x="32773" y="121793"/>
                    </a:lnTo>
                    <a:lnTo>
                      <a:pt x="32706" y="121412"/>
                    </a:lnTo>
                    <a:lnTo>
                      <a:pt x="32708" y="121031"/>
                    </a:lnTo>
                    <a:lnTo>
                      <a:pt x="32131" y="117348"/>
                    </a:lnTo>
                    <a:lnTo>
                      <a:pt x="31940" y="116712"/>
                    </a:lnTo>
                    <a:close/>
                  </a:path>
                  <a:path w="36194" h="147319">
                    <a:moveTo>
                      <a:pt x="32708" y="121031"/>
                    </a:moveTo>
                    <a:lnTo>
                      <a:pt x="32765" y="121412"/>
                    </a:lnTo>
                    <a:lnTo>
                      <a:pt x="32708" y="121031"/>
                    </a:lnTo>
                    <a:close/>
                  </a:path>
                  <a:path w="36194" h="147319">
                    <a:moveTo>
                      <a:pt x="10786" y="117504"/>
                    </a:moveTo>
                    <a:lnTo>
                      <a:pt x="10858" y="117983"/>
                    </a:lnTo>
                    <a:lnTo>
                      <a:pt x="10786" y="117504"/>
                    </a:lnTo>
                    <a:close/>
                  </a:path>
                  <a:path w="36194" h="147319">
                    <a:moveTo>
                      <a:pt x="10668" y="116712"/>
                    </a:moveTo>
                    <a:lnTo>
                      <a:pt x="10786" y="117504"/>
                    </a:lnTo>
                    <a:lnTo>
                      <a:pt x="10921" y="117983"/>
                    </a:lnTo>
                    <a:lnTo>
                      <a:pt x="10668" y="116712"/>
                    </a:lnTo>
                    <a:close/>
                  </a:path>
                  <a:path w="36194" h="147319">
                    <a:moveTo>
                      <a:pt x="29946" y="108585"/>
                    </a:moveTo>
                    <a:lnTo>
                      <a:pt x="8508" y="108585"/>
                    </a:lnTo>
                    <a:lnTo>
                      <a:pt x="9270" y="112141"/>
                    </a:lnTo>
                    <a:lnTo>
                      <a:pt x="10786" y="117504"/>
                    </a:lnTo>
                    <a:lnTo>
                      <a:pt x="10668" y="116712"/>
                    </a:lnTo>
                    <a:lnTo>
                      <a:pt x="31940" y="116712"/>
                    </a:lnTo>
                    <a:lnTo>
                      <a:pt x="31788" y="116205"/>
                    </a:lnTo>
                    <a:lnTo>
                      <a:pt x="31622" y="116205"/>
                    </a:lnTo>
                    <a:lnTo>
                      <a:pt x="31472" y="115379"/>
                    </a:lnTo>
                    <a:lnTo>
                      <a:pt x="31483" y="114808"/>
                    </a:lnTo>
                    <a:lnTo>
                      <a:pt x="31368" y="113665"/>
                    </a:lnTo>
                    <a:lnTo>
                      <a:pt x="29946" y="108585"/>
                    </a:lnTo>
                    <a:close/>
                  </a:path>
                  <a:path w="36194" h="147319">
                    <a:moveTo>
                      <a:pt x="31368" y="114808"/>
                    </a:moveTo>
                    <a:lnTo>
                      <a:pt x="31622" y="116205"/>
                    </a:lnTo>
                    <a:lnTo>
                      <a:pt x="31540" y="115379"/>
                    </a:lnTo>
                    <a:lnTo>
                      <a:pt x="31368" y="114808"/>
                    </a:lnTo>
                    <a:close/>
                  </a:path>
                  <a:path w="36194" h="147319">
                    <a:moveTo>
                      <a:pt x="31540" y="115379"/>
                    </a:moveTo>
                    <a:lnTo>
                      <a:pt x="31622" y="116205"/>
                    </a:lnTo>
                    <a:lnTo>
                      <a:pt x="31788" y="116205"/>
                    </a:lnTo>
                    <a:lnTo>
                      <a:pt x="31540" y="115379"/>
                    </a:lnTo>
                    <a:close/>
                  </a:path>
                  <a:path w="36194" h="147319">
                    <a:moveTo>
                      <a:pt x="31483" y="114808"/>
                    </a:moveTo>
                    <a:lnTo>
                      <a:pt x="31540" y="115379"/>
                    </a:lnTo>
                    <a:lnTo>
                      <a:pt x="31483" y="114808"/>
                    </a:lnTo>
                    <a:close/>
                  </a:path>
                  <a:path w="36194" h="147319">
                    <a:moveTo>
                      <a:pt x="20827" y="35179"/>
                    </a:moveTo>
                    <a:lnTo>
                      <a:pt x="253" y="35179"/>
                    </a:lnTo>
                    <a:lnTo>
                      <a:pt x="126" y="67056"/>
                    </a:lnTo>
                    <a:lnTo>
                      <a:pt x="1269" y="76073"/>
                    </a:lnTo>
                    <a:lnTo>
                      <a:pt x="2286" y="85090"/>
                    </a:lnTo>
                    <a:lnTo>
                      <a:pt x="2539" y="86233"/>
                    </a:lnTo>
                    <a:lnTo>
                      <a:pt x="5333" y="97790"/>
                    </a:lnTo>
                    <a:lnTo>
                      <a:pt x="6857" y="101854"/>
                    </a:lnTo>
                    <a:lnTo>
                      <a:pt x="8636" y="109219"/>
                    </a:lnTo>
                    <a:lnTo>
                      <a:pt x="8508" y="108585"/>
                    </a:lnTo>
                    <a:lnTo>
                      <a:pt x="29946" y="108585"/>
                    </a:lnTo>
                    <a:lnTo>
                      <a:pt x="29590" y="107315"/>
                    </a:lnTo>
                    <a:lnTo>
                      <a:pt x="28956" y="103886"/>
                    </a:lnTo>
                    <a:lnTo>
                      <a:pt x="26543" y="94615"/>
                    </a:lnTo>
                    <a:lnTo>
                      <a:pt x="25461" y="91821"/>
                    </a:lnTo>
                    <a:lnTo>
                      <a:pt x="25018" y="90678"/>
                    </a:lnTo>
                    <a:lnTo>
                      <a:pt x="23138" y="82550"/>
                    </a:lnTo>
                    <a:lnTo>
                      <a:pt x="23066" y="82338"/>
                    </a:lnTo>
                    <a:lnTo>
                      <a:pt x="22969" y="81406"/>
                    </a:lnTo>
                    <a:lnTo>
                      <a:pt x="21970" y="73533"/>
                    </a:lnTo>
                    <a:lnTo>
                      <a:pt x="21085" y="65786"/>
                    </a:lnTo>
                    <a:lnTo>
                      <a:pt x="20955" y="65786"/>
                    </a:lnTo>
                    <a:lnTo>
                      <a:pt x="20952" y="51308"/>
                    </a:lnTo>
                    <a:lnTo>
                      <a:pt x="20827" y="35179"/>
                    </a:lnTo>
                    <a:close/>
                  </a:path>
                  <a:path w="36194" h="147319">
                    <a:moveTo>
                      <a:pt x="29683" y="107315"/>
                    </a:moveTo>
                    <a:lnTo>
                      <a:pt x="29844" y="108077"/>
                    </a:lnTo>
                    <a:lnTo>
                      <a:pt x="29683" y="107315"/>
                    </a:lnTo>
                    <a:close/>
                  </a:path>
                  <a:path w="36194" h="147319">
                    <a:moveTo>
                      <a:pt x="6476" y="100838"/>
                    </a:moveTo>
                    <a:lnTo>
                      <a:pt x="6738" y="101854"/>
                    </a:lnTo>
                    <a:lnTo>
                      <a:pt x="6476" y="100838"/>
                    </a:lnTo>
                    <a:close/>
                  </a:path>
                  <a:path w="36194" h="147319">
                    <a:moveTo>
                      <a:pt x="25018" y="90678"/>
                    </a:moveTo>
                    <a:lnTo>
                      <a:pt x="25400" y="91821"/>
                    </a:lnTo>
                    <a:lnTo>
                      <a:pt x="25295" y="91391"/>
                    </a:lnTo>
                    <a:lnTo>
                      <a:pt x="25018" y="90678"/>
                    </a:lnTo>
                    <a:close/>
                  </a:path>
                  <a:path w="36194" h="147319">
                    <a:moveTo>
                      <a:pt x="25295" y="91391"/>
                    </a:moveTo>
                    <a:lnTo>
                      <a:pt x="25400" y="91821"/>
                    </a:lnTo>
                    <a:lnTo>
                      <a:pt x="25295" y="91391"/>
                    </a:lnTo>
                    <a:close/>
                  </a:path>
                  <a:path w="36194" h="147319">
                    <a:moveTo>
                      <a:pt x="25121" y="90678"/>
                    </a:moveTo>
                    <a:lnTo>
                      <a:pt x="25295" y="91391"/>
                    </a:lnTo>
                    <a:lnTo>
                      <a:pt x="25121" y="90678"/>
                    </a:lnTo>
                    <a:close/>
                  </a:path>
                  <a:path w="36194" h="147319">
                    <a:moveTo>
                      <a:pt x="22859" y="81406"/>
                    </a:moveTo>
                    <a:lnTo>
                      <a:pt x="23113" y="82550"/>
                    </a:lnTo>
                    <a:lnTo>
                      <a:pt x="23087" y="82338"/>
                    </a:lnTo>
                    <a:lnTo>
                      <a:pt x="22859" y="81406"/>
                    </a:lnTo>
                    <a:close/>
                  </a:path>
                  <a:path w="36194" h="147319">
                    <a:moveTo>
                      <a:pt x="23087" y="82338"/>
                    </a:moveTo>
                    <a:lnTo>
                      <a:pt x="23113" y="82550"/>
                    </a:lnTo>
                    <a:lnTo>
                      <a:pt x="23087" y="82338"/>
                    </a:lnTo>
                    <a:close/>
                  </a:path>
                  <a:path w="36194" h="147319">
                    <a:moveTo>
                      <a:pt x="22969" y="81406"/>
                    </a:moveTo>
                    <a:lnTo>
                      <a:pt x="23087" y="82338"/>
                    </a:lnTo>
                    <a:lnTo>
                      <a:pt x="22969" y="81406"/>
                    </a:lnTo>
                    <a:close/>
                  </a:path>
                  <a:path w="36194" h="147319">
                    <a:moveTo>
                      <a:pt x="20955" y="64643"/>
                    </a:moveTo>
                    <a:lnTo>
                      <a:pt x="20955" y="65786"/>
                    </a:lnTo>
                    <a:lnTo>
                      <a:pt x="21085" y="65786"/>
                    </a:lnTo>
                    <a:lnTo>
                      <a:pt x="20955" y="64643"/>
                    </a:lnTo>
                    <a:close/>
                  </a:path>
                  <a:path w="36194" h="147319">
                    <a:moveTo>
                      <a:pt x="11937" y="0"/>
                    </a:moveTo>
                    <a:lnTo>
                      <a:pt x="0" y="24765"/>
                    </a:lnTo>
                    <a:lnTo>
                      <a:pt x="0" y="30480"/>
                    </a:lnTo>
                    <a:lnTo>
                      <a:pt x="253" y="35814"/>
                    </a:lnTo>
                    <a:lnTo>
                      <a:pt x="253" y="35179"/>
                    </a:lnTo>
                    <a:lnTo>
                      <a:pt x="20827" y="35179"/>
                    </a:lnTo>
                    <a:lnTo>
                      <a:pt x="20827" y="34543"/>
                    </a:lnTo>
                    <a:lnTo>
                      <a:pt x="20379" y="29718"/>
                    </a:lnTo>
                    <a:lnTo>
                      <a:pt x="20430" y="29083"/>
                    </a:lnTo>
                    <a:lnTo>
                      <a:pt x="20385" y="27305"/>
                    </a:lnTo>
                    <a:lnTo>
                      <a:pt x="20065" y="27305"/>
                    </a:lnTo>
                    <a:lnTo>
                      <a:pt x="20319" y="24765"/>
                    </a:lnTo>
                    <a:lnTo>
                      <a:pt x="20724" y="24765"/>
                    </a:lnTo>
                    <a:lnTo>
                      <a:pt x="21778" y="20700"/>
                    </a:lnTo>
                    <a:lnTo>
                      <a:pt x="23749" y="13843"/>
                    </a:lnTo>
                    <a:lnTo>
                      <a:pt x="25145" y="8636"/>
                    </a:lnTo>
                    <a:lnTo>
                      <a:pt x="22225" y="3302"/>
                    </a:lnTo>
                    <a:lnTo>
                      <a:pt x="11937" y="0"/>
                    </a:lnTo>
                    <a:close/>
                  </a:path>
                  <a:path w="36194" h="147319">
                    <a:moveTo>
                      <a:pt x="20430" y="29083"/>
                    </a:moveTo>
                    <a:lnTo>
                      <a:pt x="20446" y="29718"/>
                    </a:lnTo>
                    <a:lnTo>
                      <a:pt x="20430" y="29083"/>
                    </a:lnTo>
                    <a:close/>
                  </a:path>
                  <a:path w="36194" h="147319">
                    <a:moveTo>
                      <a:pt x="20319" y="24765"/>
                    </a:moveTo>
                    <a:lnTo>
                      <a:pt x="20065" y="27305"/>
                    </a:lnTo>
                    <a:lnTo>
                      <a:pt x="20356" y="26184"/>
                    </a:lnTo>
                    <a:lnTo>
                      <a:pt x="20319" y="24765"/>
                    </a:lnTo>
                    <a:close/>
                  </a:path>
                  <a:path w="36194" h="147319">
                    <a:moveTo>
                      <a:pt x="20356" y="26184"/>
                    </a:moveTo>
                    <a:lnTo>
                      <a:pt x="20065" y="27305"/>
                    </a:lnTo>
                    <a:lnTo>
                      <a:pt x="20385" y="27305"/>
                    </a:lnTo>
                    <a:lnTo>
                      <a:pt x="20356" y="26184"/>
                    </a:lnTo>
                    <a:close/>
                  </a:path>
                  <a:path w="36194" h="147319">
                    <a:moveTo>
                      <a:pt x="20724" y="24765"/>
                    </a:moveTo>
                    <a:lnTo>
                      <a:pt x="20319" y="24765"/>
                    </a:lnTo>
                    <a:lnTo>
                      <a:pt x="20356" y="26184"/>
                    </a:lnTo>
                    <a:lnTo>
                      <a:pt x="20724" y="24765"/>
                    </a:lnTo>
                    <a:close/>
                  </a:path>
                  <a:path w="36194" h="147319">
                    <a:moveTo>
                      <a:pt x="21843" y="20447"/>
                    </a:moveTo>
                    <a:lnTo>
                      <a:pt x="21717" y="20700"/>
                    </a:lnTo>
                    <a:lnTo>
                      <a:pt x="21843" y="20447"/>
                    </a:lnTo>
                    <a:close/>
                  </a:path>
                </a:pathLst>
              </a:custGeom>
              <a:solidFill>
                <a:srgbClr val="FF93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0" name="object 3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019679" y="2247646"/>
                <a:ext cx="616076" cy="170814"/>
              </a:xfrm>
              <a:prstGeom prst="rect">
                <a:avLst/>
              </a:prstGeom>
            </p:spPr>
          </p:pic>
          <p:pic>
            <p:nvPicPr>
              <p:cNvPr id="31" name="object 3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671191" y="2037841"/>
                <a:ext cx="42290" cy="130810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417064" y="1379093"/>
                <a:ext cx="1137412" cy="273685"/>
              </a:xfrm>
              <a:prstGeom prst="rect">
                <a:avLst/>
              </a:prstGeom>
            </p:spPr>
          </p:pic>
          <p:pic>
            <p:nvPicPr>
              <p:cNvPr id="33" name="object 33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76808" y="914400"/>
                <a:ext cx="859459" cy="273685"/>
              </a:xfrm>
              <a:prstGeom prst="rect">
                <a:avLst/>
              </a:prstGeom>
            </p:spPr>
          </p:pic>
          <p:pic>
            <p:nvPicPr>
              <p:cNvPr id="35" name="object 35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490791" y="1020698"/>
                <a:ext cx="767647" cy="201929"/>
              </a:xfrm>
              <a:prstGeom prst="rect">
                <a:avLst/>
              </a:prstGeom>
            </p:spPr>
          </p:pic>
          <p:pic>
            <p:nvPicPr>
              <p:cNvPr id="36" name="object 36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324860" y="993775"/>
                <a:ext cx="130428" cy="127000"/>
              </a:xfrm>
              <a:prstGeom prst="rect">
                <a:avLst/>
              </a:prstGeom>
            </p:spPr>
          </p:pic>
        </p:grpSp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2400935" y="123824"/>
            <a:ext cx="3802379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sz="3000" spc="-8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sz="3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306A45-8E04-D872-568B-0D55906FADE9}"/>
              </a:ext>
            </a:extLst>
          </p:cNvPr>
          <p:cNvGrpSpPr/>
          <p:nvPr/>
        </p:nvGrpSpPr>
        <p:grpSpPr>
          <a:xfrm>
            <a:off x="228901" y="2798748"/>
            <a:ext cx="4571699" cy="1955800"/>
            <a:chOff x="39114" y="2523997"/>
            <a:chExt cx="4571699" cy="1955800"/>
          </a:xfrm>
        </p:grpSpPr>
        <p:sp>
          <p:nvSpPr>
            <p:cNvPr id="7" name="object 7"/>
            <p:cNvSpPr/>
            <p:nvPr/>
          </p:nvSpPr>
          <p:spPr>
            <a:xfrm>
              <a:off x="933424" y="2523997"/>
              <a:ext cx="2506345" cy="1955800"/>
            </a:xfrm>
            <a:custGeom>
              <a:avLst/>
              <a:gdLst/>
              <a:ahLst/>
              <a:cxnLst/>
              <a:rect l="l" t="t" r="r" b="b"/>
              <a:pathLst>
                <a:path w="2506345" h="1955800">
                  <a:moveTo>
                    <a:pt x="2505989" y="1076452"/>
                  </a:moveTo>
                  <a:lnTo>
                    <a:pt x="2473223" y="1057402"/>
                  </a:lnTo>
                  <a:lnTo>
                    <a:pt x="2363355" y="993521"/>
                  </a:lnTo>
                  <a:lnTo>
                    <a:pt x="2356167" y="991057"/>
                  </a:lnTo>
                  <a:lnTo>
                    <a:pt x="2348865" y="991527"/>
                  </a:lnTo>
                  <a:lnTo>
                    <a:pt x="2342311" y="994702"/>
                  </a:lnTo>
                  <a:lnTo>
                    <a:pt x="2337333" y="1000379"/>
                  </a:lnTo>
                  <a:lnTo>
                    <a:pt x="2334857" y="1007503"/>
                  </a:lnTo>
                  <a:lnTo>
                    <a:pt x="2335326" y="1014780"/>
                  </a:lnTo>
                  <a:lnTo>
                    <a:pt x="2338501" y="1021372"/>
                  </a:lnTo>
                  <a:lnTo>
                    <a:pt x="2344178" y="1026414"/>
                  </a:lnTo>
                  <a:lnTo>
                    <a:pt x="2397595" y="1057478"/>
                  </a:lnTo>
                  <a:lnTo>
                    <a:pt x="819175" y="1059103"/>
                  </a:lnTo>
                  <a:lnTo>
                    <a:pt x="819175" y="108470"/>
                  </a:lnTo>
                  <a:lnTo>
                    <a:pt x="850290" y="161798"/>
                  </a:lnTo>
                  <a:lnTo>
                    <a:pt x="855332" y="167411"/>
                  </a:lnTo>
                  <a:lnTo>
                    <a:pt x="861936" y="170561"/>
                  </a:lnTo>
                  <a:lnTo>
                    <a:pt x="869251" y="171056"/>
                  </a:lnTo>
                  <a:lnTo>
                    <a:pt x="876452" y="168656"/>
                  </a:lnTo>
                  <a:lnTo>
                    <a:pt x="882053" y="163614"/>
                  </a:lnTo>
                  <a:lnTo>
                    <a:pt x="885215" y="157010"/>
                  </a:lnTo>
                  <a:lnTo>
                    <a:pt x="885698" y="149694"/>
                  </a:lnTo>
                  <a:lnTo>
                    <a:pt x="883310" y="142494"/>
                  </a:lnTo>
                  <a:lnTo>
                    <a:pt x="822210" y="37846"/>
                  </a:lnTo>
                  <a:lnTo>
                    <a:pt x="800125" y="0"/>
                  </a:lnTo>
                  <a:lnTo>
                    <a:pt x="716927" y="142494"/>
                  </a:lnTo>
                  <a:lnTo>
                    <a:pt x="714540" y="149694"/>
                  </a:lnTo>
                  <a:lnTo>
                    <a:pt x="715035" y="157010"/>
                  </a:lnTo>
                  <a:lnTo>
                    <a:pt x="718185" y="163614"/>
                  </a:lnTo>
                  <a:lnTo>
                    <a:pt x="723798" y="168656"/>
                  </a:lnTo>
                  <a:lnTo>
                    <a:pt x="730986" y="171056"/>
                  </a:lnTo>
                  <a:lnTo>
                    <a:pt x="738301" y="170561"/>
                  </a:lnTo>
                  <a:lnTo>
                    <a:pt x="744905" y="167411"/>
                  </a:lnTo>
                  <a:lnTo>
                    <a:pt x="749960" y="161798"/>
                  </a:lnTo>
                  <a:lnTo>
                    <a:pt x="781062" y="108470"/>
                  </a:lnTo>
                  <a:lnTo>
                    <a:pt x="781075" y="37846"/>
                  </a:lnTo>
                  <a:lnTo>
                    <a:pt x="781075" y="108470"/>
                  </a:lnTo>
                  <a:lnTo>
                    <a:pt x="781075" y="1059141"/>
                  </a:lnTo>
                  <a:lnTo>
                    <a:pt x="0" y="1059942"/>
                  </a:lnTo>
                  <a:lnTo>
                    <a:pt x="38" y="1098042"/>
                  </a:lnTo>
                  <a:lnTo>
                    <a:pt x="781075" y="1097241"/>
                  </a:lnTo>
                  <a:lnTo>
                    <a:pt x="781075" y="1955774"/>
                  </a:lnTo>
                  <a:lnTo>
                    <a:pt x="819175" y="1955774"/>
                  </a:lnTo>
                  <a:lnTo>
                    <a:pt x="819175" y="1097203"/>
                  </a:lnTo>
                  <a:lnTo>
                    <a:pt x="2397798" y="1095578"/>
                  </a:lnTo>
                  <a:lnTo>
                    <a:pt x="2344305" y="1126871"/>
                  </a:lnTo>
                  <a:lnTo>
                    <a:pt x="2338628" y="1131912"/>
                  </a:lnTo>
                  <a:lnTo>
                    <a:pt x="2335453" y="1138466"/>
                  </a:lnTo>
                  <a:lnTo>
                    <a:pt x="2334984" y="1145730"/>
                  </a:lnTo>
                  <a:lnTo>
                    <a:pt x="2337460" y="1152906"/>
                  </a:lnTo>
                  <a:lnTo>
                    <a:pt x="2342502" y="1158519"/>
                  </a:lnTo>
                  <a:lnTo>
                    <a:pt x="2349093" y="1161669"/>
                  </a:lnTo>
                  <a:lnTo>
                    <a:pt x="2356370" y="1162164"/>
                  </a:lnTo>
                  <a:lnTo>
                    <a:pt x="2363495" y="1159764"/>
                  </a:lnTo>
                  <a:lnTo>
                    <a:pt x="2505989" y="10764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987690" y="3953472"/>
              <a:ext cx="1623123" cy="46355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30"/>
                </a:spcBef>
              </a:pPr>
              <a:r>
                <a:rPr sz="1400" spc="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1575" spc="15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1575" spc="67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</a:t>
              </a:r>
              <a:r>
                <a:rPr sz="14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sz="14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feet</a:t>
              </a:r>
              <a:r>
                <a:rPr sz="1350" spc="37" baseline="2777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350" baseline="27777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50"/>
                </a:spcBef>
              </a:pPr>
              <a:r>
                <a:rPr sz="1400" spc="-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</a:t>
              </a:r>
              <a:endParaRPr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9114" y="2562956"/>
              <a:ext cx="1042035" cy="6724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6985" algn="ctr">
                <a:lnSpc>
                  <a:spcPct val="100000"/>
                </a:lnSpc>
                <a:spcBef>
                  <a:spcPts val="125"/>
                </a:spcBef>
              </a:pPr>
              <a:r>
                <a:rPr sz="1400" spc="1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1575" spc="22" baseline="-15873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575" baseline="-1587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8100" marR="30480" algn="ctr">
                <a:lnSpc>
                  <a:spcPts val="1650"/>
                </a:lnSpc>
                <a:spcBef>
                  <a:spcPts val="130"/>
                </a:spcBef>
              </a:pPr>
              <a:r>
                <a:rPr sz="14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r>
                <a:rPr sz="1400" spc="-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00" spc="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bed</a:t>
              </a:r>
              <a:r>
                <a:rPr sz="1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sz="1400" spc="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</a:t>
              </a:r>
              <a:r>
                <a:rPr sz="1400" spc="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sz="1400" spc="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 </a:t>
              </a:r>
              <a:r>
                <a:rPr sz="1400" spc="-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</a:t>
              </a:r>
              <a:endParaRPr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object 38"/>
            <p:cNvGrpSpPr/>
            <p:nvPr/>
          </p:nvGrpSpPr>
          <p:grpSpPr>
            <a:xfrm>
              <a:off x="828192" y="2690114"/>
              <a:ext cx="2163926" cy="1630120"/>
              <a:chOff x="828192" y="2690114"/>
              <a:chExt cx="2163926" cy="1630120"/>
            </a:xfrm>
          </p:grpSpPr>
          <p:pic>
            <p:nvPicPr>
              <p:cNvPr id="39" name="object 39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472986" y="3247263"/>
                <a:ext cx="71051" cy="84581"/>
              </a:xfrm>
              <a:prstGeom prst="rect">
                <a:avLst/>
              </a:prstGeom>
            </p:spPr>
          </p:pic>
          <p:pic>
            <p:nvPicPr>
              <p:cNvPr id="40" name="object 40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436726" y="3442716"/>
                <a:ext cx="69366" cy="84581"/>
              </a:xfrm>
              <a:prstGeom prst="rect">
                <a:avLst/>
              </a:prstGeom>
            </p:spPr>
          </p:pic>
          <p:pic>
            <p:nvPicPr>
              <p:cNvPr id="41" name="object 41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886458" y="3281934"/>
                <a:ext cx="71327" cy="93852"/>
              </a:xfrm>
              <a:prstGeom prst="rect">
                <a:avLst/>
              </a:prstGeom>
            </p:spPr>
          </p:pic>
          <p:pic>
            <p:nvPicPr>
              <p:cNvPr id="42" name="object 4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2120137" y="3405378"/>
                <a:ext cx="113229" cy="94742"/>
              </a:xfrm>
              <a:prstGeom prst="rect">
                <a:avLst/>
              </a:prstGeom>
            </p:spPr>
          </p:pic>
          <p:pic>
            <p:nvPicPr>
              <p:cNvPr id="43" name="object 43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2023251" y="3712845"/>
                <a:ext cx="102110" cy="110109"/>
              </a:xfrm>
              <a:prstGeom prst="rect">
                <a:avLst/>
              </a:prstGeom>
            </p:spPr>
          </p:pic>
          <p:pic>
            <p:nvPicPr>
              <p:cNvPr id="44" name="object 44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1517431" y="3765423"/>
                <a:ext cx="71197" cy="104775"/>
              </a:xfrm>
              <a:prstGeom prst="rect">
                <a:avLst/>
              </a:prstGeom>
            </p:spPr>
          </p:pic>
          <p:pic>
            <p:nvPicPr>
              <p:cNvPr id="45" name="object 45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1847282" y="3667379"/>
                <a:ext cx="81302" cy="109093"/>
              </a:xfrm>
              <a:prstGeom prst="rect">
                <a:avLst/>
              </a:prstGeom>
            </p:spPr>
          </p:pic>
          <p:pic>
            <p:nvPicPr>
              <p:cNvPr id="46" name="object 46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1308515" y="3751707"/>
                <a:ext cx="75557" cy="101218"/>
              </a:xfrm>
              <a:prstGeom prst="rect">
                <a:avLst/>
              </a:prstGeom>
            </p:spPr>
          </p:pic>
          <p:pic>
            <p:nvPicPr>
              <p:cNvPr id="47" name="object 47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2813303" y="3492119"/>
                <a:ext cx="178815" cy="399986"/>
              </a:xfrm>
              <a:prstGeom prst="rect">
                <a:avLst/>
              </a:prstGeom>
            </p:spPr>
          </p:pic>
          <p:pic>
            <p:nvPicPr>
              <p:cNvPr id="48" name="object 48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828192" y="3493897"/>
                <a:ext cx="279984" cy="426351"/>
              </a:xfrm>
              <a:prstGeom prst="rect">
                <a:avLst/>
              </a:prstGeom>
            </p:spPr>
          </p:pic>
          <p:pic>
            <p:nvPicPr>
              <p:cNvPr id="49" name="object 49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1497710" y="2690114"/>
                <a:ext cx="422275" cy="165100"/>
              </a:xfrm>
              <a:prstGeom prst="rect">
                <a:avLst/>
              </a:prstGeom>
            </p:spPr>
          </p:pic>
          <p:pic>
            <p:nvPicPr>
              <p:cNvPr id="50" name="object 50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660651" y="4203700"/>
                <a:ext cx="125815" cy="31648"/>
              </a:xfrm>
              <a:prstGeom prst="rect">
                <a:avLst/>
              </a:prstGeom>
            </p:spPr>
          </p:pic>
          <p:pic>
            <p:nvPicPr>
              <p:cNvPr id="51" name="object 51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1896744" y="4144975"/>
                <a:ext cx="300990" cy="175259"/>
              </a:xfrm>
              <a:prstGeom prst="rect">
                <a:avLst/>
              </a:prstGeom>
            </p:spPr>
          </p:pic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573BF9B-F24B-1C90-E5F5-2256E8B59DA6}"/>
              </a:ext>
            </a:extLst>
          </p:cNvPr>
          <p:cNvGrpSpPr/>
          <p:nvPr/>
        </p:nvGrpSpPr>
        <p:grpSpPr>
          <a:xfrm>
            <a:off x="4311967" y="920412"/>
            <a:ext cx="2167508" cy="2500313"/>
            <a:chOff x="4279265" y="815974"/>
            <a:chExt cx="2167508" cy="2500313"/>
          </a:xfrm>
        </p:grpSpPr>
        <p:sp>
          <p:nvSpPr>
            <p:cNvPr id="13" name="object 13"/>
            <p:cNvSpPr txBox="1"/>
            <p:nvPr/>
          </p:nvSpPr>
          <p:spPr>
            <a:xfrm>
              <a:off x="4488434" y="815974"/>
              <a:ext cx="1958339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30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  <a:r>
                <a:rPr sz="2000" spc="7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4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-37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250" spc="517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2000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553330" y="2130996"/>
              <a:ext cx="125095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3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438650" y="2025650"/>
              <a:ext cx="483234" cy="3009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  <a:tabLst>
                  <a:tab pos="298450" algn="l"/>
                </a:tabLst>
              </a:pPr>
              <a:r>
                <a:rPr sz="1800" spc="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	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70653" y="2196845"/>
              <a:ext cx="1057275" cy="9525"/>
            </a:xfrm>
            <a:custGeom>
              <a:avLst/>
              <a:gdLst/>
              <a:ahLst/>
              <a:cxnLst/>
              <a:rect l="l" t="t" r="r" b="b"/>
              <a:pathLst>
                <a:path w="1057275" h="9525">
                  <a:moveTo>
                    <a:pt x="10572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57275" y="9525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099684" y="1853819"/>
              <a:ext cx="786130" cy="3009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1800" spc="-1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025" spc="-22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025" spc="232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sz="1800" spc="-4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-3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𝜇</a:t>
              </a:r>
              <a:r>
                <a:rPr sz="2025" spc="-44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2025" baseline="-1646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963159" y="2178304"/>
              <a:ext cx="1076960" cy="3009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8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2000−300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4279265" y="2981642"/>
              <a:ext cx="2145665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−0.18</a:t>
              </a:r>
              <a:r>
                <a:rPr sz="2000" spc="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3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-44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250" spc="427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1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0.82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70754" y="2421382"/>
              <a:ext cx="1237615" cy="59791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283327" y="1254760"/>
              <a:ext cx="152908" cy="60832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3D98AD1-F729-BD09-426F-2320D6AA5157}"/>
              </a:ext>
            </a:extLst>
          </p:cNvPr>
          <p:cNvGrpSpPr/>
          <p:nvPr/>
        </p:nvGrpSpPr>
        <p:grpSpPr>
          <a:xfrm>
            <a:off x="6889287" y="932339"/>
            <a:ext cx="2145665" cy="2487612"/>
            <a:chOff x="6816090" y="819785"/>
            <a:chExt cx="2145665" cy="2487612"/>
          </a:xfrm>
        </p:grpSpPr>
        <p:sp>
          <p:nvSpPr>
            <p:cNvPr id="14" name="object 14"/>
            <p:cNvSpPr txBox="1"/>
            <p:nvPr/>
          </p:nvSpPr>
          <p:spPr>
            <a:xfrm>
              <a:off x="6826631" y="819785"/>
              <a:ext cx="1268095" cy="33528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sz="2000" spc="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7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250" spc="419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323708" y="2142807"/>
              <a:ext cx="125095" cy="22057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50" spc="3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728966" y="2208783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7334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733425" y="952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174483" y="1866328"/>
              <a:ext cx="1342390" cy="47666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561975">
                <a:lnSpc>
                  <a:spcPts val="1755"/>
                </a:lnSpc>
                <a:spcBef>
                  <a:spcPts val="100"/>
                </a:spcBef>
              </a:pPr>
              <a:r>
                <a:rPr sz="1800" spc="25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025" spc="37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025" spc="120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sz="1800" spc="3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spc="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𝜇</a:t>
              </a:r>
              <a:r>
                <a:rPr sz="2025" spc="15" baseline="-1646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2025" baseline="-1646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8100">
                <a:lnSpc>
                  <a:spcPts val="1755"/>
                </a:lnSpc>
                <a:tabLst>
                  <a:tab pos="323850" algn="l"/>
                </a:tabLst>
              </a:pPr>
              <a:r>
                <a:rPr sz="180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	</a:t>
              </a: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7876920" y="2190686"/>
              <a:ext cx="44704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sz="1800" spc="-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6816090" y="2972752"/>
              <a:ext cx="2145665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−0.46</a:t>
              </a:r>
              <a:r>
                <a:rPr sz="2000" spc="6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10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𝑥</a:t>
              </a:r>
              <a:r>
                <a:rPr sz="2250" spc="15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250" spc="419" baseline="-16666" dirty="0">
                  <a:solidFill>
                    <a:srgbClr val="FF9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sz="2000" spc="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0.54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12557" y="2405252"/>
              <a:ext cx="1137285" cy="65938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94778" y="1234313"/>
              <a:ext cx="322072" cy="708660"/>
            </a:xfrm>
            <a:prstGeom prst="rect">
              <a:avLst/>
            </a:prstGeom>
          </p:spPr>
        </p:pic>
      </p:grp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6AE1178E-137D-7F54-4F38-60DA2AB1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P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6250" y="1437514"/>
            <a:ext cx="12680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spc="15" dirty="0">
                <a:latin typeface="Cambria Math"/>
                <a:cs typeface="Cambria Math"/>
              </a:rPr>
              <a:t>0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7" baseline="-16666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250" spc="419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2688" y="2737295"/>
            <a:ext cx="1250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35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68580" y="2803271"/>
            <a:ext cx="733425" cy="9525"/>
          </a:xfrm>
          <a:custGeom>
            <a:avLst/>
            <a:gdLst/>
            <a:ahLst/>
            <a:cxnLst/>
            <a:rect l="l" t="t" r="r" b="b"/>
            <a:pathLst>
              <a:path w="733425" h="9525">
                <a:moveTo>
                  <a:pt x="733425" y="0"/>
                </a:moveTo>
                <a:lnTo>
                  <a:pt x="0" y="0"/>
                </a:lnTo>
                <a:lnTo>
                  <a:pt x="0" y="9525"/>
                </a:lnTo>
                <a:lnTo>
                  <a:pt x="733425" y="9525"/>
                </a:lnTo>
                <a:lnTo>
                  <a:pt x="733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13463" y="2460816"/>
            <a:ext cx="1342390" cy="47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ts val="1755"/>
              </a:lnSpc>
              <a:spcBef>
                <a:spcPts val="100"/>
              </a:spcBef>
            </a:pPr>
            <a:r>
              <a:rPr sz="1800" spc="2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025" spc="37" baseline="-16460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025" spc="127" baseline="-1646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sz="1800" spc="25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00" spc="10" dirty="0">
                <a:solidFill>
                  <a:srgbClr val="FF9300"/>
                </a:solidFill>
                <a:latin typeface="Cambria Math"/>
                <a:cs typeface="Cambria Math"/>
              </a:rPr>
              <a:t>𝜇</a:t>
            </a:r>
            <a:r>
              <a:rPr sz="2025" spc="15" baseline="-16460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2025" baseline="-16460">
              <a:latin typeface="Cambria Math"/>
              <a:cs typeface="Cambria Math"/>
            </a:endParaRPr>
          </a:p>
          <a:p>
            <a:pPr marL="38100">
              <a:lnSpc>
                <a:spcPts val="1755"/>
              </a:lnSpc>
              <a:tabLst>
                <a:tab pos="323850" algn="l"/>
              </a:tabLst>
            </a:pP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𝑥	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5402" y="2785301"/>
            <a:ext cx="290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sz="2025" spc="-89" baseline="-16460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2025" baseline="-1646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4109" y="2782126"/>
            <a:ext cx="1250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35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41178" y="2847976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723900" y="0"/>
                </a:moveTo>
                <a:lnTo>
                  <a:pt x="0" y="0"/>
                </a:lnTo>
                <a:lnTo>
                  <a:pt x="0" y="9525"/>
                </a:lnTo>
                <a:lnTo>
                  <a:pt x="723900" y="9525"/>
                </a:lnTo>
                <a:lnTo>
                  <a:pt x="723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84409" y="2505520"/>
            <a:ext cx="1313180" cy="47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ts val="1755"/>
              </a:lnSpc>
              <a:spcBef>
                <a:spcPts val="100"/>
              </a:spcBef>
            </a:pPr>
            <a:r>
              <a:rPr sz="1800" spc="-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025" spc="-22" baseline="-16460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025" spc="135" baseline="-1646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sz="1800" spc="-5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00" spc="-30" dirty="0">
                <a:solidFill>
                  <a:srgbClr val="FF9300"/>
                </a:solidFill>
                <a:latin typeface="Cambria Math"/>
                <a:cs typeface="Cambria Math"/>
              </a:rPr>
              <a:t>𝜇</a:t>
            </a:r>
            <a:r>
              <a:rPr sz="2025" spc="-44" baseline="-16460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2025" baseline="-16460">
              <a:latin typeface="Cambria Math"/>
              <a:cs typeface="Cambria Math"/>
            </a:endParaRPr>
          </a:p>
          <a:p>
            <a:pPr marL="38100">
              <a:lnSpc>
                <a:spcPts val="1755"/>
              </a:lnSpc>
              <a:tabLst>
                <a:tab pos="323850" algn="l"/>
              </a:tabLst>
            </a:pP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𝑥	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1970" y="2830132"/>
            <a:ext cx="1593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6998" y="2934780"/>
            <a:ext cx="1250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35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0399" y="3676523"/>
            <a:ext cx="392302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101850" algn="l"/>
              </a:tabLst>
            </a:pPr>
            <a:r>
              <a:rPr sz="2000" spc="15" dirty="0">
                <a:latin typeface="Cambria Math"/>
                <a:cs typeface="Cambria Math"/>
              </a:rPr>
              <a:t>−0.67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spc="-3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-44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457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3.1	</a:t>
            </a:r>
            <a:r>
              <a:rPr sz="2000" spc="15" dirty="0">
                <a:latin typeface="Cambria Math"/>
                <a:cs typeface="Cambria Math"/>
              </a:rPr>
              <a:t>−1.6</a:t>
            </a:r>
            <a:r>
              <a:rPr sz="200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120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15" baseline="-16666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250" spc="315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1.9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515" y="2448814"/>
            <a:ext cx="449173" cy="34899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015608" y="1246252"/>
            <a:ext cx="2016760" cy="1819275"/>
            <a:chOff x="935989" y="628523"/>
            <a:chExt cx="2016760" cy="18192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9220" y="2256790"/>
              <a:ext cx="424065" cy="1737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6418" y="2276474"/>
              <a:ext cx="616076" cy="17081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5989" y="628523"/>
              <a:ext cx="1992502" cy="161493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78518" y="1168925"/>
            <a:ext cx="4754880" cy="53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1870"/>
              </a:lnSpc>
              <a:spcBef>
                <a:spcPts val="100"/>
              </a:spcBef>
            </a:pPr>
            <a:r>
              <a:rPr sz="1800" spc="-15" dirty="0">
                <a:latin typeface="Verdana"/>
                <a:cs typeface="Verdana"/>
              </a:rPr>
              <a:t>standard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deviation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dirty="0">
                <a:latin typeface="Cambria Math"/>
                <a:cs typeface="Cambria Math"/>
              </a:rPr>
              <a:t>𝜎</a:t>
            </a:r>
          </a:p>
          <a:p>
            <a:pPr marL="2821305">
              <a:lnSpc>
                <a:spcPts val="2110"/>
              </a:lnSpc>
            </a:pPr>
            <a:r>
              <a:rPr sz="2000" spc="15" dirty="0">
                <a:latin typeface="Cambria Math"/>
                <a:cs typeface="Cambria Math"/>
              </a:rPr>
              <a:t>300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-37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517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2000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69684" y="110580"/>
            <a:ext cx="377952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432FF"/>
                </a:solidFill>
              </a:rPr>
              <a:t>Z-score</a:t>
            </a:r>
            <a:r>
              <a:rPr spc="-55" dirty="0">
                <a:solidFill>
                  <a:srgbClr val="0432FF"/>
                </a:solidFill>
              </a:rPr>
              <a:t> </a:t>
            </a:r>
            <a:r>
              <a:rPr spc="-15" dirty="0">
                <a:solidFill>
                  <a:srgbClr val="0432FF"/>
                </a:solidFill>
              </a:rPr>
              <a:t>normalization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600063" y="1692720"/>
            <a:ext cx="10871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-80" dirty="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sz="2250" spc="-120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390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FF930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15" dirty="0">
                <a:solidFill>
                  <a:srgbClr val="FF9300"/>
                </a:solidFill>
                <a:latin typeface="Cambria Math"/>
                <a:cs typeface="Cambria Math"/>
              </a:rPr>
              <a:t>450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60210" y="2127441"/>
            <a:ext cx="1358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5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6860" y="2002917"/>
            <a:ext cx="94996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6550" algn="l"/>
              </a:tabLst>
            </a:pPr>
            <a:r>
              <a:rPr sz="2000" spc="15" dirty="0">
                <a:solidFill>
                  <a:srgbClr val="FF9300"/>
                </a:solidFill>
                <a:latin typeface="Cambria Math"/>
                <a:cs typeface="Cambria Math"/>
              </a:rPr>
              <a:t>𝜎	</a:t>
            </a:r>
            <a:r>
              <a:rPr sz="2000" spc="20" dirty="0">
                <a:solidFill>
                  <a:srgbClr val="FF9300"/>
                </a:solidFill>
                <a:latin typeface="Cambria Math"/>
                <a:cs typeface="Cambria Math"/>
              </a:rPr>
              <a:t>=</a:t>
            </a:r>
            <a:r>
              <a:rPr sz="2000" spc="-5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FF9300"/>
                </a:solidFill>
                <a:latin typeface="Cambria Math"/>
                <a:cs typeface="Cambria Math"/>
              </a:rPr>
              <a:t>1.4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527" y="1703133"/>
            <a:ext cx="104203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575" baseline="-15873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15" dirty="0">
                <a:latin typeface="Arial MT"/>
                <a:cs typeface="Arial MT"/>
              </a:rPr>
              <a:t>#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25" dirty="0">
                <a:latin typeface="Arial MT"/>
                <a:cs typeface="Arial MT"/>
              </a:rPr>
              <a:t>bedrooms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40699" y="2732596"/>
            <a:ext cx="645160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 indent="8890">
              <a:lnSpc>
                <a:spcPct val="102800"/>
              </a:lnSpc>
              <a:spcBef>
                <a:spcPts val="80"/>
              </a:spcBef>
            </a:pPr>
            <a:r>
              <a:rPr sz="1400" spc="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1575" spc="112" baseline="-15873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Arial MT"/>
                <a:cs typeface="Arial MT"/>
              </a:rPr>
              <a:t>size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25" dirty="0">
                <a:latin typeface="Arial MT"/>
                <a:cs typeface="Arial MT"/>
              </a:rPr>
              <a:t>feet</a:t>
            </a:r>
            <a:r>
              <a:rPr sz="1350" spc="37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65815" y="1851787"/>
            <a:ext cx="143510" cy="63118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2014" y="1855090"/>
            <a:ext cx="256921" cy="6731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21976" y="3101086"/>
            <a:ext cx="381888" cy="66293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72416" y="3005836"/>
            <a:ext cx="675894" cy="71881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327256" y="3170301"/>
            <a:ext cx="2506345" cy="1955800"/>
          </a:xfrm>
          <a:custGeom>
            <a:avLst/>
            <a:gdLst/>
            <a:ahLst/>
            <a:cxnLst/>
            <a:rect l="l" t="t" r="r" b="b"/>
            <a:pathLst>
              <a:path w="2506345" h="1955800">
                <a:moveTo>
                  <a:pt x="2505976" y="1076452"/>
                </a:moveTo>
                <a:lnTo>
                  <a:pt x="2473210" y="1057402"/>
                </a:lnTo>
                <a:lnTo>
                  <a:pt x="2363355" y="993521"/>
                </a:lnTo>
                <a:lnTo>
                  <a:pt x="2356154" y="991057"/>
                </a:lnTo>
                <a:lnTo>
                  <a:pt x="2348852" y="991527"/>
                </a:lnTo>
                <a:lnTo>
                  <a:pt x="2342299" y="994702"/>
                </a:lnTo>
                <a:lnTo>
                  <a:pt x="2337320" y="1000379"/>
                </a:lnTo>
                <a:lnTo>
                  <a:pt x="2334844" y="1007503"/>
                </a:lnTo>
                <a:lnTo>
                  <a:pt x="2335314" y="1014780"/>
                </a:lnTo>
                <a:lnTo>
                  <a:pt x="2338489" y="1021372"/>
                </a:lnTo>
                <a:lnTo>
                  <a:pt x="2344178" y="1026414"/>
                </a:lnTo>
                <a:lnTo>
                  <a:pt x="2397582" y="1057478"/>
                </a:lnTo>
                <a:lnTo>
                  <a:pt x="828687" y="1059091"/>
                </a:lnTo>
                <a:lnTo>
                  <a:pt x="828687" y="108381"/>
                </a:lnTo>
                <a:lnTo>
                  <a:pt x="859853" y="161798"/>
                </a:lnTo>
                <a:lnTo>
                  <a:pt x="864882" y="167411"/>
                </a:lnTo>
                <a:lnTo>
                  <a:pt x="871461" y="170561"/>
                </a:lnTo>
                <a:lnTo>
                  <a:pt x="878751" y="171056"/>
                </a:lnTo>
                <a:lnTo>
                  <a:pt x="885913" y="168656"/>
                </a:lnTo>
                <a:lnTo>
                  <a:pt x="891552" y="163614"/>
                </a:lnTo>
                <a:lnTo>
                  <a:pt x="894727" y="157010"/>
                </a:lnTo>
                <a:lnTo>
                  <a:pt x="895210" y="149694"/>
                </a:lnTo>
                <a:lnTo>
                  <a:pt x="892771" y="142494"/>
                </a:lnTo>
                <a:lnTo>
                  <a:pt x="831710" y="37846"/>
                </a:lnTo>
                <a:lnTo>
                  <a:pt x="809637" y="0"/>
                </a:lnTo>
                <a:lnTo>
                  <a:pt x="726503" y="142494"/>
                </a:lnTo>
                <a:lnTo>
                  <a:pt x="724052" y="149694"/>
                </a:lnTo>
                <a:lnTo>
                  <a:pt x="724535" y="157010"/>
                </a:lnTo>
                <a:lnTo>
                  <a:pt x="727710" y="163614"/>
                </a:lnTo>
                <a:lnTo>
                  <a:pt x="733361" y="168656"/>
                </a:lnTo>
                <a:lnTo>
                  <a:pt x="740511" y="171056"/>
                </a:lnTo>
                <a:lnTo>
                  <a:pt x="747801" y="170561"/>
                </a:lnTo>
                <a:lnTo>
                  <a:pt x="754380" y="167411"/>
                </a:lnTo>
                <a:lnTo>
                  <a:pt x="759421" y="161798"/>
                </a:lnTo>
                <a:lnTo>
                  <a:pt x="790587" y="108381"/>
                </a:lnTo>
                <a:lnTo>
                  <a:pt x="790587" y="1059141"/>
                </a:lnTo>
                <a:lnTo>
                  <a:pt x="0" y="1059942"/>
                </a:lnTo>
                <a:lnTo>
                  <a:pt x="25" y="1098042"/>
                </a:lnTo>
                <a:lnTo>
                  <a:pt x="790587" y="1097241"/>
                </a:lnTo>
                <a:lnTo>
                  <a:pt x="790587" y="1955774"/>
                </a:lnTo>
                <a:lnTo>
                  <a:pt x="828687" y="1955774"/>
                </a:lnTo>
                <a:lnTo>
                  <a:pt x="828687" y="1097191"/>
                </a:lnTo>
                <a:lnTo>
                  <a:pt x="2397785" y="1095578"/>
                </a:lnTo>
                <a:lnTo>
                  <a:pt x="2344305" y="1126871"/>
                </a:lnTo>
                <a:lnTo>
                  <a:pt x="2338616" y="1131912"/>
                </a:lnTo>
                <a:lnTo>
                  <a:pt x="2335441" y="1138466"/>
                </a:lnTo>
                <a:lnTo>
                  <a:pt x="2334971" y="1145730"/>
                </a:lnTo>
                <a:lnTo>
                  <a:pt x="2337447" y="1152906"/>
                </a:lnTo>
                <a:lnTo>
                  <a:pt x="2342489" y="1158519"/>
                </a:lnTo>
                <a:lnTo>
                  <a:pt x="2349081" y="1161669"/>
                </a:lnTo>
                <a:lnTo>
                  <a:pt x="2356358" y="1162164"/>
                </a:lnTo>
                <a:lnTo>
                  <a:pt x="2363482" y="1159764"/>
                </a:lnTo>
                <a:lnTo>
                  <a:pt x="2505976" y="1076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606283" y="4337876"/>
            <a:ext cx="121729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1575" spc="60" baseline="-15873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latin typeface="Arial MT"/>
                <a:cs typeface="Arial MT"/>
              </a:rPr>
              <a:t>size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25" dirty="0">
                <a:latin typeface="Arial MT"/>
                <a:cs typeface="Arial MT"/>
              </a:rPr>
              <a:t>feet</a:t>
            </a:r>
            <a:r>
              <a:rPr sz="1350" spc="37" baseline="27777" dirty="0">
                <a:latin typeface="Cambria Math"/>
                <a:cs typeface="Cambria Math"/>
              </a:rPr>
              <a:t>2</a:t>
            </a:r>
            <a:endParaRPr sz="1350" baseline="27777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spc="-5" dirty="0">
                <a:latin typeface="Arial MT"/>
                <a:cs typeface="Arial MT"/>
              </a:rPr>
              <a:t>normalized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65443" y="3232341"/>
            <a:ext cx="1042035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1575" spc="22" baseline="-15873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575" baseline="-15873">
              <a:latin typeface="Cambria Math"/>
              <a:cs typeface="Cambria Math"/>
            </a:endParaRPr>
          </a:p>
          <a:p>
            <a:pPr marL="37465" marR="30480" algn="ctr">
              <a:lnSpc>
                <a:spcPts val="1650"/>
              </a:lnSpc>
              <a:spcBef>
                <a:spcPts val="130"/>
              </a:spcBef>
            </a:pPr>
            <a:r>
              <a:rPr sz="1400" spc="15" dirty="0">
                <a:latin typeface="Arial MT"/>
                <a:cs typeface="Arial MT"/>
              </a:rPr>
              <a:t>#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40" dirty="0">
                <a:latin typeface="Arial MT"/>
                <a:cs typeface="Arial MT"/>
              </a:rPr>
              <a:t>bed</a:t>
            </a:r>
            <a:r>
              <a:rPr sz="1400" spc="-25" dirty="0">
                <a:latin typeface="Arial MT"/>
                <a:cs typeface="Arial MT"/>
              </a:rPr>
              <a:t>r</a:t>
            </a:r>
            <a:r>
              <a:rPr sz="1400" spc="40" dirty="0">
                <a:latin typeface="Arial MT"/>
                <a:cs typeface="Arial MT"/>
              </a:rPr>
              <a:t>oo</a:t>
            </a:r>
            <a:r>
              <a:rPr sz="1400" spc="25" dirty="0">
                <a:latin typeface="Arial MT"/>
                <a:cs typeface="Arial MT"/>
              </a:rPr>
              <a:t>m</a:t>
            </a:r>
            <a:r>
              <a:rPr sz="1400" spc="5" dirty="0">
                <a:latin typeface="Arial MT"/>
                <a:cs typeface="Arial MT"/>
              </a:rPr>
              <a:t>s  </a:t>
            </a:r>
            <a:r>
              <a:rPr sz="1400" spc="-5" dirty="0">
                <a:latin typeface="Arial MT"/>
                <a:cs typeface="Arial MT"/>
              </a:rPr>
              <a:t>normalized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7357" y="1428750"/>
            <a:ext cx="4051935" cy="3592829"/>
            <a:chOff x="80420" y="830199"/>
            <a:chExt cx="4051935" cy="3592829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539" y="830199"/>
              <a:ext cx="823785" cy="28816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752" y="3275965"/>
              <a:ext cx="70966" cy="8458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3331" y="3471544"/>
              <a:ext cx="69588" cy="8458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3197" y="3310763"/>
              <a:ext cx="71336" cy="9385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6878" y="3434206"/>
              <a:ext cx="113228" cy="9474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40017" y="3741547"/>
              <a:ext cx="102089" cy="11010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4189" y="3794213"/>
              <a:ext cx="71146" cy="1047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5253" y="3780383"/>
              <a:ext cx="75548" cy="10134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64047" y="3696208"/>
              <a:ext cx="81147" cy="10909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46676" y="3025521"/>
              <a:ext cx="78979" cy="848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2093" y="2968752"/>
              <a:ext cx="60994" cy="7708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55596" y="2259711"/>
              <a:ext cx="416996" cy="3693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86253" y="3510534"/>
              <a:ext cx="158495" cy="36283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420" y="3379850"/>
              <a:ext cx="265451" cy="31902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97165" y="2729356"/>
              <a:ext cx="167640" cy="24765"/>
            </a:xfrm>
            <a:custGeom>
              <a:avLst/>
              <a:gdLst/>
              <a:ahLst/>
              <a:cxnLst/>
              <a:rect l="l" t="t" r="r" b="b"/>
              <a:pathLst>
                <a:path w="167640" h="24764">
                  <a:moveTo>
                    <a:pt x="24001" y="1732"/>
                  </a:moveTo>
                  <a:lnTo>
                    <a:pt x="16814" y="2667"/>
                  </a:lnTo>
                  <a:lnTo>
                    <a:pt x="3403" y="5587"/>
                  </a:lnTo>
                  <a:lnTo>
                    <a:pt x="0" y="10668"/>
                  </a:lnTo>
                  <a:lnTo>
                    <a:pt x="1828" y="21081"/>
                  </a:lnTo>
                  <a:lnTo>
                    <a:pt x="6731" y="24765"/>
                  </a:lnTo>
                  <a:lnTo>
                    <a:pt x="12026" y="24003"/>
                  </a:lnTo>
                  <a:lnTo>
                    <a:pt x="20345" y="22987"/>
                  </a:lnTo>
                  <a:lnTo>
                    <a:pt x="19951" y="22987"/>
                  </a:lnTo>
                  <a:lnTo>
                    <a:pt x="26796" y="22351"/>
                  </a:lnTo>
                  <a:lnTo>
                    <a:pt x="28079" y="22098"/>
                  </a:lnTo>
                  <a:lnTo>
                    <a:pt x="29590" y="21766"/>
                  </a:lnTo>
                  <a:lnTo>
                    <a:pt x="28460" y="21717"/>
                  </a:lnTo>
                  <a:lnTo>
                    <a:pt x="30975" y="21462"/>
                  </a:lnTo>
                  <a:lnTo>
                    <a:pt x="133997" y="21462"/>
                  </a:lnTo>
                  <a:lnTo>
                    <a:pt x="129679" y="17144"/>
                  </a:lnTo>
                  <a:lnTo>
                    <a:pt x="129679" y="6223"/>
                  </a:lnTo>
                  <a:lnTo>
                    <a:pt x="133743" y="2159"/>
                  </a:lnTo>
                  <a:lnTo>
                    <a:pt x="101688" y="2159"/>
                  </a:lnTo>
                  <a:lnTo>
                    <a:pt x="99528" y="2031"/>
                  </a:lnTo>
                  <a:lnTo>
                    <a:pt x="23037" y="2031"/>
                  </a:lnTo>
                  <a:lnTo>
                    <a:pt x="24001" y="1732"/>
                  </a:lnTo>
                  <a:close/>
                </a:path>
                <a:path w="167640" h="24764">
                  <a:moveTo>
                    <a:pt x="152522" y="807"/>
                  </a:moveTo>
                  <a:lnTo>
                    <a:pt x="147510" y="1397"/>
                  </a:lnTo>
                  <a:lnTo>
                    <a:pt x="144373" y="1397"/>
                  </a:lnTo>
                  <a:lnTo>
                    <a:pt x="133981" y="1920"/>
                  </a:lnTo>
                  <a:lnTo>
                    <a:pt x="129679" y="6223"/>
                  </a:lnTo>
                  <a:lnTo>
                    <a:pt x="129679" y="17144"/>
                  </a:lnTo>
                  <a:lnTo>
                    <a:pt x="134124" y="21590"/>
                  </a:lnTo>
                  <a:lnTo>
                    <a:pt x="41732" y="21590"/>
                  </a:lnTo>
                  <a:lnTo>
                    <a:pt x="45681" y="21717"/>
                  </a:lnTo>
                  <a:lnTo>
                    <a:pt x="55257" y="21843"/>
                  </a:lnTo>
                  <a:lnTo>
                    <a:pt x="54787" y="21843"/>
                  </a:lnTo>
                  <a:lnTo>
                    <a:pt x="68834" y="22606"/>
                  </a:lnTo>
                  <a:lnTo>
                    <a:pt x="81280" y="22987"/>
                  </a:lnTo>
                  <a:lnTo>
                    <a:pt x="81026" y="22987"/>
                  </a:lnTo>
                  <a:lnTo>
                    <a:pt x="100469" y="24130"/>
                  </a:lnTo>
                  <a:lnTo>
                    <a:pt x="133032" y="24130"/>
                  </a:lnTo>
                  <a:lnTo>
                    <a:pt x="145630" y="23368"/>
                  </a:lnTo>
                  <a:lnTo>
                    <a:pt x="148958" y="23368"/>
                  </a:lnTo>
                  <a:lnTo>
                    <a:pt x="150431" y="23241"/>
                  </a:lnTo>
                  <a:lnTo>
                    <a:pt x="153269" y="22907"/>
                  </a:lnTo>
                  <a:lnTo>
                    <a:pt x="149987" y="20828"/>
                  </a:lnTo>
                  <a:lnTo>
                    <a:pt x="148704" y="20066"/>
                  </a:lnTo>
                  <a:lnTo>
                    <a:pt x="162650" y="20066"/>
                  </a:lnTo>
                  <a:lnTo>
                    <a:pt x="165302" y="18112"/>
                  </a:lnTo>
                  <a:lnTo>
                    <a:pt x="167106" y="11687"/>
                  </a:lnTo>
                  <a:lnTo>
                    <a:pt x="166281" y="8762"/>
                  </a:lnTo>
                  <a:lnTo>
                    <a:pt x="165292" y="5120"/>
                  </a:lnTo>
                  <a:lnTo>
                    <a:pt x="162828" y="3301"/>
                  </a:lnTo>
                  <a:lnTo>
                    <a:pt x="148704" y="3301"/>
                  </a:lnTo>
                  <a:lnTo>
                    <a:pt x="149987" y="2412"/>
                  </a:lnTo>
                  <a:lnTo>
                    <a:pt x="152522" y="807"/>
                  </a:lnTo>
                  <a:close/>
                </a:path>
                <a:path w="167640" h="24764">
                  <a:moveTo>
                    <a:pt x="159851" y="22221"/>
                  </a:moveTo>
                  <a:lnTo>
                    <a:pt x="156819" y="22479"/>
                  </a:lnTo>
                  <a:lnTo>
                    <a:pt x="156108" y="22606"/>
                  </a:lnTo>
                  <a:lnTo>
                    <a:pt x="155829" y="22606"/>
                  </a:lnTo>
                  <a:lnTo>
                    <a:pt x="153269" y="22907"/>
                  </a:lnTo>
                  <a:lnTo>
                    <a:pt x="153797" y="23241"/>
                  </a:lnTo>
                  <a:lnTo>
                    <a:pt x="158699" y="23113"/>
                  </a:lnTo>
                  <a:lnTo>
                    <a:pt x="159851" y="22221"/>
                  </a:lnTo>
                  <a:close/>
                </a:path>
                <a:path w="167640" h="24764">
                  <a:moveTo>
                    <a:pt x="148704" y="20066"/>
                  </a:moveTo>
                  <a:lnTo>
                    <a:pt x="149987" y="20828"/>
                  </a:lnTo>
                  <a:lnTo>
                    <a:pt x="153269" y="22907"/>
                  </a:lnTo>
                  <a:lnTo>
                    <a:pt x="155829" y="22606"/>
                  </a:lnTo>
                  <a:lnTo>
                    <a:pt x="155486" y="22606"/>
                  </a:lnTo>
                  <a:lnTo>
                    <a:pt x="156197" y="22479"/>
                  </a:lnTo>
                  <a:lnTo>
                    <a:pt x="156819" y="22479"/>
                  </a:lnTo>
                  <a:lnTo>
                    <a:pt x="159851" y="22221"/>
                  </a:lnTo>
                  <a:lnTo>
                    <a:pt x="160666" y="21590"/>
                  </a:lnTo>
                  <a:lnTo>
                    <a:pt x="154000" y="21590"/>
                  </a:lnTo>
                  <a:lnTo>
                    <a:pt x="148704" y="20066"/>
                  </a:lnTo>
                  <a:close/>
                </a:path>
                <a:path w="167640" h="24764">
                  <a:moveTo>
                    <a:pt x="156197" y="22479"/>
                  </a:moveTo>
                  <a:lnTo>
                    <a:pt x="155486" y="22606"/>
                  </a:lnTo>
                  <a:lnTo>
                    <a:pt x="156108" y="22606"/>
                  </a:lnTo>
                  <a:close/>
                </a:path>
                <a:path w="167640" h="24764">
                  <a:moveTo>
                    <a:pt x="156819" y="22479"/>
                  </a:moveTo>
                  <a:lnTo>
                    <a:pt x="156197" y="22479"/>
                  </a:lnTo>
                  <a:lnTo>
                    <a:pt x="156819" y="22479"/>
                  </a:lnTo>
                  <a:close/>
                </a:path>
                <a:path w="167640" h="24764">
                  <a:moveTo>
                    <a:pt x="165302" y="18112"/>
                  </a:moveTo>
                  <a:lnTo>
                    <a:pt x="162306" y="20319"/>
                  </a:lnTo>
                  <a:lnTo>
                    <a:pt x="159851" y="22221"/>
                  </a:lnTo>
                  <a:lnTo>
                    <a:pt x="161302" y="22098"/>
                  </a:lnTo>
                  <a:lnTo>
                    <a:pt x="165074" y="18923"/>
                  </a:lnTo>
                  <a:lnTo>
                    <a:pt x="165302" y="18112"/>
                  </a:lnTo>
                  <a:close/>
                </a:path>
                <a:path w="167640" h="24764">
                  <a:moveTo>
                    <a:pt x="35801" y="21462"/>
                  </a:moveTo>
                  <a:lnTo>
                    <a:pt x="30975" y="21462"/>
                  </a:lnTo>
                  <a:lnTo>
                    <a:pt x="29590" y="21766"/>
                  </a:lnTo>
                  <a:lnTo>
                    <a:pt x="31343" y="21843"/>
                  </a:lnTo>
                  <a:lnTo>
                    <a:pt x="32562" y="21843"/>
                  </a:lnTo>
                  <a:lnTo>
                    <a:pt x="34721" y="21590"/>
                  </a:lnTo>
                  <a:lnTo>
                    <a:pt x="35801" y="21462"/>
                  </a:lnTo>
                  <a:close/>
                </a:path>
                <a:path w="167640" h="24764">
                  <a:moveTo>
                    <a:pt x="30975" y="21462"/>
                  </a:moveTo>
                  <a:lnTo>
                    <a:pt x="28460" y="21717"/>
                  </a:lnTo>
                  <a:lnTo>
                    <a:pt x="29590" y="21766"/>
                  </a:lnTo>
                  <a:lnTo>
                    <a:pt x="30975" y="21462"/>
                  </a:lnTo>
                  <a:close/>
                </a:path>
                <a:path w="167640" h="24764">
                  <a:moveTo>
                    <a:pt x="133997" y="21462"/>
                  </a:moveTo>
                  <a:lnTo>
                    <a:pt x="35801" y="21462"/>
                  </a:lnTo>
                  <a:lnTo>
                    <a:pt x="34721" y="21590"/>
                  </a:lnTo>
                  <a:lnTo>
                    <a:pt x="134124" y="21590"/>
                  </a:lnTo>
                  <a:lnTo>
                    <a:pt x="133997" y="21462"/>
                  </a:lnTo>
                  <a:close/>
                </a:path>
                <a:path w="167640" h="24764">
                  <a:moveTo>
                    <a:pt x="162650" y="20066"/>
                  </a:moveTo>
                  <a:lnTo>
                    <a:pt x="148704" y="20066"/>
                  </a:lnTo>
                  <a:lnTo>
                    <a:pt x="154000" y="21590"/>
                  </a:lnTo>
                  <a:lnTo>
                    <a:pt x="160666" y="21590"/>
                  </a:lnTo>
                  <a:lnTo>
                    <a:pt x="162650" y="20066"/>
                  </a:lnTo>
                  <a:close/>
                </a:path>
                <a:path w="167640" h="24764">
                  <a:moveTo>
                    <a:pt x="167106" y="11687"/>
                  </a:moveTo>
                  <a:lnTo>
                    <a:pt x="165302" y="18112"/>
                  </a:lnTo>
                  <a:lnTo>
                    <a:pt x="165925" y="17653"/>
                  </a:lnTo>
                  <a:lnTo>
                    <a:pt x="167500" y="13081"/>
                  </a:lnTo>
                  <a:lnTo>
                    <a:pt x="167106" y="11687"/>
                  </a:lnTo>
                  <a:close/>
                </a:path>
                <a:path w="167640" h="24764">
                  <a:moveTo>
                    <a:pt x="165292" y="5120"/>
                  </a:moveTo>
                  <a:lnTo>
                    <a:pt x="167106" y="11687"/>
                  </a:lnTo>
                  <a:lnTo>
                    <a:pt x="167500" y="10287"/>
                  </a:lnTo>
                  <a:lnTo>
                    <a:pt x="165925" y="5587"/>
                  </a:lnTo>
                  <a:lnTo>
                    <a:pt x="165292" y="5120"/>
                  </a:lnTo>
                  <a:close/>
                </a:path>
                <a:path w="167640" h="24764">
                  <a:moveTo>
                    <a:pt x="159853" y="1105"/>
                  </a:moveTo>
                  <a:lnTo>
                    <a:pt x="165292" y="5120"/>
                  </a:lnTo>
                  <a:lnTo>
                    <a:pt x="165074" y="4318"/>
                  </a:lnTo>
                  <a:lnTo>
                    <a:pt x="161302" y="1269"/>
                  </a:lnTo>
                  <a:lnTo>
                    <a:pt x="159853" y="1105"/>
                  </a:lnTo>
                  <a:close/>
                </a:path>
                <a:path w="167640" h="24764">
                  <a:moveTo>
                    <a:pt x="155486" y="635"/>
                  </a:moveTo>
                  <a:lnTo>
                    <a:pt x="152908" y="762"/>
                  </a:lnTo>
                  <a:lnTo>
                    <a:pt x="152522" y="807"/>
                  </a:lnTo>
                  <a:lnTo>
                    <a:pt x="149987" y="2412"/>
                  </a:lnTo>
                  <a:lnTo>
                    <a:pt x="148704" y="3301"/>
                  </a:lnTo>
                  <a:lnTo>
                    <a:pt x="154000" y="1778"/>
                  </a:lnTo>
                  <a:lnTo>
                    <a:pt x="160763" y="1778"/>
                  </a:lnTo>
                  <a:lnTo>
                    <a:pt x="159853" y="1105"/>
                  </a:lnTo>
                  <a:lnTo>
                    <a:pt x="156819" y="762"/>
                  </a:lnTo>
                  <a:lnTo>
                    <a:pt x="156197" y="762"/>
                  </a:lnTo>
                  <a:lnTo>
                    <a:pt x="155486" y="635"/>
                  </a:lnTo>
                  <a:close/>
                </a:path>
                <a:path w="167640" h="24764">
                  <a:moveTo>
                    <a:pt x="160763" y="1778"/>
                  </a:moveTo>
                  <a:lnTo>
                    <a:pt x="154000" y="1778"/>
                  </a:lnTo>
                  <a:lnTo>
                    <a:pt x="148704" y="3301"/>
                  </a:lnTo>
                  <a:lnTo>
                    <a:pt x="162828" y="3301"/>
                  </a:lnTo>
                  <a:lnTo>
                    <a:pt x="160763" y="1778"/>
                  </a:lnTo>
                  <a:close/>
                </a:path>
                <a:path w="167640" h="24764">
                  <a:moveTo>
                    <a:pt x="133981" y="1920"/>
                  </a:moveTo>
                  <a:lnTo>
                    <a:pt x="131775" y="2031"/>
                  </a:lnTo>
                  <a:lnTo>
                    <a:pt x="101053" y="2031"/>
                  </a:lnTo>
                  <a:lnTo>
                    <a:pt x="101688" y="2159"/>
                  </a:lnTo>
                  <a:lnTo>
                    <a:pt x="133743" y="2159"/>
                  </a:lnTo>
                  <a:lnTo>
                    <a:pt x="133981" y="1920"/>
                  </a:lnTo>
                  <a:close/>
                </a:path>
                <a:path w="167640" h="24764">
                  <a:moveTo>
                    <a:pt x="24625" y="1650"/>
                  </a:moveTo>
                  <a:lnTo>
                    <a:pt x="24001" y="1732"/>
                  </a:lnTo>
                  <a:lnTo>
                    <a:pt x="23037" y="2031"/>
                  </a:lnTo>
                  <a:lnTo>
                    <a:pt x="24625" y="1650"/>
                  </a:lnTo>
                  <a:close/>
                </a:path>
                <a:path w="167640" h="24764">
                  <a:moveTo>
                    <a:pt x="93047" y="1650"/>
                  </a:moveTo>
                  <a:lnTo>
                    <a:pt x="24625" y="1650"/>
                  </a:lnTo>
                  <a:lnTo>
                    <a:pt x="23037" y="2031"/>
                  </a:lnTo>
                  <a:lnTo>
                    <a:pt x="99528" y="2031"/>
                  </a:lnTo>
                  <a:lnTo>
                    <a:pt x="93047" y="1650"/>
                  </a:lnTo>
                  <a:close/>
                </a:path>
                <a:path w="167640" h="24764">
                  <a:moveTo>
                    <a:pt x="136814" y="1778"/>
                  </a:moveTo>
                  <a:lnTo>
                    <a:pt x="134124" y="1778"/>
                  </a:lnTo>
                  <a:lnTo>
                    <a:pt x="133981" y="1920"/>
                  </a:lnTo>
                  <a:lnTo>
                    <a:pt x="136814" y="1778"/>
                  </a:lnTo>
                  <a:close/>
                </a:path>
                <a:path w="167640" h="24764">
                  <a:moveTo>
                    <a:pt x="31035" y="762"/>
                  </a:moveTo>
                  <a:lnTo>
                    <a:pt x="28460" y="762"/>
                  </a:lnTo>
                  <a:lnTo>
                    <a:pt x="25895" y="1143"/>
                  </a:lnTo>
                  <a:lnTo>
                    <a:pt x="24001" y="1732"/>
                  </a:lnTo>
                  <a:lnTo>
                    <a:pt x="24625" y="1650"/>
                  </a:lnTo>
                  <a:lnTo>
                    <a:pt x="93047" y="1650"/>
                  </a:lnTo>
                  <a:lnTo>
                    <a:pt x="82245" y="1016"/>
                  </a:lnTo>
                  <a:lnTo>
                    <a:pt x="75965" y="888"/>
                  </a:lnTo>
                  <a:lnTo>
                    <a:pt x="30226" y="888"/>
                  </a:lnTo>
                  <a:lnTo>
                    <a:pt x="31035" y="762"/>
                  </a:lnTo>
                  <a:close/>
                </a:path>
                <a:path w="167640" h="24764">
                  <a:moveTo>
                    <a:pt x="159215" y="635"/>
                  </a:moveTo>
                  <a:lnTo>
                    <a:pt x="155486" y="635"/>
                  </a:lnTo>
                  <a:lnTo>
                    <a:pt x="156197" y="762"/>
                  </a:lnTo>
                  <a:lnTo>
                    <a:pt x="156819" y="762"/>
                  </a:lnTo>
                  <a:lnTo>
                    <a:pt x="159853" y="1105"/>
                  </a:lnTo>
                  <a:lnTo>
                    <a:pt x="159215" y="635"/>
                  </a:lnTo>
                  <a:close/>
                </a:path>
                <a:path w="167640" h="24764">
                  <a:moveTo>
                    <a:pt x="55918" y="0"/>
                  </a:moveTo>
                  <a:lnTo>
                    <a:pt x="45897" y="126"/>
                  </a:lnTo>
                  <a:lnTo>
                    <a:pt x="41732" y="254"/>
                  </a:lnTo>
                  <a:lnTo>
                    <a:pt x="37896" y="254"/>
                  </a:lnTo>
                  <a:lnTo>
                    <a:pt x="34658" y="381"/>
                  </a:lnTo>
                  <a:lnTo>
                    <a:pt x="33464" y="381"/>
                  </a:lnTo>
                  <a:lnTo>
                    <a:pt x="30226" y="888"/>
                  </a:lnTo>
                  <a:lnTo>
                    <a:pt x="31343" y="762"/>
                  </a:lnTo>
                  <a:lnTo>
                    <a:pt x="69951" y="762"/>
                  </a:lnTo>
                  <a:lnTo>
                    <a:pt x="55918" y="0"/>
                  </a:lnTo>
                  <a:close/>
                </a:path>
                <a:path w="167640" h="24764">
                  <a:moveTo>
                    <a:pt x="69684" y="762"/>
                  </a:moveTo>
                  <a:lnTo>
                    <a:pt x="31343" y="762"/>
                  </a:lnTo>
                  <a:lnTo>
                    <a:pt x="30226" y="888"/>
                  </a:lnTo>
                  <a:lnTo>
                    <a:pt x="75965" y="888"/>
                  </a:lnTo>
                  <a:lnTo>
                    <a:pt x="69684" y="762"/>
                  </a:lnTo>
                  <a:close/>
                </a:path>
                <a:path w="167640" h="24764">
                  <a:moveTo>
                    <a:pt x="153797" y="0"/>
                  </a:moveTo>
                  <a:lnTo>
                    <a:pt x="152522" y="807"/>
                  </a:lnTo>
                  <a:lnTo>
                    <a:pt x="152908" y="762"/>
                  </a:lnTo>
                  <a:lnTo>
                    <a:pt x="155486" y="635"/>
                  </a:lnTo>
                  <a:lnTo>
                    <a:pt x="159215" y="635"/>
                  </a:lnTo>
                  <a:lnTo>
                    <a:pt x="158699" y="254"/>
                  </a:lnTo>
                  <a:lnTo>
                    <a:pt x="153797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092" y="2669666"/>
              <a:ext cx="141904" cy="15557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5277" y="4246219"/>
              <a:ext cx="424103" cy="1765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03118" y="955929"/>
              <a:ext cx="1529207" cy="88404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177148" y="1777556"/>
            <a:ext cx="2489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sz="1575" spc="-37" baseline="-15873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575" baseline="-15873">
              <a:latin typeface="Cambria Math"/>
              <a:cs typeface="Cambria Math"/>
            </a:endParaRP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398631D9-2387-4EB4-B881-A0F821D0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7669" y="4800791"/>
            <a:ext cx="438150" cy="273844"/>
          </a:xfrm>
        </p:spPr>
        <p:txBody>
          <a:bodyPr/>
          <a:lstStyle/>
          <a:p>
            <a:fld id="{B6F15528-21DE-4FAA-801E-634DDDAF4B2B}" type="slidenum">
              <a:rPr lang="en-PS" smtClean="0"/>
              <a:t>37</a:t>
            </a:fld>
            <a:endParaRPr lang="en-P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4987" y="1358964"/>
            <a:ext cx="145160" cy="6489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4610" y="1468437"/>
            <a:ext cx="1452661" cy="319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3763" y="1518730"/>
            <a:ext cx="941451" cy="23253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43000" y="1047750"/>
            <a:ext cx="5667375" cy="3679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2335"/>
              </a:lnSpc>
              <a:spcBef>
                <a:spcPts val="125"/>
              </a:spcBef>
            </a:pPr>
            <a:r>
              <a:rPr sz="2000" spc="-5" dirty="0">
                <a:latin typeface="Verdana"/>
                <a:cs typeface="Verdana"/>
              </a:rPr>
              <a:t>aim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10" dirty="0">
                <a:latin typeface="Verdana"/>
                <a:cs typeface="Verdana"/>
              </a:rPr>
              <a:t>for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about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−1</a:t>
            </a:r>
            <a:r>
              <a:rPr sz="2000" spc="16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baseline="-16666" dirty="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sz="2250" spc="465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1</a:t>
            </a:r>
            <a:r>
              <a:rPr sz="2000" spc="305" dirty="0">
                <a:latin typeface="Cambria Math"/>
                <a:cs typeface="Cambria Math"/>
              </a:rPr>
              <a:t> </a:t>
            </a:r>
            <a:r>
              <a:rPr sz="2000" spc="10" dirty="0">
                <a:latin typeface="Verdana"/>
                <a:cs typeface="Verdana"/>
              </a:rPr>
              <a:t>for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each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feature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baseline="-16666" dirty="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2250" baseline="-16666" dirty="0">
              <a:latin typeface="Cambria Math"/>
              <a:cs typeface="Cambria Math"/>
            </a:endParaRPr>
          </a:p>
          <a:p>
            <a:pPr marR="2432050" algn="r">
              <a:lnSpc>
                <a:spcPts val="2335"/>
              </a:lnSpc>
            </a:pPr>
            <a:r>
              <a:rPr sz="2000" spc="10" dirty="0">
                <a:latin typeface="Cambria Math"/>
                <a:cs typeface="Cambria Math"/>
              </a:rPr>
              <a:t>−3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120" dirty="0"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baseline="-16666" dirty="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sz="2250" spc="434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3</a:t>
            </a:r>
            <a:endParaRPr sz="2000" dirty="0">
              <a:latin typeface="Cambria Math"/>
              <a:cs typeface="Cambria Math"/>
            </a:endParaRPr>
          </a:p>
          <a:p>
            <a:pPr marR="2379345" algn="r">
              <a:lnSpc>
                <a:spcPct val="100000"/>
              </a:lnSpc>
              <a:spcBef>
                <a:spcPts val="309"/>
              </a:spcBef>
            </a:pPr>
            <a:r>
              <a:rPr lang="en-GB" sz="2000" spc="15" dirty="0">
                <a:latin typeface="Cambria Math"/>
                <a:cs typeface="Cambria Math"/>
              </a:rPr>
              <a:t>                </a:t>
            </a:r>
            <a:r>
              <a:rPr sz="2000" spc="15" dirty="0">
                <a:latin typeface="Cambria Math"/>
                <a:cs typeface="Cambria Math"/>
              </a:rPr>
              <a:t>−0.3</a:t>
            </a:r>
            <a:r>
              <a:rPr sz="2000" spc="7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baseline="-16666" dirty="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sz="2250" spc="442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0.3</a:t>
            </a: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 dirty="0">
              <a:latin typeface="Cambria Math"/>
              <a:cs typeface="Cambria Math"/>
            </a:endParaRPr>
          </a:p>
          <a:p>
            <a:pPr marR="2826385" algn="ctr">
              <a:lnSpc>
                <a:spcPct val="100000"/>
              </a:lnSpc>
            </a:pPr>
            <a:r>
              <a:rPr sz="2000" spc="15" dirty="0">
                <a:latin typeface="Cambria Math"/>
                <a:cs typeface="Cambria Math"/>
              </a:rPr>
              <a:t>0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-3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-44" baseline="-16666" dirty="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sz="2250" spc="89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3</a:t>
            </a:r>
            <a:endParaRPr sz="2000" dirty="0">
              <a:latin typeface="Cambria Math"/>
              <a:cs typeface="Cambria Math"/>
            </a:endParaRPr>
          </a:p>
          <a:p>
            <a:pPr marR="2823210" algn="ctr">
              <a:lnSpc>
                <a:spcPct val="100000"/>
              </a:lnSpc>
              <a:spcBef>
                <a:spcPts val="1295"/>
              </a:spcBef>
            </a:pPr>
            <a:r>
              <a:rPr sz="2000" spc="10" dirty="0">
                <a:latin typeface="Cambria Math"/>
                <a:cs typeface="Cambria Math"/>
              </a:rPr>
              <a:t>−2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15" baseline="-16666" dirty="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sz="2250" spc="419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0.5</a:t>
            </a:r>
            <a:endParaRPr sz="2000" dirty="0">
              <a:latin typeface="Cambria Math"/>
              <a:cs typeface="Cambria Math"/>
            </a:endParaRPr>
          </a:p>
          <a:p>
            <a:pPr marR="3038475" algn="ctr">
              <a:lnSpc>
                <a:spcPct val="100000"/>
              </a:lnSpc>
              <a:spcBef>
                <a:spcPts val="1795"/>
              </a:spcBef>
            </a:pPr>
            <a:r>
              <a:rPr sz="2000" spc="10" dirty="0">
                <a:latin typeface="Cambria Math"/>
                <a:cs typeface="Cambria Math"/>
              </a:rPr>
              <a:t>−100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15" baseline="-16666" dirty="0">
                <a:solidFill>
                  <a:srgbClr val="FF9300"/>
                </a:solidFill>
                <a:latin typeface="Cambria Math"/>
                <a:cs typeface="Cambria Math"/>
              </a:rPr>
              <a:t>3</a:t>
            </a:r>
            <a:r>
              <a:rPr sz="2250" spc="419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100</a:t>
            </a:r>
            <a:endParaRPr sz="2000" dirty="0">
              <a:latin typeface="Cambria Math"/>
              <a:cs typeface="Cambria Math"/>
            </a:endParaRPr>
          </a:p>
          <a:p>
            <a:pPr marR="3018155" algn="ctr">
              <a:lnSpc>
                <a:spcPct val="100000"/>
              </a:lnSpc>
              <a:spcBef>
                <a:spcPts val="1760"/>
              </a:spcBef>
            </a:pPr>
            <a:r>
              <a:rPr sz="2000" spc="15" dirty="0">
                <a:latin typeface="Cambria Math"/>
                <a:cs typeface="Cambria Math"/>
              </a:rPr>
              <a:t>−0.001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15" baseline="-16666" dirty="0">
                <a:solidFill>
                  <a:srgbClr val="FF9300"/>
                </a:solidFill>
                <a:latin typeface="Cambria Math"/>
                <a:cs typeface="Cambria Math"/>
              </a:rPr>
              <a:t>4</a:t>
            </a:r>
            <a:r>
              <a:rPr sz="2250" spc="427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0.001</a:t>
            </a:r>
            <a:endParaRPr sz="2000" dirty="0">
              <a:latin typeface="Cambria Math"/>
              <a:cs typeface="Cambria Math"/>
            </a:endParaRPr>
          </a:p>
          <a:p>
            <a:pPr marL="473709">
              <a:lnSpc>
                <a:spcPct val="100000"/>
              </a:lnSpc>
              <a:spcBef>
                <a:spcPts val="1505"/>
              </a:spcBef>
            </a:pPr>
            <a:r>
              <a:rPr sz="2000" spc="20" dirty="0">
                <a:latin typeface="Cambria Math"/>
                <a:cs typeface="Cambria Math"/>
              </a:rPr>
              <a:t>98.6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250" spc="7" baseline="-16666" dirty="0">
                <a:solidFill>
                  <a:srgbClr val="FF9300"/>
                </a:solidFill>
                <a:latin typeface="Cambria Math"/>
                <a:cs typeface="Cambria Math"/>
              </a:rPr>
              <a:t>5</a:t>
            </a:r>
            <a:r>
              <a:rPr sz="2250" spc="427" baseline="-16666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≤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105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4400" y="285750"/>
            <a:ext cx="263207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432FF"/>
                </a:solidFill>
              </a:rPr>
              <a:t>Feature</a:t>
            </a:r>
            <a:r>
              <a:rPr spc="-70" dirty="0">
                <a:solidFill>
                  <a:srgbClr val="0432FF"/>
                </a:solidFill>
              </a:rPr>
              <a:t> </a:t>
            </a:r>
            <a:r>
              <a:rPr spc="-10" dirty="0">
                <a:solidFill>
                  <a:srgbClr val="0432FF"/>
                </a:solidFill>
              </a:rPr>
              <a:t>scaling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14A7220-CF1C-B475-2964-47033BE59EAE}"/>
              </a:ext>
            </a:extLst>
          </p:cNvPr>
          <p:cNvGrpSpPr/>
          <p:nvPr/>
        </p:nvGrpSpPr>
        <p:grpSpPr>
          <a:xfrm>
            <a:off x="4250246" y="2356167"/>
            <a:ext cx="2912618" cy="416559"/>
            <a:chOff x="4250246" y="2356167"/>
            <a:chExt cx="2912618" cy="416559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4777" y="2591244"/>
              <a:ext cx="64942" cy="824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3334" y="2414334"/>
              <a:ext cx="344990" cy="1765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98155" y="2439607"/>
              <a:ext cx="690668" cy="17335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58420" y="2363279"/>
              <a:ext cx="139319" cy="2341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64795" y="2447607"/>
              <a:ext cx="298069" cy="3251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0246" y="2456370"/>
              <a:ext cx="198374" cy="16636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3550" y="2356167"/>
              <a:ext cx="567308" cy="391921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FDD799A-D1B9-29B0-614E-2CD700510E40}"/>
              </a:ext>
            </a:extLst>
          </p:cNvPr>
          <p:cNvGrpSpPr/>
          <p:nvPr/>
        </p:nvGrpSpPr>
        <p:grpSpPr>
          <a:xfrm>
            <a:off x="4256790" y="2827210"/>
            <a:ext cx="2831778" cy="396876"/>
            <a:chOff x="4256790" y="2827210"/>
            <a:chExt cx="2831778" cy="396876"/>
          </a:xfrm>
        </p:grpSpPr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08714" y="2929191"/>
              <a:ext cx="437006" cy="2127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4515" y="2827210"/>
              <a:ext cx="1304053" cy="3787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56790" y="2935923"/>
              <a:ext cx="162798" cy="163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9138" y="2873438"/>
              <a:ext cx="341629" cy="214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0143" y="2914206"/>
              <a:ext cx="172592" cy="30988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5A52A43-23C9-863F-508B-6B4AF9D673D3}"/>
              </a:ext>
            </a:extLst>
          </p:cNvPr>
          <p:cNvGrpSpPr/>
          <p:nvPr/>
        </p:nvGrpSpPr>
        <p:grpSpPr>
          <a:xfrm>
            <a:off x="4181793" y="3398838"/>
            <a:ext cx="3073272" cy="1282230"/>
            <a:chOff x="4181793" y="3398838"/>
            <a:chExt cx="3073272" cy="1282230"/>
          </a:xfrm>
        </p:grpSpPr>
        <p:pic>
          <p:nvPicPr>
            <p:cNvPr id="5" name="object 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88878" y="3962337"/>
              <a:ext cx="393064" cy="2236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33673" y="3944303"/>
              <a:ext cx="661324" cy="2294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54084" y="3963353"/>
              <a:ext cx="242233" cy="181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79883" y="3907854"/>
              <a:ext cx="1075182" cy="24904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92207" y="3474276"/>
              <a:ext cx="447226" cy="16967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25860" y="3420428"/>
              <a:ext cx="472948" cy="2617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71071" y="3494214"/>
              <a:ext cx="129667" cy="11887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81793" y="4484713"/>
              <a:ext cx="471063" cy="18002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752658" y="4443286"/>
              <a:ext cx="660146" cy="23778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76888" y="4482529"/>
              <a:ext cx="218605" cy="1612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86219" y="4409910"/>
              <a:ext cx="982131" cy="26487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76837" y="3454336"/>
              <a:ext cx="242315" cy="18161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02930" y="3398838"/>
              <a:ext cx="1074970" cy="249046"/>
            </a:xfrm>
            <a:prstGeom prst="rect">
              <a:avLst/>
            </a:prstGeom>
          </p:spPr>
        </p:pic>
      </p:grp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6FCD9C4D-A8DC-E1C6-7FF5-F3D1B276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38</a:t>
            </a:fld>
            <a:endParaRPr lang="en-P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865D-9D3D-57C6-16A8-8C710E2C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844"/>
            <a:ext cx="8134350" cy="392906"/>
          </a:xfrm>
        </p:spPr>
        <p:txBody>
          <a:bodyPr>
            <a:normAutofit fontScale="90000"/>
          </a:bodyPr>
          <a:lstStyle/>
          <a:p>
            <a:r>
              <a:rPr lang="en-PS" dirty="0">
                <a:solidFill>
                  <a:srgbClr val="0432FF"/>
                </a:solidFill>
              </a:rPr>
              <a:t>To conclude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6A8A8-C237-6F8B-EE11-B5F5EB21C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48950"/>
            <a:ext cx="8134350" cy="2421732"/>
          </a:xfrm>
        </p:spPr>
        <p:txBody>
          <a:bodyPr/>
          <a:lstStyle/>
          <a:p>
            <a:r>
              <a:rPr lang="en-US" dirty="0"/>
              <a:t>There's almost never any harm to carrying out feature re-scaling. When in doubt, I encourage you to just carry it out. </a:t>
            </a:r>
          </a:p>
          <a:p>
            <a:r>
              <a:rPr lang="en-US" dirty="0"/>
              <a:t>That's it for feature scaling. With this little technique, you'll often be able to get gradient descent to run much faster. That's features scaling.</a:t>
            </a:r>
          </a:p>
          <a:p>
            <a:r>
              <a:rPr lang="en-US" dirty="0"/>
              <a:t>With or without feature scaling, when you run gradient descent, how can you know, how can you check if gradient descent is really working?</a:t>
            </a:r>
          </a:p>
          <a:p>
            <a:r>
              <a:rPr lang="en-US" dirty="0"/>
              <a:t>If it is finding you the global minimum or something close to it. </a:t>
            </a:r>
            <a:endParaRPr lang="en-P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E65B-50D5-413A-7D24-BE2D68B0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pPr/>
              <a:t>39</a:t>
            </a:fld>
            <a:endParaRPr lang="en-P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22215-00E0-4D2A-D71C-A6ACE27BE113}"/>
              </a:ext>
            </a:extLst>
          </p:cNvPr>
          <p:cNvSpPr txBox="1"/>
          <p:nvPr/>
        </p:nvSpPr>
        <p:spPr>
          <a:xfrm>
            <a:off x="381000" y="3623039"/>
            <a:ext cx="7782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In the next section, let's take a look at how to recognize if gradient descent is converging, and then in the video after that, this will lead to discussion of how to choose a good learning rate for gradient descent.</a:t>
            </a:r>
            <a:endParaRPr lang="en-PS" dirty="0">
              <a:solidFill>
                <a:srgbClr val="0432FF"/>
              </a:solidFill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2B677E8-90DC-1421-F3E2-39D4D511309F}"/>
              </a:ext>
            </a:extLst>
          </p:cNvPr>
          <p:cNvSpPr/>
          <p:nvPr/>
        </p:nvSpPr>
        <p:spPr>
          <a:xfrm>
            <a:off x="8305800" y="4171950"/>
            <a:ext cx="523875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629615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952750"/>
            <a:ext cx="8305800" cy="10969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9820" marR="5080" indent="-1087120">
              <a:lnSpc>
                <a:spcPct val="115500"/>
              </a:lnSpc>
              <a:spcBef>
                <a:spcPts val="95"/>
              </a:spcBef>
            </a:pPr>
            <a:r>
              <a:rPr sz="3200" spc="5" dirty="0">
                <a:solidFill>
                  <a:srgbClr val="0432FF"/>
                </a:solidFill>
                <a:latin typeface="Verdana"/>
                <a:cs typeface="Verdana"/>
              </a:rPr>
              <a:t>Checking</a:t>
            </a:r>
            <a:r>
              <a:rPr sz="3200" spc="-85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z="3200" spc="10" dirty="0">
                <a:solidFill>
                  <a:srgbClr val="0432FF"/>
                </a:solidFill>
                <a:latin typeface="Verdana"/>
                <a:cs typeface="Verdana"/>
              </a:rPr>
              <a:t>Gradient</a:t>
            </a:r>
            <a:r>
              <a:rPr sz="3200" spc="-85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z="3200" spc="5" dirty="0">
                <a:solidFill>
                  <a:srgbClr val="0432FF"/>
                </a:solidFill>
                <a:latin typeface="Verdana"/>
                <a:cs typeface="Verdana"/>
              </a:rPr>
              <a:t>Descent </a:t>
            </a:r>
            <a:r>
              <a:rPr sz="3200" spc="-1110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z="3200" spc="5" dirty="0">
                <a:solidFill>
                  <a:srgbClr val="0432FF"/>
                </a:solidFill>
                <a:latin typeface="Verdana"/>
                <a:cs typeface="Verdana"/>
              </a:rPr>
              <a:t>for</a:t>
            </a:r>
            <a:r>
              <a:rPr sz="3200" spc="-50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z="3200" spc="5" dirty="0">
                <a:solidFill>
                  <a:srgbClr val="0432FF"/>
                </a:solidFill>
                <a:latin typeface="Verdana"/>
                <a:cs typeface="Verdana"/>
              </a:rPr>
              <a:t>Convergence</a:t>
            </a:r>
            <a:endParaRPr sz="3200" dirty="0">
              <a:solidFill>
                <a:srgbClr val="0432FF"/>
              </a:solidFill>
              <a:latin typeface="Verdana"/>
              <a:cs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474A-CD9D-FFB2-5839-47CCF0B891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40</a:t>
            </a:fld>
            <a:endParaRPr lang="en-P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329184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5" dirty="0"/>
              <a:t>Gradient</a:t>
            </a:r>
            <a:r>
              <a:rPr sz="3000" spc="-140" dirty="0"/>
              <a:t> </a:t>
            </a:r>
            <a:r>
              <a:rPr sz="3000" dirty="0"/>
              <a:t>descent</a:t>
            </a:r>
            <a:endParaRPr sz="300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386279F-068D-A0C5-5F48-3F790E83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41</a:t>
            </a:fld>
            <a:endParaRPr lang="en-P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DB7EFA-B0C3-C7B3-1E1B-F0A4FE421667}"/>
              </a:ext>
            </a:extLst>
          </p:cNvPr>
          <p:cNvGrpSpPr/>
          <p:nvPr/>
        </p:nvGrpSpPr>
        <p:grpSpPr>
          <a:xfrm>
            <a:off x="592124" y="1504950"/>
            <a:ext cx="4360876" cy="406047"/>
            <a:chOff x="1587053" y="3240658"/>
            <a:chExt cx="3533333" cy="406047"/>
          </a:xfrm>
        </p:grpSpPr>
        <p:sp>
          <p:nvSpPr>
            <p:cNvPr id="34" name="object 6">
              <a:extLst>
                <a:ext uri="{FF2B5EF4-FFF2-40B4-BE49-F238E27FC236}">
                  <a16:creationId xmlns:a16="http://schemas.microsoft.com/office/drawing/2014/main" id="{2750A7D2-87B1-F880-B320-99C1F30AD4B2}"/>
                </a:ext>
              </a:extLst>
            </p:cNvPr>
            <p:cNvSpPr txBox="1"/>
            <p:nvPr/>
          </p:nvSpPr>
          <p:spPr>
            <a:xfrm>
              <a:off x="2977512" y="3387660"/>
              <a:ext cx="42799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600" spc="125" dirty="0">
                  <a:latin typeface="Cambria Math"/>
                  <a:cs typeface="Cambria Math"/>
                </a:rPr>
                <a:t>𝜕</a:t>
              </a:r>
              <a:r>
                <a:rPr sz="1600" spc="12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000" spc="187" baseline="-13888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endParaRPr sz="2000" baseline="-13888">
                <a:latin typeface="Cambria Math"/>
                <a:cs typeface="Cambria Math"/>
              </a:endParaRPr>
            </a:p>
          </p:txBody>
        </p:sp>
        <p:sp>
          <p:nvSpPr>
            <p:cNvPr id="35" name="object 8">
              <a:extLst>
                <a:ext uri="{FF2B5EF4-FFF2-40B4-BE49-F238E27FC236}">
                  <a16:creationId xmlns:a16="http://schemas.microsoft.com/office/drawing/2014/main" id="{93292A4B-4CD4-04C2-E831-CAF30C3CBCE8}"/>
                </a:ext>
              </a:extLst>
            </p:cNvPr>
            <p:cNvSpPr txBox="1"/>
            <p:nvPr/>
          </p:nvSpPr>
          <p:spPr>
            <a:xfrm>
              <a:off x="1587053" y="3240658"/>
              <a:ext cx="3533333" cy="386003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4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400" spc="69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r>
                <a:rPr sz="240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400" spc="-3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400" spc="20" dirty="0">
                  <a:latin typeface="Cambria Math"/>
                  <a:cs typeface="Cambria Math"/>
                </a:rPr>
                <a:t>=</a:t>
              </a:r>
              <a:r>
                <a:rPr sz="2400" spc="70" dirty="0">
                  <a:latin typeface="Cambria Math"/>
                  <a:cs typeface="Cambria Math"/>
                </a:rPr>
                <a:t> </a:t>
              </a:r>
              <a:r>
                <a:rPr sz="24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400" spc="69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𝑗</a:t>
              </a:r>
              <a:r>
                <a:rPr sz="2400" spc="240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400" spc="20" dirty="0">
                  <a:latin typeface="Cambria Math"/>
                  <a:cs typeface="Cambria Math"/>
                </a:rPr>
                <a:t>−</a:t>
              </a:r>
              <a:r>
                <a:rPr sz="2400" spc="-5" dirty="0">
                  <a:latin typeface="Cambria Math"/>
                  <a:cs typeface="Cambria Math"/>
                </a:rPr>
                <a:t> </a:t>
              </a:r>
              <a:r>
                <a:rPr sz="2400" spc="60" dirty="0">
                  <a:latin typeface="Cambria Math"/>
                  <a:cs typeface="Cambria Math"/>
                </a:rPr>
                <a:t>𝛼</a:t>
              </a:r>
              <a:r>
                <a:rPr lang="ar-SA" sz="2400" spc="60" dirty="0">
                  <a:latin typeface="Cambria Math"/>
                  <a:cs typeface="Cambria Math"/>
                </a:rPr>
                <a:t> </a:t>
              </a:r>
              <a:r>
                <a:rPr sz="2400" u="sng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400" u="sng" spc="262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400" u="sng" spc="254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2400" u="sng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 </a:t>
              </a:r>
              <a:r>
                <a:rPr sz="2400" u="sng" spc="-112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r>
                <a:rPr sz="2400" spc="112" baseline="31481" dirty="0">
                  <a:latin typeface="Cambria Math"/>
                  <a:cs typeface="Cambria Math"/>
                </a:rPr>
                <a:t> </a:t>
              </a:r>
              <a:r>
                <a:rPr sz="2400" spc="30" dirty="0">
                  <a:latin typeface="Cambria Math"/>
                  <a:cs typeface="Cambria Math"/>
                </a:rPr>
                <a:t>𝐽</a:t>
              </a:r>
              <a:r>
                <a:rPr sz="2400" dirty="0">
                  <a:latin typeface="Cambria Math"/>
                  <a:cs typeface="Cambria Math"/>
                </a:rPr>
                <a:t> </a:t>
              </a:r>
              <a:r>
                <a:rPr sz="2400" spc="-85" dirty="0">
                  <a:latin typeface="Cambria Math"/>
                  <a:cs typeface="Cambria Math"/>
                </a:rPr>
                <a:t> </a:t>
              </a:r>
              <a:r>
                <a:rPr lang="en-GB" sz="2400" spc="-85" dirty="0">
                  <a:latin typeface="Cambria Math"/>
                  <a:cs typeface="Cambria Math"/>
                </a:rPr>
                <a:t>(</a:t>
              </a:r>
              <a:r>
                <a:rPr sz="2400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400" spc="209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r>
                <a:rPr sz="2400" spc="5" dirty="0">
                  <a:latin typeface="Cambria Math"/>
                  <a:cs typeface="Cambria Math"/>
                </a:rPr>
                <a:t>,</a:t>
              </a:r>
              <a:r>
                <a:rPr sz="2400" spc="-105" dirty="0">
                  <a:latin typeface="Cambria Math"/>
                  <a:cs typeface="Cambria Math"/>
                </a:rPr>
                <a:t> </a:t>
              </a:r>
              <a:r>
                <a:rPr sz="2400" spc="25" dirty="0">
                  <a:latin typeface="Cambria Math"/>
                  <a:cs typeface="Cambria Math"/>
                </a:rPr>
                <a:t>⋯</a:t>
              </a:r>
              <a:r>
                <a:rPr sz="2400" spc="-155" dirty="0">
                  <a:latin typeface="Cambria Math"/>
                  <a:cs typeface="Cambria Math"/>
                </a:rPr>
                <a:t> </a:t>
              </a:r>
              <a:r>
                <a:rPr sz="2400" spc="5" dirty="0">
                  <a:latin typeface="Cambria Math"/>
                  <a:cs typeface="Cambria Math"/>
                </a:rPr>
                <a:t>,</a:t>
              </a:r>
              <a:r>
                <a:rPr sz="2400" spc="-105" dirty="0">
                  <a:latin typeface="Cambria Math"/>
                  <a:cs typeface="Cambria Math"/>
                </a:rPr>
                <a:t> </a:t>
              </a:r>
              <a:r>
                <a:rPr sz="2400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400" spc="412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𝑛</a:t>
              </a:r>
              <a:r>
                <a:rPr lang="en-GB" sz="2400" spc="5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,</a:t>
              </a:r>
              <a:r>
                <a:rPr lang="en-GB" sz="2000" spc="5" dirty="0">
                  <a:solidFill>
                    <a:srgbClr val="0096FF"/>
                  </a:solidFill>
                  <a:latin typeface="Cambria Math"/>
                  <a:cs typeface="Cambria Math"/>
                </a:rPr>
                <a:t>b</a:t>
              </a:r>
              <a:r>
                <a:rPr lang="en-GB" sz="2400" spc="5" dirty="0">
                  <a:solidFill>
                    <a:srgbClr val="0096FF"/>
                  </a:solidFill>
                  <a:latin typeface="Cambria Math"/>
                  <a:cs typeface="Cambria Math"/>
                </a:rPr>
                <a:t>)</a:t>
              </a:r>
              <a:r>
                <a:rPr sz="2400" spc="-110" dirty="0">
                  <a:latin typeface="Cambria Math"/>
                  <a:cs typeface="Cambria Math"/>
                </a:rPr>
                <a:t> </a:t>
              </a:r>
              <a:endParaRPr sz="2400" dirty="0">
                <a:latin typeface="Cambria Math"/>
                <a:cs typeface="Cambria Math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AA1009F-7CF6-D1CA-020E-034B6B48BC21}"/>
              </a:ext>
            </a:extLst>
          </p:cNvPr>
          <p:cNvGrpSpPr/>
          <p:nvPr/>
        </p:nvGrpSpPr>
        <p:grpSpPr>
          <a:xfrm>
            <a:off x="559644" y="2604446"/>
            <a:ext cx="3478955" cy="531785"/>
            <a:chOff x="1850069" y="4200842"/>
            <a:chExt cx="2950990" cy="531785"/>
          </a:xfrm>
        </p:grpSpPr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FF86F060-7676-A407-DA0F-49C729A94EAF}"/>
                </a:ext>
              </a:extLst>
            </p:cNvPr>
            <p:cNvSpPr/>
            <p:nvPr/>
          </p:nvSpPr>
          <p:spPr>
            <a:xfrm>
              <a:off x="3348814" y="4297362"/>
              <a:ext cx="1452245" cy="238760"/>
            </a:xfrm>
            <a:custGeom>
              <a:avLst/>
              <a:gdLst/>
              <a:ahLst/>
              <a:cxnLst/>
              <a:rect l="l" t="t" r="r" b="b"/>
              <a:pathLst>
                <a:path w="1452245" h="238760">
                  <a:moveTo>
                    <a:pt x="1376172" y="0"/>
                  </a:moveTo>
                  <a:lnTo>
                    <a:pt x="1372870" y="9651"/>
                  </a:lnTo>
                  <a:lnTo>
                    <a:pt x="1386659" y="15589"/>
                  </a:lnTo>
                  <a:lnTo>
                    <a:pt x="1398508" y="23864"/>
                  </a:lnTo>
                  <a:lnTo>
                    <a:pt x="1422598" y="62275"/>
                  </a:lnTo>
                  <a:lnTo>
                    <a:pt x="1430527" y="117855"/>
                  </a:lnTo>
                  <a:lnTo>
                    <a:pt x="1429644" y="138865"/>
                  </a:lnTo>
                  <a:lnTo>
                    <a:pt x="1416304" y="190309"/>
                  </a:lnTo>
                  <a:lnTo>
                    <a:pt x="1386800" y="222477"/>
                  </a:lnTo>
                  <a:lnTo>
                    <a:pt x="1373251" y="228485"/>
                  </a:lnTo>
                  <a:lnTo>
                    <a:pt x="1376172" y="238163"/>
                  </a:lnTo>
                  <a:lnTo>
                    <a:pt x="1421749" y="211115"/>
                  </a:lnTo>
                  <a:lnTo>
                    <a:pt x="1447307" y="161194"/>
                  </a:lnTo>
                  <a:lnTo>
                    <a:pt x="1452245" y="119113"/>
                  </a:lnTo>
                  <a:lnTo>
                    <a:pt x="1451008" y="97272"/>
                  </a:lnTo>
                  <a:lnTo>
                    <a:pt x="1441154" y="58562"/>
                  </a:lnTo>
                  <a:lnTo>
                    <a:pt x="1408652" y="15208"/>
                  </a:lnTo>
                  <a:lnTo>
                    <a:pt x="1393483" y="6186"/>
                  </a:lnTo>
                  <a:lnTo>
                    <a:pt x="1376172" y="0"/>
                  </a:lnTo>
                  <a:close/>
                </a:path>
                <a:path w="1452245" h="238760">
                  <a:moveTo>
                    <a:pt x="75946" y="0"/>
                  </a:moveTo>
                  <a:lnTo>
                    <a:pt x="30565" y="27049"/>
                  </a:lnTo>
                  <a:lnTo>
                    <a:pt x="4937" y="77088"/>
                  </a:lnTo>
                  <a:lnTo>
                    <a:pt x="0" y="119113"/>
                  </a:lnTo>
                  <a:lnTo>
                    <a:pt x="1234" y="140996"/>
                  </a:lnTo>
                  <a:lnTo>
                    <a:pt x="11037" y="179706"/>
                  </a:lnTo>
                  <a:lnTo>
                    <a:pt x="43465" y="222915"/>
                  </a:lnTo>
                  <a:lnTo>
                    <a:pt x="75946" y="238163"/>
                  </a:lnTo>
                  <a:lnTo>
                    <a:pt x="78994" y="228485"/>
                  </a:lnTo>
                  <a:lnTo>
                    <a:pt x="65442" y="222477"/>
                  </a:lnTo>
                  <a:lnTo>
                    <a:pt x="53736" y="214112"/>
                  </a:lnTo>
                  <a:lnTo>
                    <a:pt x="29646" y="175093"/>
                  </a:lnTo>
                  <a:lnTo>
                    <a:pt x="21717" y="117855"/>
                  </a:lnTo>
                  <a:lnTo>
                    <a:pt x="22598" y="97532"/>
                  </a:lnTo>
                  <a:lnTo>
                    <a:pt x="35813" y="47345"/>
                  </a:lnTo>
                  <a:lnTo>
                    <a:pt x="65657" y="15589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56C5992E-8875-E1CB-8018-017416497D34}"/>
                </a:ext>
              </a:extLst>
            </p:cNvPr>
            <p:cNvSpPr txBox="1"/>
            <p:nvPr/>
          </p:nvSpPr>
          <p:spPr>
            <a:xfrm>
              <a:off x="1850069" y="4200842"/>
              <a:ext cx="2914015" cy="386003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24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r>
                <a:rPr sz="2400" spc="114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400" spc="20" dirty="0">
                  <a:latin typeface="Cambria Math"/>
                  <a:cs typeface="Cambria Math"/>
                </a:rPr>
                <a:t>=</a:t>
              </a:r>
              <a:r>
                <a:rPr sz="2400" spc="145" dirty="0">
                  <a:latin typeface="Cambria Math"/>
                  <a:cs typeface="Cambria Math"/>
                </a:rPr>
                <a:t> </a:t>
              </a:r>
              <a:r>
                <a:rPr sz="24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r>
                <a:rPr sz="2400" spc="40" dirty="0">
                  <a:solidFill>
                    <a:srgbClr val="0096FF"/>
                  </a:solidFill>
                  <a:latin typeface="Cambria Math"/>
                  <a:cs typeface="Cambria Math"/>
                </a:rPr>
                <a:t> </a:t>
              </a:r>
              <a:r>
                <a:rPr sz="2400" spc="20" dirty="0">
                  <a:latin typeface="Cambria Math"/>
                  <a:cs typeface="Cambria Math"/>
                </a:rPr>
                <a:t>−</a:t>
              </a:r>
              <a:r>
                <a:rPr sz="2400" spc="-5" dirty="0">
                  <a:latin typeface="Cambria Math"/>
                  <a:cs typeface="Cambria Math"/>
                </a:rPr>
                <a:t> </a:t>
              </a:r>
              <a:r>
                <a:rPr sz="2400" spc="-15" dirty="0">
                  <a:latin typeface="Cambria Math"/>
                  <a:cs typeface="Cambria Math"/>
                </a:rPr>
                <a:t>𝛼</a:t>
              </a:r>
              <a:r>
                <a:rPr sz="2400" u="sng" spc="142" baseline="3148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2400" u="sng" spc="254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𝜕</a:t>
              </a:r>
              <a:r>
                <a:rPr sz="2400" u="sng" spc="89" baseline="31481" dirty="0">
                  <a:uFill>
                    <a:solidFill>
                      <a:srgbClr val="000000"/>
                    </a:solidFill>
                  </a:uFill>
                  <a:latin typeface="Cambria Math"/>
                  <a:cs typeface="Cambria Math"/>
                </a:rPr>
                <a:t> </a:t>
              </a:r>
              <a:r>
                <a:rPr sz="2400" spc="104" baseline="31481" dirty="0">
                  <a:latin typeface="Cambria Math"/>
                  <a:cs typeface="Cambria Math"/>
                </a:rPr>
                <a:t> </a:t>
              </a:r>
              <a:r>
                <a:rPr sz="2400" spc="30" dirty="0">
                  <a:latin typeface="Cambria Math"/>
                  <a:cs typeface="Cambria Math"/>
                </a:rPr>
                <a:t>𝐽</a:t>
              </a:r>
              <a:r>
                <a:rPr sz="2400" dirty="0">
                  <a:latin typeface="Cambria Math"/>
                  <a:cs typeface="Cambria Math"/>
                </a:rPr>
                <a:t> </a:t>
              </a:r>
              <a:r>
                <a:rPr sz="2400" spc="-10" dirty="0">
                  <a:latin typeface="Cambria Math"/>
                  <a:cs typeface="Cambria Math"/>
                </a:rPr>
                <a:t> </a:t>
              </a:r>
              <a:r>
                <a:rPr sz="2400" spc="-19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400" spc="209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r>
                <a:rPr sz="2400" spc="5" dirty="0">
                  <a:latin typeface="Cambria Math"/>
                  <a:cs typeface="Cambria Math"/>
                </a:rPr>
                <a:t>,</a:t>
              </a:r>
              <a:r>
                <a:rPr sz="2400" spc="-110" dirty="0">
                  <a:latin typeface="Cambria Math"/>
                  <a:cs typeface="Cambria Math"/>
                </a:rPr>
                <a:t> </a:t>
              </a:r>
              <a:r>
                <a:rPr sz="2400" spc="25" dirty="0">
                  <a:latin typeface="Cambria Math"/>
                  <a:cs typeface="Cambria Math"/>
                </a:rPr>
                <a:t>⋯</a:t>
              </a:r>
              <a:r>
                <a:rPr sz="2400" spc="-155" dirty="0">
                  <a:latin typeface="Cambria Math"/>
                  <a:cs typeface="Cambria Math"/>
                </a:rPr>
                <a:t> </a:t>
              </a:r>
              <a:r>
                <a:rPr sz="2400" spc="5" dirty="0">
                  <a:latin typeface="Cambria Math"/>
                  <a:cs typeface="Cambria Math"/>
                </a:rPr>
                <a:t>,</a:t>
              </a:r>
              <a:r>
                <a:rPr sz="2400" spc="-105" dirty="0">
                  <a:latin typeface="Cambria Math"/>
                  <a:cs typeface="Cambria Math"/>
                </a:rPr>
                <a:t> </a:t>
              </a:r>
              <a:r>
                <a:rPr sz="2400" spc="-12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2400" spc="412" baseline="-16666" dirty="0">
                  <a:solidFill>
                    <a:srgbClr val="0096FF"/>
                  </a:solidFill>
                  <a:latin typeface="Cambria Math"/>
                  <a:cs typeface="Cambria Math"/>
                </a:rPr>
                <a:t>𝑛</a:t>
              </a:r>
              <a:r>
                <a:rPr sz="2400" spc="5" dirty="0">
                  <a:latin typeface="Cambria Math"/>
                  <a:cs typeface="Cambria Math"/>
                </a:rPr>
                <a:t>,</a:t>
              </a:r>
              <a:r>
                <a:rPr sz="2400" spc="-110" dirty="0">
                  <a:latin typeface="Cambria Math"/>
                  <a:cs typeface="Cambria Math"/>
                </a:rPr>
                <a:t> </a:t>
              </a:r>
              <a:r>
                <a:rPr sz="200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2400" dirty="0">
                <a:latin typeface="Cambria Math"/>
                <a:cs typeface="Cambria Math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DCE7A5C-E111-DADD-C76D-DB5636A6719F}"/>
                    </a:ext>
                  </a:extLst>
                </p:cNvPr>
                <p:cNvSpPr txBox="1"/>
                <p:nvPr/>
              </p:nvSpPr>
              <p:spPr>
                <a:xfrm>
                  <a:off x="2809405" y="4332517"/>
                  <a:ext cx="52854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PS" sz="2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DCE7A5C-E111-DADD-C76D-DB5636A67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405" y="4332517"/>
                  <a:ext cx="528542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4DE299A-9929-7C1D-4199-21F7ADAFFB09}"/>
              </a:ext>
            </a:extLst>
          </p:cNvPr>
          <p:cNvSpPr txBox="1"/>
          <p:nvPr/>
        </p:nvSpPr>
        <p:spPr>
          <a:xfrm>
            <a:off x="414877" y="3477718"/>
            <a:ext cx="8271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GB" sz="2000" dirty="0"/>
              <a:t>these are the gradient descent algorithm equations, and one of the main choices of the parameters is the choice of alpha (a) the learning rate</a:t>
            </a:r>
            <a:endParaRPr lang="en-PS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E7AE46-EDC4-23C1-3A25-BD043A467A74}"/>
              </a:ext>
            </a:extLst>
          </p:cNvPr>
          <p:cNvSpPr txBox="1"/>
          <p:nvPr/>
        </p:nvSpPr>
        <p:spPr>
          <a:xfrm>
            <a:off x="614597" y="4542020"/>
            <a:ext cx="42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</a:rPr>
              <a:t>So the question is how do we choose alpha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54B714-345C-D82B-C020-921281A9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6CA067-5560-15A2-36BF-A9B18EDB3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+mj-lt"/>
              <a:buAutoNum type="arabicPeriod"/>
            </a:pPr>
            <a:r>
              <a:rPr lang="en-US" dirty="0">
                <a:solidFill>
                  <a:srgbClr val="1F1F1F"/>
                </a:solidFill>
                <a:effectLst/>
                <a:latin typeface="Google Sans"/>
              </a:rPr>
              <a:t>The number of iterations in gradient descent significantly impacts the cost function.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solidFill>
                  <a:srgbClr val="1F1F1F"/>
                </a:solidFill>
                <a:effectLst/>
                <a:latin typeface="Google Sans"/>
              </a:rPr>
              <a:t>As the number of iterations increases, the cost function generally decreases.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solidFill>
                  <a:srgbClr val="1F1F1F"/>
                </a:solidFill>
                <a:effectLst/>
                <a:latin typeface="Google Sans"/>
              </a:rPr>
              <a:t>The optimal number of iterations depends on various factors and may not be linear.</a:t>
            </a:r>
          </a:p>
          <a:p>
            <a:endParaRPr lang="en-P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5B59E-263E-C6E9-95C3-5C6763A6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42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2866132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6688" y="130611"/>
            <a:ext cx="836293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sz="2400" spc="-5" dirty="0">
                <a:solidFill>
                  <a:srgbClr val="0432FF"/>
                </a:solidFill>
              </a:rPr>
              <a:t>Make</a:t>
            </a:r>
            <a:r>
              <a:rPr sz="2400" spc="-15" dirty="0">
                <a:solidFill>
                  <a:srgbClr val="0432FF"/>
                </a:solidFill>
              </a:rPr>
              <a:t> </a:t>
            </a:r>
            <a:r>
              <a:rPr sz="2400" dirty="0">
                <a:solidFill>
                  <a:srgbClr val="0432FF"/>
                </a:solidFill>
              </a:rPr>
              <a:t>sure</a:t>
            </a:r>
            <a:r>
              <a:rPr sz="2400" spc="60" dirty="0">
                <a:solidFill>
                  <a:srgbClr val="0432FF"/>
                </a:solidFill>
              </a:rPr>
              <a:t> </a:t>
            </a:r>
            <a:r>
              <a:rPr sz="2400" spc="-20" dirty="0">
                <a:solidFill>
                  <a:srgbClr val="0432FF"/>
                </a:solidFill>
              </a:rPr>
              <a:t>gradient</a:t>
            </a:r>
            <a:r>
              <a:rPr sz="2400" spc="155" dirty="0">
                <a:solidFill>
                  <a:srgbClr val="0432FF"/>
                </a:solidFill>
              </a:rPr>
              <a:t> </a:t>
            </a:r>
            <a:r>
              <a:rPr sz="2400" spc="-10" dirty="0">
                <a:solidFill>
                  <a:srgbClr val="0432FF"/>
                </a:solidFill>
              </a:rPr>
              <a:t>descent</a:t>
            </a:r>
            <a:r>
              <a:rPr sz="2400" spc="5" dirty="0">
                <a:solidFill>
                  <a:srgbClr val="0432FF"/>
                </a:solidFill>
              </a:rPr>
              <a:t> </a:t>
            </a:r>
            <a:r>
              <a:rPr sz="2400" spc="-35" dirty="0">
                <a:solidFill>
                  <a:srgbClr val="0432FF"/>
                </a:solidFill>
              </a:rPr>
              <a:t>is</a:t>
            </a:r>
            <a:r>
              <a:rPr sz="2400" spc="110" dirty="0">
                <a:solidFill>
                  <a:srgbClr val="0432FF"/>
                </a:solidFill>
              </a:rPr>
              <a:t> </a:t>
            </a:r>
            <a:r>
              <a:rPr sz="2400" spc="-20" dirty="0">
                <a:solidFill>
                  <a:srgbClr val="0432FF"/>
                </a:solidFill>
              </a:rPr>
              <a:t>working</a:t>
            </a:r>
            <a:r>
              <a:rPr sz="2400" spc="135" dirty="0">
                <a:solidFill>
                  <a:srgbClr val="0432FF"/>
                </a:solidFill>
              </a:rPr>
              <a:t> </a:t>
            </a:r>
            <a:r>
              <a:rPr sz="2400" spc="-15" dirty="0">
                <a:solidFill>
                  <a:srgbClr val="0432FF"/>
                </a:solidFill>
              </a:rPr>
              <a:t>correctly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CF32751-F76C-6BBC-6A2C-F7CBCC56719D}"/>
              </a:ext>
            </a:extLst>
          </p:cNvPr>
          <p:cNvGrpSpPr/>
          <p:nvPr/>
        </p:nvGrpSpPr>
        <p:grpSpPr>
          <a:xfrm>
            <a:off x="202934" y="788016"/>
            <a:ext cx="2040381" cy="378460"/>
            <a:chOff x="246379" y="891603"/>
            <a:chExt cx="2040381" cy="378460"/>
          </a:xfrm>
        </p:grpSpPr>
        <p:sp>
          <p:nvSpPr>
            <p:cNvPr id="11" name="object 11"/>
            <p:cNvSpPr/>
            <p:nvPr/>
          </p:nvSpPr>
          <p:spPr>
            <a:xfrm>
              <a:off x="1382775" y="1113916"/>
              <a:ext cx="128905" cy="34290"/>
            </a:xfrm>
            <a:custGeom>
              <a:avLst/>
              <a:gdLst/>
              <a:ahLst/>
              <a:cxnLst/>
              <a:rect l="l" t="t" r="r" b="b"/>
              <a:pathLst>
                <a:path w="128905" h="34290">
                  <a:moveTo>
                    <a:pt x="111252" y="0"/>
                  </a:moveTo>
                  <a:lnTo>
                    <a:pt x="107568" y="4191"/>
                  </a:lnTo>
                  <a:lnTo>
                    <a:pt x="118745" y="13843"/>
                  </a:lnTo>
                  <a:lnTo>
                    <a:pt x="0" y="13843"/>
                  </a:lnTo>
                  <a:lnTo>
                    <a:pt x="0" y="20447"/>
                  </a:lnTo>
                  <a:lnTo>
                    <a:pt x="118745" y="20447"/>
                  </a:lnTo>
                  <a:lnTo>
                    <a:pt x="107568" y="30099"/>
                  </a:lnTo>
                  <a:lnTo>
                    <a:pt x="111252" y="34290"/>
                  </a:lnTo>
                  <a:lnTo>
                    <a:pt x="128778" y="19177"/>
                  </a:lnTo>
                  <a:lnTo>
                    <a:pt x="128778" y="15112"/>
                  </a:lnTo>
                  <a:lnTo>
                    <a:pt x="111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1819401" y="945133"/>
              <a:ext cx="467359" cy="192405"/>
              <a:chOff x="1819401" y="945133"/>
              <a:chExt cx="467359" cy="192405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1819401" y="951864"/>
                <a:ext cx="467359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467360" h="185419">
                    <a:moveTo>
                      <a:pt x="407924" y="0"/>
                    </a:moveTo>
                    <a:lnTo>
                      <a:pt x="405256" y="7493"/>
                    </a:lnTo>
                    <a:lnTo>
                      <a:pt x="416002" y="12184"/>
                    </a:lnTo>
                    <a:lnTo>
                      <a:pt x="425211" y="18637"/>
                    </a:lnTo>
                    <a:lnTo>
                      <a:pt x="447341" y="61499"/>
                    </a:lnTo>
                    <a:lnTo>
                      <a:pt x="450088" y="91694"/>
                    </a:lnTo>
                    <a:lnTo>
                      <a:pt x="449399" y="108059"/>
                    </a:lnTo>
                    <a:lnTo>
                      <a:pt x="439166" y="148082"/>
                    </a:lnTo>
                    <a:lnTo>
                      <a:pt x="405511" y="177800"/>
                    </a:lnTo>
                    <a:lnTo>
                      <a:pt x="407924" y="185293"/>
                    </a:lnTo>
                    <a:lnTo>
                      <a:pt x="443285" y="164218"/>
                    </a:lnTo>
                    <a:lnTo>
                      <a:pt x="463169" y="125380"/>
                    </a:lnTo>
                    <a:lnTo>
                      <a:pt x="466979" y="92710"/>
                    </a:lnTo>
                    <a:lnTo>
                      <a:pt x="466026" y="75731"/>
                    </a:lnTo>
                    <a:lnTo>
                      <a:pt x="451739" y="32512"/>
                    </a:lnTo>
                    <a:lnTo>
                      <a:pt x="421360" y="4829"/>
                    </a:lnTo>
                    <a:lnTo>
                      <a:pt x="407924" y="0"/>
                    </a:lnTo>
                    <a:close/>
                  </a:path>
                  <a:path w="467360" h="185419">
                    <a:moveTo>
                      <a:pt x="59181" y="0"/>
                    </a:moveTo>
                    <a:lnTo>
                      <a:pt x="23820" y="21109"/>
                    </a:lnTo>
                    <a:lnTo>
                      <a:pt x="3825" y="60039"/>
                    </a:lnTo>
                    <a:lnTo>
                      <a:pt x="0" y="92710"/>
                    </a:lnTo>
                    <a:lnTo>
                      <a:pt x="952" y="109688"/>
                    </a:lnTo>
                    <a:lnTo>
                      <a:pt x="15240" y="152908"/>
                    </a:lnTo>
                    <a:lnTo>
                      <a:pt x="45654" y="180411"/>
                    </a:lnTo>
                    <a:lnTo>
                      <a:pt x="59181" y="185293"/>
                    </a:lnTo>
                    <a:lnTo>
                      <a:pt x="61468" y="177800"/>
                    </a:lnTo>
                    <a:lnTo>
                      <a:pt x="50925" y="173085"/>
                    </a:lnTo>
                    <a:lnTo>
                      <a:pt x="41798" y="166560"/>
                    </a:lnTo>
                    <a:lnTo>
                      <a:pt x="19653" y="122888"/>
                    </a:lnTo>
                    <a:lnTo>
                      <a:pt x="16891" y="91694"/>
                    </a:lnTo>
                    <a:lnTo>
                      <a:pt x="17581" y="75906"/>
                    </a:lnTo>
                    <a:lnTo>
                      <a:pt x="27940" y="36830"/>
                    </a:lnTo>
                    <a:lnTo>
                      <a:pt x="61722" y="7493"/>
                    </a:lnTo>
                    <a:lnTo>
                      <a:pt x="5918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1887600" y="945133"/>
                <a:ext cx="15938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59385" h="48259">
                    <a:moveTo>
                      <a:pt x="134874" y="0"/>
                    </a:moveTo>
                    <a:lnTo>
                      <a:pt x="129667" y="5841"/>
                    </a:lnTo>
                    <a:lnTo>
                      <a:pt x="145287" y="19430"/>
                    </a:lnTo>
                    <a:lnTo>
                      <a:pt x="0" y="19430"/>
                    </a:lnTo>
                    <a:lnTo>
                      <a:pt x="0" y="28575"/>
                    </a:lnTo>
                    <a:lnTo>
                      <a:pt x="145287" y="28575"/>
                    </a:lnTo>
                    <a:lnTo>
                      <a:pt x="129667" y="42163"/>
                    </a:lnTo>
                    <a:lnTo>
                      <a:pt x="134874" y="48005"/>
                    </a:lnTo>
                    <a:lnTo>
                      <a:pt x="159385" y="26796"/>
                    </a:lnTo>
                    <a:lnTo>
                      <a:pt x="159385" y="21081"/>
                    </a:lnTo>
                    <a:lnTo>
                      <a:pt x="134874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" name="object 15"/>
            <p:cNvSpPr txBox="1"/>
            <p:nvPr/>
          </p:nvSpPr>
          <p:spPr>
            <a:xfrm>
              <a:off x="246379" y="891603"/>
              <a:ext cx="1993264" cy="37846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ts val="1645"/>
                </a:lnSpc>
                <a:spcBef>
                  <a:spcPts val="125"/>
                </a:spcBef>
              </a:pPr>
              <a:r>
                <a:rPr sz="1550" spc="10" dirty="0">
                  <a:latin typeface="Verdana"/>
                  <a:cs typeface="Verdana"/>
                </a:rPr>
                <a:t>objective:</a:t>
              </a:r>
              <a:r>
                <a:rPr sz="1550" spc="90" dirty="0">
                  <a:latin typeface="Verdana"/>
                  <a:cs typeface="Verdana"/>
                </a:rPr>
                <a:t> </a:t>
              </a:r>
              <a:r>
                <a:rPr sz="1550" dirty="0">
                  <a:latin typeface="Cambria Math"/>
                  <a:cs typeface="Cambria Math"/>
                </a:rPr>
                <a:t>min</a:t>
              </a:r>
              <a:r>
                <a:rPr sz="1550" spc="-25" dirty="0">
                  <a:latin typeface="Cambria Math"/>
                  <a:cs typeface="Cambria Math"/>
                </a:rPr>
                <a:t> </a:t>
              </a:r>
              <a:r>
                <a:rPr sz="1550" spc="10" dirty="0">
                  <a:latin typeface="Cambria Math"/>
                  <a:cs typeface="Cambria Math"/>
                </a:rPr>
                <a:t>𝐽 </a:t>
              </a:r>
              <a:r>
                <a:rPr sz="1550" spc="45" dirty="0">
                  <a:latin typeface="Cambria Math"/>
                  <a:cs typeface="Cambria Math"/>
                </a:rPr>
                <a:t> </a:t>
              </a:r>
              <a:r>
                <a:rPr sz="1550" dirty="0">
                  <a:solidFill>
                    <a:srgbClr val="0096FF"/>
                  </a:solidFill>
                  <a:latin typeface="Cambria Math"/>
                  <a:cs typeface="Cambria Math"/>
                </a:rPr>
                <a:t>w</a:t>
              </a:r>
              <a:r>
                <a:rPr sz="1550" dirty="0">
                  <a:latin typeface="Cambria Math"/>
                  <a:cs typeface="Cambria Math"/>
                </a:rPr>
                <a:t>,</a:t>
              </a:r>
              <a:r>
                <a:rPr sz="1550" spc="-70" dirty="0">
                  <a:latin typeface="Cambria Math"/>
                  <a:cs typeface="Cambria Math"/>
                </a:rPr>
                <a:t> </a:t>
              </a:r>
              <a:r>
                <a:rPr sz="1550" spc="1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550" dirty="0">
                <a:latin typeface="Cambria Math"/>
                <a:cs typeface="Cambria Math"/>
              </a:endParaRPr>
            </a:p>
            <a:p>
              <a:pPr marL="1147445">
                <a:lnSpc>
                  <a:spcPts val="1105"/>
                </a:lnSpc>
              </a:pPr>
              <a:r>
                <a:rPr sz="1100" spc="65" dirty="0">
                  <a:latin typeface="Cambria Math"/>
                  <a:cs typeface="Cambria Math"/>
                </a:rPr>
                <a:t>w,𝑏</a:t>
              </a:r>
              <a:endParaRPr sz="1100" dirty="0">
                <a:latin typeface="Cambria Math"/>
                <a:cs typeface="Cambria Math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AD5020-656A-C9E1-7246-3ECD43F5113D}"/>
              </a:ext>
            </a:extLst>
          </p:cNvPr>
          <p:cNvGrpSpPr/>
          <p:nvPr/>
        </p:nvGrpSpPr>
        <p:grpSpPr>
          <a:xfrm>
            <a:off x="314043" y="1382539"/>
            <a:ext cx="2346325" cy="493725"/>
            <a:chOff x="2691764" y="794375"/>
            <a:chExt cx="2346325" cy="493725"/>
          </a:xfrm>
        </p:grpSpPr>
        <p:grpSp>
          <p:nvGrpSpPr>
            <p:cNvPr id="16" name="object 16"/>
            <p:cNvGrpSpPr/>
            <p:nvPr/>
          </p:nvGrpSpPr>
          <p:grpSpPr>
            <a:xfrm>
              <a:off x="2809113" y="818133"/>
              <a:ext cx="467359" cy="192405"/>
              <a:chOff x="2809113" y="818133"/>
              <a:chExt cx="467359" cy="192405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2809113" y="824864"/>
                <a:ext cx="467359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467360" h="185419">
                    <a:moveTo>
                      <a:pt x="407797" y="0"/>
                    </a:moveTo>
                    <a:lnTo>
                      <a:pt x="405256" y="7620"/>
                    </a:lnTo>
                    <a:lnTo>
                      <a:pt x="415948" y="12239"/>
                    </a:lnTo>
                    <a:lnTo>
                      <a:pt x="425164" y="18669"/>
                    </a:lnTo>
                    <a:lnTo>
                      <a:pt x="447341" y="61531"/>
                    </a:lnTo>
                    <a:lnTo>
                      <a:pt x="450088" y="91821"/>
                    </a:lnTo>
                    <a:lnTo>
                      <a:pt x="449397" y="108130"/>
                    </a:lnTo>
                    <a:lnTo>
                      <a:pt x="439038" y="148082"/>
                    </a:lnTo>
                    <a:lnTo>
                      <a:pt x="405511" y="177800"/>
                    </a:lnTo>
                    <a:lnTo>
                      <a:pt x="407797" y="185293"/>
                    </a:lnTo>
                    <a:lnTo>
                      <a:pt x="443283" y="164290"/>
                    </a:lnTo>
                    <a:lnTo>
                      <a:pt x="463169" y="125476"/>
                    </a:lnTo>
                    <a:lnTo>
                      <a:pt x="466978" y="92710"/>
                    </a:lnTo>
                    <a:lnTo>
                      <a:pt x="466024" y="75731"/>
                    </a:lnTo>
                    <a:lnTo>
                      <a:pt x="451612" y="32512"/>
                    </a:lnTo>
                    <a:lnTo>
                      <a:pt x="421251" y="4883"/>
                    </a:lnTo>
                    <a:lnTo>
                      <a:pt x="407797" y="0"/>
                    </a:lnTo>
                    <a:close/>
                  </a:path>
                  <a:path w="467360" h="185419">
                    <a:moveTo>
                      <a:pt x="59055" y="0"/>
                    </a:moveTo>
                    <a:lnTo>
                      <a:pt x="23693" y="21127"/>
                    </a:lnTo>
                    <a:lnTo>
                      <a:pt x="3809" y="60039"/>
                    </a:lnTo>
                    <a:lnTo>
                      <a:pt x="0" y="92710"/>
                    </a:lnTo>
                    <a:lnTo>
                      <a:pt x="952" y="109759"/>
                    </a:lnTo>
                    <a:lnTo>
                      <a:pt x="15239" y="152908"/>
                    </a:lnTo>
                    <a:lnTo>
                      <a:pt x="45600" y="180482"/>
                    </a:lnTo>
                    <a:lnTo>
                      <a:pt x="59055" y="185293"/>
                    </a:lnTo>
                    <a:lnTo>
                      <a:pt x="61468" y="177800"/>
                    </a:lnTo>
                    <a:lnTo>
                      <a:pt x="50869" y="173156"/>
                    </a:lnTo>
                    <a:lnTo>
                      <a:pt x="41735" y="166655"/>
                    </a:lnTo>
                    <a:lnTo>
                      <a:pt x="19637" y="122951"/>
                    </a:lnTo>
                    <a:lnTo>
                      <a:pt x="16891" y="91821"/>
                    </a:lnTo>
                    <a:lnTo>
                      <a:pt x="17579" y="75961"/>
                    </a:lnTo>
                    <a:lnTo>
                      <a:pt x="27812" y="36957"/>
                    </a:lnTo>
                    <a:lnTo>
                      <a:pt x="61722" y="7620"/>
                    </a:lnTo>
                    <a:lnTo>
                      <a:pt x="5905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877185" y="818133"/>
                <a:ext cx="15938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59385" h="48259">
                    <a:moveTo>
                      <a:pt x="134873" y="0"/>
                    </a:moveTo>
                    <a:lnTo>
                      <a:pt x="129793" y="5841"/>
                    </a:lnTo>
                    <a:lnTo>
                      <a:pt x="145414" y="19430"/>
                    </a:lnTo>
                    <a:lnTo>
                      <a:pt x="0" y="19430"/>
                    </a:lnTo>
                    <a:lnTo>
                      <a:pt x="0" y="28575"/>
                    </a:lnTo>
                    <a:lnTo>
                      <a:pt x="145414" y="28575"/>
                    </a:lnTo>
                    <a:lnTo>
                      <a:pt x="129793" y="42163"/>
                    </a:lnTo>
                    <a:lnTo>
                      <a:pt x="134873" y="48005"/>
                    </a:lnTo>
                    <a:lnTo>
                      <a:pt x="159384" y="26924"/>
                    </a:lnTo>
                    <a:lnTo>
                      <a:pt x="159384" y="21208"/>
                    </a:lnTo>
                    <a:lnTo>
                      <a:pt x="134873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2691764" y="794375"/>
              <a:ext cx="2346325" cy="49372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680085" algn="l"/>
                </a:tabLst>
              </a:pPr>
              <a:r>
                <a:rPr sz="1550" spc="10" dirty="0">
                  <a:latin typeface="Cambria Math"/>
                  <a:cs typeface="Cambria Math"/>
                </a:rPr>
                <a:t>𝐽 </a:t>
              </a:r>
              <a:r>
                <a:rPr sz="1550" spc="55" dirty="0">
                  <a:latin typeface="Cambria Math"/>
                  <a:cs typeface="Cambria Math"/>
                </a:rPr>
                <a:t> </a:t>
              </a:r>
              <a:r>
                <a:rPr sz="1550" dirty="0">
                  <a:solidFill>
                    <a:srgbClr val="0096FF"/>
                  </a:solidFill>
                  <a:latin typeface="Cambria Math"/>
                  <a:cs typeface="Cambria Math"/>
                </a:rPr>
                <a:t>w</a:t>
              </a:r>
              <a:r>
                <a:rPr sz="1550" dirty="0">
                  <a:latin typeface="Cambria Math"/>
                  <a:cs typeface="Cambria Math"/>
                </a:rPr>
                <a:t>,</a:t>
              </a:r>
              <a:r>
                <a:rPr sz="1550" spc="-70" dirty="0">
                  <a:latin typeface="Cambria Math"/>
                  <a:cs typeface="Cambria Math"/>
                </a:rPr>
                <a:t> </a:t>
              </a:r>
              <a:r>
                <a:rPr sz="1550" spc="15" dirty="0">
                  <a:solidFill>
                    <a:srgbClr val="0096FF"/>
                  </a:solidFill>
                  <a:latin typeface="Cambria Math"/>
                  <a:cs typeface="Cambria Math"/>
                </a:rPr>
                <a:t>𝑏	</a:t>
              </a:r>
              <a:r>
                <a:rPr sz="1550" spc="10" dirty="0">
                  <a:latin typeface="Verdana"/>
                  <a:cs typeface="Verdana"/>
                </a:rPr>
                <a:t>should</a:t>
              </a:r>
              <a:r>
                <a:rPr sz="1550" spc="60" dirty="0">
                  <a:latin typeface="Verdana"/>
                  <a:cs typeface="Verdana"/>
                </a:rPr>
                <a:t> </a:t>
              </a:r>
              <a:r>
                <a:rPr sz="1550" spc="25" dirty="0">
                  <a:solidFill>
                    <a:srgbClr val="C00000"/>
                  </a:solidFill>
                  <a:latin typeface="Verdana"/>
                  <a:cs typeface="Verdana"/>
                </a:rPr>
                <a:t>decrease</a:t>
              </a:r>
              <a:r>
                <a:rPr lang="en-GB" sz="1550" spc="25" dirty="0">
                  <a:solidFill>
                    <a:srgbClr val="C00000"/>
                  </a:solidFill>
                  <a:latin typeface="Verdana"/>
                  <a:cs typeface="Verdana"/>
                </a:rPr>
                <a:t> after every iteration </a:t>
              </a:r>
              <a:endParaRPr sz="1550" dirty="0">
                <a:latin typeface="Verdana"/>
                <a:cs typeface="Verdana"/>
              </a:endParaRPr>
            </a:p>
          </p:txBody>
        </p:sp>
      </p:grp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DB6C034A-906B-F976-105A-3C75EDFA58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839200" y="4793112"/>
            <a:ext cx="304800" cy="319087"/>
          </a:xfrm>
        </p:spPr>
        <p:txBody>
          <a:bodyPr/>
          <a:lstStyle/>
          <a:p>
            <a:pPr algn="ctr"/>
            <a:fld id="{B6F15528-21DE-4FAA-801E-634DDDAF4B2B}" type="slidenum">
              <a:rPr lang="en-PS" smtClean="0">
                <a:solidFill>
                  <a:srgbClr val="C00000"/>
                </a:solidFill>
              </a:rPr>
              <a:pPr algn="ctr"/>
              <a:t>43</a:t>
            </a:fld>
            <a:endParaRPr lang="en-PS">
              <a:solidFill>
                <a:srgbClr val="C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3E11DA-DD7E-9E81-5C4F-A924C7DB10A6}"/>
              </a:ext>
            </a:extLst>
          </p:cNvPr>
          <p:cNvSpPr txBox="1"/>
          <p:nvPr/>
        </p:nvSpPr>
        <p:spPr>
          <a:xfrm>
            <a:off x="143242" y="2225106"/>
            <a:ext cx="2733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/>
              <a:t>plot J(w,b) as a function of </a:t>
            </a:r>
          </a:p>
          <a:p>
            <a:r>
              <a:rPr lang="en-PS" dirty="0"/>
              <a:t>number of iterations.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PS" dirty="0">
                <a:sym typeface="Wingdings" pitchFamily="2" charset="2"/>
              </a:rPr>
              <a:t>the cost function should</a:t>
            </a:r>
          </a:p>
          <a:p>
            <a:r>
              <a:rPr lang="en-PS" dirty="0">
                <a:sym typeface="Wingdings" pitchFamily="2" charset="2"/>
              </a:rPr>
              <a:t>decrease constantly </a:t>
            </a:r>
            <a:endParaRPr lang="en-P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DF7EB5-76DF-8F97-E9C9-5C4CAEFB8124}"/>
              </a:ext>
            </a:extLst>
          </p:cNvPr>
          <p:cNvGrpSpPr/>
          <p:nvPr/>
        </p:nvGrpSpPr>
        <p:grpSpPr>
          <a:xfrm>
            <a:off x="3624580" y="726580"/>
            <a:ext cx="4890770" cy="3671883"/>
            <a:chOff x="3624580" y="726580"/>
            <a:chExt cx="4890770" cy="3671883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DC282D-3538-6537-36CF-24B49C7B16BD}"/>
                </a:ext>
              </a:extLst>
            </p:cNvPr>
            <p:cNvGrpSpPr/>
            <p:nvPr/>
          </p:nvGrpSpPr>
          <p:grpSpPr>
            <a:xfrm>
              <a:off x="3624580" y="1044619"/>
              <a:ext cx="4890770" cy="3353844"/>
              <a:chOff x="3624580" y="1363172"/>
              <a:chExt cx="4890770" cy="335384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8CC8484-7C76-DD06-CC98-9AB22964499D}"/>
                  </a:ext>
                </a:extLst>
              </p:cNvPr>
              <p:cNvGrpSpPr/>
              <p:nvPr/>
            </p:nvGrpSpPr>
            <p:grpSpPr>
              <a:xfrm>
                <a:off x="3624580" y="1413419"/>
                <a:ext cx="4890770" cy="3303597"/>
                <a:chOff x="246379" y="1335445"/>
                <a:chExt cx="4890770" cy="3303597"/>
              </a:xfrm>
            </p:grpSpPr>
            <p:sp>
              <p:nvSpPr>
                <p:cNvPr id="3" name="object 3"/>
                <p:cNvSpPr/>
                <p:nvPr/>
              </p:nvSpPr>
              <p:spPr>
                <a:xfrm>
                  <a:off x="838200" y="1362075"/>
                  <a:ext cx="0" cy="195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952625">
                      <a:moveTo>
                        <a:pt x="0" y="1952625"/>
                      </a:moveTo>
                      <a:lnTo>
                        <a:pt x="0" y="0"/>
                      </a:lnTo>
                    </a:path>
                  </a:pathLst>
                </a:custGeom>
                <a:ln w="38100">
                  <a:solidFill>
                    <a:srgbClr val="7E7E7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" name="object 4"/>
                <p:cNvSpPr/>
                <p:nvPr/>
              </p:nvSpPr>
              <p:spPr>
                <a:xfrm>
                  <a:off x="838200" y="3228975"/>
                  <a:ext cx="3409950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950" h="161925">
                      <a:moveTo>
                        <a:pt x="0" y="85725"/>
                      </a:moveTo>
                      <a:lnTo>
                        <a:pt x="3409950" y="85725"/>
                      </a:lnTo>
                    </a:path>
                    <a:path w="3409950" h="161925">
                      <a:moveTo>
                        <a:pt x="0" y="0"/>
                      </a:moveTo>
                      <a:lnTo>
                        <a:pt x="0" y="161925"/>
                      </a:lnTo>
                    </a:path>
                    <a:path w="3409950" h="161925">
                      <a:moveTo>
                        <a:pt x="857250" y="0"/>
                      </a:moveTo>
                      <a:lnTo>
                        <a:pt x="857250" y="161925"/>
                      </a:lnTo>
                    </a:path>
                    <a:path w="3409950" h="161925">
                      <a:moveTo>
                        <a:pt x="1704975" y="0"/>
                      </a:moveTo>
                      <a:lnTo>
                        <a:pt x="1704975" y="161925"/>
                      </a:lnTo>
                    </a:path>
                    <a:path w="3409950" h="161925">
                      <a:moveTo>
                        <a:pt x="2562225" y="0"/>
                      </a:moveTo>
                      <a:lnTo>
                        <a:pt x="2562225" y="161925"/>
                      </a:lnTo>
                    </a:path>
                    <a:path w="3409950" h="161925">
                      <a:moveTo>
                        <a:pt x="3409950" y="0"/>
                      </a:moveTo>
                      <a:lnTo>
                        <a:pt x="3409950" y="161925"/>
                      </a:lnTo>
                    </a:path>
                  </a:pathLst>
                </a:custGeom>
                <a:ln w="38100">
                  <a:solidFill>
                    <a:srgbClr val="85858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" name="object 5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819462" y="1349337"/>
                  <a:ext cx="3581027" cy="1853945"/>
                </a:xfrm>
                <a:prstGeom prst="rect">
                  <a:avLst/>
                </a:prstGeom>
              </p:spPr>
            </p:pic>
            <p:sp>
              <p:nvSpPr>
                <p:cNvPr id="6" name="object 6"/>
                <p:cNvSpPr/>
                <p:nvPr/>
              </p:nvSpPr>
              <p:spPr>
                <a:xfrm>
                  <a:off x="315036" y="1414906"/>
                  <a:ext cx="467359" cy="185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359" h="185419">
                      <a:moveTo>
                        <a:pt x="407873" y="0"/>
                      </a:moveTo>
                      <a:lnTo>
                        <a:pt x="405231" y="7492"/>
                      </a:lnTo>
                      <a:lnTo>
                        <a:pt x="415957" y="12186"/>
                      </a:lnTo>
                      <a:lnTo>
                        <a:pt x="425180" y="18653"/>
                      </a:lnTo>
                      <a:lnTo>
                        <a:pt x="447328" y="61515"/>
                      </a:lnTo>
                      <a:lnTo>
                        <a:pt x="450062" y="91693"/>
                      </a:lnTo>
                      <a:lnTo>
                        <a:pt x="449376" y="108076"/>
                      </a:lnTo>
                      <a:lnTo>
                        <a:pt x="439077" y="148081"/>
                      </a:lnTo>
                      <a:lnTo>
                        <a:pt x="405523" y="177800"/>
                      </a:lnTo>
                      <a:lnTo>
                        <a:pt x="407873" y="185292"/>
                      </a:lnTo>
                      <a:lnTo>
                        <a:pt x="443270" y="164290"/>
                      </a:lnTo>
                      <a:lnTo>
                        <a:pt x="463149" y="125475"/>
                      </a:lnTo>
                      <a:lnTo>
                        <a:pt x="466953" y="92709"/>
                      </a:lnTo>
                      <a:lnTo>
                        <a:pt x="465998" y="75731"/>
                      </a:lnTo>
                      <a:lnTo>
                        <a:pt x="451675" y="32512"/>
                      </a:lnTo>
                      <a:lnTo>
                        <a:pt x="421305" y="4883"/>
                      </a:lnTo>
                      <a:lnTo>
                        <a:pt x="407873" y="0"/>
                      </a:lnTo>
                      <a:close/>
                    </a:path>
                    <a:path w="467359" h="185419">
                      <a:moveTo>
                        <a:pt x="59093" y="0"/>
                      </a:moveTo>
                      <a:lnTo>
                        <a:pt x="23758" y="21127"/>
                      </a:lnTo>
                      <a:lnTo>
                        <a:pt x="3821" y="60039"/>
                      </a:lnTo>
                      <a:lnTo>
                        <a:pt x="0" y="92709"/>
                      </a:lnTo>
                      <a:lnTo>
                        <a:pt x="952" y="109759"/>
                      </a:lnTo>
                      <a:lnTo>
                        <a:pt x="15239" y="152907"/>
                      </a:lnTo>
                      <a:lnTo>
                        <a:pt x="45622" y="180482"/>
                      </a:lnTo>
                      <a:lnTo>
                        <a:pt x="59093" y="185292"/>
                      </a:lnTo>
                      <a:lnTo>
                        <a:pt x="61429" y="177800"/>
                      </a:lnTo>
                      <a:lnTo>
                        <a:pt x="50876" y="173102"/>
                      </a:lnTo>
                      <a:lnTo>
                        <a:pt x="41768" y="166608"/>
                      </a:lnTo>
                      <a:lnTo>
                        <a:pt x="19648" y="122936"/>
                      </a:lnTo>
                      <a:lnTo>
                        <a:pt x="16903" y="91693"/>
                      </a:lnTo>
                      <a:lnTo>
                        <a:pt x="17589" y="75908"/>
                      </a:lnTo>
                      <a:lnTo>
                        <a:pt x="27889" y="36956"/>
                      </a:lnTo>
                      <a:lnTo>
                        <a:pt x="61734" y="7492"/>
                      </a:lnTo>
                      <a:lnTo>
                        <a:pt x="590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" name="object 7"/>
                <p:cNvSpPr/>
                <p:nvPr/>
              </p:nvSpPr>
              <p:spPr>
                <a:xfrm>
                  <a:off x="383184" y="1408176"/>
                  <a:ext cx="159385" cy="48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84" h="48259">
                      <a:moveTo>
                        <a:pt x="134848" y="0"/>
                      </a:moveTo>
                      <a:lnTo>
                        <a:pt x="129679" y="5841"/>
                      </a:lnTo>
                      <a:lnTo>
                        <a:pt x="145300" y="19431"/>
                      </a:lnTo>
                      <a:lnTo>
                        <a:pt x="0" y="19431"/>
                      </a:lnTo>
                      <a:lnTo>
                        <a:pt x="0" y="28575"/>
                      </a:lnTo>
                      <a:lnTo>
                        <a:pt x="145300" y="28575"/>
                      </a:lnTo>
                      <a:lnTo>
                        <a:pt x="129679" y="42163"/>
                      </a:lnTo>
                      <a:lnTo>
                        <a:pt x="134848" y="48006"/>
                      </a:lnTo>
                      <a:lnTo>
                        <a:pt x="159359" y="26797"/>
                      </a:lnTo>
                      <a:lnTo>
                        <a:pt x="159359" y="21209"/>
                      </a:lnTo>
                      <a:lnTo>
                        <a:pt x="134848" y="0"/>
                      </a:lnTo>
                      <a:close/>
                    </a:path>
                  </a:pathLst>
                </a:custGeom>
                <a:solidFill>
                  <a:srgbClr val="0096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3"/>
                <p:cNvSpPr txBox="1"/>
                <p:nvPr/>
              </p:nvSpPr>
              <p:spPr>
                <a:xfrm>
                  <a:off x="246379" y="1335445"/>
                  <a:ext cx="4890770" cy="3303597"/>
                </a:xfrm>
                <a:prstGeom prst="rect">
                  <a:avLst/>
                </a:prstGeom>
              </p:spPr>
              <p:txBody>
                <a:bodyPr vert="horz" wrap="square" lIns="0" tIns="5270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415"/>
                    </a:spcBef>
                  </a:pPr>
                  <a:r>
                    <a:rPr sz="1550" spc="10" dirty="0">
                      <a:latin typeface="Cambria Math"/>
                      <a:cs typeface="Cambria Math"/>
                    </a:rPr>
                    <a:t>𝐽</a:t>
                  </a:r>
                  <a:r>
                    <a:rPr sz="1550" spc="20" dirty="0">
                      <a:latin typeface="Cambria Math"/>
                      <a:cs typeface="Cambria Math"/>
                    </a:rPr>
                    <a:t> </a:t>
                  </a:r>
                  <a:r>
                    <a:rPr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85" dirty="0">
                      <a:latin typeface="Cambria Math"/>
                      <a:cs typeface="Cambria Math"/>
                    </a:rPr>
                    <a:t> </a:t>
                  </a:r>
                  <a:r>
                    <a:rPr sz="1550" spc="1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</a:t>
                  </a:r>
                  <a:endParaRPr sz="1550" dirty="0">
                    <a:latin typeface="Cambria Math"/>
                    <a:cs typeface="Cambria Math"/>
                  </a:endParaRPr>
                </a:p>
                <a:p>
                  <a:pPr marR="90170" algn="ctr">
                    <a:lnSpc>
                      <a:spcPct val="100000"/>
                    </a:lnSpc>
                    <a:spcBef>
                      <a:spcPts val="330"/>
                    </a:spcBef>
                    <a:tabLst>
                      <a:tab pos="666750" algn="l"/>
                    </a:tabLst>
                  </a:pPr>
                  <a:r>
                    <a:rPr sz="1550" spc="10" dirty="0">
                      <a:latin typeface="Cambria Math"/>
                      <a:cs typeface="Cambria Math"/>
                    </a:rPr>
                    <a:t>𝐽 </a:t>
                  </a:r>
                  <a:r>
                    <a:rPr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70" dirty="0">
                      <a:latin typeface="Cambria Math"/>
                      <a:cs typeface="Cambria Math"/>
                    </a:rPr>
                    <a:t> </a:t>
                  </a:r>
                  <a:r>
                    <a:rPr sz="1550" spc="1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	</a:t>
                  </a:r>
                  <a:r>
                    <a:rPr sz="1550" spc="10" dirty="0">
                      <a:latin typeface="Verdana"/>
                      <a:cs typeface="Verdana"/>
                    </a:rPr>
                    <a:t>after</a:t>
                  </a:r>
                  <a:r>
                    <a:rPr sz="1550" spc="40" dirty="0">
                      <a:latin typeface="Verdana"/>
                      <a:cs typeface="Verdana"/>
                    </a:rPr>
                    <a:t> </a:t>
                  </a:r>
                  <a:r>
                    <a:rPr sz="1550" spc="-5" dirty="0">
                      <a:solidFill>
                        <a:srgbClr val="FF40FF"/>
                      </a:solidFill>
                      <a:latin typeface="Verdana"/>
                      <a:cs typeface="Verdana"/>
                    </a:rPr>
                    <a:t>100</a:t>
                  </a:r>
                  <a:r>
                    <a:rPr sz="1550" spc="80" dirty="0">
                      <a:solidFill>
                        <a:srgbClr val="FF40FF"/>
                      </a:solidFill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endParaRPr sz="1550" dirty="0">
                    <a:latin typeface="Verdana"/>
                    <a:cs typeface="Verdana"/>
                  </a:endParaRPr>
                </a:p>
                <a:p>
                  <a:pPr marL="1691639">
                    <a:lnSpc>
                      <a:spcPct val="100000"/>
                    </a:lnSpc>
                    <a:spcBef>
                      <a:spcPts val="1260"/>
                    </a:spcBef>
                    <a:tabLst>
                      <a:tab pos="2358390" algn="l"/>
                    </a:tabLst>
                  </a:pPr>
                  <a:r>
                    <a:rPr sz="1550" spc="10" dirty="0">
                      <a:latin typeface="Cambria Math"/>
                      <a:cs typeface="Cambria Math"/>
                    </a:rPr>
                    <a:t>𝐽 </a:t>
                  </a:r>
                  <a:r>
                    <a:rPr lang="en-US"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70" dirty="0">
                      <a:latin typeface="Cambria Math"/>
                      <a:cs typeface="Cambria Math"/>
                    </a:rPr>
                    <a:t> </a:t>
                  </a:r>
                  <a:r>
                    <a:rPr sz="1550" spc="1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	</a:t>
                  </a:r>
                  <a:r>
                    <a:rPr sz="1550" spc="10" dirty="0">
                      <a:latin typeface="Verdana"/>
                      <a:cs typeface="Verdana"/>
                    </a:rPr>
                    <a:t>after</a:t>
                  </a:r>
                  <a:r>
                    <a:rPr sz="1550" spc="35" dirty="0">
                      <a:latin typeface="Verdana"/>
                      <a:cs typeface="Verdana"/>
                    </a:rPr>
                    <a:t> </a:t>
                  </a:r>
                  <a:r>
                    <a:rPr sz="1550" spc="-5" dirty="0">
                      <a:solidFill>
                        <a:srgbClr val="7030A0"/>
                      </a:solidFill>
                      <a:latin typeface="Verdana"/>
                      <a:cs typeface="Verdana"/>
                    </a:rPr>
                    <a:t>200</a:t>
                  </a:r>
                  <a:r>
                    <a:rPr sz="1550" spc="70" dirty="0">
                      <a:solidFill>
                        <a:srgbClr val="7030A0"/>
                      </a:solidFill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endParaRPr sz="1550" dirty="0">
                    <a:latin typeface="Verdana"/>
                    <a:cs typeface="Verdana"/>
                  </a:endParaRPr>
                </a:p>
                <a:p>
                  <a:pPr marL="2562860" marR="5080">
                    <a:lnSpc>
                      <a:spcPct val="104900"/>
                    </a:lnSpc>
                    <a:spcBef>
                      <a:spcPts val="740"/>
                    </a:spcBef>
                    <a:tabLst>
                      <a:tab pos="3230245" algn="l"/>
                    </a:tabLst>
                  </a:pPr>
                  <a:r>
                    <a:rPr sz="1550" spc="10" dirty="0">
                      <a:latin typeface="Cambria Math"/>
                      <a:cs typeface="Cambria Math"/>
                    </a:rPr>
                    <a:t>𝐽 </a:t>
                  </a:r>
                  <a:r>
                    <a:rPr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60" dirty="0">
                      <a:latin typeface="Cambria Math"/>
                      <a:cs typeface="Cambria Math"/>
                    </a:rPr>
                    <a:t> </a:t>
                  </a:r>
                  <a:r>
                    <a:rPr sz="1550" spc="1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	</a:t>
                  </a:r>
                  <a:r>
                    <a:rPr sz="1550" spc="15" dirty="0">
                      <a:latin typeface="Verdana"/>
                      <a:cs typeface="Verdana"/>
                    </a:rPr>
                    <a:t>likely</a:t>
                  </a:r>
                  <a:r>
                    <a:rPr sz="1550" spc="-40" dirty="0"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converged </a:t>
                  </a:r>
                  <a:r>
                    <a:rPr sz="1550" spc="-530" dirty="0">
                      <a:latin typeface="Verdana"/>
                      <a:cs typeface="Verdana"/>
                    </a:rPr>
                    <a:t> </a:t>
                  </a:r>
                  <a:r>
                    <a:rPr sz="1550" spc="10" dirty="0">
                      <a:latin typeface="Verdana"/>
                      <a:cs typeface="Verdana"/>
                    </a:rPr>
                    <a:t>by </a:t>
                  </a:r>
                  <a:r>
                    <a:rPr sz="1550" spc="-5" dirty="0">
                      <a:solidFill>
                        <a:srgbClr val="C00000"/>
                      </a:solidFill>
                      <a:latin typeface="Verdana"/>
                      <a:cs typeface="Verdana"/>
                    </a:rPr>
                    <a:t>400</a:t>
                  </a:r>
                  <a:r>
                    <a:rPr sz="1550" spc="90" dirty="0">
                      <a:solidFill>
                        <a:srgbClr val="C00000"/>
                      </a:solidFill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endParaRPr sz="1550" dirty="0">
                    <a:latin typeface="Verdana"/>
                    <a:cs typeface="Verdana"/>
                  </a:endParaRPr>
                </a:p>
                <a:p>
                  <a:pPr>
                    <a:lnSpc>
                      <a:spcPct val="100000"/>
                    </a:lnSpc>
                  </a:pPr>
                  <a:endParaRPr sz="1900" dirty="0">
                    <a:latin typeface="Verdana"/>
                    <a:cs typeface="Verdana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45"/>
                    </a:spcBef>
                  </a:pPr>
                  <a:endParaRPr sz="1900" dirty="0">
                    <a:latin typeface="Verdana"/>
                    <a:cs typeface="Verdana"/>
                  </a:endParaRPr>
                </a:p>
                <a:p>
                  <a:pPr marR="39370" algn="ctr">
                    <a:lnSpc>
                      <a:spcPct val="100000"/>
                    </a:lnSpc>
                    <a:tabLst>
                      <a:tab pos="711200" algn="l"/>
                      <a:tab pos="1564005" algn="l"/>
                      <a:tab pos="2416175" algn="l"/>
                      <a:tab pos="3268979" algn="l"/>
                    </a:tabLst>
                  </a:pPr>
                  <a:r>
                    <a:rPr sz="2000" spc="15" dirty="0">
                      <a:latin typeface="Cambria Math"/>
                      <a:cs typeface="Cambria Math"/>
                    </a:rPr>
                    <a:t>0	100	200	300	400</a:t>
                  </a:r>
                  <a:endParaRPr sz="2000" dirty="0">
                    <a:latin typeface="Cambria Math"/>
                    <a:cs typeface="Cambria Math"/>
                  </a:endParaRPr>
                </a:p>
                <a:p>
                  <a:pPr marL="1675130">
                    <a:lnSpc>
                      <a:spcPct val="100000"/>
                    </a:lnSpc>
                    <a:spcBef>
                      <a:spcPts val="560"/>
                    </a:spcBef>
                    <a:tabLst>
                      <a:tab pos="3695700" algn="l"/>
                    </a:tabLst>
                  </a:pPr>
                  <a:r>
                    <a:rPr sz="2700" baseline="1543" dirty="0">
                      <a:latin typeface="Verdana"/>
                      <a:cs typeface="Verdana"/>
                    </a:rPr>
                    <a:t>#</a:t>
                  </a:r>
                  <a:r>
                    <a:rPr sz="2700" spc="-15" baseline="1543" dirty="0">
                      <a:latin typeface="Verdana"/>
                      <a:cs typeface="Verdana"/>
                    </a:rPr>
                    <a:t> </a:t>
                  </a:r>
                  <a:r>
                    <a:rPr sz="2700" spc="-75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i</a:t>
                  </a:r>
                  <a:r>
                    <a:rPr sz="2700" spc="-6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t</a:t>
                  </a:r>
                  <a:r>
                    <a:rPr sz="2700" spc="-37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e</a:t>
                  </a:r>
                  <a:r>
                    <a:rPr sz="2700" spc="-3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r</a:t>
                  </a:r>
                  <a:r>
                    <a:rPr sz="2700" spc="-52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a</a:t>
                  </a:r>
                  <a:r>
                    <a:rPr sz="2700" spc="-6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t</a:t>
                  </a:r>
                  <a:r>
                    <a:rPr sz="2700" spc="-75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i</a:t>
                  </a:r>
                  <a:r>
                    <a:rPr sz="2700" spc="37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o</a:t>
                  </a:r>
                  <a:r>
                    <a:rPr sz="2700" spc="-22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n</a:t>
                  </a:r>
                  <a:r>
                    <a:rPr sz="270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s	</a:t>
                  </a:r>
                  <a:endParaRPr sz="2000" dirty="0">
                    <a:latin typeface="Cambria Math"/>
                    <a:cs typeface="Cambria Math"/>
                  </a:endParaRPr>
                </a:p>
                <a:p>
                  <a:pPr marL="127635">
                    <a:lnSpc>
                      <a:spcPct val="100000"/>
                    </a:lnSpc>
                    <a:spcBef>
                      <a:spcPts val="890"/>
                    </a:spcBef>
                  </a:pPr>
                  <a:r>
                    <a:rPr lang="en-GB" sz="1550" spc="20" dirty="0">
                      <a:latin typeface="Verdana"/>
                      <a:cs typeface="Verdana"/>
                    </a:rPr>
                    <a:t>               </a:t>
                  </a:r>
                  <a:r>
                    <a:rPr sz="1550" spc="20" dirty="0">
                      <a:latin typeface="Verdana"/>
                      <a:cs typeface="Verdana"/>
                    </a:rPr>
                    <a:t>#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r>
                    <a:rPr sz="1550" spc="35" dirty="0">
                      <a:latin typeface="Verdana"/>
                      <a:cs typeface="Verdana"/>
                    </a:rPr>
                    <a:t> </a:t>
                  </a:r>
                  <a:r>
                    <a:rPr sz="1550" spc="25" dirty="0">
                      <a:latin typeface="Verdana"/>
                      <a:cs typeface="Verdana"/>
                    </a:rPr>
                    <a:t>needed</a:t>
                  </a:r>
                  <a:r>
                    <a:rPr sz="1550" spc="30" dirty="0"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varies</a:t>
                  </a:r>
                  <a:endParaRPr sz="1550" dirty="0">
                    <a:latin typeface="Verdana"/>
                    <a:cs typeface="Verdana"/>
                  </a:endParaRPr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20D90A6-3080-DE72-2E9C-51ACF26C035A}"/>
                  </a:ext>
                </a:extLst>
              </p:cNvPr>
              <p:cNvSpPr/>
              <p:nvPr/>
            </p:nvSpPr>
            <p:spPr>
              <a:xfrm>
                <a:off x="4818216" y="1363172"/>
                <a:ext cx="2590800" cy="3827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3F830E9-E274-4388-744E-35BC29FC0BBB}"/>
                </a:ext>
              </a:extLst>
            </p:cNvPr>
            <p:cNvSpPr txBox="1"/>
            <p:nvPr/>
          </p:nvSpPr>
          <p:spPr>
            <a:xfrm>
              <a:off x="5273978" y="726580"/>
              <a:ext cx="15919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dirty="0">
                  <a:solidFill>
                    <a:srgbClr val="C00000"/>
                  </a:solidFill>
                </a:rPr>
                <a:t>Learning Curve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0CC0A38-7C11-DDB0-30DD-7FD603C02F58}"/>
                </a:ext>
              </a:extLst>
            </p:cNvPr>
            <p:cNvSpPr/>
            <p:nvPr/>
          </p:nvSpPr>
          <p:spPr>
            <a:xfrm>
              <a:off x="4876800" y="2419350"/>
              <a:ext cx="3048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5A94C4-2508-DC7F-167F-7C34C88622CB}"/>
                </a:ext>
              </a:extLst>
            </p:cNvPr>
            <p:cNvSpPr/>
            <p:nvPr/>
          </p:nvSpPr>
          <p:spPr>
            <a:xfrm>
              <a:off x="6633716" y="2647574"/>
              <a:ext cx="3048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CC86BD0-4D81-46B3-06FE-B6E090F342D1}"/>
                </a:ext>
              </a:extLst>
            </p:cNvPr>
            <p:cNvSpPr/>
            <p:nvPr/>
          </p:nvSpPr>
          <p:spPr>
            <a:xfrm>
              <a:off x="7409017" y="2571751"/>
              <a:ext cx="406740" cy="304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B66216C-B35C-E7D8-69B0-9C4C40FCF515}"/>
              </a:ext>
            </a:extLst>
          </p:cNvPr>
          <p:cNvSpPr txBox="1"/>
          <p:nvPr/>
        </p:nvSpPr>
        <p:spPr>
          <a:xfrm>
            <a:off x="179199" y="3695058"/>
            <a:ext cx="33716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/>
              <a:t>if the cost function increase after</a:t>
            </a:r>
          </a:p>
          <a:p>
            <a:r>
              <a:rPr lang="en-PS" dirty="0"/>
              <a:t>some iterations, then either alpha</a:t>
            </a:r>
          </a:p>
          <a:p>
            <a:r>
              <a:rPr lang="en-PS" dirty="0"/>
              <a:t>is chosen poorly, or there is a bug</a:t>
            </a:r>
          </a:p>
          <a:p>
            <a:r>
              <a:rPr lang="en-PS" dirty="0"/>
              <a:t>in the code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6688" y="130611"/>
            <a:ext cx="836293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sz="2400" spc="-5" dirty="0">
                <a:solidFill>
                  <a:srgbClr val="0432FF"/>
                </a:solidFill>
              </a:rPr>
              <a:t>Make</a:t>
            </a:r>
            <a:r>
              <a:rPr sz="2400" spc="-15" dirty="0">
                <a:solidFill>
                  <a:srgbClr val="0432FF"/>
                </a:solidFill>
              </a:rPr>
              <a:t> </a:t>
            </a:r>
            <a:r>
              <a:rPr sz="2400" dirty="0">
                <a:solidFill>
                  <a:srgbClr val="0432FF"/>
                </a:solidFill>
              </a:rPr>
              <a:t>sure</a:t>
            </a:r>
            <a:r>
              <a:rPr sz="2400" spc="60" dirty="0">
                <a:solidFill>
                  <a:srgbClr val="0432FF"/>
                </a:solidFill>
              </a:rPr>
              <a:t> </a:t>
            </a:r>
            <a:r>
              <a:rPr sz="2400" spc="-20" dirty="0">
                <a:solidFill>
                  <a:srgbClr val="0432FF"/>
                </a:solidFill>
              </a:rPr>
              <a:t>gradient</a:t>
            </a:r>
            <a:r>
              <a:rPr sz="2400" spc="155" dirty="0">
                <a:solidFill>
                  <a:srgbClr val="0432FF"/>
                </a:solidFill>
              </a:rPr>
              <a:t> </a:t>
            </a:r>
            <a:r>
              <a:rPr sz="2400" spc="-10" dirty="0">
                <a:solidFill>
                  <a:srgbClr val="0432FF"/>
                </a:solidFill>
              </a:rPr>
              <a:t>descent</a:t>
            </a:r>
            <a:r>
              <a:rPr sz="2400" spc="5" dirty="0">
                <a:solidFill>
                  <a:srgbClr val="0432FF"/>
                </a:solidFill>
              </a:rPr>
              <a:t> </a:t>
            </a:r>
            <a:r>
              <a:rPr sz="2400" spc="-35" dirty="0">
                <a:solidFill>
                  <a:srgbClr val="0432FF"/>
                </a:solidFill>
              </a:rPr>
              <a:t>is</a:t>
            </a:r>
            <a:r>
              <a:rPr sz="2400" spc="110" dirty="0">
                <a:solidFill>
                  <a:srgbClr val="0432FF"/>
                </a:solidFill>
              </a:rPr>
              <a:t> </a:t>
            </a:r>
            <a:r>
              <a:rPr sz="2400" spc="-20" dirty="0">
                <a:solidFill>
                  <a:srgbClr val="0432FF"/>
                </a:solidFill>
              </a:rPr>
              <a:t>working</a:t>
            </a:r>
            <a:r>
              <a:rPr sz="2400" spc="135" dirty="0">
                <a:solidFill>
                  <a:srgbClr val="0432FF"/>
                </a:solidFill>
              </a:rPr>
              <a:t> </a:t>
            </a:r>
            <a:r>
              <a:rPr sz="2400" spc="-15" dirty="0">
                <a:solidFill>
                  <a:srgbClr val="0432FF"/>
                </a:solidFill>
              </a:rPr>
              <a:t>correctly</a:t>
            </a:r>
          </a:p>
        </p:txBody>
      </p:sp>
      <p:grpSp>
        <p:nvGrpSpPr>
          <p:cNvPr id="25" name="object 25"/>
          <p:cNvGrpSpPr/>
          <p:nvPr/>
        </p:nvGrpSpPr>
        <p:grpSpPr>
          <a:xfrm>
            <a:off x="6156008" y="1436147"/>
            <a:ext cx="467359" cy="192405"/>
            <a:chOff x="6140577" y="2095626"/>
            <a:chExt cx="467359" cy="192405"/>
          </a:xfrm>
        </p:grpSpPr>
        <p:sp>
          <p:nvSpPr>
            <p:cNvPr id="26" name="object 26"/>
            <p:cNvSpPr/>
            <p:nvPr/>
          </p:nvSpPr>
          <p:spPr>
            <a:xfrm>
              <a:off x="6140577" y="2102357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59" h="185419">
                  <a:moveTo>
                    <a:pt x="407924" y="0"/>
                  </a:moveTo>
                  <a:lnTo>
                    <a:pt x="405256" y="7493"/>
                  </a:lnTo>
                  <a:lnTo>
                    <a:pt x="416020" y="12186"/>
                  </a:lnTo>
                  <a:lnTo>
                    <a:pt x="425259" y="18653"/>
                  </a:lnTo>
                  <a:lnTo>
                    <a:pt x="447389" y="61515"/>
                  </a:lnTo>
                  <a:lnTo>
                    <a:pt x="450088" y="91693"/>
                  </a:lnTo>
                  <a:lnTo>
                    <a:pt x="449399" y="108077"/>
                  </a:lnTo>
                  <a:lnTo>
                    <a:pt x="439166" y="148081"/>
                  </a:lnTo>
                  <a:lnTo>
                    <a:pt x="405638" y="177800"/>
                  </a:lnTo>
                  <a:lnTo>
                    <a:pt x="407924" y="185293"/>
                  </a:lnTo>
                  <a:lnTo>
                    <a:pt x="443285" y="164290"/>
                  </a:lnTo>
                  <a:lnTo>
                    <a:pt x="463168" y="125476"/>
                  </a:lnTo>
                  <a:lnTo>
                    <a:pt x="466978" y="92710"/>
                  </a:lnTo>
                  <a:lnTo>
                    <a:pt x="466026" y="75731"/>
                  </a:lnTo>
                  <a:lnTo>
                    <a:pt x="451739" y="32512"/>
                  </a:lnTo>
                  <a:lnTo>
                    <a:pt x="421378" y="4883"/>
                  </a:lnTo>
                  <a:lnTo>
                    <a:pt x="407924" y="0"/>
                  </a:lnTo>
                  <a:close/>
                </a:path>
                <a:path w="467359" h="185419">
                  <a:moveTo>
                    <a:pt x="59182" y="0"/>
                  </a:moveTo>
                  <a:lnTo>
                    <a:pt x="23820" y="21127"/>
                  </a:lnTo>
                  <a:lnTo>
                    <a:pt x="3873" y="60039"/>
                  </a:lnTo>
                  <a:lnTo>
                    <a:pt x="0" y="92710"/>
                  </a:lnTo>
                  <a:lnTo>
                    <a:pt x="952" y="109759"/>
                  </a:lnTo>
                  <a:lnTo>
                    <a:pt x="15239" y="152908"/>
                  </a:lnTo>
                  <a:lnTo>
                    <a:pt x="45708" y="180482"/>
                  </a:lnTo>
                  <a:lnTo>
                    <a:pt x="59182" y="185293"/>
                  </a:lnTo>
                  <a:lnTo>
                    <a:pt x="61468" y="177800"/>
                  </a:lnTo>
                  <a:lnTo>
                    <a:pt x="50942" y="173085"/>
                  </a:lnTo>
                  <a:lnTo>
                    <a:pt x="41846" y="166560"/>
                  </a:lnTo>
                  <a:lnTo>
                    <a:pt x="19716" y="122935"/>
                  </a:lnTo>
                  <a:lnTo>
                    <a:pt x="17018" y="91693"/>
                  </a:lnTo>
                  <a:lnTo>
                    <a:pt x="17688" y="75908"/>
                  </a:lnTo>
                  <a:lnTo>
                    <a:pt x="27939" y="36956"/>
                  </a:lnTo>
                  <a:lnTo>
                    <a:pt x="61849" y="7493"/>
                  </a:lnTo>
                  <a:lnTo>
                    <a:pt x="59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08776" y="2095626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5" h="48260">
                  <a:moveTo>
                    <a:pt x="134874" y="0"/>
                  </a:moveTo>
                  <a:lnTo>
                    <a:pt x="129666" y="5842"/>
                  </a:lnTo>
                  <a:lnTo>
                    <a:pt x="145287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287" y="28575"/>
                  </a:lnTo>
                  <a:lnTo>
                    <a:pt x="129666" y="42164"/>
                  </a:lnTo>
                  <a:lnTo>
                    <a:pt x="134874" y="48006"/>
                  </a:lnTo>
                  <a:lnTo>
                    <a:pt x="159385" y="26797"/>
                  </a:lnTo>
                  <a:lnTo>
                    <a:pt x="159385" y="21209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763895" y="1097597"/>
            <a:ext cx="2954655" cy="10402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>
              <a:lnSpc>
                <a:spcPct val="130500"/>
              </a:lnSpc>
              <a:spcBef>
                <a:spcPts val="95"/>
              </a:spcBef>
              <a:tabLst>
                <a:tab pos="650875" algn="l"/>
              </a:tabLst>
            </a:pPr>
            <a:r>
              <a:rPr sz="1550" spc="30" dirty="0">
                <a:latin typeface="Verdana"/>
                <a:cs typeface="Verdana"/>
              </a:rPr>
              <a:t>Let</a:t>
            </a:r>
            <a:r>
              <a:rPr sz="1550" spc="-45" dirty="0"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0096FF"/>
                </a:solidFill>
                <a:latin typeface="Cambria Math"/>
                <a:cs typeface="Cambria Math"/>
              </a:rPr>
              <a:t>𝜀	</a:t>
            </a:r>
            <a:r>
              <a:rPr sz="1550" spc="20" dirty="0">
                <a:latin typeface="Verdana"/>
                <a:cs typeface="Verdana"/>
              </a:rPr>
              <a:t>“epsilon”</a:t>
            </a:r>
            <a:r>
              <a:rPr sz="1550" spc="-5" dirty="0">
                <a:latin typeface="Verdana"/>
                <a:cs typeface="Verdana"/>
              </a:rPr>
              <a:t> </a:t>
            </a:r>
            <a:r>
              <a:rPr sz="1550" spc="10" dirty="0">
                <a:latin typeface="Verdana"/>
                <a:cs typeface="Verdana"/>
              </a:rPr>
              <a:t>be</a:t>
            </a:r>
            <a:r>
              <a:rPr sz="1550" spc="85" dirty="0">
                <a:latin typeface="Verdana"/>
                <a:cs typeface="Verdana"/>
              </a:rPr>
              <a:t> </a:t>
            </a:r>
            <a:r>
              <a:rPr sz="1550" spc="45" dirty="0">
                <a:solidFill>
                  <a:srgbClr val="0096FF"/>
                </a:solidFill>
                <a:latin typeface="Cambria Math"/>
                <a:cs typeface="Cambria Math"/>
              </a:rPr>
              <a:t>10</a:t>
            </a:r>
            <a:r>
              <a:rPr sz="1650" spc="67" baseline="30303" dirty="0">
                <a:solidFill>
                  <a:srgbClr val="0096FF"/>
                </a:solidFill>
                <a:latin typeface="Cambria Math"/>
                <a:cs typeface="Cambria Math"/>
              </a:rPr>
              <a:t>−3</a:t>
            </a:r>
            <a:r>
              <a:rPr sz="1550" spc="45" dirty="0">
                <a:latin typeface="Verdana"/>
                <a:cs typeface="Verdana"/>
              </a:rPr>
              <a:t>.</a:t>
            </a:r>
            <a:endParaRPr sz="2150" dirty="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tabLst>
                <a:tab pos="946785" algn="l"/>
              </a:tabLst>
            </a:pPr>
            <a:r>
              <a:rPr sz="1550" spc="-25" dirty="0">
                <a:latin typeface="Verdana"/>
                <a:cs typeface="Verdana"/>
              </a:rPr>
              <a:t>If</a:t>
            </a:r>
            <a:r>
              <a:rPr sz="1550" spc="100" dirty="0">
                <a:latin typeface="Verdana"/>
                <a:cs typeface="Verdana"/>
              </a:rPr>
              <a:t> </a:t>
            </a:r>
            <a:r>
              <a:rPr sz="1550" spc="10" dirty="0">
                <a:latin typeface="Cambria Math"/>
                <a:cs typeface="Cambria Math"/>
              </a:rPr>
              <a:t>𝐽 </a:t>
            </a:r>
            <a:r>
              <a:rPr sz="1550" spc="55" dirty="0">
                <a:latin typeface="Cambria Math"/>
                <a:cs typeface="Cambria Math"/>
              </a:rPr>
              <a:t> </a:t>
            </a:r>
            <a:r>
              <a:rPr sz="155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550" dirty="0">
                <a:latin typeface="Cambria Math"/>
                <a:cs typeface="Cambria Math"/>
              </a:rPr>
              <a:t>,</a:t>
            </a:r>
            <a:r>
              <a:rPr sz="1550" spc="-70" dirty="0">
                <a:latin typeface="Cambria Math"/>
                <a:cs typeface="Cambria Math"/>
              </a:rPr>
              <a:t> </a:t>
            </a:r>
            <a:r>
              <a:rPr sz="1550" spc="15" dirty="0">
                <a:solidFill>
                  <a:srgbClr val="0096FF"/>
                </a:solidFill>
                <a:latin typeface="Cambria Math"/>
                <a:cs typeface="Cambria Math"/>
              </a:rPr>
              <a:t>𝑏	</a:t>
            </a:r>
            <a:r>
              <a:rPr sz="1550" spc="25" dirty="0">
                <a:latin typeface="Verdana"/>
                <a:cs typeface="Verdana"/>
              </a:rPr>
              <a:t>decreases</a:t>
            </a:r>
            <a:r>
              <a:rPr sz="1550" spc="40" dirty="0">
                <a:latin typeface="Verdana"/>
                <a:cs typeface="Verdana"/>
              </a:rPr>
              <a:t> </a:t>
            </a:r>
            <a:r>
              <a:rPr sz="1550" spc="10" dirty="0">
                <a:latin typeface="Verdana"/>
                <a:cs typeface="Verdana"/>
              </a:rPr>
              <a:t>by</a:t>
            </a:r>
            <a:r>
              <a:rPr sz="1550" dirty="0">
                <a:latin typeface="Verdana"/>
                <a:cs typeface="Verdana"/>
              </a:rPr>
              <a:t> </a:t>
            </a:r>
            <a:r>
              <a:rPr sz="1550" spc="20" dirty="0">
                <a:latin typeface="Verdana"/>
                <a:cs typeface="Verdana"/>
              </a:rPr>
              <a:t>≤</a:t>
            </a:r>
            <a:r>
              <a:rPr sz="1550" spc="45" dirty="0"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0096FF"/>
                </a:solidFill>
                <a:latin typeface="Cambria Math"/>
                <a:cs typeface="Cambria Math"/>
              </a:rPr>
              <a:t>𝜀</a:t>
            </a:r>
            <a:r>
              <a:rPr lang="en-GB" sz="1550" spc="1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</a:p>
          <a:p>
            <a:pPr marL="50800">
              <a:lnSpc>
                <a:spcPct val="100000"/>
              </a:lnSpc>
              <a:tabLst>
                <a:tab pos="946785" algn="l"/>
              </a:tabLst>
            </a:pPr>
            <a:r>
              <a:rPr lang="en-GB" sz="1550" spc="10" dirty="0">
                <a:solidFill>
                  <a:srgbClr val="0096FF"/>
                </a:solidFill>
                <a:latin typeface="Cambria Math"/>
                <a:cs typeface="Cambria Math"/>
              </a:rPr>
              <a:t>in one iteration, you may declare</a:t>
            </a:r>
          </a:p>
          <a:p>
            <a:pPr marL="50800">
              <a:lnSpc>
                <a:spcPct val="100000"/>
              </a:lnSpc>
              <a:tabLst>
                <a:tab pos="946785" algn="l"/>
              </a:tabLst>
            </a:pPr>
            <a:r>
              <a:rPr lang="en-GB" sz="1550" spc="10" dirty="0">
                <a:solidFill>
                  <a:srgbClr val="0096FF"/>
                </a:solidFill>
                <a:latin typeface="Cambria Math"/>
                <a:cs typeface="Cambria Math"/>
              </a:rPr>
              <a:t>convergence </a:t>
            </a:r>
            <a:endParaRPr sz="1550" dirty="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41697" y="2503670"/>
            <a:ext cx="2884805" cy="10289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 marR="5080" indent="-9525">
              <a:lnSpc>
                <a:spcPct val="146500"/>
              </a:lnSpc>
              <a:spcBef>
                <a:spcPts val="95"/>
              </a:spcBef>
            </a:pPr>
            <a:r>
              <a:rPr lang="en-GB" sz="1550" spc="5" dirty="0">
                <a:latin typeface="Verdana"/>
                <a:cs typeface="Verdana"/>
              </a:rPr>
              <a:t>Which means that you found</a:t>
            </a:r>
            <a:r>
              <a:rPr lang="en-GB" sz="1550" spc="110" dirty="0">
                <a:latin typeface="Verdana"/>
                <a:cs typeface="Verdana"/>
              </a:rPr>
              <a:t> </a:t>
            </a:r>
            <a:r>
              <a:rPr lang="en-GB" sz="1550" spc="15" dirty="0">
                <a:latin typeface="Verdana"/>
                <a:cs typeface="Verdana"/>
              </a:rPr>
              <a:t>parameters</a:t>
            </a:r>
            <a:r>
              <a:rPr lang="en-GB" sz="1550" spc="80" dirty="0">
                <a:latin typeface="Verdana"/>
                <a:cs typeface="Verdana"/>
              </a:rPr>
              <a:t> </a:t>
            </a:r>
            <a:r>
              <a:rPr lang="en-GB" sz="1600" spc="8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and b </a:t>
            </a:r>
            <a:r>
              <a:rPr lang="en-GB" sz="1550" dirty="0">
                <a:latin typeface="Verdana"/>
                <a:cs typeface="Verdana"/>
              </a:rPr>
              <a:t>to</a:t>
            </a:r>
            <a:r>
              <a:rPr lang="en-GB" sz="1550" spc="45" dirty="0">
                <a:latin typeface="Verdana"/>
                <a:cs typeface="Verdana"/>
              </a:rPr>
              <a:t> </a:t>
            </a:r>
            <a:r>
              <a:rPr lang="en-GB" sz="1550" spc="20" dirty="0">
                <a:latin typeface="Verdana"/>
                <a:cs typeface="Verdana"/>
              </a:rPr>
              <a:t>get</a:t>
            </a:r>
            <a:r>
              <a:rPr lang="en-GB" sz="1550" spc="15" dirty="0">
                <a:latin typeface="Verdana"/>
                <a:cs typeface="Verdana"/>
              </a:rPr>
              <a:t> close</a:t>
            </a:r>
            <a:r>
              <a:rPr lang="en-GB" sz="1550" spc="-5" dirty="0">
                <a:latin typeface="Verdana"/>
                <a:cs typeface="Verdana"/>
              </a:rPr>
              <a:t> </a:t>
            </a:r>
            <a:r>
              <a:rPr lang="en-GB" sz="1550" dirty="0">
                <a:latin typeface="Verdana"/>
                <a:cs typeface="Verdana"/>
              </a:rPr>
              <a:t>to </a:t>
            </a:r>
            <a:r>
              <a:rPr lang="en-GB" sz="1550" spc="15" dirty="0">
                <a:latin typeface="Verdana"/>
                <a:cs typeface="Verdana"/>
              </a:rPr>
              <a:t>global</a:t>
            </a:r>
            <a:r>
              <a:rPr lang="en-GB" sz="1550" spc="30" dirty="0">
                <a:latin typeface="Verdana"/>
                <a:cs typeface="Verdana"/>
              </a:rPr>
              <a:t> </a:t>
            </a:r>
            <a:r>
              <a:rPr lang="en-GB" sz="1550" dirty="0">
                <a:latin typeface="Verdana"/>
                <a:cs typeface="Verdana"/>
              </a:rPr>
              <a:t>minimum)</a:t>
            </a:r>
            <a:endParaRPr sz="1550" dirty="0">
              <a:latin typeface="Verdana"/>
              <a:cs typeface="Verdana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DB6C034A-906B-F976-105A-3C75EDFA58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44</a:t>
            </a:fld>
            <a:endParaRPr lang="en-P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BB60E2-0FAD-C2B4-17FF-9ACA0C55D888}"/>
              </a:ext>
            </a:extLst>
          </p:cNvPr>
          <p:cNvGrpSpPr/>
          <p:nvPr/>
        </p:nvGrpSpPr>
        <p:grpSpPr>
          <a:xfrm>
            <a:off x="264776" y="645881"/>
            <a:ext cx="4890770" cy="3317940"/>
            <a:chOff x="3624580" y="726580"/>
            <a:chExt cx="4890770" cy="33179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FFFF209-C0DF-683F-A153-45FD089087A4}"/>
                </a:ext>
              </a:extLst>
            </p:cNvPr>
            <p:cNvGrpSpPr/>
            <p:nvPr/>
          </p:nvGrpSpPr>
          <p:grpSpPr>
            <a:xfrm>
              <a:off x="3624580" y="1044619"/>
              <a:ext cx="4890770" cy="2999901"/>
              <a:chOff x="3624580" y="1363172"/>
              <a:chExt cx="4890770" cy="2999901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75A7A33-EC2B-62CD-2336-8B1264D62768}"/>
                  </a:ext>
                </a:extLst>
              </p:cNvPr>
              <p:cNvGrpSpPr/>
              <p:nvPr/>
            </p:nvGrpSpPr>
            <p:grpSpPr>
              <a:xfrm>
                <a:off x="3624580" y="1413419"/>
                <a:ext cx="4890770" cy="2949654"/>
                <a:chOff x="246379" y="1335445"/>
                <a:chExt cx="4890770" cy="2949654"/>
              </a:xfrm>
            </p:grpSpPr>
            <p:sp>
              <p:nvSpPr>
                <p:cNvPr id="48" name="object 3">
                  <a:extLst>
                    <a:ext uri="{FF2B5EF4-FFF2-40B4-BE49-F238E27FC236}">
                      <a16:creationId xmlns:a16="http://schemas.microsoft.com/office/drawing/2014/main" id="{5A03F3E6-D69E-FEA4-6A14-F35883D8C6B7}"/>
                    </a:ext>
                  </a:extLst>
                </p:cNvPr>
                <p:cNvSpPr/>
                <p:nvPr/>
              </p:nvSpPr>
              <p:spPr>
                <a:xfrm>
                  <a:off x="838200" y="1362075"/>
                  <a:ext cx="0" cy="195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952625">
                      <a:moveTo>
                        <a:pt x="0" y="1952625"/>
                      </a:moveTo>
                      <a:lnTo>
                        <a:pt x="0" y="0"/>
                      </a:lnTo>
                    </a:path>
                  </a:pathLst>
                </a:custGeom>
                <a:ln w="38100">
                  <a:solidFill>
                    <a:srgbClr val="7E7E7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9" name="object 4">
                  <a:extLst>
                    <a:ext uri="{FF2B5EF4-FFF2-40B4-BE49-F238E27FC236}">
                      <a16:creationId xmlns:a16="http://schemas.microsoft.com/office/drawing/2014/main" id="{FF15637F-C6ED-E726-A1D4-DE91B9402656}"/>
                    </a:ext>
                  </a:extLst>
                </p:cNvPr>
                <p:cNvSpPr/>
                <p:nvPr/>
              </p:nvSpPr>
              <p:spPr>
                <a:xfrm>
                  <a:off x="838200" y="3228975"/>
                  <a:ext cx="3409950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950" h="161925">
                      <a:moveTo>
                        <a:pt x="0" y="85725"/>
                      </a:moveTo>
                      <a:lnTo>
                        <a:pt x="3409950" y="85725"/>
                      </a:lnTo>
                    </a:path>
                    <a:path w="3409950" h="161925">
                      <a:moveTo>
                        <a:pt x="0" y="0"/>
                      </a:moveTo>
                      <a:lnTo>
                        <a:pt x="0" y="161925"/>
                      </a:lnTo>
                    </a:path>
                    <a:path w="3409950" h="161925">
                      <a:moveTo>
                        <a:pt x="857250" y="0"/>
                      </a:moveTo>
                      <a:lnTo>
                        <a:pt x="857250" y="161925"/>
                      </a:lnTo>
                    </a:path>
                    <a:path w="3409950" h="161925">
                      <a:moveTo>
                        <a:pt x="1704975" y="0"/>
                      </a:moveTo>
                      <a:lnTo>
                        <a:pt x="1704975" y="161925"/>
                      </a:lnTo>
                    </a:path>
                    <a:path w="3409950" h="161925">
                      <a:moveTo>
                        <a:pt x="2562225" y="0"/>
                      </a:moveTo>
                      <a:lnTo>
                        <a:pt x="2562225" y="161925"/>
                      </a:lnTo>
                    </a:path>
                    <a:path w="3409950" h="161925">
                      <a:moveTo>
                        <a:pt x="3409950" y="0"/>
                      </a:moveTo>
                      <a:lnTo>
                        <a:pt x="3409950" y="161925"/>
                      </a:lnTo>
                    </a:path>
                  </a:pathLst>
                </a:custGeom>
                <a:ln w="38100">
                  <a:solidFill>
                    <a:srgbClr val="85858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0" name="object 5">
                  <a:extLst>
                    <a:ext uri="{FF2B5EF4-FFF2-40B4-BE49-F238E27FC236}">
                      <a16:creationId xmlns:a16="http://schemas.microsoft.com/office/drawing/2014/main" id="{1E16C533-EBA4-441B-F1D9-482C074D0D58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819462" y="1349337"/>
                  <a:ext cx="3581027" cy="1853945"/>
                </a:xfrm>
                <a:prstGeom prst="rect">
                  <a:avLst/>
                </a:prstGeom>
              </p:spPr>
            </p:pic>
            <p:sp>
              <p:nvSpPr>
                <p:cNvPr id="51" name="object 6">
                  <a:extLst>
                    <a:ext uri="{FF2B5EF4-FFF2-40B4-BE49-F238E27FC236}">
                      <a16:creationId xmlns:a16="http://schemas.microsoft.com/office/drawing/2014/main" id="{961350AA-0A00-D31D-A0C4-752D7A98FC6C}"/>
                    </a:ext>
                  </a:extLst>
                </p:cNvPr>
                <p:cNvSpPr/>
                <p:nvPr/>
              </p:nvSpPr>
              <p:spPr>
                <a:xfrm>
                  <a:off x="315036" y="1414906"/>
                  <a:ext cx="467359" cy="185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359" h="185419">
                      <a:moveTo>
                        <a:pt x="407873" y="0"/>
                      </a:moveTo>
                      <a:lnTo>
                        <a:pt x="405231" y="7492"/>
                      </a:lnTo>
                      <a:lnTo>
                        <a:pt x="415957" y="12186"/>
                      </a:lnTo>
                      <a:lnTo>
                        <a:pt x="425180" y="18653"/>
                      </a:lnTo>
                      <a:lnTo>
                        <a:pt x="447328" y="61515"/>
                      </a:lnTo>
                      <a:lnTo>
                        <a:pt x="450062" y="91693"/>
                      </a:lnTo>
                      <a:lnTo>
                        <a:pt x="449376" y="108076"/>
                      </a:lnTo>
                      <a:lnTo>
                        <a:pt x="439077" y="148081"/>
                      </a:lnTo>
                      <a:lnTo>
                        <a:pt x="405523" y="177800"/>
                      </a:lnTo>
                      <a:lnTo>
                        <a:pt x="407873" y="185292"/>
                      </a:lnTo>
                      <a:lnTo>
                        <a:pt x="443270" y="164290"/>
                      </a:lnTo>
                      <a:lnTo>
                        <a:pt x="463149" y="125475"/>
                      </a:lnTo>
                      <a:lnTo>
                        <a:pt x="466953" y="92709"/>
                      </a:lnTo>
                      <a:lnTo>
                        <a:pt x="465998" y="75731"/>
                      </a:lnTo>
                      <a:lnTo>
                        <a:pt x="451675" y="32512"/>
                      </a:lnTo>
                      <a:lnTo>
                        <a:pt x="421305" y="4883"/>
                      </a:lnTo>
                      <a:lnTo>
                        <a:pt x="407873" y="0"/>
                      </a:lnTo>
                      <a:close/>
                    </a:path>
                    <a:path w="467359" h="185419">
                      <a:moveTo>
                        <a:pt x="59093" y="0"/>
                      </a:moveTo>
                      <a:lnTo>
                        <a:pt x="23758" y="21127"/>
                      </a:lnTo>
                      <a:lnTo>
                        <a:pt x="3821" y="60039"/>
                      </a:lnTo>
                      <a:lnTo>
                        <a:pt x="0" y="92709"/>
                      </a:lnTo>
                      <a:lnTo>
                        <a:pt x="952" y="109759"/>
                      </a:lnTo>
                      <a:lnTo>
                        <a:pt x="15239" y="152907"/>
                      </a:lnTo>
                      <a:lnTo>
                        <a:pt x="45622" y="180482"/>
                      </a:lnTo>
                      <a:lnTo>
                        <a:pt x="59093" y="185292"/>
                      </a:lnTo>
                      <a:lnTo>
                        <a:pt x="61429" y="177800"/>
                      </a:lnTo>
                      <a:lnTo>
                        <a:pt x="50876" y="173102"/>
                      </a:lnTo>
                      <a:lnTo>
                        <a:pt x="41768" y="166608"/>
                      </a:lnTo>
                      <a:lnTo>
                        <a:pt x="19648" y="122936"/>
                      </a:lnTo>
                      <a:lnTo>
                        <a:pt x="16903" y="91693"/>
                      </a:lnTo>
                      <a:lnTo>
                        <a:pt x="17589" y="75908"/>
                      </a:lnTo>
                      <a:lnTo>
                        <a:pt x="27889" y="36956"/>
                      </a:lnTo>
                      <a:lnTo>
                        <a:pt x="61734" y="7492"/>
                      </a:lnTo>
                      <a:lnTo>
                        <a:pt x="590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2" name="object 7">
                  <a:extLst>
                    <a:ext uri="{FF2B5EF4-FFF2-40B4-BE49-F238E27FC236}">
                      <a16:creationId xmlns:a16="http://schemas.microsoft.com/office/drawing/2014/main" id="{339A6DED-16D1-6A73-2C30-DAB95AE5FE8A}"/>
                    </a:ext>
                  </a:extLst>
                </p:cNvPr>
                <p:cNvSpPr/>
                <p:nvPr/>
              </p:nvSpPr>
              <p:spPr>
                <a:xfrm>
                  <a:off x="383184" y="1408176"/>
                  <a:ext cx="159385" cy="48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84" h="48259">
                      <a:moveTo>
                        <a:pt x="134848" y="0"/>
                      </a:moveTo>
                      <a:lnTo>
                        <a:pt x="129679" y="5841"/>
                      </a:lnTo>
                      <a:lnTo>
                        <a:pt x="145300" y="19431"/>
                      </a:lnTo>
                      <a:lnTo>
                        <a:pt x="0" y="19431"/>
                      </a:lnTo>
                      <a:lnTo>
                        <a:pt x="0" y="28575"/>
                      </a:lnTo>
                      <a:lnTo>
                        <a:pt x="145300" y="28575"/>
                      </a:lnTo>
                      <a:lnTo>
                        <a:pt x="129679" y="42163"/>
                      </a:lnTo>
                      <a:lnTo>
                        <a:pt x="134848" y="48006"/>
                      </a:lnTo>
                      <a:lnTo>
                        <a:pt x="159359" y="26797"/>
                      </a:lnTo>
                      <a:lnTo>
                        <a:pt x="159359" y="21209"/>
                      </a:lnTo>
                      <a:lnTo>
                        <a:pt x="134848" y="0"/>
                      </a:lnTo>
                      <a:close/>
                    </a:path>
                  </a:pathLst>
                </a:custGeom>
                <a:solidFill>
                  <a:srgbClr val="0096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3" name="object 23">
                  <a:extLst>
                    <a:ext uri="{FF2B5EF4-FFF2-40B4-BE49-F238E27FC236}">
                      <a16:creationId xmlns:a16="http://schemas.microsoft.com/office/drawing/2014/main" id="{8BAC8444-AE8A-A950-0AF6-2502F7EECDBC}"/>
                    </a:ext>
                  </a:extLst>
                </p:cNvPr>
                <p:cNvSpPr txBox="1"/>
                <p:nvPr/>
              </p:nvSpPr>
              <p:spPr>
                <a:xfrm>
                  <a:off x="246379" y="1335445"/>
                  <a:ext cx="4890770" cy="2949654"/>
                </a:xfrm>
                <a:prstGeom prst="rect">
                  <a:avLst/>
                </a:prstGeom>
              </p:spPr>
              <p:txBody>
                <a:bodyPr vert="horz" wrap="square" lIns="0" tIns="5270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415"/>
                    </a:spcBef>
                  </a:pPr>
                  <a:r>
                    <a:rPr sz="1550" spc="10" dirty="0">
                      <a:latin typeface="Cambria Math"/>
                      <a:cs typeface="Cambria Math"/>
                    </a:rPr>
                    <a:t>𝐽</a:t>
                  </a:r>
                  <a:r>
                    <a:rPr sz="1550" spc="20" dirty="0">
                      <a:latin typeface="Cambria Math"/>
                      <a:cs typeface="Cambria Math"/>
                    </a:rPr>
                    <a:t> </a:t>
                  </a:r>
                  <a:r>
                    <a:rPr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85" dirty="0">
                      <a:latin typeface="Cambria Math"/>
                      <a:cs typeface="Cambria Math"/>
                    </a:rPr>
                    <a:t> </a:t>
                  </a:r>
                  <a:r>
                    <a:rPr sz="1550" spc="1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</a:t>
                  </a:r>
                  <a:endParaRPr sz="1550" dirty="0">
                    <a:latin typeface="Cambria Math"/>
                    <a:cs typeface="Cambria Math"/>
                  </a:endParaRPr>
                </a:p>
                <a:p>
                  <a:pPr marR="90170" algn="ctr">
                    <a:lnSpc>
                      <a:spcPct val="100000"/>
                    </a:lnSpc>
                    <a:spcBef>
                      <a:spcPts val="330"/>
                    </a:spcBef>
                    <a:tabLst>
                      <a:tab pos="666750" algn="l"/>
                    </a:tabLst>
                  </a:pPr>
                  <a:r>
                    <a:rPr sz="1550" spc="10" dirty="0">
                      <a:latin typeface="Cambria Math"/>
                      <a:cs typeface="Cambria Math"/>
                    </a:rPr>
                    <a:t>𝐽 </a:t>
                  </a:r>
                  <a:r>
                    <a:rPr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70" dirty="0">
                      <a:latin typeface="Cambria Math"/>
                      <a:cs typeface="Cambria Math"/>
                    </a:rPr>
                    <a:t> </a:t>
                  </a:r>
                  <a:r>
                    <a:rPr sz="1550" spc="1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	</a:t>
                  </a:r>
                  <a:r>
                    <a:rPr sz="1550" spc="10" dirty="0">
                      <a:latin typeface="Verdana"/>
                      <a:cs typeface="Verdana"/>
                    </a:rPr>
                    <a:t>after</a:t>
                  </a:r>
                  <a:r>
                    <a:rPr sz="1550" spc="40" dirty="0">
                      <a:latin typeface="Verdana"/>
                      <a:cs typeface="Verdana"/>
                    </a:rPr>
                    <a:t> </a:t>
                  </a:r>
                  <a:r>
                    <a:rPr sz="1550" spc="-5" dirty="0">
                      <a:solidFill>
                        <a:srgbClr val="FF40FF"/>
                      </a:solidFill>
                      <a:latin typeface="Verdana"/>
                      <a:cs typeface="Verdana"/>
                    </a:rPr>
                    <a:t>100</a:t>
                  </a:r>
                  <a:r>
                    <a:rPr sz="1550" spc="80" dirty="0">
                      <a:solidFill>
                        <a:srgbClr val="FF40FF"/>
                      </a:solidFill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endParaRPr sz="1550" dirty="0">
                    <a:latin typeface="Verdana"/>
                    <a:cs typeface="Verdana"/>
                  </a:endParaRPr>
                </a:p>
                <a:p>
                  <a:pPr marL="1691639">
                    <a:lnSpc>
                      <a:spcPct val="100000"/>
                    </a:lnSpc>
                    <a:spcBef>
                      <a:spcPts val="1260"/>
                    </a:spcBef>
                    <a:tabLst>
                      <a:tab pos="2358390" algn="l"/>
                    </a:tabLst>
                  </a:pPr>
                  <a:r>
                    <a:rPr sz="1550" spc="10" dirty="0">
                      <a:latin typeface="Cambria Math"/>
                      <a:cs typeface="Cambria Math"/>
                    </a:rPr>
                    <a:t>𝐽 </a:t>
                  </a:r>
                  <a:r>
                    <a:rPr lang="en-US"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70" dirty="0">
                      <a:latin typeface="Cambria Math"/>
                      <a:cs typeface="Cambria Math"/>
                    </a:rPr>
                    <a:t> </a:t>
                  </a:r>
                  <a:r>
                    <a:rPr sz="1550" spc="15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	</a:t>
                  </a:r>
                  <a:r>
                    <a:rPr sz="1550" spc="10" dirty="0">
                      <a:latin typeface="Verdana"/>
                      <a:cs typeface="Verdana"/>
                    </a:rPr>
                    <a:t>after</a:t>
                  </a:r>
                  <a:r>
                    <a:rPr sz="1550" spc="35" dirty="0">
                      <a:latin typeface="Verdana"/>
                      <a:cs typeface="Verdana"/>
                    </a:rPr>
                    <a:t> </a:t>
                  </a:r>
                  <a:r>
                    <a:rPr sz="1550" spc="-5" dirty="0">
                      <a:solidFill>
                        <a:srgbClr val="7030A0"/>
                      </a:solidFill>
                      <a:latin typeface="Verdana"/>
                      <a:cs typeface="Verdana"/>
                    </a:rPr>
                    <a:t>200</a:t>
                  </a:r>
                  <a:r>
                    <a:rPr sz="1550" spc="70" dirty="0">
                      <a:solidFill>
                        <a:srgbClr val="7030A0"/>
                      </a:solidFill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endParaRPr sz="1550" dirty="0">
                    <a:latin typeface="Verdana"/>
                    <a:cs typeface="Verdana"/>
                  </a:endParaRPr>
                </a:p>
                <a:p>
                  <a:pPr marL="2562860" marR="5080">
                    <a:lnSpc>
                      <a:spcPct val="104900"/>
                    </a:lnSpc>
                    <a:spcBef>
                      <a:spcPts val="740"/>
                    </a:spcBef>
                    <a:tabLst>
                      <a:tab pos="3230245" algn="l"/>
                    </a:tabLst>
                  </a:pPr>
                  <a:r>
                    <a:rPr sz="1550" spc="10" dirty="0">
                      <a:latin typeface="Cambria Math"/>
                      <a:cs typeface="Cambria Math"/>
                    </a:rPr>
                    <a:t>𝐽 </a:t>
                  </a:r>
                  <a:r>
                    <a:rPr sz="155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w</a:t>
                  </a:r>
                  <a:r>
                    <a:rPr sz="1550" dirty="0">
                      <a:latin typeface="Cambria Math"/>
                      <a:cs typeface="Cambria Math"/>
                    </a:rPr>
                    <a:t>,</a:t>
                  </a:r>
                  <a:r>
                    <a:rPr sz="1550" spc="-60" dirty="0">
                      <a:latin typeface="Cambria Math"/>
                      <a:cs typeface="Cambria Math"/>
                    </a:rPr>
                    <a:t> </a:t>
                  </a:r>
                  <a:r>
                    <a:rPr sz="1550" spc="10" dirty="0">
                      <a:solidFill>
                        <a:srgbClr val="0096FF"/>
                      </a:solidFill>
                      <a:latin typeface="Cambria Math"/>
                      <a:cs typeface="Cambria Math"/>
                    </a:rPr>
                    <a:t>𝑏	</a:t>
                  </a:r>
                  <a:r>
                    <a:rPr sz="1550" spc="15" dirty="0">
                      <a:latin typeface="Verdana"/>
                      <a:cs typeface="Verdana"/>
                    </a:rPr>
                    <a:t>likely</a:t>
                  </a:r>
                  <a:r>
                    <a:rPr sz="1550" spc="-40" dirty="0"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converged </a:t>
                  </a:r>
                  <a:r>
                    <a:rPr sz="1550" spc="-530" dirty="0">
                      <a:latin typeface="Verdana"/>
                      <a:cs typeface="Verdana"/>
                    </a:rPr>
                    <a:t> </a:t>
                  </a:r>
                  <a:r>
                    <a:rPr sz="1550" spc="10" dirty="0">
                      <a:latin typeface="Verdana"/>
                      <a:cs typeface="Verdana"/>
                    </a:rPr>
                    <a:t>by </a:t>
                  </a:r>
                  <a:r>
                    <a:rPr sz="1550" spc="-5" dirty="0">
                      <a:solidFill>
                        <a:srgbClr val="C00000"/>
                      </a:solidFill>
                      <a:latin typeface="Verdana"/>
                      <a:cs typeface="Verdana"/>
                    </a:rPr>
                    <a:t>400</a:t>
                  </a:r>
                  <a:r>
                    <a:rPr sz="1550" spc="90" dirty="0">
                      <a:solidFill>
                        <a:srgbClr val="C00000"/>
                      </a:solidFill>
                      <a:latin typeface="Verdana"/>
                      <a:cs typeface="Verdana"/>
                    </a:rPr>
                    <a:t> </a:t>
                  </a:r>
                  <a:r>
                    <a:rPr sz="1550" spc="15" dirty="0">
                      <a:latin typeface="Verdana"/>
                      <a:cs typeface="Verdana"/>
                    </a:rPr>
                    <a:t>iterations</a:t>
                  </a:r>
                  <a:endParaRPr sz="1550" dirty="0">
                    <a:latin typeface="Verdana"/>
                    <a:cs typeface="Verdana"/>
                  </a:endParaRPr>
                </a:p>
                <a:p>
                  <a:pPr>
                    <a:lnSpc>
                      <a:spcPct val="100000"/>
                    </a:lnSpc>
                  </a:pPr>
                  <a:endParaRPr sz="1900" dirty="0">
                    <a:latin typeface="Verdana"/>
                    <a:cs typeface="Verdana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45"/>
                    </a:spcBef>
                  </a:pPr>
                  <a:endParaRPr sz="1900" dirty="0">
                    <a:latin typeface="Verdana"/>
                    <a:cs typeface="Verdana"/>
                  </a:endParaRPr>
                </a:p>
                <a:p>
                  <a:pPr marR="39370" algn="ctr">
                    <a:lnSpc>
                      <a:spcPct val="100000"/>
                    </a:lnSpc>
                    <a:tabLst>
                      <a:tab pos="711200" algn="l"/>
                      <a:tab pos="1564005" algn="l"/>
                      <a:tab pos="2416175" algn="l"/>
                      <a:tab pos="3268979" algn="l"/>
                    </a:tabLst>
                  </a:pPr>
                  <a:r>
                    <a:rPr sz="2000" spc="15" dirty="0">
                      <a:latin typeface="Cambria Math"/>
                      <a:cs typeface="Cambria Math"/>
                    </a:rPr>
                    <a:t>0	100	200	300	400</a:t>
                  </a:r>
                  <a:endParaRPr sz="2000" dirty="0">
                    <a:latin typeface="Cambria Math"/>
                    <a:cs typeface="Cambria Math"/>
                  </a:endParaRPr>
                </a:p>
                <a:p>
                  <a:pPr marL="1675130">
                    <a:lnSpc>
                      <a:spcPct val="100000"/>
                    </a:lnSpc>
                    <a:spcBef>
                      <a:spcPts val="560"/>
                    </a:spcBef>
                    <a:tabLst>
                      <a:tab pos="3695700" algn="l"/>
                    </a:tabLst>
                  </a:pPr>
                  <a:r>
                    <a:rPr sz="2700" baseline="1543" dirty="0">
                      <a:latin typeface="Verdana"/>
                      <a:cs typeface="Verdana"/>
                    </a:rPr>
                    <a:t>#</a:t>
                  </a:r>
                  <a:r>
                    <a:rPr sz="2700" spc="-15" baseline="1543" dirty="0">
                      <a:latin typeface="Verdana"/>
                      <a:cs typeface="Verdana"/>
                    </a:rPr>
                    <a:t> </a:t>
                  </a:r>
                  <a:r>
                    <a:rPr sz="2700" spc="-75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i</a:t>
                  </a:r>
                  <a:r>
                    <a:rPr sz="2700" spc="-6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t</a:t>
                  </a:r>
                  <a:r>
                    <a:rPr sz="2700" spc="-37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e</a:t>
                  </a:r>
                  <a:r>
                    <a:rPr sz="2700" spc="-3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r</a:t>
                  </a:r>
                  <a:r>
                    <a:rPr sz="2700" spc="-52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a</a:t>
                  </a:r>
                  <a:r>
                    <a:rPr sz="2700" spc="-6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t</a:t>
                  </a:r>
                  <a:r>
                    <a:rPr sz="2700" spc="-75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i</a:t>
                  </a:r>
                  <a:r>
                    <a:rPr sz="2700" spc="37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o</a:t>
                  </a:r>
                  <a:r>
                    <a:rPr sz="2700" spc="-22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n</a:t>
                  </a:r>
                  <a:r>
                    <a:rPr sz="2700" baseline="1543" dirty="0">
                      <a:solidFill>
                        <a:srgbClr val="FF9300"/>
                      </a:solidFill>
                      <a:latin typeface="Verdana"/>
                      <a:cs typeface="Verdana"/>
                    </a:rPr>
                    <a:t>s	</a:t>
                  </a:r>
                  <a:endParaRPr sz="2000" dirty="0">
                    <a:latin typeface="Cambria Math"/>
                    <a:cs typeface="Cambria Math"/>
                  </a:endParaRPr>
                </a:p>
              </p:txBody>
            </p:sp>
          </p:grp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D8697C-9543-A36E-C16F-55657FA6FD31}"/>
                  </a:ext>
                </a:extLst>
              </p:cNvPr>
              <p:cNvSpPr/>
              <p:nvPr/>
            </p:nvSpPr>
            <p:spPr>
              <a:xfrm>
                <a:off x="4818216" y="1363172"/>
                <a:ext cx="2590800" cy="3827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S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8A049EF-EBE6-A98C-DA73-F6078FE2454B}"/>
                </a:ext>
              </a:extLst>
            </p:cNvPr>
            <p:cNvSpPr txBox="1"/>
            <p:nvPr/>
          </p:nvSpPr>
          <p:spPr>
            <a:xfrm>
              <a:off x="5273978" y="726580"/>
              <a:ext cx="17442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S" sz="2000" dirty="0">
                  <a:solidFill>
                    <a:srgbClr val="C00000"/>
                  </a:solidFill>
                </a:rPr>
                <a:t>Learning Curve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4626520-1AB7-3275-BE79-24B13C05AFCD}"/>
                </a:ext>
              </a:extLst>
            </p:cNvPr>
            <p:cNvSpPr/>
            <p:nvPr/>
          </p:nvSpPr>
          <p:spPr>
            <a:xfrm>
              <a:off x="4876800" y="2419350"/>
              <a:ext cx="3048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305867E-0EC4-FDDA-8CDB-6CD6A0BD34A7}"/>
                </a:ext>
              </a:extLst>
            </p:cNvPr>
            <p:cNvSpPr/>
            <p:nvPr/>
          </p:nvSpPr>
          <p:spPr>
            <a:xfrm>
              <a:off x="6633716" y="2647574"/>
              <a:ext cx="3048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C7FD24E-11E5-F82A-243A-797B2A0FC423}"/>
                </a:ext>
              </a:extLst>
            </p:cNvPr>
            <p:cNvSpPr/>
            <p:nvPr/>
          </p:nvSpPr>
          <p:spPr>
            <a:xfrm>
              <a:off x="7409017" y="2571751"/>
              <a:ext cx="406740" cy="304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S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F7C4B28-8D39-7C63-015C-3C49890FA677}"/>
              </a:ext>
            </a:extLst>
          </p:cNvPr>
          <p:cNvSpPr txBox="1"/>
          <p:nvPr/>
        </p:nvSpPr>
        <p:spPr>
          <a:xfrm>
            <a:off x="430874" y="3932858"/>
            <a:ext cx="81086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S" dirty="0">
                <a:solidFill>
                  <a:srgbClr val="C00000"/>
                </a:solidFill>
              </a:rPr>
              <a:t>Number of iterations varies for different applications, it may take 30, some other </a:t>
            </a:r>
          </a:p>
          <a:p>
            <a:r>
              <a:rPr lang="en-PS" dirty="0">
                <a:solidFill>
                  <a:srgbClr val="C00000"/>
                </a:solidFill>
              </a:rPr>
              <a:t>      applications might take 1000, or 10,000 iterations.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S" dirty="0">
                <a:solidFill>
                  <a:srgbClr val="C00000"/>
                </a:solidFill>
              </a:rPr>
              <a:t>it might be difficult to tell in advance how many iterations gradient descent might</a:t>
            </a:r>
          </a:p>
          <a:p>
            <a:r>
              <a:rPr lang="en-PS" dirty="0">
                <a:solidFill>
                  <a:srgbClr val="C00000"/>
                </a:solidFill>
              </a:rPr>
              <a:t>     need to converge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8FAEEA-AB79-4601-1488-4C1516BC8E55}"/>
              </a:ext>
            </a:extLst>
          </p:cNvPr>
          <p:cNvSpPr txBox="1"/>
          <p:nvPr/>
        </p:nvSpPr>
        <p:spPr>
          <a:xfrm>
            <a:off x="5220409" y="645881"/>
            <a:ext cx="351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5" dirty="0">
                <a:solidFill>
                  <a:srgbClr val="C00000"/>
                </a:solidFill>
                <a:latin typeface="Verdana"/>
                <a:cs typeface="Verdana"/>
              </a:rPr>
              <a:t>Automatic</a:t>
            </a:r>
            <a:r>
              <a:rPr lang="en-US" sz="1800" spc="1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00" spc="15" dirty="0">
                <a:solidFill>
                  <a:srgbClr val="C00000"/>
                </a:solidFill>
                <a:latin typeface="Verdana"/>
                <a:cs typeface="Verdana"/>
              </a:rPr>
              <a:t>convergence</a:t>
            </a:r>
            <a:r>
              <a:rPr lang="en-US" sz="1800" spc="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00" spc="15" dirty="0">
                <a:solidFill>
                  <a:srgbClr val="C00000"/>
                </a:solidFill>
                <a:latin typeface="Verdana"/>
                <a:cs typeface="Verdana"/>
              </a:rPr>
              <a:t>test </a:t>
            </a:r>
            <a:endParaRPr lang="en-P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1560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310223-C8FC-F0D2-0950-1FA3AE69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dirty="0"/>
              <a:t>to conclude ...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3D6666-AA12-15D9-403A-B7938AEE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You've now seen what the learning curve should look like when gradient descent is running well. </a:t>
            </a:r>
          </a:p>
          <a:p>
            <a:r>
              <a:rPr lang="en-US" dirty="0"/>
              <a:t>Let's take these insights and in the next part, take a look at how to choose an appropriate learning rate.</a:t>
            </a:r>
            <a:endParaRPr lang="en-P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B1BCD-501C-18C3-FFD0-1CB09592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45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713874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800" y="2952750"/>
            <a:ext cx="7519669" cy="5934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4775">
              <a:lnSpc>
                <a:spcPct val="117300"/>
              </a:lnSpc>
              <a:spcBef>
                <a:spcPts val="90"/>
              </a:spcBef>
            </a:pPr>
            <a:r>
              <a:rPr sz="3600" spc="20" dirty="0">
                <a:solidFill>
                  <a:srgbClr val="0432FF"/>
                </a:solidFill>
                <a:latin typeface="Verdana"/>
                <a:cs typeface="Verdana"/>
              </a:rPr>
              <a:t>Choosing </a:t>
            </a:r>
            <a:r>
              <a:rPr sz="3600" spc="25" dirty="0">
                <a:solidFill>
                  <a:srgbClr val="0432FF"/>
                </a:solidFill>
                <a:latin typeface="Verdana"/>
                <a:cs typeface="Verdana"/>
              </a:rPr>
              <a:t>the </a:t>
            </a:r>
            <a:r>
              <a:rPr sz="3600" spc="-1375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rgbClr val="0432FF"/>
                </a:solidFill>
                <a:latin typeface="Verdana"/>
                <a:cs typeface="Verdana"/>
              </a:rPr>
              <a:t>Learning</a:t>
            </a:r>
            <a:r>
              <a:rPr sz="3600" spc="-120" dirty="0">
                <a:solidFill>
                  <a:srgbClr val="0432FF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0432FF"/>
                </a:solidFill>
                <a:latin typeface="Verdana"/>
                <a:cs typeface="Verdana"/>
              </a:rPr>
              <a:t>Rate</a:t>
            </a:r>
            <a:endParaRPr sz="3600" dirty="0">
              <a:solidFill>
                <a:srgbClr val="0432FF"/>
              </a:solidFill>
              <a:latin typeface="Verdana"/>
              <a:cs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3DF8-66CA-4091-8027-D6DD4C9BBF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46</a:t>
            </a:fld>
            <a:endParaRPr lang="en-P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8447" y="347650"/>
            <a:ext cx="50126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/>
              <a:t>Identify</a:t>
            </a:r>
            <a:r>
              <a:rPr sz="2000" spc="-105" dirty="0"/>
              <a:t> </a:t>
            </a:r>
            <a:r>
              <a:rPr sz="2000" spc="15" dirty="0"/>
              <a:t>problem</a:t>
            </a:r>
            <a:r>
              <a:rPr sz="2000" spc="-130" dirty="0"/>
              <a:t> </a:t>
            </a:r>
            <a:r>
              <a:rPr sz="2000" spc="5" dirty="0"/>
              <a:t>with</a:t>
            </a:r>
            <a:r>
              <a:rPr sz="2000" spc="-40" dirty="0"/>
              <a:t> </a:t>
            </a:r>
            <a:r>
              <a:rPr sz="2000" spc="10" dirty="0"/>
              <a:t>gradient</a:t>
            </a:r>
            <a:r>
              <a:rPr sz="2000" spc="-150" dirty="0"/>
              <a:t> </a:t>
            </a:r>
            <a:r>
              <a:rPr sz="2000" spc="10" dirty="0"/>
              <a:t>descent</a:t>
            </a:r>
            <a:endParaRPr sz="2000" dirty="0"/>
          </a:p>
        </p:txBody>
      </p:sp>
      <p:sp>
        <p:nvSpPr>
          <p:cNvPr id="36" name="object 36"/>
          <p:cNvSpPr txBox="1"/>
          <p:nvPr/>
        </p:nvSpPr>
        <p:spPr>
          <a:xfrm>
            <a:off x="924399" y="3335972"/>
            <a:ext cx="1797685" cy="8909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1550" spc="-3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650" spc="-44" baseline="-15151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1650" spc="112" baseline="-1515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550" spc="20" dirty="0">
                <a:latin typeface="Cambria Math"/>
                <a:cs typeface="Cambria Math"/>
              </a:rPr>
              <a:t>=</a:t>
            </a:r>
            <a:r>
              <a:rPr sz="1550" spc="114" dirty="0">
                <a:latin typeface="Cambria Math"/>
                <a:cs typeface="Cambria Math"/>
              </a:rPr>
              <a:t> </a:t>
            </a:r>
            <a:r>
              <a:rPr sz="1550" spc="-3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650" spc="-44" baseline="-15151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1650" spc="120" baseline="-1515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550" spc="20" dirty="0">
                <a:solidFill>
                  <a:srgbClr val="FF9300"/>
                </a:solidFill>
                <a:latin typeface="Cambria Math"/>
                <a:cs typeface="Cambria Math"/>
              </a:rPr>
              <a:t>+</a:t>
            </a:r>
            <a:r>
              <a:rPr sz="1550" spc="-3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550" spc="25" dirty="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sz="1550" spc="25" dirty="0">
                <a:solidFill>
                  <a:srgbClr val="FF40FF"/>
                </a:solidFill>
                <a:latin typeface="Cambria Math"/>
                <a:cs typeface="Cambria Math"/>
              </a:rPr>
              <a:t>𝑑</a:t>
            </a:r>
            <a:r>
              <a:rPr sz="1650" spc="37" baseline="-15151" dirty="0">
                <a:solidFill>
                  <a:srgbClr val="FF40FF"/>
                </a:solidFill>
                <a:latin typeface="Cambria Math"/>
                <a:cs typeface="Cambria Math"/>
              </a:rPr>
              <a:t>1</a:t>
            </a:r>
            <a:endParaRPr sz="1650" baseline="-15151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1550" spc="5" dirty="0">
                <a:latin typeface="Verdana"/>
                <a:cs typeface="Verdana"/>
              </a:rPr>
              <a:t>use</a:t>
            </a:r>
            <a:r>
              <a:rPr sz="1550" spc="70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a</a:t>
            </a:r>
            <a:r>
              <a:rPr sz="1550" spc="-1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minus</a:t>
            </a:r>
            <a:r>
              <a:rPr sz="1550" spc="114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sign</a:t>
            </a:r>
            <a:endParaRPr sz="15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sz="1550" spc="-3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650" spc="-44" baseline="-15151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1650" spc="112" baseline="-1515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550" spc="20" dirty="0">
                <a:latin typeface="Cambria Math"/>
                <a:cs typeface="Cambria Math"/>
              </a:rPr>
              <a:t>=</a:t>
            </a:r>
            <a:r>
              <a:rPr sz="1550" spc="114" dirty="0">
                <a:latin typeface="Cambria Math"/>
                <a:cs typeface="Cambria Math"/>
              </a:rPr>
              <a:t> </a:t>
            </a:r>
            <a:r>
              <a:rPr sz="1550" spc="-3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650" spc="-44" baseline="-15151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1650" spc="120" baseline="-1515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550" spc="20" dirty="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sz="1550" spc="-3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550" spc="25" dirty="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sz="1550" spc="25" dirty="0">
                <a:solidFill>
                  <a:srgbClr val="FF40FF"/>
                </a:solidFill>
                <a:latin typeface="Cambria Math"/>
                <a:cs typeface="Cambria Math"/>
              </a:rPr>
              <a:t>𝑑</a:t>
            </a:r>
            <a:r>
              <a:rPr sz="1650" spc="37" baseline="-15151" dirty="0">
                <a:solidFill>
                  <a:srgbClr val="FF40FF"/>
                </a:solidFill>
                <a:latin typeface="Cambria Math"/>
                <a:cs typeface="Cambria Math"/>
              </a:rPr>
              <a:t>1</a:t>
            </a:r>
            <a:endParaRPr sz="1650" baseline="-15151">
              <a:latin typeface="Cambria Math"/>
              <a:cs typeface="Cambria Math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5940" y="3319307"/>
            <a:ext cx="258191" cy="341375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2484755" y="4041457"/>
            <a:ext cx="258445" cy="370840"/>
            <a:chOff x="8154161" y="1477010"/>
            <a:chExt cx="258445" cy="370840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6988" y="1494155"/>
              <a:ext cx="32638" cy="15252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4161" y="1477010"/>
              <a:ext cx="258191" cy="37058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523258-345B-94BB-5EF5-BD407C09053D}"/>
              </a:ext>
            </a:extLst>
          </p:cNvPr>
          <p:cNvGrpSpPr/>
          <p:nvPr/>
        </p:nvGrpSpPr>
        <p:grpSpPr>
          <a:xfrm>
            <a:off x="3191002" y="1380463"/>
            <a:ext cx="2761996" cy="1468819"/>
            <a:chOff x="3116197" y="1560131"/>
            <a:chExt cx="2761996" cy="1468819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4157" y="1724532"/>
              <a:ext cx="1533016" cy="819150"/>
            </a:xfrm>
            <a:prstGeom prst="rect">
              <a:avLst/>
            </a:prstGeom>
          </p:spPr>
        </p:pic>
        <p:sp>
          <p:nvSpPr>
            <p:cNvPr id="29" name="object 29"/>
            <p:cNvSpPr txBox="1"/>
            <p:nvPr/>
          </p:nvSpPr>
          <p:spPr>
            <a:xfrm>
              <a:off x="4424680" y="2762885"/>
              <a:ext cx="121412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0" dirty="0">
                  <a:solidFill>
                    <a:srgbClr val="FF9300"/>
                  </a:solidFill>
                  <a:latin typeface="Verdana"/>
                  <a:cs typeface="Verdana"/>
                </a:rPr>
                <a:t>#</a:t>
              </a:r>
              <a:r>
                <a:rPr sz="1550" spc="-45" dirty="0">
                  <a:solidFill>
                    <a:srgbClr val="FF9300"/>
                  </a:solidFill>
                  <a:latin typeface="Verdana"/>
                  <a:cs typeface="Verdana"/>
                </a:rPr>
                <a:t> </a:t>
              </a:r>
              <a:r>
                <a:rPr sz="1550" spc="15" dirty="0">
                  <a:solidFill>
                    <a:srgbClr val="FF9300"/>
                  </a:solidFill>
                  <a:latin typeface="Verdana"/>
                  <a:cs typeface="Verdana"/>
                </a:rPr>
                <a:t>iterations</a:t>
              </a:r>
              <a:endParaRPr sz="1550" dirty="0">
                <a:latin typeface="Verdana"/>
                <a:cs typeface="Verdana"/>
              </a:endParaRPr>
            </a:p>
          </p:txBody>
        </p:sp>
        <p:grpSp>
          <p:nvGrpSpPr>
            <p:cNvPr id="30" name="object 30"/>
            <p:cNvGrpSpPr/>
            <p:nvPr/>
          </p:nvGrpSpPr>
          <p:grpSpPr>
            <a:xfrm>
              <a:off x="3228973" y="1662049"/>
              <a:ext cx="2649220" cy="1132205"/>
              <a:chOff x="3232530" y="542925"/>
              <a:chExt cx="2649220" cy="1132205"/>
            </a:xfrm>
          </p:grpSpPr>
          <p:sp>
            <p:nvSpPr>
              <p:cNvPr id="31" name="object 31"/>
              <p:cNvSpPr/>
              <p:nvPr/>
            </p:nvSpPr>
            <p:spPr>
              <a:xfrm>
                <a:off x="3232531" y="542924"/>
                <a:ext cx="2649220" cy="1132205"/>
              </a:xfrm>
              <a:custGeom>
                <a:avLst/>
                <a:gdLst/>
                <a:ahLst/>
                <a:cxnLst/>
                <a:rect l="l" t="t" r="r" b="b"/>
                <a:pathLst>
                  <a:path w="2649220" h="1132205">
                    <a:moveTo>
                      <a:pt x="61722" y="477774"/>
                    </a:moveTo>
                    <a:lnTo>
                      <a:pt x="59055" y="470281"/>
                    </a:lnTo>
                    <a:lnTo>
                      <a:pt x="45593" y="475094"/>
                    </a:lnTo>
                    <a:lnTo>
                      <a:pt x="33807" y="482092"/>
                    </a:lnTo>
                    <a:lnTo>
                      <a:pt x="8559" y="515797"/>
                    </a:lnTo>
                    <a:lnTo>
                      <a:pt x="0" y="562991"/>
                    </a:lnTo>
                    <a:lnTo>
                      <a:pt x="952" y="579970"/>
                    </a:lnTo>
                    <a:lnTo>
                      <a:pt x="15240" y="623189"/>
                    </a:lnTo>
                    <a:lnTo>
                      <a:pt x="45593" y="650697"/>
                    </a:lnTo>
                    <a:lnTo>
                      <a:pt x="59055" y="655574"/>
                    </a:lnTo>
                    <a:lnTo>
                      <a:pt x="61341" y="647954"/>
                    </a:lnTo>
                    <a:lnTo>
                      <a:pt x="50812" y="643318"/>
                    </a:lnTo>
                    <a:lnTo>
                      <a:pt x="41719" y="636828"/>
                    </a:lnTo>
                    <a:lnTo>
                      <a:pt x="19634" y="593128"/>
                    </a:lnTo>
                    <a:lnTo>
                      <a:pt x="16891" y="561975"/>
                    </a:lnTo>
                    <a:lnTo>
                      <a:pt x="17576" y="546188"/>
                    </a:lnTo>
                    <a:lnTo>
                      <a:pt x="27813" y="507111"/>
                    </a:lnTo>
                    <a:lnTo>
                      <a:pt x="51028" y="482396"/>
                    </a:lnTo>
                    <a:lnTo>
                      <a:pt x="61722" y="477774"/>
                    </a:lnTo>
                    <a:close/>
                  </a:path>
                  <a:path w="2649220" h="1132205">
                    <a:moveTo>
                      <a:pt x="466852" y="562991"/>
                    </a:moveTo>
                    <a:lnTo>
                      <a:pt x="458279" y="515797"/>
                    </a:lnTo>
                    <a:lnTo>
                      <a:pt x="433031" y="482092"/>
                    </a:lnTo>
                    <a:lnTo>
                      <a:pt x="407797" y="470281"/>
                    </a:lnTo>
                    <a:lnTo>
                      <a:pt x="405130" y="477774"/>
                    </a:lnTo>
                    <a:lnTo>
                      <a:pt x="415886" y="482396"/>
                    </a:lnTo>
                    <a:lnTo>
                      <a:pt x="425132" y="488823"/>
                    </a:lnTo>
                    <a:lnTo>
                      <a:pt x="447255" y="531787"/>
                    </a:lnTo>
                    <a:lnTo>
                      <a:pt x="449961" y="561975"/>
                    </a:lnTo>
                    <a:lnTo>
                      <a:pt x="449287" y="578294"/>
                    </a:lnTo>
                    <a:lnTo>
                      <a:pt x="439039" y="618363"/>
                    </a:lnTo>
                    <a:lnTo>
                      <a:pt x="405511" y="647954"/>
                    </a:lnTo>
                    <a:lnTo>
                      <a:pt x="407797" y="655574"/>
                    </a:lnTo>
                    <a:lnTo>
                      <a:pt x="443255" y="634504"/>
                    </a:lnTo>
                    <a:lnTo>
                      <a:pt x="463105" y="595668"/>
                    </a:lnTo>
                    <a:lnTo>
                      <a:pt x="465912" y="579970"/>
                    </a:lnTo>
                    <a:lnTo>
                      <a:pt x="466852" y="562991"/>
                    </a:lnTo>
                    <a:close/>
                  </a:path>
                  <a:path w="2649220" h="1132205">
                    <a:moveTo>
                      <a:pt x="2648839" y="962025"/>
                    </a:moveTo>
                    <a:lnTo>
                      <a:pt x="2625979" y="942975"/>
                    </a:lnTo>
                    <a:lnTo>
                      <a:pt x="2517013" y="852170"/>
                    </a:lnTo>
                    <a:lnTo>
                      <a:pt x="2510332" y="848575"/>
                    </a:lnTo>
                    <a:lnTo>
                      <a:pt x="2485847" y="868514"/>
                    </a:lnTo>
                    <a:lnTo>
                      <a:pt x="2487866" y="875499"/>
                    </a:lnTo>
                    <a:lnTo>
                      <a:pt x="2492629" y="881380"/>
                    </a:lnTo>
                    <a:lnTo>
                      <a:pt x="2566543" y="942975"/>
                    </a:lnTo>
                    <a:lnTo>
                      <a:pt x="558419" y="942975"/>
                    </a:lnTo>
                    <a:lnTo>
                      <a:pt x="558419" y="82296"/>
                    </a:lnTo>
                    <a:lnTo>
                      <a:pt x="620014" y="156210"/>
                    </a:lnTo>
                    <a:lnTo>
                      <a:pt x="625894" y="160972"/>
                    </a:lnTo>
                    <a:lnTo>
                      <a:pt x="632879" y="162991"/>
                    </a:lnTo>
                    <a:lnTo>
                      <a:pt x="640130" y="162229"/>
                    </a:lnTo>
                    <a:lnTo>
                      <a:pt x="646811" y="158623"/>
                    </a:lnTo>
                    <a:lnTo>
                      <a:pt x="651560" y="152742"/>
                    </a:lnTo>
                    <a:lnTo>
                      <a:pt x="653580" y="145757"/>
                    </a:lnTo>
                    <a:lnTo>
                      <a:pt x="652818" y="138506"/>
                    </a:lnTo>
                    <a:lnTo>
                      <a:pt x="649224" y="131826"/>
                    </a:lnTo>
                    <a:lnTo>
                      <a:pt x="564134" y="29718"/>
                    </a:lnTo>
                    <a:lnTo>
                      <a:pt x="539369" y="0"/>
                    </a:lnTo>
                    <a:lnTo>
                      <a:pt x="429514" y="131826"/>
                    </a:lnTo>
                    <a:lnTo>
                      <a:pt x="425907" y="138506"/>
                    </a:lnTo>
                    <a:lnTo>
                      <a:pt x="425145" y="145757"/>
                    </a:lnTo>
                    <a:lnTo>
                      <a:pt x="427164" y="152742"/>
                    </a:lnTo>
                    <a:lnTo>
                      <a:pt x="431927" y="158623"/>
                    </a:lnTo>
                    <a:lnTo>
                      <a:pt x="438594" y="162229"/>
                    </a:lnTo>
                    <a:lnTo>
                      <a:pt x="445846" y="162991"/>
                    </a:lnTo>
                    <a:lnTo>
                      <a:pt x="452831" y="160972"/>
                    </a:lnTo>
                    <a:lnTo>
                      <a:pt x="458724" y="156210"/>
                    </a:lnTo>
                    <a:lnTo>
                      <a:pt x="520306" y="82296"/>
                    </a:lnTo>
                    <a:lnTo>
                      <a:pt x="520319" y="29718"/>
                    </a:lnTo>
                    <a:lnTo>
                      <a:pt x="520319" y="82296"/>
                    </a:lnTo>
                    <a:lnTo>
                      <a:pt x="520319" y="942975"/>
                    </a:lnTo>
                    <a:lnTo>
                      <a:pt x="377444" y="942975"/>
                    </a:lnTo>
                    <a:lnTo>
                      <a:pt x="377444" y="981075"/>
                    </a:lnTo>
                    <a:lnTo>
                      <a:pt x="520319" y="981075"/>
                    </a:lnTo>
                    <a:lnTo>
                      <a:pt x="520319" y="1131697"/>
                    </a:lnTo>
                    <a:lnTo>
                      <a:pt x="558419" y="1131697"/>
                    </a:lnTo>
                    <a:lnTo>
                      <a:pt x="558419" y="981075"/>
                    </a:lnTo>
                    <a:lnTo>
                      <a:pt x="2566543" y="981075"/>
                    </a:lnTo>
                    <a:lnTo>
                      <a:pt x="2492629" y="1042670"/>
                    </a:lnTo>
                    <a:lnTo>
                      <a:pt x="2487866" y="1048562"/>
                    </a:lnTo>
                    <a:lnTo>
                      <a:pt x="2485847" y="1055547"/>
                    </a:lnTo>
                    <a:lnTo>
                      <a:pt x="2486609" y="1062799"/>
                    </a:lnTo>
                    <a:lnTo>
                      <a:pt x="2490216" y="1069467"/>
                    </a:lnTo>
                    <a:lnTo>
                      <a:pt x="2496096" y="1074229"/>
                    </a:lnTo>
                    <a:lnTo>
                      <a:pt x="2503081" y="1076248"/>
                    </a:lnTo>
                    <a:lnTo>
                      <a:pt x="2510332" y="1075486"/>
                    </a:lnTo>
                    <a:lnTo>
                      <a:pt x="2517013" y="1071880"/>
                    </a:lnTo>
                    <a:lnTo>
                      <a:pt x="2625979" y="981075"/>
                    </a:lnTo>
                    <a:lnTo>
                      <a:pt x="2648839" y="9620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3310127" y="1006348"/>
                <a:ext cx="14033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40335" h="48259">
                    <a:moveTo>
                      <a:pt x="115824" y="0"/>
                    </a:moveTo>
                    <a:lnTo>
                      <a:pt x="110617" y="5841"/>
                    </a:lnTo>
                    <a:lnTo>
                      <a:pt x="126237" y="19430"/>
                    </a:lnTo>
                    <a:lnTo>
                      <a:pt x="0" y="19430"/>
                    </a:lnTo>
                    <a:lnTo>
                      <a:pt x="0" y="28701"/>
                    </a:lnTo>
                    <a:lnTo>
                      <a:pt x="126237" y="28701"/>
                    </a:lnTo>
                    <a:lnTo>
                      <a:pt x="110617" y="42290"/>
                    </a:lnTo>
                    <a:lnTo>
                      <a:pt x="115824" y="48132"/>
                    </a:lnTo>
                    <a:lnTo>
                      <a:pt x="140335" y="26924"/>
                    </a:lnTo>
                    <a:lnTo>
                      <a:pt x="140335" y="21209"/>
                    </a:lnTo>
                    <a:lnTo>
                      <a:pt x="115824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3" name="object 33"/>
            <p:cNvSpPr txBox="1"/>
            <p:nvPr/>
          </p:nvSpPr>
          <p:spPr>
            <a:xfrm>
              <a:off x="3116197" y="2071623"/>
              <a:ext cx="534035" cy="2667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550" spc="30" dirty="0">
                  <a:latin typeface="Cambria Math"/>
                  <a:cs typeface="Cambria Math"/>
                </a:rPr>
                <a:t>𝐽 </a:t>
              </a:r>
              <a:r>
                <a:rPr sz="1550" spc="60" dirty="0">
                  <a:latin typeface="Cambria Math"/>
                  <a:cs typeface="Cambria Math"/>
                </a:rPr>
                <a:t> </a:t>
              </a:r>
              <a:r>
                <a:rPr sz="1550" spc="14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550" spc="5" dirty="0">
                  <a:latin typeface="Cambria Math"/>
                  <a:cs typeface="Cambria Math"/>
                </a:rPr>
                <a:t>,</a:t>
              </a:r>
              <a:r>
                <a:rPr sz="1550" spc="-145" dirty="0">
                  <a:latin typeface="Cambria Math"/>
                  <a:cs typeface="Cambria Math"/>
                </a:rPr>
                <a:t> </a:t>
              </a:r>
              <a:r>
                <a:rPr sz="1550" spc="30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550">
                <a:latin typeface="Cambria Math"/>
                <a:cs typeface="Cambria Math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4004944" y="1560131"/>
              <a:ext cx="1211580" cy="24320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4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𝛼</a:t>
              </a:r>
              <a:r>
                <a:rPr sz="1400" spc="15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1400" spc="35" dirty="0">
                  <a:latin typeface="Verdana"/>
                  <a:cs typeface="Verdana"/>
                </a:rPr>
                <a:t>is</a:t>
              </a:r>
              <a:r>
                <a:rPr sz="1400" spc="-60" dirty="0">
                  <a:latin typeface="Verdana"/>
                  <a:cs typeface="Verdana"/>
                </a:rPr>
                <a:t> </a:t>
              </a:r>
              <a:r>
                <a:rPr sz="1400" spc="10" dirty="0">
                  <a:latin typeface="Verdana"/>
                  <a:cs typeface="Verdana"/>
                </a:rPr>
                <a:t>too</a:t>
              </a:r>
              <a:r>
                <a:rPr sz="1400" spc="-100" dirty="0">
                  <a:latin typeface="Verdana"/>
                  <a:cs typeface="Verdana"/>
                </a:rPr>
                <a:t> </a:t>
              </a:r>
              <a:r>
                <a:rPr sz="1400" spc="15" dirty="0">
                  <a:solidFill>
                    <a:srgbClr val="C00000"/>
                  </a:solidFill>
                  <a:latin typeface="Verdana"/>
                  <a:cs typeface="Verdana"/>
                </a:rPr>
                <a:t>large</a:t>
              </a:r>
              <a:endParaRPr sz="1400">
                <a:latin typeface="Verdana"/>
                <a:cs typeface="Verdana"/>
              </a:endParaRPr>
            </a:p>
          </p:txBody>
        </p:sp>
      </p:grpSp>
      <p:pic>
        <p:nvPicPr>
          <p:cNvPr id="46" name="object 4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922" y="3409950"/>
            <a:ext cx="742950" cy="74295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4800600" y="3772106"/>
            <a:ext cx="2994236" cy="2335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sz="1550" spc="15" dirty="0">
                <a:latin typeface="Verdana"/>
                <a:cs typeface="Verdana"/>
              </a:rPr>
              <a:t>learning</a:t>
            </a:r>
            <a:r>
              <a:rPr sz="1550" spc="35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rate</a:t>
            </a:r>
            <a:r>
              <a:rPr sz="1550" spc="75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is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spc="10" dirty="0">
                <a:latin typeface="Verdana"/>
                <a:cs typeface="Verdana"/>
              </a:rPr>
              <a:t>too </a:t>
            </a:r>
            <a:r>
              <a:rPr sz="1550" spc="-530" dirty="0">
                <a:latin typeface="Verdana"/>
                <a:cs typeface="Verdana"/>
              </a:rPr>
              <a:t> </a:t>
            </a:r>
            <a:r>
              <a:rPr sz="1550" spc="20" dirty="0">
                <a:latin typeface="Verdana"/>
                <a:cs typeface="Verdana"/>
              </a:rPr>
              <a:t>large</a:t>
            </a:r>
            <a:endParaRPr sz="1550" dirty="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23216" y="3739631"/>
            <a:ext cx="2381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latin typeface="Verdana"/>
                <a:cs typeface="Verdana"/>
              </a:rPr>
              <a:t>or</a:t>
            </a:r>
            <a:endParaRPr sz="1550" dirty="0">
              <a:latin typeface="Verdana"/>
              <a:cs typeface="Verdana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A4A175-3F02-E53C-4F4B-F2471D23821C}"/>
              </a:ext>
            </a:extLst>
          </p:cNvPr>
          <p:cNvGrpSpPr/>
          <p:nvPr/>
        </p:nvGrpSpPr>
        <p:grpSpPr>
          <a:xfrm>
            <a:off x="84263" y="1386020"/>
            <a:ext cx="2756091" cy="1467535"/>
            <a:chOff x="-3557" y="1713815"/>
            <a:chExt cx="2756091" cy="1467535"/>
          </a:xfrm>
        </p:grpSpPr>
        <p:grpSp>
          <p:nvGrpSpPr>
            <p:cNvPr id="41" name="object 41"/>
            <p:cNvGrpSpPr/>
            <p:nvPr/>
          </p:nvGrpSpPr>
          <p:grpSpPr>
            <a:xfrm>
              <a:off x="90614" y="1713815"/>
              <a:ext cx="2661920" cy="1130935"/>
              <a:chOff x="172212" y="504824"/>
              <a:chExt cx="2661920" cy="1130935"/>
            </a:xfrm>
          </p:grpSpPr>
          <p:sp>
            <p:nvSpPr>
              <p:cNvPr id="43" name="object 43"/>
              <p:cNvSpPr/>
              <p:nvPr/>
            </p:nvSpPr>
            <p:spPr>
              <a:xfrm>
                <a:off x="172212" y="504824"/>
                <a:ext cx="2661920" cy="1130935"/>
              </a:xfrm>
              <a:custGeom>
                <a:avLst/>
                <a:gdLst/>
                <a:ahLst/>
                <a:cxnLst/>
                <a:rect l="l" t="t" r="r" b="b"/>
                <a:pathLst>
                  <a:path w="2661920" h="1130935">
                    <a:moveTo>
                      <a:pt x="61734" y="538226"/>
                    </a:moveTo>
                    <a:lnTo>
                      <a:pt x="59093" y="530733"/>
                    </a:lnTo>
                    <a:lnTo>
                      <a:pt x="45656" y="535622"/>
                    </a:lnTo>
                    <a:lnTo>
                      <a:pt x="33870" y="542658"/>
                    </a:lnTo>
                    <a:lnTo>
                      <a:pt x="8597" y="576376"/>
                    </a:lnTo>
                    <a:lnTo>
                      <a:pt x="0" y="623443"/>
                    </a:lnTo>
                    <a:lnTo>
                      <a:pt x="952" y="640499"/>
                    </a:lnTo>
                    <a:lnTo>
                      <a:pt x="15240" y="683641"/>
                    </a:lnTo>
                    <a:lnTo>
                      <a:pt x="45618" y="711225"/>
                    </a:lnTo>
                    <a:lnTo>
                      <a:pt x="59093" y="716026"/>
                    </a:lnTo>
                    <a:lnTo>
                      <a:pt x="61442" y="708533"/>
                    </a:lnTo>
                    <a:lnTo>
                      <a:pt x="50876" y="703846"/>
                    </a:lnTo>
                    <a:lnTo>
                      <a:pt x="41770" y="697344"/>
                    </a:lnTo>
                    <a:lnTo>
                      <a:pt x="19646" y="653669"/>
                    </a:lnTo>
                    <a:lnTo>
                      <a:pt x="16903" y="622427"/>
                    </a:lnTo>
                    <a:lnTo>
                      <a:pt x="17589" y="606653"/>
                    </a:lnTo>
                    <a:lnTo>
                      <a:pt x="27889" y="567690"/>
                    </a:lnTo>
                    <a:lnTo>
                      <a:pt x="51041" y="542925"/>
                    </a:lnTo>
                    <a:lnTo>
                      <a:pt x="61734" y="538226"/>
                    </a:lnTo>
                    <a:close/>
                  </a:path>
                  <a:path w="2661920" h="1130935">
                    <a:moveTo>
                      <a:pt x="466966" y="623443"/>
                    </a:moveTo>
                    <a:lnTo>
                      <a:pt x="458355" y="576376"/>
                    </a:lnTo>
                    <a:lnTo>
                      <a:pt x="433082" y="542658"/>
                    </a:lnTo>
                    <a:lnTo>
                      <a:pt x="407873" y="530733"/>
                    </a:lnTo>
                    <a:lnTo>
                      <a:pt x="405231" y="538226"/>
                    </a:lnTo>
                    <a:lnTo>
                      <a:pt x="415950" y="542925"/>
                    </a:lnTo>
                    <a:lnTo>
                      <a:pt x="425183" y="549389"/>
                    </a:lnTo>
                    <a:lnTo>
                      <a:pt x="447319" y="592251"/>
                    </a:lnTo>
                    <a:lnTo>
                      <a:pt x="450062" y="622427"/>
                    </a:lnTo>
                    <a:lnTo>
                      <a:pt x="449364" y="638810"/>
                    </a:lnTo>
                    <a:lnTo>
                      <a:pt x="439077" y="678815"/>
                    </a:lnTo>
                    <a:lnTo>
                      <a:pt x="405523" y="708533"/>
                    </a:lnTo>
                    <a:lnTo>
                      <a:pt x="407873" y="716026"/>
                    </a:lnTo>
                    <a:lnTo>
                      <a:pt x="443268" y="695032"/>
                    </a:lnTo>
                    <a:lnTo>
                      <a:pt x="463156" y="656209"/>
                    </a:lnTo>
                    <a:lnTo>
                      <a:pt x="466013" y="640499"/>
                    </a:lnTo>
                    <a:lnTo>
                      <a:pt x="466966" y="623443"/>
                    </a:lnTo>
                    <a:close/>
                  </a:path>
                  <a:path w="2661920" h="1130935">
                    <a:moveTo>
                      <a:pt x="2661412" y="1009650"/>
                    </a:moveTo>
                    <a:lnTo>
                      <a:pt x="2638552" y="990600"/>
                    </a:lnTo>
                    <a:lnTo>
                      <a:pt x="2529586" y="899795"/>
                    </a:lnTo>
                    <a:lnTo>
                      <a:pt x="2522905" y="896200"/>
                    </a:lnTo>
                    <a:lnTo>
                      <a:pt x="2498356" y="916139"/>
                    </a:lnTo>
                    <a:lnTo>
                      <a:pt x="2500426" y="923124"/>
                    </a:lnTo>
                    <a:lnTo>
                      <a:pt x="2505202" y="929005"/>
                    </a:lnTo>
                    <a:lnTo>
                      <a:pt x="2579116" y="990600"/>
                    </a:lnTo>
                    <a:lnTo>
                      <a:pt x="561213" y="990600"/>
                    </a:lnTo>
                    <a:lnTo>
                      <a:pt x="561213" y="82334"/>
                    </a:lnTo>
                    <a:lnTo>
                      <a:pt x="622782" y="156210"/>
                    </a:lnTo>
                    <a:lnTo>
                      <a:pt x="628675" y="160972"/>
                    </a:lnTo>
                    <a:lnTo>
                      <a:pt x="635685" y="162991"/>
                    </a:lnTo>
                    <a:lnTo>
                      <a:pt x="642950" y="162229"/>
                    </a:lnTo>
                    <a:lnTo>
                      <a:pt x="649592" y="158623"/>
                    </a:lnTo>
                    <a:lnTo>
                      <a:pt x="654342" y="152742"/>
                    </a:lnTo>
                    <a:lnTo>
                      <a:pt x="656386" y="145757"/>
                    </a:lnTo>
                    <a:lnTo>
                      <a:pt x="655637" y="138506"/>
                    </a:lnTo>
                    <a:lnTo>
                      <a:pt x="652043" y="131826"/>
                    </a:lnTo>
                    <a:lnTo>
                      <a:pt x="566928" y="29718"/>
                    </a:lnTo>
                    <a:lnTo>
                      <a:pt x="542163" y="0"/>
                    </a:lnTo>
                    <a:lnTo>
                      <a:pt x="432282" y="131826"/>
                    </a:lnTo>
                    <a:lnTo>
                      <a:pt x="428675" y="138506"/>
                    </a:lnTo>
                    <a:lnTo>
                      <a:pt x="427939" y="145757"/>
                    </a:lnTo>
                    <a:lnTo>
                      <a:pt x="429971" y="152742"/>
                    </a:lnTo>
                    <a:lnTo>
                      <a:pt x="434721" y="158623"/>
                    </a:lnTo>
                    <a:lnTo>
                      <a:pt x="441363" y="162229"/>
                    </a:lnTo>
                    <a:lnTo>
                      <a:pt x="448627" y="162991"/>
                    </a:lnTo>
                    <a:lnTo>
                      <a:pt x="455637" y="160972"/>
                    </a:lnTo>
                    <a:lnTo>
                      <a:pt x="461543" y="156210"/>
                    </a:lnTo>
                    <a:lnTo>
                      <a:pt x="523113" y="82334"/>
                    </a:lnTo>
                    <a:lnTo>
                      <a:pt x="523113" y="990600"/>
                    </a:lnTo>
                    <a:lnTo>
                      <a:pt x="284988" y="990600"/>
                    </a:lnTo>
                    <a:lnTo>
                      <a:pt x="284988" y="1028700"/>
                    </a:lnTo>
                    <a:lnTo>
                      <a:pt x="523113" y="1028700"/>
                    </a:lnTo>
                    <a:lnTo>
                      <a:pt x="523113" y="1130427"/>
                    </a:lnTo>
                    <a:lnTo>
                      <a:pt x="561213" y="1130427"/>
                    </a:lnTo>
                    <a:lnTo>
                      <a:pt x="561213" y="1028700"/>
                    </a:lnTo>
                    <a:lnTo>
                      <a:pt x="2579116" y="1028700"/>
                    </a:lnTo>
                    <a:lnTo>
                      <a:pt x="2505202" y="1090295"/>
                    </a:lnTo>
                    <a:lnTo>
                      <a:pt x="2500426" y="1096187"/>
                    </a:lnTo>
                    <a:lnTo>
                      <a:pt x="2498356" y="1103172"/>
                    </a:lnTo>
                    <a:lnTo>
                      <a:pt x="2499068" y="1110424"/>
                    </a:lnTo>
                    <a:lnTo>
                      <a:pt x="2502662" y="1117092"/>
                    </a:lnTo>
                    <a:lnTo>
                      <a:pt x="2508618" y="1121854"/>
                    </a:lnTo>
                    <a:lnTo>
                      <a:pt x="2515641" y="1123873"/>
                    </a:lnTo>
                    <a:lnTo>
                      <a:pt x="2522905" y="1123111"/>
                    </a:lnTo>
                    <a:lnTo>
                      <a:pt x="2529586" y="1119505"/>
                    </a:lnTo>
                    <a:lnTo>
                      <a:pt x="2638552" y="1028700"/>
                    </a:lnTo>
                    <a:lnTo>
                      <a:pt x="2661412" y="100965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249885" y="1028826"/>
                <a:ext cx="14033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40335" h="48259">
                    <a:moveTo>
                      <a:pt x="115798" y="0"/>
                    </a:moveTo>
                    <a:lnTo>
                      <a:pt x="110629" y="5842"/>
                    </a:lnTo>
                    <a:lnTo>
                      <a:pt x="126250" y="19431"/>
                    </a:lnTo>
                    <a:lnTo>
                      <a:pt x="0" y="19431"/>
                    </a:lnTo>
                    <a:lnTo>
                      <a:pt x="0" y="28575"/>
                    </a:lnTo>
                    <a:lnTo>
                      <a:pt x="126250" y="28575"/>
                    </a:lnTo>
                    <a:lnTo>
                      <a:pt x="110629" y="42163"/>
                    </a:lnTo>
                    <a:lnTo>
                      <a:pt x="115798" y="48006"/>
                    </a:lnTo>
                    <a:lnTo>
                      <a:pt x="140322" y="26797"/>
                    </a:lnTo>
                    <a:lnTo>
                      <a:pt x="140322" y="21209"/>
                    </a:lnTo>
                    <a:lnTo>
                      <a:pt x="115798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9" name="object 49"/>
            <p:cNvSpPr txBox="1"/>
            <p:nvPr/>
          </p:nvSpPr>
          <p:spPr>
            <a:xfrm>
              <a:off x="-3557" y="2166874"/>
              <a:ext cx="53467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5" dirty="0">
                  <a:latin typeface="Cambria Math"/>
                  <a:cs typeface="Cambria Math"/>
                </a:rPr>
                <a:t>𝐽 </a:t>
              </a:r>
              <a:r>
                <a:rPr sz="1550" spc="65" dirty="0">
                  <a:latin typeface="Cambria Math"/>
                  <a:cs typeface="Cambria Math"/>
                </a:rPr>
                <a:t> </a:t>
              </a:r>
              <a:r>
                <a:rPr sz="1550" spc="13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550" spc="5" dirty="0">
                  <a:latin typeface="Cambria Math"/>
                  <a:cs typeface="Cambria Math"/>
                </a:rPr>
                <a:t>,</a:t>
              </a:r>
              <a:r>
                <a:rPr sz="1550" spc="-140" dirty="0">
                  <a:latin typeface="Cambria Math"/>
                  <a:cs typeface="Cambria Math"/>
                </a:rPr>
                <a:t> </a:t>
              </a:r>
              <a:r>
                <a:rPr sz="1550" spc="25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550">
                <a:latin typeface="Cambria Math"/>
                <a:cs typeface="Cambria Math"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285" y="1989658"/>
              <a:ext cx="1882751" cy="568960"/>
            </a:xfrm>
            <a:prstGeom prst="rect">
              <a:avLst/>
            </a:prstGeom>
          </p:spPr>
        </p:pic>
        <p:sp>
          <p:nvSpPr>
            <p:cNvPr id="51" name="object 51"/>
            <p:cNvSpPr txBox="1"/>
            <p:nvPr/>
          </p:nvSpPr>
          <p:spPr>
            <a:xfrm>
              <a:off x="902270" y="2915285"/>
              <a:ext cx="121856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0" dirty="0">
                  <a:solidFill>
                    <a:srgbClr val="FF9300"/>
                  </a:solidFill>
                  <a:latin typeface="Verdana"/>
                  <a:cs typeface="Verdana"/>
                </a:rPr>
                <a:t>#</a:t>
              </a:r>
              <a:r>
                <a:rPr sz="1550" spc="-20" dirty="0">
                  <a:solidFill>
                    <a:srgbClr val="FF9300"/>
                  </a:solidFill>
                  <a:latin typeface="Verdana"/>
                  <a:cs typeface="Verdana"/>
                </a:rPr>
                <a:t> </a:t>
              </a:r>
              <a:r>
                <a:rPr sz="1550" spc="15" dirty="0">
                  <a:solidFill>
                    <a:srgbClr val="FF9300"/>
                  </a:solidFill>
                  <a:latin typeface="Verdana"/>
                  <a:cs typeface="Verdana"/>
                </a:rPr>
                <a:t>iterations</a:t>
              </a:r>
              <a:endParaRPr sz="1550" dirty="0"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38650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421" y="46837"/>
            <a:ext cx="50126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solidFill>
                  <a:srgbClr val="0432FF"/>
                </a:solidFill>
              </a:rPr>
              <a:t>Identify</a:t>
            </a:r>
            <a:r>
              <a:rPr sz="2000" spc="-105" dirty="0">
                <a:solidFill>
                  <a:srgbClr val="0432FF"/>
                </a:solidFill>
              </a:rPr>
              <a:t> </a:t>
            </a:r>
            <a:r>
              <a:rPr sz="2000" spc="15" dirty="0">
                <a:solidFill>
                  <a:srgbClr val="0432FF"/>
                </a:solidFill>
              </a:rPr>
              <a:t>problem</a:t>
            </a:r>
            <a:r>
              <a:rPr sz="2000" spc="-130" dirty="0">
                <a:solidFill>
                  <a:srgbClr val="0432FF"/>
                </a:solidFill>
              </a:rPr>
              <a:t> </a:t>
            </a:r>
            <a:r>
              <a:rPr sz="2000" spc="5" dirty="0">
                <a:solidFill>
                  <a:srgbClr val="0432FF"/>
                </a:solidFill>
              </a:rPr>
              <a:t>with</a:t>
            </a:r>
            <a:r>
              <a:rPr sz="2000" spc="-40" dirty="0">
                <a:solidFill>
                  <a:srgbClr val="0432FF"/>
                </a:solidFill>
              </a:rPr>
              <a:t> </a:t>
            </a:r>
            <a:r>
              <a:rPr sz="2000" spc="10" dirty="0">
                <a:solidFill>
                  <a:srgbClr val="0432FF"/>
                </a:solidFill>
              </a:rPr>
              <a:t>gradient</a:t>
            </a:r>
            <a:r>
              <a:rPr sz="2000" spc="-150" dirty="0">
                <a:solidFill>
                  <a:srgbClr val="0432FF"/>
                </a:solidFill>
              </a:rPr>
              <a:t> </a:t>
            </a:r>
            <a:r>
              <a:rPr sz="2000" spc="10" dirty="0">
                <a:solidFill>
                  <a:srgbClr val="0432FF"/>
                </a:solidFill>
              </a:rPr>
              <a:t>descent</a:t>
            </a:r>
            <a:endParaRPr sz="2000" dirty="0">
              <a:solidFill>
                <a:srgbClr val="0432FF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5BE9E3-9BA8-22B2-B8D2-632926C682F3}"/>
              </a:ext>
            </a:extLst>
          </p:cNvPr>
          <p:cNvGrpSpPr/>
          <p:nvPr/>
        </p:nvGrpSpPr>
        <p:grpSpPr>
          <a:xfrm>
            <a:off x="6418638" y="830442"/>
            <a:ext cx="2396490" cy="753110"/>
            <a:chOff x="6418638" y="830442"/>
            <a:chExt cx="2396490" cy="753110"/>
          </a:xfrm>
        </p:grpSpPr>
        <p:grpSp>
          <p:nvGrpSpPr>
            <p:cNvPr id="8" name="object 8"/>
            <p:cNvGrpSpPr/>
            <p:nvPr/>
          </p:nvGrpSpPr>
          <p:grpSpPr>
            <a:xfrm>
              <a:off x="6550025" y="1122996"/>
              <a:ext cx="467359" cy="192405"/>
              <a:chOff x="6659244" y="2658745"/>
              <a:chExt cx="467359" cy="192405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6659244" y="2665476"/>
                <a:ext cx="467359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467359" h="185419">
                    <a:moveTo>
                      <a:pt x="407797" y="0"/>
                    </a:moveTo>
                    <a:lnTo>
                      <a:pt x="405256" y="7493"/>
                    </a:lnTo>
                    <a:lnTo>
                      <a:pt x="415946" y="12184"/>
                    </a:lnTo>
                    <a:lnTo>
                      <a:pt x="425148" y="18637"/>
                    </a:lnTo>
                    <a:lnTo>
                      <a:pt x="447325" y="61499"/>
                    </a:lnTo>
                    <a:lnTo>
                      <a:pt x="450087" y="91693"/>
                    </a:lnTo>
                    <a:lnTo>
                      <a:pt x="449397" y="108077"/>
                    </a:lnTo>
                    <a:lnTo>
                      <a:pt x="439038" y="148081"/>
                    </a:lnTo>
                    <a:lnTo>
                      <a:pt x="405510" y="177800"/>
                    </a:lnTo>
                    <a:lnTo>
                      <a:pt x="407797" y="185293"/>
                    </a:lnTo>
                    <a:lnTo>
                      <a:pt x="443283" y="164290"/>
                    </a:lnTo>
                    <a:lnTo>
                      <a:pt x="463168" y="125476"/>
                    </a:lnTo>
                    <a:lnTo>
                      <a:pt x="466978" y="92710"/>
                    </a:lnTo>
                    <a:lnTo>
                      <a:pt x="466006" y="75731"/>
                    </a:lnTo>
                    <a:lnTo>
                      <a:pt x="451611" y="32512"/>
                    </a:lnTo>
                    <a:lnTo>
                      <a:pt x="421251" y="4883"/>
                    </a:lnTo>
                    <a:lnTo>
                      <a:pt x="407797" y="0"/>
                    </a:lnTo>
                    <a:close/>
                  </a:path>
                  <a:path w="467359" h="185419">
                    <a:moveTo>
                      <a:pt x="59054" y="0"/>
                    </a:moveTo>
                    <a:lnTo>
                      <a:pt x="23693" y="21127"/>
                    </a:lnTo>
                    <a:lnTo>
                      <a:pt x="3810" y="60039"/>
                    </a:lnTo>
                    <a:lnTo>
                      <a:pt x="0" y="92710"/>
                    </a:lnTo>
                    <a:lnTo>
                      <a:pt x="952" y="109759"/>
                    </a:lnTo>
                    <a:lnTo>
                      <a:pt x="15239" y="152907"/>
                    </a:lnTo>
                    <a:lnTo>
                      <a:pt x="45600" y="180482"/>
                    </a:lnTo>
                    <a:lnTo>
                      <a:pt x="59054" y="185293"/>
                    </a:lnTo>
                    <a:lnTo>
                      <a:pt x="61468" y="177800"/>
                    </a:lnTo>
                    <a:lnTo>
                      <a:pt x="50869" y="173085"/>
                    </a:lnTo>
                    <a:lnTo>
                      <a:pt x="41735" y="166560"/>
                    </a:lnTo>
                    <a:lnTo>
                      <a:pt x="19637" y="122935"/>
                    </a:lnTo>
                    <a:lnTo>
                      <a:pt x="16890" y="91693"/>
                    </a:lnTo>
                    <a:lnTo>
                      <a:pt x="17579" y="75906"/>
                    </a:lnTo>
                    <a:lnTo>
                      <a:pt x="27812" y="36830"/>
                    </a:lnTo>
                    <a:lnTo>
                      <a:pt x="61722" y="7493"/>
                    </a:lnTo>
                    <a:lnTo>
                      <a:pt x="5905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6727316" y="2658745"/>
                <a:ext cx="15938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59384" h="48260">
                    <a:moveTo>
                      <a:pt x="134874" y="0"/>
                    </a:moveTo>
                    <a:lnTo>
                      <a:pt x="129666" y="5842"/>
                    </a:lnTo>
                    <a:lnTo>
                      <a:pt x="145287" y="19431"/>
                    </a:lnTo>
                    <a:lnTo>
                      <a:pt x="0" y="19431"/>
                    </a:lnTo>
                    <a:lnTo>
                      <a:pt x="0" y="28575"/>
                    </a:lnTo>
                    <a:lnTo>
                      <a:pt x="145287" y="28575"/>
                    </a:lnTo>
                    <a:lnTo>
                      <a:pt x="129666" y="42163"/>
                    </a:lnTo>
                    <a:lnTo>
                      <a:pt x="134874" y="48006"/>
                    </a:lnTo>
                    <a:lnTo>
                      <a:pt x="159384" y="26797"/>
                    </a:lnTo>
                    <a:lnTo>
                      <a:pt x="159384" y="21209"/>
                    </a:lnTo>
                    <a:lnTo>
                      <a:pt x="134874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" name="object 11"/>
            <p:cNvSpPr txBox="1"/>
            <p:nvPr/>
          </p:nvSpPr>
          <p:spPr>
            <a:xfrm>
              <a:off x="6418638" y="830442"/>
              <a:ext cx="2396490" cy="75311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15" dirty="0">
                  <a:latin typeface="Verdana"/>
                  <a:cs typeface="Verdana"/>
                </a:rPr>
                <a:t>With</a:t>
              </a:r>
              <a:r>
                <a:rPr sz="1550" spc="10" dirty="0">
                  <a:latin typeface="Verdana"/>
                  <a:cs typeface="Verdana"/>
                </a:rPr>
                <a:t> </a:t>
              </a:r>
              <a:r>
                <a:rPr sz="1550" spc="15" dirty="0">
                  <a:latin typeface="Verdana"/>
                  <a:cs typeface="Verdana"/>
                </a:rPr>
                <a:t>a</a:t>
              </a:r>
              <a:r>
                <a:rPr sz="1550" spc="65" dirty="0">
                  <a:latin typeface="Verdana"/>
                  <a:cs typeface="Verdana"/>
                </a:rPr>
                <a:t> </a:t>
              </a:r>
              <a:r>
                <a:rPr sz="1550" spc="15" dirty="0">
                  <a:latin typeface="Verdana"/>
                  <a:cs typeface="Verdana"/>
                </a:rPr>
                <a:t>small</a:t>
              </a:r>
              <a:r>
                <a:rPr sz="1550" spc="55" dirty="0">
                  <a:latin typeface="Verdana"/>
                  <a:cs typeface="Verdana"/>
                </a:rPr>
                <a:t> </a:t>
              </a:r>
              <a:r>
                <a:rPr sz="1550" spc="10" dirty="0">
                  <a:latin typeface="Verdana"/>
                  <a:cs typeface="Verdana"/>
                </a:rPr>
                <a:t>enough</a:t>
              </a:r>
              <a:r>
                <a:rPr sz="1550" spc="125" dirty="0">
                  <a:latin typeface="Verdana"/>
                  <a:cs typeface="Verdana"/>
                </a:rPr>
                <a:t> </a:t>
              </a:r>
              <a:r>
                <a:rPr sz="1550" spc="25" dirty="0">
                  <a:solidFill>
                    <a:srgbClr val="FF0000"/>
                  </a:solidFill>
                  <a:latin typeface="Cambria Math"/>
                  <a:cs typeface="Cambria Math"/>
                </a:rPr>
                <a:t>𝛼</a:t>
              </a:r>
              <a:r>
                <a:rPr sz="1550" spc="25" dirty="0">
                  <a:latin typeface="Verdana"/>
                  <a:cs typeface="Verdana"/>
                </a:rPr>
                <a:t>,</a:t>
              </a:r>
              <a:endParaRPr sz="1550" dirty="0">
                <a:latin typeface="Verdana"/>
                <a:cs typeface="Verdana"/>
              </a:endParaRPr>
            </a:p>
            <a:p>
              <a:pPr marL="12700" marR="55244">
                <a:lnSpc>
                  <a:spcPct val="101099"/>
                </a:lnSpc>
                <a:spcBef>
                  <a:spcPts val="75"/>
                </a:spcBef>
                <a:tabLst>
                  <a:tab pos="679450" algn="l"/>
                </a:tabLst>
              </a:pPr>
              <a:r>
                <a:rPr sz="1550" spc="10" dirty="0">
                  <a:latin typeface="Cambria Math"/>
                  <a:cs typeface="Cambria Math"/>
                </a:rPr>
                <a:t>𝐽 </a:t>
              </a:r>
              <a:r>
                <a:rPr sz="1550" spc="55" dirty="0">
                  <a:latin typeface="Cambria Math"/>
                  <a:cs typeface="Cambria Math"/>
                </a:rPr>
                <a:t> </a:t>
              </a:r>
              <a:r>
                <a:rPr sz="1550" dirty="0">
                  <a:solidFill>
                    <a:srgbClr val="0096FF"/>
                  </a:solidFill>
                  <a:latin typeface="Cambria Math"/>
                  <a:cs typeface="Cambria Math"/>
                </a:rPr>
                <a:t>w</a:t>
              </a:r>
              <a:r>
                <a:rPr sz="1550" dirty="0">
                  <a:latin typeface="Cambria Math"/>
                  <a:cs typeface="Cambria Math"/>
                </a:rPr>
                <a:t>,</a:t>
              </a:r>
              <a:r>
                <a:rPr sz="1550" spc="-60" dirty="0">
                  <a:latin typeface="Cambria Math"/>
                  <a:cs typeface="Cambria Math"/>
                </a:rPr>
                <a:t> </a:t>
              </a:r>
              <a:r>
                <a:rPr sz="1550" spc="10" dirty="0">
                  <a:solidFill>
                    <a:srgbClr val="0096FF"/>
                  </a:solidFill>
                  <a:latin typeface="Cambria Math"/>
                  <a:cs typeface="Cambria Math"/>
                </a:rPr>
                <a:t>𝑏	</a:t>
              </a:r>
              <a:r>
                <a:rPr sz="1550" spc="10" dirty="0">
                  <a:latin typeface="Verdana"/>
                  <a:cs typeface="Verdana"/>
                </a:rPr>
                <a:t>should</a:t>
              </a:r>
              <a:r>
                <a:rPr sz="1550" spc="45" dirty="0">
                  <a:latin typeface="Verdana"/>
                  <a:cs typeface="Verdana"/>
                </a:rPr>
                <a:t> </a:t>
              </a:r>
              <a:r>
                <a:rPr sz="1550" spc="25" dirty="0">
                  <a:solidFill>
                    <a:srgbClr val="C00000"/>
                  </a:solidFill>
                  <a:latin typeface="Verdana"/>
                  <a:cs typeface="Verdana"/>
                </a:rPr>
                <a:t>decrease </a:t>
              </a:r>
              <a:r>
                <a:rPr sz="1550" spc="-530" dirty="0">
                  <a:solidFill>
                    <a:srgbClr val="C00000"/>
                  </a:solidFill>
                  <a:latin typeface="Verdana"/>
                  <a:cs typeface="Verdana"/>
                </a:rPr>
                <a:t> </a:t>
              </a:r>
              <a:r>
                <a:rPr sz="1550" spc="20" dirty="0">
                  <a:latin typeface="Verdana"/>
                  <a:cs typeface="Verdana"/>
                </a:rPr>
                <a:t>on</a:t>
              </a:r>
              <a:r>
                <a:rPr sz="1550" spc="15" dirty="0">
                  <a:latin typeface="Verdana"/>
                  <a:cs typeface="Verdana"/>
                </a:rPr>
                <a:t> </a:t>
              </a:r>
              <a:r>
                <a:rPr sz="1550" spc="20" dirty="0">
                  <a:latin typeface="Verdana"/>
                  <a:cs typeface="Verdana"/>
                </a:rPr>
                <a:t>every</a:t>
              </a:r>
              <a:r>
                <a:rPr sz="1550" spc="15" dirty="0">
                  <a:latin typeface="Verdana"/>
                  <a:cs typeface="Verdana"/>
                </a:rPr>
                <a:t> iteration</a:t>
              </a:r>
              <a:endParaRPr sz="1550" dirty="0">
                <a:latin typeface="Verdana"/>
                <a:cs typeface="Verdana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50025" y="3323844"/>
            <a:ext cx="2372995" cy="100139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60"/>
              </a:spcBef>
            </a:pPr>
            <a:r>
              <a:rPr sz="1550" spc="-25" dirty="0">
                <a:latin typeface="Verdana"/>
                <a:cs typeface="Verdana"/>
              </a:rPr>
              <a:t>If</a:t>
            </a:r>
            <a:r>
              <a:rPr sz="1550" spc="95" dirty="0">
                <a:latin typeface="Verdana"/>
                <a:cs typeface="Verdana"/>
              </a:rPr>
              <a:t> </a:t>
            </a:r>
            <a:r>
              <a:rPr sz="1550" spc="15" dirty="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sz="1550" spc="20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50" spc="15" dirty="0">
                <a:latin typeface="Verdana"/>
                <a:cs typeface="Verdana"/>
              </a:rPr>
              <a:t>is</a:t>
            </a:r>
            <a:r>
              <a:rPr sz="1550" spc="60" dirty="0">
                <a:latin typeface="Verdana"/>
                <a:cs typeface="Verdana"/>
              </a:rPr>
              <a:t> </a:t>
            </a:r>
            <a:r>
              <a:rPr sz="1550" spc="10" dirty="0">
                <a:latin typeface="Verdana"/>
                <a:cs typeface="Verdana"/>
              </a:rPr>
              <a:t>too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small, </a:t>
            </a:r>
            <a:r>
              <a:rPr sz="1550" spc="20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gradient descent</a:t>
            </a:r>
            <a:r>
              <a:rPr sz="1550" spc="90" dirty="0">
                <a:latin typeface="Verdana"/>
                <a:cs typeface="Verdana"/>
              </a:rPr>
              <a:t> </a:t>
            </a:r>
            <a:r>
              <a:rPr sz="1550" spc="10" dirty="0">
                <a:latin typeface="Verdana"/>
                <a:cs typeface="Verdana"/>
              </a:rPr>
              <a:t>takes </a:t>
            </a:r>
            <a:r>
              <a:rPr sz="1550" spc="-530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a</a:t>
            </a:r>
            <a:r>
              <a:rPr sz="1550" spc="-15" dirty="0">
                <a:latin typeface="Verdana"/>
                <a:cs typeface="Verdana"/>
              </a:rPr>
              <a:t> </a:t>
            </a:r>
            <a:r>
              <a:rPr sz="1550" spc="20" dirty="0">
                <a:latin typeface="Verdana"/>
                <a:cs typeface="Verdana"/>
              </a:rPr>
              <a:t>lot</a:t>
            </a:r>
            <a:r>
              <a:rPr sz="1550" spc="15" dirty="0">
                <a:latin typeface="Verdana"/>
                <a:cs typeface="Verdana"/>
              </a:rPr>
              <a:t> </a:t>
            </a:r>
            <a:r>
              <a:rPr sz="1550" spc="10" dirty="0">
                <a:latin typeface="Verdana"/>
                <a:cs typeface="Verdana"/>
              </a:rPr>
              <a:t>more</a:t>
            </a:r>
            <a:r>
              <a:rPr sz="1550" spc="65" dirty="0">
                <a:latin typeface="Verdana"/>
                <a:cs typeface="Verdana"/>
              </a:rPr>
              <a:t> </a:t>
            </a:r>
            <a:r>
              <a:rPr sz="1550" spc="15" dirty="0">
                <a:latin typeface="Verdana"/>
                <a:cs typeface="Verdana"/>
              </a:rPr>
              <a:t>iterations</a:t>
            </a:r>
            <a:r>
              <a:rPr sz="1550" spc="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 </a:t>
            </a:r>
            <a:r>
              <a:rPr sz="1550" spc="-530" dirty="0"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C00000"/>
                </a:solidFill>
                <a:latin typeface="Verdana"/>
                <a:cs typeface="Verdana"/>
              </a:rPr>
              <a:t>converge</a:t>
            </a:r>
            <a:endParaRPr sz="1550" dirty="0">
              <a:latin typeface="Verdana"/>
              <a:cs typeface="Verdana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77787A2-9963-422C-D412-AF4C84F1D3E9}"/>
              </a:ext>
            </a:extLst>
          </p:cNvPr>
          <p:cNvGrpSpPr/>
          <p:nvPr/>
        </p:nvGrpSpPr>
        <p:grpSpPr>
          <a:xfrm>
            <a:off x="-87505" y="2084704"/>
            <a:ext cx="6414517" cy="1933829"/>
            <a:chOff x="22859" y="2630551"/>
            <a:chExt cx="6414517" cy="1933829"/>
          </a:xfrm>
        </p:grpSpPr>
        <p:sp>
          <p:nvSpPr>
            <p:cNvPr id="13" name="object 13"/>
            <p:cNvSpPr txBox="1"/>
            <p:nvPr/>
          </p:nvSpPr>
          <p:spPr>
            <a:xfrm>
              <a:off x="4336860" y="2681372"/>
              <a:ext cx="141351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5" dirty="0">
                  <a:latin typeface="Verdana"/>
                  <a:cs typeface="Verdana"/>
                </a:rPr>
                <a:t>Use</a:t>
              </a:r>
              <a:r>
                <a:rPr sz="1550" spc="55" dirty="0">
                  <a:latin typeface="Verdana"/>
                  <a:cs typeface="Verdana"/>
                </a:rPr>
                <a:t> </a:t>
              </a:r>
              <a:r>
                <a:rPr sz="1550" spc="20" dirty="0">
                  <a:solidFill>
                    <a:srgbClr val="C00000"/>
                  </a:solidFill>
                  <a:latin typeface="Verdana"/>
                  <a:cs typeface="Verdana"/>
                </a:rPr>
                <a:t>smaller</a:t>
              </a:r>
              <a:r>
                <a:rPr sz="1550" spc="30" dirty="0">
                  <a:solidFill>
                    <a:srgbClr val="C00000"/>
                  </a:solidFill>
                  <a:latin typeface="Verdana"/>
                  <a:cs typeface="Verdana"/>
                </a:rPr>
                <a:t> </a:t>
              </a:r>
              <a:r>
                <a:rPr sz="155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𝛼</a:t>
              </a:r>
              <a:endParaRPr sz="1550" dirty="0">
                <a:latin typeface="Cambria Math"/>
                <a:cs typeface="Cambria Math"/>
              </a:endParaRPr>
            </a:p>
          </p:txBody>
        </p:sp>
        <p:sp>
          <p:nvSpPr>
            <p:cNvPr id="2" name="object 2"/>
            <p:cNvSpPr txBox="1"/>
            <p:nvPr/>
          </p:nvSpPr>
          <p:spPr>
            <a:xfrm>
              <a:off x="1259458" y="4297045"/>
              <a:ext cx="127508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1550" dirty="0">
                  <a:solidFill>
                    <a:srgbClr val="0096FF"/>
                  </a:solidFill>
                  <a:latin typeface="Arial MT"/>
                  <a:cs typeface="Arial MT"/>
                </a:rPr>
                <a:t>parameter</a:t>
              </a:r>
              <a:r>
                <a:rPr sz="1550" spc="140" dirty="0">
                  <a:solidFill>
                    <a:srgbClr val="0096FF"/>
                  </a:solidFill>
                  <a:latin typeface="Arial MT"/>
                  <a:cs typeface="Arial MT"/>
                </a:rPr>
                <a:t> </a:t>
              </a:r>
              <a:r>
                <a:rPr sz="1550" spc="-3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650" spc="-44" baseline="-15151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endParaRPr sz="1650" baseline="-15151">
                <a:latin typeface="Cambria Math"/>
                <a:cs typeface="Cambria Math"/>
              </a:endParaRPr>
            </a:p>
          </p:txBody>
        </p:sp>
        <p:grpSp>
          <p:nvGrpSpPr>
            <p:cNvPr id="3" name="object 3"/>
            <p:cNvGrpSpPr/>
            <p:nvPr/>
          </p:nvGrpSpPr>
          <p:grpSpPr>
            <a:xfrm>
              <a:off x="138772" y="2724150"/>
              <a:ext cx="3091815" cy="1765935"/>
              <a:chOff x="138772" y="2724150"/>
              <a:chExt cx="3091815" cy="1765935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138772" y="2724149"/>
                <a:ext cx="3091815" cy="1765935"/>
              </a:xfrm>
              <a:custGeom>
                <a:avLst/>
                <a:gdLst/>
                <a:ahLst/>
                <a:cxnLst/>
                <a:rect l="l" t="t" r="r" b="b"/>
                <a:pathLst>
                  <a:path w="3091815" h="1765935">
                    <a:moveTo>
                      <a:pt x="61722" y="732536"/>
                    </a:moveTo>
                    <a:lnTo>
                      <a:pt x="59093" y="725043"/>
                    </a:lnTo>
                    <a:lnTo>
                      <a:pt x="45643" y="729932"/>
                    </a:lnTo>
                    <a:lnTo>
                      <a:pt x="33870" y="736968"/>
                    </a:lnTo>
                    <a:lnTo>
                      <a:pt x="8585" y="770686"/>
                    </a:lnTo>
                    <a:lnTo>
                      <a:pt x="0" y="817753"/>
                    </a:lnTo>
                    <a:lnTo>
                      <a:pt x="952" y="834809"/>
                    </a:lnTo>
                    <a:lnTo>
                      <a:pt x="15240" y="877951"/>
                    </a:lnTo>
                    <a:lnTo>
                      <a:pt x="45605" y="905535"/>
                    </a:lnTo>
                    <a:lnTo>
                      <a:pt x="59093" y="910336"/>
                    </a:lnTo>
                    <a:lnTo>
                      <a:pt x="61429" y="902843"/>
                    </a:lnTo>
                    <a:lnTo>
                      <a:pt x="50863" y="898156"/>
                    </a:lnTo>
                    <a:lnTo>
                      <a:pt x="41757" y="891654"/>
                    </a:lnTo>
                    <a:lnTo>
                      <a:pt x="19634" y="847979"/>
                    </a:lnTo>
                    <a:lnTo>
                      <a:pt x="16891" y="816737"/>
                    </a:lnTo>
                    <a:lnTo>
                      <a:pt x="17576" y="800963"/>
                    </a:lnTo>
                    <a:lnTo>
                      <a:pt x="27876" y="762000"/>
                    </a:lnTo>
                    <a:lnTo>
                      <a:pt x="51028" y="737235"/>
                    </a:lnTo>
                    <a:lnTo>
                      <a:pt x="61722" y="732536"/>
                    </a:lnTo>
                    <a:close/>
                  </a:path>
                  <a:path w="3091815" h="1765935">
                    <a:moveTo>
                      <a:pt x="466953" y="817753"/>
                    </a:moveTo>
                    <a:lnTo>
                      <a:pt x="458355" y="770686"/>
                    </a:lnTo>
                    <a:lnTo>
                      <a:pt x="433070" y="736968"/>
                    </a:lnTo>
                    <a:lnTo>
                      <a:pt x="407860" y="725043"/>
                    </a:lnTo>
                    <a:lnTo>
                      <a:pt x="405231" y="732536"/>
                    </a:lnTo>
                    <a:lnTo>
                      <a:pt x="415950" y="737235"/>
                    </a:lnTo>
                    <a:lnTo>
                      <a:pt x="425170" y="743699"/>
                    </a:lnTo>
                    <a:lnTo>
                      <a:pt x="447319" y="786561"/>
                    </a:lnTo>
                    <a:lnTo>
                      <a:pt x="450062" y="816737"/>
                    </a:lnTo>
                    <a:lnTo>
                      <a:pt x="449364" y="833132"/>
                    </a:lnTo>
                    <a:lnTo>
                      <a:pt x="439064" y="873125"/>
                    </a:lnTo>
                    <a:lnTo>
                      <a:pt x="405523" y="902843"/>
                    </a:lnTo>
                    <a:lnTo>
                      <a:pt x="407860" y="910336"/>
                    </a:lnTo>
                    <a:lnTo>
                      <a:pt x="443255" y="889342"/>
                    </a:lnTo>
                    <a:lnTo>
                      <a:pt x="463130" y="850519"/>
                    </a:lnTo>
                    <a:lnTo>
                      <a:pt x="466001" y="834809"/>
                    </a:lnTo>
                    <a:lnTo>
                      <a:pt x="466953" y="817753"/>
                    </a:lnTo>
                    <a:close/>
                  </a:path>
                  <a:path w="3091815" h="1765935">
                    <a:moveTo>
                      <a:pt x="3091218" y="1533525"/>
                    </a:moveTo>
                    <a:lnTo>
                      <a:pt x="3068358" y="1514475"/>
                    </a:lnTo>
                    <a:lnTo>
                      <a:pt x="2959392" y="1423644"/>
                    </a:lnTo>
                    <a:lnTo>
                      <a:pt x="2952775" y="1420050"/>
                    </a:lnTo>
                    <a:lnTo>
                      <a:pt x="2928226" y="1440002"/>
                    </a:lnTo>
                    <a:lnTo>
                      <a:pt x="2930245" y="1447012"/>
                    </a:lnTo>
                    <a:lnTo>
                      <a:pt x="2935008" y="1452905"/>
                    </a:lnTo>
                    <a:lnTo>
                      <a:pt x="3008884" y="1514475"/>
                    </a:lnTo>
                    <a:lnTo>
                      <a:pt x="537502" y="1514475"/>
                    </a:lnTo>
                    <a:lnTo>
                      <a:pt x="537502" y="82334"/>
                    </a:lnTo>
                    <a:lnTo>
                      <a:pt x="599071" y="156210"/>
                    </a:lnTo>
                    <a:lnTo>
                      <a:pt x="604964" y="160972"/>
                    </a:lnTo>
                    <a:lnTo>
                      <a:pt x="611974" y="162991"/>
                    </a:lnTo>
                    <a:lnTo>
                      <a:pt x="619239" y="162229"/>
                    </a:lnTo>
                    <a:lnTo>
                      <a:pt x="625894" y="158623"/>
                    </a:lnTo>
                    <a:lnTo>
                      <a:pt x="630631" y="152742"/>
                    </a:lnTo>
                    <a:lnTo>
                      <a:pt x="632675" y="145757"/>
                    </a:lnTo>
                    <a:lnTo>
                      <a:pt x="631926" y="138506"/>
                    </a:lnTo>
                    <a:lnTo>
                      <a:pt x="628332" y="131826"/>
                    </a:lnTo>
                    <a:lnTo>
                      <a:pt x="543217" y="29718"/>
                    </a:lnTo>
                    <a:lnTo>
                      <a:pt x="518452" y="0"/>
                    </a:lnTo>
                    <a:lnTo>
                      <a:pt x="408571" y="131826"/>
                    </a:lnTo>
                    <a:lnTo>
                      <a:pt x="404964" y="138506"/>
                    </a:lnTo>
                    <a:lnTo>
                      <a:pt x="404228" y="145757"/>
                    </a:lnTo>
                    <a:lnTo>
                      <a:pt x="406260" y="152742"/>
                    </a:lnTo>
                    <a:lnTo>
                      <a:pt x="411010" y="158623"/>
                    </a:lnTo>
                    <a:lnTo>
                      <a:pt x="417652" y="162229"/>
                    </a:lnTo>
                    <a:lnTo>
                      <a:pt x="424916" y="162991"/>
                    </a:lnTo>
                    <a:lnTo>
                      <a:pt x="431927" y="160972"/>
                    </a:lnTo>
                    <a:lnTo>
                      <a:pt x="437832" y="156210"/>
                    </a:lnTo>
                    <a:lnTo>
                      <a:pt x="499402" y="82334"/>
                    </a:lnTo>
                    <a:lnTo>
                      <a:pt x="499402" y="1514475"/>
                    </a:lnTo>
                    <a:lnTo>
                      <a:pt x="289852" y="1514475"/>
                    </a:lnTo>
                    <a:lnTo>
                      <a:pt x="289852" y="1552575"/>
                    </a:lnTo>
                    <a:lnTo>
                      <a:pt x="499402" y="1552575"/>
                    </a:lnTo>
                    <a:lnTo>
                      <a:pt x="499402" y="1765719"/>
                    </a:lnTo>
                    <a:lnTo>
                      <a:pt x="537502" y="1765719"/>
                    </a:lnTo>
                    <a:lnTo>
                      <a:pt x="537502" y="1552575"/>
                    </a:lnTo>
                    <a:lnTo>
                      <a:pt x="3008884" y="1552575"/>
                    </a:lnTo>
                    <a:lnTo>
                      <a:pt x="2935008" y="1614144"/>
                    </a:lnTo>
                    <a:lnTo>
                      <a:pt x="2930245" y="1620050"/>
                    </a:lnTo>
                    <a:lnTo>
                      <a:pt x="2928226" y="1627060"/>
                    </a:lnTo>
                    <a:lnTo>
                      <a:pt x="2928988" y="1634324"/>
                    </a:lnTo>
                    <a:lnTo>
                      <a:pt x="2932595" y="1640967"/>
                    </a:lnTo>
                    <a:lnTo>
                      <a:pt x="2938488" y="1645716"/>
                    </a:lnTo>
                    <a:lnTo>
                      <a:pt x="2945511" y="1647748"/>
                    </a:lnTo>
                    <a:lnTo>
                      <a:pt x="2952775" y="1647012"/>
                    </a:lnTo>
                    <a:lnTo>
                      <a:pt x="2959392" y="1643405"/>
                    </a:lnTo>
                    <a:lnTo>
                      <a:pt x="3068358" y="1552575"/>
                    </a:lnTo>
                    <a:lnTo>
                      <a:pt x="3091218" y="15335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216446" y="3442462"/>
                <a:ext cx="14033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40335" h="48260">
                    <a:moveTo>
                      <a:pt x="115798" y="0"/>
                    </a:moveTo>
                    <a:lnTo>
                      <a:pt x="110617" y="5842"/>
                    </a:lnTo>
                    <a:lnTo>
                      <a:pt x="126250" y="19431"/>
                    </a:lnTo>
                    <a:lnTo>
                      <a:pt x="0" y="19431"/>
                    </a:lnTo>
                    <a:lnTo>
                      <a:pt x="0" y="28575"/>
                    </a:lnTo>
                    <a:lnTo>
                      <a:pt x="126250" y="28575"/>
                    </a:lnTo>
                    <a:lnTo>
                      <a:pt x="110617" y="42163"/>
                    </a:lnTo>
                    <a:lnTo>
                      <a:pt x="115798" y="48006"/>
                    </a:lnTo>
                    <a:lnTo>
                      <a:pt x="140309" y="26796"/>
                    </a:lnTo>
                    <a:lnTo>
                      <a:pt x="140309" y="21208"/>
                    </a:lnTo>
                    <a:lnTo>
                      <a:pt x="115798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22859" y="3393503"/>
              <a:ext cx="53403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5" dirty="0">
                  <a:latin typeface="Cambria Math"/>
                  <a:cs typeface="Cambria Math"/>
                </a:rPr>
                <a:t>𝐽 </a:t>
              </a:r>
              <a:r>
                <a:rPr sz="1550" spc="65" dirty="0">
                  <a:latin typeface="Cambria Math"/>
                  <a:cs typeface="Cambria Math"/>
                </a:rPr>
                <a:t> </a:t>
              </a:r>
              <a:r>
                <a:rPr sz="1550" spc="13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550" spc="5" dirty="0">
                  <a:latin typeface="Cambria Math"/>
                  <a:cs typeface="Cambria Math"/>
                </a:rPr>
                <a:t>,</a:t>
              </a:r>
              <a:r>
                <a:rPr sz="1550" spc="-140" dirty="0">
                  <a:latin typeface="Cambria Math"/>
                  <a:cs typeface="Cambria Math"/>
                </a:rPr>
                <a:t> </a:t>
              </a:r>
              <a:r>
                <a:rPr sz="1550" spc="25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550">
                <a:latin typeface="Cambria Math"/>
                <a:cs typeface="Cambria Math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2859151"/>
              <a:ext cx="2553736" cy="1330203"/>
            </a:xfrm>
            <a:prstGeom prst="rect">
              <a:avLst/>
            </a:prstGeom>
          </p:spPr>
        </p:pic>
        <p:sp>
          <p:nvSpPr>
            <p:cNvPr id="15" name="object 15"/>
            <p:cNvSpPr txBox="1"/>
            <p:nvPr/>
          </p:nvSpPr>
          <p:spPr>
            <a:xfrm>
              <a:off x="1339294" y="2630551"/>
              <a:ext cx="1161415" cy="2667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55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𝛼</a:t>
              </a:r>
              <a:r>
                <a:rPr sz="1550" spc="185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1550" spc="15" dirty="0">
                  <a:latin typeface="Verdana"/>
                  <a:cs typeface="Verdana"/>
                </a:rPr>
                <a:t>is</a:t>
              </a:r>
              <a:r>
                <a:rPr sz="1550" spc="30" dirty="0">
                  <a:latin typeface="Verdana"/>
                  <a:cs typeface="Verdana"/>
                </a:rPr>
                <a:t> </a:t>
              </a:r>
              <a:r>
                <a:rPr sz="1550" spc="10" dirty="0">
                  <a:latin typeface="Verdana"/>
                  <a:cs typeface="Verdana"/>
                </a:rPr>
                <a:t>too</a:t>
              </a:r>
              <a:r>
                <a:rPr sz="1550" spc="55" dirty="0">
                  <a:latin typeface="Verdana"/>
                  <a:cs typeface="Verdana"/>
                </a:rPr>
                <a:t> </a:t>
              </a:r>
              <a:r>
                <a:rPr sz="1550" spc="15" dirty="0">
                  <a:solidFill>
                    <a:srgbClr val="C00000"/>
                  </a:solidFill>
                  <a:latin typeface="Verdana"/>
                  <a:cs typeface="Verdana"/>
                </a:rPr>
                <a:t>big</a:t>
              </a:r>
              <a:endParaRPr sz="1550" dirty="0">
                <a:latin typeface="Verdana"/>
                <a:cs typeface="Verdana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394453" y="4298315"/>
              <a:ext cx="127508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5"/>
                </a:spcBef>
              </a:pPr>
              <a:r>
                <a:rPr sz="1550" spc="5" dirty="0">
                  <a:solidFill>
                    <a:srgbClr val="0096FF"/>
                  </a:solidFill>
                  <a:latin typeface="Arial MT"/>
                  <a:cs typeface="Arial MT"/>
                </a:rPr>
                <a:t>parameter</a:t>
              </a:r>
              <a:r>
                <a:rPr sz="1550" spc="105" dirty="0">
                  <a:solidFill>
                    <a:srgbClr val="0096FF"/>
                  </a:solidFill>
                  <a:latin typeface="Arial MT"/>
                  <a:cs typeface="Arial MT"/>
                </a:rPr>
                <a:t> </a:t>
              </a:r>
              <a:r>
                <a:rPr sz="1550" spc="-30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650" spc="-44" baseline="-15151" dirty="0">
                  <a:solidFill>
                    <a:srgbClr val="0096FF"/>
                  </a:solidFill>
                  <a:latin typeface="Cambria Math"/>
                  <a:cs typeface="Cambria Math"/>
                </a:rPr>
                <a:t>1</a:t>
              </a:r>
              <a:endParaRPr sz="1650" baseline="-15151">
                <a:latin typeface="Cambria Math"/>
                <a:cs typeface="Cambria Math"/>
              </a:endParaRPr>
            </a:p>
          </p:txBody>
        </p:sp>
        <p:grpSp>
          <p:nvGrpSpPr>
            <p:cNvPr id="17" name="object 17"/>
            <p:cNvGrpSpPr/>
            <p:nvPr/>
          </p:nvGrpSpPr>
          <p:grpSpPr>
            <a:xfrm>
              <a:off x="3290189" y="2724150"/>
              <a:ext cx="3074035" cy="1767205"/>
              <a:chOff x="3290189" y="2724150"/>
              <a:chExt cx="3074035" cy="1767205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3290189" y="2724149"/>
                <a:ext cx="3074035" cy="1767205"/>
              </a:xfrm>
              <a:custGeom>
                <a:avLst/>
                <a:gdLst/>
                <a:ahLst/>
                <a:cxnLst/>
                <a:rect l="l" t="t" r="r" b="b"/>
                <a:pathLst>
                  <a:path w="3074035" h="1767204">
                    <a:moveTo>
                      <a:pt x="61722" y="732536"/>
                    </a:moveTo>
                    <a:lnTo>
                      <a:pt x="59055" y="725043"/>
                    </a:lnTo>
                    <a:lnTo>
                      <a:pt x="45593" y="729932"/>
                    </a:lnTo>
                    <a:lnTo>
                      <a:pt x="33807" y="736968"/>
                    </a:lnTo>
                    <a:lnTo>
                      <a:pt x="8572" y="770686"/>
                    </a:lnTo>
                    <a:lnTo>
                      <a:pt x="0" y="817753"/>
                    </a:lnTo>
                    <a:lnTo>
                      <a:pt x="939" y="834809"/>
                    </a:lnTo>
                    <a:lnTo>
                      <a:pt x="15227" y="877951"/>
                    </a:lnTo>
                    <a:lnTo>
                      <a:pt x="45593" y="905535"/>
                    </a:lnTo>
                    <a:lnTo>
                      <a:pt x="59055" y="910336"/>
                    </a:lnTo>
                    <a:lnTo>
                      <a:pt x="61341" y="902843"/>
                    </a:lnTo>
                    <a:lnTo>
                      <a:pt x="50812" y="898156"/>
                    </a:lnTo>
                    <a:lnTo>
                      <a:pt x="41706" y="891654"/>
                    </a:lnTo>
                    <a:lnTo>
                      <a:pt x="19583" y="847979"/>
                    </a:lnTo>
                    <a:lnTo>
                      <a:pt x="16878" y="816737"/>
                    </a:lnTo>
                    <a:lnTo>
                      <a:pt x="17551" y="800963"/>
                    </a:lnTo>
                    <a:lnTo>
                      <a:pt x="27813" y="762000"/>
                    </a:lnTo>
                    <a:lnTo>
                      <a:pt x="51028" y="737235"/>
                    </a:lnTo>
                    <a:lnTo>
                      <a:pt x="61722" y="732536"/>
                    </a:lnTo>
                    <a:close/>
                  </a:path>
                  <a:path w="3074035" h="1767204">
                    <a:moveTo>
                      <a:pt x="466852" y="817753"/>
                    </a:moveTo>
                    <a:lnTo>
                      <a:pt x="458279" y="770686"/>
                    </a:lnTo>
                    <a:lnTo>
                      <a:pt x="433031" y="736968"/>
                    </a:lnTo>
                    <a:lnTo>
                      <a:pt x="407797" y="725043"/>
                    </a:lnTo>
                    <a:lnTo>
                      <a:pt x="405130" y="732536"/>
                    </a:lnTo>
                    <a:lnTo>
                      <a:pt x="415886" y="737235"/>
                    </a:lnTo>
                    <a:lnTo>
                      <a:pt x="425119" y="743699"/>
                    </a:lnTo>
                    <a:lnTo>
                      <a:pt x="447255" y="786561"/>
                    </a:lnTo>
                    <a:lnTo>
                      <a:pt x="449961" y="816737"/>
                    </a:lnTo>
                    <a:lnTo>
                      <a:pt x="449287" y="833132"/>
                    </a:lnTo>
                    <a:lnTo>
                      <a:pt x="439039" y="873125"/>
                    </a:lnTo>
                    <a:lnTo>
                      <a:pt x="405511" y="902843"/>
                    </a:lnTo>
                    <a:lnTo>
                      <a:pt x="407797" y="910336"/>
                    </a:lnTo>
                    <a:lnTo>
                      <a:pt x="443153" y="889342"/>
                    </a:lnTo>
                    <a:lnTo>
                      <a:pt x="463042" y="850519"/>
                    </a:lnTo>
                    <a:lnTo>
                      <a:pt x="465899" y="834809"/>
                    </a:lnTo>
                    <a:lnTo>
                      <a:pt x="466852" y="817753"/>
                    </a:lnTo>
                    <a:close/>
                  </a:path>
                  <a:path w="3074035" h="1767204">
                    <a:moveTo>
                      <a:pt x="3073527" y="1533525"/>
                    </a:moveTo>
                    <a:lnTo>
                      <a:pt x="3050667" y="1514475"/>
                    </a:lnTo>
                    <a:lnTo>
                      <a:pt x="2941701" y="1423644"/>
                    </a:lnTo>
                    <a:lnTo>
                      <a:pt x="2935084" y="1420050"/>
                    </a:lnTo>
                    <a:lnTo>
                      <a:pt x="2910535" y="1440002"/>
                    </a:lnTo>
                    <a:lnTo>
                      <a:pt x="2912554" y="1447012"/>
                    </a:lnTo>
                    <a:lnTo>
                      <a:pt x="2917317" y="1452905"/>
                    </a:lnTo>
                    <a:lnTo>
                      <a:pt x="2991193" y="1514475"/>
                    </a:lnTo>
                    <a:lnTo>
                      <a:pt x="519811" y="1514475"/>
                    </a:lnTo>
                    <a:lnTo>
                      <a:pt x="519811" y="82308"/>
                    </a:lnTo>
                    <a:lnTo>
                      <a:pt x="500761" y="59436"/>
                    </a:lnTo>
                    <a:lnTo>
                      <a:pt x="519811" y="82296"/>
                    </a:lnTo>
                    <a:lnTo>
                      <a:pt x="581406" y="156210"/>
                    </a:lnTo>
                    <a:lnTo>
                      <a:pt x="587286" y="160972"/>
                    </a:lnTo>
                    <a:lnTo>
                      <a:pt x="594271" y="162991"/>
                    </a:lnTo>
                    <a:lnTo>
                      <a:pt x="601522" y="162229"/>
                    </a:lnTo>
                    <a:lnTo>
                      <a:pt x="608203" y="158623"/>
                    </a:lnTo>
                    <a:lnTo>
                      <a:pt x="612952" y="152742"/>
                    </a:lnTo>
                    <a:lnTo>
                      <a:pt x="614972" y="145757"/>
                    </a:lnTo>
                    <a:lnTo>
                      <a:pt x="614210" y="138506"/>
                    </a:lnTo>
                    <a:lnTo>
                      <a:pt x="610616" y="131826"/>
                    </a:lnTo>
                    <a:lnTo>
                      <a:pt x="525526" y="29718"/>
                    </a:lnTo>
                    <a:lnTo>
                      <a:pt x="500761" y="0"/>
                    </a:lnTo>
                    <a:lnTo>
                      <a:pt x="390906" y="131826"/>
                    </a:lnTo>
                    <a:lnTo>
                      <a:pt x="387299" y="138506"/>
                    </a:lnTo>
                    <a:lnTo>
                      <a:pt x="386537" y="145757"/>
                    </a:lnTo>
                    <a:lnTo>
                      <a:pt x="388556" y="152742"/>
                    </a:lnTo>
                    <a:lnTo>
                      <a:pt x="393319" y="158623"/>
                    </a:lnTo>
                    <a:lnTo>
                      <a:pt x="399986" y="162229"/>
                    </a:lnTo>
                    <a:lnTo>
                      <a:pt x="407238" y="162991"/>
                    </a:lnTo>
                    <a:lnTo>
                      <a:pt x="414223" y="160972"/>
                    </a:lnTo>
                    <a:lnTo>
                      <a:pt x="420116" y="156210"/>
                    </a:lnTo>
                    <a:lnTo>
                      <a:pt x="481711" y="82296"/>
                    </a:lnTo>
                    <a:lnTo>
                      <a:pt x="481711" y="1514475"/>
                    </a:lnTo>
                    <a:lnTo>
                      <a:pt x="272161" y="1514475"/>
                    </a:lnTo>
                    <a:lnTo>
                      <a:pt x="272161" y="1552575"/>
                    </a:lnTo>
                    <a:lnTo>
                      <a:pt x="481711" y="1552575"/>
                    </a:lnTo>
                    <a:lnTo>
                      <a:pt x="481711" y="1767154"/>
                    </a:lnTo>
                    <a:lnTo>
                      <a:pt x="519811" y="1767154"/>
                    </a:lnTo>
                    <a:lnTo>
                      <a:pt x="519811" y="1552575"/>
                    </a:lnTo>
                    <a:lnTo>
                      <a:pt x="2991193" y="1552575"/>
                    </a:lnTo>
                    <a:lnTo>
                      <a:pt x="2917317" y="1614144"/>
                    </a:lnTo>
                    <a:lnTo>
                      <a:pt x="2912554" y="1620050"/>
                    </a:lnTo>
                    <a:lnTo>
                      <a:pt x="2910535" y="1627060"/>
                    </a:lnTo>
                    <a:lnTo>
                      <a:pt x="2911297" y="1634324"/>
                    </a:lnTo>
                    <a:lnTo>
                      <a:pt x="2914904" y="1640967"/>
                    </a:lnTo>
                    <a:lnTo>
                      <a:pt x="2920796" y="1645716"/>
                    </a:lnTo>
                    <a:lnTo>
                      <a:pt x="2927820" y="1647748"/>
                    </a:lnTo>
                    <a:lnTo>
                      <a:pt x="2935084" y="1647012"/>
                    </a:lnTo>
                    <a:lnTo>
                      <a:pt x="2941701" y="1643405"/>
                    </a:lnTo>
                    <a:lnTo>
                      <a:pt x="3050667" y="1552575"/>
                    </a:lnTo>
                    <a:lnTo>
                      <a:pt x="3073527" y="15335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3367786" y="3442462"/>
                <a:ext cx="14033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40335" h="48260">
                    <a:moveTo>
                      <a:pt x="115824" y="0"/>
                    </a:moveTo>
                    <a:lnTo>
                      <a:pt x="110616" y="5842"/>
                    </a:lnTo>
                    <a:lnTo>
                      <a:pt x="126237" y="19431"/>
                    </a:lnTo>
                    <a:lnTo>
                      <a:pt x="0" y="19431"/>
                    </a:lnTo>
                    <a:lnTo>
                      <a:pt x="0" y="28575"/>
                    </a:lnTo>
                    <a:lnTo>
                      <a:pt x="126237" y="28575"/>
                    </a:lnTo>
                    <a:lnTo>
                      <a:pt x="110616" y="42163"/>
                    </a:lnTo>
                    <a:lnTo>
                      <a:pt x="115824" y="48006"/>
                    </a:lnTo>
                    <a:lnTo>
                      <a:pt x="140335" y="26796"/>
                    </a:lnTo>
                    <a:lnTo>
                      <a:pt x="140335" y="21208"/>
                    </a:lnTo>
                    <a:lnTo>
                      <a:pt x="115824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3177539" y="3393503"/>
              <a:ext cx="53403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5" dirty="0">
                  <a:latin typeface="Cambria Math"/>
                  <a:cs typeface="Cambria Math"/>
                </a:rPr>
                <a:t>𝐽 </a:t>
              </a:r>
              <a:r>
                <a:rPr sz="1550" spc="65" dirty="0">
                  <a:latin typeface="Cambria Math"/>
                  <a:cs typeface="Cambria Math"/>
                </a:rPr>
                <a:t> </a:t>
              </a:r>
              <a:r>
                <a:rPr sz="1550" spc="135" dirty="0">
                  <a:solidFill>
                    <a:srgbClr val="0096FF"/>
                  </a:solidFill>
                  <a:latin typeface="Cambria Math"/>
                  <a:cs typeface="Cambria Math"/>
                </a:rPr>
                <a:t>𝑤</a:t>
              </a:r>
              <a:r>
                <a:rPr sz="1550" spc="5" dirty="0">
                  <a:latin typeface="Cambria Math"/>
                  <a:cs typeface="Cambria Math"/>
                </a:rPr>
                <a:t>,</a:t>
              </a:r>
              <a:r>
                <a:rPr sz="1550" spc="-140" dirty="0">
                  <a:latin typeface="Cambria Math"/>
                  <a:cs typeface="Cambria Math"/>
                </a:rPr>
                <a:t> </a:t>
              </a:r>
              <a:r>
                <a:rPr sz="1550" spc="25" dirty="0">
                  <a:solidFill>
                    <a:srgbClr val="0096FF"/>
                  </a:solidFill>
                  <a:latin typeface="Cambria Math"/>
                  <a:cs typeface="Cambria Math"/>
                </a:rPr>
                <a:t>𝑏</a:t>
              </a:r>
              <a:endParaRPr sz="1550">
                <a:latin typeface="Cambria Math"/>
                <a:cs typeface="Cambria Math"/>
              </a:endParaRPr>
            </a:p>
          </p:txBody>
        </p:sp>
        <p:grpSp>
          <p:nvGrpSpPr>
            <p:cNvPr id="21" name="object 21"/>
            <p:cNvGrpSpPr/>
            <p:nvPr/>
          </p:nvGrpSpPr>
          <p:grpSpPr>
            <a:xfrm>
              <a:off x="790854" y="2897251"/>
              <a:ext cx="5646522" cy="1659902"/>
              <a:chOff x="790854" y="2897251"/>
              <a:chExt cx="5646522" cy="1659902"/>
            </a:xfrm>
          </p:grpSpPr>
          <p:pic>
            <p:nvPicPr>
              <p:cNvPr id="22" name="object 22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25951" y="2897251"/>
                <a:ext cx="2511425" cy="1308760"/>
              </a:xfrm>
              <a:prstGeom prst="rect">
                <a:avLst/>
              </a:prstGeom>
            </p:spPr>
          </p:pic>
          <p:pic>
            <p:nvPicPr>
              <p:cNvPr id="23" name="object 2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936874" y="3443097"/>
                <a:ext cx="174117" cy="170179"/>
              </a:xfrm>
              <a:prstGeom prst="rect">
                <a:avLst/>
              </a:prstGeom>
            </p:spPr>
          </p:pic>
          <p:pic>
            <p:nvPicPr>
              <p:cNvPr id="24" name="object 24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40218" y="3382137"/>
                <a:ext cx="1527035" cy="171450"/>
              </a:xfrm>
              <a:prstGeom prst="rect">
                <a:avLst/>
              </a:prstGeom>
            </p:spPr>
          </p:pic>
          <p:pic>
            <p:nvPicPr>
              <p:cNvPr id="26" name="object 2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493003" y="3180969"/>
                <a:ext cx="855980" cy="979208"/>
              </a:xfrm>
              <a:prstGeom prst="rect">
                <a:avLst/>
              </a:prstGeom>
            </p:spPr>
          </p:pic>
          <p:pic>
            <p:nvPicPr>
              <p:cNvPr id="27" name="object 27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90854" y="4389513"/>
                <a:ext cx="483844" cy="167640"/>
              </a:xfrm>
              <a:prstGeom prst="rect">
                <a:avLst/>
              </a:prstGeom>
            </p:spPr>
          </p:pic>
        </p:grpSp>
      </p:grp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7714" y="605408"/>
            <a:ext cx="1533016" cy="81915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093464" y="1549336"/>
            <a:ext cx="12141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solidFill>
                  <a:srgbClr val="FF9300"/>
                </a:solidFill>
                <a:latin typeface="Verdana"/>
                <a:cs typeface="Verdana"/>
              </a:rPr>
              <a:t>#</a:t>
            </a:r>
            <a:r>
              <a:rPr sz="1550" spc="-4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550" spc="15" dirty="0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32530" y="542925"/>
            <a:ext cx="2649220" cy="1132205"/>
            <a:chOff x="3232530" y="542925"/>
            <a:chExt cx="2649220" cy="1132205"/>
          </a:xfrm>
        </p:grpSpPr>
        <p:sp>
          <p:nvSpPr>
            <p:cNvPr id="31" name="object 31"/>
            <p:cNvSpPr/>
            <p:nvPr/>
          </p:nvSpPr>
          <p:spPr>
            <a:xfrm>
              <a:off x="3232531" y="542924"/>
              <a:ext cx="2649220" cy="1132205"/>
            </a:xfrm>
            <a:custGeom>
              <a:avLst/>
              <a:gdLst/>
              <a:ahLst/>
              <a:cxnLst/>
              <a:rect l="l" t="t" r="r" b="b"/>
              <a:pathLst>
                <a:path w="2649220" h="1132205">
                  <a:moveTo>
                    <a:pt x="61722" y="477774"/>
                  </a:moveTo>
                  <a:lnTo>
                    <a:pt x="59055" y="470281"/>
                  </a:lnTo>
                  <a:lnTo>
                    <a:pt x="45593" y="475094"/>
                  </a:lnTo>
                  <a:lnTo>
                    <a:pt x="33807" y="482092"/>
                  </a:lnTo>
                  <a:lnTo>
                    <a:pt x="8559" y="515797"/>
                  </a:lnTo>
                  <a:lnTo>
                    <a:pt x="0" y="562991"/>
                  </a:lnTo>
                  <a:lnTo>
                    <a:pt x="952" y="579970"/>
                  </a:lnTo>
                  <a:lnTo>
                    <a:pt x="15240" y="623189"/>
                  </a:lnTo>
                  <a:lnTo>
                    <a:pt x="45593" y="650697"/>
                  </a:lnTo>
                  <a:lnTo>
                    <a:pt x="59055" y="655574"/>
                  </a:lnTo>
                  <a:lnTo>
                    <a:pt x="61341" y="647954"/>
                  </a:lnTo>
                  <a:lnTo>
                    <a:pt x="50812" y="643318"/>
                  </a:lnTo>
                  <a:lnTo>
                    <a:pt x="41719" y="636828"/>
                  </a:lnTo>
                  <a:lnTo>
                    <a:pt x="19634" y="593128"/>
                  </a:lnTo>
                  <a:lnTo>
                    <a:pt x="16891" y="561975"/>
                  </a:lnTo>
                  <a:lnTo>
                    <a:pt x="17576" y="546188"/>
                  </a:lnTo>
                  <a:lnTo>
                    <a:pt x="27813" y="507111"/>
                  </a:lnTo>
                  <a:lnTo>
                    <a:pt x="51028" y="482396"/>
                  </a:lnTo>
                  <a:lnTo>
                    <a:pt x="61722" y="477774"/>
                  </a:lnTo>
                  <a:close/>
                </a:path>
                <a:path w="2649220" h="1132205">
                  <a:moveTo>
                    <a:pt x="466852" y="562991"/>
                  </a:moveTo>
                  <a:lnTo>
                    <a:pt x="458279" y="515797"/>
                  </a:lnTo>
                  <a:lnTo>
                    <a:pt x="433031" y="482092"/>
                  </a:lnTo>
                  <a:lnTo>
                    <a:pt x="407797" y="470281"/>
                  </a:lnTo>
                  <a:lnTo>
                    <a:pt x="405130" y="477774"/>
                  </a:lnTo>
                  <a:lnTo>
                    <a:pt x="415886" y="482396"/>
                  </a:lnTo>
                  <a:lnTo>
                    <a:pt x="425132" y="488823"/>
                  </a:lnTo>
                  <a:lnTo>
                    <a:pt x="447255" y="531787"/>
                  </a:lnTo>
                  <a:lnTo>
                    <a:pt x="449961" y="561975"/>
                  </a:lnTo>
                  <a:lnTo>
                    <a:pt x="449287" y="578294"/>
                  </a:lnTo>
                  <a:lnTo>
                    <a:pt x="439039" y="618363"/>
                  </a:lnTo>
                  <a:lnTo>
                    <a:pt x="405511" y="647954"/>
                  </a:lnTo>
                  <a:lnTo>
                    <a:pt x="407797" y="655574"/>
                  </a:lnTo>
                  <a:lnTo>
                    <a:pt x="443255" y="634504"/>
                  </a:lnTo>
                  <a:lnTo>
                    <a:pt x="463105" y="595668"/>
                  </a:lnTo>
                  <a:lnTo>
                    <a:pt x="465912" y="579970"/>
                  </a:lnTo>
                  <a:lnTo>
                    <a:pt x="466852" y="562991"/>
                  </a:lnTo>
                  <a:close/>
                </a:path>
                <a:path w="2649220" h="1132205">
                  <a:moveTo>
                    <a:pt x="2648839" y="962025"/>
                  </a:moveTo>
                  <a:lnTo>
                    <a:pt x="2625979" y="942975"/>
                  </a:lnTo>
                  <a:lnTo>
                    <a:pt x="2517013" y="852170"/>
                  </a:lnTo>
                  <a:lnTo>
                    <a:pt x="2510332" y="848575"/>
                  </a:lnTo>
                  <a:lnTo>
                    <a:pt x="2485847" y="868514"/>
                  </a:lnTo>
                  <a:lnTo>
                    <a:pt x="2487866" y="875499"/>
                  </a:lnTo>
                  <a:lnTo>
                    <a:pt x="2492629" y="881380"/>
                  </a:lnTo>
                  <a:lnTo>
                    <a:pt x="2566543" y="942975"/>
                  </a:lnTo>
                  <a:lnTo>
                    <a:pt x="558419" y="942975"/>
                  </a:lnTo>
                  <a:lnTo>
                    <a:pt x="558419" y="82296"/>
                  </a:lnTo>
                  <a:lnTo>
                    <a:pt x="620014" y="156210"/>
                  </a:lnTo>
                  <a:lnTo>
                    <a:pt x="625894" y="160972"/>
                  </a:lnTo>
                  <a:lnTo>
                    <a:pt x="632879" y="162991"/>
                  </a:lnTo>
                  <a:lnTo>
                    <a:pt x="640130" y="162229"/>
                  </a:lnTo>
                  <a:lnTo>
                    <a:pt x="646811" y="158623"/>
                  </a:lnTo>
                  <a:lnTo>
                    <a:pt x="651560" y="152742"/>
                  </a:lnTo>
                  <a:lnTo>
                    <a:pt x="653580" y="145757"/>
                  </a:lnTo>
                  <a:lnTo>
                    <a:pt x="652818" y="138506"/>
                  </a:lnTo>
                  <a:lnTo>
                    <a:pt x="649224" y="131826"/>
                  </a:lnTo>
                  <a:lnTo>
                    <a:pt x="564134" y="29718"/>
                  </a:lnTo>
                  <a:lnTo>
                    <a:pt x="539369" y="0"/>
                  </a:lnTo>
                  <a:lnTo>
                    <a:pt x="429514" y="131826"/>
                  </a:lnTo>
                  <a:lnTo>
                    <a:pt x="425907" y="138506"/>
                  </a:lnTo>
                  <a:lnTo>
                    <a:pt x="425145" y="145757"/>
                  </a:lnTo>
                  <a:lnTo>
                    <a:pt x="427164" y="152742"/>
                  </a:lnTo>
                  <a:lnTo>
                    <a:pt x="431927" y="158623"/>
                  </a:lnTo>
                  <a:lnTo>
                    <a:pt x="438594" y="162229"/>
                  </a:lnTo>
                  <a:lnTo>
                    <a:pt x="445846" y="162991"/>
                  </a:lnTo>
                  <a:lnTo>
                    <a:pt x="452831" y="160972"/>
                  </a:lnTo>
                  <a:lnTo>
                    <a:pt x="458724" y="156210"/>
                  </a:lnTo>
                  <a:lnTo>
                    <a:pt x="520306" y="82296"/>
                  </a:lnTo>
                  <a:lnTo>
                    <a:pt x="520319" y="29718"/>
                  </a:lnTo>
                  <a:lnTo>
                    <a:pt x="520319" y="82296"/>
                  </a:lnTo>
                  <a:lnTo>
                    <a:pt x="520319" y="942975"/>
                  </a:lnTo>
                  <a:lnTo>
                    <a:pt x="377444" y="942975"/>
                  </a:lnTo>
                  <a:lnTo>
                    <a:pt x="377444" y="981075"/>
                  </a:lnTo>
                  <a:lnTo>
                    <a:pt x="520319" y="981075"/>
                  </a:lnTo>
                  <a:lnTo>
                    <a:pt x="520319" y="1131697"/>
                  </a:lnTo>
                  <a:lnTo>
                    <a:pt x="558419" y="1131697"/>
                  </a:lnTo>
                  <a:lnTo>
                    <a:pt x="558419" y="981075"/>
                  </a:lnTo>
                  <a:lnTo>
                    <a:pt x="2566543" y="981075"/>
                  </a:lnTo>
                  <a:lnTo>
                    <a:pt x="2492629" y="1042670"/>
                  </a:lnTo>
                  <a:lnTo>
                    <a:pt x="2487866" y="1048562"/>
                  </a:lnTo>
                  <a:lnTo>
                    <a:pt x="2485847" y="1055547"/>
                  </a:lnTo>
                  <a:lnTo>
                    <a:pt x="2486609" y="1062799"/>
                  </a:lnTo>
                  <a:lnTo>
                    <a:pt x="2490216" y="1069467"/>
                  </a:lnTo>
                  <a:lnTo>
                    <a:pt x="2496096" y="1074229"/>
                  </a:lnTo>
                  <a:lnTo>
                    <a:pt x="2503081" y="1076248"/>
                  </a:lnTo>
                  <a:lnTo>
                    <a:pt x="2510332" y="1075486"/>
                  </a:lnTo>
                  <a:lnTo>
                    <a:pt x="2517013" y="1071880"/>
                  </a:lnTo>
                  <a:lnTo>
                    <a:pt x="2625979" y="981075"/>
                  </a:lnTo>
                  <a:lnTo>
                    <a:pt x="2648839" y="962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10127" y="1006348"/>
              <a:ext cx="140335" cy="48260"/>
            </a:xfrm>
            <a:custGeom>
              <a:avLst/>
              <a:gdLst/>
              <a:ahLst/>
              <a:cxnLst/>
              <a:rect l="l" t="t" r="r" b="b"/>
              <a:pathLst>
                <a:path w="140335" h="48259">
                  <a:moveTo>
                    <a:pt x="115824" y="0"/>
                  </a:moveTo>
                  <a:lnTo>
                    <a:pt x="110617" y="5841"/>
                  </a:lnTo>
                  <a:lnTo>
                    <a:pt x="126237" y="19430"/>
                  </a:lnTo>
                  <a:lnTo>
                    <a:pt x="0" y="19430"/>
                  </a:lnTo>
                  <a:lnTo>
                    <a:pt x="0" y="28701"/>
                  </a:lnTo>
                  <a:lnTo>
                    <a:pt x="126237" y="28701"/>
                  </a:lnTo>
                  <a:lnTo>
                    <a:pt x="110617" y="42290"/>
                  </a:lnTo>
                  <a:lnTo>
                    <a:pt x="115824" y="48132"/>
                  </a:lnTo>
                  <a:lnTo>
                    <a:pt x="140335" y="26924"/>
                  </a:lnTo>
                  <a:lnTo>
                    <a:pt x="140335" y="21209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19754" y="952499"/>
            <a:ext cx="53403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30" dirty="0">
                <a:latin typeface="Cambria Math"/>
                <a:cs typeface="Cambria Math"/>
              </a:rPr>
              <a:t>𝐽 </a:t>
            </a:r>
            <a:r>
              <a:rPr sz="1550" spc="60" dirty="0">
                <a:latin typeface="Cambria Math"/>
                <a:cs typeface="Cambria Math"/>
              </a:rPr>
              <a:t> </a:t>
            </a:r>
            <a:r>
              <a:rPr sz="1550" spc="14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550" spc="5" dirty="0">
                <a:latin typeface="Cambria Math"/>
                <a:cs typeface="Cambria Math"/>
              </a:rPr>
              <a:t>,</a:t>
            </a:r>
            <a:r>
              <a:rPr sz="1550" spc="-145" dirty="0">
                <a:latin typeface="Cambria Math"/>
                <a:cs typeface="Cambria Math"/>
              </a:rPr>
              <a:t> </a:t>
            </a:r>
            <a:r>
              <a:rPr sz="1550" spc="3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4171" y="594691"/>
            <a:ext cx="2661920" cy="1130935"/>
            <a:chOff x="172212" y="504824"/>
            <a:chExt cx="2661920" cy="1130935"/>
          </a:xfrm>
        </p:grpSpPr>
        <p:sp>
          <p:nvSpPr>
            <p:cNvPr id="43" name="object 43"/>
            <p:cNvSpPr/>
            <p:nvPr/>
          </p:nvSpPr>
          <p:spPr>
            <a:xfrm>
              <a:off x="172212" y="504824"/>
              <a:ext cx="2661920" cy="1130935"/>
            </a:xfrm>
            <a:custGeom>
              <a:avLst/>
              <a:gdLst/>
              <a:ahLst/>
              <a:cxnLst/>
              <a:rect l="l" t="t" r="r" b="b"/>
              <a:pathLst>
                <a:path w="2661920" h="1130935">
                  <a:moveTo>
                    <a:pt x="61734" y="538226"/>
                  </a:moveTo>
                  <a:lnTo>
                    <a:pt x="59093" y="530733"/>
                  </a:lnTo>
                  <a:lnTo>
                    <a:pt x="45656" y="535622"/>
                  </a:lnTo>
                  <a:lnTo>
                    <a:pt x="33870" y="542658"/>
                  </a:lnTo>
                  <a:lnTo>
                    <a:pt x="8597" y="576376"/>
                  </a:lnTo>
                  <a:lnTo>
                    <a:pt x="0" y="623443"/>
                  </a:lnTo>
                  <a:lnTo>
                    <a:pt x="952" y="640499"/>
                  </a:lnTo>
                  <a:lnTo>
                    <a:pt x="15240" y="683641"/>
                  </a:lnTo>
                  <a:lnTo>
                    <a:pt x="45618" y="711225"/>
                  </a:lnTo>
                  <a:lnTo>
                    <a:pt x="59093" y="716026"/>
                  </a:lnTo>
                  <a:lnTo>
                    <a:pt x="61442" y="708533"/>
                  </a:lnTo>
                  <a:lnTo>
                    <a:pt x="50876" y="703846"/>
                  </a:lnTo>
                  <a:lnTo>
                    <a:pt x="41770" y="697344"/>
                  </a:lnTo>
                  <a:lnTo>
                    <a:pt x="19646" y="653669"/>
                  </a:lnTo>
                  <a:lnTo>
                    <a:pt x="16903" y="622427"/>
                  </a:lnTo>
                  <a:lnTo>
                    <a:pt x="17589" y="606653"/>
                  </a:lnTo>
                  <a:lnTo>
                    <a:pt x="27889" y="567690"/>
                  </a:lnTo>
                  <a:lnTo>
                    <a:pt x="51041" y="542925"/>
                  </a:lnTo>
                  <a:lnTo>
                    <a:pt x="61734" y="538226"/>
                  </a:lnTo>
                  <a:close/>
                </a:path>
                <a:path w="2661920" h="1130935">
                  <a:moveTo>
                    <a:pt x="466966" y="623443"/>
                  </a:moveTo>
                  <a:lnTo>
                    <a:pt x="458355" y="576376"/>
                  </a:lnTo>
                  <a:lnTo>
                    <a:pt x="433082" y="542658"/>
                  </a:lnTo>
                  <a:lnTo>
                    <a:pt x="407873" y="530733"/>
                  </a:lnTo>
                  <a:lnTo>
                    <a:pt x="405231" y="538226"/>
                  </a:lnTo>
                  <a:lnTo>
                    <a:pt x="415950" y="542925"/>
                  </a:lnTo>
                  <a:lnTo>
                    <a:pt x="425183" y="549389"/>
                  </a:lnTo>
                  <a:lnTo>
                    <a:pt x="447319" y="592251"/>
                  </a:lnTo>
                  <a:lnTo>
                    <a:pt x="450062" y="622427"/>
                  </a:lnTo>
                  <a:lnTo>
                    <a:pt x="449364" y="638810"/>
                  </a:lnTo>
                  <a:lnTo>
                    <a:pt x="439077" y="678815"/>
                  </a:lnTo>
                  <a:lnTo>
                    <a:pt x="405523" y="708533"/>
                  </a:lnTo>
                  <a:lnTo>
                    <a:pt x="407873" y="716026"/>
                  </a:lnTo>
                  <a:lnTo>
                    <a:pt x="443268" y="695032"/>
                  </a:lnTo>
                  <a:lnTo>
                    <a:pt x="463156" y="656209"/>
                  </a:lnTo>
                  <a:lnTo>
                    <a:pt x="466013" y="640499"/>
                  </a:lnTo>
                  <a:lnTo>
                    <a:pt x="466966" y="623443"/>
                  </a:lnTo>
                  <a:close/>
                </a:path>
                <a:path w="2661920" h="1130935">
                  <a:moveTo>
                    <a:pt x="2661412" y="1009650"/>
                  </a:moveTo>
                  <a:lnTo>
                    <a:pt x="2638552" y="990600"/>
                  </a:lnTo>
                  <a:lnTo>
                    <a:pt x="2529586" y="899795"/>
                  </a:lnTo>
                  <a:lnTo>
                    <a:pt x="2522905" y="896200"/>
                  </a:lnTo>
                  <a:lnTo>
                    <a:pt x="2498356" y="916139"/>
                  </a:lnTo>
                  <a:lnTo>
                    <a:pt x="2500426" y="923124"/>
                  </a:lnTo>
                  <a:lnTo>
                    <a:pt x="2505202" y="929005"/>
                  </a:lnTo>
                  <a:lnTo>
                    <a:pt x="2579116" y="990600"/>
                  </a:lnTo>
                  <a:lnTo>
                    <a:pt x="561213" y="990600"/>
                  </a:lnTo>
                  <a:lnTo>
                    <a:pt x="561213" y="82334"/>
                  </a:lnTo>
                  <a:lnTo>
                    <a:pt x="622782" y="156210"/>
                  </a:lnTo>
                  <a:lnTo>
                    <a:pt x="628675" y="160972"/>
                  </a:lnTo>
                  <a:lnTo>
                    <a:pt x="635685" y="162991"/>
                  </a:lnTo>
                  <a:lnTo>
                    <a:pt x="642950" y="162229"/>
                  </a:lnTo>
                  <a:lnTo>
                    <a:pt x="649592" y="158623"/>
                  </a:lnTo>
                  <a:lnTo>
                    <a:pt x="654342" y="152742"/>
                  </a:lnTo>
                  <a:lnTo>
                    <a:pt x="656386" y="145757"/>
                  </a:lnTo>
                  <a:lnTo>
                    <a:pt x="655637" y="138506"/>
                  </a:lnTo>
                  <a:lnTo>
                    <a:pt x="652043" y="131826"/>
                  </a:lnTo>
                  <a:lnTo>
                    <a:pt x="566928" y="29718"/>
                  </a:lnTo>
                  <a:lnTo>
                    <a:pt x="542163" y="0"/>
                  </a:lnTo>
                  <a:lnTo>
                    <a:pt x="432282" y="131826"/>
                  </a:lnTo>
                  <a:lnTo>
                    <a:pt x="428675" y="138506"/>
                  </a:lnTo>
                  <a:lnTo>
                    <a:pt x="427939" y="145757"/>
                  </a:lnTo>
                  <a:lnTo>
                    <a:pt x="429971" y="152742"/>
                  </a:lnTo>
                  <a:lnTo>
                    <a:pt x="434721" y="158623"/>
                  </a:lnTo>
                  <a:lnTo>
                    <a:pt x="441363" y="162229"/>
                  </a:lnTo>
                  <a:lnTo>
                    <a:pt x="448627" y="162991"/>
                  </a:lnTo>
                  <a:lnTo>
                    <a:pt x="455637" y="160972"/>
                  </a:lnTo>
                  <a:lnTo>
                    <a:pt x="461543" y="156210"/>
                  </a:lnTo>
                  <a:lnTo>
                    <a:pt x="523113" y="82334"/>
                  </a:lnTo>
                  <a:lnTo>
                    <a:pt x="523113" y="990600"/>
                  </a:lnTo>
                  <a:lnTo>
                    <a:pt x="284988" y="990600"/>
                  </a:lnTo>
                  <a:lnTo>
                    <a:pt x="284988" y="1028700"/>
                  </a:lnTo>
                  <a:lnTo>
                    <a:pt x="523113" y="1028700"/>
                  </a:lnTo>
                  <a:lnTo>
                    <a:pt x="523113" y="1130427"/>
                  </a:lnTo>
                  <a:lnTo>
                    <a:pt x="561213" y="1130427"/>
                  </a:lnTo>
                  <a:lnTo>
                    <a:pt x="561213" y="1028700"/>
                  </a:lnTo>
                  <a:lnTo>
                    <a:pt x="2579116" y="1028700"/>
                  </a:lnTo>
                  <a:lnTo>
                    <a:pt x="2505202" y="1090295"/>
                  </a:lnTo>
                  <a:lnTo>
                    <a:pt x="2500426" y="1096187"/>
                  </a:lnTo>
                  <a:lnTo>
                    <a:pt x="2498356" y="1103172"/>
                  </a:lnTo>
                  <a:lnTo>
                    <a:pt x="2499068" y="1110424"/>
                  </a:lnTo>
                  <a:lnTo>
                    <a:pt x="2502662" y="1117092"/>
                  </a:lnTo>
                  <a:lnTo>
                    <a:pt x="2508618" y="1121854"/>
                  </a:lnTo>
                  <a:lnTo>
                    <a:pt x="2515641" y="1123873"/>
                  </a:lnTo>
                  <a:lnTo>
                    <a:pt x="2522905" y="1123111"/>
                  </a:lnTo>
                  <a:lnTo>
                    <a:pt x="2529586" y="1119505"/>
                  </a:lnTo>
                  <a:lnTo>
                    <a:pt x="2638552" y="1028700"/>
                  </a:lnTo>
                  <a:lnTo>
                    <a:pt x="2661412" y="1009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9885" y="1028826"/>
              <a:ext cx="140335" cy="48260"/>
            </a:xfrm>
            <a:custGeom>
              <a:avLst/>
              <a:gdLst/>
              <a:ahLst/>
              <a:cxnLst/>
              <a:rect l="l" t="t" r="r" b="b"/>
              <a:pathLst>
                <a:path w="140335" h="48259">
                  <a:moveTo>
                    <a:pt x="115798" y="0"/>
                  </a:moveTo>
                  <a:lnTo>
                    <a:pt x="110629" y="5842"/>
                  </a:lnTo>
                  <a:lnTo>
                    <a:pt x="126250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26250" y="28575"/>
                  </a:lnTo>
                  <a:lnTo>
                    <a:pt x="110629" y="42163"/>
                  </a:lnTo>
                  <a:lnTo>
                    <a:pt x="115798" y="48006"/>
                  </a:lnTo>
                  <a:lnTo>
                    <a:pt x="140322" y="26797"/>
                  </a:lnTo>
                  <a:lnTo>
                    <a:pt x="140322" y="21209"/>
                  </a:lnTo>
                  <a:lnTo>
                    <a:pt x="11579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008501" y="441007"/>
            <a:ext cx="12115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sz="1400" spc="1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400" spc="35" dirty="0">
                <a:latin typeface="Verdana"/>
                <a:cs typeface="Verdana"/>
              </a:rPr>
              <a:t>is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too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C00000"/>
                </a:solidFill>
                <a:latin typeface="Verdana"/>
                <a:cs typeface="Verdana"/>
              </a:rPr>
              <a:t>large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0" y="1047750"/>
            <a:ext cx="5346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latin typeface="Cambria Math"/>
                <a:cs typeface="Cambria Math"/>
              </a:rPr>
              <a:t>𝐽 </a:t>
            </a:r>
            <a:r>
              <a:rPr sz="1550" spc="65" dirty="0">
                <a:latin typeface="Cambria Math"/>
                <a:cs typeface="Cambria Math"/>
              </a:rPr>
              <a:t> </a:t>
            </a:r>
            <a:r>
              <a:rPr sz="1550" spc="13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550" spc="5" dirty="0">
                <a:latin typeface="Cambria Math"/>
                <a:cs typeface="Cambria Math"/>
              </a:rPr>
              <a:t>,</a:t>
            </a:r>
            <a:r>
              <a:rPr sz="1550" spc="-140" dirty="0">
                <a:latin typeface="Cambria Math"/>
                <a:cs typeface="Cambria Math"/>
              </a:rPr>
              <a:t> </a:t>
            </a:r>
            <a:r>
              <a:rPr sz="1550" spc="2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5842" y="870534"/>
            <a:ext cx="1882751" cy="568960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905827" y="1580578"/>
            <a:ext cx="121856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solidFill>
                  <a:srgbClr val="FF9300"/>
                </a:solidFill>
                <a:latin typeface="Verdana"/>
                <a:cs typeface="Verdana"/>
              </a:rPr>
              <a:t>#</a:t>
            </a:r>
            <a:r>
              <a:rPr sz="1550" spc="-20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550" spc="15" dirty="0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DCF40C1F-06AE-CA56-33EC-F6993F32D3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63000" y="4869656"/>
            <a:ext cx="255346" cy="273844"/>
          </a:xfrm>
        </p:spPr>
        <p:txBody>
          <a:bodyPr/>
          <a:lstStyle/>
          <a:p>
            <a:pPr algn="ctr"/>
            <a:fld id="{B6F15528-21DE-4FAA-801E-634DDDAF4B2B}" type="slidenum">
              <a:rPr lang="en-PS" smtClean="0">
                <a:solidFill>
                  <a:srgbClr val="0432FF"/>
                </a:solidFill>
              </a:rPr>
              <a:pPr algn="ctr"/>
              <a:t>48</a:t>
            </a:fld>
            <a:endParaRPr lang="en-PS" dirty="0">
              <a:solidFill>
                <a:srgbClr val="0432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1953CC-A400-FF64-D9F2-F568CCB5D3B1}"/>
              </a:ext>
            </a:extLst>
          </p:cNvPr>
          <p:cNvSpPr txBox="1"/>
          <p:nvPr/>
        </p:nvSpPr>
        <p:spPr>
          <a:xfrm>
            <a:off x="125654" y="4244110"/>
            <a:ext cx="4529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en-GB" dirty="0"/>
              <a:t>Since alpha is big you may skip the minimum, </a:t>
            </a:r>
          </a:p>
          <a:p>
            <a:pPr marL="0" algn="l" defTabSz="914400" rtl="0" eaLnBrk="1" latinLnBrk="0" hangingPunct="1"/>
            <a:r>
              <a:rPr lang="en-GB" dirty="0"/>
              <a:t>and that will make the cost function increases </a:t>
            </a:r>
            <a:endParaRPr lang="en-P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080" y="217977"/>
            <a:ext cx="3700202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spc="-5" dirty="0"/>
              <a:t>Values</a:t>
            </a:r>
            <a:r>
              <a:rPr sz="2800" spc="-60" dirty="0"/>
              <a:t> </a:t>
            </a:r>
            <a:r>
              <a:rPr sz="2800" spc="-5" dirty="0"/>
              <a:t>of</a:t>
            </a:r>
            <a:r>
              <a:rPr sz="2800" dirty="0"/>
              <a:t> </a:t>
            </a:r>
            <a:r>
              <a:rPr sz="2800" spc="15" dirty="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sz="2800" spc="3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spc="25" dirty="0"/>
              <a:t>to</a:t>
            </a:r>
            <a:r>
              <a:rPr sz="2800" spc="-150" dirty="0"/>
              <a:t> </a:t>
            </a:r>
            <a:r>
              <a:rPr sz="2800" spc="25" dirty="0"/>
              <a:t>try:</a:t>
            </a:r>
            <a:endParaRPr sz="2800" dirty="0">
              <a:latin typeface="Cambria Math"/>
              <a:cs typeface="Cambria Math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630892-E047-B5F6-8153-2EC31AF10F9D}"/>
              </a:ext>
            </a:extLst>
          </p:cNvPr>
          <p:cNvGrpSpPr/>
          <p:nvPr/>
        </p:nvGrpSpPr>
        <p:grpSpPr>
          <a:xfrm>
            <a:off x="960017" y="1006778"/>
            <a:ext cx="5520690" cy="825435"/>
            <a:chOff x="1817751" y="1109916"/>
            <a:chExt cx="5520690" cy="825435"/>
          </a:xfrm>
        </p:grpSpPr>
        <p:sp>
          <p:nvSpPr>
            <p:cNvPr id="3" name="object 3"/>
            <p:cNvSpPr txBox="1"/>
            <p:nvPr/>
          </p:nvSpPr>
          <p:spPr>
            <a:xfrm>
              <a:off x="1817751" y="1109916"/>
              <a:ext cx="941069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20" dirty="0">
                  <a:latin typeface="Cambria Math"/>
                  <a:cs typeface="Cambria Math"/>
                </a:rPr>
                <a:t>…</a:t>
              </a:r>
              <a:r>
                <a:rPr sz="2000" spc="210" dirty="0">
                  <a:latin typeface="Cambria Math"/>
                  <a:cs typeface="Cambria Math"/>
                </a:rPr>
                <a:t> </a:t>
              </a:r>
              <a:r>
                <a:rPr sz="20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0.001</a:t>
              </a:r>
              <a:endParaRPr sz="2000">
                <a:latin typeface="Cambria Math"/>
                <a:cs typeface="Cambria Math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991609" y="1109916"/>
              <a:ext cx="511809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0</a:t>
              </a:r>
              <a:r>
                <a:rPr sz="2000" spc="35" dirty="0">
                  <a:solidFill>
                    <a:srgbClr val="C00000"/>
                  </a:solidFill>
                  <a:latin typeface="Cambria Math"/>
                  <a:cs typeface="Cambria Math"/>
                </a:rPr>
                <a:t>.</a:t>
              </a:r>
              <a:r>
                <a:rPr sz="20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01</a:t>
              </a:r>
              <a:endParaRPr sz="2000">
                <a:latin typeface="Cambria Math"/>
                <a:cs typeface="Cambria Math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431154" y="1109916"/>
              <a:ext cx="368300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0</a:t>
              </a:r>
              <a:r>
                <a:rPr sz="2000" spc="35" dirty="0">
                  <a:solidFill>
                    <a:srgbClr val="C00000"/>
                  </a:solidFill>
                  <a:latin typeface="Cambria Math"/>
                  <a:cs typeface="Cambria Math"/>
                </a:rPr>
                <a:t>.</a:t>
              </a:r>
              <a:r>
                <a:rPr sz="20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1</a:t>
              </a:r>
              <a:endParaRPr sz="2000">
                <a:latin typeface="Cambria Math"/>
                <a:cs typeface="Cambria Math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937756" y="1109916"/>
              <a:ext cx="400685" cy="3346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spc="15" dirty="0">
                  <a:solidFill>
                    <a:srgbClr val="C00000"/>
                  </a:solidFill>
                  <a:latin typeface="Cambria Math"/>
                  <a:cs typeface="Cambria Math"/>
                </a:rPr>
                <a:t>1</a:t>
              </a:r>
              <a:r>
                <a:rPr sz="2000" spc="-140" dirty="0">
                  <a:solidFill>
                    <a:srgbClr val="C00000"/>
                  </a:solidFill>
                  <a:latin typeface="Cambria Math"/>
                  <a:cs typeface="Cambria Math"/>
                </a:rPr>
                <a:t> </a:t>
              </a:r>
              <a:r>
                <a:rPr sz="2000" spc="20" dirty="0">
                  <a:latin typeface="Cambria Math"/>
                  <a:cs typeface="Cambria Math"/>
                </a:rPr>
                <a:t>…</a:t>
              </a:r>
              <a:endParaRPr sz="2000">
                <a:latin typeface="Cambria Math"/>
                <a:cs typeface="Cambria Math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8173" y="1165860"/>
              <a:ext cx="1461497" cy="4386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8372" y="1662683"/>
              <a:ext cx="381543" cy="2378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0733" y="1171194"/>
              <a:ext cx="1191827" cy="3900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5192" y="1718564"/>
              <a:ext cx="192595" cy="1484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4203" y="1694942"/>
              <a:ext cx="280670" cy="2033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4009" y="1194180"/>
              <a:ext cx="1055496" cy="4187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40352" y="1697608"/>
              <a:ext cx="381635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06008" y="1682495"/>
              <a:ext cx="381543" cy="2377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45016" y="1718564"/>
              <a:ext cx="192595" cy="1484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4028" y="1694942"/>
              <a:ext cx="280670" cy="2033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72793" y="1709547"/>
              <a:ext cx="192628" cy="1484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31838" y="1685925"/>
              <a:ext cx="280669" cy="20332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EBFF51-F681-83BE-6779-534383ABFDF5}"/>
              </a:ext>
            </a:extLst>
          </p:cNvPr>
          <p:cNvGrpSpPr/>
          <p:nvPr/>
        </p:nvGrpSpPr>
        <p:grpSpPr>
          <a:xfrm>
            <a:off x="390172" y="2943924"/>
            <a:ext cx="3495550" cy="1304290"/>
            <a:chOff x="715962" y="2676525"/>
            <a:chExt cx="3495550" cy="1304290"/>
          </a:xfrm>
        </p:grpSpPr>
        <p:sp>
          <p:nvSpPr>
            <p:cNvPr id="19" name="object 19"/>
            <p:cNvSpPr txBox="1"/>
            <p:nvPr/>
          </p:nvSpPr>
          <p:spPr>
            <a:xfrm>
              <a:off x="1684020" y="3714750"/>
              <a:ext cx="121793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0" dirty="0">
                  <a:solidFill>
                    <a:srgbClr val="FF9300"/>
                  </a:solidFill>
                  <a:latin typeface="Verdana"/>
                  <a:cs typeface="Verdana"/>
                </a:rPr>
                <a:t>#</a:t>
              </a:r>
              <a:r>
                <a:rPr sz="1550" spc="-25" dirty="0">
                  <a:solidFill>
                    <a:srgbClr val="FF9300"/>
                  </a:solidFill>
                  <a:latin typeface="Verdana"/>
                  <a:cs typeface="Verdana"/>
                </a:rPr>
                <a:t> </a:t>
              </a:r>
              <a:r>
                <a:rPr sz="1550" spc="15" dirty="0">
                  <a:solidFill>
                    <a:srgbClr val="FF9300"/>
                  </a:solidFill>
                  <a:latin typeface="Verdana"/>
                  <a:cs typeface="Verdana"/>
                </a:rPr>
                <a:t>iterations</a:t>
              </a:r>
              <a:endParaRPr sz="1550">
                <a:latin typeface="Verdana"/>
                <a:cs typeface="Verdana"/>
              </a:endParaRPr>
            </a:p>
          </p:txBody>
        </p:sp>
        <p:grpSp>
          <p:nvGrpSpPr>
            <p:cNvPr id="20" name="object 20"/>
            <p:cNvGrpSpPr/>
            <p:nvPr/>
          </p:nvGrpSpPr>
          <p:grpSpPr>
            <a:xfrm>
              <a:off x="812177" y="2676525"/>
              <a:ext cx="2697480" cy="1132205"/>
              <a:chOff x="812177" y="2676525"/>
              <a:chExt cx="2697480" cy="1132205"/>
            </a:xfrm>
          </p:grpSpPr>
          <p:sp>
            <p:nvSpPr>
              <p:cNvPr id="21" name="object 21"/>
              <p:cNvSpPr/>
              <p:nvPr/>
            </p:nvSpPr>
            <p:spPr>
              <a:xfrm>
                <a:off x="812177" y="2676524"/>
                <a:ext cx="2697480" cy="1132205"/>
              </a:xfrm>
              <a:custGeom>
                <a:avLst/>
                <a:gdLst/>
                <a:ahLst/>
                <a:cxnLst/>
                <a:rect l="l" t="t" r="r" b="b"/>
                <a:pathLst>
                  <a:path w="2697479" h="1132204">
                    <a:moveTo>
                      <a:pt x="61722" y="525272"/>
                    </a:moveTo>
                    <a:lnTo>
                      <a:pt x="59093" y="517779"/>
                    </a:lnTo>
                    <a:lnTo>
                      <a:pt x="45656" y="522668"/>
                    </a:lnTo>
                    <a:lnTo>
                      <a:pt x="33870" y="529704"/>
                    </a:lnTo>
                    <a:lnTo>
                      <a:pt x="8585" y="563422"/>
                    </a:lnTo>
                    <a:lnTo>
                      <a:pt x="0" y="610489"/>
                    </a:lnTo>
                    <a:lnTo>
                      <a:pt x="952" y="627494"/>
                    </a:lnTo>
                    <a:lnTo>
                      <a:pt x="15227" y="670687"/>
                    </a:lnTo>
                    <a:lnTo>
                      <a:pt x="45605" y="698195"/>
                    </a:lnTo>
                    <a:lnTo>
                      <a:pt x="59093" y="703072"/>
                    </a:lnTo>
                    <a:lnTo>
                      <a:pt x="61429" y="695579"/>
                    </a:lnTo>
                    <a:lnTo>
                      <a:pt x="50863" y="690867"/>
                    </a:lnTo>
                    <a:lnTo>
                      <a:pt x="41757" y="684339"/>
                    </a:lnTo>
                    <a:lnTo>
                      <a:pt x="19634" y="640715"/>
                    </a:lnTo>
                    <a:lnTo>
                      <a:pt x="16891" y="609473"/>
                    </a:lnTo>
                    <a:lnTo>
                      <a:pt x="17576" y="593686"/>
                    </a:lnTo>
                    <a:lnTo>
                      <a:pt x="27889" y="554609"/>
                    </a:lnTo>
                    <a:lnTo>
                      <a:pt x="51028" y="529971"/>
                    </a:lnTo>
                    <a:lnTo>
                      <a:pt x="61722" y="525272"/>
                    </a:lnTo>
                    <a:close/>
                  </a:path>
                  <a:path w="2697479" h="1132204">
                    <a:moveTo>
                      <a:pt x="476491" y="610489"/>
                    </a:moveTo>
                    <a:lnTo>
                      <a:pt x="467918" y="563422"/>
                    </a:lnTo>
                    <a:lnTo>
                      <a:pt x="442607" y="529704"/>
                    </a:lnTo>
                    <a:lnTo>
                      <a:pt x="417385" y="517779"/>
                    </a:lnTo>
                    <a:lnTo>
                      <a:pt x="414756" y="525272"/>
                    </a:lnTo>
                    <a:lnTo>
                      <a:pt x="425475" y="529971"/>
                    </a:lnTo>
                    <a:lnTo>
                      <a:pt x="434695" y="536422"/>
                    </a:lnTo>
                    <a:lnTo>
                      <a:pt x="456857" y="579285"/>
                    </a:lnTo>
                    <a:lnTo>
                      <a:pt x="459600" y="609473"/>
                    </a:lnTo>
                    <a:lnTo>
                      <a:pt x="458901" y="625856"/>
                    </a:lnTo>
                    <a:lnTo>
                      <a:pt x="448602" y="665861"/>
                    </a:lnTo>
                    <a:lnTo>
                      <a:pt x="415048" y="695579"/>
                    </a:lnTo>
                    <a:lnTo>
                      <a:pt x="417385" y="703072"/>
                    </a:lnTo>
                    <a:lnTo>
                      <a:pt x="452793" y="682002"/>
                    </a:lnTo>
                    <a:lnTo>
                      <a:pt x="472668" y="643216"/>
                    </a:lnTo>
                    <a:lnTo>
                      <a:pt x="475538" y="627494"/>
                    </a:lnTo>
                    <a:lnTo>
                      <a:pt x="476491" y="610489"/>
                    </a:lnTo>
                    <a:close/>
                  </a:path>
                  <a:path w="2697479" h="1132204">
                    <a:moveTo>
                      <a:pt x="2697467" y="962025"/>
                    </a:moveTo>
                    <a:lnTo>
                      <a:pt x="2674607" y="942975"/>
                    </a:lnTo>
                    <a:lnTo>
                      <a:pt x="2565641" y="852170"/>
                    </a:lnTo>
                    <a:lnTo>
                      <a:pt x="2559024" y="848575"/>
                    </a:lnTo>
                    <a:lnTo>
                      <a:pt x="2534475" y="868514"/>
                    </a:lnTo>
                    <a:lnTo>
                      <a:pt x="2536494" y="875499"/>
                    </a:lnTo>
                    <a:lnTo>
                      <a:pt x="2541257" y="881380"/>
                    </a:lnTo>
                    <a:lnTo>
                      <a:pt x="2615171" y="942975"/>
                    </a:lnTo>
                    <a:lnTo>
                      <a:pt x="607047" y="942975"/>
                    </a:lnTo>
                    <a:lnTo>
                      <a:pt x="607047" y="82308"/>
                    </a:lnTo>
                    <a:lnTo>
                      <a:pt x="668642" y="156210"/>
                    </a:lnTo>
                    <a:lnTo>
                      <a:pt x="674522" y="160972"/>
                    </a:lnTo>
                    <a:lnTo>
                      <a:pt x="681507" y="162991"/>
                    </a:lnTo>
                    <a:lnTo>
                      <a:pt x="688759" y="162229"/>
                    </a:lnTo>
                    <a:lnTo>
                      <a:pt x="695439" y="158623"/>
                    </a:lnTo>
                    <a:lnTo>
                      <a:pt x="700189" y="152742"/>
                    </a:lnTo>
                    <a:lnTo>
                      <a:pt x="702208" y="145757"/>
                    </a:lnTo>
                    <a:lnTo>
                      <a:pt x="701446" y="138506"/>
                    </a:lnTo>
                    <a:lnTo>
                      <a:pt x="697852" y="131826"/>
                    </a:lnTo>
                    <a:lnTo>
                      <a:pt x="612762" y="29718"/>
                    </a:lnTo>
                    <a:lnTo>
                      <a:pt x="587997" y="0"/>
                    </a:lnTo>
                    <a:lnTo>
                      <a:pt x="478142" y="131826"/>
                    </a:lnTo>
                    <a:lnTo>
                      <a:pt x="474535" y="138506"/>
                    </a:lnTo>
                    <a:lnTo>
                      <a:pt x="473773" y="145757"/>
                    </a:lnTo>
                    <a:lnTo>
                      <a:pt x="475792" y="152742"/>
                    </a:lnTo>
                    <a:lnTo>
                      <a:pt x="480555" y="158623"/>
                    </a:lnTo>
                    <a:lnTo>
                      <a:pt x="487222" y="162229"/>
                    </a:lnTo>
                    <a:lnTo>
                      <a:pt x="494474" y="162991"/>
                    </a:lnTo>
                    <a:lnTo>
                      <a:pt x="501459" y="160972"/>
                    </a:lnTo>
                    <a:lnTo>
                      <a:pt x="507352" y="156210"/>
                    </a:lnTo>
                    <a:lnTo>
                      <a:pt x="568947" y="82308"/>
                    </a:lnTo>
                    <a:lnTo>
                      <a:pt x="568947" y="942975"/>
                    </a:lnTo>
                    <a:lnTo>
                      <a:pt x="426072" y="942975"/>
                    </a:lnTo>
                    <a:lnTo>
                      <a:pt x="426072" y="981075"/>
                    </a:lnTo>
                    <a:lnTo>
                      <a:pt x="568947" y="981075"/>
                    </a:lnTo>
                    <a:lnTo>
                      <a:pt x="568947" y="1131697"/>
                    </a:lnTo>
                    <a:lnTo>
                      <a:pt x="607047" y="1131697"/>
                    </a:lnTo>
                    <a:lnTo>
                      <a:pt x="607047" y="981075"/>
                    </a:lnTo>
                    <a:lnTo>
                      <a:pt x="2615171" y="981075"/>
                    </a:lnTo>
                    <a:lnTo>
                      <a:pt x="2541257" y="1042670"/>
                    </a:lnTo>
                    <a:lnTo>
                      <a:pt x="2536494" y="1048562"/>
                    </a:lnTo>
                    <a:lnTo>
                      <a:pt x="2534475" y="1055547"/>
                    </a:lnTo>
                    <a:lnTo>
                      <a:pt x="2535237" y="1062799"/>
                    </a:lnTo>
                    <a:lnTo>
                      <a:pt x="2538844" y="1069467"/>
                    </a:lnTo>
                    <a:lnTo>
                      <a:pt x="2544737" y="1074229"/>
                    </a:lnTo>
                    <a:lnTo>
                      <a:pt x="2551760" y="1076248"/>
                    </a:lnTo>
                    <a:lnTo>
                      <a:pt x="2559024" y="1075486"/>
                    </a:lnTo>
                    <a:lnTo>
                      <a:pt x="2565641" y="1071880"/>
                    </a:lnTo>
                    <a:lnTo>
                      <a:pt x="2674607" y="981075"/>
                    </a:lnTo>
                    <a:lnTo>
                      <a:pt x="2697467" y="9620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880325" y="3187573"/>
                <a:ext cx="15938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59384" h="48260">
                    <a:moveTo>
                      <a:pt x="134848" y="0"/>
                    </a:moveTo>
                    <a:lnTo>
                      <a:pt x="129667" y="5841"/>
                    </a:lnTo>
                    <a:lnTo>
                      <a:pt x="145300" y="19431"/>
                    </a:lnTo>
                    <a:lnTo>
                      <a:pt x="0" y="19431"/>
                    </a:lnTo>
                    <a:lnTo>
                      <a:pt x="0" y="28575"/>
                    </a:lnTo>
                    <a:lnTo>
                      <a:pt x="145300" y="28575"/>
                    </a:lnTo>
                    <a:lnTo>
                      <a:pt x="129667" y="42163"/>
                    </a:lnTo>
                    <a:lnTo>
                      <a:pt x="134848" y="48006"/>
                    </a:lnTo>
                    <a:lnTo>
                      <a:pt x="159359" y="26796"/>
                    </a:lnTo>
                    <a:lnTo>
                      <a:pt x="159359" y="21208"/>
                    </a:lnTo>
                    <a:lnTo>
                      <a:pt x="134848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3" name="object 23"/>
            <p:cNvSpPr txBox="1"/>
            <p:nvPr/>
          </p:nvSpPr>
          <p:spPr>
            <a:xfrm>
              <a:off x="715962" y="3138106"/>
              <a:ext cx="51689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5" dirty="0">
                  <a:latin typeface="Cambria Math"/>
                  <a:cs typeface="Cambria Math"/>
                </a:rPr>
                <a:t>J </a:t>
              </a:r>
              <a:r>
                <a:rPr sz="1550" spc="35" dirty="0">
                  <a:latin typeface="Cambria Math"/>
                  <a:cs typeface="Cambria Math"/>
                </a:rPr>
                <a:t> </a:t>
              </a:r>
              <a:r>
                <a:rPr sz="1550" spc="-5" dirty="0">
                  <a:solidFill>
                    <a:srgbClr val="0096FF"/>
                  </a:solidFill>
                  <a:latin typeface="Cambria Math"/>
                  <a:cs typeface="Cambria Math"/>
                </a:rPr>
                <a:t>w</a:t>
              </a:r>
              <a:r>
                <a:rPr sz="1550" spc="5" dirty="0">
                  <a:latin typeface="Cambria Math"/>
                  <a:cs typeface="Cambria Math"/>
                </a:rPr>
                <a:t>,</a:t>
              </a:r>
              <a:r>
                <a:rPr sz="1550" spc="-65" dirty="0">
                  <a:latin typeface="Cambria Math"/>
                  <a:cs typeface="Cambria Math"/>
                </a:rPr>
                <a:t> </a:t>
              </a:r>
              <a:r>
                <a:rPr sz="1550" spc="15" dirty="0">
                  <a:solidFill>
                    <a:srgbClr val="0096FF"/>
                  </a:solidFill>
                  <a:latin typeface="Cambria Math"/>
                  <a:cs typeface="Cambria Math"/>
                </a:rPr>
                <a:t>b</a:t>
              </a:r>
              <a:endParaRPr sz="1550">
                <a:latin typeface="Cambria Math"/>
                <a:cs typeface="Cambria Math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93722" y="2685288"/>
              <a:ext cx="2617790" cy="632079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B8EB2F-5601-FDF8-E55E-DF890D4BB85B}"/>
              </a:ext>
            </a:extLst>
          </p:cNvPr>
          <p:cNvGrpSpPr/>
          <p:nvPr/>
        </p:nvGrpSpPr>
        <p:grpSpPr>
          <a:xfrm>
            <a:off x="4706977" y="2876550"/>
            <a:ext cx="3905122" cy="1371664"/>
            <a:chOff x="4562475" y="2602483"/>
            <a:chExt cx="3905122" cy="1371664"/>
          </a:xfrm>
        </p:grpSpPr>
        <p:sp>
          <p:nvSpPr>
            <p:cNvPr id="25" name="object 25"/>
            <p:cNvSpPr txBox="1"/>
            <p:nvPr/>
          </p:nvSpPr>
          <p:spPr>
            <a:xfrm>
              <a:off x="5598159" y="3708082"/>
              <a:ext cx="1216025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20" dirty="0">
                  <a:solidFill>
                    <a:srgbClr val="FF9300"/>
                  </a:solidFill>
                  <a:latin typeface="Verdana"/>
                  <a:cs typeface="Verdana"/>
                </a:rPr>
                <a:t>#</a:t>
              </a:r>
              <a:r>
                <a:rPr sz="1550" spc="-35" dirty="0">
                  <a:solidFill>
                    <a:srgbClr val="FF9300"/>
                  </a:solidFill>
                  <a:latin typeface="Verdana"/>
                  <a:cs typeface="Verdana"/>
                </a:rPr>
                <a:t> </a:t>
              </a:r>
              <a:r>
                <a:rPr sz="1550" spc="15" dirty="0">
                  <a:solidFill>
                    <a:srgbClr val="FF9300"/>
                  </a:solidFill>
                  <a:latin typeface="Verdana"/>
                  <a:cs typeface="Verdana"/>
                </a:rPr>
                <a:t>iterations</a:t>
              </a:r>
              <a:endParaRPr sz="1550">
                <a:latin typeface="Verdana"/>
                <a:cs typeface="Verdana"/>
              </a:endParaRPr>
            </a:p>
          </p:txBody>
        </p:sp>
        <p:grpSp>
          <p:nvGrpSpPr>
            <p:cNvPr id="26" name="object 26"/>
            <p:cNvGrpSpPr/>
            <p:nvPr/>
          </p:nvGrpSpPr>
          <p:grpSpPr>
            <a:xfrm>
              <a:off x="4654803" y="2705100"/>
              <a:ext cx="2684145" cy="1132205"/>
              <a:chOff x="4654803" y="2705100"/>
              <a:chExt cx="2684145" cy="1132205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4654804" y="2705099"/>
                <a:ext cx="2684145" cy="1132205"/>
              </a:xfrm>
              <a:custGeom>
                <a:avLst/>
                <a:gdLst/>
                <a:ahLst/>
                <a:cxnLst/>
                <a:rect l="l" t="t" r="r" b="b"/>
                <a:pathLst>
                  <a:path w="2684145" h="1132204">
                    <a:moveTo>
                      <a:pt x="61722" y="499364"/>
                    </a:moveTo>
                    <a:lnTo>
                      <a:pt x="59055" y="491871"/>
                    </a:lnTo>
                    <a:lnTo>
                      <a:pt x="45593" y="496684"/>
                    </a:lnTo>
                    <a:lnTo>
                      <a:pt x="33807" y="503682"/>
                    </a:lnTo>
                    <a:lnTo>
                      <a:pt x="8572" y="537387"/>
                    </a:lnTo>
                    <a:lnTo>
                      <a:pt x="0" y="584581"/>
                    </a:lnTo>
                    <a:lnTo>
                      <a:pt x="939" y="601560"/>
                    </a:lnTo>
                    <a:lnTo>
                      <a:pt x="15240" y="644779"/>
                    </a:lnTo>
                    <a:lnTo>
                      <a:pt x="45593" y="672287"/>
                    </a:lnTo>
                    <a:lnTo>
                      <a:pt x="59055" y="677164"/>
                    </a:lnTo>
                    <a:lnTo>
                      <a:pt x="61468" y="669544"/>
                    </a:lnTo>
                    <a:lnTo>
                      <a:pt x="50863" y="664908"/>
                    </a:lnTo>
                    <a:lnTo>
                      <a:pt x="41732" y="658418"/>
                    </a:lnTo>
                    <a:lnTo>
                      <a:pt x="19634" y="614718"/>
                    </a:lnTo>
                    <a:lnTo>
                      <a:pt x="16891" y="583565"/>
                    </a:lnTo>
                    <a:lnTo>
                      <a:pt x="17576" y="567778"/>
                    </a:lnTo>
                    <a:lnTo>
                      <a:pt x="27813" y="528701"/>
                    </a:lnTo>
                    <a:lnTo>
                      <a:pt x="51028" y="503986"/>
                    </a:lnTo>
                    <a:lnTo>
                      <a:pt x="61722" y="499364"/>
                    </a:lnTo>
                    <a:close/>
                  </a:path>
                  <a:path w="2684145" h="1132204">
                    <a:moveTo>
                      <a:pt x="476504" y="584581"/>
                    </a:moveTo>
                    <a:lnTo>
                      <a:pt x="467868" y="537387"/>
                    </a:lnTo>
                    <a:lnTo>
                      <a:pt x="442556" y="503682"/>
                    </a:lnTo>
                    <a:lnTo>
                      <a:pt x="417322" y="491871"/>
                    </a:lnTo>
                    <a:lnTo>
                      <a:pt x="414782" y="499364"/>
                    </a:lnTo>
                    <a:lnTo>
                      <a:pt x="425462" y="503986"/>
                    </a:lnTo>
                    <a:lnTo>
                      <a:pt x="434670" y="510413"/>
                    </a:lnTo>
                    <a:lnTo>
                      <a:pt x="456844" y="553377"/>
                    </a:lnTo>
                    <a:lnTo>
                      <a:pt x="459613" y="583565"/>
                    </a:lnTo>
                    <a:lnTo>
                      <a:pt x="458914" y="599884"/>
                    </a:lnTo>
                    <a:lnTo>
                      <a:pt x="448564" y="639953"/>
                    </a:lnTo>
                    <a:lnTo>
                      <a:pt x="415036" y="669544"/>
                    </a:lnTo>
                    <a:lnTo>
                      <a:pt x="417322" y="677164"/>
                    </a:lnTo>
                    <a:lnTo>
                      <a:pt x="452805" y="656094"/>
                    </a:lnTo>
                    <a:lnTo>
                      <a:pt x="472694" y="617258"/>
                    </a:lnTo>
                    <a:lnTo>
                      <a:pt x="475551" y="601560"/>
                    </a:lnTo>
                    <a:lnTo>
                      <a:pt x="476504" y="584581"/>
                    </a:lnTo>
                    <a:close/>
                  </a:path>
                  <a:path w="2684145" h="1132204">
                    <a:moveTo>
                      <a:pt x="2683891" y="962025"/>
                    </a:moveTo>
                    <a:lnTo>
                      <a:pt x="2661031" y="942975"/>
                    </a:lnTo>
                    <a:lnTo>
                      <a:pt x="2552065" y="852170"/>
                    </a:lnTo>
                    <a:lnTo>
                      <a:pt x="2545384" y="848575"/>
                    </a:lnTo>
                    <a:lnTo>
                      <a:pt x="2520899" y="868514"/>
                    </a:lnTo>
                    <a:lnTo>
                      <a:pt x="2522918" y="875499"/>
                    </a:lnTo>
                    <a:lnTo>
                      <a:pt x="2527681" y="881380"/>
                    </a:lnTo>
                    <a:lnTo>
                      <a:pt x="2601582" y="942975"/>
                    </a:lnTo>
                    <a:lnTo>
                      <a:pt x="593471" y="942975"/>
                    </a:lnTo>
                    <a:lnTo>
                      <a:pt x="593471" y="82296"/>
                    </a:lnTo>
                    <a:lnTo>
                      <a:pt x="655066" y="156210"/>
                    </a:lnTo>
                    <a:lnTo>
                      <a:pt x="660946" y="160972"/>
                    </a:lnTo>
                    <a:lnTo>
                      <a:pt x="667931" y="162991"/>
                    </a:lnTo>
                    <a:lnTo>
                      <a:pt x="675182" y="162229"/>
                    </a:lnTo>
                    <a:lnTo>
                      <a:pt x="681863" y="158623"/>
                    </a:lnTo>
                    <a:lnTo>
                      <a:pt x="686612" y="152742"/>
                    </a:lnTo>
                    <a:lnTo>
                      <a:pt x="688632" y="145757"/>
                    </a:lnTo>
                    <a:lnTo>
                      <a:pt x="687870" y="138506"/>
                    </a:lnTo>
                    <a:lnTo>
                      <a:pt x="684276" y="131826"/>
                    </a:lnTo>
                    <a:lnTo>
                      <a:pt x="599186" y="29718"/>
                    </a:lnTo>
                    <a:lnTo>
                      <a:pt x="574421" y="0"/>
                    </a:lnTo>
                    <a:lnTo>
                      <a:pt x="464566" y="131826"/>
                    </a:lnTo>
                    <a:lnTo>
                      <a:pt x="460959" y="138506"/>
                    </a:lnTo>
                    <a:lnTo>
                      <a:pt x="460197" y="145757"/>
                    </a:lnTo>
                    <a:lnTo>
                      <a:pt x="462216" y="152742"/>
                    </a:lnTo>
                    <a:lnTo>
                      <a:pt x="466979" y="158623"/>
                    </a:lnTo>
                    <a:lnTo>
                      <a:pt x="473646" y="162229"/>
                    </a:lnTo>
                    <a:lnTo>
                      <a:pt x="480898" y="162991"/>
                    </a:lnTo>
                    <a:lnTo>
                      <a:pt x="487883" y="160972"/>
                    </a:lnTo>
                    <a:lnTo>
                      <a:pt x="493776" y="156210"/>
                    </a:lnTo>
                    <a:lnTo>
                      <a:pt x="555371" y="82296"/>
                    </a:lnTo>
                    <a:lnTo>
                      <a:pt x="555371" y="942975"/>
                    </a:lnTo>
                    <a:lnTo>
                      <a:pt x="412496" y="942975"/>
                    </a:lnTo>
                    <a:lnTo>
                      <a:pt x="412496" y="981075"/>
                    </a:lnTo>
                    <a:lnTo>
                      <a:pt x="555371" y="981075"/>
                    </a:lnTo>
                    <a:lnTo>
                      <a:pt x="555371" y="1131697"/>
                    </a:lnTo>
                    <a:lnTo>
                      <a:pt x="593471" y="1131697"/>
                    </a:lnTo>
                    <a:lnTo>
                      <a:pt x="593471" y="981075"/>
                    </a:lnTo>
                    <a:lnTo>
                      <a:pt x="2601582" y="981075"/>
                    </a:lnTo>
                    <a:lnTo>
                      <a:pt x="2624455" y="962025"/>
                    </a:lnTo>
                    <a:lnTo>
                      <a:pt x="2527681" y="1042670"/>
                    </a:lnTo>
                    <a:lnTo>
                      <a:pt x="2522918" y="1048562"/>
                    </a:lnTo>
                    <a:lnTo>
                      <a:pt x="2520899" y="1055547"/>
                    </a:lnTo>
                    <a:lnTo>
                      <a:pt x="2521661" y="1062799"/>
                    </a:lnTo>
                    <a:lnTo>
                      <a:pt x="2525268" y="1069467"/>
                    </a:lnTo>
                    <a:lnTo>
                      <a:pt x="2531148" y="1074229"/>
                    </a:lnTo>
                    <a:lnTo>
                      <a:pt x="2538133" y="1076248"/>
                    </a:lnTo>
                    <a:lnTo>
                      <a:pt x="2545384" y="1075486"/>
                    </a:lnTo>
                    <a:lnTo>
                      <a:pt x="2552065" y="1071880"/>
                    </a:lnTo>
                    <a:lnTo>
                      <a:pt x="2661031" y="981075"/>
                    </a:lnTo>
                    <a:lnTo>
                      <a:pt x="2683891" y="9620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4722875" y="3190112"/>
                <a:ext cx="159385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159385" h="48260">
                    <a:moveTo>
                      <a:pt x="134874" y="0"/>
                    </a:moveTo>
                    <a:lnTo>
                      <a:pt x="129666" y="5842"/>
                    </a:lnTo>
                    <a:lnTo>
                      <a:pt x="145287" y="19431"/>
                    </a:lnTo>
                    <a:lnTo>
                      <a:pt x="0" y="19431"/>
                    </a:lnTo>
                    <a:lnTo>
                      <a:pt x="0" y="28701"/>
                    </a:lnTo>
                    <a:lnTo>
                      <a:pt x="145287" y="28701"/>
                    </a:lnTo>
                    <a:lnTo>
                      <a:pt x="129666" y="42291"/>
                    </a:lnTo>
                    <a:lnTo>
                      <a:pt x="134874" y="48132"/>
                    </a:lnTo>
                    <a:lnTo>
                      <a:pt x="159385" y="26924"/>
                    </a:lnTo>
                    <a:lnTo>
                      <a:pt x="159385" y="21209"/>
                    </a:lnTo>
                    <a:lnTo>
                      <a:pt x="134874" y="0"/>
                    </a:lnTo>
                    <a:close/>
                  </a:path>
                </a:pathLst>
              </a:custGeom>
              <a:solidFill>
                <a:srgbClr val="0096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4562475" y="3140773"/>
              <a:ext cx="516890" cy="2660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550" spc="5" dirty="0">
                  <a:latin typeface="Cambria Math"/>
                  <a:cs typeface="Cambria Math"/>
                </a:rPr>
                <a:t>J </a:t>
              </a:r>
              <a:r>
                <a:rPr sz="1550" spc="35" dirty="0">
                  <a:latin typeface="Cambria Math"/>
                  <a:cs typeface="Cambria Math"/>
                </a:rPr>
                <a:t> </a:t>
              </a:r>
              <a:r>
                <a:rPr sz="1550" spc="-5" dirty="0">
                  <a:solidFill>
                    <a:srgbClr val="0096FF"/>
                  </a:solidFill>
                  <a:latin typeface="Cambria Math"/>
                  <a:cs typeface="Cambria Math"/>
                </a:rPr>
                <a:t>w</a:t>
              </a:r>
              <a:r>
                <a:rPr sz="1550" spc="5" dirty="0">
                  <a:latin typeface="Cambria Math"/>
                  <a:cs typeface="Cambria Math"/>
                </a:rPr>
                <a:t>,</a:t>
              </a:r>
              <a:r>
                <a:rPr sz="1550" spc="-65" dirty="0">
                  <a:latin typeface="Cambria Math"/>
                  <a:cs typeface="Cambria Math"/>
                </a:rPr>
                <a:t> </a:t>
              </a:r>
              <a:r>
                <a:rPr sz="1550" spc="15" dirty="0">
                  <a:solidFill>
                    <a:srgbClr val="0096FF"/>
                  </a:solidFill>
                  <a:latin typeface="Cambria Math"/>
                  <a:cs typeface="Cambria Math"/>
                </a:rPr>
                <a:t>b</a:t>
              </a:r>
              <a:endParaRPr sz="1550">
                <a:latin typeface="Cambria Math"/>
                <a:cs typeface="Cambria Math"/>
              </a:endParaRPr>
            </a:p>
          </p:txBody>
        </p:sp>
        <p:grpSp>
          <p:nvGrpSpPr>
            <p:cNvPr id="30" name="object 30"/>
            <p:cNvGrpSpPr/>
            <p:nvPr/>
          </p:nvGrpSpPr>
          <p:grpSpPr>
            <a:xfrm>
              <a:off x="5425947" y="2602483"/>
              <a:ext cx="3041650" cy="984885"/>
              <a:chOff x="5425947" y="2602483"/>
              <a:chExt cx="3041650" cy="984885"/>
            </a:xfrm>
          </p:grpSpPr>
          <p:pic>
            <p:nvPicPr>
              <p:cNvPr id="31" name="object 31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7071359" y="3055365"/>
                <a:ext cx="574675" cy="170306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425947" y="2602483"/>
                <a:ext cx="3041342" cy="984885"/>
              </a:xfrm>
              <a:prstGeom prst="rect">
                <a:avLst/>
              </a:prstGeom>
            </p:spPr>
          </p:pic>
        </p:grp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4B62A87C-99CF-B9CA-8C78-B60547B4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49</a:t>
            </a:fld>
            <a:endParaRPr lang="en-P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800" y="1955217"/>
            <a:ext cx="51892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20" dirty="0">
                <a:latin typeface="Verdana"/>
                <a:cs typeface="Verdana"/>
              </a:rPr>
              <a:t>Feature</a:t>
            </a:r>
            <a:r>
              <a:rPr sz="3950" spc="35" dirty="0">
                <a:latin typeface="Verdana"/>
                <a:cs typeface="Verdana"/>
              </a:rPr>
              <a:t> Engineering</a:t>
            </a:r>
            <a:endParaRPr sz="3950" dirty="0">
              <a:latin typeface="Verdana"/>
              <a:cs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6D43C-47EA-6E55-2C13-D2D77689DD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50</a:t>
            </a:fld>
            <a:endParaRPr lang="en-P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4F56-8643-054F-EF49-B3BA080CA836}"/>
              </a:ext>
            </a:extLst>
          </p:cNvPr>
          <p:cNvSpPr txBox="1"/>
          <p:nvPr/>
        </p:nvSpPr>
        <p:spPr>
          <a:xfrm>
            <a:off x="457200" y="3638550"/>
            <a:ext cx="7848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0432FF"/>
                </a:solidFill>
                <a:effectLst/>
                <a:latin typeface="Google Sans"/>
              </a:rPr>
              <a:t>Feature engineering is a crucial step in machine learning that involves transforming raw data into features suitable for machine learning algorithms.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734FD2-5C01-4B88-16ED-A2562507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Key objectives of feature engineering:</a:t>
            </a:r>
            <a:endParaRPr lang="en-P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532A0-0216-45E4-3D68-11A324D68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03748"/>
            <a:ext cx="8134350" cy="3500437"/>
          </a:xfrm>
        </p:spPr>
        <p:txBody>
          <a:bodyPr>
            <a:norm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Select relevant features: Identify and select the most relevant features from the dataset to eliminate noise and focus on important factors.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Create new features: Derive new features from existing data to capture underlying relationships and patterns that may not be directly present in the raw data.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Transform existing features: Transform existing features using techniques like scaling, normalization, and binning to improve model convergence and stabilize the training process.</a:t>
            </a:r>
          </a:p>
          <a:p>
            <a:endParaRPr lang="en-P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7BE84-B97B-BA20-A4E9-CB8B2748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51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33774215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12F1-2006-78BD-26D1-CED15BCD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Benefits of feature engineering:</a:t>
            </a:r>
            <a:endParaRPr lang="en-P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9622-F692-A2D6-4A32-7DC63162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Improved model performance: Enhances the accuracy and generalizability of machine learning models.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Faster model training: Reduces the complexity of data and improves model convergence.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Better understanding of data: Reveals underlying relationships and patterns in the data, leading to more meaningful insights.</a:t>
            </a:r>
          </a:p>
          <a:p>
            <a:endParaRPr lang="en-P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E84BA-0141-232F-455E-0FBA75DC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pPr/>
              <a:t>52</a:t>
            </a:fld>
            <a:endParaRPr lang="en-PS"/>
          </a:p>
        </p:txBody>
      </p:sp>
    </p:spTree>
    <p:extLst>
      <p:ext uri="{BB962C8B-B14F-4D97-AF65-F5344CB8AC3E}">
        <p14:creationId xmlns:p14="http://schemas.microsoft.com/office/powerpoint/2010/main" val="19456640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74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5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400" spc="2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400" spc="20" dirty="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sz="1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400" spc="1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38283" y="3031481"/>
            <a:ext cx="3306382" cy="1398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latin typeface="Verdana"/>
                <a:cs typeface="Verdana"/>
              </a:rPr>
              <a:t>Feature</a:t>
            </a:r>
            <a:r>
              <a:rPr sz="1800" spc="59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engineering: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Using </a:t>
            </a:r>
            <a:r>
              <a:rPr sz="1800" spc="-25" dirty="0">
                <a:latin typeface="Verdana"/>
                <a:cs typeface="Verdana"/>
              </a:rPr>
              <a:t>intuition</a:t>
            </a:r>
            <a:r>
              <a:rPr sz="1800" spc="-20" dirty="0">
                <a:latin typeface="Verdana"/>
                <a:cs typeface="Verdana"/>
              </a:rPr>
              <a:t> to </a:t>
            </a:r>
            <a:r>
              <a:rPr sz="1800" spc="-10" dirty="0">
                <a:latin typeface="Verdana"/>
                <a:cs typeface="Verdana"/>
              </a:rPr>
              <a:t>design 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new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features,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transforming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or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combining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original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features.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2206" y="176756"/>
            <a:ext cx="34512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Feature</a:t>
            </a:r>
            <a:r>
              <a:rPr spc="-65" dirty="0"/>
              <a:t> </a:t>
            </a:r>
            <a:r>
              <a:rPr spc="-25" dirty="0"/>
              <a:t>engineering</a:t>
            </a:r>
          </a:p>
        </p:txBody>
      </p:sp>
      <p:sp>
        <p:nvSpPr>
          <p:cNvPr id="5" name="object 5"/>
          <p:cNvSpPr/>
          <p:nvPr/>
        </p:nvSpPr>
        <p:spPr>
          <a:xfrm>
            <a:off x="846086" y="1084833"/>
            <a:ext cx="195580" cy="52705"/>
          </a:xfrm>
          <a:custGeom>
            <a:avLst/>
            <a:gdLst/>
            <a:ahLst/>
            <a:cxnLst/>
            <a:rect l="l" t="t" r="r" b="b"/>
            <a:pathLst>
              <a:path w="195580" h="52705">
                <a:moveTo>
                  <a:pt x="168109" y="0"/>
                </a:moveTo>
                <a:lnTo>
                  <a:pt x="162433" y="6476"/>
                </a:lnTo>
                <a:lnTo>
                  <a:pt x="179552" y="21336"/>
                </a:lnTo>
                <a:lnTo>
                  <a:pt x="0" y="21336"/>
                </a:lnTo>
                <a:lnTo>
                  <a:pt x="0" y="31368"/>
                </a:lnTo>
                <a:lnTo>
                  <a:pt x="179552" y="31368"/>
                </a:lnTo>
                <a:lnTo>
                  <a:pt x="162433" y="46227"/>
                </a:lnTo>
                <a:lnTo>
                  <a:pt x="168109" y="52577"/>
                </a:lnTo>
                <a:lnTo>
                  <a:pt x="194957" y="29463"/>
                </a:lnTo>
                <a:lnTo>
                  <a:pt x="194957" y="23240"/>
                </a:lnTo>
                <a:lnTo>
                  <a:pt x="16810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222" y="941324"/>
            <a:ext cx="6178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600" spc="135" baseline="11574" dirty="0">
                <a:latin typeface="Cambria Math"/>
                <a:cs typeface="Cambria Math"/>
              </a:rPr>
              <a:t>𝑓</a:t>
            </a:r>
            <a:r>
              <a:rPr sz="1700" spc="90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700" spc="90" dirty="0">
                <a:latin typeface="Cambria Math"/>
                <a:cs typeface="Cambria Math"/>
              </a:rPr>
              <a:t>,</a:t>
            </a:r>
            <a:r>
              <a:rPr sz="1700" spc="9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7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63408" y="950722"/>
            <a:ext cx="349250" cy="297815"/>
            <a:chOff x="1263408" y="950722"/>
            <a:chExt cx="349250" cy="297815"/>
          </a:xfrm>
        </p:grpSpPr>
        <p:sp>
          <p:nvSpPr>
            <p:cNvPr id="8" name="object 8"/>
            <p:cNvSpPr/>
            <p:nvPr/>
          </p:nvSpPr>
          <p:spPr>
            <a:xfrm>
              <a:off x="1263408" y="965962"/>
              <a:ext cx="349250" cy="282575"/>
            </a:xfrm>
            <a:custGeom>
              <a:avLst/>
              <a:gdLst/>
              <a:ahLst/>
              <a:cxnLst/>
              <a:rect l="l" t="t" r="r" b="b"/>
              <a:pathLst>
                <a:path w="349250" h="282575">
                  <a:moveTo>
                    <a:pt x="259067" y="0"/>
                  </a:moveTo>
                  <a:lnTo>
                    <a:pt x="255130" y="11557"/>
                  </a:lnTo>
                  <a:lnTo>
                    <a:pt x="271437" y="18631"/>
                  </a:lnTo>
                  <a:lnTo>
                    <a:pt x="285483" y="28432"/>
                  </a:lnTo>
                  <a:lnTo>
                    <a:pt x="314026" y="73925"/>
                  </a:lnTo>
                  <a:lnTo>
                    <a:pt x="322408" y="115732"/>
                  </a:lnTo>
                  <a:lnTo>
                    <a:pt x="323456" y="139826"/>
                  </a:lnTo>
                  <a:lnTo>
                    <a:pt x="322408" y="164707"/>
                  </a:lnTo>
                  <a:lnTo>
                    <a:pt x="314026" y="207656"/>
                  </a:lnTo>
                  <a:lnTo>
                    <a:pt x="285530" y="253857"/>
                  </a:lnTo>
                  <a:lnTo>
                    <a:pt x="255511" y="270890"/>
                  </a:lnTo>
                  <a:lnTo>
                    <a:pt x="259067" y="282321"/>
                  </a:lnTo>
                  <a:lnTo>
                    <a:pt x="297611" y="264302"/>
                  </a:lnTo>
                  <a:lnTo>
                    <a:pt x="325869" y="233045"/>
                  </a:lnTo>
                  <a:lnTo>
                    <a:pt x="343300" y="191150"/>
                  </a:lnTo>
                  <a:lnTo>
                    <a:pt x="349110" y="141350"/>
                  </a:lnTo>
                  <a:lnTo>
                    <a:pt x="347657" y="115413"/>
                  </a:lnTo>
                  <a:lnTo>
                    <a:pt x="336037" y="69538"/>
                  </a:lnTo>
                  <a:lnTo>
                    <a:pt x="312966" y="32164"/>
                  </a:lnTo>
                  <a:lnTo>
                    <a:pt x="279542" y="7435"/>
                  </a:lnTo>
                  <a:lnTo>
                    <a:pt x="259067" y="0"/>
                  </a:lnTo>
                  <a:close/>
                </a:path>
                <a:path w="349250" h="282575">
                  <a:moveTo>
                    <a:pt x="90030" y="0"/>
                  </a:moveTo>
                  <a:lnTo>
                    <a:pt x="51628" y="18145"/>
                  </a:lnTo>
                  <a:lnTo>
                    <a:pt x="23228" y="49529"/>
                  </a:lnTo>
                  <a:lnTo>
                    <a:pt x="5803" y="91487"/>
                  </a:lnTo>
                  <a:lnTo>
                    <a:pt x="0" y="141350"/>
                  </a:lnTo>
                  <a:lnTo>
                    <a:pt x="1450" y="167233"/>
                  </a:lnTo>
                  <a:lnTo>
                    <a:pt x="13062" y="213092"/>
                  </a:lnTo>
                  <a:lnTo>
                    <a:pt x="36112" y="250334"/>
                  </a:lnTo>
                  <a:lnTo>
                    <a:pt x="69501" y="274960"/>
                  </a:lnTo>
                  <a:lnTo>
                    <a:pt x="90030" y="282321"/>
                  </a:lnTo>
                  <a:lnTo>
                    <a:pt x="93586" y="270890"/>
                  </a:lnTo>
                  <a:lnTo>
                    <a:pt x="77536" y="263773"/>
                  </a:lnTo>
                  <a:lnTo>
                    <a:pt x="63677" y="253857"/>
                  </a:lnTo>
                  <a:lnTo>
                    <a:pt x="35198" y="207656"/>
                  </a:lnTo>
                  <a:lnTo>
                    <a:pt x="26816" y="164707"/>
                  </a:lnTo>
                  <a:lnTo>
                    <a:pt x="25768" y="139826"/>
                  </a:lnTo>
                  <a:lnTo>
                    <a:pt x="26816" y="115732"/>
                  </a:lnTo>
                  <a:lnTo>
                    <a:pt x="35198" y="73925"/>
                  </a:lnTo>
                  <a:lnTo>
                    <a:pt x="63788" y="28432"/>
                  </a:lnTo>
                  <a:lnTo>
                    <a:pt x="94094" y="11557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0899" y="950722"/>
              <a:ext cx="150367" cy="7315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10894" y="874649"/>
            <a:ext cx="31527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412750" algn="l"/>
                <a:tab pos="2653665" algn="l"/>
              </a:tabLst>
            </a:pPr>
            <a:r>
              <a:rPr sz="2400" dirty="0">
                <a:solidFill>
                  <a:srgbClr val="FF9300"/>
                </a:solidFill>
                <a:latin typeface="Cambria Math"/>
                <a:cs typeface="Cambria Math"/>
              </a:rPr>
              <a:t>x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spc="-3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550" spc="-52" baseline="-17973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550" spc="419" baseline="-17973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chemeClr val="accent4">
                    <a:lumMod val="75000"/>
                  </a:schemeClr>
                </a:solidFill>
                <a:latin typeface="Cambria Math"/>
                <a:cs typeface="Cambria Math"/>
              </a:rPr>
              <a:t>𝑥</a:t>
            </a:r>
            <a:r>
              <a:rPr sz="2550" spc="-15" baseline="-17973" dirty="0">
                <a:solidFill>
                  <a:schemeClr val="accent4">
                    <a:lumMod val="75000"/>
                  </a:schemeClr>
                </a:solidFill>
                <a:latin typeface="Cambria Math"/>
                <a:cs typeface="Cambria Math"/>
              </a:rPr>
              <a:t>1</a:t>
            </a:r>
            <a:r>
              <a:rPr sz="2550" spc="419" baseline="-17973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550" spc="7" baseline="-17973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550" spc="300" baseline="-17973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400" spc="25" dirty="0">
                <a:solidFill>
                  <a:srgbClr val="C00000"/>
                </a:solidFill>
                <a:latin typeface="Cambria Math"/>
                <a:cs typeface="Cambria Math"/>
              </a:rPr>
              <a:t>𝑥</a:t>
            </a:r>
            <a:r>
              <a:rPr sz="2550" spc="37" baseline="-17973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2550" spc="37" baseline="-17973" dirty="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60" dirty="0"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400" dirty="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36059" y="-63738"/>
            <a:ext cx="3266440" cy="2533650"/>
            <a:chOff x="5054346" y="0"/>
            <a:chExt cx="3266440" cy="25336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7325" y="0"/>
              <a:ext cx="3000375" cy="2400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19925" y="1047749"/>
              <a:ext cx="1301115" cy="1290320"/>
            </a:xfrm>
            <a:custGeom>
              <a:avLst/>
              <a:gdLst/>
              <a:ahLst/>
              <a:cxnLst/>
              <a:rect l="l" t="t" r="r" b="b"/>
              <a:pathLst>
                <a:path w="1301115" h="1290320">
                  <a:moveTo>
                    <a:pt x="734441" y="989177"/>
                  </a:moveTo>
                  <a:lnTo>
                    <a:pt x="693420" y="947216"/>
                  </a:lnTo>
                  <a:lnTo>
                    <a:pt x="693420" y="981557"/>
                  </a:lnTo>
                  <a:lnTo>
                    <a:pt x="692404" y="989177"/>
                  </a:lnTo>
                  <a:lnTo>
                    <a:pt x="676275" y="1019657"/>
                  </a:lnTo>
                  <a:lnTo>
                    <a:pt x="669404" y="1026007"/>
                  </a:lnTo>
                  <a:lnTo>
                    <a:pt x="662343" y="1028547"/>
                  </a:lnTo>
                  <a:lnTo>
                    <a:pt x="655066" y="1031087"/>
                  </a:lnTo>
                  <a:lnTo>
                    <a:pt x="647573" y="1029817"/>
                  </a:lnTo>
                  <a:lnTo>
                    <a:pt x="614934" y="1008227"/>
                  </a:lnTo>
                  <a:lnTo>
                    <a:pt x="595503" y="972667"/>
                  </a:lnTo>
                  <a:lnTo>
                    <a:pt x="595617" y="963777"/>
                  </a:lnTo>
                  <a:lnTo>
                    <a:pt x="616458" y="934567"/>
                  </a:lnTo>
                  <a:lnTo>
                    <a:pt x="620903" y="930757"/>
                  </a:lnTo>
                  <a:lnTo>
                    <a:pt x="625221" y="928217"/>
                  </a:lnTo>
                  <a:lnTo>
                    <a:pt x="630682" y="925677"/>
                  </a:lnTo>
                  <a:lnTo>
                    <a:pt x="637159" y="923137"/>
                  </a:lnTo>
                  <a:lnTo>
                    <a:pt x="693420" y="981557"/>
                  </a:lnTo>
                  <a:lnTo>
                    <a:pt x="693420" y="947216"/>
                  </a:lnTo>
                  <a:lnTo>
                    <a:pt x="669899" y="923137"/>
                  </a:lnTo>
                  <a:lnTo>
                    <a:pt x="597916" y="849477"/>
                  </a:lnTo>
                  <a:lnTo>
                    <a:pt x="581025" y="865987"/>
                  </a:lnTo>
                  <a:lnTo>
                    <a:pt x="623443" y="909167"/>
                  </a:lnTo>
                  <a:lnTo>
                    <a:pt x="616712" y="911707"/>
                  </a:lnTo>
                  <a:lnTo>
                    <a:pt x="610743" y="914247"/>
                  </a:lnTo>
                  <a:lnTo>
                    <a:pt x="605663" y="916787"/>
                  </a:lnTo>
                  <a:lnTo>
                    <a:pt x="600456" y="919327"/>
                  </a:lnTo>
                  <a:lnTo>
                    <a:pt x="573532" y="956157"/>
                  </a:lnTo>
                  <a:lnTo>
                    <a:pt x="572262" y="965047"/>
                  </a:lnTo>
                  <a:lnTo>
                    <a:pt x="572516" y="972667"/>
                  </a:lnTo>
                  <a:lnTo>
                    <a:pt x="587019" y="1013307"/>
                  </a:lnTo>
                  <a:lnTo>
                    <a:pt x="621868" y="1045057"/>
                  </a:lnTo>
                  <a:lnTo>
                    <a:pt x="645922" y="1053947"/>
                  </a:lnTo>
                  <a:lnTo>
                    <a:pt x="657555" y="1053947"/>
                  </a:lnTo>
                  <a:lnTo>
                    <a:pt x="694055" y="1033627"/>
                  </a:lnTo>
                  <a:lnTo>
                    <a:pt x="695883" y="1031087"/>
                  </a:lnTo>
                  <a:lnTo>
                    <a:pt x="698627" y="1027277"/>
                  </a:lnTo>
                  <a:lnTo>
                    <a:pt x="704723" y="1012037"/>
                  </a:lnTo>
                  <a:lnTo>
                    <a:pt x="706501" y="1004417"/>
                  </a:lnTo>
                  <a:lnTo>
                    <a:pt x="707263" y="995527"/>
                  </a:lnTo>
                  <a:lnTo>
                    <a:pt x="717550" y="1005687"/>
                  </a:lnTo>
                  <a:lnTo>
                    <a:pt x="727938" y="995527"/>
                  </a:lnTo>
                  <a:lnTo>
                    <a:pt x="734441" y="989177"/>
                  </a:lnTo>
                  <a:close/>
                </a:path>
                <a:path w="1301115" h="1290320">
                  <a:moveTo>
                    <a:pt x="844931" y="869797"/>
                  </a:moveTo>
                  <a:lnTo>
                    <a:pt x="827024" y="850747"/>
                  </a:lnTo>
                  <a:lnTo>
                    <a:pt x="826135" y="852017"/>
                  </a:lnTo>
                  <a:lnTo>
                    <a:pt x="825754" y="857097"/>
                  </a:lnTo>
                  <a:lnTo>
                    <a:pt x="823341" y="864717"/>
                  </a:lnTo>
                  <a:lnTo>
                    <a:pt x="802513" y="899007"/>
                  </a:lnTo>
                  <a:lnTo>
                    <a:pt x="774827" y="914247"/>
                  </a:lnTo>
                  <a:lnTo>
                    <a:pt x="762762" y="914247"/>
                  </a:lnTo>
                  <a:lnTo>
                    <a:pt x="756539" y="912977"/>
                  </a:lnTo>
                  <a:lnTo>
                    <a:pt x="743839" y="907897"/>
                  </a:lnTo>
                  <a:lnTo>
                    <a:pt x="737743" y="904087"/>
                  </a:lnTo>
                  <a:lnTo>
                    <a:pt x="731647" y="897737"/>
                  </a:lnTo>
                  <a:lnTo>
                    <a:pt x="744613" y="885037"/>
                  </a:lnTo>
                  <a:lnTo>
                    <a:pt x="805561" y="825347"/>
                  </a:lnTo>
                  <a:lnTo>
                    <a:pt x="796671" y="816457"/>
                  </a:lnTo>
                  <a:lnTo>
                    <a:pt x="793978" y="813917"/>
                  </a:lnTo>
                  <a:lnTo>
                    <a:pt x="785926" y="806297"/>
                  </a:lnTo>
                  <a:lnTo>
                    <a:pt x="776478" y="799693"/>
                  </a:lnTo>
                  <a:lnTo>
                    <a:pt x="776478" y="827887"/>
                  </a:lnTo>
                  <a:lnTo>
                    <a:pt x="719074" y="885037"/>
                  </a:lnTo>
                  <a:lnTo>
                    <a:pt x="714502" y="877417"/>
                  </a:lnTo>
                  <a:lnTo>
                    <a:pt x="711263" y="871067"/>
                  </a:lnTo>
                  <a:lnTo>
                    <a:pt x="709358" y="863447"/>
                  </a:lnTo>
                  <a:lnTo>
                    <a:pt x="708787" y="855827"/>
                  </a:lnTo>
                  <a:lnTo>
                    <a:pt x="709714" y="848207"/>
                  </a:lnTo>
                  <a:lnTo>
                    <a:pt x="736104" y="816457"/>
                  </a:lnTo>
                  <a:lnTo>
                    <a:pt x="776478" y="827887"/>
                  </a:lnTo>
                  <a:lnTo>
                    <a:pt x="776478" y="799693"/>
                  </a:lnTo>
                  <a:lnTo>
                    <a:pt x="775030" y="798677"/>
                  </a:lnTo>
                  <a:lnTo>
                    <a:pt x="763968" y="794867"/>
                  </a:lnTo>
                  <a:lnTo>
                    <a:pt x="752729" y="793597"/>
                  </a:lnTo>
                  <a:lnTo>
                    <a:pt x="741603" y="793597"/>
                  </a:lnTo>
                  <a:lnTo>
                    <a:pt x="700265" y="822807"/>
                  </a:lnTo>
                  <a:lnTo>
                    <a:pt x="688594" y="860907"/>
                  </a:lnTo>
                  <a:lnTo>
                    <a:pt x="690422" y="874877"/>
                  </a:lnTo>
                  <a:lnTo>
                    <a:pt x="713359" y="912977"/>
                  </a:lnTo>
                  <a:lnTo>
                    <a:pt x="751484" y="935837"/>
                  </a:lnTo>
                  <a:lnTo>
                    <a:pt x="764921" y="937107"/>
                  </a:lnTo>
                  <a:lnTo>
                    <a:pt x="778395" y="935837"/>
                  </a:lnTo>
                  <a:lnTo>
                    <a:pt x="791591" y="932027"/>
                  </a:lnTo>
                  <a:lnTo>
                    <a:pt x="804494" y="924407"/>
                  </a:lnTo>
                  <a:lnTo>
                    <a:pt x="815708" y="914247"/>
                  </a:lnTo>
                  <a:lnTo>
                    <a:pt x="817118" y="912977"/>
                  </a:lnTo>
                  <a:lnTo>
                    <a:pt x="836587" y="886307"/>
                  </a:lnTo>
                  <a:lnTo>
                    <a:pt x="839571" y="881227"/>
                  </a:lnTo>
                  <a:lnTo>
                    <a:pt x="842352" y="874877"/>
                  </a:lnTo>
                  <a:lnTo>
                    <a:pt x="844931" y="869797"/>
                  </a:lnTo>
                  <a:close/>
                </a:path>
                <a:path w="1301115" h="1290320">
                  <a:moveTo>
                    <a:pt x="941578" y="772007"/>
                  </a:moveTo>
                  <a:lnTo>
                    <a:pt x="930833" y="730097"/>
                  </a:lnTo>
                  <a:lnTo>
                    <a:pt x="918718" y="714057"/>
                  </a:lnTo>
                  <a:lnTo>
                    <a:pt x="918718" y="764387"/>
                  </a:lnTo>
                  <a:lnTo>
                    <a:pt x="918425" y="773277"/>
                  </a:lnTo>
                  <a:lnTo>
                    <a:pt x="916216" y="780897"/>
                  </a:lnTo>
                  <a:lnTo>
                    <a:pt x="912088" y="788517"/>
                  </a:lnTo>
                  <a:lnTo>
                    <a:pt x="906018" y="796137"/>
                  </a:lnTo>
                  <a:lnTo>
                    <a:pt x="901573" y="799947"/>
                  </a:lnTo>
                  <a:lnTo>
                    <a:pt x="897382" y="803757"/>
                  </a:lnTo>
                  <a:lnTo>
                    <a:pt x="893191" y="806297"/>
                  </a:lnTo>
                  <a:lnTo>
                    <a:pt x="888873" y="808837"/>
                  </a:lnTo>
                  <a:lnTo>
                    <a:pt x="883412" y="811377"/>
                  </a:lnTo>
                  <a:lnTo>
                    <a:pt x="876427" y="813917"/>
                  </a:lnTo>
                  <a:lnTo>
                    <a:pt x="820928" y="756767"/>
                  </a:lnTo>
                  <a:lnTo>
                    <a:pt x="822071" y="749147"/>
                  </a:lnTo>
                  <a:lnTo>
                    <a:pt x="823760" y="742797"/>
                  </a:lnTo>
                  <a:lnTo>
                    <a:pt x="824103" y="741527"/>
                  </a:lnTo>
                  <a:lnTo>
                    <a:pt x="827024" y="735177"/>
                  </a:lnTo>
                  <a:lnTo>
                    <a:pt x="829818" y="727557"/>
                  </a:lnTo>
                  <a:lnTo>
                    <a:pt x="859002" y="707237"/>
                  </a:lnTo>
                  <a:lnTo>
                    <a:pt x="874001" y="709777"/>
                  </a:lnTo>
                  <a:lnTo>
                    <a:pt x="907122" y="737717"/>
                  </a:lnTo>
                  <a:lnTo>
                    <a:pt x="918718" y="764387"/>
                  </a:lnTo>
                  <a:lnTo>
                    <a:pt x="918718" y="714057"/>
                  </a:lnTo>
                  <a:lnTo>
                    <a:pt x="916051" y="711047"/>
                  </a:lnTo>
                  <a:lnTo>
                    <a:pt x="911593" y="707237"/>
                  </a:lnTo>
                  <a:lnTo>
                    <a:pt x="904163" y="700887"/>
                  </a:lnTo>
                  <a:lnTo>
                    <a:pt x="892327" y="691997"/>
                  </a:lnTo>
                  <a:lnTo>
                    <a:pt x="880541" y="686917"/>
                  </a:lnTo>
                  <a:lnTo>
                    <a:pt x="868807" y="683107"/>
                  </a:lnTo>
                  <a:lnTo>
                    <a:pt x="857402" y="683107"/>
                  </a:lnTo>
                  <a:lnTo>
                    <a:pt x="822693" y="702157"/>
                  </a:lnTo>
                  <a:lnTo>
                    <a:pt x="807085" y="742797"/>
                  </a:lnTo>
                  <a:lnTo>
                    <a:pt x="796798" y="732637"/>
                  </a:lnTo>
                  <a:lnTo>
                    <a:pt x="779907" y="749147"/>
                  </a:lnTo>
                  <a:lnTo>
                    <a:pt x="914019" y="886307"/>
                  </a:lnTo>
                  <a:lnTo>
                    <a:pt x="930910" y="869797"/>
                  </a:lnTo>
                  <a:lnTo>
                    <a:pt x="889889" y="827887"/>
                  </a:lnTo>
                  <a:lnTo>
                    <a:pt x="896620" y="825347"/>
                  </a:lnTo>
                  <a:lnTo>
                    <a:pt x="929767" y="802487"/>
                  </a:lnTo>
                  <a:lnTo>
                    <a:pt x="940308" y="780897"/>
                  </a:lnTo>
                  <a:lnTo>
                    <a:pt x="941578" y="772007"/>
                  </a:lnTo>
                  <a:close/>
                </a:path>
                <a:path w="1301115" h="1290320">
                  <a:moveTo>
                    <a:pt x="1044956" y="684377"/>
                  </a:moveTo>
                  <a:lnTo>
                    <a:pt x="1030224" y="669137"/>
                  </a:lnTo>
                  <a:lnTo>
                    <a:pt x="1029335" y="670407"/>
                  </a:lnTo>
                  <a:lnTo>
                    <a:pt x="1024763" y="678027"/>
                  </a:lnTo>
                  <a:lnTo>
                    <a:pt x="1022604" y="681837"/>
                  </a:lnTo>
                  <a:lnTo>
                    <a:pt x="1020064" y="685647"/>
                  </a:lnTo>
                  <a:lnTo>
                    <a:pt x="1017397" y="688187"/>
                  </a:lnTo>
                  <a:lnTo>
                    <a:pt x="1012571" y="691997"/>
                  </a:lnTo>
                  <a:lnTo>
                    <a:pt x="1008507" y="695807"/>
                  </a:lnTo>
                  <a:lnTo>
                    <a:pt x="1005205" y="697077"/>
                  </a:lnTo>
                  <a:lnTo>
                    <a:pt x="1001776" y="697077"/>
                  </a:lnTo>
                  <a:lnTo>
                    <a:pt x="998220" y="698347"/>
                  </a:lnTo>
                  <a:lnTo>
                    <a:pt x="994537" y="697077"/>
                  </a:lnTo>
                  <a:lnTo>
                    <a:pt x="990600" y="695807"/>
                  </a:lnTo>
                  <a:lnTo>
                    <a:pt x="987044" y="693267"/>
                  </a:lnTo>
                  <a:lnTo>
                    <a:pt x="942987" y="650087"/>
                  </a:lnTo>
                  <a:lnTo>
                    <a:pt x="926846" y="633577"/>
                  </a:lnTo>
                  <a:lnTo>
                    <a:pt x="942365" y="618337"/>
                  </a:lnTo>
                  <a:lnTo>
                    <a:pt x="961771" y="599287"/>
                  </a:lnTo>
                  <a:lnTo>
                    <a:pt x="947928" y="585317"/>
                  </a:lnTo>
                  <a:lnTo>
                    <a:pt x="913003" y="618337"/>
                  </a:lnTo>
                  <a:lnTo>
                    <a:pt x="884809" y="590397"/>
                  </a:lnTo>
                  <a:lnTo>
                    <a:pt x="867918" y="606907"/>
                  </a:lnTo>
                  <a:lnTo>
                    <a:pt x="896112" y="634847"/>
                  </a:lnTo>
                  <a:lnTo>
                    <a:pt x="884682" y="646277"/>
                  </a:lnTo>
                  <a:lnTo>
                    <a:pt x="898525" y="660247"/>
                  </a:lnTo>
                  <a:lnTo>
                    <a:pt x="909955" y="650087"/>
                  </a:lnTo>
                  <a:lnTo>
                    <a:pt x="962152" y="703427"/>
                  </a:lnTo>
                  <a:lnTo>
                    <a:pt x="970902" y="711047"/>
                  </a:lnTo>
                  <a:lnTo>
                    <a:pt x="979462" y="716127"/>
                  </a:lnTo>
                  <a:lnTo>
                    <a:pt x="987806" y="719937"/>
                  </a:lnTo>
                  <a:lnTo>
                    <a:pt x="995934" y="721207"/>
                  </a:lnTo>
                  <a:lnTo>
                    <a:pt x="1003960" y="721207"/>
                  </a:lnTo>
                  <a:lnTo>
                    <a:pt x="1035253" y="698347"/>
                  </a:lnTo>
                  <a:lnTo>
                    <a:pt x="1042670" y="688187"/>
                  </a:lnTo>
                  <a:lnTo>
                    <a:pt x="1044956" y="684377"/>
                  </a:lnTo>
                  <a:close/>
                </a:path>
                <a:path w="1301115" h="1290320">
                  <a:moveTo>
                    <a:pt x="1152652" y="581507"/>
                  </a:moveTo>
                  <a:lnTo>
                    <a:pt x="1093914" y="520547"/>
                  </a:lnTo>
                  <a:lnTo>
                    <a:pt x="1089025" y="515467"/>
                  </a:lnTo>
                  <a:lnTo>
                    <a:pt x="1080046" y="507847"/>
                  </a:lnTo>
                  <a:lnTo>
                    <a:pt x="1071029" y="501497"/>
                  </a:lnTo>
                  <a:lnTo>
                    <a:pt x="1061999" y="497687"/>
                  </a:lnTo>
                  <a:lnTo>
                    <a:pt x="1052957" y="496417"/>
                  </a:lnTo>
                  <a:lnTo>
                    <a:pt x="1044016" y="496417"/>
                  </a:lnTo>
                  <a:lnTo>
                    <a:pt x="1008126" y="523087"/>
                  </a:lnTo>
                  <a:lnTo>
                    <a:pt x="998474" y="557377"/>
                  </a:lnTo>
                  <a:lnTo>
                    <a:pt x="949071" y="506577"/>
                  </a:lnTo>
                  <a:lnTo>
                    <a:pt x="932180" y="523087"/>
                  </a:lnTo>
                  <a:lnTo>
                    <a:pt x="1068705" y="662787"/>
                  </a:lnTo>
                  <a:lnTo>
                    <a:pt x="1085596" y="646277"/>
                  </a:lnTo>
                  <a:lnTo>
                    <a:pt x="1012444" y="571347"/>
                  </a:lnTo>
                  <a:lnTo>
                    <a:pt x="1013587" y="563727"/>
                  </a:lnTo>
                  <a:lnTo>
                    <a:pt x="1034034" y="526897"/>
                  </a:lnTo>
                  <a:lnTo>
                    <a:pt x="1038225" y="523087"/>
                  </a:lnTo>
                  <a:lnTo>
                    <a:pt x="1046353" y="520547"/>
                  </a:lnTo>
                  <a:lnTo>
                    <a:pt x="1050290" y="520547"/>
                  </a:lnTo>
                  <a:lnTo>
                    <a:pt x="1054227" y="521817"/>
                  </a:lnTo>
                  <a:lnTo>
                    <a:pt x="1057910" y="521817"/>
                  </a:lnTo>
                  <a:lnTo>
                    <a:pt x="1061974" y="524357"/>
                  </a:lnTo>
                  <a:lnTo>
                    <a:pt x="1066419" y="528167"/>
                  </a:lnTo>
                  <a:lnTo>
                    <a:pt x="1070991" y="531977"/>
                  </a:lnTo>
                  <a:lnTo>
                    <a:pt x="1075436" y="535787"/>
                  </a:lnTo>
                  <a:lnTo>
                    <a:pt x="1080008" y="540867"/>
                  </a:lnTo>
                  <a:lnTo>
                    <a:pt x="1135761" y="596747"/>
                  </a:lnTo>
                  <a:lnTo>
                    <a:pt x="1152652" y="581507"/>
                  </a:lnTo>
                  <a:close/>
                </a:path>
                <a:path w="1301115" h="1290320">
                  <a:moveTo>
                    <a:pt x="1300861" y="0"/>
                  </a:moveTo>
                  <a:lnTo>
                    <a:pt x="1129792" y="14732"/>
                  </a:lnTo>
                  <a:lnTo>
                    <a:pt x="1112520" y="35433"/>
                  </a:lnTo>
                  <a:lnTo>
                    <a:pt x="1114640" y="42659"/>
                  </a:lnTo>
                  <a:lnTo>
                    <a:pt x="1119225" y="48310"/>
                  </a:lnTo>
                  <a:lnTo>
                    <a:pt x="1125601" y="51854"/>
                  </a:lnTo>
                  <a:lnTo>
                    <a:pt x="1133094" y="52705"/>
                  </a:lnTo>
                  <a:lnTo>
                    <a:pt x="1228953" y="44424"/>
                  </a:lnTo>
                  <a:lnTo>
                    <a:pt x="45008" y="1218438"/>
                  </a:lnTo>
                  <a:lnTo>
                    <a:pt x="54229" y="1122553"/>
                  </a:lnTo>
                  <a:lnTo>
                    <a:pt x="36957" y="1101852"/>
                  </a:lnTo>
                  <a:lnTo>
                    <a:pt x="29464" y="1102626"/>
                  </a:lnTo>
                  <a:lnTo>
                    <a:pt x="23075" y="1106093"/>
                  </a:lnTo>
                  <a:lnTo>
                    <a:pt x="18453" y="1111732"/>
                  </a:lnTo>
                  <a:lnTo>
                    <a:pt x="16256" y="1118997"/>
                  </a:lnTo>
                  <a:lnTo>
                    <a:pt x="0" y="1289812"/>
                  </a:lnTo>
                  <a:lnTo>
                    <a:pt x="85471" y="1282446"/>
                  </a:lnTo>
                  <a:lnTo>
                    <a:pt x="170942" y="1275080"/>
                  </a:lnTo>
                  <a:lnTo>
                    <a:pt x="178231" y="1272908"/>
                  </a:lnTo>
                  <a:lnTo>
                    <a:pt x="183921" y="1268310"/>
                  </a:lnTo>
                  <a:lnTo>
                    <a:pt x="187477" y="1261922"/>
                  </a:lnTo>
                  <a:lnTo>
                    <a:pt x="188341" y="1254379"/>
                  </a:lnTo>
                  <a:lnTo>
                    <a:pt x="186207" y="1247165"/>
                  </a:lnTo>
                  <a:lnTo>
                    <a:pt x="181610" y="1241513"/>
                  </a:lnTo>
                  <a:lnTo>
                    <a:pt x="175196" y="1237970"/>
                  </a:lnTo>
                  <a:lnTo>
                    <a:pt x="167640" y="1237107"/>
                  </a:lnTo>
                  <a:lnTo>
                    <a:pt x="71907" y="1245400"/>
                  </a:lnTo>
                  <a:lnTo>
                    <a:pt x="1255750" y="71475"/>
                  </a:lnTo>
                  <a:lnTo>
                    <a:pt x="1246632" y="167259"/>
                  </a:lnTo>
                  <a:lnTo>
                    <a:pt x="1247406" y="174752"/>
                  </a:lnTo>
                  <a:lnTo>
                    <a:pt x="1250911" y="181140"/>
                  </a:lnTo>
                  <a:lnTo>
                    <a:pt x="1256550" y="185762"/>
                  </a:lnTo>
                  <a:lnTo>
                    <a:pt x="1263777" y="187960"/>
                  </a:lnTo>
                  <a:lnTo>
                    <a:pt x="1271333" y="187198"/>
                  </a:lnTo>
                  <a:lnTo>
                    <a:pt x="1277759" y="183730"/>
                  </a:lnTo>
                  <a:lnTo>
                    <a:pt x="1282395" y="178092"/>
                  </a:lnTo>
                  <a:lnTo>
                    <a:pt x="1284605" y="170815"/>
                  </a:lnTo>
                  <a:lnTo>
                    <a:pt x="1300149" y="7366"/>
                  </a:lnTo>
                  <a:lnTo>
                    <a:pt x="130086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4346" y="1356486"/>
              <a:ext cx="1692275" cy="11770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99122" y="1200403"/>
              <a:ext cx="589280" cy="588645"/>
            </a:xfrm>
            <a:custGeom>
              <a:avLst/>
              <a:gdLst/>
              <a:ahLst/>
              <a:cxnLst/>
              <a:rect l="l" t="t" r="r" b="b"/>
              <a:pathLst>
                <a:path w="589279" h="588644">
                  <a:moveTo>
                    <a:pt x="309625" y="0"/>
                  </a:moveTo>
                  <a:lnTo>
                    <a:pt x="0" y="302387"/>
                  </a:lnTo>
                  <a:lnTo>
                    <a:pt x="279526" y="588645"/>
                  </a:lnTo>
                  <a:lnTo>
                    <a:pt x="589152" y="286258"/>
                  </a:lnTo>
                  <a:lnTo>
                    <a:pt x="3096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0704" y="1457833"/>
              <a:ext cx="259588" cy="1885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31697" y="1954213"/>
            <a:ext cx="3681729" cy="1166495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10"/>
              </a:spcBef>
              <a:tabLst>
                <a:tab pos="2501900" algn="l"/>
              </a:tabLst>
            </a:pPr>
            <a:r>
              <a:rPr sz="2400" spc="-5" dirty="0">
                <a:latin typeface="Cambria Math"/>
                <a:cs typeface="Cambria Math"/>
              </a:rPr>
              <a:t>𝑎𝑟𝑒𝑎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3600" baseline="2314" dirty="0">
                <a:latin typeface="Cambria Math"/>
                <a:cs typeface="Cambria Math"/>
              </a:rPr>
              <a:t>=</a:t>
            </a:r>
            <a:r>
              <a:rPr sz="3600" spc="232" baseline="2314" dirty="0">
                <a:latin typeface="Cambria Math"/>
                <a:cs typeface="Cambria Math"/>
              </a:rPr>
              <a:t> </a:t>
            </a:r>
            <a:r>
              <a:rPr sz="3600" spc="7" baseline="2314" dirty="0">
                <a:latin typeface="Cambria Math"/>
                <a:cs typeface="Cambria Math"/>
              </a:rPr>
              <a:t>𝑓𝑟𝑜𝑛𝑡𝑎𝑔𝑒	</a:t>
            </a:r>
            <a:r>
              <a:rPr sz="3600" baseline="2314" dirty="0">
                <a:latin typeface="Cambria Math"/>
                <a:cs typeface="Cambria Math"/>
              </a:rPr>
              <a:t>×</a:t>
            </a:r>
            <a:r>
              <a:rPr sz="3600" spc="600" baseline="2314" dirty="0">
                <a:latin typeface="Cambria Math"/>
                <a:cs typeface="Cambria Math"/>
              </a:rPr>
              <a:t> </a:t>
            </a:r>
            <a:r>
              <a:rPr sz="3600" spc="7" baseline="2314" dirty="0">
                <a:latin typeface="Cambria Math"/>
                <a:cs typeface="Cambria Math"/>
              </a:rPr>
              <a:t>𝑑𝑒𝑝𝑡ℎ</a:t>
            </a:r>
            <a:endParaRPr sz="3600" baseline="2314" dirty="0">
              <a:latin typeface="Cambria Math"/>
              <a:cs typeface="Cambria Math"/>
            </a:endParaRPr>
          </a:p>
          <a:p>
            <a:pPr marL="86995">
              <a:lnSpc>
                <a:spcPct val="100000"/>
              </a:lnSpc>
              <a:spcBef>
                <a:spcPts val="1610"/>
              </a:spcBef>
            </a:pPr>
            <a:r>
              <a:rPr sz="2400" spc="25" dirty="0">
                <a:latin typeface="Cambria Math"/>
                <a:cs typeface="Cambria Math"/>
              </a:rPr>
              <a:t>𝑥</a:t>
            </a:r>
            <a:r>
              <a:rPr sz="2550" spc="37" baseline="-16339" dirty="0">
                <a:latin typeface="Cambria Math"/>
                <a:cs typeface="Cambria Math"/>
              </a:rPr>
              <a:t>3</a:t>
            </a:r>
            <a:r>
              <a:rPr sz="2550" spc="487" baseline="-16339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𝑥</a:t>
            </a:r>
            <a:r>
              <a:rPr sz="2550" spc="52" baseline="-16339" dirty="0">
                <a:latin typeface="Cambria Math"/>
                <a:cs typeface="Cambria Math"/>
              </a:rPr>
              <a:t>1</a:t>
            </a:r>
            <a:r>
              <a:rPr sz="2400" spc="35" dirty="0">
                <a:latin typeface="Cambria Math"/>
                <a:cs typeface="Cambria Math"/>
              </a:rPr>
              <a:t>𝑥</a:t>
            </a:r>
            <a:r>
              <a:rPr sz="2550" spc="52" baseline="-16339" dirty="0">
                <a:latin typeface="Cambria Math"/>
                <a:cs typeface="Cambria Math"/>
              </a:rPr>
              <a:t>2</a:t>
            </a:r>
            <a:endParaRPr sz="2550" baseline="-16339" dirty="0">
              <a:latin typeface="Cambria Math"/>
              <a:cs typeface="Cambria Math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EA27FB-1089-676F-ECC1-4E1C8EABCAC9}"/>
              </a:ext>
            </a:extLst>
          </p:cNvPr>
          <p:cNvGrpSpPr/>
          <p:nvPr/>
        </p:nvGrpSpPr>
        <p:grpSpPr>
          <a:xfrm>
            <a:off x="313715" y="3826270"/>
            <a:ext cx="4725987" cy="459486"/>
            <a:chOff x="421640" y="3529584"/>
            <a:chExt cx="4725987" cy="459486"/>
          </a:xfrm>
        </p:grpSpPr>
        <p:sp>
          <p:nvSpPr>
            <p:cNvPr id="22" name="object 22"/>
            <p:cNvSpPr/>
            <p:nvPr/>
          </p:nvSpPr>
          <p:spPr>
            <a:xfrm>
              <a:off x="630821" y="3734942"/>
              <a:ext cx="195580" cy="52705"/>
            </a:xfrm>
            <a:custGeom>
              <a:avLst/>
              <a:gdLst/>
              <a:ahLst/>
              <a:cxnLst/>
              <a:rect l="l" t="t" r="r" b="b"/>
              <a:pathLst>
                <a:path w="195580" h="52704">
                  <a:moveTo>
                    <a:pt x="168109" y="0"/>
                  </a:moveTo>
                  <a:lnTo>
                    <a:pt x="162433" y="6476"/>
                  </a:lnTo>
                  <a:lnTo>
                    <a:pt x="179552" y="21335"/>
                  </a:lnTo>
                  <a:lnTo>
                    <a:pt x="0" y="21335"/>
                  </a:lnTo>
                  <a:lnTo>
                    <a:pt x="0" y="31368"/>
                  </a:lnTo>
                  <a:lnTo>
                    <a:pt x="179552" y="31368"/>
                  </a:lnTo>
                  <a:lnTo>
                    <a:pt x="162433" y="46227"/>
                  </a:lnTo>
                  <a:lnTo>
                    <a:pt x="168109" y="52704"/>
                  </a:lnTo>
                  <a:lnTo>
                    <a:pt x="194957" y="29463"/>
                  </a:lnTo>
                  <a:lnTo>
                    <a:pt x="194957" y="23240"/>
                  </a:lnTo>
                  <a:lnTo>
                    <a:pt x="16810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21640" y="3596640"/>
              <a:ext cx="617855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</a:pPr>
              <a:r>
                <a:rPr sz="3600" spc="135" baseline="12731" dirty="0">
                  <a:latin typeface="Cambria Math"/>
                  <a:cs typeface="Cambria Math"/>
                </a:rPr>
                <a:t>𝑓</a:t>
              </a:r>
              <a:r>
                <a:rPr sz="1700" spc="90" dirty="0">
                  <a:solidFill>
                    <a:srgbClr val="0096FF"/>
                  </a:solidFill>
                  <a:latin typeface="Cambria Math"/>
                  <a:cs typeface="Cambria Math"/>
                </a:rPr>
                <a:t>w</a:t>
              </a:r>
              <a:r>
                <a:rPr sz="1700" spc="90" dirty="0">
                  <a:solidFill>
                    <a:srgbClr val="4285F4"/>
                  </a:solidFill>
                  <a:latin typeface="Cambria Math"/>
                  <a:cs typeface="Cambria Math"/>
                </a:rPr>
                <a:t>,𝑏</a:t>
              </a:r>
              <a:endParaRPr sz="1700">
                <a:latin typeface="Cambria Math"/>
                <a:cs typeface="Cambria Math"/>
              </a:endParaRPr>
            </a:p>
          </p:txBody>
        </p:sp>
        <p:grpSp>
          <p:nvGrpSpPr>
            <p:cNvPr id="24" name="object 24"/>
            <p:cNvGrpSpPr/>
            <p:nvPr/>
          </p:nvGrpSpPr>
          <p:grpSpPr>
            <a:xfrm>
              <a:off x="1048143" y="3600830"/>
              <a:ext cx="349250" cy="297815"/>
              <a:chOff x="1048143" y="3600830"/>
              <a:chExt cx="349250" cy="297815"/>
            </a:xfrm>
          </p:grpSpPr>
          <p:sp>
            <p:nvSpPr>
              <p:cNvPr id="25" name="object 25"/>
              <p:cNvSpPr/>
              <p:nvPr/>
            </p:nvSpPr>
            <p:spPr>
              <a:xfrm>
                <a:off x="1048143" y="3616197"/>
                <a:ext cx="34925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349250" h="282575">
                    <a:moveTo>
                      <a:pt x="259067" y="0"/>
                    </a:moveTo>
                    <a:lnTo>
                      <a:pt x="255130" y="11429"/>
                    </a:lnTo>
                    <a:lnTo>
                      <a:pt x="271437" y="18522"/>
                    </a:lnTo>
                    <a:lnTo>
                      <a:pt x="285483" y="28352"/>
                    </a:lnTo>
                    <a:lnTo>
                      <a:pt x="314026" y="73852"/>
                    </a:lnTo>
                    <a:lnTo>
                      <a:pt x="322408" y="115623"/>
                    </a:lnTo>
                    <a:lnTo>
                      <a:pt x="323456" y="139699"/>
                    </a:lnTo>
                    <a:lnTo>
                      <a:pt x="322408" y="164633"/>
                    </a:lnTo>
                    <a:lnTo>
                      <a:pt x="314026" y="207547"/>
                    </a:lnTo>
                    <a:lnTo>
                      <a:pt x="285530" y="253811"/>
                    </a:lnTo>
                    <a:lnTo>
                      <a:pt x="255511" y="270840"/>
                    </a:lnTo>
                    <a:lnTo>
                      <a:pt x="259067" y="282308"/>
                    </a:lnTo>
                    <a:lnTo>
                      <a:pt x="297611" y="264233"/>
                    </a:lnTo>
                    <a:lnTo>
                      <a:pt x="325869" y="232917"/>
                    </a:lnTo>
                    <a:lnTo>
                      <a:pt x="343300" y="191119"/>
                    </a:lnTo>
                    <a:lnTo>
                      <a:pt x="349110" y="141223"/>
                    </a:lnTo>
                    <a:lnTo>
                      <a:pt x="347657" y="115339"/>
                    </a:lnTo>
                    <a:lnTo>
                      <a:pt x="336037" y="69429"/>
                    </a:lnTo>
                    <a:lnTo>
                      <a:pt x="312966" y="32093"/>
                    </a:lnTo>
                    <a:lnTo>
                      <a:pt x="279542" y="7379"/>
                    </a:lnTo>
                    <a:lnTo>
                      <a:pt x="259067" y="0"/>
                    </a:lnTo>
                    <a:close/>
                  </a:path>
                  <a:path w="349250" h="282575">
                    <a:moveTo>
                      <a:pt x="90030" y="0"/>
                    </a:moveTo>
                    <a:lnTo>
                      <a:pt x="51617" y="18081"/>
                    </a:lnTo>
                    <a:lnTo>
                      <a:pt x="23291" y="49402"/>
                    </a:lnTo>
                    <a:lnTo>
                      <a:pt x="5821" y="91408"/>
                    </a:lnTo>
                    <a:lnTo>
                      <a:pt x="0" y="141223"/>
                    </a:lnTo>
                    <a:lnTo>
                      <a:pt x="1450" y="167177"/>
                    </a:lnTo>
                    <a:lnTo>
                      <a:pt x="13056" y="213036"/>
                    </a:lnTo>
                    <a:lnTo>
                      <a:pt x="36093" y="250232"/>
                    </a:lnTo>
                    <a:lnTo>
                      <a:pt x="69501" y="274923"/>
                    </a:lnTo>
                    <a:lnTo>
                      <a:pt x="90030" y="282308"/>
                    </a:lnTo>
                    <a:lnTo>
                      <a:pt x="93611" y="270840"/>
                    </a:lnTo>
                    <a:lnTo>
                      <a:pt x="77521" y="263722"/>
                    </a:lnTo>
                    <a:lnTo>
                      <a:pt x="63636" y="253811"/>
                    </a:lnTo>
                    <a:lnTo>
                      <a:pt x="35156" y="207547"/>
                    </a:lnTo>
                    <a:lnTo>
                      <a:pt x="26788" y="164633"/>
                    </a:lnTo>
                    <a:lnTo>
                      <a:pt x="25742" y="139699"/>
                    </a:lnTo>
                    <a:lnTo>
                      <a:pt x="26788" y="115623"/>
                    </a:lnTo>
                    <a:lnTo>
                      <a:pt x="35156" y="73852"/>
                    </a:lnTo>
                    <a:lnTo>
                      <a:pt x="63749" y="28352"/>
                    </a:lnTo>
                    <a:lnTo>
                      <a:pt x="94056" y="11429"/>
                    </a:lnTo>
                    <a:lnTo>
                      <a:pt x="9003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2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35646" y="3600830"/>
                <a:ext cx="150355" cy="73278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1108392" y="3529584"/>
              <a:ext cx="4039235" cy="39243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5"/>
                </a:spcBef>
                <a:tabLst>
                  <a:tab pos="400050" algn="l"/>
                  <a:tab pos="2802890" algn="l"/>
                </a:tabLst>
              </a:pPr>
              <a:r>
                <a:rPr sz="2400" dirty="0">
                  <a:solidFill>
                    <a:srgbClr val="FF9300"/>
                  </a:solidFill>
                  <a:latin typeface="Cambria Math"/>
                  <a:cs typeface="Cambria Math"/>
                </a:rPr>
                <a:t>x	</a:t>
              </a:r>
              <a:r>
                <a:rPr sz="2400" dirty="0">
                  <a:latin typeface="Cambria Math"/>
                  <a:cs typeface="Cambria Math"/>
                </a:rPr>
                <a:t>=</a:t>
              </a:r>
              <a:r>
                <a:rPr sz="2400" spc="80" dirty="0">
                  <a:latin typeface="Cambria Math"/>
                  <a:cs typeface="Cambria Math"/>
                </a:rPr>
                <a:t> </a:t>
              </a:r>
              <a:r>
                <a:rPr sz="2400" spc="5" dirty="0">
                  <a:solidFill>
                    <a:srgbClr val="4285F4"/>
                  </a:solidFill>
                  <a:latin typeface="Cambria Math"/>
                  <a:cs typeface="Cambria Math"/>
                </a:rPr>
                <a:t>𝑤</a:t>
              </a:r>
              <a:r>
                <a:rPr sz="2550" spc="7" baseline="-17973" dirty="0">
                  <a:solidFill>
                    <a:srgbClr val="4285F4"/>
                  </a:solidFill>
                  <a:latin typeface="Cambria Math"/>
                  <a:cs typeface="Cambria Math"/>
                </a:rPr>
                <a:t>1</a:t>
              </a:r>
              <a:r>
                <a:rPr sz="2400" spc="5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550" spc="7" baseline="-17973" dirty="0">
                  <a:solidFill>
                    <a:srgbClr val="FF9300"/>
                  </a:solidFill>
                  <a:latin typeface="Cambria Math"/>
                  <a:cs typeface="Cambria Math"/>
                </a:rPr>
                <a:t>1</a:t>
              </a:r>
              <a:r>
                <a:rPr sz="2550" spc="427" baseline="-17973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2400" dirty="0">
                  <a:solidFill>
                    <a:srgbClr val="FF9300"/>
                  </a:solidFill>
                  <a:latin typeface="Cambria Math"/>
                  <a:cs typeface="Cambria Math"/>
                </a:rPr>
                <a:t>+</a:t>
              </a:r>
              <a:r>
                <a:rPr sz="2400" spc="5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2400" spc="25" dirty="0">
                  <a:solidFill>
                    <a:srgbClr val="4285F4"/>
                  </a:solidFill>
                  <a:latin typeface="Cambria Math"/>
                  <a:cs typeface="Cambria Math"/>
                </a:rPr>
                <a:t>𝑤</a:t>
              </a:r>
              <a:r>
                <a:rPr sz="2550" spc="37" baseline="-17973" dirty="0">
                  <a:solidFill>
                    <a:srgbClr val="4285F4"/>
                  </a:solidFill>
                  <a:latin typeface="Cambria Math"/>
                  <a:cs typeface="Cambria Math"/>
                </a:rPr>
                <a:t>2</a:t>
              </a:r>
              <a:r>
                <a:rPr sz="2400" spc="25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550" spc="37" baseline="-17973" dirty="0">
                  <a:solidFill>
                    <a:srgbClr val="FF9300"/>
                  </a:solidFill>
                  <a:latin typeface="Cambria Math"/>
                  <a:cs typeface="Cambria Math"/>
                </a:rPr>
                <a:t>2</a:t>
              </a:r>
              <a:r>
                <a:rPr sz="2550" spc="427" baseline="-17973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2400" dirty="0">
                  <a:solidFill>
                    <a:srgbClr val="FF9300"/>
                  </a:solidFill>
                  <a:latin typeface="Cambria Math"/>
                  <a:cs typeface="Cambria Math"/>
                </a:rPr>
                <a:t>+	</a:t>
              </a:r>
              <a:r>
                <a:rPr sz="2400" spc="25" dirty="0">
                  <a:solidFill>
                    <a:srgbClr val="4285F4"/>
                  </a:solidFill>
                  <a:latin typeface="Cambria Math"/>
                  <a:cs typeface="Cambria Math"/>
                </a:rPr>
                <a:t>𝑤</a:t>
              </a:r>
              <a:r>
                <a:rPr sz="2550" spc="37" baseline="-17973" dirty="0">
                  <a:solidFill>
                    <a:srgbClr val="4285F4"/>
                  </a:solidFill>
                  <a:latin typeface="Cambria Math"/>
                  <a:cs typeface="Cambria Math"/>
                </a:rPr>
                <a:t>3</a:t>
              </a:r>
              <a:r>
                <a:rPr sz="2400" spc="25" dirty="0">
                  <a:solidFill>
                    <a:srgbClr val="FF9300"/>
                  </a:solidFill>
                  <a:latin typeface="Cambria Math"/>
                  <a:cs typeface="Cambria Math"/>
                </a:rPr>
                <a:t>𝑥</a:t>
              </a:r>
              <a:r>
                <a:rPr sz="2550" spc="37" baseline="-17973" dirty="0">
                  <a:solidFill>
                    <a:srgbClr val="FF9300"/>
                  </a:solidFill>
                  <a:latin typeface="Cambria Math"/>
                  <a:cs typeface="Cambria Math"/>
                </a:rPr>
                <a:t>3</a:t>
              </a:r>
              <a:r>
                <a:rPr sz="2550" spc="359" baseline="-17973" dirty="0">
                  <a:solidFill>
                    <a:srgbClr val="FF9300"/>
                  </a:solidFill>
                  <a:latin typeface="Cambria Math"/>
                  <a:cs typeface="Cambria Math"/>
                </a:rPr>
                <a:t> </a:t>
              </a:r>
              <a:r>
                <a:rPr sz="2400" dirty="0">
                  <a:latin typeface="Cambria Math"/>
                  <a:cs typeface="Cambria Math"/>
                </a:rPr>
                <a:t>+</a:t>
              </a:r>
              <a:r>
                <a:rPr sz="2400" spc="-30" dirty="0">
                  <a:latin typeface="Cambria Math"/>
                  <a:cs typeface="Cambria Math"/>
                </a:rPr>
                <a:t> </a:t>
              </a:r>
              <a:r>
                <a:rPr sz="2400" dirty="0">
                  <a:solidFill>
                    <a:srgbClr val="4285F4"/>
                  </a:solidFill>
                  <a:latin typeface="Cambria Math"/>
                  <a:cs typeface="Cambria Math"/>
                </a:rPr>
                <a:t>𝑏</a:t>
              </a:r>
              <a:endParaRPr sz="2400" dirty="0">
                <a:latin typeface="Cambria Math"/>
                <a:cs typeface="Cambria Math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C6939C-3F0B-6CAF-449C-16E3135F6BA6}"/>
              </a:ext>
            </a:extLst>
          </p:cNvPr>
          <p:cNvGrpSpPr/>
          <p:nvPr/>
        </p:nvGrpSpPr>
        <p:grpSpPr>
          <a:xfrm>
            <a:off x="389596" y="3368946"/>
            <a:ext cx="1576959" cy="223900"/>
            <a:chOff x="744981" y="3020567"/>
            <a:chExt cx="1576959" cy="22390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4981" y="3090164"/>
              <a:ext cx="439707" cy="1460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812" y="3020567"/>
              <a:ext cx="1055128" cy="223900"/>
            </a:xfrm>
            <a:prstGeom prst="rect">
              <a:avLst/>
            </a:prstGeom>
          </p:spPr>
        </p:pic>
      </p:grp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DA10F93A-2F18-419A-B232-61797F6E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53</a:t>
            </a:fld>
            <a:endParaRPr lang="en-P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B80E6C-58CD-97B7-EA4A-D455620879A3}"/>
              </a:ext>
            </a:extLst>
          </p:cNvPr>
          <p:cNvSpPr txBox="1"/>
          <p:nvPr/>
        </p:nvSpPr>
        <p:spPr>
          <a:xfrm>
            <a:off x="3357488" y="1430987"/>
            <a:ext cx="802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solidFill>
                  <a:srgbClr val="C00000"/>
                </a:solidFill>
              </a:rPr>
              <a:t>depth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19D29F-8D3D-87AD-0E9F-A82A9A7A49FD}"/>
              </a:ext>
            </a:extLst>
          </p:cNvPr>
          <p:cNvSpPr txBox="1"/>
          <p:nvPr/>
        </p:nvSpPr>
        <p:spPr>
          <a:xfrm>
            <a:off x="1877160" y="1410591"/>
            <a:ext cx="1069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2000" dirty="0">
                <a:solidFill>
                  <a:schemeClr val="accent4">
                    <a:lumMod val="75000"/>
                  </a:schemeClr>
                </a:solidFill>
              </a:rPr>
              <a:t>frontage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D553AC-B11B-70CA-620F-2EE83B1F8EB7}"/>
              </a:ext>
            </a:extLst>
          </p:cNvPr>
          <p:cNvSpPr txBox="1"/>
          <p:nvPr/>
        </p:nvSpPr>
        <p:spPr>
          <a:xfrm>
            <a:off x="389596" y="4623806"/>
            <a:ext cx="575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dirty="0">
                <a:solidFill>
                  <a:srgbClr val="0432FF"/>
                </a:solidFill>
              </a:rPr>
              <a:t>So by designing a new feature you migh get a better model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800" y="1276350"/>
            <a:ext cx="51879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latin typeface="Verdana"/>
                <a:cs typeface="Verdana"/>
              </a:rPr>
              <a:t>Polynomial</a:t>
            </a:r>
            <a:r>
              <a:rPr sz="3600" spc="30" dirty="0">
                <a:latin typeface="Verdana"/>
                <a:cs typeface="Verdana"/>
              </a:rPr>
              <a:t> </a:t>
            </a:r>
            <a:r>
              <a:rPr sz="3600" spc="-5" dirty="0">
                <a:latin typeface="Verdana"/>
                <a:cs typeface="Verdana"/>
              </a:rPr>
              <a:t>Regression</a:t>
            </a:r>
            <a:endParaRPr sz="3600" dirty="0">
              <a:latin typeface="Verdana"/>
              <a:cs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72FCD-3B46-6848-016F-580F7D2D1D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54</a:t>
            </a:fld>
            <a:endParaRPr lang="en-P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45ED9-2CAC-F208-307B-3C3109AA6B03}"/>
              </a:ext>
            </a:extLst>
          </p:cNvPr>
          <p:cNvSpPr txBox="1"/>
          <p:nvPr/>
        </p:nvSpPr>
        <p:spPr>
          <a:xfrm>
            <a:off x="457200" y="2952750"/>
            <a:ext cx="7772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dirty="0">
                <a:solidFill>
                  <a:srgbClr val="1F1F1F"/>
                </a:solidFill>
                <a:effectLst/>
                <a:latin typeface="Google Sans"/>
              </a:rPr>
              <a:t>Polynomial regression is a type of regression analysis that models the relationship between a response variable and one or more independent variables using a polynomial equation. </a:t>
            </a:r>
          </a:p>
          <a:p>
            <a:pPr rtl="0"/>
            <a:r>
              <a:rPr lang="en-US" dirty="0">
                <a:solidFill>
                  <a:srgbClr val="1F1F1F"/>
                </a:solidFill>
                <a:effectLst/>
                <a:latin typeface="Google Sans"/>
              </a:rPr>
              <a:t>In other words, it assumes that the relationship between the variables can be expressed as a sum of terms, where each term is the product of a constant and a variable raised to an integer power.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42424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10" dirty="0"/>
              <a:t>Polynomial</a:t>
            </a:r>
            <a:r>
              <a:rPr sz="3000" spc="-130" dirty="0"/>
              <a:t> </a:t>
            </a:r>
            <a:r>
              <a:rPr sz="3000" spc="5" dirty="0"/>
              <a:t>regression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1186179" y="1623907"/>
            <a:ext cx="4198239" cy="1855852"/>
            <a:chOff x="1278636" y="1599945"/>
            <a:chExt cx="4198239" cy="1855852"/>
          </a:xfrm>
        </p:grpSpPr>
        <p:sp>
          <p:nvSpPr>
            <p:cNvPr id="4" name="object 4"/>
            <p:cNvSpPr/>
            <p:nvPr/>
          </p:nvSpPr>
          <p:spPr>
            <a:xfrm>
              <a:off x="1278636" y="1944497"/>
              <a:ext cx="3145155" cy="1511300"/>
            </a:xfrm>
            <a:custGeom>
              <a:avLst/>
              <a:gdLst/>
              <a:ahLst/>
              <a:cxnLst/>
              <a:rect l="l" t="t" r="r" b="b"/>
              <a:pathLst>
                <a:path w="3145154" h="1511300">
                  <a:moveTo>
                    <a:pt x="34925" y="1409700"/>
                  </a:moveTo>
                  <a:lnTo>
                    <a:pt x="0" y="1409700"/>
                  </a:lnTo>
                  <a:lnTo>
                    <a:pt x="0" y="1511300"/>
                  </a:lnTo>
                  <a:lnTo>
                    <a:pt x="34925" y="1511300"/>
                  </a:lnTo>
                  <a:lnTo>
                    <a:pt x="34925" y="1409700"/>
                  </a:lnTo>
                  <a:close/>
                </a:path>
                <a:path w="3145154" h="1511300">
                  <a:moveTo>
                    <a:pt x="38226" y="1397000"/>
                  </a:moveTo>
                  <a:lnTo>
                    <a:pt x="2285" y="1397000"/>
                  </a:lnTo>
                  <a:lnTo>
                    <a:pt x="507" y="1409700"/>
                  </a:lnTo>
                  <a:lnTo>
                    <a:pt x="36067" y="1409700"/>
                  </a:lnTo>
                  <a:lnTo>
                    <a:pt x="38226" y="1397000"/>
                  </a:lnTo>
                  <a:close/>
                </a:path>
                <a:path w="3145154" h="1511300">
                  <a:moveTo>
                    <a:pt x="49656" y="1371600"/>
                  </a:moveTo>
                  <a:lnTo>
                    <a:pt x="9270" y="1371600"/>
                  </a:lnTo>
                  <a:lnTo>
                    <a:pt x="4952" y="1384300"/>
                  </a:lnTo>
                  <a:lnTo>
                    <a:pt x="2539" y="1397000"/>
                  </a:lnTo>
                  <a:lnTo>
                    <a:pt x="37972" y="1397000"/>
                  </a:lnTo>
                  <a:lnTo>
                    <a:pt x="42290" y="1384300"/>
                  </a:lnTo>
                  <a:lnTo>
                    <a:pt x="45592" y="1384300"/>
                  </a:lnTo>
                  <a:lnTo>
                    <a:pt x="49656" y="1371600"/>
                  </a:lnTo>
                  <a:close/>
                </a:path>
                <a:path w="3145154" h="1511300">
                  <a:moveTo>
                    <a:pt x="52323" y="1358900"/>
                  </a:moveTo>
                  <a:lnTo>
                    <a:pt x="17144" y="1358900"/>
                  </a:lnTo>
                  <a:lnTo>
                    <a:pt x="13207" y="1371600"/>
                  </a:lnTo>
                  <a:lnTo>
                    <a:pt x="50164" y="1371600"/>
                  </a:lnTo>
                  <a:lnTo>
                    <a:pt x="52323" y="1358900"/>
                  </a:lnTo>
                  <a:close/>
                </a:path>
                <a:path w="3145154" h="1511300">
                  <a:moveTo>
                    <a:pt x="58292" y="1346200"/>
                  </a:moveTo>
                  <a:lnTo>
                    <a:pt x="18668" y="1346200"/>
                  </a:lnTo>
                  <a:lnTo>
                    <a:pt x="16509" y="1358900"/>
                  </a:lnTo>
                  <a:lnTo>
                    <a:pt x="56133" y="1358900"/>
                  </a:lnTo>
                  <a:lnTo>
                    <a:pt x="58292" y="1346200"/>
                  </a:lnTo>
                  <a:close/>
                </a:path>
                <a:path w="3145154" h="1511300">
                  <a:moveTo>
                    <a:pt x="79755" y="1295400"/>
                  </a:moveTo>
                  <a:lnTo>
                    <a:pt x="36956" y="1295400"/>
                  </a:lnTo>
                  <a:lnTo>
                    <a:pt x="32892" y="1308100"/>
                  </a:lnTo>
                  <a:lnTo>
                    <a:pt x="28955" y="1320800"/>
                  </a:lnTo>
                  <a:lnTo>
                    <a:pt x="24891" y="1333500"/>
                  </a:lnTo>
                  <a:lnTo>
                    <a:pt x="24256" y="1333500"/>
                  </a:lnTo>
                  <a:lnTo>
                    <a:pt x="22097" y="1346200"/>
                  </a:lnTo>
                  <a:lnTo>
                    <a:pt x="57657" y="1346200"/>
                  </a:lnTo>
                  <a:lnTo>
                    <a:pt x="65531" y="1320800"/>
                  </a:lnTo>
                  <a:lnTo>
                    <a:pt x="65404" y="1320800"/>
                  </a:lnTo>
                  <a:lnTo>
                    <a:pt x="69468" y="1308100"/>
                  </a:lnTo>
                  <a:lnTo>
                    <a:pt x="76200" y="1308100"/>
                  </a:lnTo>
                  <a:lnTo>
                    <a:pt x="79755" y="1295400"/>
                  </a:lnTo>
                  <a:close/>
                </a:path>
                <a:path w="3145154" h="1511300">
                  <a:moveTo>
                    <a:pt x="72643" y="1308100"/>
                  </a:moveTo>
                  <a:lnTo>
                    <a:pt x="69468" y="1308100"/>
                  </a:lnTo>
                  <a:lnTo>
                    <a:pt x="68579" y="1320800"/>
                  </a:lnTo>
                  <a:lnTo>
                    <a:pt x="72643" y="1308100"/>
                  </a:lnTo>
                  <a:close/>
                </a:path>
                <a:path w="3145154" h="1511300">
                  <a:moveTo>
                    <a:pt x="85597" y="1282700"/>
                  </a:moveTo>
                  <a:lnTo>
                    <a:pt x="45973" y="1282700"/>
                  </a:lnTo>
                  <a:lnTo>
                    <a:pt x="42290" y="1295400"/>
                  </a:lnTo>
                  <a:lnTo>
                    <a:pt x="82422" y="1295400"/>
                  </a:lnTo>
                  <a:lnTo>
                    <a:pt x="85597" y="1282700"/>
                  </a:lnTo>
                  <a:close/>
                </a:path>
                <a:path w="3145154" h="1511300">
                  <a:moveTo>
                    <a:pt x="90931" y="1270000"/>
                  </a:moveTo>
                  <a:lnTo>
                    <a:pt x="53085" y="1270000"/>
                  </a:lnTo>
                  <a:lnTo>
                    <a:pt x="49910" y="1282700"/>
                  </a:lnTo>
                  <a:lnTo>
                    <a:pt x="87248" y="1282700"/>
                  </a:lnTo>
                  <a:lnTo>
                    <a:pt x="90931" y="1270000"/>
                  </a:lnTo>
                  <a:close/>
                </a:path>
                <a:path w="3145154" h="1511300">
                  <a:moveTo>
                    <a:pt x="97789" y="1257300"/>
                  </a:moveTo>
                  <a:lnTo>
                    <a:pt x="58673" y="1257300"/>
                  </a:lnTo>
                  <a:lnTo>
                    <a:pt x="54990" y="1270000"/>
                  </a:lnTo>
                  <a:lnTo>
                    <a:pt x="93852" y="1270000"/>
                  </a:lnTo>
                  <a:lnTo>
                    <a:pt x="97789" y="1257300"/>
                  </a:lnTo>
                  <a:close/>
                </a:path>
                <a:path w="3145154" h="1511300">
                  <a:moveTo>
                    <a:pt x="101726" y="1244600"/>
                  </a:moveTo>
                  <a:lnTo>
                    <a:pt x="63880" y="1244600"/>
                  </a:lnTo>
                  <a:lnTo>
                    <a:pt x="60197" y="1257300"/>
                  </a:lnTo>
                  <a:lnTo>
                    <a:pt x="98043" y="1257300"/>
                  </a:lnTo>
                  <a:lnTo>
                    <a:pt x="101726" y="1244600"/>
                  </a:lnTo>
                  <a:close/>
                </a:path>
                <a:path w="3145154" h="1511300">
                  <a:moveTo>
                    <a:pt x="81152" y="1206500"/>
                  </a:moveTo>
                  <a:lnTo>
                    <a:pt x="70357" y="1231900"/>
                  </a:lnTo>
                  <a:lnTo>
                    <a:pt x="70103" y="1231900"/>
                  </a:lnTo>
                  <a:lnTo>
                    <a:pt x="66547" y="1244600"/>
                  </a:lnTo>
                  <a:lnTo>
                    <a:pt x="101600" y="1244600"/>
                  </a:lnTo>
                  <a:lnTo>
                    <a:pt x="112394" y="1231900"/>
                  </a:lnTo>
                  <a:lnTo>
                    <a:pt x="115823" y="1219200"/>
                  </a:lnTo>
                  <a:lnTo>
                    <a:pt x="80644" y="1219200"/>
                  </a:lnTo>
                  <a:lnTo>
                    <a:pt x="81152" y="1206500"/>
                  </a:lnTo>
                  <a:close/>
                </a:path>
                <a:path w="3145154" h="1511300">
                  <a:moveTo>
                    <a:pt x="129158" y="1193800"/>
                  </a:moveTo>
                  <a:lnTo>
                    <a:pt x="87122" y="1193800"/>
                  </a:lnTo>
                  <a:lnTo>
                    <a:pt x="80644" y="1219200"/>
                  </a:lnTo>
                  <a:lnTo>
                    <a:pt x="115823" y="1219200"/>
                  </a:lnTo>
                  <a:lnTo>
                    <a:pt x="119252" y="1206500"/>
                  </a:lnTo>
                  <a:lnTo>
                    <a:pt x="124459" y="1206500"/>
                  </a:lnTo>
                  <a:lnTo>
                    <a:pt x="129158" y="1193800"/>
                  </a:lnTo>
                  <a:close/>
                </a:path>
                <a:path w="3145154" h="1511300">
                  <a:moveTo>
                    <a:pt x="123189" y="1206500"/>
                  </a:moveTo>
                  <a:lnTo>
                    <a:pt x="119252" y="1206500"/>
                  </a:lnTo>
                  <a:lnTo>
                    <a:pt x="117855" y="1219200"/>
                  </a:lnTo>
                  <a:lnTo>
                    <a:pt x="123189" y="1206500"/>
                  </a:lnTo>
                  <a:close/>
                </a:path>
                <a:path w="3145154" h="1511300">
                  <a:moveTo>
                    <a:pt x="93979" y="1181100"/>
                  </a:moveTo>
                  <a:lnTo>
                    <a:pt x="88518" y="1193800"/>
                  </a:lnTo>
                  <a:lnTo>
                    <a:pt x="92709" y="1193800"/>
                  </a:lnTo>
                  <a:lnTo>
                    <a:pt x="93979" y="1181100"/>
                  </a:lnTo>
                  <a:close/>
                </a:path>
                <a:path w="3145154" h="1511300">
                  <a:moveTo>
                    <a:pt x="134492" y="1181100"/>
                  </a:moveTo>
                  <a:lnTo>
                    <a:pt x="97408" y="1181100"/>
                  </a:lnTo>
                  <a:lnTo>
                    <a:pt x="92709" y="1193800"/>
                  </a:lnTo>
                  <a:lnTo>
                    <a:pt x="132841" y="1193800"/>
                  </a:lnTo>
                  <a:lnTo>
                    <a:pt x="134492" y="1181100"/>
                  </a:lnTo>
                  <a:close/>
                </a:path>
                <a:path w="3145154" h="1511300">
                  <a:moveTo>
                    <a:pt x="143128" y="1168400"/>
                  </a:moveTo>
                  <a:lnTo>
                    <a:pt x="104520" y="1168400"/>
                  </a:lnTo>
                  <a:lnTo>
                    <a:pt x="99059" y="1181100"/>
                  </a:lnTo>
                  <a:lnTo>
                    <a:pt x="137032" y="1181100"/>
                  </a:lnTo>
                  <a:lnTo>
                    <a:pt x="143128" y="1168400"/>
                  </a:lnTo>
                  <a:close/>
                </a:path>
                <a:path w="3145154" h="1511300">
                  <a:moveTo>
                    <a:pt x="148208" y="1155700"/>
                  </a:moveTo>
                  <a:lnTo>
                    <a:pt x="113664" y="1155700"/>
                  </a:lnTo>
                  <a:lnTo>
                    <a:pt x="107441" y="1168400"/>
                  </a:lnTo>
                  <a:lnTo>
                    <a:pt x="143890" y="1168400"/>
                  </a:lnTo>
                  <a:lnTo>
                    <a:pt x="148208" y="1155700"/>
                  </a:lnTo>
                  <a:close/>
                </a:path>
                <a:path w="3145154" h="1511300">
                  <a:moveTo>
                    <a:pt x="153669" y="1155700"/>
                  </a:moveTo>
                  <a:lnTo>
                    <a:pt x="148208" y="1155700"/>
                  </a:lnTo>
                  <a:lnTo>
                    <a:pt x="147827" y="1168400"/>
                  </a:lnTo>
                  <a:lnTo>
                    <a:pt x="153669" y="1155700"/>
                  </a:lnTo>
                  <a:close/>
                </a:path>
                <a:path w="3145154" h="1511300">
                  <a:moveTo>
                    <a:pt x="158114" y="1143000"/>
                  </a:moveTo>
                  <a:lnTo>
                    <a:pt x="117220" y="1143000"/>
                  </a:lnTo>
                  <a:lnTo>
                    <a:pt x="112902" y="1155700"/>
                  </a:lnTo>
                  <a:lnTo>
                    <a:pt x="152653" y="1155700"/>
                  </a:lnTo>
                  <a:lnTo>
                    <a:pt x="158114" y="1143000"/>
                  </a:lnTo>
                  <a:close/>
                </a:path>
                <a:path w="3145154" h="1511300">
                  <a:moveTo>
                    <a:pt x="167766" y="1130300"/>
                  </a:moveTo>
                  <a:lnTo>
                    <a:pt x="123316" y="1130300"/>
                  </a:lnTo>
                  <a:lnTo>
                    <a:pt x="117601" y="1143000"/>
                  </a:lnTo>
                  <a:lnTo>
                    <a:pt x="162432" y="1143000"/>
                  </a:lnTo>
                  <a:lnTo>
                    <a:pt x="167766" y="1130300"/>
                  </a:lnTo>
                  <a:close/>
                </a:path>
                <a:path w="3145154" h="1511300">
                  <a:moveTo>
                    <a:pt x="139445" y="1104900"/>
                  </a:moveTo>
                  <a:lnTo>
                    <a:pt x="133984" y="1117600"/>
                  </a:lnTo>
                  <a:lnTo>
                    <a:pt x="128777" y="1130300"/>
                  </a:lnTo>
                  <a:lnTo>
                    <a:pt x="169290" y="1130300"/>
                  </a:lnTo>
                  <a:lnTo>
                    <a:pt x="175386" y="1117600"/>
                  </a:lnTo>
                  <a:lnTo>
                    <a:pt x="137922" y="1117600"/>
                  </a:lnTo>
                  <a:lnTo>
                    <a:pt x="139445" y="1104900"/>
                  </a:lnTo>
                  <a:close/>
                </a:path>
                <a:path w="3145154" h="1511300">
                  <a:moveTo>
                    <a:pt x="180339" y="1104900"/>
                  </a:moveTo>
                  <a:lnTo>
                    <a:pt x="144017" y="1104900"/>
                  </a:lnTo>
                  <a:lnTo>
                    <a:pt x="137922" y="1117600"/>
                  </a:lnTo>
                  <a:lnTo>
                    <a:pt x="174116" y="1117600"/>
                  </a:lnTo>
                  <a:lnTo>
                    <a:pt x="180339" y="1104900"/>
                  </a:lnTo>
                  <a:close/>
                </a:path>
                <a:path w="3145154" h="1511300">
                  <a:moveTo>
                    <a:pt x="189864" y="1092200"/>
                  </a:moveTo>
                  <a:lnTo>
                    <a:pt x="151383" y="1092200"/>
                  </a:lnTo>
                  <a:lnTo>
                    <a:pt x="145287" y="1104900"/>
                  </a:lnTo>
                  <a:lnTo>
                    <a:pt x="180847" y="1104900"/>
                  </a:lnTo>
                  <a:lnTo>
                    <a:pt x="189864" y="1092200"/>
                  </a:lnTo>
                  <a:close/>
                </a:path>
                <a:path w="3145154" h="1511300">
                  <a:moveTo>
                    <a:pt x="196722" y="1079500"/>
                  </a:moveTo>
                  <a:lnTo>
                    <a:pt x="159892" y="1079500"/>
                  </a:lnTo>
                  <a:lnTo>
                    <a:pt x="150875" y="1092200"/>
                  </a:lnTo>
                  <a:lnTo>
                    <a:pt x="188722" y="1092200"/>
                  </a:lnTo>
                  <a:lnTo>
                    <a:pt x="196722" y="1079500"/>
                  </a:lnTo>
                  <a:close/>
                </a:path>
                <a:path w="3145154" h="1511300">
                  <a:moveTo>
                    <a:pt x="205104" y="1066800"/>
                  </a:moveTo>
                  <a:lnTo>
                    <a:pt x="168909" y="1066800"/>
                  </a:lnTo>
                  <a:lnTo>
                    <a:pt x="160908" y="1079500"/>
                  </a:lnTo>
                  <a:lnTo>
                    <a:pt x="198247" y="1079500"/>
                  </a:lnTo>
                  <a:lnTo>
                    <a:pt x="205104" y="1066800"/>
                  </a:lnTo>
                  <a:close/>
                </a:path>
                <a:path w="3145154" h="1511300">
                  <a:moveTo>
                    <a:pt x="216788" y="1054100"/>
                  </a:moveTo>
                  <a:lnTo>
                    <a:pt x="174116" y="1054100"/>
                  </a:lnTo>
                  <a:lnTo>
                    <a:pt x="167258" y="1066800"/>
                  </a:lnTo>
                  <a:lnTo>
                    <a:pt x="203072" y="1066800"/>
                  </a:lnTo>
                  <a:lnTo>
                    <a:pt x="216788" y="1054100"/>
                  </a:lnTo>
                  <a:close/>
                </a:path>
                <a:path w="3145154" h="1511300">
                  <a:moveTo>
                    <a:pt x="189864" y="1028700"/>
                  </a:moveTo>
                  <a:lnTo>
                    <a:pt x="176148" y="1054100"/>
                  </a:lnTo>
                  <a:lnTo>
                    <a:pt x="218439" y="1054100"/>
                  </a:lnTo>
                  <a:lnTo>
                    <a:pt x="226313" y="1041400"/>
                  </a:lnTo>
                  <a:lnTo>
                    <a:pt x="188213" y="1041400"/>
                  </a:lnTo>
                  <a:lnTo>
                    <a:pt x="189864" y="1028700"/>
                  </a:lnTo>
                  <a:close/>
                </a:path>
                <a:path w="3145154" h="1511300">
                  <a:moveTo>
                    <a:pt x="239648" y="1016000"/>
                  </a:moveTo>
                  <a:lnTo>
                    <a:pt x="196087" y="1016000"/>
                  </a:lnTo>
                  <a:lnTo>
                    <a:pt x="188213" y="1041400"/>
                  </a:lnTo>
                  <a:lnTo>
                    <a:pt x="225170" y="1041400"/>
                  </a:lnTo>
                  <a:lnTo>
                    <a:pt x="239648" y="1016000"/>
                  </a:lnTo>
                  <a:close/>
                </a:path>
                <a:path w="3145154" h="1511300">
                  <a:moveTo>
                    <a:pt x="252475" y="1003300"/>
                  </a:moveTo>
                  <a:lnTo>
                    <a:pt x="211581" y="1003300"/>
                  </a:lnTo>
                  <a:lnTo>
                    <a:pt x="197103" y="1016000"/>
                  </a:lnTo>
                  <a:lnTo>
                    <a:pt x="239648" y="1016000"/>
                  </a:lnTo>
                  <a:lnTo>
                    <a:pt x="238125" y="1028700"/>
                  </a:lnTo>
                  <a:lnTo>
                    <a:pt x="252475" y="1003300"/>
                  </a:lnTo>
                  <a:close/>
                </a:path>
                <a:path w="3145154" h="1511300">
                  <a:moveTo>
                    <a:pt x="268097" y="990600"/>
                  </a:moveTo>
                  <a:lnTo>
                    <a:pt x="227456" y="990600"/>
                  </a:lnTo>
                  <a:lnTo>
                    <a:pt x="213105" y="1003300"/>
                  </a:lnTo>
                  <a:lnTo>
                    <a:pt x="254380" y="1003300"/>
                  </a:lnTo>
                  <a:lnTo>
                    <a:pt x="268097" y="990600"/>
                  </a:lnTo>
                  <a:close/>
                </a:path>
                <a:path w="3145154" h="1511300">
                  <a:moveTo>
                    <a:pt x="284225" y="965200"/>
                  </a:moveTo>
                  <a:lnTo>
                    <a:pt x="239267" y="965200"/>
                  </a:lnTo>
                  <a:lnTo>
                    <a:pt x="225678" y="990600"/>
                  </a:lnTo>
                  <a:lnTo>
                    <a:pt x="266319" y="990600"/>
                  </a:lnTo>
                  <a:lnTo>
                    <a:pt x="284225" y="965200"/>
                  </a:lnTo>
                  <a:close/>
                </a:path>
                <a:path w="3145154" h="1511300">
                  <a:moveTo>
                    <a:pt x="259079" y="939800"/>
                  </a:moveTo>
                  <a:lnTo>
                    <a:pt x="241045" y="965200"/>
                  </a:lnTo>
                  <a:lnTo>
                    <a:pt x="285622" y="965200"/>
                  </a:lnTo>
                  <a:lnTo>
                    <a:pt x="301497" y="952500"/>
                  </a:lnTo>
                  <a:lnTo>
                    <a:pt x="257682" y="952500"/>
                  </a:lnTo>
                  <a:lnTo>
                    <a:pt x="259079" y="939800"/>
                  </a:lnTo>
                  <a:close/>
                </a:path>
                <a:path w="3145154" h="1511300">
                  <a:moveTo>
                    <a:pt x="358139" y="876300"/>
                  </a:moveTo>
                  <a:lnTo>
                    <a:pt x="316864" y="876300"/>
                  </a:lnTo>
                  <a:lnTo>
                    <a:pt x="305053" y="889000"/>
                  </a:lnTo>
                  <a:lnTo>
                    <a:pt x="288797" y="901700"/>
                  </a:lnTo>
                  <a:lnTo>
                    <a:pt x="289305" y="901700"/>
                  </a:lnTo>
                  <a:lnTo>
                    <a:pt x="273557" y="927100"/>
                  </a:lnTo>
                  <a:lnTo>
                    <a:pt x="257682" y="952500"/>
                  </a:lnTo>
                  <a:lnTo>
                    <a:pt x="300863" y="952500"/>
                  </a:lnTo>
                  <a:lnTo>
                    <a:pt x="315975" y="927100"/>
                  </a:lnTo>
                  <a:lnTo>
                    <a:pt x="332358" y="914400"/>
                  </a:lnTo>
                  <a:lnTo>
                    <a:pt x="331977" y="914400"/>
                  </a:lnTo>
                  <a:lnTo>
                    <a:pt x="343788" y="889000"/>
                  </a:lnTo>
                  <a:lnTo>
                    <a:pt x="358139" y="876300"/>
                  </a:lnTo>
                  <a:close/>
                </a:path>
                <a:path w="3145154" h="1511300">
                  <a:moveTo>
                    <a:pt x="381507" y="850900"/>
                  </a:moveTo>
                  <a:lnTo>
                    <a:pt x="331342" y="850900"/>
                  </a:lnTo>
                  <a:lnTo>
                    <a:pt x="316991" y="876300"/>
                  </a:lnTo>
                  <a:lnTo>
                    <a:pt x="357886" y="876300"/>
                  </a:lnTo>
                  <a:lnTo>
                    <a:pt x="369824" y="863600"/>
                  </a:lnTo>
                  <a:lnTo>
                    <a:pt x="381507" y="850900"/>
                  </a:lnTo>
                  <a:close/>
                </a:path>
                <a:path w="3145154" h="1511300">
                  <a:moveTo>
                    <a:pt x="394462" y="838200"/>
                  </a:moveTo>
                  <a:lnTo>
                    <a:pt x="343407" y="838200"/>
                  </a:lnTo>
                  <a:lnTo>
                    <a:pt x="331597" y="850900"/>
                  </a:lnTo>
                  <a:lnTo>
                    <a:pt x="380872" y="850900"/>
                  </a:lnTo>
                  <a:lnTo>
                    <a:pt x="394462" y="838200"/>
                  </a:lnTo>
                  <a:close/>
                </a:path>
                <a:path w="3145154" h="1511300">
                  <a:moveTo>
                    <a:pt x="417449" y="812800"/>
                  </a:moveTo>
                  <a:lnTo>
                    <a:pt x="369188" y="812800"/>
                  </a:lnTo>
                  <a:lnTo>
                    <a:pt x="355472" y="825500"/>
                  </a:lnTo>
                  <a:lnTo>
                    <a:pt x="343280" y="838200"/>
                  </a:lnTo>
                  <a:lnTo>
                    <a:pt x="395986" y="838200"/>
                  </a:lnTo>
                  <a:lnTo>
                    <a:pt x="405383" y="825500"/>
                  </a:lnTo>
                  <a:lnTo>
                    <a:pt x="403732" y="825500"/>
                  </a:lnTo>
                  <a:lnTo>
                    <a:pt x="417449" y="812800"/>
                  </a:lnTo>
                  <a:close/>
                </a:path>
                <a:path w="3145154" h="1511300">
                  <a:moveTo>
                    <a:pt x="429513" y="787400"/>
                  </a:moveTo>
                  <a:lnTo>
                    <a:pt x="392430" y="787400"/>
                  </a:lnTo>
                  <a:lnTo>
                    <a:pt x="378713" y="800100"/>
                  </a:lnTo>
                  <a:lnTo>
                    <a:pt x="377063" y="800100"/>
                  </a:lnTo>
                  <a:lnTo>
                    <a:pt x="367664" y="812800"/>
                  </a:lnTo>
                  <a:lnTo>
                    <a:pt x="419734" y="812800"/>
                  </a:lnTo>
                  <a:lnTo>
                    <a:pt x="429513" y="787400"/>
                  </a:lnTo>
                  <a:close/>
                </a:path>
                <a:path w="3145154" h="1511300">
                  <a:moveTo>
                    <a:pt x="415289" y="749300"/>
                  </a:moveTo>
                  <a:lnTo>
                    <a:pt x="401700" y="774700"/>
                  </a:lnTo>
                  <a:lnTo>
                    <a:pt x="399669" y="774700"/>
                  </a:lnTo>
                  <a:lnTo>
                    <a:pt x="390016" y="787400"/>
                  </a:lnTo>
                  <a:lnTo>
                    <a:pt x="427608" y="787400"/>
                  </a:lnTo>
                  <a:lnTo>
                    <a:pt x="442340" y="774700"/>
                  </a:lnTo>
                  <a:lnTo>
                    <a:pt x="454532" y="762000"/>
                  </a:lnTo>
                  <a:lnTo>
                    <a:pt x="414274" y="762000"/>
                  </a:lnTo>
                  <a:lnTo>
                    <a:pt x="415289" y="749300"/>
                  </a:lnTo>
                  <a:close/>
                </a:path>
                <a:path w="3145154" h="1511300">
                  <a:moveTo>
                    <a:pt x="471550" y="736600"/>
                  </a:moveTo>
                  <a:lnTo>
                    <a:pt x="426465" y="736600"/>
                  </a:lnTo>
                  <a:lnTo>
                    <a:pt x="414274" y="762000"/>
                  </a:lnTo>
                  <a:lnTo>
                    <a:pt x="453516" y="762000"/>
                  </a:lnTo>
                  <a:lnTo>
                    <a:pt x="471550" y="736600"/>
                  </a:lnTo>
                  <a:close/>
                </a:path>
                <a:path w="3145154" h="1511300">
                  <a:moveTo>
                    <a:pt x="487933" y="723900"/>
                  </a:moveTo>
                  <a:lnTo>
                    <a:pt x="445515" y="723900"/>
                  </a:lnTo>
                  <a:lnTo>
                    <a:pt x="427481" y="736600"/>
                  </a:lnTo>
                  <a:lnTo>
                    <a:pt x="471677" y="736600"/>
                  </a:lnTo>
                  <a:lnTo>
                    <a:pt x="487933" y="723900"/>
                  </a:lnTo>
                  <a:close/>
                </a:path>
                <a:path w="3145154" h="1511300">
                  <a:moveTo>
                    <a:pt x="504063" y="698500"/>
                  </a:moveTo>
                  <a:lnTo>
                    <a:pt x="461518" y="698500"/>
                  </a:lnTo>
                  <a:lnTo>
                    <a:pt x="445262" y="723900"/>
                  </a:lnTo>
                  <a:lnTo>
                    <a:pt x="488569" y="723900"/>
                  </a:lnTo>
                  <a:lnTo>
                    <a:pt x="504063" y="698500"/>
                  </a:lnTo>
                  <a:close/>
                </a:path>
                <a:path w="3145154" h="1511300">
                  <a:moveTo>
                    <a:pt x="537590" y="660400"/>
                  </a:moveTo>
                  <a:lnTo>
                    <a:pt x="491108" y="660400"/>
                  </a:lnTo>
                  <a:lnTo>
                    <a:pt x="477393" y="673100"/>
                  </a:lnTo>
                  <a:lnTo>
                    <a:pt x="476376" y="685800"/>
                  </a:lnTo>
                  <a:lnTo>
                    <a:pt x="460882" y="698500"/>
                  </a:lnTo>
                  <a:lnTo>
                    <a:pt x="503046" y="698500"/>
                  </a:lnTo>
                  <a:lnTo>
                    <a:pt x="516636" y="685800"/>
                  </a:lnTo>
                  <a:lnTo>
                    <a:pt x="517906" y="685800"/>
                  </a:lnTo>
                  <a:lnTo>
                    <a:pt x="526922" y="673100"/>
                  </a:lnTo>
                  <a:lnTo>
                    <a:pt x="524256" y="673100"/>
                  </a:lnTo>
                  <a:lnTo>
                    <a:pt x="537590" y="660400"/>
                  </a:lnTo>
                  <a:close/>
                </a:path>
                <a:path w="3145154" h="1511300">
                  <a:moveTo>
                    <a:pt x="549656" y="647700"/>
                  </a:moveTo>
                  <a:lnTo>
                    <a:pt x="498856" y="647700"/>
                  </a:lnTo>
                  <a:lnTo>
                    <a:pt x="489838" y="660400"/>
                  </a:lnTo>
                  <a:lnTo>
                    <a:pt x="540638" y="660400"/>
                  </a:lnTo>
                  <a:lnTo>
                    <a:pt x="549656" y="647700"/>
                  </a:lnTo>
                  <a:close/>
                </a:path>
                <a:path w="3145154" h="1511300">
                  <a:moveTo>
                    <a:pt x="514731" y="635000"/>
                  </a:moveTo>
                  <a:lnTo>
                    <a:pt x="501395" y="647700"/>
                  </a:lnTo>
                  <a:lnTo>
                    <a:pt x="511682" y="647700"/>
                  </a:lnTo>
                  <a:lnTo>
                    <a:pt x="514731" y="635000"/>
                  </a:lnTo>
                  <a:close/>
                </a:path>
                <a:path w="3145154" h="1511300">
                  <a:moveTo>
                    <a:pt x="585596" y="609600"/>
                  </a:moveTo>
                  <a:lnTo>
                    <a:pt x="536320" y="609600"/>
                  </a:lnTo>
                  <a:lnTo>
                    <a:pt x="522731" y="622300"/>
                  </a:lnTo>
                  <a:lnTo>
                    <a:pt x="520700" y="635000"/>
                  </a:lnTo>
                  <a:lnTo>
                    <a:pt x="511682" y="647700"/>
                  </a:lnTo>
                  <a:lnTo>
                    <a:pt x="547751" y="647700"/>
                  </a:lnTo>
                  <a:lnTo>
                    <a:pt x="561339" y="635000"/>
                  </a:lnTo>
                  <a:lnTo>
                    <a:pt x="562101" y="635000"/>
                  </a:lnTo>
                  <a:lnTo>
                    <a:pt x="573913" y="622300"/>
                  </a:lnTo>
                  <a:lnTo>
                    <a:pt x="574166" y="622300"/>
                  </a:lnTo>
                  <a:lnTo>
                    <a:pt x="585596" y="609600"/>
                  </a:lnTo>
                  <a:close/>
                </a:path>
                <a:path w="3145154" h="1511300">
                  <a:moveTo>
                    <a:pt x="597281" y="596900"/>
                  </a:moveTo>
                  <a:lnTo>
                    <a:pt x="547624" y="596900"/>
                  </a:lnTo>
                  <a:lnTo>
                    <a:pt x="535686" y="609600"/>
                  </a:lnTo>
                  <a:lnTo>
                    <a:pt x="583945" y="609600"/>
                  </a:lnTo>
                  <a:lnTo>
                    <a:pt x="597281" y="596900"/>
                  </a:lnTo>
                  <a:close/>
                </a:path>
                <a:path w="3145154" h="1511300">
                  <a:moveTo>
                    <a:pt x="608711" y="584200"/>
                  </a:moveTo>
                  <a:lnTo>
                    <a:pt x="558926" y="584200"/>
                  </a:lnTo>
                  <a:lnTo>
                    <a:pt x="547369" y="596900"/>
                  </a:lnTo>
                  <a:lnTo>
                    <a:pt x="599694" y="596900"/>
                  </a:lnTo>
                  <a:lnTo>
                    <a:pt x="608711" y="584200"/>
                  </a:lnTo>
                  <a:close/>
                </a:path>
                <a:path w="3145154" h="1511300">
                  <a:moveTo>
                    <a:pt x="631570" y="558800"/>
                  </a:moveTo>
                  <a:lnTo>
                    <a:pt x="581532" y="558800"/>
                  </a:lnTo>
                  <a:lnTo>
                    <a:pt x="571500" y="571500"/>
                  </a:lnTo>
                  <a:lnTo>
                    <a:pt x="573913" y="571500"/>
                  </a:lnTo>
                  <a:lnTo>
                    <a:pt x="560705" y="584200"/>
                  </a:lnTo>
                  <a:lnTo>
                    <a:pt x="617219" y="584200"/>
                  </a:lnTo>
                  <a:lnTo>
                    <a:pt x="620013" y="571500"/>
                  </a:lnTo>
                  <a:lnTo>
                    <a:pt x="631570" y="558800"/>
                  </a:lnTo>
                  <a:close/>
                </a:path>
                <a:path w="3145154" h="1511300">
                  <a:moveTo>
                    <a:pt x="596519" y="546100"/>
                  </a:moveTo>
                  <a:lnTo>
                    <a:pt x="582802" y="558800"/>
                  </a:lnTo>
                  <a:lnTo>
                    <a:pt x="593597" y="558800"/>
                  </a:lnTo>
                  <a:lnTo>
                    <a:pt x="596519" y="546100"/>
                  </a:lnTo>
                  <a:close/>
                </a:path>
                <a:path w="3145154" h="1511300">
                  <a:moveTo>
                    <a:pt x="665480" y="533400"/>
                  </a:moveTo>
                  <a:lnTo>
                    <a:pt x="607440" y="533400"/>
                  </a:lnTo>
                  <a:lnTo>
                    <a:pt x="605155" y="546100"/>
                  </a:lnTo>
                  <a:lnTo>
                    <a:pt x="593597" y="558800"/>
                  </a:lnTo>
                  <a:lnTo>
                    <a:pt x="640588" y="558800"/>
                  </a:lnTo>
                  <a:lnTo>
                    <a:pt x="653541" y="546100"/>
                  </a:lnTo>
                  <a:lnTo>
                    <a:pt x="654303" y="546100"/>
                  </a:lnTo>
                  <a:lnTo>
                    <a:pt x="665480" y="533400"/>
                  </a:lnTo>
                  <a:close/>
                </a:path>
                <a:path w="3145154" h="1511300">
                  <a:moveTo>
                    <a:pt x="676147" y="520700"/>
                  </a:moveTo>
                  <a:lnTo>
                    <a:pt x="630682" y="520700"/>
                  </a:lnTo>
                  <a:lnTo>
                    <a:pt x="617727" y="533400"/>
                  </a:lnTo>
                  <a:lnTo>
                    <a:pt x="663194" y="533400"/>
                  </a:lnTo>
                  <a:lnTo>
                    <a:pt x="676147" y="520700"/>
                  </a:lnTo>
                  <a:close/>
                </a:path>
                <a:path w="3145154" h="1511300">
                  <a:moveTo>
                    <a:pt x="689482" y="508000"/>
                  </a:moveTo>
                  <a:lnTo>
                    <a:pt x="641095" y="508000"/>
                  </a:lnTo>
                  <a:lnTo>
                    <a:pt x="629919" y="520700"/>
                  </a:lnTo>
                  <a:lnTo>
                    <a:pt x="678433" y="520700"/>
                  </a:lnTo>
                  <a:lnTo>
                    <a:pt x="689482" y="508000"/>
                  </a:lnTo>
                  <a:close/>
                </a:path>
                <a:path w="3145154" h="1511300">
                  <a:moveTo>
                    <a:pt x="699769" y="508000"/>
                  </a:moveTo>
                  <a:lnTo>
                    <a:pt x="689482" y="508000"/>
                  </a:lnTo>
                  <a:lnTo>
                    <a:pt x="687451" y="520700"/>
                  </a:lnTo>
                  <a:lnTo>
                    <a:pt x="699769" y="508000"/>
                  </a:lnTo>
                  <a:close/>
                </a:path>
                <a:path w="3145154" h="1511300">
                  <a:moveTo>
                    <a:pt x="717931" y="495300"/>
                  </a:moveTo>
                  <a:lnTo>
                    <a:pt x="656336" y="495300"/>
                  </a:lnTo>
                  <a:lnTo>
                    <a:pt x="643382" y="508000"/>
                  </a:lnTo>
                  <a:lnTo>
                    <a:pt x="700913" y="508000"/>
                  </a:lnTo>
                  <a:lnTo>
                    <a:pt x="717931" y="495300"/>
                  </a:lnTo>
                  <a:close/>
                </a:path>
                <a:path w="3145154" h="1511300">
                  <a:moveTo>
                    <a:pt x="731012" y="482600"/>
                  </a:moveTo>
                  <a:lnTo>
                    <a:pt x="665226" y="482600"/>
                  </a:lnTo>
                  <a:lnTo>
                    <a:pt x="654050" y="495300"/>
                  </a:lnTo>
                  <a:lnTo>
                    <a:pt x="716533" y="495300"/>
                  </a:lnTo>
                  <a:lnTo>
                    <a:pt x="731012" y="482600"/>
                  </a:lnTo>
                  <a:close/>
                </a:path>
                <a:path w="3145154" h="1511300">
                  <a:moveTo>
                    <a:pt x="750824" y="469900"/>
                  </a:moveTo>
                  <a:lnTo>
                    <a:pt x="695197" y="469900"/>
                  </a:lnTo>
                  <a:lnTo>
                    <a:pt x="678307" y="482600"/>
                  </a:lnTo>
                  <a:lnTo>
                    <a:pt x="731774" y="482600"/>
                  </a:lnTo>
                  <a:lnTo>
                    <a:pt x="750824" y="469900"/>
                  </a:lnTo>
                  <a:close/>
                </a:path>
                <a:path w="3145154" h="1511300">
                  <a:moveTo>
                    <a:pt x="762634" y="457200"/>
                  </a:moveTo>
                  <a:lnTo>
                    <a:pt x="710945" y="457200"/>
                  </a:lnTo>
                  <a:lnTo>
                    <a:pt x="696594" y="469900"/>
                  </a:lnTo>
                  <a:lnTo>
                    <a:pt x="749681" y="469900"/>
                  </a:lnTo>
                  <a:lnTo>
                    <a:pt x="762634" y="457200"/>
                  </a:lnTo>
                  <a:close/>
                </a:path>
                <a:path w="3145154" h="1511300">
                  <a:moveTo>
                    <a:pt x="801243" y="431800"/>
                  </a:moveTo>
                  <a:lnTo>
                    <a:pt x="743331" y="431800"/>
                  </a:lnTo>
                  <a:lnTo>
                    <a:pt x="730376" y="444500"/>
                  </a:lnTo>
                  <a:lnTo>
                    <a:pt x="710057" y="457200"/>
                  </a:lnTo>
                  <a:lnTo>
                    <a:pt x="762888" y="457200"/>
                  </a:lnTo>
                  <a:lnTo>
                    <a:pt x="775462" y="444500"/>
                  </a:lnTo>
                  <a:lnTo>
                    <a:pt x="788288" y="444500"/>
                  </a:lnTo>
                  <a:lnTo>
                    <a:pt x="801243" y="431800"/>
                  </a:lnTo>
                  <a:close/>
                </a:path>
                <a:path w="3145154" h="1511300">
                  <a:moveTo>
                    <a:pt x="815720" y="419100"/>
                  </a:moveTo>
                  <a:lnTo>
                    <a:pt x="755776" y="419100"/>
                  </a:lnTo>
                  <a:lnTo>
                    <a:pt x="743076" y="431800"/>
                  </a:lnTo>
                  <a:lnTo>
                    <a:pt x="800353" y="431800"/>
                  </a:lnTo>
                  <a:lnTo>
                    <a:pt x="815720" y="419100"/>
                  </a:lnTo>
                  <a:close/>
                </a:path>
                <a:path w="3145154" h="1511300">
                  <a:moveTo>
                    <a:pt x="769112" y="406400"/>
                  </a:moveTo>
                  <a:lnTo>
                    <a:pt x="756157" y="419100"/>
                  </a:lnTo>
                  <a:lnTo>
                    <a:pt x="768857" y="419100"/>
                  </a:lnTo>
                  <a:lnTo>
                    <a:pt x="769112" y="406400"/>
                  </a:lnTo>
                  <a:close/>
                </a:path>
                <a:path w="3145154" h="1511300">
                  <a:moveTo>
                    <a:pt x="832357" y="406400"/>
                  </a:moveTo>
                  <a:lnTo>
                    <a:pt x="781812" y="406400"/>
                  </a:lnTo>
                  <a:lnTo>
                    <a:pt x="768857" y="419100"/>
                  </a:lnTo>
                  <a:lnTo>
                    <a:pt x="817880" y="419100"/>
                  </a:lnTo>
                  <a:lnTo>
                    <a:pt x="832357" y="406400"/>
                  </a:lnTo>
                  <a:close/>
                </a:path>
                <a:path w="3145154" h="1511300">
                  <a:moveTo>
                    <a:pt x="848106" y="406400"/>
                  </a:moveTo>
                  <a:lnTo>
                    <a:pt x="832357" y="406400"/>
                  </a:lnTo>
                  <a:lnTo>
                    <a:pt x="829818" y="419100"/>
                  </a:lnTo>
                  <a:lnTo>
                    <a:pt x="848106" y="406400"/>
                  </a:lnTo>
                  <a:close/>
                </a:path>
                <a:path w="3145154" h="1511300">
                  <a:moveTo>
                    <a:pt x="868680" y="381000"/>
                  </a:moveTo>
                  <a:lnTo>
                    <a:pt x="810513" y="381000"/>
                  </a:lnTo>
                  <a:lnTo>
                    <a:pt x="796036" y="393700"/>
                  </a:lnTo>
                  <a:lnTo>
                    <a:pt x="798194" y="393700"/>
                  </a:lnTo>
                  <a:lnTo>
                    <a:pt x="782701" y="406400"/>
                  </a:lnTo>
                  <a:lnTo>
                    <a:pt x="850645" y="406400"/>
                  </a:lnTo>
                  <a:lnTo>
                    <a:pt x="868680" y="381000"/>
                  </a:lnTo>
                  <a:close/>
                </a:path>
                <a:path w="3145154" h="1511300">
                  <a:moveTo>
                    <a:pt x="885444" y="381000"/>
                  </a:moveTo>
                  <a:lnTo>
                    <a:pt x="868680" y="381000"/>
                  </a:lnTo>
                  <a:lnTo>
                    <a:pt x="866013" y="393700"/>
                  </a:lnTo>
                  <a:lnTo>
                    <a:pt x="885444" y="381000"/>
                  </a:lnTo>
                  <a:close/>
                </a:path>
                <a:path w="3145154" h="1511300">
                  <a:moveTo>
                    <a:pt x="908303" y="368300"/>
                  </a:moveTo>
                  <a:lnTo>
                    <a:pt x="831341" y="368300"/>
                  </a:lnTo>
                  <a:lnTo>
                    <a:pt x="813053" y="381000"/>
                  </a:lnTo>
                  <a:lnTo>
                    <a:pt x="887476" y="381000"/>
                  </a:lnTo>
                  <a:lnTo>
                    <a:pt x="908303" y="368300"/>
                  </a:lnTo>
                  <a:close/>
                </a:path>
                <a:path w="3145154" h="1511300">
                  <a:moveTo>
                    <a:pt x="946403" y="342900"/>
                  </a:moveTo>
                  <a:lnTo>
                    <a:pt x="868933" y="342900"/>
                  </a:lnTo>
                  <a:lnTo>
                    <a:pt x="849502" y="355600"/>
                  </a:lnTo>
                  <a:lnTo>
                    <a:pt x="846836" y="355600"/>
                  </a:lnTo>
                  <a:lnTo>
                    <a:pt x="828801" y="368300"/>
                  </a:lnTo>
                  <a:lnTo>
                    <a:pt x="906526" y="368300"/>
                  </a:lnTo>
                  <a:lnTo>
                    <a:pt x="925576" y="355600"/>
                  </a:lnTo>
                  <a:lnTo>
                    <a:pt x="946403" y="342900"/>
                  </a:lnTo>
                  <a:close/>
                </a:path>
                <a:path w="3145154" h="1511300">
                  <a:moveTo>
                    <a:pt x="964311" y="330200"/>
                  </a:moveTo>
                  <a:lnTo>
                    <a:pt x="887857" y="330200"/>
                  </a:lnTo>
                  <a:lnTo>
                    <a:pt x="866901" y="342900"/>
                  </a:lnTo>
                  <a:lnTo>
                    <a:pt x="947293" y="342900"/>
                  </a:lnTo>
                  <a:lnTo>
                    <a:pt x="964311" y="330200"/>
                  </a:lnTo>
                  <a:close/>
                </a:path>
                <a:path w="3145154" h="1511300">
                  <a:moveTo>
                    <a:pt x="979805" y="317500"/>
                  </a:moveTo>
                  <a:lnTo>
                    <a:pt x="908812" y="317500"/>
                  </a:lnTo>
                  <a:lnTo>
                    <a:pt x="889634" y="330200"/>
                  </a:lnTo>
                  <a:lnTo>
                    <a:pt x="961008" y="330200"/>
                  </a:lnTo>
                  <a:lnTo>
                    <a:pt x="979805" y="317500"/>
                  </a:lnTo>
                  <a:close/>
                </a:path>
                <a:path w="3145154" h="1511300">
                  <a:moveTo>
                    <a:pt x="997584" y="304800"/>
                  </a:moveTo>
                  <a:lnTo>
                    <a:pt x="928243" y="304800"/>
                  </a:lnTo>
                  <a:lnTo>
                    <a:pt x="908050" y="317500"/>
                  </a:lnTo>
                  <a:lnTo>
                    <a:pt x="983614" y="317500"/>
                  </a:lnTo>
                  <a:lnTo>
                    <a:pt x="997584" y="304800"/>
                  </a:lnTo>
                  <a:close/>
                </a:path>
                <a:path w="3145154" h="1511300">
                  <a:moveTo>
                    <a:pt x="1025270" y="292100"/>
                  </a:moveTo>
                  <a:lnTo>
                    <a:pt x="947419" y="292100"/>
                  </a:lnTo>
                  <a:lnTo>
                    <a:pt x="944244" y="304800"/>
                  </a:lnTo>
                  <a:lnTo>
                    <a:pt x="1009395" y="304800"/>
                  </a:lnTo>
                  <a:lnTo>
                    <a:pt x="1025270" y="292100"/>
                  </a:lnTo>
                  <a:close/>
                </a:path>
                <a:path w="3145154" h="1511300">
                  <a:moveTo>
                    <a:pt x="1062989" y="279400"/>
                  </a:moveTo>
                  <a:lnTo>
                    <a:pt x="976376" y="279400"/>
                  </a:lnTo>
                  <a:lnTo>
                    <a:pt x="962278" y="292100"/>
                  </a:lnTo>
                  <a:lnTo>
                    <a:pt x="1045337" y="292100"/>
                  </a:lnTo>
                  <a:lnTo>
                    <a:pt x="1062989" y="279400"/>
                  </a:lnTo>
                  <a:close/>
                </a:path>
                <a:path w="3145154" h="1511300">
                  <a:moveTo>
                    <a:pt x="1088644" y="266700"/>
                  </a:moveTo>
                  <a:lnTo>
                    <a:pt x="995426" y="266700"/>
                  </a:lnTo>
                  <a:lnTo>
                    <a:pt x="979932" y="279400"/>
                  </a:lnTo>
                  <a:lnTo>
                    <a:pt x="1087882" y="279400"/>
                  </a:lnTo>
                  <a:lnTo>
                    <a:pt x="1088644" y="266700"/>
                  </a:lnTo>
                  <a:close/>
                </a:path>
                <a:path w="3145154" h="1511300">
                  <a:moveTo>
                    <a:pt x="1140078" y="254000"/>
                  </a:moveTo>
                  <a:lnTo>
                    <a:pt x="1032763" y="254000"/>
                  </a:lnTo>
                  <a:lnTo>
                    <a:pt x="1010793" y="266700"/>
                  </a:lnTo>
                  <a:lnTo>
                    <a:pt x="1118489" y="266700"/>
                  </a:lnTo>
                  <a:lnTo>
                    <a:pt x="1140078" y="254000"/>
                  </a:lnTo>
                  <a:close/>
                </a:path>
                <a:path w="3145154" h="1511300">
                  <a:moveTo>
                    <a:pt x="1181353" y="241300"/>
                  </a:moveTo>
                  <a:lnTo>
                    <a:pt x="1076197" y="241300"/>
                  </a:lnTo>
                  <a:lnTo>
                    <a:pt x="1052068" y="254000"/>
                  </a:lnTo>
                  <a:lnTo>
                    <a:pt x="1178559" y="254000"/>
                  </a:lnTo>
                  <a:lnTo>
                    <a:pt x="1181353" y="241300"/>
                  </a:lnTo>
                  <a:close/>
                </a:path>
                <a:path w="3145154" h="1511300">
                  <a:moveTo>
                    <a:pt x="1248409" y="228600"/>
                  </a:moveTo>
                  <a:lnTo>
                    <a:pt x="1091945" y="228600"/>
                  </a:lnTo>
                  <a:lnTo>
                    <a:pt x="1075436" y="241300"/>
                  </a:lnTo>
                  <a:lnTo>
                    <a:pt x="1225295" y="241300"/>
                  </a:lnTo>
                  <a:lnTo>
                    <a:pt x="1248409" y="228600"/>
                  </a:lnTo>
                  <a:close/>
                </a:path>
                <a:path w="3145154" h="1511300">
                  <a:moveTo>
                    <a:pt x="1297051" y="215900"/>
                  </a:moveTo>
                  <a:lnTo>
                    <a:pt x="1147826" y="215900"/>
                  </a:lnTo>
                  <a:lnTo>
                    <a:pt x="1130553" y="228600"/>
                  </a:lnTo>
                  <a:lnTo>
                    <a:pt x="1273683" y="228600"/>
                  </a:lnTo>
                  <a:lnTo>
                    <a:pt x="1297051" y="215900"/>
                  </a:lnTo>
                  <a:close/>
                </a:path>
                <a:path w="3145154" h="1511300">
                  <a:moveTo>
                    <a:pt x="1346327" y="203200"/>
                  </a:moveTo>
                  <a:lnTo>
                    <a:pt x="1192911" y="203200"/>
                  </a:lnTo>
                  <a:lnTo>
                    <a:pt x="1170686" y="215900"/>
                  </a:lnTo>
                  <a:lnTo>
                    <a:pt x="1345564" y="215900"/>
                  </a:lnTo>
                  <a:lnTo>
                    <a:pt x="1346327" y="203200"/>
                  </a:lnTo>
                  <a:close/>
                </a:path>
                <a:path w="3145154" h="1511300">
                  <a:moveTo>
                    <a:pt x="1410208" y="190500"/>
                  </a:moveTo>
                  <a:lnTo>
                    <a:pt x="1240408" y="190500"/>
                  </a:lnTo>
                  <a:lnTo>
                    <a:pt x="1217421" y="203200"/>
                  </a:lnTo>
                  <a:lnTo>
                    <a:pt x="1387983" y="203200"/>
                  </a:lnTo>
                  <a:lnTo>
                    <a:pt x="1410208" y="190500"/>
                  </a:lnTo>
                  <a:close/>
                </a:path>
                <a:path w="3145154" h="1511300">
                  <a:moveTo>
                    <a:pt x="1478661" y="177800"/>
                  </a:moveTo>
                  <a:lnTo>
                    <a:pt x="1312671" y="177800"/>
                  </a:lnTo>
                  <a:lnTo>
                    <a:pt x="1289684" y="190500"/>
                  </a:lnTo>
                  <a:lnTo>
                    <a:pt x="1455546" y="190500"/>
                  </a:lnTo>
                  <a:lnTo>
                    <a:pt x="1478661" y="177800"/>
                  </a:lnTo>
                  <a:close/>
                </a:path>
                <a:path w="3145154" h="1511300">
                  <a:moveTo>
                    <a:pt x="1561083" y="165100"/>
                  </a:moveTo>
                  <a:lnTo>
                    <a:pt x="1357502" y="165100"/>
                  </a:lnTo>
                  <a:lnTo>
                    <a:pt x="1337690" y="177800"/>
                  </a:lnTo>
                  <a:lnTo>
                    <a:pt x="1535811" y="177800"/>
                  </a:lnTo>
                  <a:lnTo>
                    <a:pt x="1561083" y="165100"/>
                  </a:lnTo>
                  <a:close/>
                </a:path>
                <a:path w="3145154" h="1511300">
                  <a:moveTo>
                    <a:pt x="1663319" y="152400"/>
                  </a:moveTo>
                  <a:lnTo>
                    <a:pt x="1422653" y="152400"/>
                  </a:lnTo>
                  <a:lnTo>
                    <a:pt x="1402461" y="165100"/>
                  </a:lnTo>
                  <a:lnTo>
                    <a:pt x="1637791" y="165100"/>
                  </a:lnTo>
                  <a:lnTo>
                    <a:pt x="1663319" y="152400"/>
                  </a:lnTo>
                  <a:close/>
                </a:path>
                <a:path w="3145154" h="1511300">
                  <a:moveTo>
                    <a:pt x="1760474" y="139700"/>
                  </a:moveTo>
                  <a:lnTo>
                    <a:pt x="1496314" y="139700"/>
                  </a:lnTo>
                  <a:lnTo>
                    <a:pt x="1473200" y="152400"/>
                  </a:lnTo>
                  <a:lnTo>
                    <a:pt x="1734820" y="152400"/>
                  </a:lnTo>
                  <a:lnTo>
                    <a:pt x="1760474" y="139700"/>
                  </a:lnTo>
                  <a:close/>
                </a:path>
                <a:path w="3145154" h="1511300">
                  <a:moveTo>
                    <a:pt x="1863725" y="127000"/>
                  </a:moveTo>
                  <a:lnTo>
                    <a:pt x="1587753" y="127000"/>
                  </a:lnTo>
                  <a:lnTo>
                    <a:pt x="1556003" y="139700"/>
                  </a:lnTo>
                  <a:lnTo>
                    <a:pt x="1837055" y="139700"/>
                  </a:lnTo>
                  <a:lnTo>
                    <a:pt x="1863725" y="127000"/>
                  </a:lnTo>
                  <a:close/>
                </a:path>
                <a:path w="3145154" h="1511300">
                  <a:moveTo>
                    <a:pt x="2028443" y="114300"/>
                  </a:moveTo>
                  <a:lnTo>
                    <a:pt x="1681099" y="114300"/>
                  </a:lnTo>
                  <a:lnTo>
                    <a:pt x="1657984" y="127000"/>
                  </a:lnTo>
                  <a:lnTo>
                    <a:pt x="2002663" y="127000"/>
                  </a:lnTo>
                  <a:lnTo>
                    <a:pt x="2028443" y="114300"/>
                  </a:lnTo>
                  <a:close/>
                </a:path>
                <a:path w="3145154" h="1511300">
                  <a:moveTo>
                    <a:pt x="2188591" y="101600"/>
                  </a:moveTo>
                  <a:lnTo>
                    <a:pt x="1779651" y="101600"/>
                  </a:lnTo>
                  <a:lnTo>
                    <a:pt x="1731009" y="114300"/>
                  </a:lnTo>
                  <a:lnTo>
                    <a:pt x="2170176" y="114300"/>
                  </a:lnTo>
                  <a:lnTo>
                    <a:pt x="2188591" y="101600"/>
                  </a:lnTo>
                  <a:close/>
                </a:path>
                <a:path w="3145154" h="1511300">
                  <a:moveTo>
                    <a:pt x="2369312" y="88900"/>
                  </a:moveTo>
                  <a:lnTo>
                    <a:pt x="1907794" y="88900"/>
                  </a:lnTo>
                  <a:lnTo>
                    <a:pt x="1882266" y="101600"/>
                  </a:lnTo>
                  <a:lnTo>
                    <a:pt x="2343785" y="101600"/>
                  </a:lnTo>
                  <a:lnTo>
                    <a:pt x="2369312" y="88900"/>
                  </a:lnTo>
                  <a:close/>
                </a:path>
                <a:path w="3145154" h="1511300">
                  <a:moveTo>
                    <a:pt x="2461641" y="76200"/>
                  </a:moveTo>
                  <a:lnTo>
                    <a:pt x="2065274" y="76200"/>
                  </a:lnTo>
                  <a:lnTo>
                    <a:pt x="2042922" y="88900"/>
                  </a:lnTo>
                  <a:lnTo>
                    <a:pt x="2441829" y="88900"/>
                  </a:lnTo>
                  <a:lnTo>
                    <a:pt x="2461641" y="76200"/>
                  </a:lnTo>
                  <a:close/>
                </a:path>
                <a:path w="3145154" h="1511300">
                  <a:moveTo>
                    <a:pt x="2556383" y="63500"/>
                  </a:moveTo>
                  <a:lnTo>
                    <a:pt x="2220214" y="63500"/>
                  </a:lnTo>
                  <a:lnTo>
                    <a:pt x="2200783" y="76200"/>
                  </a:lnTo>
                  <a:lnTo>
                    <a:pt x="2539746" y="76200"/>
                  </a:lnTo>
                  <a:lnTo>
                    <a:pt x="2556383" y="63500"/>
                  </a:lnTo>
                  <a:close/>
                </a:path>
                <a:path w="3145154" h="1511300">
                  <a:moveTo>
                    <a:pt x="2849626" y="50800"/>
                  </a:moveTo>
                  <a:lnTo>
                    <a:pt x="2362962" y="50800"/>
                  </a:lnTo>
                  <a:lnTo>
                    <a:pt x="2337435" y="63500"/>
                  </a:lnTo>
                  <a:lnTo>
                    <a:pt x="2830067" y="63500"/>
                  </a:lnTo>
                  <a:lnTo>
                    <a:pt x="2849626" y="50800"/>
                  </a:lnTo>
                  <a:close/>
                </a:path>
                <a:path w="3145154" h="1511300">
                  <a:moveTo>
                    <a:pt x="2941192" y="38100"/>
                  </a:moveTo>
                  <a:lnTo>
                    <a:pt x="2478278" y="38100"/>
                  </a:lnTo>
                  <a:lnTo>
                    <a:pt x="2456053" y="50800"/>
                  </a:lnTo>
                  <a:lnTo>
                    <a:pt x="2922524" y="50800"/>
                  </a:lnTo>
                  <a:lnTo>
                    <a:pt x="2941192" y="38100"/>
                  </a:lnTo>
                  <a:close/>
                </a:path>
                <a:path w="3145154" h="1511300">
                  <a:moveTo>
                    <a:pt x="3005328" y="25400"/>
                  </a:moveTo>
                  <a:lnTo>
                    <a:pt x="2698115" y="25400"/>
                  </a:lnTo>
                  <a:lnTo>
                    <a:pt x="2679065" y="38100"/>
                  </a:lnTo>
                  <a:lnTo>
                    <a:pt x="2997327" y="38100"/>
                  </a:lnTo>
                  <a:lnTo>
                    <a:pt x="3005328" y="25400"/>
                  </a:lnTo>
                  <a:close/>
                </a:path>
                <a:path w="3145154" h="1511300">
                  <a:moveTo>
                    <a:pt x="3011931" y="25400"/>
                  </a:moveTo>
                  <a:lnTo>
                    <a:pt x="3005328" y="25400"/>
                  </a:lnTo>
                  <a:lnTo>
                    <a:pt x="2999740" y="38100"/>
                  </a:lnTo>
                  <a:lnTo>
                    <a:pt x="3011931" y="25400"/>
                  </a:lnTo>
                  <a:close/>
                </a:path>
                <a:path w="3145154" h="1511300">
                  <a:moveTo>
                    <a:pt x="3145028" y="0"/>
                  </a:moveTo>
                  <a:lnTo>
                    <a:pt x="2947669" y="0"/>
                  </a:lnTo>
                  <a:lnTo>
                    <a:pt x="2934335" y="12700"/>
                  </a:lnTo>
                  <a:lnTo>
                    <a:pt x="3110103" y="12700"/>
                  </a:lnTo>
                  <a:lnTo>
                    <a:pt x="3123311" y="25400"/>
                  </a:lnTo>
                  <a:lnTo>
                    <a:pt x="3110103" y="25400"/>
                  </a:lnTo>
                  <a:lnTo>
                    <a:pt x="3117977" y="38100"/>
                  </a:lnTo>
                  <a:lnTo>
                    <a:pt x="3137154" y="38100"/>
                  </a:lnTo>
                  <a:lnTo>
                    <a:pt x="3145028" y="25400"/>
                  </a:lnTo>
                  <a:lnTo>
                    <a:pt x="3123311" y="25400"/>
                  </a:lnTo>
                  <a:lnTo>
                    <a:pt x="3110103" y="12700"/>
                  </a:lnTo>
                  <a:lnTo>
                    <a:pt x="3145028" y="12700"/>
                  </a:lnTo>
                  <a:lnTo>
                    <a:pt x="3145028" y="0"/>
                  </a:lnTo>
                  <a:close/>
                </a:path>
                <a:path w="3145154" h="1511300">
                  <a:moveTo>
                    <a:pt x="3110103" y="12700"/>
                  </a:moveTo>
                  <a:lnTo>
                    <a:pt x="2862326" y="12700"/>
                  </a:lnTo>
                  <a:lnTo>
                    <a:pt x="2845054" y="25400"/>
                  </a:lnTo>
                  <a:lnTo>
                    <a:pt x="3110103" y="25400"/>
                  </a:lnTo>
                  <a:lnTo>
                    <a:pt x="3110103" y="127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10075" y="1952625"/>
              <a:ext cx="1066800" cy="781050"/>
            </a:xfrm>
            <a:custGeom>
              <a:avLst/>
              <a:gdLst/>
              <a:ahLst/>
              <a:cxnLst/>
              <a:rect l="l" t="t" r="r" b="b"/>
              <a:pathLst>
                <a:path w="1066800" h="781050">
                  <a:moveTo>
                    <a:pt x="0" y="0"/>
                  </a:moveTo>
                  <a:lnTo>
                    <a:pt x="50375" y="2793"/>
                  </a:lnTo>
                  <a:lnTo>
                    <a:pt x="100679" y="6058"/>
                  </a:lnTo>
                  <a:lnTo>
                    <a:pt x="150840" y="10266"/>
                  </a:lnTo>
                  <a:lnTo>
                    <a:pt x="200787" y="15890"/>
                  </a:lnTo>
                  <a:lnTo>
                    <a:pt x="250447" y="23401"/>
                  </a:lnTo>
                  <a:lnTo>
                    <a:pt x="299751" y="33272"/>
                  </a:lnTo>
                  <a:lnTo>
                    <a:pt x="348626" y="45972"/>
                  </a:lnTo>
                  <a:lnTo>
                    <a:pt x="397001" y="61975"/>
                  </a:lnTo>
                  <a:lnTo>
                    <a:pt x="440176" y="79077"/>
                  </a:lnTo>
                  <a:lnTo>
                    <a:pt x="483963" y="98579"/>
                  </a:lnTo>
                  <a:lnTo>
                    <a:pt x="527906" y="120278"/>
                  </a:lnTo>
                  <a:lnTo>
                    <a:pt x="571544" y="143968"/>
                  </a:lnTo>
                  <a:lnTo>
                    <a:pt x="614419" y="169444"/>
                  </a:lnTo>
                  <a:lnTo>
                    <a:pt x="656072" y="196501"/>
                  </a:lnTo>
                  <a:lnTo>
                    <a:pt x="696045" y="224936"/>
                  </a:lnTo>
                  <a:lnTo>
                    <a:pt x="733877" y="254542"/>
                  </a:lnTo>
                  <a:lnTo>
                    <a:pt x="769112" y="285114"/>
                  </a:lnTo>
                  <a:lnTo>
                    <a:pt x="806264" y="322799"/>
                  </a:lnTo>
                  <a:lnTo>
                    <a:pt x="841660" y="365015"/>
                  </a:lnTo>
                  <a:lnTo>
                    <a:pt x="875080" y="410092"/>
                  </a:lnTo>
                  <a:lnTo>
                    <a:pt x="906303" y="456358"/>
                  </a:lnTo>
                  <a:lnTo>
                    <a:pt x="935109" y="502142"/>
                  </a:lnTo>
                  <a:lnTo>
                    <a:pt x="961278" y="545772"/>
                  </a:lnTo>
                  <a:lnTo>
                    <a:pt x="984590" y="585577"/>
                  </a:lnTo>
                  <a:lnTo>
                    <a:pt x="1004824" y="619887"/>
                  </a:lnTo>
                  <a:lnTo>
                    <a:pt x="1034528" y="674429"/>
                  </a:lnTo>
                  <a:lnTo>
                    <a:pt x="1052052" y="716756"/>
                  </a:lnTo>
                  <a:lnTo>
                    <a:pt x="1061456" y="750939"/>
                  </a:lnTo>
                  <a:lnTo>
                    <a:pt x="1066800" y="781050"/>
                  </a:lnTo>
                </a:path>
              </a:pathLst>
            </a:custGeom>
            <a:ln w="38100">
              <a:solidFill>
                <a:srgbClr val="FF40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65293" y="1599945"/>
              <a:ext cx="146685" cy="45720"/>
            </a:xfrm>
            <a:custGeom>
              <a:avLst/>
              <a:gdLst/>
              <a:ahLst/>
              <a:cxnLst/>
              <a:rect l="l" t="t" r="r" b="b"/>
              <a:pathLst>
                <a:path w="146685" h="45719">
                  <a:moveTo>
                    <a:pt x="122936" y="0"/>
                  </a:moveTo>
                  <a:lnTo>
                    <a:pt x="117983" y="5587"/>
                  </a:lnTo>
                  <a:lnTo>
                    <a:pt x="132969" y="18541"/>
                  </a:lnTo>
                  <a:lnTo>
                    <a:pt x="0" y="18541"/>
                  </a:lnTo>
                  <a:lnTo>
                    <a:pt x="0" y="27304"/>
                  </a:lnTo>
                  <a:lnTo>
                    <a:pt x="132969" y="27304"/>
                  </a:lnTo>
                  <a:lnTo>
                    <a:pt x="117983" y="40258"/>
                  </a:lnTo>
                  <a:lnTo>
                    <a:pt x="122936" y="45719"/>
                  </a:lnTo>
                  <a:lnTo>
                    <a:pt x="146304" y="25653"/>
                  </a:lnTo>
                  <a:lnTo>
                    <a:pt x="146304" y="20192"/>
                  </a:lnTo>
                  <a:lnTo>
                    <a:pt x="122936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F05F32F-A17E-1336-B179-00EA0FBD0473}"/>
              </a:ext>
            </a:extLst>
          </p:cNvPr>
          <p:cNvGrpSpPr/>
          <p:nvPr/>
        </p:nvGrpSpPr>
        <p:grpSpPr>
          <a:xfrm>
            <a:off x="5177512" y="1405508"/>
            <a:ext cx="3825874" cy="392811"/>
            <a:chOff x="5074855" y="1471103"/>
            <a:chExt cx="3825874" cy="392811"/>
          </a:xfrm>
        </p:grpSpPr>
        <p:sp>
          <p:nvSpPr>
            <p:cNvPr id="9" name="object 9"/>
            <p:cNvSpPr/>
            <p:nvPr/>
          </p:nvSpPr>
          <p:spPr>
            <a:xfrm>
              <a:off x="5602223" y="1511300"/>
              <a:ext cx="309245" cy="238760"/>
            </a:xfrm>
            <a:custGeom>
              <a:avLst/>
              <a:gdLst/>
              <a:ahLst/>
              <a:cxnLst/>
              <a:rect l="l" t="t" r="r" b="b"/>
              <a:pathLst>
                <a:path w="309245" h="238760">
                  <a:moveTo>
                    <a:pt x="233172" y="0"/>
                  </a:moveTo>
                  <a:lnTo>
                    <a:pt x="229742" y="9651"/>
                  </a:lnTo>
                  <a:lnTo>
                    <a:pt x="243550" y="15652"/>
                  </a:lnTo>
                  <a:lnTo>
                    <a:pt x="255428" y="23939"/>
                  </a:lnTo>
                  <a:lnTo>
                    <a:pt x="279471" y="62349"/>
                  </a:lnTo>
                  <a:lnTo>
                    <a:pt x="287400" y="117855"/>
                  </a:lnTo>
                  <a:lnTo>
                    <a:pt x="286519" y="138884"/>
                  </a:lnTo>
                  <a:lnTo>
                    <a:pt x="273303" y="190373"/>
                  </a:lnTo>
                  <a:lnTo>
                    <a:pt x="243746" y="222573"/>
                  </a:lnTo>
                  <a:lnTo>
                    <a:pt x="230124" y="228600"/>
                  </a:lnTo>
                  <a:lnTo>
                    <a:pt x="233172" y="238251"/>
                  </a:lnTo>
                  <a:lnTo>
                    <a:pt x="278677" y="211195"/>
                  </a:lnTo>
                  <a:lnTo>
                    <a:pt x="304244" y="161242"/>
                  </a:lnTo>
                  <a:lnTo>
                    <a:pt x="309117" y="119125"/>
                  </a:lnTo>
                  <a:lnTo>
                    <a:pt x="307901" y="97289"/>
                  </a:lnTo>
                  <a:lnTo>
                    <a:pt x="298134" y="58618"/>
                  </a:lnTo>
                  <a:lnTo>
                    <a:pt x="265604" y="15271"/>
                  </a:lnTo>
                  <a:lnTo>
                    <a:pt x="250465" y="6242"/>
                  </a:lnTo>
                  <a:lnTo>
                    <a:pt x="233172" y="0"/>
                  </a:lnTo>
                  <a:close/>
                </a:path>
                <a:path w="309245" h="238760">
                  <a:moveTo>
                    <a:pt x="75946" y="0"/>
                  </a:moveTo>
                  <a:lnTo>
                    <a:pt x="30547" y="27110"/>
                  </a:lnTo>
                  <a:lnTo>
                    <a:pt x="4889" y="77120"/>
                  </a:lnTo>
                  <a:lnTo>
                    <a:pt x="0" y="119125"/>
                  </a:lnTo>
                  <a:lnTo>
                    <a:pt x="1216" y="141035"/>
                  </a:lnTo>
                  <a:lnTo>
                    <a:pt x="10983" y="179758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993" y="228600"/>
                  </a:lnTo>
                  <a:lnTo>
                    <a:pt x="65371" y="222573"/>
                  </a:lnTo>
                  <a:lnTo>
                    <a:pt x="53641" y="214201"/>
                  </a:lnTo>
                  <a:lnTo>
                    <a:pt x="29646" y="175131"/>
                  </a:lnTo>
                  <a:lnTo>
                    <a:pt x="21716" y="117855"/>
                  </a:lnTo>
                  <a:lnTo>
                    <a:pt x="22598" y="97591"/>
                  </a:lnTo>
                  <a:lnTo>
                    <a:pt x="35813" y="47371"/>
                  </a:lnTo>
                  <a:lnTo>
                    <a:pt x="65585" y="15652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5B49094-3BDC-1699-F0EC-9C3CDBF9EE99}"/>
                </a:ext>
              </a:extLst>
            </p:cNvPr>
            <p:cNvGrpSpPr/>
            <p:nvPr/>
          </p:nvGrpSpPr>
          <p:grpSpPr>
            <a:xfrm>
              <a:off x="5074855" y="1471103"/>
              <a:ext cx="3825874" cy="392811"/>
              <a:chOff x="5092700" y="1434718"/>
              <a:chExt cx="3825874" cy="392811"/>
            </a:xfrm>
          </p:grpSpPr>
          <p:sp>
            <p:nvSpPr>
              <p:cNvPr id="8" name="object 8"/>
              <p:cNvSpPr txBox="1"/>
              <p:nvPr/>
            </p:nvSpPr>
            <p:spPr>
              <a:xfrm>
                <a:off x="5092700" y="1492249"/>
                <a:ext cx="511809" cy="33528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3000" spc="67" baseline="12500" dirty="0">
                    <a:solidFill>
                      <a:srgbClr val="7030A0"/>
                    </a:solidFill>
                    <a:latin typeface="Cambria Math"/>
                    <a:cs typeface="Cambria Math"/>
                  </a:rPr>
                  <a:t>𝑓</a:t>
                </a:r>
                <a:r>
                  <a:rPr sz="1500" spc="4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𝑤</a:t>
                </a:r>
                <a:r>
                  <a:rPr sz="1500" spc="45" dirty="0">
                    <a:latin typeface="Cambria Math"/>
                    <a:cs typeface="Cambria Math"/>
                  </a:rPr>
                  <a:t>,</a:t>
                </a:r>
                <a:r>
                  <a:rPr sz="1500" spc="4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𝑏</a:t>
                </a:r>
                <a:endParaRPr sz="1500" dirty="0">
                  <a:latin typeface="Cambria Math"/>
                  <a:cs typeface="Cambria Math"/>
                </a:endParaRPr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5664834" y="1434718"/>
                <a:ext cx="3253740" cy="33528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30"/>
                  </a:spcBef>
                  <a:tabLst>
                    <a:tab pos="339725" algn="l"/>
                  </a:tabLst>
                </a:pPr>
                <a:r>
                  <a:rPr sz="2000" spc="15" dirty="0">
                    <a:solidFill>
                      <a:srgbClr val="FF9300"/>
                    </a:solidFill>
                    <a:latin typeface="Cambria Math"/>
                    <a:cs typeface="Cambria Math"/>
                  </a:rPr>
                  <a:t>𝑥	</a:t>
                </a:r>
                <a:r>
                  <a:rPr sz="2000" spc="20" dirty="0">
                    <a:latin typeface="Cambria Math"/>
                    <a:cs typeface="Cambria Math"/>
                  </a:rPr>
                  <a:t>=</a:t>
                </a:r>
                <a:r>
                  <a:rPr sz="2000" spc="60" dirty="0">
                    <a:latin typeface="Cambria Math"/>
                    <a:cs typeface="Cambria Math"/>
                  </a:rPr>
                  <a:t> </a:t>
                </a:r>
                <a:r>
                  <a:rPr sz="2000" spc="10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𝑤</a:t>
                </a:r>
                <a:r>
                  <a:rPr sz="2250" spc="15" baseline="-16666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1</a:t>
                </a:r>
                <a:r>
                  <a:rPr sz="2000" spc="10" dirty="0">
                    <a:solidFill>
                      <a:srgbClr val="FF9300"/>
                    </a:solidFill>
                    <a:latin typeface="Cambria Math"/>
                    <a:cs typeface="Cambria Math"/>
                  </a:rPr>
                  <a:t>𝑥</a:t>
                </a:r>
                <a:r>
                  <a:rPr sz="2000" spc="45" dirty="0">
                    <a:solidFill>
                      <a:srgbClr val="FF930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000" spc="20" dirty="0">
                    <a:latin typeface="Cambria Math"/>
                    <a:cs typeface="Cambria Math"/>
                  </a:rPr>
                  <a:t>+</a:t>
                </a:r>
                <a:r>
                  <a:rPr sz="2000" spc="-20" dirty="0">
                    <a:latin typeface="Cambria Math"/>
                    <a:cs typeface="Cambria Math"/>
                  </a:rPr>
                  <a:t> </a:t>
                </a:r>
                <a:r>
                  <a:rPr sz="2000" spc="4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𝑤</a:t>
                </a:r>
                <a:r>
                  <a:rPr sz="2250" spc="67" baseline="-16666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2</a:t>
                </a:r>
                <a:r>
                  <a:rPr sz="2000" spc="45" dirty="0">
                    <a:solidFill>
                      <a:srgbClr val="FF40FF"/>
                    </a:solidFill>
                    <a:latin typeface="Cambria Math"/>
                    <a:cs typeface="Cambria Math"/>
                  </a:rPr>
                  <a:t>𝑥</a:t>
                </a:r>
                <a:r>
                  <a:rPr sz="2250" spc="67" baseline="27777" dirty="0">
                    <a:solidFill>
                      <a:srgbClr val="FF40FF"/>
                    </a:solidFill>
                    <a:latin typeface="Cambria Math"/>
                    <a:cs typeface="Cambria Math"/>
                  </a:rPr>
                  <a:t>2</a:t>
                </a:r>
                <a:r>
                  <a:rPr sz="2250" spc="209" baseline="27777" dirty="0">
                    <a:solidFill>
                      <a:srgbClr val="FF40FF"/>
                    </a:solidFill>
                    <a:latin typeface="Cambria Math"/>
                    <a:cs typeface="Cambria Math"/>
                  </a:rPr>
                  <a:t> </a:t>
                </a:r>
                <a:r>
                  <a:rPr sz="2000" spc="20" dirty="0">
                    <a:latin typeface="Cambria Math"/>
                    <a:cs typeface="Cambria Math"/>
                  </a:rPr>
                  <a:t>+</a:t>
                </a:r>
                <a:r>
                  <a:rPr sz="2000" spc="-10" dirty="0">
                    <a:latin typeface="Cambria Math"/>
                    <a:cs typeface="Cambria Math"/>
                  </a:rPr>
                  <a:t> </a:t>
                </a:r>
                <a:r>
                  <a:rPr sz="2000" spc="4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𝑤</a:t>
                </a:r>
                <a:r>
                  <a:rPr sz="2250" spc="67" baseline="-16666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3</a:t>
                </a:r>
                <a:r>
                  <a:rPr sz="2000" spc="45" dirty="0">
                    <a:solidFill>
                      <a:srgbClr val="7030A0"/>
                    </a:solidFill>
                    <a:latin typeface="Cambria Math"/>
                    <a:cs typeface="Cambria Math"/>
                  </a:rPr>
                  <a:t>𝑥</a:t>
                </a:r>
                <a:r>
                  <a:rPr sz="2250" spc="67" baseline="27777" dirty="0">
                    <a:solidFill>
                      <a:srgbClr val="7030A0"/>
                    </a:solidFill>
                    <a:latin typeface="Cambria Math"/>
                    <a:cs typeface="Cambria Math"/>
                  </a:rPr>
                  <a:t>3</a:t>
                </a:r>
                <a:r>
                  <a:rPr sz="2250" spc="209" baseline="27777" dirty="0">
                    <a:solidFill>
                      <a:srgbClr val="7030A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000" spc="20" dirty="0">
                    <a:latin typeface="Cambria Math"/>
                    <a:cs typeface="Cambria Math"/>
                  </a:rPr>
                  <a:t>+</a:t>
                </a:r>
                <a:r>
                  <a:rPr sz="2000" spc="-10" dirty="0">
                    <a:latin typeface="Cambria Math"/>
                    <a:cs typeface="Cambria Math"/>
                  </a:rPr>
                  <a:t> </a:t>
                </a:r>
                <a:r>
                  <a:rPr sz="2000" spc="15" dirty="0">
                    <a:solidFill>
                      <a:srgbClr val="0096FF"/>
                    </a:solidFill>
                    <a:latin typeface="Cambria Math"/>
                    <a:cs typeface="Cambria Math"/>
                  </a:rPr>
                  <a:t>𝑏</a:t>
                </a:r>
                <a:endParaRPr sz="2000" dirty="0">
                  <a:latin typeface="Cambria Math"/>
                  <a:cs typeface="Cambria Math"/>
                </a:endParaRPr>
              </a:p>
            </p:txBody>
          </p:sp>
        </p:grpSp>
      </p:grpSp>
      <p:grpSp>
        <p:nvGrpSpPr>
          <p:cNvPr id="11" name="object 11"/>
          <p:cNvGrpSpPr/>
          <p:nvPr/>
        </p:nvGrpSpPr>
        <p:grpSpPr>
          <a:xfrm>
            <a:off x="2352675" y="2819400"/>
            <a:ext cx="3143250" cy="466725"/>
            <a:chOff x="2352675" y="2819400"/>
            <a:chExt cx="3143250" cy="466725"/>
          </a:xfrm>
        </p:grpSpPr>
        <p:sp>
          <p:nvSpPr>
            <p:cNvPr id="12" name="object 12"/>
            <p:cNvSpPr/>
            <p:nvPr/>
          </p:nvSpPr>
          <p:spPr>
            <a:xfrm>
              <a:off x="2371725" y="2838450"/>
              <a:ext cx="3105150" cy="428625"/>
            </a:xfrm>
            <a:custGeom>
              <a:avLst/>
              <a:gdLst/>
              <a:ahLst/>
              <a:cxnLst/>
              <a:rect l="l" t="t" r="r" b="b"/>
              <a:pathLst>
                <a:path w="3105150" h="428625">
                  <a:moveTo>
                    <a:pt x="0" y="428625"/>
                  </a:moveTo>
                  <a:lnTo>
                    <a:pt x="3105150" y="428625"/>
                  </a:lnTo>
                  <a:lnTo>
                    <a:pt x="3105150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381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12643" y="3032506"/>
              <a:ext cx="146685" cy="46355"/>
            </a:xfrm>
            <a:custGeom>
              <a:avLst/>
              <a:gdLst/>
              <a:ahLst/>
              <a:cxnLst/>
              <a:rect l="l" t="t" r="r" b="b"/>
              <a:pathLst>
                <a:path w="146685" h="46355">
                  <a:moveTo>
                    <a:pt x="123062" y="0"/>
                  </a:moveTo>
                  <a:lnTo>
                    <a:pt x="118110" y="5587"/>
                  </a:lnTo>
                  <a:lnTo>
                    <a:pt x="132969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32969" y="27305"/>
                  </a:lnTo>
                  <a:lnTo>
                    <a:pt x="118110" y="40258"/>
                  </a:lnTo>
                  <a:lnTo>
                    <a:pt x="123062" y="45846"/>
                  </a:lnTo>
                  <a:lnTo>
                    <a:pt x="146304" y="25654"/>
                  </a:lnTo>
                  <a:lnTo>
                    <a:pt x="146304" y="20193"/>
                  </a:lnTo>
                  <a:lnTo>
                    <a:pt x="12306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37510" y="2927667"/>
            <a:ext cx="51180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000" spc="67" baseline="12500" dirty="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sz="1500" spc="4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500" spc="45" dirty="0">
                <a:latin typeface="Cambria Math"/>
                <a:cs typeface="Cambria Math"/>
              </a:rPr>
              <a:t>,</a:t>
            </a:r>
            <a:r>
              <a:rPr sz="1500" spc="4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49575" y="2943860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60">
                <a:moveTo>
                  <a:pt x="233172" y="0"/>
                </a:moveTo>
                <a:lnTo>
                  <a:pt x="229869" y="9651"/>
                </a:lnTo>
                <a:lnTo>
                  <a:pt x="243659" y="15652"/>
                </a:lnTo>
                <a:lnTo>
                  <a:pt x="255508" y="23939"/>
                </a:lnTo>
                <a:lnTo>
                  <a:pt x="279598" y="62351"/>
                </a:lnTo>
                <a:lnTo>
                  <a:pt x="287527" y="117982"/>
                </a:lnTo>
                <a:lnTo>
                  <a:pt x="286644" y="138937"/>
                </a:lnTo>
                <a:lnTo>
                  <a:pt x="273304" y="190372"/>
                </a:lnTo>
                <a:lnTo>
                  <a:pt x="243800" y="222573"/>
                </a:lnTo>
                <a:lnTo>
                  <a:pt x="230250" y="228600"/>
                </a:lnTo>
                <a:lnTo>
                  <a:pt x="233172" y="238251"/>
                </a:lnTo>
                <a:lnTo>
                  <a:pt x="278749" y="211195"/>
                </a:lnTo>
                <a:lnTo>
                  <a:pt x="304307" y="161242"/>
                </a:lnTo>
                <a:lnTo>
                  <a:pt x="309245" y="119125"/>
                </a:lnTo>
                <a:lnTo>
                  <a:pt x="308008" y="97289"/>
                </a:lnTo>
                <a:lnTo>
                  <a:pt x="298154" y="58618"/>
                </a:lnTo>
                <a:lnTo>
                  <a:pt x="265652" y="15271"/>
                </a:lnTo>
                <a:lnTo>
                  <a:pt x="250483" y="6242"/>
                </a:lnTo>
                <a:lnTo>
                  <a:pt x="233172" y="0"/>
                </a:lnTo>
                <a:close/>
              </a:path>
              <a:path w="309245" h="238760">
                <a:moveTo>
                  <a:pt x="75945" y="0"/>
                </a:moveTo>
                <a:lnTo>
                  <a:pt x="30565" y="27110"/>
                </a:lnTo>
                <a:lnTo>
                  <a:pt x="4937" y="77120"/>
                </a:lnTo>
                <a:lnTo>
                  <a:pt x="0" y="119125"/>
                </a:lnTo>
                <a:lnTo>
                  <a:pt x="1234" y="141035"/>
                </a:lnTo>
                <a:lnTo>
                  <a:pt x="11037" y="179758"/>
                </a:lnTo>
                <a:lnTo>
                  <a:pt x="43465" y="222996"/>
                </a:lnTo>
                <a:lnTo>
                  <a:pt x="75945" y="238251"/>
                </a:lnTo>
                <a:lnTo>
                  <a:pt x="78993" y="228600"/>
                </a:lnTo>
                <a:lnTo>
                  <a:pt x="65442" y="222573"/>
                </a:lnTo>
                <a:lnTo>
                  <a:pt x="53736" y="214201"/>
                </a:lnTo>
                <a:lnTo>
                  <a:pt x="29646" y="175132"/>
                </a:lnTo>
                <a:lnTo>
                  <a:pt x="21717" y="117982"/>
                </a:lnTo>
                <a:lnTo>
                  <a:pt x="22598" y="97645"/>
                </a:lnTo>
                <a:lnTo>
                  <a:pt x="35813" y="47370"/>
                </a:lnTo>
                <a:lnTo>
                  <a:pt x="65657" y="1565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09645" y="2870517"/>
            <a:ext cx="23856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39725" algn="l"/>
              </a:tabLst>
            </a:pP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𝑥	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7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000" spc="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000" spc="4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4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67" baseline="-16666" dirty="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sz="2000" spc="45" dirty="0">
                <a:solidFill>
                  <a:srgbClr val="FF40FF"/>
                </a:solidFill>
                <a:latin typeface="Cambria Math"/>
                <a:cs typeface="Cambria Math"/>
              </a:rPr>
              <a:t>𝑥</a:t>
            </a:r>
            <a:r>
              <a:rPr sz="2250" spc="67" baseline="27777" dirty="0">
                <a:solidFill>
                  <a:srgbClr val="FF40FF"/>
                </a:solidFill>
                <a:latin typeface="Cambria Math"/>
                <a:cs typeface="Cambria Math"/>
              </a:rPr>
              <a:t>2</a:t>
            </a:r>
            <a:r>
              <a:rPr sz="2250" spc="202" baseline="27777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00125" y="1870582"/>
            <a:ext cx="7839835" cy="2291245"/>
            <a:chOff x="1000125" y="1870582"/>
            <a:chExt cx="7839835" cy="22912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5166" y="1880488"/>
              <a:ext cx="178307" cy="1892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6967" y="2048382"/>
              <a:ext cx="602233" cy="61341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217" y="1882266"/>
              <a:ext cx="488668" cy="7447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9909" y="1870582"/>
              <a:ext cx="670051" cy="7866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4411" y="3283203"/>
              <a:ext cx="419862" cy="3686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7714" y="2480182"/>
              <a:ext cx="565022" cy="2640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6026" y="3319144"/>
              <a:ext cx="594045" cy="3496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6199" y="3030727"/>
              <a:ext cx="876107" cy="29705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11842" y="3069462"/>
              <a:ext cx="849761" cy="32029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7301" y="3296665"/>
              <a:ext cx="111124" cy="1111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8276" y="2925190"/>
              <a:ext cx="111125" cy="1111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36877" y="2629915"/>
              <a:ext cx="111125" cy="1111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1677" y="2439415"/>
              <a:ext cx="111125" cy="11112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55977" y="2163190"/>
              <a:ext cx="111125" cy="1111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65551" y="2201290"/>
              <a:ext cx="111125" cy="1111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22701" y="2039365"/>
              <a:ext cx="111125" cy="111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75151" y="2191765"/>
              <a:ext cx="111125" cy="1111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60876" y="1877440"/>
              <a:ext cx="111125" cy="1111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99001" y="2039365"/>
              <a:ext cx="111125" cy="1111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56076" y="1982215"/>
              <a:ext cx="111125" cy="1111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89526" y="2134615"/>
              <a:ext cx="111125" cy="1111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80001" y="1877440"/>
              <a:ext cx="111125" cy="1111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5477" y="2848990"/>
              <a:ext cx="111125" cy="1111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46376" y="2591815"/>
              <a:ext cx="111125" cy="1111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1177" y="2048890"/>
              <a:ext cx="111125" cy="1111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17902" y="1906015"/>
              <a:ext cx="111125" cy="11112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79876" y="2172715"/>
              <a:ext cx="111125" cy="1111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4802" y="2067940"/>
              <a:ext cx="111125" cy="1111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98802" y="2248915"/>
              <a:ext cx="111125" cy="11112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89225" y="4000537"/>
              <a:ext cx="719243" cy="16129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000125" y="3791029"/>
              <a:ext cx="4645025" cy="228600"/>
            </a:xfrm>
            <a:custGeom>
              <a:avLst/>
              <a:gdLst/>
              <a:ahLst/>
              <a:cxnLst/>
              <a:rect l="l" t="t" r="r" b="b"/>
              <a:pathLst>
                <a:path w="4645025" h="228600">
                  <a:moveTo>
                    <a:pt x="4585560" y="114218"/>
                  </a:moveTo>
                  <a:lnTo>
                    <a:pt x="4488815" y="194840"/>
                  </a:lnTo>
                  <a:lnTo>
                    <a:pt x="4484116" y="200735"/>
                  </a:lnTo>
                  <a:lnTo>
                    <a:pt x="4482084" y="207746"/>
                  </a:lnTo>
                  <a:lnTo>
                    <a:pt x="4482814" y="215010"/>
                  </a:lnTo>
                  <a:lnTo>
                    <a:pt x="4486402" y="221662"/>
                  </a:lnTo>
                  <a:lnTo>
                    <a:pt x="4492303" y="226404"/>
                  </a:lnTo>
                  <a:lnTo>
                    <a:pt x="4499324" y="228444"/>
                  </a:lnTo>
                  <a:lnTo>
                    <a:pt x="4506583" y="227702"/>
                  </a:lnTo>
                  <a:lnTo>
                    <a:pt x="4513199" y="224101"/>
                  </a:lnTo>
                  <a:lnTo>
                    <a:pt x="4622170" y="133270"/>
                  </a:lnTo>
                  <a:lnTo>
                    <a:pt x="4615434" y="133270"/>
                  </a:lnTo>
                  <a:lnTo>
                    <a:pt x="4615434" y="128851"/>
                  </a:lnTo>
                  <a:lnTo>
                    <a:pt x="4603115" y="128851"/>
                  </a:lnTo>
                  <a:lnTo>
                    <a:pt x="4585560" y="114218"/>
                  </a:lnTo>
                  <a:close/>
                </a:path>
                <a:path w="4645025" h="228600">
                  <a:moveTo>
                    <a:pt x="4562709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4562698" y="133270"/>
                  </a:lnTo>
                  <a:lnTo>
                    <a:pt x="4585560" y="114218"/>
                  </a:lnTo>
                  <a:lnTo>
                    <a:pt x="4562709" y="95170"/>
                  </a:lnTo>
                  <a:close/>
                </a:path>
                <a:path w="4645025" h="228600">
                  <a:moveTo>
                    <a:pt x="4622165" y="95170"/>
                  </a:moveTo>
                  <a:lnTo>
                    <a:pt x="4615434" y="95170"/>
                  </a:lnTo>
                  <a:lnTo>
                    <a:pt x="4615434" y="133270"/>
                  </a:lnTo>
                  <a:lnTo>
                    <a:pt x="4622170" y="133270"/>
                  </a:lnTo>
                  <a:lnTo>
                    <a:pt x="4645025" y="114220"/>
                  </a:lnTo>
                  <a:lnTo>
                    <a:pt x="4622165" y="95170"/>
                  </a:lnTo>
                  <a:close/>
                </a:path>
                <a:path w="4645025" h="228600">
                  <a:moveTo>
                    <a:pt x="4603115" y="99590"/>
                  </a:moveTo>
                  <a:lnTo>
                    <a:pt x="4585560" y="114218"/>
                  </a:lnTo>
                  <a:lnTo>
                    <a:pt x="4603115" y="128851"/>
                  </a:lnTo>
                  <a:lnTo>
                    <a:pt x="4603115" y="99590"/>
                  </a:lnTo>
                  <a:close/>
                </a:path>
                <a:path w="4645025" h="228600">
                  <a:moveTo>
                    <a:pt x="4615434" y="99590"/>
                  </a:moveTo>
                  <a:lnTo>
                    <a:pt x="4603115" y="99590"/>
                  </a:lnTo>
                  <a:lnTo>
                    <a:pt x="4603115" y="128851"/>
                  </a:lnTo>
                  <a:lnTo>
                    <a:pt x="4615434" y="128851"/>
                  </a:lnTo>
                  <a:lnTo>
                    <a:pt x="4615434" y="99590"/>
                  </a:lnTo>
                  <a:close/>
                </a:path>
                <a:path w="4645025" h="228600">
                  <a:moveTo>
                    <a:pt x="4499324" y="0"/>
                  </a:moveTo>
                  <a:lnTo>
                    <a:pt x="4492303" y="2026"/>
                  </a:lnTo>
                  <a:lnTo>
                    <a:pt x="4486402" y="6778"/>
                  </a:lnTo>
                  <a:lnTo>
                    <a:pt x="4482814" y="13448"/>
                  </a:lnTo>
                  <a:lnTo>
                    <a:pt x="4482084" y="20700"/>
                  </a:lnTo>
                  <a:lnTo>
                    <a:pt x="4484116" y="27691"/>
                  </a:lnTo>
                  <a:lnTo>
                    <a:pt x="4488815" y="33575"/>
                  </a:lnTo>
                  <a:lnTo>
                    <a:pt x="4585560" y="114218"/>
                  </a:lnTo>
                  <a:lnTo>
                    <a:pt x="4603115" y="99590"/>
                  </a:lnTo>
                  <a:lnTo>
                    <a:pt x="4615434" y="99590"/>
                  </a:lnTo>
                  <a:lnTo>
                    <a:pt x="4615434" y="95170"/>
                  </a:lnTo>
                  <a:lnTo>
                    <a:pt x="4622165" y="95170"/>
                  </a:lnTo>
                  <a:lnTo>
                    <a:pt x="4513199" y="4365"/>
                  </a:lnTo>
                  <a:lnTo>
                    <a:pt x="4506583" y="760"/>
                  </a:lnTo>
                  <a:lnTo>
                    <a:pt x="4499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034283" y="3937952"/>
            <a:ext cx="5803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sz="1550" spc="-6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4967" y="2667952"/>
            <a:ext cx="6985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C00000"/>
                </a:solidFill>
                <a:latin typeface="Verdana"/>
                <a:cs typeface="Verdana"/>
              </a:rPr>
              <a:t>price</a:t>
            </a:r>
            <a:r>
              <a:rPr sz="155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28776" y="1743075"/>
            <a:ext cx="228600" cy="2299335"/>
          </a:xfrm>
          <a:custGeom>
            <a:avLst/>
            <a:gdLst/>
            <a:ahLst/>
            <a:cxnLst/>
            <a:rect l="l" t="t" r="r" b="b"/>
            <a:pathLst>
              <a:path w="228600" h="2299335">
                <a:moveTo>
                  <a:pt x="114223" y="59466"/>
                </a:moveTo>
                <a:lnTo>
                  <a:pt x="95173" y="82326"/>
                </a:lnTo>
                <a:lnTo>
                  <a:pt x="95173" y="2298788"/>
                </a:lnTo>
                <a:lnTo>
                  <a:pt x="133273" y="2298788"/>
                </a:lnTo>
                <a:lnTo>
                  <a:pt x="133273" y="82326"/>
                </a:lnTo>
                <a:lnTo>
                  <a:pt x="114223" y="59466"/>
                </a:lnTo>
                <a:close/>
              </a:path>
              <a:path w="228600" h="2299335">
                <a:moveTo>
                  <a:pt x="114223" y="0"/>
                </a:moveTo>
                <a:lnTo>
                  <a:pt x="4343" y="131825"/>
                </a:lnTo>
                <a:lnTo>
                  <a:pt x="741" y="138495"/>
                </a:lnTo>
                <a:lnTo>
                  <a:pt x="0" y="145748"/>
                </a:lnTo>
                <a:lnTo>
                  <a:pt x="2039" y="152739"/>
                </a:lnTo>
                <a:lnTo>
                  <a:pt x="6781" y="158623"/>
                </a:lnTo>
                <a:lnTo>
                  <a:pt x="13433" y="162228"/>
                </a:lnTo>
                <a:lnTo>
                  <a:pt x="20697" y="162988"/>
                </a:lnTo>
                <a:lnTo>
                  <a:pt x="27709" y="160962"/>
                </a:lnTo>
                <a:lnTo>
                  <a:pt x="33604" y="156210"/>
                </a:lnTo>
                <a:lnTo>
                  <a:pt x="95173" y="82326"/>
                </a:lnTo>
                <a:lnTo>
                  <a:pt x="95173" y="29717"/>
                </a:lnTo>
                <a:lnTo>
                  <a:pt x="138994" y="29717"/>
                </a:lnTo>
                <a:lnTo>
                  <a:pt x="114223" y="0"/>
                </a:lnTo>
                <a:close/>
              </a:path>
              <a:path w="228600" h="2299335">
                <a:moveTo>
                  <a:pt x="138994" y="29717"/>
                </a:moveTo>
                <a:lnTo>
                  <a:pt x="133273" y="29717"/>
                </a:lnTo>
                <a:lnTo>
                  <a:pt x="133273" y="82326"/>
                </a:lnTo>
                <a:lnTo>
                  <a:pt x="194843" y="156210"/>
                </a:lnTo>
                <a:lnTo>
                  <a:pt x="200738" y="160962"/>
                </a:lnTo>
                <a:lnTo>
                  <a:pt x="207749" y="162988"/>
                </a:lnTo>
                <a:lnTo>
                  <a:pt x="215013" y="162228"/>
                </a:lnTo>
                <a:lnTo>
                  <a:pt x="221665" y="158623"/>
                </a:lnTo>
                <a:lnTo>
                  <a:pt x="226408" y="152739"/>
                </a:lnTo>
                <a:lnTo>
                  <a:pt x="228447" y="145748"/>
                </a:lnTo>
                <a:lnTo>
                  <a:pt x="227705" y="138495"/>
                </a:lnTo>
                <a:lnTo>
                  <a:pt x="224104" y="131825"/>
                </a:lnTo>
                <a:lnTo>
                  <a:pt x="138994" y="29717"/>
                </a:lnTo>
                <a:close/>
              </a:path>
              <a:path w="228600" h="2299335">
                <a:moveTo>
                  <a:pt x="133273" y="29717"/>
                </a:moveTo>
                <a:lnTo>
                  <a:pt x="95173" y="29717"/>
                </a:lnTo>
                <a:lnTo>
                  <a:pt x="95173" y="82326"/>
                </a:lnTo>
                <a:lnTo>
                  <a:pt x="114223" y="59466"/>
                </a:lnTo>
                <a:lnTo>
                  <a:pt x="99593" y="41910"/>
                </a:lnTo>
                <a:lnTo>
                  <a:pt x="133273" y="41910"/>
                </a:lnTo>
                <a:lnTo>
                  <a:pt x="133273" y="29717"/>
                </a:lnTo>
                <a:close/>
              </a:path>
              <a:path w="228600" h="2299335">
                <a:moveTo>
                  <a:pt x="133273" y="41910"/>
                </a:moveTo>
                <a:lnTo>
                  <a:pt x="128854" y="41910"/>
                </a:lnTo>
                <a:lnTo>
                  <a:pt x="114223" y="59466"/>
                </a:lnTo>
                <a:lnTo>
                  <a:pt x="133273" y="82326"/>
                </a:lnTo>
                <a:lnTo>
                  <a:pt x="133273" y="41910"/>
                </a:lnTo>
                <a:close/>
              </a:path>
              <a:path w="228600" h="2299335">
                <a:moveTo>
                  <a:pt x="128854" y="41910"/>
                </a:moveTo>
                <a:lnTo>
                  <a:pt x="99593" y="41910"/>
                </a:lnTo>
                <a:lnTo>
                  <a:pt x="114223" y="59466"/>
                </a:lnTo>
                <a:lnTo>
                  <a:pt x="128854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514E7C86-3A2F-6C9D-E74B-24D7668B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55</a:t>
            </a:fld>
            <a:endParaRPr lang="en-P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0125" y="1877441"/>
            <a:ext cx="4645025" cy="2142490"/>
            <a:chOff x="1000125" y="1877441"/>
            <a:chExt cx="4645025" cy="2142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301" y="3296666"/>
              <a:ext cx="111124" cy="1111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8276" y="2925191"/>
              <a:ext cx="111125" cy="1111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6877" y="2629916"/>
              <a:ext cx="111125" cy="111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677" y="2439416"/>
              <a:ext cx="111125" cy="1111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5977" y="2163191"/>
              <a:ext cx="111125" cy="111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5551" y="2201291"/>
              <a:ext cx="111125" cy="1111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2701" y="2039366"/>
              <a:ext cx="111125" cy="1111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5151" y="2191766"/>
              <a:ext cx="111125" cy="111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0876" y="1877441"/>
              <a:ext cx="111125" cy="111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9001" y="2039366"/>
              <a:ext cx="111125" cy="1111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6076" y="1982216"/>
              <a:ext cx="111125" cy="111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526" y="2134616"/>
              <a:ext cx="111125" cy="111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0001" y="1877441"/>
              <a:ext cx="111125" cy="1111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5477" y="2848991"/>
              <a:ext cx="111125" cy="111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6376" y="2591816"/>
              <a:ext cx="111125" cy="1111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177" y="2048891"/>
              <a:ext cx="111125" cy="1111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7902" y="1906016"/>
              <a:ext cx="111125" cy="1111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9876" y="2172716"/>
              <a:ext cx="111125" cy="1111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4802" y="2067941"/>
              <a:ext cx="111125" cy="1111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8802" y="2248916"/>
              <a:ext cx="111125" cy="1111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00125" y="3791029"/>
              <a:ext cx="4645025" cy="228600"/>
            </a:xfrm>
            <a:custGeom>
              <a:avLst/>
              <a:gdLst/>
              <a:ahLst/>
              <a:cxnLst/>
              <a:rect l="l" t="t" r="r" b="b"/>
              <a:pathLst>
                <a:path w="4645025" h="228600">
                  <a:moveTo>
                    <a:pt x="4585560" y="114218"/>
                  </a:moveTo>
                  <a:lnTo>
                    <a:pt x="4488815" y="194840"/>
                  </a:lnTo>
                  <a:lnTo>
                    <a:pt x="4484116" y="200735"/>
                  </a:lnTo>
                  <a:lnTo>
                    <a:pt x="4482084" y="207746"/>
                  </a:lnTo>
                  <a:lnTo>
                    <a:pt x="4482814" y="215010"/>
                  </a:lnTo>
                  <a:lnTo>
                    <a:pt x="4486402" y="221662"/>
                  </a:lnTo>
                  <a:lnTo>
                    <a:pt x="4492303" y="226404"/>
                  </a:lnTo>
                  <a:lnTo>
                    <a:pt x="4499324" y="228444"/>
                  </a:lnTo>
                  <a:lnTo>
                    <a:pt x="4506583" y="227702"/>
                  </a:lnTo>
                  <a:lnTo>
                    <a:pt x="4513199" y="224101"/>
                  </a:lnTo>
                  <a:lnTo>
                    <a:pt x="4622170" y="133270"/>
                  </a:lnTo>
                  <a:lnTo>
                    <a:pt x="4615434" y="133270"/>
                  </a:lnTo>
                  <a:lnTo>
                    <a:pt x="4615434" y="128851"/>
                  </a:lnTo>
                  <a:lnTo>
                    <a:pt x="4603115" y="128851"/>
                  </a:lnTo>
                  <a:lnTo>
                    <a:pt x="4585560" y="114218"/>
                  </a:lnTo>
                  <a:close/>
                </a:path>
                <a:path w="4645025" h="228600">
                  <a:moveTo>
                    <a:pt x="4562709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4562698" y="133270"/>
                  </a:lnTo>
                  <a:lnTo>
                    <a:pt x="4585560" y="114218"/>
                  </a:lnTo>
                  <a:lnTo>
                    <a:pt x="4562709" y="95170"/>
                  </a:lnTo>
                  <a:close/>
                </a:path>
                <a:path w="4645025" h="228600">
                  <a:moveTo>
                    <a:pt x="4622165" y="95170"/>
                  </a:moveTo>
                  <a:lnTo>
                    <a:pt x="4615434" y="95170"/>
                  </a:lnTo>
                  <a:lnTo>
                    <a:pt x="4615434" y="133270"/>
                  </a:lnTo>
                  <a:lnTo>
                    <a:pt x="4622170" y="133270"/>
                  </a:lnTo>
                  <a:lnTo>
                    <a:pt x="4645025" y="114220"/>
                  </a:lnTo>
                  <a:lnTo>
                    <a:pt x="4622165" y="95170"/>
                  </a:lnTo>
                  <a:close/>
                </a:path>
                <a:path w="4645025" h="228600">
                  <a:moveTo>
                    <a:pt x="4603115" y="99590"/>
                  </a:moveTo>
                  <a:lnTo>
                    <a:pt x="4585560" y="114218"/>
                  </a:lnTo>
                  <a:lnTo>
                    <a:pt x="4603115" y="128851"/>
                  </a:lnTo>
                  <a:lnTo>
                    <a:pt x="4603115" y="99590"/>
                  </a:lnTo>
                  <a:close/>
                </a:path>
                <a:path w="4645025" h="228600">
                  <a:moveTo>
                    <a:pt x="4615434" y="99590"/>
                  </a:moveTo>
                  <a:lnTo>
                    <a:pt x="4603115" y="99590"/>
                  </a:lnTo>
                  <a:lnTo>
                    <a:pt x="4603115" y="128851"/>
                  </a:lnTo>
                  <a:lnTo>
                    <a:pt x="4615434" y="128851"/>
                  </a:lnTo>
                  <a:lnTo>
                    <a:pt x="4615434" y="99590"/>
                  </a:lnTo>
                  <a:close/>
                </a:path>
                <a:path w="4645025" h="228600">
                  <a:moveTo>
                    <a:pt x="4499324" y="0"/>
                  </a:moveTo>
                  <a:lnTo>
                    <a:pt x="4492303" y="2026"/>
                  </a:lnTo>
                  <a:lnTo>
                    <a:pt x="4486402" y="6778"/>
                  </a:lnTo>
                  <a:lnTo>
                    <a:pt x="4482814" y="13448"/>
                  </a:lnTo>
                  <a:lnTo>
                    <a:pt x="4482084" y="20700"/>
                  </a:lnTo>
                  <a:lnTo>
                    <a:pt x="4484116" y="27691"/>
                  </a:lnTo>
                  <a:lnTo>
                    <a:pt x="4488815" y="33575"/>
                  </a:lnTo>
                  <a:lnTo>
                    <a:pt x="4585560" y="114218"/>
                  </a:lnTo>
                  <a:lnTo>
                    <a:pt x="4603115" y="99590"/>
                  </a:lnTo>
                  <a:lnTo>
                    <a:pt x="4615434" y="99590"/>
                  </a:lnTo>
                  <a:lnTo>
                    <a:pt x="4615434" y="95170"/>
                  </a:lnTo>
                  <a:lnTo>
                    <a:pt x="4622165" y="95170"/>
                  </a:lnTo>
                  <a:lnTo>
                    <a:pt x="4513199" y="4365"/>
                  </a:lnTo>
                  <a:lnTo>
                    <a:pt x="4506583" y="760"/>
                  </a:lnTo>
                  <a:lnTo>
                    <a:pt x="4499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34283" y="3937952"/>
            <a:ext cx="5803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sz="1550" spc="-65" dirty="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4967" y="2667952"/>
            <a:ext cx="6985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C00000"/>
                </a:solidFill>
                <a:latin typeface="Verdana"/>
                <a:cs typeface="Verdana"/>
              </a:rPr>
              <a:t>price</a:t>
            </a:r>
            <a:r>
              <a:rPr sz="155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50" spc="10" dirty="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28776" y="1600200"/>
            <a:ext cx="7858125" cy="2442210"/>
            <a:chOff x="1028776" y="1600200"/>
            <a:chExt cx="7858125" cy="2442210"/>
          </a:xfrm>
        </p:grpSpPr>
        <p:sp>
          <p:nvSpPr>
            <p:cNvPr id="27" name="object 27"/>
            <p:cNvSpPr/>
            <p:nvPr/>
          </p:nvSpPr>
          <p:spPr>
            <a:xfrm>
              <a:off x="1028776" y="1743075"/>
              <a:ext cx="228600" cy="2299335"/>
            </a:xfrm>
            <a:custGeom>
              <a:avLst/>
              <a:gdLst/>
              <a:ahLst/>
              <a:cxnLst/>
              <a:rect l="l" t="t" r="r" b="b"/>
              <a:pathLst>
                <a:path w="228600" h="2299335">
                  <a:moveTo>
                    <a:pt x="114223" y="59466"/>
                  </a:moveTo>
                  <a:lnTo>
                    <a:pt x="95173" y="82326"/>
                  </a:lnTo>
                  <a:lnTo>
                    <a:pt x="95173" y="2298788"/>
                  </a:lnTo>
                  <a:lnTo>
                    <a:pt x="133273" y="2298788"/>
                  </a:lnTo>
                  <a:lnTo>
                    <a:pt x="133273" y="82326"/>
                  </a:lnTo>
                  <a:lnTo>
                    <a:pt x="114223" y="59466"/>
                  </a:lnTo>
                  <a:close/>
                </a:path>
                <a:path w="228600" h="2299335">
                  <a:moveTo>
                    <a:pt x="114223" y="0"/>
                  </a:moveTo>
                  <a:lnTo>
                    <a:pt x="4343" y="131825"/>
                  </a:lnTo>
                  <a:lnTo>
                    <a:pt x="741" y="138495"/>
                  </a:lnTo>
                  <a:lnTo>
                    <a:pt x="0" y="145748"/>
                  </a:lnTo>
                  <a:lnTo>
                    <a:pt x="2039" y="152739"/>
                  </a:lnTo>
                  <a:lnTo>
                    <a:pt x="6781" y="158623"/>
                  </a:lnTo>
                  <a:lnTo>
                    <a:pt x="13433" y="162228"/>
                  </a:lnTo>
                  <a:lnTo>
                    <a:pt x="20697" y="162988"/>
                  </a:lnTo>
                  <a:lnTo>
                    <a:pt x="27709" y="160962"/>
                  </a:lnTo>
                  <a:lnTo>
                    <a:pt x="33604" y="156210"/>
                  </a:lnTo>
                  <a:lnTo>
                    <a:pt x="95173" y="82326"/>
                  </a:lnTo>
                  <a:lnTo>
                    <a:pt x="95173" y="29717"/>
                  </a:lnTo>
                  <a:lnTo>
                    <a:pt x="138994" y="29717"/>
                  </a:lnTo>
                  <a:lnTo>
                    <a:pt x="114223" y="0"/>
                  </a:lnTo>
                  <a:close/>
                </a:path>
                <a:path w="228600" h="2299335">
                  <a:moveTo>
                    <a:pt x="138994" y="29717"/>
                  </a:moveTo>
                  <a:lnTo>
                    <a:pt x="133273" y="29717"/>
                  </a:lnTo>
                  <a:lnTo>
                    <a:pt x="133273" y="82326"/>
                  </a:lnTo>
                  <a:lnTo>
                    <a:pt x="194843" y="156210"/>
                  </a:lnTo>
                  <a:lnTo>
                    <a:pt x="200738" y="160962"/>
                  </a:lnTo>
                  <a:lnTo>
                    <a:pt x="207749" y="162988"/>
                  </a:lnTo>
                  <a:lnTo>
                    <a:pt x="215013" y="162228"/>
                  </a:lnTo>
                  <a:lnTo>
                    <a:pt x="221665" y="158623"/>
                  </a:lnTo>
                  <a:lnTo>
                    <a:pt x="226408" y="152739"/>
                  </a:lnTo>
                  <a:lnTo>
                    <a:pt x="228447" y="145748"/>
                  </a:lnTo>
                  <a:lnTo>
                    <a:pt x="227705" y="138495"/>
                  </a:lnTo>
                  <a:lnTo>
                    <a:pt x="224104" y="131825"/>
                  </a:lnTo>
                  <a:lnTo>
                    <a:pt x="138994" y="29717"/>
                  </a:lnTo>
                  <a:close/>
                </a:path>
                <a:path w="228600" h="2299335">
                  <a:moveTo>
                    <a:pt x="133273" y="29717"/>
                  </a:moveTo>
                  <a:lnTo>
                    <a:pt x="95173" y="29717"/>
                  </a:lnTo>
                  <a:lnTo>
                    <a:pt x="95173" y="82326"/>
                  </a:lnTo>
                  <a:lnTo>
                    <a:pt x="114223" y="59466"/>
                  </a:lnTo>
                  <a:lnTo>
                    <a:pt x="99593" y="41910"/>
                  </a:lnTo>
                  <a:lnTo>
                    <a:pt x="133273" y="41910"/>
                  </a:lnTo>
                  <a:lnTo>
                    <a:pt x="133273" y="29717"/>
                  </a:lnTo>
                  <a:close/>
                </a:path>
                <a:path w="228600" h="2299335">
                  <a:moveTo>
                    <a:pt x="133273" y="41910"/>
                  </a:moveTo>
                  <a:lnTo>
                    <a:pt x="128854" y="41910"/>
                  </a:lnTo>
                  <a:lnTo>
                    <a:pt x="114223" y="59466"/>
                  </a:lnTo>
                  <a:lnTo>
                    <a:pt x="133273" y="82326"/>
                  </a:lnTo>
                  <a:lnTo>
                    <a:pt x="133273" y="41910"/>
                  </a:lnTo>
                  <a:close/>
                </a:path>
                <a:path w="228600" h="2299335">
                  <a:moveTo>
                    <a:pt x="128854" y="41910"/>
                  </a:moveTo>
                  <a:lnTo>
                    <a:pt x="99593" y="41910"/>
                  </a:lnTo>
                  <a:lnTo>
                    <a:pt x="114223" y="59466"/>
                  </a:lnTo>
                  <a:lnTo>
                    <a:pt x="128854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57849" y="1619250"/>
              <a:ext cx="3209925" cy="428625"/>
            </a:xfrm>
            <a:custGeom>
              <a:avLst/>
              <a:gdLst/>
              <a:ahLst/>
              <a:cxnLst/>
              <a:rect l="l" t="t" r="r" b="b"/>
              <a:pathLst>
                <a:path w="3209925" h="428625">
                  <a:moveTo>
                    <a:pt x="0" y="428625"/>
                  </a:moveTo>
                  <a:lnTo>
                    <a:pt x="3209925" y="428625"/>
                  </a:lnTo>
                  <a:lnTo>
                    <a:pt x="3209925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88989" y="1811400"/>
              <a:ext cx="165735" cy="45720"/>
            </a:xfrm>
            <a:custGeom>
              <a:avLst/>
              <a:gdLst/>
              <a:ahLst/>
              <a:cxnLst/>
              <a:rect l="l" t="t" r="r" b="b"/>
              <a:pathLst>
                <a:path w="165735" h="45719">
                  <a:moveTo>
                    <a:pt x="141986" y="0"/>
                  </a:moveTo>
                  <a:lnTo>
                    <a:pt x="137033" y="5587"/>
                  </a:lnTo>
                  <a:lnTo>
                    <a:pt x="152019" y="18414"/>
                  </a:lnTo>
                  <a:lnTo>
                    <a:pt x="0" y="18414"/>
                  </a:lnTo>
                  <a:lnTo>
                    <a:pt x="0" y="27177"/>
                  </a:lnTo>
                  <a:lnTo>
                    <a:pt x="152019" y="27177"/>
                  </a:lnTo>
                  <a:lnTo>
                    <a:pt x="137033" y="40132"/>
                  </a:lnTo>
                  <a:lnTo>
                    <a:pt x="141986" y="45720"/>
                  </a:lnTo>
                  <a:lnTo>
                    <a:pt x="165354" y="25526"/>
                  </a:lnTo>
                  <a:lnTo>
                    <a:pt x="165354" y="20193"/>
                  </a:lnTo>
                  <a:lnTo>
                    <a:pt x="141986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726810" y="1704276"/>
            <a:ext cx="52133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000" spc="82" baseline="12500" dirty="0">
                <a:solidFill>
                  <a:srgbClr val="7030A0"/>
                </a:solidFill>
                <a:latin typeface="Cambria Math"/>
                <a:cs typeface="Cambria Math"/>
              </a:rPr>
              <a:t>𝑓</a:t>
            </a:r>
            <a:r>
              <a:rPr sz="1500" spc="55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500" spc="55" dirty="0">
                <a:latin typeface="Cambria Math"/>
                <a:cs typeface="Cambria Math"/>
              </a:rPr>
              <a:t>,</a:t>
            </a:r>
            <a:r>
              <a:rPr sz="1500" spc="55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44971" y="1713610"/>
            <a:ext cx="2006600" cy="248920"/>
            <a:chOff x="6244971" y="1713610"/>
            <a:chExt cx="2006600" cy="248920"/>
          </a:xfrm>
        </p:grpSpPr>
        <p:sp>
          <p:nvSpPr>
            <p:cNvPr id="32" name="object 32"/>
            <p:cNvSpPr/>
            <p:nvPr/>
          </p:nvSpPr>
          <p:spPr>
            <a:xfrm>
              <a:off x="6244971" y="1722627"/>
              <a:ext cx="309245" cy="238760"/>
            </a:xfrm>
            <a:custGeom>
              <a:avLst/>
              <a:gdLst/>
              <a:ahLst/>
              <a:cxnLst/>
              <a:rect l="l" t="t" r="r" b="b"/>
              <a:pathLst>
                <a:path w="309245" h="238760">
                  <a:moveTo>
                    <a:pt x="233171" y="0"/>
                  </a:moveTo>
                  <a:lnTo>
                    <a:pt x="229742" y="9779"/>
                  </a:lnTo>
                  <a:lnTo>
                    <a:pt x="243550" y="15708"/>
                  </a:lnTo>
                  <a:lnTo>
                    <a:pt x="255428" y="23971"/>
                  </a:lnTo>
                  <a:lnTo>
                    <a:pt x="279471" y="62404"/>
                  </a:lnTo>
                  <a:lnTo>
                    <a:pt x="287400" y="117983"/>
                  </a:lnTo>
                  <a:lnTo>
                    <a:pt x="286519" y="139009"/>
                  </a:lnTo>
                  <a:lnTo>
                    <a:pt x="273303" y="190373"/>
                  </a:lnTo>
                  <a:lnTo>
                    <a:pt x="243746" y="222573"/>
                  </a:lnTo>
                  <a:lnTo>
                    <a:pt x="230124" y="228600"/>
                  </a:lnTo>
                  <a:lnTo>
                    <a:pt x="233171" y="238252"/>
                  </a:lnTo>
                  <a:lnTo>
                    <a:pt x="278677" y="211195"/>
                  </a:lnTo>
                  <a:lnTo>
                    <a:pt x="304244" y="161305"/>
                  </a:lnTo>
                  <a:lnTo>
                    <a:pt x="309118" y="119252"/>
                  </a:lnTo>
                  <a:lnTo>
                    <a:pt x="307901" y="97414"/>
                  </a:lnTo>
                  <a:lnTo>
                    <a:pt x="298134" y="58691"/>
                  </a:lnTo>
                  <a:lnTo>
                    <a:pt x="265604" y="15319"/>
                  </a:lnTo>
                  <a:lnTo>
                    <a:pt x="250465" y="6260"/>
                  </a:lnTo>
                  <a:lnTo>
                    <a:pt x="233171" y="0"/>
                  </a:lnTo>
                  <a:close/>
                </a:path>
                <a:path w="309245" h="238760">
                  <a:moveTo>
                    <a:pt x="75945" y="0"/>
                  </a:moveTo>
                  <a:lnTo>
                    <a:pt x="30547" y="27164"/>
                  </a:lnTo>
                  <a:lnTo>
                    <a:pt x="4889" y="77231"/>
                  </a:lnTo>
                  <a:lnTo>
                    <a:pt x="0" y="119252"/>
                  </a:lnTo>
                  <a:lnTo>
                    <a:pt x="1216" y="141106"/>
                  </a:lnTo>
                  <a:lnTo>
                    <a:pt x="10983" y="179814"/>
                  </a:lnTo>
                  <a:lnTo>
                    <a:pt x="43465" y="222996"/>
                  </a:lnTo>
                  <a:lnTo>
                    <a:pt x="75945" y="238252"/>
                  </a:lnTo>
                  <a:lnTo>
                    <a:pt x="78993" y="228600"/>
                  </a:lnTo>
                  <a:lnTo>
                    <a:pt x="65371" y="222573"/>
                  </a:lnTo>
                  <a:lnTo>
                    <a:pt x="53641" y="214201"/>
                  </a:lnTo>
                  <a:lnTo>
                    <a:pt x="29646" y="175204"/>
                  </a:lnTo>
                  <a:lnTo>
                    <a:pt x="21716" y="117983"/>
                  </a:lnTo>
                  <a:lnTo>
                    <a:pt x="22598" y="97647"/>
                  </a:lnTo>
                  <a:lnTo>
                    <a:pt x="35813" y="47498"/>
                  </a:lnTo>
                  <a:lnTo>
                    <a:pt x="65585" y="15708"/>
                  </a:lnTo>
                  <a:lnTo>
                    <a:pt x="79375" y="9779"/>
                  </a:lnTo>
                  <a:lnTo>
                    <a:pt x="75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41183" y="1713610"/>
              <a:ext cx="310515" cy="248920"/>
            </a:xfrm>
            <a:custGeom>
              <a:avLst/>
              <a:gdLst/>
              <a:ahLst/>
              <a:cxnLst/>
              <a:rect l="l" t="t" r="r" b="b"/>
              <a:pathLst>
                <a:path w="310515" h="248919">
                  <a:moveTo>
                    <a:pt x="310007" y="0"/>
                  </a:moveTo>
                  <a:lnTo>
                    <a:pt x="167132" y="0"/>
                  </a:lnTo>
                  <a:lnTo>
                    <a:pt x="167132" y="1269"/>
                  </a:lnTo>
                  <a:lnTo>
                    <a:pt x="147574" y="1269"/>
                  </a:lnTo>
                  <a:lnTo>
                    <a:pt x="85598" y="215645"/>
                  </a:lnTo>
                  <a:lnTo>
                    <a:pt x="41275" y="118237"/>
                  </a:lnTo>
                  <a:lnTo>
                    <a:pt x="0" y="137033"/>
                  </a:lnTo>
                  <a:lnTo>
                    <a:pt x="3937" y="146430"/>
                  </a:lnTo>
                  <a:lnTo>
                    <a:pt x="25146" y="137033"/>
                  </a:lnTo>
                  <a:lnTo>
                    <a:pt x="77216" y="248793"/>
                  </a:lnTo>
                  <a:lnTo>
                    <a:pt x="89281" y="248793"/>
                  </a:lnTo>
                  <a:lnTo>
                    <a:pt x="156845" y="18034"/>
                  </a:lnTo>
                  <a:lnTo>
                    <a:pt x="167132" y="18034"/>
                  </a:lnTo>
                  <a:lnTo>
                    <a:pt x="167132" y="19050"/>
                  </a:lnTo>
                  <a:lnTo>
                    <a:pt x="310007" y="19050"/>
                  </a:lnTo>
                  <a:lnTo>
                    <a:pt x="310007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08344" y="1647126"/>
            <a:ext cx="24371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30200" algn="l"/>
                <a:tab pos="1807845" algn="l"/>
              </a:tabLst>
            </a:pPr>
            <a:r>
              <a:rPr sz="2000" spc="10" dirty="0">
                <a:solidFill>
                  <a:srgbClr val="FF9300"/>
                </a:solidFill>
                <a:latin typeface="Cambria Math"/>
                <a:cs typeface="Cambria Math"/>
              </a:rPr>
              <a:t>𝑥	</a:t>
            </a:r>
            <a:r>
              <a:rPr sz="2000" spc="20" dirty="0">
                <a:latin typeface="Cambria Math"/>
                <a:cs typeface="Cambria Math"/>
              </a:rPr>
              <a:t>=</a:t>
            </a:r>
            <a:r>
              <a:rPr sz="2000" spc="140" dirty="0">
                <a:latin typeface="Cambria Math"/>
                <a:cs typeface="Cambria Math"/>
              </a:rPr>
              <a:t> </a:t>
            </a:r>
            <a:r>
              <a:rPr sz="2000" spc="-15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22" baseline="-16666" dirty="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sz="2000" spc="-15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000" spc="6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250" spc="-75" baseline="-16666" dirty="0">
                <a:solidFill>
                  <a:srgbClr val="0096FF"/>
                </a:solidFill>
                <a:latin typeface="Cambria Math"/>
                <a:cs typeface="Cambria Math"/>
              </a:rPr>
              <a:t>2	</a:t>
            </a:r>
            <a:r>
              <a:rPr sz="2000" spc="10" dirty="0">
                <a:solidFill>
                  <a:srgbClr val="0070C0"/>
                </a:solidFill>
                <a:latin typeface="Cambria Math"/>
                <a:cs typeface="Cambria Math"/>
              </a:rPr>
              <a:t>𝑥</a:t>
            </a:r>
            <a:r>
              <a:rPr sz="2000" spc="-50" dirty="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+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spc="10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390842" y="217888"/>
            <a:ext cx="314769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432FF"/>
                </a:solidFill>
              </a:rPr>
              <a:t>Choice</a:t>
            </a:r>
            <a:r>
              <a:rPr spc="40" dirty="0">
                <a:solidFill>
                  <a:srgbClr val="0432FF"/>
                </a:solidFill>
              </a:rPr>
              <a:t> </a:t>
            </a:r>
            <a:r>
              <a:rPr dirty="0">
                <a:solidFill>
                  <a:srgbClr val="0432FF"/>
                </a:solidFill>
              </a:rPr>
              <a:t>of</a:t>
            </a:r>
            <a:r>
              <a:rPr spc="-45" dirty="0">
                <a:solidFill>
                  <a:srgbClr val="0432FF"/>
                </a:solidFill>
              </a:rPr>
              <a:t> </a:t>
            </a:r>
            <a:r>
              <a:rPr spc="-10" dirty="0">
                <a:solidFill>
                  <a:srgbClr val="0432FF"/>
                </a:solidFill>
              </a:rPr>
              <a:t>features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1278636" y="1600200"/>
            <a:ext cx="7628890" cy="2541270"/>
            <a:chOff x="1278636" y="1600200"/>
            <a:chExt cx="7628890" cy="2541270"/>
          </a:xfrm>
        </p:grpSpPr>
        <p:sp>
          <p:nvSpPr>
            <p:cNvPr id="37" name="object 37"/>
            <p:cNvSpPr/>
            <p:nvPr/>
          </p:nvSpPr>
          <p:spPr>
            <a:xfrm>
              <a:off x="1304925" y="1885950"/>
              <a:ext cx="3695700" cy="1752600"/>
            </a:xfrm>
            <a:custGeom>
              <a:avLst/>
              <a:gdLst/>
              <a:ahLst/>
              <a:cxnLst/>
              <a:rect l="l" t="t" r="r" b="b"/>
              <a:pathLst>
                <a:path w="3695700" h="1752600">
                  <a:moveTo>
                    <a:pt x="0" y="1752600"/>
                  </a:moveTo>
                  <a:lnTo>
                    <a:pt x="18230" y="1708913"/>
                  </a:lnTo>
                  <a:lnTo>
                    <a:pt x="36592" y="1665275"/>
                  </a:lnTo>
                  <a:lnTo>
                    <a:pt x="55215" y="1621730"/>
                  </a:lnTo>
                  <a:lnTo>
                    <a:pt x="74229" y="1578325"/>
                  </a:lnTo>
                  <a:lnTo>
                    <a:pt x="93764" y="1535104"/>
                  </a:lnTo>
                  <a:lnTo>
                    <a:pt x="113948" y="1492113"/>
                  </a:lnTo>
                  <a:lnTo>
                    <a:pt x="134911" y="1449399"/>
                  </a:lnTo>
                  <a:lnTo>
                    <a:pt x="156783" y="1407006"/>
                  </a:lnTo>
                  <a:lnTo>
                    <a:pt x="179694" y="1364981"/>
                  </a:lnTo>
                  <a:lnTo>
                    <a:pt x="203772" y="1323368"/>
                  </a:lnTo>
                  <a:lnTo>
                    <a:pt x="229148" y="1282215"/>
                  </a:lnTo>
                  <a:lnTo>
                    <a:pt x="255952" y="1241565"/>
                  </a:lnTo>
                  <a:lnTo>
                    <a:pt x="284311" y="1201466"/>
                  </a:lnTo>
                  <a:lnTo>
                    <a:pt x="314357" y="1161963"/>
                  </a:lnTo>
                  <a:lnTo>
                    <a:pt x="346218" y="1123100"/>
                  </a:lnTo>
                  <a:lnTo>
                    <a:pt x="380025" y="1084925"/>
                  </a:lnTo>
                  <a:lnTo>
                    <a:pt x="415906" y="1047483"/>
                  </a:lnTo>
                  <a:lnTo>
                    <a:pt x="453991" y="1010819"/>
                  </a:lnTo>
                  <a:lnTo>
                    <a:pt x="494411" y="974979"/>
                  </a:lnTo>
                  <a:lnTo>
                    <a:pt x="528448" y="947069"/>
                  </a:lnTo>
                  <a:lnTo>
                    <a:pt x="564548" y="919391"/>
                  </a:lnTo>
                  <a:lnTo>
                    <a:pt x="602564" y="891964"/>
                  </a:lnTo>
                  <a:lnTo>
                    <a:pt x="642348" y="864806"/>
                  </a:lnTo>
                  <a:lnTo>
                    <a:pt x="683752" y="837937"/>
                  </a:lnTo>
                  <a:lnTo>
                    <a:pt x="726630" y="811375"/>
                  </a:lnTo>
                  <a:lnTo>
                    <a:pt x="770833" y="785139"/>
                  </a:lnTo>
                  <a:lnTo>
                    <a:pt x="816214" y="759248"/>
                  </a:lnTo>
                  <a:lnTo>
                    <a:pt x="862626" y="733721"/>
                  </a:lnTo>
                  <a:lnTo>
                    <a:pt x="909921" y="708576"/>
                  </a:lnTo>
                  <a:lnTo>
                    <a:pt x="957951" y="683833"/>
                  </a:lnTo>
                  <a:lnTo>
                    <a:pt x="1006570" y="659511"/>
                  </a:lnTo>
                  <a:lnTo>
                    <a:pt x="1055629" y="635627"/>
                  </a:lnTo>
                  <a:lnTo>
                    <a:pt x="1104981" y="612202"/>
                  </a:lnTo>
                  <a:lnTo>
                    <a:pt x="1154478" y="589253"/>
                  </a:lnTo>
                  <a:lnTo>
                    <a:pt x="1203974" y="566801"/>
                  </a:lnTo>
                  <a:lnTo>
                    <a:pt x="1253320" y="544862"/>
                  </a:lnTo>
                  <a:lnTo>
                    <a:pt x="1302369" y="523458"/>
                  </a:lnTo>
                  <a:lnTo>
                    <a:pt x="1350973" y="502605"/>
                  </a:lnTo>
                  <a:lnTo>
                    <a:pt x="1398986" y="482324"/>
                  </a:lnTo>
                  <a:lnTo>
                    <a:pt x="1446259" y="462633"/>
                  </a:lnTo>
                  <a:lnTo>
                    <a:pt x="1492645" y="443551"/>
                  </a:lnTo>
                  <a:lnTo>
                    <a:pt x="1537996" y="425096"/>
                  </a:lnTo>
                  <a:lnTo>
                    <a:pt x="1582166" y="407288"/>
                  </a:lnTo>
                  <a:lnTo>
                    <a:pt x="1634039" y="386875"/>
                  </a:lnTo>
                  <a:lnTo>
                    <a:pt x="1685275" y="367542"/>
                  </a:lnTo>
                  <a:lnTo>
                    <a:pt x="1735950" y="349230"/>
                  </a:lnTo>
                  <a:lnTo>
                    <a:pt x="1786137" y="331879"/>
                  </a:lnTo>
                  <a:lnTo>
                    <a:pt x="1835910" y="315428"/>
                  </a:lnTo>
                  <a:lnTo>
                    <a:pt x="1885343" y="299817"/>
                  </a:lnTo>
                  <a:lnTo>
                    <a:pt x="1934511" y="284986"/>
                  </a:lnTo>
                  <a:lnTo>
                    <a:pt x="1983488" y="270874"/>
                  </a:lnTo>
                  <a:lnTo>
                    <a:pt x="2032347" y="257422"/>
                  </a:lnTo>
                  <a:lnTo>
                    <a:pt x="2081164" y="244570"/>
                  </a:lnTo>
                  <a:lnTo>
                    <a:pt x="2130013" y="232256"/>
                  </a:lnTo>
                  <a:lnTo>
                    <a:pt x="2178967" y="220422"/>
                  </a:lnTo>
                  <a:lnTo>
                    <a:pt x="2228101" y="209006"/>
                  </a:lnTo>
                  <a:lnTo>
                    <a:pt x="2277489" y="197949"/>
                  </a:lnTo>
                  <a:lnTo>
                    <a:pt x="2327205" y="187190"/>
                  </a:lnTo>
                  <a:lnTo>
                    <a:pt x="2377324" y="176669"/>
                  </a:lnTo>
                  <a:lnTo>
                    <a:pt x="2427919" y="166326"/>
                  </a:lnTo>
                  <a:lnTo>
                    <a:pt x="2479065" y="156101"/>
                  </a:lnTo>
                  <a:lnTo>
                    <a:pt x="2530836" y="145933"/>
                  </a:lnTo>
                  <a:lnTo>
                    <a:pt x="2583307" y="135762"/>
                  </a:lnTo>
                  <a:lnTo>
                    <a:pt x="2631516" y="126721"/>
                  </a:lnTo>
                  <a:lnTo>
                    <a:pt x="2680053" y="118079"/>
                  </a:lnTo>
                  <a:lnTo>
                    <a:pt x="2728903" y="109818"/>
                  </a:lnTo>
                  <a:lnTo>
                    <a:pt x="2778049" y="101919"/>
                  </a:lnTo>
                  <a:lnTo>
                    <a:pt x="2827476" y="94363"/>
                  </a:lnTo>
                  <a:lnTo>
                    <a:pt x="2877169" y="87130"/>
                  </a:lnTo>
                  <a:lnTo>
                    <a:pt x="2927112" y="80203"/>
                  </a:lnTo>
                  <a:lnTo>
                    <a:pt x="2977289" y="73562"/>
                  </a:lnTo>
                  <a:lnTo>
                    <a:pt x="3027686" y="67188"/>
                  </a:lnTo>
                  <a:lnTo>
                    <a:pt x="3078285" y="61062"/>
                  </a:lnTo>
                  <a:lnTo>
                    <a:pt x="3129073" y="55165"/>
                  </a:lnTo>
                  <a:lnTo>
                    <a:pt x="3180033" y="49478"/>
                  </a:lnTo>
                  <a:lnTo>
                    <a:pt x="3231150" y="43983"/>
                  </a:lnTo>
                  <a:lnTo>
                    <a:pt x="3282408" y="38660"/>
                  </a:lnTo>
                  <a:lnTo>
                    <a:pt x="3333793" y="33490"/>
                  </a:lnTo>
                  <a:lnTo>
                    <a:pt x="3385287" y="28454"/>
                  </a:lnTo>
                  <a:lnTo>
                    <a:pt x="3436876" y="23534"/>
                  </a:lnTo>
                  <a:lnTo>
                    <a:pt x="3488544" y="18710"/>
                  </a:lnTo>
                  <a:lnTo>
                    <a:pt x="3540277" y="13964"/>
                  </a:lnTo>
                  <a:lnTo>
                    <a:pt x="3592057" y="9276"/>
                  </a:lnTo>
                  <a:lnTo>
                    <a:pt x="3643870" y="4627"/>
                  </a:lnTo>
                  <a:lnTo>
                    <a:pt x="3695700" y="0"/>
                  </a:lnTo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3100" y="2104008"/>
              <a:ext cx="530859" cy="3985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0181" y="2110740"/>
              <a:ext cx="155575" cy="1422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5655" y="2292095"/>
              <a:ext cx="687451" cy="26962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400" y="3543300"/>
              <a:ext cx="180975" cy="1809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1622" y="1654556"/>
              <a:ext cx="390016" cy="34925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78636" y="1944497"/>
              <a:ext cx="3145155" cy="1511300"/>
            </a:xfrm>
            <a:custGeom>
              <a:avLst/>
              <a:gdLst/>
              <a:ahLst/>
              <a:cxnLst/>
              <a:rect l="l" t="t" r="r" b="b"/>
              <a:pathLst>
                <a:path w="3145154" h="1511300">
                  <a:moveTo>
                    <a:pt x="34925" y="1409700"/>
                  </a:moveTo>
                  <a:lnTo>
                    <a:pt x="0" y="1409700"/>
                  </a:lnTo>
                  <a:lnTo>
                    <a:pt x="0" y="1511300"/>
                  </a:lnTo>
                  <a:lnTo>
                    <a:pt x="34925" y="1511300"/>
                  </a:lnTo>
                  <a:lnTo>
                    <a:pt x="34925" y="1409700"/>
                  </a:lnTo>
                  <a:close/>
                </a:path>
                <a:path w="3145154" h="1511300">
                  <a:moveTo>
                    <a:pt x="38226" y="1397000"/>
                  </a:moveTo>
                  <a:lnTo>
                    <a:pt x="2285" y="1397000"/>
                  </a:lnTo>
                  <a:lnTo>
                    <a:pt x="507" y="1409700"/>
                  </a:lnTo>
                  <a:lnTo>
                    <a:pt x="36067" y="1409700"/>
                  </a:lnTo>
                  <a:lnTo>
                    <a:pt x="38226" y="1397000"/>
                  </a:lnTo>
                  <a:close/>
                </a:path>
                <a:path w="3145154" h="1511300">
                  <a:moveTo>
                    <a:pt x="49656" y="1371600"/>
                  </a:moveTo>
                  <a:lnTo>
                    <a:pt x="9270" y="1371600"/>
                  </a:lnTo>
                  <a:lnTo>
                    <a:pt x="4952" y="1384300"/>
                  </a:lnTo>
                  <a:lnTo>
                    <a:pt x="2539" y="1397000"/>
                  </a:lnTo>
                  <a:lnTo>
                    <a:pt x="37972" y="1397000"/>
                  </a:lnTo>
                  <a:lnTo>
                    <a:pt x="42290" y="1384300"/>
                  </a:lnTo>
                  <a:lnTo>
                    <a:pt x="45592" y="1384300"/>
                  </a:lnTo>
                  <a:lnTo>
                    <a:pt x="49656" y="1371600"/>
                  </a:lnTo>
                  <a:close/>
                </a:path>
                <a:path w="3145154" h="1511300">
                  <a:moveTo>
                    <a:pt x="52323" y="1358900"/>
                  </a:moveTo>
                  <a:lnTo>
                    <a:pt x="17144" y="1358900"/>
                  </a:lnTo>
                  <a:lnTo>
                    <a:pt x="13207" y="1371600"/>
                  </a:lnTo>
                  <a:lnTo>
                    <a:pt x="50164" y="1371600"/>
                  </a:lnTo>
                  <a:lnTo>
                    <a:pt x="52323" y="1358900"/>
                  </a:lnTo>
                  <a:close/>
                </a:path>
                <a:path w="3145154" h="1511300">
                  <a:moveTo>
                    <a:pt x="58292" y="1346200"/>
                  </a:moveTo>
                  <a:lnTo>
                    <a:pt x="18668" y="1346200"/>
                  </a:lnTo>
                  <a:lnTo>
                    <a:pt x="16509" y="1358900"/>
                  </a:lnTo>
                  <a:lnTo>
                    <a:pt x="56133" y="1358900"/>
                  </a:lnTo>
                  <a:lnTo>
                    <a:pt x="58292" y="1346200"/>
                  </a:lnTo>
                  <a:close/>
                </a:path>
                <a:path w="3145154" h="1511300">
                  <a:moveTo>
                    <a:pt x="79755" y="1295400"/>
                  </a:moveTo>
                  <a:lnTo>
                    <a:pt x="36956" y="1295400"/>
                  </a:lnTo>
                  <a:lnTo>
                    <a:pt x="32892" y="1308100"/>
                  </a:lnTo>
                  <a:lnTo>
                    <a:pt x="28955" y="1320800"/>
                  </a:lnTo>
                  <a:lnTo>
                    <a:pt x="24891" y="1333500"/>
                  </a:lnTo>
                  <a:lnTo>
                    <a:pt x="24256" y="1333500"/>
                  </a:lnTo>
                  <a:lnTo>
                    <a:pt x="22097" y="1346200"/>
                  </a:lnTo>
                  <a:lnTo>
                    <a:pt x="57657" y="1346200"/>
                  </a:lnTo>
                  <a:lnTo>
                    <a:pt x="65531" y="1320800"/>
                  </a:lnTo>
                  <a:lnTo>
                    <a:pt x="65404" y="1320800"/>
                  </a:lnTo>
                  <a:lnTo>
                    <a:pt x="69468" y="1308100"/>
                  </a:lnTo>
                  <a:lnTo>
                    <a:pt x="76200" y="1308100"/>
                  </a:lnTo>
                  <a:lnTo>
                    <a:pt x="79755" y="1295400"/>
                  </a:lnTo>
                  <a:close/>
                </a:path>
                <a:path w="3145154" h="1511300">
                  <a:moveTo>
                    <a:pt x="72643" y="1308100"/>
                  </a:moveTo>
                  <a:lnTo>
                    <a:pt x="69468" y="1308100"/>
                  </a:lnTo>
                  <a:lnTo>
                    <a:pt x="68579" y="1320800"/>
                  </a:lnTo>
                  <a:lnTo>
                    <a:pt x="72643" y="1308100"/>
                  </a:lnTo>
                  <a:close/>
                </a:path>
                <a:path w="3145154" h="1511300">
                  <a:moveTo>
                    <a:pt x="85597" y="1282700"/>
                  </a:moveTo>
                  <a:lnTo>
                    <a:pt x="45973" y="1282700"/>
                  </a:lnTo>
                  <a:lnTo>
                    <a:pt x="42290" y="1295400"/>
                  </a:lnTo>
                  <a:lnTo>
                    <a:pt x="82422" y="1295400"/>
                  </a:lnTo>
                  <a:lnTo>
                    <a:pt x="85597" y="1282700"/>
                  </a:lnTo>
                  <a:close/>
                </a:path>
                <a:path w="3145154" h="1511300">
                  <a:moveTo>
                    <a:pt x="90931" y="1270000"/>
                  </a:moveTo>
                  <a:lnTo>
                    <a:pt x="53085" y="1270000"/>
                  </a:lnTo>
                  <a:lnTo>
                    <a:pt x="49910" y="1282700"/>
                  </a:lnTo>
                  <a:lnTo>
                    <a:pt x="87248" y="1282700"/>
                  </a:lnTo>
                  <a:lnTo>
                    <a:pt x="90931" y="1270000"/>
                  </a:lnTo>
                  <a:close/>
                </a:path>
                <a:path w="3145154" h="1511300">
                  <a:moveTo>
                    <a:pt x="97789" y="1257300"/>
                  </a:moveTo>
                  <a:lnTo>
                    <a:pt x="58673" y="1257300"/>
                  </a:lnTo>
                  <a:lnTo>
                    <a:pt x="54990" y="1270000"/>
                  </a:lnTo>
                  <a:lnTo>
                    <a:pt x="93852" y="1270000"/>
                  </a:lnTo>
                  <a:lnTo>
                    <a:pt x="97789" y="1257300"/>
                  </a:lnTo>
                  <a:close/>
                </a:path>
                <a:path w="3145154" h="1511300">
                  <a:moveTo>
                    <a:pt x="101726" y="1244600"/>
                  </a:moveTo>
                  <a:lnTo>
                    <a:pt x="63880" y="1244600"/>
                  </a:lnTo>
                  <a:lnTo>
                    <a:pt x="60197" y="1257300"/>
                  </a:lnTo>
                  <a:lnTo>
                    <a:pt x="98043" y="1257300"/>
                  </a:lnTo>
                  <a:lnTo>
                    <a:pt x="101726" y="1244600"/>
                  </a:lnTo>
                  <a:close/>
                </a:path>
                <a:path w="3145154" h="1511300">
                  <a:moveTo>
                    <a:pt x="81152" y="1206500"/>
                  </a:moveTo>
                  <a:lnTo>
                    <a:pt x="70357" y="1231900"/>
                  </a:lnTo>
                  <a:lnTo>
                    <a:pt x="70103" y="1231900"/>
                  </a:lnTo>
                  <a:lnTo>
                    <a:pt x="66547" y="1244600"/>
                  </a:lnTo>
                  <a:lnTo>
                    <a:pt x="101600" y="1244600"/>
                  </a:lnTo>
                  <a:lnTo>
                    <a:pt x="112394" y="1231900"/>
                  </a:lnTo>
                  <a:lnTo>
                    <a:pt x="115823" y="1219200"/>
                  </a:lnTo>
                  <a:lnTo>
                    <a:pt x="80644" y="1219200"/>
                  </a:lnTo>
                  <a:lnTo>
                    <a:pt x="81152" y="1206500"/>
                  </a:lnTo>
                  <a:close/>
                </a:path>
                <a:path w="3145154" h="1511300">
                  <a:moveTo>
                    <a:pt x="129158" y="1193800"/>
                  </a:moveTo>
                  <a:lnTo>
                    <a:pt x="87122" y="1193800"/>
                  </a:lnTo>
                  <a:lnTo>
                    <a:pt x="80644" y="1219200"/>
                  </a:lnTo>
                  <a:lnTo>
                    <a:pt x="115823" y="1219200"/>
                  </a:lnTo>
                  <a:lnTo>
                    <a:pt x="119252" y="1206500"/>
                  </a:lnTo>
                  <a:lnTo>
                    <a:pt x="124459" y="1206500"/>
                  </a:lnTo>
                  <a:lnTo>
                    <a:pt x="129158" y="1193800"/>
                  </a:lnTo>
                  <a:close/>
                </a:path>
                <a:path w="3145154" h="1511300">
                  <a:moveTo>
                    <a:pt x="123189" y="1206500"/>
                  </a:moveTo>
                  <a:lnTo>
                    <a:pt x="119252" y="1206500"/>
                  </a:lnTo>
                  <a:lnTo>
                    <a:pt x="117855" y="1219200"/>
                  </a:lnTo>
                  <a:lnTo>
                    <a:pt x="123189" y="1206500"/>
                  </a:lnTo>
                  <a:close/>
                </a:path>
                <a:path w="3145154" h="1511300">
                  <a:moveTo>
                    <a:pt x="93979" y="1181100"/>
                  </a:moveTo>
                  <a:lnTo>
                    <a:pt x="88518" y="1193800"/>
                  </a:lnTo>
                  <a:lnTo>
                    <a:pt x="92709" y="1193800"/>
                  </a:lnTo>
                  <a:lnTo>
                    <a:pt x="93979" y="1181100"/>
                  </a:lnTo>
                  <a:close/>
                </a:path>
                <a:path w="3145154" h="1511300">
                  <a:moveTo>
                    <a:pt x="134492" y="1181100"/>
                  </a:moveTo>
                  <a:lnTo>
                    <a:pt x="97408" y="1181100"/>
                  </a:lnTo>
                  <a:lnTo>
                    <a:pt x="92709" y="1193800"/>
                  </a:lnTo>
                  <a:lnTo>
                    <a:pt x="132841" y="1193800"/>
                  </a:lnTo>
                  <a:lnTo>
                    <a:pt x="134492" y="1181100"/>
                  </a:lnTo>
                  <a:close/>
                </a:path>
                <a:path w="3145154" h="1511300">
                  <a:moveTo>
                    <a:pt x="143128" y="1168400"/>
                  </a:moveTo>
                  <a:lnTo>
                    <a:pt x="104520" y="1168400"/>
                  </a:lnTo>
                  <a:lnTo>
                    <a:pt x="99059" y="1181100"/>
                  </a:lnTo>
                  <a:lnTo>
                    <a:pt x="137032" y="1181100"/>
                  </a:lnTo>
                  <a:lnTo>
                    <a:pt x="143128" y="1168400"/>
                  </a:lnTo>
                  <a:close/>
                </a:path>
                <a:path w="3145154" h="1511300">
                  <a:moveTo>
                    <a:pt x="148208" y="1155700"/>
                  </a:moveTo>
                  <a:lnTo>
                    <a:pt x="113664" y="1155700"/>
                  </a:lnTo>
                  <a:lnTo>
                    <a:pt x="107441" y="1168400"/>
                  </a:lnTo>
                  <a:lnTo>
                    <a:pt x="143890" y="1168400"/>
                  </a:lnTo>
                  <a:lnTo>
                    <a:pt x="148208" y="1155700"/>
                  </a:lnTo>
                  <a:close/>
                </a:path>
                <a:path w="3145154" h="1511300">
                  <a:moveTo>
                    <a:pt x="153669" y="1155700"/>
                  </a:moveTo>
                  <a:lnTo>
                    <a:pt x="148208" y="1155700"/>
                  </a:lnTo>
                  <a:lnTo>
                    <a:pt x="147827" y="1168400"/>
                  </a:lnTo>
                  <a:lnTo>
                    <a:pt x="153669" y="1155700"/>
                  </a:lnTo>
                  <a:close/>
                </a:path>
                <a:path w="3145154" h="1511300">
                  <a:moveTo>
                    <a:pt x="158114" y="1143000"/>
                  </a:moveTo>
                  <a:lnTo>
                    <a:pt x="117220" y="1143000"/>
                  </a:lnTo>
                  <a:lnTo>
                    <a:pt x="112902" y="1155700"/>
                  </a:lnTo>
                  <a:lnTo>
                    <a:pt x="152653" y="1155700"/>
                  </a:lnTo>
                  <a:lnTo>
                    <a:pt x="158114" y="1143000"/>
                  </a:lnTo>
                  <a:close/>
                </a:path>
                <a:path w="3145154" h="1511300">
                  <a:moveTo>
                    <a:pt x="167766" y="1130300"/>
                  </a:moveTo>
                  <a:lnTo>
                    <a:pt x="123316" y="1130300"/>
                  </a:lnTo>
                  <a:lnTo>
                    <a:pt x="117601" y="1143000"/>
                  </a:lnTo>
                  <a:lnTo>
                    <a:pt x="162432" y="1143000"/>
                  </a:lnTo>
                  <a:lnTo>
                    <a:pt x="167766" y="1130300"/>
                  </a:lnTo>
                  <a:close/>
                </a:path>
                <a:path w="3145154" h="1511300">
                  <a:moveTo>
                    <a:pt x="139445" y="1104900"/>
                  </a:moveTo>
                  <a:lnTo>
                    <a:pt x="133984" y="1117600"/>
                  </a:lnTo>
                  <a:lnTo>
                    <a:pt x="128777" y="1130300"/>
                  </a:lnTo>
                  <a:lnTo>
                    <a:pt x="169290" y="1130300"/>
                  </a:lnTo>
                  <a:lnTo>
                    <a:pt x="175386" y="1117600"/>
                  </a:lnTo>
                  <a:lnTo>
                    <a:pt x="137922" y="1117600"/>
                  </a:lnTo>
                  <a:lnTo>
                    <a:pt x="139445" y="1104900"/>
                  </a:lnTo>
                  <a:close/>
                </a:path>
                <a:path w="3145154" h="1511300">
                  <a:moveTo>
                    <a:pt x="180339" y="1104900"/>
                  </a:moveTo>
                  <a:lnTo>
                    <a:pt x="144017" y="1104900"/>
                  </a:lnTo>
                  <a:lnTo>
                    <a:pt x="137922" y="1117600"/>
                  </a:lnTo>
                  <a:lnTo>
                    <a:pt x="174116" y="1117600"/>
                  </a:lnTo>
                  <a:lnTo>
                    <a:pt x="180339" y="1104900"/>
                  </a:lnTo>
                  <a:close/>
                </a:path>
                <a:path w="3145154" h="1511300">
                  <a:moveTo>
                    <a:pt x="189864" y="1092200"/>
                  </a:moveTo>
                  <a:lnTo>
                    <a:pt x="151383" y="1092200"/>
                  </a:lnTo>
                  <a:lnTo>
                    <a:pt x="145287" y="1104900"/>
                  </a:lnTo>
                  <a:lnTo>
                    <a:pt x="180847" y="1104900"/>
                  </a:lnTo>
                  <a:lnTo>
                    <a:pt x="189864" y="1092200"/>
                  </a:lnTo>
                  <a:close/>
                </a:path>
                <a:path w="3145154" h="1511300">
                  <a:moveTo>
                    <a:pt x="196722" y="1079500"/>
                  </a:moveTo>
                  <a:lnTo>
                    <a:pt x="159892" y="1079500"/>
                  </a:lnTo>
                  <a:lnTo>
                    <a:pt x="150875" y="1092200"/>
                  </a:lnTo>
                  <a:lnTo>
                    <a:pt x="188722" y="1092200"/>
                  </a:lnTo>
                  <a:lnTo>
                    <a:pt x="196722" y="1079500"/>
                  </a:lnTo>
                  <a:close/>
                </a:path>
                <a:path w="3145154" h="1511300">
                  <a:moveTo>
                    <a:pt x="205104" y="1066800"/>
                  </a:moveTo>
                  <a:lnTo>
                    <a:pt x="168909" y="1066800"/>
                  </a:lnTo>
                  <a:lnTo>
                    <a:pt x="160908" y="1079500"/>
                  </a:lnTo>
                  <a:lnTo>
                    <a:pt x="198247" y="1079500"/>
                  </a:lnTo>
                  <a:lnTo>
                    <a:pt x="205104" y="1066800"/>
                  </a:lnTo>
                  <a:close/>
                </a:path>
                <a:path w="3145154" h="1511300">
                  <a:moveTo>
                    <a:pt x="216788" y="1054100"/>
                  </a:moveTo>
                  <a:lnTo>
                    <a:pt x="174116" y="1054100"/>
                  </a:lnTo>
                  <a:lnTo>
                    <a:pt x="167258" y="1066800"/>
                  </a:lnTo>
                  <a:lnTo>
                    <a:pt x="203072" y="1066800"/>
                  </a:lnTo>
                  <a:lnTo>
                    <a:pt x="216788" y="1054100"/>
                  </a:lnTo>
                  <a:close/>
                </a:path>
                <a:path w="3145154" h="1511300">
                  <a:moveTo>
                    <a:pt x="189864" y="1028700"/>
                  </a:moveTo>
                  <a:lnTo>
                    <a:pt x="176148" y="1054100"/>
                  </a:lnTo>
                  <a:lnTo>
                    <a:pt x="218439" y="1054100"/>
                  </a:lnTo>
                  <a:lnTo>
                    <a:pt x="226313" y="1041400"/>
                  </a:lnTo>
                  <a:lnTo>
                    <a:pt x="188213" y="1041400"/>
                  </a:lnTo>
                  <a:lnTo>
                    <a:pt x="189864" y="1028700"/>
                  </a:lnTo>
                  <a:close/>
                </a:path>
                <a:path w="3145154" h="1511300">
                  <a:moveTo>
                    <a:pt x="239648" y="1016000"/>
                  </a:moveTo>
                  <a:lnTo>
                    <a:pt x="196087" y="1016000"/>
                  </a:lnTo>
                  <a:lnTo>
                    <a:pt x="188213" y="1041400"/>
                  </a:lnTo>
                  <a:lnTo>
                    <a:pt x="225170" y="1041400"/>
                  </a:lnTo>
                  <a:lnTo>
                    <a:pt x="239648" y="1016000"/>
                  </a:lnTo>
                  <a:close/>
                </a:path>
                <a:path w="3145154" h="1511300">
                  <a:moveTo>
                    <a:pt x="252475" y="1003300"/>
                  </a:moveTo>
                  <a:lnTo>
                    <a:pt x="211581" y="1003300"/>
                  </a:lnTo>
                  <a:lnTo>
                    <a:pt x="197103" y="1016000"/>
                  </a:lnTo>
                  <a:lnTo>
                    <a:pt x="239648" y="1016000"/>
                  </a:lnTo>
                  <a:lnTo>
                    <a:pt x="238125" y="1028700"/>
                  </a:lnTo>
                  <a:lnTo>
                    <a:pt x="252475" y="1003300"/>
                  </a:lnTo>
                  <a:close/>
                </a:path>
                <a:path w="3145154" h="1511300">
                  <a:moveTo>
                    <a:pt x="268097" y="990600"/>
                  </a:moveTo>
                  <a:lnTo>
                    <a:pt x="227456" y="990600"/>
                  </a:lnTo>
                  <a:lnTo>
                    <a:pt x="213105" y="1003300"/>
                  </a:lnTo>
                  <a:lnTo>
                    <a:pt x="254380" y="1003300"/>
                  </a:lnTo>
                  <a:lnTo>
                    <a:pt x="268097" y="990600"/>
                  </a:lnTo>
                  <a:close/>
                </a:path>
                <a:path w="3145154" h="1511300">
                  <a:moveTo>
                    <a:pt x="284225" y="965200"/>
                  </a:moveTo>
                  <a:lnTo>
                    <a:pt x="239267" y="965200"/>
                  </a:lnTo>
                  <a:lnTo>
                    <a:pt x="225678" y="990600"/>
                  </a:lnTo>
                  <a:lnTo>
                    <a:pt x="266319" y="990600"/>
                  </a:lnTo>
                  <a:lnTo>
                    <a:pt x="284225" y="965200"/>
                  </a:lnTo>
                  <a:close/>
                </a:path>
                <a:path w="3145154" h="1511300">
                  <a:moveTo>
                    <a:pt x="259079" y="939800"/>
                  </a:moveTo>
                  <a:lnTo>
                    <a:pt x="241045" y="965200"/>
                  </a:lnTo>
                  <a:lnTo>
                    <a:pt x="285622" y="965200"/>
                  </a:lnTo>
                  <a:lnTo>
                    <a:pt x="301497" y="952500"/>
                  </a:lnTo>
                  <a:lnTo>
                    <a:pt x="257682" y="952500"/>
                  </a:lnTo>
                  <a:lnTo>
                    <a:pt x="259079" y="939800"/>
                  </a:lnTo>
                  <a:close/>
                </a:path>
                <a:path w="3145154" h="1511300">
                  <a:moveTo>
                    <a:pt x="358139" y="876300"/>
                  </a:moveTo>
                  <a:lnTo>
                    <a:pt x="316864" y="876300"/>
                  </a:lnTo>
                  <a:lnTo>
                    <a:pt x="305053" y="889000"/>
                  </a:lnTo>
                  <a:lnTo>
                    <a:pt x="288797" y="901700"/>
                  </a:lnTo>
                  <a:lnTo>
                    <a:pt x="289305" y="901700"/>
                  </a:lnTo>
                  <a:lnTo>
                    <a:pt x="273557" y="927100"/>
                  </a:lnTo>
                  <a:lnTo>
                    <a:pt x="257682" y="952500"/>
                  </a:lnTo>
                  <a:lnTo>
                    <a:pt x="300863" y="952500"/>
                  </a:lnTo>
                  <a:lnTo>
                    <a:pt x="315975" y="927100"/>
                  </a:lnTo>
                  <a:lnTo>
                    <a:pt x="332358" y="914400"/>
                  </a:lnTo>
                  <a:lnTo>
                    <a:pt x="331977" y="914400"/>
                  </a:lnTo>
                  <a:lnTo>
                    <a:pt x="343788" y="889000"/>
                  </a:lnTo>
                  <a:lnTo>
                    <a:pt x="358139" y="876300"/>
                  </a:lnTo>
                  <a:close/>
                </a:path>
                <a:path w="3145154" h="1511300">
                  <a:moveTo>
                    <a:pt x="381507" y="850900"/>
                  </a:moveTo>
                  <a:lnTo>
                    <a:pt x="331342" y="850900"/>
                  </a:lnTo>
                  <a:lnTo>
                    <a:pt x="316991" y="876300"/>
                  </a:lnTo>
                  <a:lnTo>
                    <a:pt x="357886" y="876300"/>
                  </a:lnTo>
                  <a:lnTo>
                    <a:pt x="369824" y="863600"/>
                  </a:lnTo>
                  <a:lnTo>
                    <a:pt x="381507" y="850900"/>
                  </a:lnTo>
                  <a:close/>
                </a:path>
                <a:path w="3145154" h="1511300">
                  <a:moveTo>
                    <a:pt x="394462" y="838200"/>
                  </a:moveTo>
                  <a:lnTo>
                    <a:pt x="343407" y="838200"/>
                  </a:lnTo>
                  <a:lnTo>
                    <a:pt x="331597" y="850900"/>
                  </a:lnTo>
                  <a:lnTo>
                    <a:pt x="380872" y="850900"/>
                  </a:lnTo>
                  <a:lnTo>
                    <a:pt x="394462" y="838200"/>
                  </a:lnTo>
                  <a:close/>
                </a:path>
                <a:path w="3145154" h="1511300">
                  <a:moveTo>
                    <a:pt x="417449" y="812800"/>
                  </a:moveTo>
                  <a:lnTo>
                    <a:pt x="369188" y="812800"/>
                  </a:lnTo>
                  <a:lnTo>
                    <a:pt x="355472" y="825500"/>
                  </a:lnTo>
                  <a:lnTo>
                    <a:pt x="343280" y="838200"/>
                  </a:lnTo>
                  <a:lnTo>
                    <a:pt x="395986" y="838200"/>
                  </a:lnTo>
                  <a:lnTo>
                    <a:pt x="405383" y="825500"/>
                  </a:lnTo>
                  <a:lnTo>
                    <a:pt x="403732" y="825500"/>
                  </a:lnTo>
                  <a:lnTo>
                    <a:pt x="417449" y="812800"/>
                  </a:lnTo>
                  <a:close/>
                </a:path>
                <a:path w="3145154" h="1511300">
                  <a:moveTo>
                    <a:pt x="429513" y="787400"/>
                  </a:moveTo>
                  <a:lnTo>
                    <a:pt x="392430" y="787400"/>
                  </a:lnTo>
                  <a:lnTo>
                    <a:pt x="378713" y="800100"/>
                  </a:lnTo>
                  <a:lnTo>
                    <a:pt x="377063" y="800100"/>
                  </a:lnTo>
                  <a:lnTo>
                    <a:pt x="367664" y="812800"/>
                  </a:lnTo>
                  <a:lnTo>
                    <a:pt x="419734" y="812800"/>
                  </a:lnTo>
                  <a:lnTo>
                    <a:pt x="429513" y="787400"/>
                  </a:lnTo>
                  <a:close/>
                </a:path>
                <a:path w="3145154" h="1511300">
                  <a:moveTo>
                    <a:pt x="415289" y="749300"/>
                  </a:moveTo>
                  <a:lnTo>
                    <a:pt x="401700" y="774700"/>
                  </a:lnTo>
                  <a:lnTo>
                    <a:pt x="399669" y="774700"/>
                  </a:lnTo>
                  <a:lnTo>
                    <a:pt x="390016" y="787400"/>
                  </a:lnTo>
                  <a:lnTo>
                    <a:pt x="427608" y="787400"/>
                  </a:lnTo>
                  <a:lnTo>
                    <a:pt x="442340" y="774700"/>
                  </a:lnTo>
                  <a:lnTo>
                    <a:pt x="454532" y="762000"/>
                  </a:lnTo>
                  <a:lnTo>
                    <a:pt x="414274" y="762000"/>
                  </a:lnTo>
                  <a:lnTo>
                    <a:pt x="415289" y="749300"/>
                  </a:lnTo>
                  <a:close/>
                </a:path>
                <a:path w="3145154" h="1511300">
                  <a:moveTo>
                    <a:pt x="471550" y="736600"/>
                  </a:moveTo>
                  <a:lnTo>
                    <a:pt x="426465" y="736600"/>
                  </a:lnTo>
                  <a:lnTo>
                    <a:pt x="414274" y="762000"/>
                  </a:lnTo>
                  <a:lnTo>
                    <a:pt x="453516" y="762000"/>
                  </a:lnTo>
                  <a:lnTo>
                    <a:pt x="471550" y="736600"/>
                  </a:lnTo>
                  <a:close/>
                </a:path>
                <a:path w="3145154" h="1511300">
                  <a:moveTo>
                    <a:pt x="487933" y="723900"/>
                  </a:moveTo>
                  <a:lnTo>
                    <a:pt x="445515" y="723900"/>
                  </a:lnTo>
                  <a:lnTo>
                    <a:pt x="427481" y="736600"/>
                  </a:lnTo>
                  <a:lnTo>
                    <a:pt x="471677" y="736600"/>
                  </a:lnTo>
                  <a:lnTo>
                    <a:pt x="487933" y="723900"/>
                  </a:lnTo>
                  <a:close/>
                </a:path>
                <a:path w="3145154" h="1511300">
                  <a:moveTo>
                    <a:pt x="504063" y="698500"/>
                  </a:moveTo>
                  <a:lnTo>
                    <a:pt x="461518" y="698500"/>
                  </a:lnTo>
                  <a:lnTo>
                    <a:pt x="445262" y="723900"/>
                  </a:lnTo>
                  <a:lnTo>
                    <a:pt x="488569" y="723900"/>
                  </a:lnTo>
                  <a:lnTo>
                    <a:pt x="504063" y="698500"/>
                  </a:lnTo>
                  <a:close/>
                </a:path>
                <a:path w="3145154" h="1511300">
                  <a:moveTo>
                    <a:pt x="537590" y="660400"/>
                  </a:moveTo>
                  <a:lnTo>
                    <a:pt x="491108" y="660400"/>
                  </a:lnTo>
                  <a:lnTo>
                    <a:pt x="477393" y="673100"/>
                  </a:lnTo>
                  <a:lnTo>
                    <a:pt x="476376" y="685800"/>
                  </a:lnTo>
                  <a:lnTo>
                    <a:pt x="460882" y="698500"/>
                  </a:lnTo>
                  <a:lnTo>
                    <a:pt x="503046" y="698500"/>
                  </a:lnTo>
                  <a:lnTo>
                    <a:pt x="516636" y="685800"/>
                  </a:lnTo>
                  <a:lnTo>
                    <a:pt x="517906" y="685800"/>
                  </a:lnTo>
                  <a:lnTo>
                    <a:pt x="526922" y="673100"/>
                  </a:lnTo>
                  <a:lnTo>
                    <a:pt x="524256" y="673100"/>
                  </a:lnTo>
                  <a:lnTo>
                    <a:pt x="537590" y="660400"/>
                  </a:lnTo>
                  <a:close/>
                </a:path>
                <a:path w="3145154" h="1511300">
                  <a:moveTo>
                    <a:pt x="549656" y="647700"/>
                  </a:moveTo>
                  <a:lnTo>
                    <a:pt x="498856" y="647700"/>
                  </a:lnTo>
                  <a:lnTo>
                    <a:pt x="489838" y="660400"/>
                  </a:lnTo>
                  <a:lnTo>
                    <a:pt x="540638" y="660400"/>
                  </a:lnTo>
                  <a:lnTo>
                    <a:pt x="549656" y="647700"/>
                  </a:lnTo>
                  <a:close/>
                </a:path>
                <a:path w="3145154" h="1511300">
                  <a:moveTo>
                    <a:pt x="514731" y="635000"/>
                  </a:moveTo>
                  <a:lnTo>
                    <a:pt x="501395" y="647700"/>
                  </a:lnTo>
                  <a:lnTo>
                    <a:pt x="511682" y="647700"/>
                  </a:lnTo>
                  <a:lnTo>
                    <a:pt x="514731" y="635000"/>
                  </a:lnTo>
                  <a:close/>
                </a:path>
                <a:path w="3145154" h="1511300">
                  <a:moveTo>
                    <a:pt x="585596" y="609600"/>
                  </a:moveTo>
                  <a:lnTo>
                    <a:pt x="536320" y="609600"/>
                  </a:lnTo>
                  <a:lnTo>
                    <a:pt x="522731" y="622300"/>
                  </a:lnTo>
                  <a:lnTo>
                    <a:pt x="520700" y="635000"/>
                  </a:lnTo>
                  <a:lnTo>
                    <a:pt x="511682" y="647700"/>
                  </a:lnTo>
                  <a:lnTo>
                    <a:pt x="547751" y="647700"/>
                  </a:lnTo>
                  <a:lnTo>
                    <a:pt x="561339" y="635000"/>
                  </a:lnTo>
                  <a:lnTo>
                    <a:pt x="562101" y="635000"/>
                  </a:lnTo>
                  <a:lnTo>
                    <a:pt x="573913" y="622300"/>
                  </a:lnTo>
                  <a:lnTo>
                    <a:pt x="574166" y="622300"/>
                  </a:lnTo>
                  <a:lnTo>
                    <a:pt x="585596" y="609600"/>
                  </a:lnTo>
                  <a:close/>
                </a:path>
                <a:path w="3145154" h="1511300">
                  <a:moveTo>
                    <a:pt x="597281" y="596900"/>
                  </a:moveTo>
                  <a:lnTo>
                    <a:pt x="547624" y="596900"/>
                  </a:lnTo>
                  <a:lnTo>
                    <a:pt x="535686" y="609600"/>
                  </a:lnTo>
                  <a:lnTo>
                    <a:pt x="583945" y="609600"/>
                  </a:lnTo>
                  <a:lnTo>
                    <a:pt x="597281" y="596900"/>
                  </a:lnTo>
                  <a:close/>
                </a:path>
                <a:path w="3145154" h="1511300">
                  <a:moveTo>
                    <a:pt x="608711" y="584200"/>
                  </a:moveTo>
                  <a:lnTo>
                    <a:pt x="558926" y="584200"/>
                  </a:lnTo>
                  <a:lnTo>
                    <a:pt x="547369" y="596900"/>
                  </a:lnTo>
                  <a:lnTo>
                    <a:pt x="599694" y="596900"/>
                  </a:lnTo>
                  <a:lnTo>
                    <a:pt x="608711" y="584200"/>
                  </a:lnTo>
                  <a:close/>
                </a:path>
                <a:path w="3145154" h="1511300">
                  <a:moveTo>
                    <a:pt x="631570" y="558800"/>
                  </a:moveTo>
                  <a:lnTo>
                    <a:pt x="581532" y="558800"/>
                  </a:lnTo>
                  <a:lnTo>
                    <a:pt x="571500" y="571500"/>
                  </a:lnTo>
                  <a:lnTo>
                    <a:pt x="573913" y="571500"/>
                  </a:lnTo>
                  <a:lnTo>
                    <a:pt x="560705" y="584200"/>
                  </a:lnTo>
                  <a:lnTo>
                    <a:pt x="617219" y="584200"/>
                  </a:lnTo>
                  <a:lnTo>
                    <a:pt x="620013" y="571500"/>
                  </a:lnTo>
                  <a:lnTo>
                    <a:pt x="631570" y="558800"/>
                  </a:lnTo>
                  <a:close/>
                </a:path>
                <a:path w="3145154" h="1511300">
                  <a:moveTo>
                    <a:pt x="596519" y="546100"/>
                  </a:moveTo>
                  <a:lnTo>
                    <a:pt x="582802" y="558800"/>
                  </a:lnTo>
                  <a:lnTo>
                    <a:pt x="593597" y="558800"/>
                  </a:lnTo>
                  <a:lnTo>
                    <a:pt x="596519" y="546100"/>
                  </a:lnTo>
                  <a:close/>
                </a:path>
                <a:path w="3145154" h="1511300">
                  <a:moveTo>
                    <a:pt x="665480" y="533400"/>
                  </a:moveTo>
                  <a:lnTo>
                    <a:pt x="607440" y="533400"/>
                  </a:lnTo>
                  <a:lnTo>
                    <a:pt x="605155" y="546100"/>
                  </a:lnTo>
                  <a:lnTo>
                    <a:pt x="593597" y="558800"/>
                  </a:lnTo>
                  <a:lnTo>
                    <a:pt x="640588" y="558800"/>
                  </a:lnTo>
                  <a:lnTo>
                    <a:pt x="653541" y="546100"/>
                  </a:lnTo>
                  <a:lnTo>
                    <a:pt x="654303" y="546100"/>
                  </a:lnTo>
                  <a:lnTo>
                    <a:pt x="665480" y="533400"/>
                  </a:lnTo>
                  <a:close/>
                </a:path>
                <a:path w="3145154" h="1511300">
                  <a:moveTo>
                    <a:pt x="676147" y="520700"/>
                  </a:moveTo>
                  <a:lnTo>
                    <a:pt x="630682" y="520700"/>
                  </a:lnTo>
                  <a:lnTo>
                    <a:pt x="617727" y="533400"/>
                  </a:lnTo>
                  <a:lnTo>
                    <a:pt x="663194" y="533400"/>
                  </a:lnTo>
                  <a:lnTo>
                    <a:pt x="676147" y="520700"/>
                  </a:lnTo>
                  <a:close/>
                </a:path>
                <a:path w="3145154" h="1511300">
                  <a:moveTo>
                    <a:pt x="689482" y="508000"/>
                  </a:moveTo>
                  <a:lnTo>
                    <a:pt x="641095" y="508000"/>
                  </a:lnTo>
                  <a:lnTo>
                    <a:pt x="629919" y="520700"/>
                  </a:lnTo>
                  <a:lnTo>
                    <a:pt x="678433" y="520700"/>
                  </a:lnTo>
                  <a:lnTo>
                    <a:pt x="689482" y="508000"/>
                  </a:lnTo>
                  <a:close/>
                </a:path>
                <a:path w="3145154" h="1511300">
                  <a:moveTo>
                    <a:pt x="699769" y="508000"/>
                  </a:moveTo>
                  <a:lnTo>
                    <a:pt x="689482" y="508000"/>
                  </a:lnTo>
                  <a:lnTo>
                    <a:pt x="687451" y="520700"/>
                  </a:lnTo>
                  <a:lnTo>
                    <a:pt x="699769" y="508000"/>
                  </a:lnTo>
                  <a:close/>
                </a:path>
                <a:path w="3145154" h="1511300">
                  <a:moveTo>
                    <a:pt x="717931" y="495300"/>
                  </a:moveTo>
                  <a:lnTo>
                    <a:pt x="656336" y="495300"/>
                  </a:lnTo>
                  <a:lnTo>
                    <a:pt x="643382" y="508000"/>
                  </a:lnTo>
                  <a:lnTo>
                    <a:pt x="700913" y="508000"/>
                  </a:lnTo>
                  <a:lnTo>
                    <a:pt x="717931" y="495300"/>
                  </a:lnTo>
                  <a:close/>
                </a:path>
                <a:path w="3145154" h="1511300">
                  <a:moveTo>
                    <a:pt x="731012" y="482600"/>
                  </a:moveTo>
                  <a:lnTo>
                    <a:pt x="665226" y="482600"/>
                  </a:lnTo>
                  <a:lnTo>
                    <a:pt x="654050" y="495300"/>
                  </a:lnTo>
                  <a:lnTo>
                    <a:pt x="716533" y="495300"/>
                  </a:lnTo>
                  <a:lnTo>
                    <a:pt x="731012" y="482600"/>
                  </a:lnTo>
                  <a:close/>
                </a:path>
                <a:path w="3145154" h="1511300">
                  <a:moveTo>
                    <a:pt x="750824" y="469900"/>
                  </a:moveTo>
                  <a:lnTo>
                    <a:pt x="695197" y="469900"/>
                  </a:lnTo>
                  <a:lnTo>
                    <a:pt x="678307" y="482600"/>
                  </a:lnTo>
                  <a:lnTo>
                    <a:pt x="731774" y="482600"/>
                  </a:lnTo>
                  <a:lnTo>
                    <a:pt x="750824" y="469900"/>
                  </a:lnTo>
                  <a:close/>
                </a:path>
                <a:path w="3145154" h="1511300">
                  <a:moveTo>
                    <a:pt x="762634" y="457200"/>
                  </a:moveTo>
                  <a:lnTo>
                    <a:pt x="710945" y="457200"/>
                  </a:lnTo>
                  <a:lnTo>
                    <a:pt x="696594" y="469900"/>
                  </a:lnTo>
                  <a:lnTo>
                    <a:pt x="749681" y="469900"/>
                  </a:lnTo>
                  <a:lnTo>
                    <a:pt x="762634" y="457200"/>
                  </a:lnTo>
                  <a:close/>
                </a:path>
                <a:path w="3145154" h="1511300">
                  <a:moveTo>
                    <a:pt x="801243" y="431800"/>
                  </a:moveTo>
                  <a:lnTo>
                    <a:pt x="743331" y="431800"/>
                  </a:lnTo>
                  <a:lnTo>
                    <a:pt x="730376" y="444500"/>
                  </a:lnTo>
                  <a:lnTo>
                    <a:pt x="710057" y="457200"/>
                  </a:lnTo>
                  <a:lnTo>
                    <a:pt x="762888" y="457200"/>
                  </a:lnTo>
                  <a:lnTo>
                    <a:pt x="775462" y="444500"/>
                  </a:lnTo>
                  <a:lnTo>
                    <a:pt x="788288" y="444500"/>
                  </a:lnTo>
                  <a:lnTo>
                    <a:pt x="801243" y="431800"/>
                  </a:lnTo>
                  <a:close/>
                </a:path>
                <a:path w="3145154" h="1511300">
                  <a:moveTo>
                    <a:pt x="815720" y="419100"/>
                  </a:moveTo>
                  <a:lnTo>
                    <a:pt x="755776" y="419100"/>
                  </a:lnTo>
                  <a:lnTo>
                    <a:pt x="743076" y="431800"/>
                  </a:lnTo>
                  <a:lnTo>
                    <a:pt x="800353" y="431800"/>
                  </a:lnTo>
                  <a:lnTo>
                    <a:pt x="815720" y="419100"/>
                  </a:lnTo>
                  <a:close/>
                </a:path>
                <a:path w="3145154" h="1511300">
                  <a:moveTo>
                    <a:pt x="769112" y="406400"/>
                  </a:moveTo>
                  <a:lnTo>
                    <a:pt x="756157" y="419100"/>
                  </a:lnTo>
                  <a:lnTo>
                    <a:pt x="768857" y="419100"/>
                  </a:lnTo>
                  <a:lnTo>
                    <a:pt x="769112" y="406400"/>
                  </a:lnTo>
                  <a:close/>
                </a:path>
                <a:path w="3145154" h="1511300">
                  <a:moveTo>
                    <a:pt x="832357" y="406400"/>
                  </a:moveTo>
                  <a:lnTo>
                    <a:pt x="781812" y="406400"/>
                  </a:lnTo>
                  <a:lnTo>
                    <a:pt x="768857" y="419100"/>
                  </a:lnTo>
                  <a:lnTo>
                    <a:pt x="817880" y="419100"/>
                  </a:lnTo>
                  <a:lnTo>
                    <a:pt x="832357" y="406400"/>
                  </a:lnTo>
                  <a:close/>
                </a:path>
                <a:path w="3145154" h="1511300">
                  <a:moveTo>
                    <a:pt x="848106" y="406400"/>
                  </a:moveTo>
                  <a:lnTo>
                    <a:pt x="832357" y="406400"/>
                  </a:lnTo>
                  <a:lnTo>
                    <a:pt x="829818" y="419100"/>
                  </a:lnTo>
                  <a:lnTo>
                    <a:pt x="848106" y="406400"/>
                  </a:lnTo>
                  <a:close/>
                </a:path>
                <a:path w="3145154" h="1511300">
                  <a:moveTo>
                    <a:pt x="868680" y="381000"/>
                  </a:moveTo>
                  <a:lnTo>
                    <a:pt x="810513" y="381000"/>
                  </a:lnTo>
                  <a:lnTo>
                    <a:pt x="796036" y="393700"/>
                  </a:lnTo>
                  <a:lnTo>
                    <a:pt x="798194" y="393700"/>
                  </a:lnTo>
                  <a:lnTo>
                    <a:pt x="782701" y="406400"/>
                  </a:lnTo>
                  <a:lnTo>
                    <a:pt x="850645" y="406400"/>
                  </a:lnTo>
                  <a:lnTo>
                    <a:pt x="868680" y="381000"/>
                  </a:lnTo>
                  <a:close/>
                </a:path>
                <a:path w="3145154" h="1511300">
                  <a:moveTo>
                    <a:pt x="885444" y="381000"/>
                  </a:moveTo>
                  <a:lnTo>
                    <a:pt x="868680" y="381000"/>
                  </a:lnTo>
                  <a:lnTo>
                    <a:pt x="866013" y="393700"/>
                  </a:lnTo>
                  <a:lnTo>
                    <a:pt x="885444" y="381000"/>
                  </a:lnTo>
                  <a:close/>
                </a:path>
                <a:path w="3145154" h="1511300">
                  <a:moveTo>
                    <a:pt x="908303" y="368300"/>
                  </a:moveTo>
                  <a:lnTo>
                    <a:pt x="831341" y="368300"/>
                  </a:lnTo>
                  <a:lnTo>
                    <a:pt x="813053" y="381000"/>
                  </a:lnTo>
                  <a:lnTo>
                    <a:pt x="887476" y="381000"/>
                  </a:lnTo>
                  <a:lnTo>
                    <a:pt x="908303" y="368300"/>
                  </a:lnTo>
                  <a:close/>
                </a:path>
                <a:path w="3145154" h="1511300">
                  <a:moveTo>
                    <a:pt x="946403" y="342900"/>
                  </a:moveTo>
                  <a:lnTo>
                    <a:pt x="868933" y="342900"/>
                  </a:lnTo>
                  <a:lnTo>
                    <a:pt x="849502" y="355600"/>
                  </a:lnTo>
                  <a:lnTo>
                    <a:pt x="846836" y="355600"/>
                  </a:lnTo>
                  <a:lnTo>
                    <a:pt x="828801" y="368300"/>
                  </a:lnTo>
                  <a:lnTo>
                    <a:pt x="906526" y="368300"/>
                  </a:lnTo>
                  <a:lnTo>
                    <a:pt x="925576" y="355600"/>
                  </a:lnTo>
                  <a:lnTo>
                    <a:pt x="946403" y="342900"/>
                  </a:lnTo>
                  <a:close/>
                </a:path>
                <a:path w="3145154" h="1511300">
                  <a:moveTo>
                    <a:pt x="964311" y="330200"/>
                  </a:moveTo>
                  <a:lnTo>
                    <a:pt x="887857" y="330200"/>
                  </a:lnTo>
                  <a:lnTo>
                    <a:pt x="866901" y="342900"/>
                  </a:lnTo>
                  <a:lnTo>
                    <a:pt x="947293" y="342900"/>
                  </a:lnTo>
                  <a:lnTo>
                    <a:pt x="964311" y="330200"/>
                  </a:lnTo>
                  <a:close/>
                </a:path>
                <a:path w="3145154" h="1511300">
                  <a:moveTo>
                    <a:pt x="979805" y="317500"/>
                  </a:moveTo>
                  <a:lnTo>
                    <a:pt x="908812" y="317500"/>
                  </a:lnTo>
                  <a:lnTo>
                    <a:pt x="889634" y="330200"/>
                  </a:lnTo>
                  <a:lnTo>
                    <a:pt x="961008" y="330200"/>
                  </a:lnTo>
                  <a:lnTo>
                    <a:pt x="979805" y="317500"/>
                  </a:lnTo>
                  <a:close/>
                </a:path>
                <a:path w="3145154" h="1511300">
                  <a:moveTo>
                    <a:pt x="997584" y="304800"/>
                  </a:moveTo>
                  <a:lnTo>
                    <a:pt x="928243" y="304800"/>
                  </a:lnTo>
                  <a:lnTo>
                    <a:pt x="908050" y="317500"/>
                  </a:lnTo>
                  <a:lnTo>
                    <a:pt x="983614" y="317500"/>
                  </a:lnTo>
                  <a:lnTo>
                    <a:pt x="997584" y="304800"/>
                  </a:lnTo>
                  <a:close/>
                </a:path>
                <a:path w="3145154" h="1511300">
                  <a:moveTo>
                    <a:pt x="1025270" y="292100"/>
                  </a:moveTo>
                  <a:lnTo>
                    <a:pt x="947419" y="292100"/>
                  </a:lnTo>
                  <a:lnTo>
                    <a:pt x="944244" y="304800"/>
                  </a:lnTo>
                  <a:lnTo>
                    <a:pt x="1009395" y="304800"/>
                  </a:lnTo>
                  <a:lnTo>
                    <a:pt x="1025270" y="292100"/>
                  </a:lnTo>
                  <a:close/>
                </a:path>
                <a:path w="3145154" h="1511300">
                  <a:moveTo>
                    <a:pt x="1062989" y="279400"/>
                  </a:moveTo>
                  <a:lnTo>
                    <a:pt x="976376" y="279400"/>
                  </a:lnTo>
                  <a:lnTo>
                    <a:pt x="962278" y="292100"/>
                  </a:lnTo>
                  <a:lnTo>
                    <a:pt x="1045337" y="292100"/>
                  </a:lnTo>
                  <a:lnTo>
                    <a:pt x="1062989" y="279400"/>
                  </a:lnTo>
                  <a:close/>
                </a:path>
                <a:path w="3145154" h="1511300">
                  <a:moveTo>
                    <a:pt x="1088644" y="266700"/>
                  </a:moveTo>
                  <a:lnTo>
                    <a:pt x="995426" y="266700"/>
                  </a:lnTo>
                  <a:lnTo>
                    <a:pt x="979932" y="279400"/>
                  </a:lnTo>
                  <a:lnTo>
                    <a:pt x="1087882" y="279400"/>
                  </a:lnTo>
                  <a:lnTo>
                    <a:pt x="1088644" y="266700"/>
                  </a:lnTo>
                  <a:close/>
                </a:path>
                <a:path w="3145154" h="1511300">
                  <a:moveTo>
                    <a:pt x="1140078" y="254000"/>
                  </a:moveTo>
                  <a:lnTo>
                    <a:pt x="1032763" y="254000"/>
                  </a:lnTo>
                  <a:lnTo>
                    <a:pt x="1010793" y="266700"/>
                  </a:lnTo>
                  <a:lnTo>
                    <a:pt x="1118489" y="266700"/>
                  </a:lnTo>
                  <a:lnTo>
                    <a:pt x="1140078" y="254000"/>
                  </a:lnTo>
                  <a:close/>
                </a:path>
                <a:path w="3145154" h="1511300">
                  <a:moveTo>
                    <a:pt x="1181353" y="241300"/>
                  </a:moveTo>
                  <a:lnTo>
                    <a:pt x="1076197" y="241300"/>
                  </a:lnTo>
                  <a:lnTo>
                    <a:pt x="1052068" y="254000"/>
                  </a:lnTo>
                  <a:lnTo>
                    <a:pt x="1178559" y="254000"/>
                  </a:lnTo>
                  <a:lnTo>
                    <a:pt x="1181353" y="241300"/>
                  </a:lnTo>
                  <a:close/>
                </a:path>
                <a:path w="3145154" h="1511300">
                  <a:moveTo>
                    <a:pt x="1248409" y="228600"/>
                  </a:moveTo>
                  <a:lnTo>
                    <a:pt x="1091945" y="228600"/>
                  </a:lnTo>
                  <a:lnTo>
                    <a:pt x="1075436" y="241300"/>
                  </a:lnTo>
                  <a:lnTo>
                    <a:pt x="1225295" y="241300"/>
                  </a:lnTo>
                  <a:lnTo>
                    <a:pt x="1248409" y="228600"/>
                  </a:lnTo>
                  <a:close/>
                </a:path>
                <a:path w="3145154" h="1511300">
                  <a:moveTo>
                    <a:pt x="1297051" y="215900"/>
                  </a:moveTo>
                  <a:lnTo>
                    <a:pt x="1147826" y="215900"/>
                  </a:lnTo>
                  <a:lnTo>
                    <a:pt x="1130553" y="228600"/>
                  </a:lnTo>
                  <a:lnTo>
                    <a:pt x="1273683" y="228600"/>
                  </a:lnTo>
                  <a:lnTo>
                    <a:pt x="1297051" y="215900"/>
                  </a:lnTo>
                  <a:close/>
                </a:path>
                <a:path w="3145154" h="1511300">
                  <a:moveTo>
                    <a:pt x="1346327" y="203200"/>
                  </a:moveTo>
                  <a:lnTo>
                    <a:pt x="1192911" y="203200"/>
                  </a:lnTo>
                  <a:lnTo>
                    <a:pt x="1170686" y="215900"/>
                  </a:lnTo>
                  <a:lnTo>
                    <a:pt x="1345564" y="215900"/>
                  </a:lnTo>
                  <a:lnTo>
                    <a:pt x="1346327" y="203200"/>
                  </a:lnTo>
                  <a:close/>
                </a:path>
                <a:path w="3145154" h="1511300">
                  <a:moveTo>
                    <a:pt x="1410208" y="190500"/>
                  </a:moveTo>
                  <a:lnTo>
                    <a:pt x="1240408" y="190500"/>
                  </a:lnTo>
                  <a:lnTo>
                    <a:pt x="1217421" y="203200"/>
                  </a:lnTo>
                  <a:lnTo>
                    <a:pt x="1387983" y="203200"/>
                  </a:lnTo>
                  <a:lnTo>
                    <a:pt x="1410208" y="190500"/>
                  </a:lnTo>
                  <a:close/>
                </a:path>
                <a:path w="3145154" h="1511300">
                  <a:moveTo>
                    <a:pt x="1478661" y="177800"/>
                  </a:moveTo>
                  <a:lnTo>
                    <a:pt x="1312671" y="177800"/>
                  </a:lnTo>
                  <a:lnTo>
                    <a:pt x="1289684" y="190500"/>
                  </a:lnTo>
                  <a:lnTo>
                    <a:pt x="1455546" y="190500"/>
                  </a:lnTo>
                  <a:lnTo>
                    <a:pt x="1478661" y="177800"/>
                  </a:lnTo>
                  <a:close/>
                </a:path>
                <a:path w="3145154" h="1511300">
                  <a:moveTo>
                    <a:pt x="1561083" y="165100"/>
                  </a:moveTo>
                  <a:lnTo>
                    <a:pt x="1357502" y="165100"/>
                  </a:lnTo>
                  <a:lnTo>
                    <a:pt x="1337690" y="177800"/>
                  </a:lnTo>
                  <a:lnTo>
                    <a:pt x="1535811" y="177800"/>
                  </a:lnTo>
                  <a:lnTo>
                    <a:pt x="1561083" y="165100"/>
                  </a:lnTo>
                  <a:close/>
                </a:path>
                <a:path w="3145154" h="1511300">
                  <a:moveTo>
                    <a:pt x="1663319" y="152400"/>
                  </a:moveTo>
                  <a:lnTo>
                    <a:pt x="1422653" y="152400"/>
                  </a:lnTo>
                  <a:lnTo>
                    <a:pt x="1402461" y="165100"/>
                  </a:lnTo>
                  <a:lnTo>
                    <a:pt x="1637791" y="165100"/>
                  </a:lnTo>
                  <a:lnTo>
                    <a:pt x="1663319" y="152400"/>
                  </a:lnTo>
                  <a:close/>
                </a:path>
                <a:path w="3145154" h="1511300">
                  <a:moveTo>
                    <a:pt x="1760474" y="139700"/>
                  </a:moveTo>
                  <a:lnTo>
                    <a:pt x="1496314" y="139700"/>
                  </a:lnTo>
                  <a:lnTo>
                    <a:pt x="1473200" y="152400"/>
                  </a:lnTo>
                  <a:lnTo>
                    <a:pt x="1734820" y="152400"/>
                  </a:lnTo>
                  <a:lnTo>
                    <a:pt x="1760474" y="139700"/>
                  </a:lnTo>
                  <a:close/>
                </a:path>
                <a:path w="3145154" h="1511300">
                  <a:moveTo>
                    <a:pt x="1863725" y="127000"/>
                  </a:moveTo>
                  <a:lnTo>
                    <a:pt x="1587753" y="127000"/>
                  </a:lnTo>
                  <a:lnTo>
                    <a:pt x="1556003" y="139700"/>
                  </a:lnTo>
                  <a:lnTo>
                    <a:pt x="1837055" y="139700"/>
                  </a:lnTo>
                  <a:lnTo>
                    <a:pt x="1863725" y="127000"/>
                  </a:lnTo>
                  <a:close/>
                </a:path>
                <a:path w="3145154" h="1511300">
                  <a:moveTo>
                    <a:pt x="2028443" y="114300"/>
                  </a:moveTo>
                  <a:lnTo>
                    <a:pt x="1681099" y="114300"/>
                  </a:lnTo>
                  <a:lnTo>
                    <a:pt x="1657984" y="127000"/>
                  </a:lnTo>
                  <a:lnTo>
                    <a:pt x="2002663" y="127000"/>
                  </a:lnTo>
                  <a:lnTo>
                    <a:pt x="2028443" y="114300"/>
                  </a:lnTo>
                  <a:close/>
                </a:path>
                <a:path w="3145154" h="1511300">
                  <a:moveTo>
                    <a:pt x="2188591" y="101600"/>
                  </a:moveTo>
                  <a:lnTo>
                    <a:pt x="1779651" y="101600"/>
                  </a:lnTo>
                  <a:lnTo>
                    <a:pt x="1731009" y="114300"/>
                  </a:lnTo>
                  <a:lnTo>
                    <a:pt x="2170176" y="114300"/>
                  </a:lnTo>
                  <a:lnTo>
                    <a:pt x="2188591" y="101600"/>
                  </a:lnTo>
                  <a:close/>
                </a:path>
                <a:path w="3145154" h="1511300">
                  <a:moveTo>
                    <a:pt x="2369312" y="88900"/>
                  </a:moveTo>
                  <a:lnTo>
                    <a:pt x="1907794" y="88900"/>
                  </a:lnTo>
                  <a:lnTo>
                    <a:pt x="1882266" y="101600"/>
                  </a:lnTo>
                  <a:lnTo>
                    <a:pt x="2343785" y="101600"/>
                  </a:lnTo>
                  <a:lnTo>
                    <a:pt x="2369312" y="88900"/>
                  </a:lnTo>
                  <a:close/>
                </a:path>
                <a:path w="3145154" h="1511300">
                  <a:moveTo>
                    <a:pt x="2461641" y="76200"/>
                  </a:moveTo>
                  <a:lnTo>
                    <a:pt x="2065274" y="76200"/>
                  </a:lnTo>
                  <a:lnTo>
                    <a:pt x="2042922" y="88900"/>
                  </a:lnTo>
                  <a:lnTo>
                    <a:pt x="2441829" y="88900"/>
                  </a:lnTo>
                  <a:lnTo>
                    <a:pt x="2461641" y="76200"/>
                  </a:lnTo>
                  <a:close/>
                </a:path>
                <a:path w="3145154" h="1511300">
                  <a:moveTo>
                    <a:pt x="2556383" y="63500"/>
                  </a:moveTo>
                  <a:lnTo>
                    <a:pt x="2220214" y="63500"/>
                  </a:lnTo>
                  <a:lnTo>
                    <a:pt x="2200783" y="76200"/>
                  </a:lnTo>
                  <a:lnTo>
                    <a:pt x="2539746" y="76200"/>
                  </a:lnTo>
                  <a:lnTo>
                    <a:pt x="2556383" y="63500"/>
                  </a:lnTo>
                  <a:close/>
                </a:path>
                <a:path w="3145154" h="1511300">
                  <a:moveTo>
                    <a:pt x="2849626" y="50800"/>
                  </a:moveTo>
                  <a:lnTo>
                    <a:pt x="2362962" y="50800"/>
                  </a:lnTo>
                  <a:lnTo>
                    <a:pt x="2337435" y="63500"/>
                  </a:lnTo>
                  <a:lnTo>
                    <a:pt x="2830067" y="63500"/>
                  </a:lnTo>
                  <a:lnTo>
                    <a:pt x="2849626" y="50800"/>
                  </a:lnTo>
                  <a:close/>
                </a:path>
                <a:path w="3145154" h="1511300">
                  <a:moveTo>
                    <a:pt x="2941192" y="38100"/>
                  </a:moveTo>
                  <a:lnTo>
                    <a:pt x="2478278" y="38100"/>
                  </a:lnTo>
                  <a:lnTo>
                    <a:pt x="2456053" y="50800"/>
                  </a:lnTo>
                  <a:lnTo>
                    <a:pt x="2922524" y="50800"/>
                  </a:lnTo>
                  <a:lnTo>
                    <a:pt x="2941192" y="38100"/>
                  </a:lnTo>
                  <a:close/>
                </a:path>
                <a:path w="3145154" h="1511300">
                  <a:moveTo>
                    <a:pt x="3005328" y="25400"/>
                  </a:moveTo>
                  <a:lnTo>
                    <a:pt x="2698115" y="25400"/>
                  </a:lnTo>
                  <a:lnTo>
                    <a:pt x="2679065" y="38100"/>
                  </a:lnTo>
                  <a:lnTo>
                    <a:pt x="2997327" y="38100"/>
                  </a:lnTo>
                  <a:lnTo>
                    <a:pt x="3005328" y="25400"/>
                  </a:lnTo>
                  <a:close/>
                </a:path>
                <a:path w="3145154" h="1511300">
                  <a:moveTo>
                    <a:pt x="3011931" y="25400"/>
                  </a:moveTo>
                  <a:lnTo>
                    <a:pt x="3005328" y="25400"/>
                  </a:lnTo>
                  <a:lnTo>
                    <a:pt x="2999740" y="38100"/>
                  </a:lnTo>
                  <a:lnTo>
                    <a:pt x="3011931" y="25400"/>
                  </a:lnTo>
                  <a:close/>
                </a:path>
                <a:path w="3145154" h="1511300">
                  <a:moveTo>
                    <a:pt x="3145028" y="0"/>
                  </a:moveTo>
                  <a:lnTo>
                    <a:pt x="2947669" y="0"/>
                  </a:lnTo>
                  <a:lnTo>
                    <a:pt x="2934335" y="12700"/>
                  </a:lnTo>
                  <a:lnTo>
                    <a:pt x="3110103" y="12700"/>
                  </a:lnTo>
                  <a:lnTo>
                    <a:pt x="3123311" y="25400"/>
                  </a:lnTo>
                  <a:lnTo>
                    <a:pt x="3110103" y="25400"/>
                  </a:lnTo>
                  <a:lnTo>
                    <a:pt x="3117977" y="38100"/>
                  </a:lnTo>
                  <a:lnTo>
                    <a:pt x="3137154" y="38100"/>
                  </a:lnTo>
                  <a:lnTo>
                    <a:pt x="3145028" y="25400"/>
                  </a:lnTo>
                  <a:lnTo>
                    <a:pt x="3123311" y="25400"/>
                  </a:lnTo>
                  <a:lnTo>
                    <a:pt x="3110103" y="12700"/>
                  </a:lnTo>
                  <a:lnTo>
                    <a:pt x="3145028" y="12700"/>
                  </a:lnTo>
                  <a:lnTo>
                    <a:pt x="3145028" y="0"/>
                  </a:lnTo>
                  <a:close/>
                </a:path>
                <a:path w="3145154" h="1511300">
                  <a:moveTo>
                    <a:pt x="3110103" y="12700"/>
                  </a:moveTo>
                  <a:lnTo>
                    <a:pt x="2862326" y="12700"/>
                  </a:lnTo>
                  <a:lnTo>
                    <a:pt x="2845054" y="25400"/>
                  </a:lnTo>
                  <a:lnTo>
                    <a:pt x="3110103" y="25400"/>
                  </a:lnTo>
                  <a:lnTo>
                    <a:pt x="3110103" y="127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1070" y="3979672"/>
              <a:ext cx="719455" cy="16129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23975" y="1600200"/>
              <a:ext cx="4171950" cy="18383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2561" y="3112897"/>
              <a:ext cx="614171" cy="25374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57670" y="3117088"/>
              <a:ext cx="1052576" cy="2222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13220" y="3125724"/>
              <a:ext cx="271930" cy="1996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03329" y="3075050"/>
              <a:ext cx="603688" cy="28968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51651" y="3447414"/>
              <a:ext cx="375920" cy="20701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23350" y="3453129"/>
              <a:ext cx="1065000" cy="190500"/>
            </a:xfrm>
            <a:prstGeom prst="rect">
              <a:avLst/>
            </a:prstGeom>
          </p:spPr>
        </p:pic>
      </p:grp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7B131DF3-8BBA-35EE-747C-7B49D2A7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PS" smtClean="0"/>
              <a:t>56</a:t>
            </a:fld>
            <a:endParaRPr lang="en-P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5343</TotalTime>
  <Words>4035</Words>
  <Application>Microsoft Macintosh PowerPoint</Application>
  <PresentationFormat>On-screen Show (16:9)</PresentationFormat>
  <Paragraphs>712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Arial</vt:lpstr>
      <vt:lpstr>Arial MT</vt:lpstr>
      <vt:lpstr>Calibri</vt:lpstr>
      <vt:lpstr>Calibri Light</vt:lpstr>
      <vt:lpstr>Cambria Math</vt:lpstr>
      <vt:lpstr>Courier</vt:lpstr>
      <vt:lpstr>Courier New</vt:lpstr>
      <vt:lpstr>Gill Sans MT</vt:lpstr>
      <vt:lpstr>Google Sans</vt:lpstr>
      <vt:lpstr>Menlo</vt:lpstr>
      <vt:lpstr>OpenSans</vt:lpstr>
      <vt:lpstr>Times New Roman</vt:lpstr>
      <vt:lpstr>Verdana</vt:lpstr>
      <vt:lpstr>Wingdings</vt:lpstr>
      <vt:lpstr>Office Theme</vt:lpstr>
      <vt:lpstr>Linear Regression with multiple variables</vt:lpstr>
      <vt:lpstr>Content</vt:lpstr>
      <vt:lpstr>What is this module is all about ...</vt:lpstr>
      <vt:lpstr>Multiple Features (variables)</vt:lpstr>
      <vt:lpstr>Multiple features (variables) is an extension of single feature regression </vt:lpstr>
      <vt:lpstr>Multiple features (variables)</vt:lpstr>
      <vt:lpstr>Model with Multiple Features </vt:lpstr>
      <vt:lpstr>PowerPoint Presentation</vt:lpstr>
      <vt:lpstr>Question: </vt:lpstr>
      <vt:lpstr>   𝑓w,𝑏(x) = 𝑤1𝑥1 + 𝑤2𝑥2 +⋯ + 𝑤𝑛𝑥𝑛 + 𝑏</vt:lpstr>
      <vt:lpstr>PowerPoint Presentation</vt:lpstr>
      <vt:lpstr>What is Vectorization </vt:lpstr>
      <vt:lpstr>Benefits of vectorization</vt:lpstr>
      <vt:lpstr>Parameters and features with vectorization </vt:lpstr>
      <vt:lpstr>PowerPoint Presentation</vt:lpstr>
      <vt:lpstr>Question</vt:lpstr>
      <vt:lpstr>To conclude ...</vt:lpstr>
      <vt:lpstr>PowerPoint Presentation</vt:lpstr>
      <vt:lpstr>Without vectorization for loop</vt:lpstr>
      <vt:lpstr>Gradient descent with vectorization </vt:lpstr>
      <vt:lpstr>Question</vt:lpstr>
      <vt:lpstr>To conclude ...</vt:lpstr>
      <vt:lpstr>PowerPoint Presentation</vt:lpstr>
      <vt:lpstr>Vector notation</vt:lpstr>
      <vt:lpstr>Gradient descent</vt:lpstr>
      <vt:lpstr>An alternative to gradient descent</vt:lpstr>
      <vt:lpstr>To conclude ...</vt:lpstr>
      <vt:lpstr>PowerPoint Presentation</vt:lpstr>
      <vt:lpstr>Simple definiton of feature scaling </vt:lpstr>
      <vt:lpstr>Feature and parameter values</vt:lpstr>
      <vt:lpstr>What do we conclude</vt:lpstr>
      <vt:lpstr>Feature size and parameter size</vt:lpstr>
      <vt:lpstr>Feature size and gradient descent Features Parameters</vt:lpstr>
      <vt:lpstr>PowerPoint Presentation</vt:lpstr>
      <vt:lpstr>Feature scaling</vt:lpstr>
      <vt:lpstr>Mean normalization</vt:lpstr>
      <vt:lpstr>Z-score normalization</vt:lpstr>
      <vt:lpstr>Feature scaling</vt:lpstr>
      <vt:lpstr>To conclude ...</vt:lpstr>
      <vt:lpstr>PowerPoint Presentation</vt:lpstr>
      <vt:lpstr>Gradient descent</vt:lpstr>
      <vt:lpstr>PowerPoint Presentation</vt:lpstr>
      <vt:lpstr>Make sure gradient descent is working correctly</vt:lpstr>
      <vt:lpstr>Make sure gradient descent is working correctly</vt:lpstr>
      <vt:lpstr>to conclude ...</vt:lpstr>
      <vt:lpstr>PowerPoint Presentation</vt:lpstr>
      <vt:lpstr>Identify problem with gradient descent</vt:lpstr>
      <vt:lpstr>Identify problem with gradient descent</vt:lpstr>
      <vt:lpstr>Values of 𝛼 to try:</vt:lpstr>
      <vt:lpstr>PowerPoint Presentation</vt:lpstr>
      <vt:lpstr>Key objectives of feature engineering:</vt:lpstr>
      <vt:lpstr>Benefits of feature engineering:</vt:lpstr>
      <vt:lpstr>Feature engineering</vt:lpstr>
      <vt:lpstr>PowerPoint Presentation</vt:lpstr>
      <vt:lpstr>Polynomial regression</vt:lpstr>
      <vt:lpstr>Choice of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 with Multiple Variables</dc:title>
  <cp:lastModifiedBy>khalid Rabayah</cp:lastModifiedBy>
  <cp:revision>90</cp:revision>
  <dcterms:created xsi:type="dcterms:W3CDTF">2023-10-25T18:20:24Z</dcterms:created>
  <dcterms:modified xsi:type="dcterms:W3CDTF">2025-12-12T18:56:44Z</dcterms:modified>
</cp:coreProperties>
</file>