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46"/>
  </p:notesMasterIdLst>
  <p:sldIdLst>
    <p:sldId id="313" r:id="rId2"/>
    <p:sldId id="342" r:id="rId3"/>
    <p:sldId id="343" r:id="rId4"/>
    <p:sldId id="344" r:id="rId5"/>
    <p:sldId id="314" r:id="rId6"/>
    <p:sldId id="315" r:id="rId7"/>
    <p:sldId id="346" r:id="rId8"/>
    <p:sldId id="347" r:id="rId9"/>
    <p:sldId id="316" r:id="rId10"/>
    <p:sldId id="349" r:id="rId11"/>
    <p:sldId id="350" r:id="rId12"/>
    <p:sldId id="351" r:id="rId13"/>
    <p:sldId id="348" r:id="rId14"/>
    <p:sldId id="352" r:id="rId15"/>
    <p:sldId id="353" r:id="rId16"/>
    <p:sldId id="354" r:id="rId17"/>
    <p:sldId id="318" r:id="rId18"/>
    <p:sldId id="319" r:id="rId19"/>
    <p:sldId id="355" r:id="rId20"/>
    <p:sldId id="356" r:id="rId21"/>
    <p:sldId id="357" r:id="rId22"/>
    <p:sldId id="321" r:id="rId23"/>
    <p:sldId id="322" r:id="rId24"/>
    <p:sldId id="323" r:id="rId25"/>
    <p:sldId id="324" r:id="rId26"/>
    <p:sldId id="358" r:id="rId27"/>
    <p:sldId id="325" r:id="rId28"/>
    <p:sldId id="326" r:id="rId29"/>
    <p:sldId id="327" r:id="rId30"/>
    <p:sldId id="359"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Lst>
  <p:sldSz cx="9144000" cy="5143500" type="screen16x9"/>
  <p:notesSz cx="51435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56"/>
    <p:restoredTop sz="96608"/>
  </p:normalViewPr>
  <p:slideViewPr>
    <p:cSldViewPr>
      <p:cViewPr varScale="1">
        <p:scale>
          <a:sx n="163" d="100"/>
          <a:sy n="163" d="100"/>
        </p:scale>
        <p:origin x="1320" y="176"/>
      </p:cViewPr>
      <p:guideLst>
        <p:guide orient="horz" pos="2880"/>
        <p:guide pos="2160"/>
      </p:guideLst>
    </p:cSldViewPr>
  </p:slideViewPr>
  <p:notesTextViewPr>
    <p:cViewPr>
      <p:scale>
        <a:sx n="100" d="100"/>
        <a:sy n="100" d="100"/>
      </p:scale>
      <p:origin x="0" y="0"/>
    </p:cViewPr>
  </p:notesTextViewPr>
  <p:sorterViewPr>
    <p:cViewPr>
      <p:scale>
        <a:sx n="200" d="100"/>
        <a:sy n="200" d="100"/>
      </p:scale>
      <p:origin x="0" y="0"/>
    </p:cViewPr>
  </p:sorterViewPr>
  <p:notesViewPr>
    <p:cSldViewPr>
      <p:cViewPr varScale="1">
        <p:scale>
          <a:sx n="108" d="100"/>
          <a:sy n="108" d="100"/>
        </p:scale>
        <p:origin x="5888"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p:cNvSpPr>
            <a:spLocks noGrp="1"/>
          </p:cNvSpPr>
          <p:nvPr>
            <p:ph type="sldNum" sz="quarter" idx="5"/>
          </p:nvPr>
        </p:nvSpPr>
        <p:spPr>
          <a:xfrm>
            <a:off x="4629149" y="8686801"/>
            <a:ext cx="513457" cy="457200"/>
          </a:xfrm>
          <a:prstGeom prst="rect">
            <a:avLst/>
          </a:prstGeom>
        </p:spPr>
        <p:txBody>
          <a:bodyPr vert="horz" lIns="91440" tIns="45720" rIns="91440" bIns="45720" rtlCol="0" anchor="b"/>
          <a:lstStyle>
            <a:lvl1pPr algn="r">
              <a:defRPr sz="1200"/>
            </a:lvl1pPr>
          </a:lstStyle>
          <a:p>
            <a:fld id="{1CF3B25D-B887-DA4F-BF83-10AF44A2CD22}" type="slidenum">
              <a:rPr lang="en-PS" smtClean="0"/>
              <a:t>‹#›</a:t>
            </a:fld>
            <a:endParaRPr lang="en-PS"/>
          </a:p>
        </p:txBody>
      </p:sp>
      <p:sp>
        <p:nvSpPr>
          <p:cNvPr id="8" name="Slide Image Placeholder 7">
            <a:extLst>
              <a:ext uri="{FF2B5EF4-FFF2-40B4-BE49-F238E27FC236}">
                <a16:creationId xmlns:a16="http://schemas.microsoft.com/office/drawing/2014/main" id="{74147DBB-1C86-6932-3AFD-9CB1E5E2D654}"/>
              </a:ext>
            </a:extLst>
          </p:cNvPr>
          <p:cNvSpPr>
            <a:spLocks noGrp="1" noRot="1" noChangeAspect="1"/>
          </p:cNvSpPr>
          <p:nvPr>
            <p:ph type="sldImg" idx="2"/>
          </p:nvPr>
        </p:nvSpPr>
        <p:spPr>
          <a:xfrm>
            <a:off x="-171450" y="304800"/>
            <a:ext cx="5486400" cy="3087688"/>
          </a:xfrm>
          <a:prstGeom prst="rect">
            <a:avLst/>
          </a:prstGeom>
          <a:noFill/>
          <a:ln w="12700">
            <a:solidFill>
              <a:prstClr val="black"/>
            </a:solidFill>
          </a:ln>
        </p:spPr>
        <p:txBody>
          <a:bodyPr vert="horz" lIns="91440" tIns="45720" rIns="91440" bIns="45720" rtlCol="0" anchor="ctr"/>
          <a:lstStyle/>
          <a:p>
            <a:endParaRPr lang="en-PS"/>
          </a:p>
        </p:txBody>
      </p:sp>
      <p:sp>
        <p:nvSpPr>
          <p:cNvPr id="9" name="Notes Placeholder 8">
            <a:extLst>
              <a:ext uri="{FF2B5EF4-FFF2-40B4-BE49-F238E27FC236}">
                <a16:creationId xmlns:a16="http://schemas.microsoft.com/office/drawing/2014/main" id="{93BC2C60-BA35-55CB-30F4-83D4209E9228}"/>
              </a:ext>
            </a:extLst>
          </p:cNvPr>
          <p:cNvSpPr>
            <a:spLocks noGrp="1"/>
          </p:cNvSpPr>
          <p:nvPr>
            <p:ph type="body" sz="quarter" idx="3"/>
          </p:nvPr>
        </p:nvSpPr>
        <p:spPr>
          <a:xfrm>
            <a:off x="285750" y="3581400"/>
            <a:ext cx="4572000" cy="51054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Tree>
    <p:extLst>
      <p:ext uri="{BB962C8B-B14F-4D97-AF65-F5344CB8AC3E}">
        <p14:creationId xmlns:p14="http://schemas.microsoft.com/office/powerpoint/2010/main" val="328422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FB4B4-A119-0896-EA5D-2221957B0A8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PS"/>
          </a:p>
        </p:txBody>
      </p:sp>
      <p:sp>
        <p:nvSpPr>
          <p:cNvPr id="3" name="Subtitle 2">
            <a:extLst>
              <a:ext uri="{FF2B5EF4-FFF2-40B4-BE49-F238E27FC236}">
                <a16:creationId xmlns:a16="http://schemas.microsoft.com/office/drawing/2014/main" id="{B717C170-724D-B939-929C-5FB7C9DADA6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7791F1DF-0809-8D17-732E-6CCBDBA8BF5A}"/>
              </a:ext>
            </a:extLst>
          </p:cNvPr>
          <p:cNvSpPr>
            <a:spLocks noGrp="1"/>
          </p:cNvSpPr>
          <p:nvPr>
            <p:ph type="dt" sz="half" idx="10"/>
          </p:nvPr>
        </p:nvSpPr>
        <p:spPr/>
        <p:txBody>
          <a:bodyPr/>
          <a:lstStyle/>
          <a:p>
            <a:fld id="{73D05B5C-FFE3-4F4F-8142-84595928DAC9}" type="datetime1">
              <a:rPr lang="en-US" smtClean="0"/>
              <a:t>11/28/25</a:t>
            </a:fld>
            <a:endParaRPr lang="en-US"/>
          </a:p>
        </p:txBody>
      </p:sp>
      <p:sp>
        <p:nvSpPr>
          <p:cNvPr id="5" name="Footer Placeholder 4">
            <a:extLst>
              <a:ext uri="{FF2B5EF4-FFF2-40B4-BE49-F238E27FC236}">
                <a16:creationId xmlns:a16="http://schemas.microsoft.com/office/drawing/2014/main" id="{07BE5F3E-ABEF-9710-2680-22BD1ADCE421}"/>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075ED2DF-BECD-6952-D05A-D944FEEB1E79}"/>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1413275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C3A90-311F-C973-2254-AACE3EAB71F1}"/>
              </a:ext>
            </a:extLst>
          </p:cNvPr>
          <p:cNvSpPr>
            <a:spLocks noGrp="1"/>
          </p:cNvSpPr>
          <p:nvPr>
            <p:ph type="title"/>
          </p:nvPr>
        </p:nvSpPr>
        <p:spPr/>
        <p:txBody>
          <a:bodyPr/>
          <a:lstStyle>
            <a:lvl1pPr>
              <a:defRPr>
                <a:latin typeface="Gill Sans MT" panose="020B0502020104020203" pitchFamily="34" charset="77"/>
              </a:defRPr>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0D18F7F5-53D5-4550-27CF-DAB84C83E60E}"/>
              </a:ext>
            </a:extLst>
          </p:cNvPr>
          <p:cNvSpPr>
            <a:spLocks noGrp="1"/>
          </p:cNvSpPr>
          <p:nvPr>
            <p:ph idx="1"/>
          </p:nvPr>
        </p:nvSpPr>
        <p:spPr/>
        <p:txBody>
          <a:bodyPr/>
          <a:lstStyle>
            <a:lvl1pPr>
              <a:defRPr>
                <a:latin typeface="Gill Sans MT" panose="020B0502020104020203" pitchFamily="34" charset="77"/>
              </a:defRPr>
            </a:lvl1pPr>
            <a:lvl2pPr>
              <a:defRPr>
                <a:latin typeface="Gill Sans MT" panose="020B0502020104020203" pitchFamily="34" charset="77"/>
              </a:defRPr>
            </a:lvl2pPr>
            <a:lvl3pPr>
              <a:defRPr>
                <a:latin typeface="Gill Sans MT" panose="020B0502020104020203" pitchFamily="34" charset="77"/>
              </a:defRPr>
            </a:lvl3pPr>
            <a:lvl4pPr>
              <a:defRPr>
                <a:latin typeface="Gill Sans MT" panose="020B0502020104020203" pitchFamily="34" charset="77"/>
              </a:defRPr>
            </a:lvl4pPr>
            <a:lvl5pPr>
              <a:defRPr>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40C8F112-0041-9EA8-EF9E-B42F6E8A5CF4}"/>
              </a:ext>
            </a:extLst>
          </p:cNvPr>
          <p:cNvSpPr>
            <a:spLocks noGrp="1"/>
          </p:cNvSpPr>
          <p:nvPr>
            <p:ph type="dt" sz="half" idx="10"/>
          </p:nvPr>
        </p:nvSpPr>
        <p:spPr/>
        <p:txBody>
          <a:bodyPr/>
          <a:lstStyle>
            <a:lvl1pPr>
              <a:defRPr>
                <a:latin typeface="Gill Sans MT" panose="020B0502020104020203" pitchFamily="34" charset="77"/>
              </a:defRPr>
            </a:lvl1pPr>
          </a:lstStyle>
          <a:p>
            <a:fld id="{6B081449-A2E2-374F-9C49-73F6DE445856}" type="datetime1">
              <a:rPr lang="en-US" smtClean="0"/>
              <a:pPr/>
              <a:t>11/28/25</a:t>
            </a:fld>
            <a:endParaRPr lang="en-US"/>
          </a:p>
        </p:txBody>
      </p:sp>
      <p:sp>
        <p:nvSpPr>
          <p:cNvPr id="5" name="Footer Placeholder 4">
            <a:extLst>
              <a:ext uri="{FF2B5EF4-FFF2-40B4-BE49-F238E27FC236}">
                <a16:creationId xmlns:a16="http://schemas.microsoft.com/office/drawing/2014/main" id="{C581178E-9726-818C-CB37-2B9D3BCCFC98}"/>
              </a:ext>
            </a:extLst>
          </p:cNvPr>
          <p:cNvSpPr>
            <a:spLocks noGrp="1"/>
          </p:cNvSpPr>
          <p:nvPr>
            <p:ph type="ftr" sz="quarter" idx="11"/>
          </p:nvPr>
        </p:nvSpPr>
        <p:spPr/>
        <p:txBody>
          <a:bodyPr/>
          <a:lstStyle>
            <a:lvl1pPr>
              <a:defRPr>
                <a:latin typeface="Gill Sans MT" panose="020B0502020104020203" pitchFamily="34" charset="77"/>
              </a:defRPr>
            </a:lvl1p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2A396BE7-4266-B9AF-3F0E-911B0A324330}"/>
              </a:ext>
            </a:extLst>
          </p:cNvPr>
          <p:cNvSpPr>
            <a:spLocks noGrp="1"/>
          </p:cNvSpPr>
          <p:nvPr>
            <p:ph type="sldNum" sz="quarter" idx="12"/>
          </p:nvPr>
        </p:nvSpPr>
        <p:spPr/>
        <p:txBody>
          <a:bodyPr/>
          <a:lstStyle>
            <a:lvl1pPr>
              <a:defRPr>
                <a:latin typeface="Gill Sans MT" panose="020B0502020104020203" pitchFamily="34" charset="77"/>
              </a:defRPr>
            </a:lvl1pPr>
          </a:lstStyle>
          <a:p>
            <a:fld id="{B6F15528-21DE-4FAA-801E-634DDDAF4B2B}" type="slidenum">
              <a:rPr lang="en-PS" smtClean="0"/>
              <a:pPr/>
              <a:t>‹#›</a:t>
            </a:fld>
            <a:endParaRPr lang="en-PS"/>
          </a:p>
        </p:txBody>
      </p:sp>
    </p:spTree>
    <p:extLst>
      <p:ext uri="{BB962C8B-B14F-4D97-AF65-F5344CB8AC3E}">
        <p14:creationId xmlns:p14="http://schemas.microsoft.com/office/powerpoint/2010/main" val="2152627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14FB-411C-282A-A85A-F2E0B9C7729E}"/>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C686C948-5742-BF2C-18C5-8B4045D64A2F}"/>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AA6147-6D4C-5220-0CF8-FA7D435DB874}"/>
              </a:ext>
            </a:extLst>
          </p:cNvPr>
          <p:cNvSpPr>
            <a:spLocks noGrp="1"/>
          </p:cNvSpPr>
          <p:nvPr>
            <p:ph type="dt" sz="half" idx="10"/>
          </p:nvPr>
        </p:nvSpPr>
        <p:spPr/>
        <p:txBody>
          <a:bodyPr/>
          <a:lstStyle/>
          <a:p>
            <a:fld id="{A79587F9-E036-6541-8CD2-31E3F9384058}" type="datetime1">
              <a:rPr lang="en-US" smtClean="0"/>
              <a:t>11/28/25</a:t>
            </a:fld>
            <a:endParaRPr lang="en-US"/>
          </a:p>
        </p:txBody>
      </p:sp>
      <p:sp>
        <p:nvSpPr>
          <p:cNvPr id="5" name="Footer Placeholder 4">
            <a:extLst>
              <a:ext uri="{FF2B5EF4-FFF2-40B4-BE49-F238E27FC236}">
                <a16:creationId xmlns:a16="http://schemas.microsoft.com/office/drawing/2014/main" id="{E0ADFFC6-37FE-7F4B-1C7D-DBE02D1DD8FC}"/>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5E2BDB46-70D6-3BD3-2237-46B9F9EC347B}"/>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72102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D1BB-34A1-43F0-87AA-237254823823}"/>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858EE72F-0B85-3733-405D-3E05B10AC045}"/>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4FC92CFD-308C-017C-FFBA-53087211BA2D}"/>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0D63EC08-8955-93A1-E3D9-DF7DA8DB0255}"/>
              </a:ext>
            </a:extLst>
          </p:cNvPr>
          <p:cNvSpPr>
            <a:spLocks noGrp="1"/>
          </p:cNvSpPr>
          <p:nvPr>
            <p:ph type="dt" sz="half" idx="10"/>
          </p:nvPr>
        </p:nvSpPr>
        <p:spPr/>
        <p:txBody>
          <a:bodyPr/>
          <a:lstStyle/>
          <a:p>
            <a:fld id="{4ADCA7AA-652C-E444-A4B1-1D34676555B7}" type="datetime1">
              <a:rPr lang="en-US" smtClean="0"/>
              <a:t>11/28/25</a:t>
            </a:fld>
            <a:endParaRPr lang="en-US"/>
          </a:p>
        </p:txBody>
      </p:sp>
      <p:sp>
        <p:nvSpPr>
          <p:cNvPr id="6" name="Footer Placeholder 5">
            <a:extLst>
              <a:ext uri="{FF2B5EF4-FFF2-40B4-BE49-F238E27FC236}">
                <a16:creationId xmlns:a16="http://schemas.microsoft.com/office/drawing/2014/main" id="{DC06364E-74ED-DC93-6CD1-E332CE93BB63}"/>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7" name="Slide Number Placeholder 6">
            <a:extLst>
              <a:ext uri="{FF2B5EF4-FFF2-40B4-BE49-F238E27FC236}">
                <a16:creationId xmlns:a16="http://schemas.microsoft.com/office/drawing/2014/main" id="{F1583AD1-A480-063A-DD31-52C8E9B272A3}"/>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1905992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E1DE2-85BE-E014-B783-1C7C51D6FBA0}"/>
              </a:ext>
            </a:extLst>
          </p:cNvPr>
          <p:cNvSpPr>
            <a:spLocks noGrp="1"/>
          </p:cNvSpPr>
          <p:nvPr>
            <p:ph type="title"/>
          </p:nvPr>
        </p:nvSpPr>
        <p:spPr>
          <a:xfrm>
            <a:off x="629841" y="273844"/>
            <a:ext cx="7886700" cy="994172"/>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96634CD9-A7B2-0953-8C11-3AD193CD904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8999630-6C4D-F033-8640-41B130B8343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5F36ADF8-487A-60FE-603F-8B4FE11CA93E}"/>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4DE8A30-0A0A-9625-13B6-1FC556B3F8B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E39563D3-2920-0B23-FD4B-97D199DDCF97}"/>
              </a:ext>
            </a:extLst>
          </p:cNvPr>
          <p:cNvSpPr>
            <a:spLocks noGrp="1"/>
          </p:cNvSpPr>
          <p:nvPr>
            <p:ph type="dt" sz="half" idx="10"/>
          </p:nvPr>
        </p:nvSpPr>
        <p:spPr/>
        <p:txBody>
          <a:bodyPr/>
          <a:lstStyle/>
          <a:p>
            <a:fld id="{C8DE0EA9-0E95-6A4E-A080-DCEB5AC17EB2}" type="datetime1">
              <a:rPr lang="en-US" smtClean="0"/>
              <a:t>11/28/25</a:t>
            </a:fld>
            <a:endParaRPr lang="en-US"/>
          </a:p>
        </p:txBody>
      </p:sp>
      <p:sp>
        <p:nvSpPr>
          <p:cNvPr id="8" name="Footer Placeholder 7">
            <a:extLst>
              <a:ext uri="{FF2B5EF4-FFF2-40B4-BE49-F238E27FC236}">
                <a16:creationId xmlns:a16="http://schemas.microsoft.com/office/drawing/2014/main" id="{2CC54323-9F87-1348-2258-80F73F6EAEEF}"/>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9" name="Slide Number Placeholder 8">
            <a:extLst>
              <a:ext uri="{FF2B5EF4-FFF2-40B4-BE49-F238E27FC236}">
                <a16:creationId xmlns:a16="http://schemas.microsoft.com/office/drawing/2014/main" id="{6C398C1E-9A4D-3E7E-3BCE-BC99F550C8AD}"/>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1765731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BD50A-6D9D-3E25-25C2-CC99ECC269A1}"/>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B414436C-0D84-3A9A-FC81-75F479937F3E}"/>
              </a:ext>
            </a:extLst>
          </p:cNvPr>
          <p:cNvSpPr>
            <a:spLocks noGrp="1"/>
          </p:cNvSpPr>
          <p:nvPr>
            <p:ph type="dt" sz="half" idx="10"/>
          </p:nvPr>
        </p:nvSpPr>
        <p:spPr/>
        <p:txBody>
          <a:bodyPr/>
          <a:lstStyle/>
          <a:p>
            <a:fld id="{6B8A899B-144C-CC41-9A28-E379908EB5E0}" type="datetime1">
              <a:rPr lang="en-US" smtClean="0"/>
              <a:t>11/28/25</a:t>
            </a:fld>
            <a:endParaRPr lang="en-US"/>
          </a:p>
        </p:txBody>
      </p:sp>
      <p:sp>
        <p:nvSpPr>
          <p:cNvPr id="4" name="Footer Placeholder 3">
            <a:extLst>
              <a:ext uri="{FF2B5EF4-FFF2-40B4-BE49-F238E27FC236}">
                <a16:creationId xmlns:a16="http://schemas.microsoft.com/office/drawing/2014/main" id="{04028E1F-3F79-4A02-ACB3-9D1EC1952059}"/>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5" name="Slide Number Placeholder 4">
            <a:extLst>
              <a:ext uri="{FF2B5EF4-FFF2-40B4-BE49-F238E27FC236}">
                <a16:creationId xmlns:a16="http://schemas.microsoft.com/office/drawing/2014/main" id="{A2D76BE9-F171-519B-B73D-016018121E77}"/>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811961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58829B-BEB7-2DE7-CDA4-4021917361B8}"/>
              </a:ext>
            </a:extLst>
          </p:cNvPr>
          <p:cNvSpPr>
            <a:spLocks noGrp="1"/>
          </p:cNvSpPr>
          <p:nvPr>
            <p:ph type="dt" sz="half" idx="10"/>
          </p:nvPr>
        </p:nvSpPr>
        <p:spPr/>
        <p:txBody>
          <a:bodyPr/>
          <a:lstStyle/>
          <a:p>
            <a:fld id="{93F3C840-DA19-3941-9C93-3A970835213C}" type="datetime1">
              <a:rPr lang="en-US" smtClean="0"/>
              <a:t>11/28/25</a:t>
            </a:fld>
            <a:endParaRPr lang="en-US"/>
          </a:p>
        </p:txBody>
      </p:sp>
      <p:sp>
        <p:nvSpPr>
          <p:cNvPr id="3" name="Footer Placeholder 2">
            <a:extLst>
              <a:ext uri="{FF2B5EF4-FFF2-40B4-BE49-F238E27FC236}">
                <a16:creationId xmlns:a16="http://schemas.microsoft.com/office/drawing/2014/main" id="{9E7ECE6D-79A3-2215-FA30-7BD1E88C40AE}"/>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4" name="Slide Number Placeholder 3">
            <a:extLst>
              <a:ext uri="{FF2B5EF4-FFF2-40B4-BE49-F238E27FC236}">
                <a16:creationId xmlns:a16="http://schemas.microsoft.com/office/drawing/2014/main" id="{02830344-85AF-44B8-DB8E-C189DCD7F039}"/>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844281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9FFD8-CE0F-05DD-34A4-61FF07EE3DB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C35FFB6C-FE52-F456-D6CA-834E832DF64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EC2210CF-4C10-D8D6-CEB4-CFBBBB63BBF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3C33E90-9E5D-9EFB-1C12-DC1FB14B9EBE}"/>
              </a:ext>
            </a:extLst>
          </p:cNvPr>
          <p:cNvSpPr>
            <a:spLocks noGrp="1"/>
          </p:cNvSpPr>
          <p:nvPr>
            <p:ph type="dt" sz="half" idx="10"/>
          </p:nvPr>
        </p:nvSpPr>
        <p:spPr/>
        <p:txBody>
          <a:bodyPr/>
          <a:lstStyle/>
          <a:p>
            <a:fld id="{FB2F5DF8-9C76-C241-9840-A0CBD1122D12}" type="datetime1">
              <a:rPr lang="en-US" smtClean="0"/>
              <a:t>11/28/25</a:t>
            </a:fld>
            <a:endParaRPr lang="en-US"/>
          </a:p>
        </p:txBody>
      </p:sp>
      <p:sp>
        <p:nvSpPr>
          <p:cNvPr id="6" name="Footer Placeholder 5">
            <a:extLst>
              <a:ext uri="{FF2B5EF4-FFF2-40B4-BE49-F238E27FC236}">
                <a16:creationId xmlns:a16="http://schemas.microsoft.com/office/drawing/2014/main" id="{329269B0-84DD-4249-BFAA-7A8545AFE289}"/>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7" name="Slide Number Placeholder 6">
            <a:extLst>
              <a:ext uri="{FF2B5EF4-FFF2-40B4-BE49-F238E27FC236}">
                <a16:creationId xmlns:a16="http://schemas.microsoft.com/office/drawing/2014/main" id="{168BA9DF-B043-6B36-7DF1-E1EDB95D5F2A}"/>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3399168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D382D-8826-B101-0F98-40ECD55FE58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12FD34DE-462F-70AA-884B-6F21A3B3962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S"/>
          </a:p>
        </p:txBody>
      </p:sp>
      <p:sp>
        <p:nvSpPr>
          <p:cNvPr id="4" name="Text Placeholder 3">
            <a:extLst>
              <a:ext uri="{FF2B5EF4-FFF2-40B4-BE49-F238E27FC236}">
                <a16:creationId xmlns:a16="http://schemas.microsoft.com/office/drawing/2014/main" id="{78348D45-411B-E108-7943-7ED08CB2BE3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01DA06C-6484-6287-08AC-8FD5056D31E4}"/>
              </a:ext>
            </a:extLst>
          </p:cNvPr>
          <p:cNvSpPr>
            <a:spLocks noGrp="1"/>
          </p:cNvSpPr>
          <p:nvPr>
            <p:ph type="dt" sz="half" idx="10"/>
          </p:nvPr>
        </p:nvSpPr>
        <p:spPr/>
        <p:txBody>
          <a:bodyPr/>
          <a:lstStyle/>
          <a:p>
            <a:fld id="{B9C41385-4CD7-B447-B25C-1EAF759D1180}" type="datetime1">
              <a:rPr lang="en-US" smtClean="0"/>
              <a:t>11/28/25</a:t>
            </a:fld>
            <a:endParaRPr lang="en-US"/>
          </a:p>
        </p:txBody>
      </p:sp>
      <p:sp>
        <p:nvSpPr>
          <p:cNvPr id="6" name="Footer Placeholder 5">
            <a:extLst>
              <a:ext uri="{FF2B5EF4-FFF2-40B4-BE49-F238E27FC236}">
                <a16:creationId xmlns:a16="http://schemas.microsoft.com/office/drawing/2014/main" id="{C1ADB6D5-5234-49C5-9A97-E84EB794C93D}"/>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7" name="Slide Number Placeholder 6">
            <a:extLst>
              <a:ext uri="{FF2B5EF4-FFF2-40B4-BE49-F238E27FC236}">
                <a16:creationId xmlns:a16="http://schemas.microsoft.com/office/drawing/2014/main" id="{81FE0DD7-CC4C-83A3-FCA6-359E20D30854}"/>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363084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894AF-EAA2-4172-E1D5-789E5C33CF0E}"/>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71142978-6770-3C4D-8841-C461C1CB27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EE16DCF7-4DD9-51D4-E2C5-43C3C50ED1A6}"/>
              </a:ext>
            </a:extLst>
          </p:cNvPr>
          <p:cNvSpPr>
            <a:spLocks noGrp="1"/>
          </p:cNvSpPr>
          <p:nvPr>
            <p:ph type="dt" sz="half" idx="10"/>
          </p:nvPr>
        </p:nvSpPr>
        <p:spPr/>
        <p:txBody>
          <a:bodyPr/>
          <a:lstStyle/>
          <a:p>
            <a:fld id="{01E0E054-4EBF-C04D-AA48-F2E9ABC1DAD8}" type="datetime1">
              <a:rPr lang="en-US" smtClean="0"/>
              <a:t>11/28/25</a:t>
            </a:fld>
            <a:endParaRPr lang="en-US"/>
          </a:p>
        </p:txBody>
      </p:sp>
      <p:sp>
        <p:nvSpPr>
          <p:cNvPr id="5" name="Footer Placeholder 4">
            <a:extLst>
              <a:ext uri="{FF2B5EF4-FFF2-40B4-BE49-F238E27FC236}">
                <a16:creationId xmlns:a16="http://schemas.microsoft.com/office/drawing/2014/main" id="{15F9E145-26DF-F589-B195-BE80B55400BD}"/>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32DC7EB8-4AFA-CDC8-8F99-29F8FCEB2777}"/>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4011973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B0C52A-BCBC-0D42-0804-E3B0B806FE99}"/>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21FEBCEB-9A2F-C439-83D4-2ADCA5EDB77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992A9140-2843-E09A-DDE8-FC7320CE42E2}"/>
              </a:ext>
            </a:extLst>
          </p:cNvPr>
          <p:cNvSpPr>
            <a:spLocks noGrp="1"/>
          </p:cNvSpPr>
          <p:nvPr>
            <p:ph type="dt" sz="half" idx="10"/>
          </p:nvPr>
        </p:nvSpPr>
        <p:spPr/>
        <p:txBody>
          <a:bodyPr/>
          <a:lstStyle/>
          <a:p>
            <a:fld id="{D0B85F48-6C77-7147-8EBF-4FF9426BD61E}" type="datetime1">
              <a:rPr lang="en-US" smtClean="0"/>
              <a:t>11/28/25</a:t>
            </a:fld>
            <a:endParaRPr lang="en-US"/>
          </a:p>
        </p:txBody>
      </p:sp>
      <p:sp>
        <p:nvSpPr>
          <p:cNvPr id="5" name="Footer Placeholder 4">
            <a:extLst>
              <a:ext uri="{FF2B5EF4-FFF2-40B4-BE49-F238E27FC236}">
                <a16:creationId xmlns:a16="http://schemas.microsoft.com/office/drawing/2014/main" id="{97F46E44-46F3-9DE4-5E82-EFE9ACE8204E}"/>
              </a:ext>
            </a:extLst>
          </p:cNvPr>
          <p:cNvSpPr>
            <a:spLocks noGrp="1"/>
          </p:cNvSpPr>
          <p:nvPr>
            <p:ph type="ftr" sz="quarter" idx="11"/>
          </p:nvPr>
        </p:nvSpPr>
        <p:spPr/>
        <p:txBody>
          <a:body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A329B766-3688-EB13-E68A-2908336BB8FF}"/>
              </a:ext>
            </a:extLst>
          </p:cNvPr>
          <p:cNvSpPr>
            <a:spLocks noGrp="1"/>
          </p:cNvSpPr>
          <p:nvPr>
            <p:ph type="sldNum" sz="quarter" idx="12"/>
          </p:nvPr>
        </p:nvSpPr>
        <p:spPr/>
        <p:txBody>
          <a:bodyPr/>
          <a:lstStyle/>
          <a:p>
            <a:fld id="{B6F15528-21DE-4FAA-801E-634DDDAF4B2B}" type="slidenum">
              <a:rPr lang="en-PS" smtClean="0"/>
              <a:t>‹#›</a:t>
            </a:fld>
            <a:endParaRPr lang="en-PS"/>
          </a:p>
        </p:txBody>
      </p:sp>
    </p:spTree>
    <p:extLst>
      <p:ext uri="{BB962C8B-B14F-4D97-AF65-F5344CB8AC3E}">
        <p14:creationId xmlns:p14="http://schemas.microsoft.com/office/powerpoint/2010/main" val="2506607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524766" y="500697"/>
            <a:ext cx="8094471" cy="738664"/>
          </a:xfrm>
          <a:prstGeom prst="rect">
            <a:avLst/>
          </a:prstGeom>
        </p:spPr>
        <p:txBody>
          <a:bodyPr wrap="square" lIns="0" tIns="0" rIns="0" bIns="0">
            <a:spAutoFit/>
          </a:bodyPr>
          <a:lstStyle>
            <a:lvl1pPr>
              <a:defRPr sz="4800" b="0" i="0">
                <a:solidFill>
                  <a:srgbClr val="0070EA"/>
                </a:solidFill>
                <a:latin typeface="Verdana"/>
                <a:cs typeface="Verdana"/>
              </a:defRPr>
            </a:lvl1pPr>
          </a:lstStyle>
          <a:p>
            <a:endParaRPr/>
          </a:p>
        </p:txBody>
      </p:sp>
      <p:sp>
        <p:nvSpPr>
          <p:cNvPr id="3" name="Holder 3"/>
          <p:cNvSpPr>
            <a:spLocks noGrp="1"/>
          </p:cNvSpPr>
          <p:nvPr>
            <p:ph type="subTitle" idx="4"/>
          </p:nvPr>
        </p:nvSpPr>
        <p:spPr>
          <a:xfrm>
            <a:off x="203200" y="3141029"/>
            <a:ext cx="8737600" cy="607987"/>
          </a:xfrm>
          <a:prstGeom prst="rect">
            <a:avLst/>
          </a:prstGeom>
        </p:spPr>
        <p:txBody>
          <a:bodyPr wrap="square" lIns="0" tIns="0" rIns="0" bIns="0">
            <a:spAutoFit/>
          </a:bodyPr>
          <a:lstStyle>
            <a:lvl1pPr>
              <a:defRPr sz="3951"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bg1"/>
                </a:solidFill>
                <a:latin typeface="Verdana"/>
                <a:cs typeface="Verdana"/>
              </a:defRPr>
            </a:lvl1p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6B8D584-C060-EB43-8A78-57DB6B61DB4E}" type="datetime1">
              <a:rPr lang="en-US" smtClean="0"/>
              <a:t>11/28/25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55552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6509" y="-4444"/>
            <a:ext cx="1815464" cy="423321"/>
          </a:xfrm>
        </p:spPr>
        <p:txBody>
          <a:bodyPr lIns="0" tIns="0" rIns="0" bIns="0"/>
          <a:lstStyle>
            <a:lvl1pPr>
              <a:defRPr sz="2751" b="0" i="0">
                <a:solidFill>
                  <a:schemeClr val="tx1"/>
                </a:solidFill>
                <a:latin typeface="Verdana"/>
                <a:cs typeface="Verdana"/>
              </a:defRPr>
            </a:lvl1pPr>
          </a:lstStyle>
          <a:p>
            <a:endParaRPr/>
          </a:p>
        </p:txBody>
      </p:sp>
      <p:sp>
        <p:nvSpPr>
          <p:cNvPr id="3" name="Holder 3"/>
          <p:cNvSpPr>
            <a:spLocks noGrp="1"/>
          </p:cNvSpPr>
          <p:nvPr>
            <p:ph sz="half" idx="2"/>
          </p:nvPr>
        </p:nvSpPr>
        <p:spPr>
          <a:xfrm>
            <a:off x="457200" y="1183005"/>
            <a:ext cx="3977640" cy="73866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73866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chemeClr val="bg1"/>
                </a:solidFill>
                <a:latin typeface="Verdana"/>
                <a:cs typeface="Verdana"/>
              </a:defRPr>
            </a:lvl1p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3D02425-7724-EF45-A8D8-D32E94692E8D}" type="datetime1">
              <a:rPr lang="en-US" smtClean="0"/>
              <a:t>11/28/25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55047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E0A5ED-DF42-EF00-62B6-2FE23408F29B}"/>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7A109A30-AEB3-5241-E2C0-147AF9729C8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D822422D-A634-0D27-E04D-17F7DC263E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EA0BF43-0AB7-8849-B1A3-A61AEED46EB8}" type="datetime1">
              <a:rPr lang="en-US" smtClean="0"/>
              <a:t>11/28/25</a:t>
            </a:fld>
            <a:endParaRPr lang="en-US"/>
          </a:p>
        </p:txBody>
      </p:sp>
      <p:sp>
        <p:nvSpPr>
          <p:cNvPr id="5" name="Footer Placeholder 4">
            <a:extLst>
              <a:ext uri="{FF2B5EF4-FFF2-40B4-BE49-F238E27FC236}">
                <a16:creationId xmlns:a16="http://schemas.microsoft.com/office/drawing/2014/main" id="{5202D539-6705-FE8B-B680-BA5047850BEE}"/>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marL="12700">
              <a:spcBef>
                <a:spcPts val="135"/>
              </a:spcBef>
            </a:pPr>
            <a:r>
              <a:rPr lang="en-US" spc="15"/>
              <a:t>An</a:t>
            </a:r>
            <a:r>
              <a:rPr lang="en-US" spc="25"/>
              <a:t>d</a:t>
            </a:r>
            <a:r>
              <a:rPr lang="en-US"/>
              <a:t>r</a:t>
            </a:r>
            <a:r>
              <a:rPr lang="en-US" spc="-11"/>
              <a:t>e</a:t>
            </a:r>
            <a:r>
              <a:rPr lang="en-US" spc="20"/>
              <a:t>w</a:t>
            </a:r>
            <a:r>
              <a:rPr lang="en-US" spc="-85"/>
              <a:t> </a:t>
            </a:r>
            <a:r>
              <a:rPr lang="en-US"/>
              <a:t>N</a:t>
            </a:r>
            <a:r>
              <a:rPr lang="en-US" spc="15"/>
              <a:t>g</a:t>
            </a:r>
            <a:endParaRPr lang="en-US" spc="15" dirty="0"/>
          </a:p>
        </p:txBody>
      </p:sp>
      <p:sp>
        <p:nvSpPr>
          <p:cNvPr id="6" name="Slide Number Placeholder 5">
            <a:extLst>
              <a:ext uri="{FF2B5EF4-FFF2-40B4-BE49-F238E27FC236}">
                <a16:creationId xmlns:a16="http://schemas.microsoft.com/office/drawing/2014/main" id="{58D122E5-B980-E3E5-D3A4-64BA20A16B6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PS" smtClean="0"/>
              <a:t>‹#›</a:t>
            </a:fld>
            <a:endParaRPr lang="en-PS"/>
          </a:p>
        </p:txBody>
      </p:sp>
    </p:spTree>
    <p:extLst>
      <p:ext uri="{BB962C8B-B14F-4D97-AF65-F5344CB8AC3E}">
        <p14:creationId xmlns:p14="http://schemas.microsoft.com/office/powerpoint/2010/main" val="157475974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 Type="http://schemas.openxmlformats.org/officeDocument/2006/relationships/image" Target="../media/image46.png"/><Relationship Id="rId21" Type="http://schemas.openxmlformats.org/officeDocument/2006/relationships/image" Target="../media/image64.png"/><Relationship Id="rId34" Type="http://schemas.openxmlformats.org/officeDocument/2006/relationships/image" Target="../media/image77.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8.png"/><Relationship Id="rId33" Type="http://schemas.openxmlformats.org/officeDocument/2006/relationships/image" Target="../media/image76.pn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63.png"/><Relationship Id="rId29"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7.png"/><Relationship Id="rId32" Type="http://schemas.openxmlformats.org/officeDocument/2006/relationships/image" Target="../media/image75.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36"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78.png"/><Relationship Id="rId8" Type="http://schemas.openxmlformats.org/officeDocument/2006/relationships/image" Target="../media/image51.png"/></Relationships>
</file>

<file path=ppt/slides/_rels/slide29.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9" Type="http://schemas.openxmlformats.org/officeDocument/2006/relationships/image" Target="../media/image117.png"/><Relationship Id="rId21" Type="http://schemas.openxmlformats.org/officeDocument/2006/relationships/image" Target="../media/image99.png"/><Relationship Id="rId34" Type="http://schemas.openxmlformats.org/officeDocument/2006/relationships/image" Target="../media/image112.png"/><Relationship Id="rId42" Type="http://schemas.openxmlformats.org/officeDocument/2006/relationships/image" Target="../media/image120.png"/><Relationship Id="rId7" Type="http://schemas.openxmlformats.org/officeDocument/2006/relationships/image" Target="../media/image85.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8.png"/><Relationship Id="rId29" Type="http://schemas.openxmlformats.org/officeDocument/2006/relationships/image" Target="../media/image107.png"/><Relationship Id="rId41"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37" Type="http://schemas.openxmlformats.org/officeDocument/2006/relationships/image" Target="../media/image115.png"/><Relationship Id="rId40" Type="http://schemas.openxmlformats.org/officeDocument/2006/relationships/image" Target="../media/image118.png"/><Relationship Id="rId5" Type="http://schemas.openxmlformats.org/officeDocument/2006/relationships/image" Target="../media/image83.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36" Type="http://schemas.openxmlformats.org/officeDocument/2006/relationships/image" Target="../media/image114.png"/><Relationship Id="rId10" Type="http://schemas.openxmlformats.org/officeDocument/2006/relationships/image" Target="../media/image88.png"/><Relationship Id="rId19" Type="http://schemas.openxmlformats.org/officeDocument/2006/relationships/image" Target="../media/image97.png"/><Relationship Id="rId31" Type="http://schemas.openxmlformats.org/officeDocument/2006/relationships/image" Target="../media/image109.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 Id="rId35" Type="http://schemas.openxmlformats.org/officeDocument/2006/relationships/image" Target="../media/image113.png"/><Relationship Id="rId43" Type="http://schemas.openxmlformats.org/officeDocument/2006/relationships/image" Target="../media/image121.png"/><Relationship Id="rId8" Type="http://schemas.openxmlformats.org/officeDocument/2006/relationships/image" Target="../media/image86.png"/><Relationship Id="rId3" Type="http://schemas.openxmlformats.org/officeDocument/2006/relationships/image" Target="../media/image8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33" Type="http://schemas.openxmlformats.org/officeDocument/2006/relationships/image" Target="../media/image111.png"/><Relationship Id="rId38" Type="http://schemas.openxmlformats.org/officeDocument/2006/relationships/image" Target="../media/image116.png"/></Relationships>
</file>

<file path=ppt/slides/_rels/slide3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31.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18" Type="http://schemas.openxmlformats.org/officeDocument/2006/relationships/image" Target="../media/image143.png"/><Relationship Id="rId26" Type="http://schemas.openxmlformats.org/officeDocument/2006/relationships/image" Target="../media/image151.png"/><Relationship Id="rId3" Type="http://schemas.openxmlformats.org/officeDocument/2006/relationships/image" Target="../media/image128.png"/><Relationship Id="rId21" Type="http://schemas.openxmlformats.org/officeDocument/2006/relationships/image" Target="../media/image146.png"/><Relationship Id="rId7" Type="http://schemas.openxmlformats.org/officeDocument/2006/relationships/image" Target="../media/image132.png"/><Relationship Id="rId12" Type="http://schemas.openxmlformats.org/officeDocument/2006/relationships/image" Target="../media/image137.png"/><Relationship Id="rId17" Type="http://schemas.openxmlformats.org/officeDocument/2006/relationships/image" Target="../media/image142.png"/><Relationship Id="rId25" Type="http://schemas.openxmlformats.org/officeDocument/2006/relationships/image" Target="../media/image150.png"/><Relationship Id="rId2" Type="http://schemas.openxmlformats.org/officeDocument/2006/relationships/image" Target="../media/image127.png"/><Relationship Id="rId16" Type="http://schemas.openxmlformats.org/officeDocument/2006/relationships/image" Target="../media/image141.png"/><Relationship Id="rId20" Type="http://schemas.openxmlformats.org/officeDocument/2006/relationships/image" Target="../media/image145.png"/><Relationship Id="rId1" Type="http://schemas.openxmlformats.org/officeDocument/2006/relationships/slideLayout" Target="../slideLayouts/slideLayout13.xml"/><Relationship Id="rId6" Type="http://schemas.openxmlformats.org/officeDocument/2006/relationships/image" Target="../media/image131.png"/><Relationship Id="rId11" Type="http://schemas.openxmlformats.org/officeDocument/2006/relationships/image" Target="../media/image136.png"/><Relationship Id="rId24" Type="http://schemas.openxmlformats.org/officeDocument/2006/relationships/image" Target="../media/image149.png"/><Relationship Id="rId5" Type="http://schemas.openxmlformats.org/officeDocument/2006/relationships/image" Target="../media/image130.png"/><Relationship Id="rId15" Type="http://schemas.openxmlformats.org/officeDocument/2006/relationships/image" Target="../media/image140.png"/><Relationship Id="rId23" Type="http://schemas.openxmlformats.org/officeDocument/2006/relationships/image" Target="../media/image148.png"/><Relationship Id="rId10" Type="http://schemas.openxmlformats.org/officeDocument/2006/relationships/image" Target="../media/image135.png"/><Relationship Id="rId19" Type="http://schemas.openxmlformats.org/officeDocument/2006/relationships/image" Target="../media/image144.pn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 Id="rId22" Type="http://schemas.openxmlformats.org/officeDocument/2006/relationships/image" Target="../media/image147.png"/><Relationship Id="rId27" Type="http://schemas.openxmlformats.org/officeDocument/2006/relationships/image" Target="../media/image152.png"/></Relationships>
</file>

<file path=ppt/slides/_rels/slide3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33.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jpg"/><Relationship Id="rId1"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image" Target="../media/image162.jpg"/><Relationship Id="rId1" Type="http://schemas.openxmlformats.org/officeDocument/2006/relationships/slideLayout" Target="../slideLayouts/slideLayout7.xml"/><Relationship Id="rId6" Type="http://schemas.openxmlformats.org/officeDocument/2006/relationships/image" Target="../media/image166.png"/><Relationship Id="rId5" Type="http://schemas.openxmlformats.org/officeDocument/2006/relationships/image" Target="../media/image165.png"/><Relationship Id="rId10" Type="http://schemas.openxmlformats.org/officeDocument/2006/relationships/image" Target="../media/image170.png"/><Relationship Id="rId4" Type="http://schemas.openxmlformats.org/officeDocument/2006/relationships/image" Target="../media/image164.png"/><Relationship Id="rId9" Type="http://schemas.openxmlformats.org/officeDocument/2006/relationships/image" Target="../media/image169.png"/></Relationships>
</file>

<file path=ppt/slides/_rels/slide36.xml.rels><?xml version="1.0" encoding="UTF-8" standalone="yes"?>
<Relationships xmlns="http://schemas.openxmlformats.org/package/2006/relationships"><Relationship Id="rId2" Type="http://schemas.openxmlformats.org/officeDocument/2006/relationships/image" Target="../media/image171.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72.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3.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4.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5.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6.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7.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jpg"/><Relationship Id="rId1" Type="http://schemas.openxmlformats.org/officeDocument/2006/relationships/slideLayout" Target="../slideLayouts/slideLayout7.xml"/><Relationship Id="rId5" Type="http://schemas.openxmlformats.org/officeDocument/2006/relationships/image" Target="../media/image181.png"/><Relationship Id="rId4" Type="http://schemas.openxmlformats.org/officeDocument/2006/relationships/image" Target="../media/image180.png"/></Relationships>
</file>

<file path=ppt/slides/_rels/slide44.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2.png"/><Relationship Id="rId2"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0" Type="http://schemas.openxmlformats.org/officeDocument/2006/relationships/image" Target="../media/image190.jpg"/><Relationship Id="rId4" Type="http://schemas.openxmlformats.org/officeDocument/2006/relationships/image" Target="../media/image184.png"/><Relationship Id="rId9" Type="http://schemas.openxmlformats.org/officeDocument/2006/relationships/image" Target="../media/image1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66750" y="2455993"/>
            <a:ext cx="7543800" cy="1124668"/>
          </a:xfrm>
          <a:prstGeom prst="rect">
            <a:avLst/>
          </a:prstGeom>
        </p:spPr>
        <p:txBody>
          <a:bodyPr vert="horz" wrap="square" lIns="0" tIns="16511" rIns="0" bIns="0" rtlCol="0">
            <a:spAutoFit/>
          </a:bodyPr>
          <a:lstStyle/>
          <a:p>
            <a:pPr marL="12700" algn="ctr">
              <a:spcBef>
                <a:spcPts val="131"/>
              </a:spcBef>
            </a:pPr>
            <a:r>
              <a:rPr lang="en-GB" sz="3600" spc="25" dirty="0">
                <a:solidFill>
                  <a:srgbClr val="0432FF"/>
                </a:solidFill>
                <a:latin typeface="Gill Sans MT" panose="020B0502020104020203" pitchFamily="34" charset="77"/>
                <a:cs typeface="Verdana"/>
              </a:rPr>
              <a:t>Train the Model with </a:t>
            </a:r>
            <a:r>
              <a:rPr sz="3600" spc="25" dirty="0">
                <a:solidFill>
                  <a:srgbClr val="0432FF"/>
                </a:solidFill>
                <a:latin typeface="Gill Sans MT" panose="020B0502020104020203" pitchFamily="34" charset="77"/>
                <a:cs typeface="Verdana"/>
              </a:rPr>
              <a:t>Gradient</a:t>
            </a:r>
            <a:r>
              <a:rPr sz="3600" spc="-91" dirty="0">
                <a:solidFill>
                  <a:srgbClr val="0432FF"/>
                </a:solidFill>
                <a:latin typeface="Gill Sans MT" panose="020B0502020104020203" pitchFamily="34" charset="77"/>
                <a:cs typeface="Verdana"/>
              </a:rPr>
              <a:t> </a:t>
            </a:r>
            <a:r>
              <a:rPr sz="3600" spc="35" dirty="0">
                <a:solidFill>
                  <a:srgbClr val="0432FF"/>
                </a:solidFill>
                <a:latin typeface="Gill Sans MT" panose="020B0502020104020203" pitchFamily="34" charset="77"/>
                <a:cs typeface="Verdana"/>
              </a:rPr>
              <a:t>Descent</a:t>
            </a:r>
            <a:r>
              <a:rPr lang="en-GB" sz="3600" spc="35" dirty="0">
                <a:solidFill>
                  <a:srgbClr val="0432FF"/>
                </a:solidFill>
                <a:latin typeface="Gill Sans MT" panose="020B0502020104020203" pitchFamily="34" charset="77"/>
                <a:cs typeface="Verdana"/>
              </a:rPr>
              <a:t> Algorithm</a:t>
            </a:r>
            <a:endParaRPr sz="3600" dirty="0">
              <a:solidFill>
                <a:srgbClr val="0432FF"/>
              </a:solidFill>
              <a:latin typeface="Gill Sans MT" panose="020B0502020104020203" pitchFamily="34" charset="77"/>
              <a:cs typeface="Verdana"/>
            </a:endParaRPr>
          </a:p>
        </p:txBody>
      </p:sp>
      <p:sp>
        <p:nvSpPr>
          <p:cNvPr id="4" name="TextBox 3">
            <a:extLst>
              <a:ext uri="{FF2B5EF4-FFF2-40B4-BE49-F238E27FC236}">
                <a16:creationId xmlns:a16="http://schemas.microsoft.com/office/drawing/2014/main" id="{44E0E201-8B7F-DEA6-28C8-6B3696FABC95}"/>
              </a:ext>
            </a:extLst>
          </p:cNvPr>
          <p:cNvSpPr txBox="1"/>
          <p:nvPr/>
        </p:nvSpPr>
        <p:spPr>
          <a:xfrm>
            <a:off x="914400" y="1476811"/>
            <a:ext cx="947695" cy="400110"/>
          </a:xfrm>
          <a:prstGeom prst="rect">
            <a:avLst/>
          </a:prstGeom>
          <a:noFill/>
        </p:spPr>
        <p:txBody>
          <a:bodyPr wrap="none" rtlCol="0">
            <a:spAutoFit/>
          </a:bodyPr>
          <a:lstStyle/>
          <a:p>
            <a:pPr marL="0" algn="l" defTabSz="914400" rtl="0" eaLnBrk="1" latinLnBrk="0" hangingPunct="1"/>
            <a:r>
              <a:rPr lang="en-GB" sz="2000" dirty="0">
                <a:latin typeface="Gill Sans MT" panose="020B0502020104020203" pitchFamily="34" charset="77"/>
              </a:rPr>
              <a:t>Ch 2.4 </a:t>
            </a:r>
            <a:endParaRPr lang="en-PS" sz="2000" dirty="0">
              <a:latin typeface="Gill Sans MT" panose="020B0502020104020203" pitchFamily="34" charset="77"/>
            </a:endParaRPr>
          </a:p>
        </p:txBody>
      </p:sp>
      <p:sp>
        <p:nvSpPr>
          <p:cNvPr id="5" name="Slide Number Placeholder 4">
            <a:extLst>
              <a:ext uri="{FF2B5EF4-FFF2-40B4-BE49-F238E27FC236}">
                <a16:creationId xmlns:a16="http://schemas.microsoft.com/office/drawing/2014/main" id="{9C4F2CEB-F8A7-E600-37C2-C8BA9C3AF823}"/>
              </a:ext>
            </a:extLst>
          </p:cNvPr>
          <p:cNvSpPr>
            <a:spLocks noGrp="1"/>
          </p:cNvSpPr>
          <p:nvPr>
            <p:ph type="sldNum" sz="quarter" idx="7"/>
          </p:nvPr>
        </p:nvSpPr>
        <p:spPr>
          <a:xfrm>
            <a:off x="8839200" y="4781550"/>
            <a:ext cx="209550" cy="273844"/>
          </a:xfrm>
        </p:spPr>
        <p:txBody>
          <a:bodyPr/>
          <a:lstStyle/>
          <a:p>
            <a:pPr algn="ctr"/>
            <a:fld id="{B6F15528-21DE-4FAA-801E-634DDDAF4B2B}" type="slidenum">
              <a:rPr lang="en-PS" smtClean="0">
                <a:latin typeface="Gill Sans MT" panose="020B0502020104020203" pitchFamily="34" charset="77"/>
              </a:rPr>
              <a:pPr algn="ctr"/>
              <a:t>1</a:t>
            </a:fld>
            <a:endParaRPr lang="en-PS">
              <a:latin typeface="Gill Sans MT" panose="020B0502020104020203" pitchFamily="34" charset="77"/>
            </a:endParaRPr>
          </a:p>
        </p:txBody>
      </p:sp>
      <p:sp>
        <p:nvSpPr>
          <p:cNvPr id="7" name="Title 6">
            <a:extLst>
              <a:ext uri="{FF2B5EF4-FFF2-40B4-BE49-F238E27FC236}">
                <a16:creationId xmlns:a16="http://schemas.microsoft.com/office/drawing/2014/main" id="{B593AEF3-7387-60A6-6A33-0851B6BC1244}"/>
              </a:ext>
            </a:extLst>
          </p:cNvPr>
          <p:cNvSpPr>
            <a:spLocks noGrp="1"/>
          </p:cNvSpPr>
          <p:nvPr>
            <p:ph type="ctrTitle"/>
          </p:nvPr>
        </p:nvSpPr>
        <p:spPr>
          <a:xfrm>
            <a:off x="666750" y="788202"/>
            <a:ext cx="5791200" cy="332399"/>
          </a:xfrm>
        </p:spPr>
        <p:txBody>
          <a:bodyPr/>
          <a:lstStyle/>
          <a:p>
            <a:pPr algn="l" defTabSz="685800" rtl="0" eaLnBrk="1" latinLnBrk="0" hangingPunct="1">
              <a:lnSpc>
                <a:spcPct val="90000"/>
              </a:lnSpc>
              <a:spcBef>
                <a:spcPct val="0"/>
              </a:spcBef>
              <a:buNone/>
            </a:pPr>
            <a:r>
              <a:rPr lang="en-GB" sz="2400" dirty="0">
                <a:solidFill>
                  <a:schemeClr val="tx1"/>
                </a:solidFill>
                <a:latin typeface="Gill Sans MT" panose="020B0502020104020203" pitchFamily="34" charset="77"/>
              </a:rPr>
              <a:t>Training Linear Regression</a:t>
            </a:r>
            <a:endParaRPr lang="en-PS" sz="2400" dirty="0">
              <a:solidFill>
                <a:schemeClr val="tx1"/>
              </a:solidFill>
              <a:latin typeface="Gill Sans MT" panose="020B05020201040202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10FCB4-4FA5-0475-8DA3-F59C041422D2}"/>
              </a:ext>
            </a:extLst>
          </p:cNvPr>
          <p:cNvSpPr>
            <a:spLocks noGrp="1"/>
          </p:cNvSpPr>
          <p:nvPr>
            <p:ph type="title"/>
          </p:nvPr>
        </p:nvSpPr>
        <p:spPr/>
        <p:txBody>
          <a:bodyPr/>
          <a:lstStyle/>
          <a:p>
            <a:r>
              <a:rPr lang="en-PS" dirty="0">
                <a:solidFill>
                  <a:srgbClr val="0432FF"/>
                </a:solidFill>
                <a:latin typeface="Gill Sans MT" panose="020B0502020104020203" pitchFamily="34" charset="77"/>
              </a:rPr>
              <a:t>Content</a:t>
            </a:r>
          </a:p>
        </p:txBody>
      </p:sp>
      <p:sp>
        <p:nvSpPr>
          <p:cNvPr id="6" name="Content Placeholder 5">
            <a:extLst>
              <a:ext uri="{FF2B5EF4-FFF2-40B4-BE49-F238E27FC236}">
                <a16:creationId xmlns:a16="http://schemas.microsoft.com/office/drawing/2014/main" id="{82AC9424-54FF-842C-99BA-23EA159CBD5E}"/>
              </a:ext>
            </a:extLst>
          </p:cNvPr>
          <p:cNvSpPr>
            <a:spLocks noGrp="1"/>
          </p:cNvSpPr>
          <p:nvPr>
            <p:ph idx="1"/>
          </p:nvPr>
        </p:nvSpPr>
        <p:spPr/>
        <p:txBody>
          <a:bodyPr>
            <a:normAutofit/>
          </a:bodyPr>
          <a:lstStyle/>
          <a:p>
            <a:r>
              <a:rPr lang="en-US" dirty="0">
                <a:latin typeface="+mj-lt"/>
              </a:rPr>
              <a:t>Gradient Descent</a:t>
            </a:r>
          </a:p>
          <a:p>
            <a:r>
              <a:rPr lang="en-US" dirty="0">
                <a:latin typeface="+mj-lt"/>
              </a:rPr>
              <a:t>Implementing Gradient Descent</a:t>
            </a:r>
          </a:p>
          <a:p>
            <a:r>
              <a:rPr lang="en-US" dirty="0">
                <a:latin typeface="+mj-lt"/>
              </a:rPr>
              <a:t>Gradient Descent Intuition</a:t>
            </a:r>
          </a:p>
          <a:p>
            <a:r>
              <a:rPr lang="en-US" dirty="0">
                <a:latin typeface="+mj-lt"/>
              </a:rPr>
              <a:t>Learning Rate</a:t>
            </a:r>
          </a:p>
          <a:p>
            <a:r>
              <a:rPr lang="en-US" dirty="0">
                <a:latin typeface="+mj-lt"/>
              </a:rPr>
              <a:t>Gradient Descent for Linear Regression</a:t>
            </a:r>
          </a:p>
          <a:p>
            <a:r>
              <a:rPr lang="en-US" dirty="0">
                <a:latin typeface="+mj-lt"/>
              </a:rPr>
              <a:t>Running Gradient Descent</a:t>
            </a:r>
          </a:p>
          <a:p>
            <a:r>
              <a:rPr lang="en-US" dirty="0">
                <a:latin typeface="+mj-lt"/>
              </a:rPr>
              <a:t>Optional Lab: Gradient Descent</a:t>
            </a:r>
          </a:p>
          <a:p>
            <a:endParaRPr lang="en-US" dirty="0">
              <a:latin typeface="+mj-lt"/>
            </a:endParaRPr>
          </a:p>
          <a:p>
            <a:endParaRPr lang="en-PS" dirty="0">
              <a:latin typeface="+mj-lt"/>
            </a:endParaRPr>
          </a:p>
        </p:txBody>
      </p:sp>
      <p:sp>
        <p:nvSpPr>
          <p:cNvPr id="4" name="Slide Number Placeholder 3">
            <a:extLst>
              <a:ext uri="{FF2B5EF4-FFF2-40B4-BE49-F238E27FC236}">
                <a16:creationId xmlns:a16="http://schemas.microsoft.com/office/drawing/2014/main" id="{3EA260A7-8850-79D2-6886-B1FA472A3D2D}"/>
              </a:ext>
            </a:extLst>
          </p:cNvPr>
          <p:cNvSpPr>
            <a:spLocks noGrp="1"/>
          </p:cNvSpPr>
          <p:nvPr>
            <p:ph type="sldNum" sz="quarter" idx="12"/>
          </p:nvPr>
        </p:nvSpPr>
        <p:spPr/>
        <p:txBody>
          <a:bodyPr/>
          <a:lstStyle/>
          <a:p>
            <a:fld id="{B6F15528-21DE-4FAA-801E-634DDDAF4B2B}" type="slidenum">
              <a:rPr lang="en-PS" smtClean="0">
                <a:latin typeface="Gill Sans MT" panose="020B0502020104020203" pitchFamily="34" charset="77"/>
              </a:rPr>
              <a:t>2</a:t>
            </a:fld>
            <a:endParaRPr lang="en-PS">
              <a:latin typeface="Gill Sans MT" panose="020B0502020104020203" pitchFamily="34" charset="77"/>
            </a:endParaRPr>
          </a:p>
        </p:txBody>
      </p:sp>
    </p:spTree>
    <p:extLst>
      <p:ext uri="{BB962C8B-B14F-4D97-AF65-F5344CB8AC3E}">
        <p14:creationId xmlns:p14="http://schemas.microsoft.com/office/powerpoint/2010/main" val="1640390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648515-2321-741F-EE75-0EA43BA8BCA5}"/>
              </a:ext>
            </a:extLst>
          </p:cNvPr>
          <p:cNvSpPr>
            <a:spLocks noGrp="1"/>
          </p:cNvSpPr>
          <p:nvPr>
            <p:ph type="title"/>
          </p:nvPr>
        </p:nvSpPr>
        <p:spPr>
          <a:xfrm>
            <a:off x="533400" y="402907"/>
            <a:ext cx="7886700" cy="469106"/>
          </a:xfrm>
        </p:spPr>
        <p:txBody>
          <a:bodyPr>
            <a:normAutofit fontScale="90000"/>
          </a:bodyPr>
          <a:lstStyle/>
          <a:p>
            <a:r>
              <a:rPr lang="en-PS">
                <a:solidFill>
                  <a:srgbClr val="0432FF"/>
                </a:solidFill>
                <a:latin typeface="Gill Sans MT" panose="020B0502020104020203" pitchFamily="34" charset="77"/>
              </a:rPr>
              <a:t>Gradient Descent</a:t>
            </a:r>
            <a:r>
              <a:rPr lang="en-US" dirty="0">
                <a:solidFill>
                  <a:srgbClr val="0432FF"/>
                </a:solidFill>
                <a:latin typeface="Gill Sans MT" panose="020B0502020104020203" pitchFamily="34" charset="77"/>
              </a:rPr>
              <a:t> Algorithm</a:t>
            </a:r>
            <a:r>
              <a:rPr lang="en-PS">
                <a:solidFill>
                  <a:srgbClr val="0432FF"/>
                </a:solidFill>
                <a:latin typeface="Gill Sans MT" panose="020B0502020104020203" pitchFamily="34" charset="77"/>
              </a:rPr>
              <a:t> </a:t>
            </a:r>
            <a:endParaRPr lang="en-PS" dirty="0">
              <a:solidFill>
                <a:srgbClr val="0432FF"/>
              </a:solidFill>
              <a:latin typeface="Gill Sans MT" panose="020B0502020104020203" pitchFamily="34" charset="77"/>
            </a:endParaRPr>
          </a:p>
        </p:txBody>
      </p:sp>
      <p:sp>
        <p:nvSpPr>
          <p:cNvPr id="6" name="Text Placeholder 5">
            <a:extLst>
              <a:ext uri="{FF2B5EF4-FFF2-40B4-BE49-F238E27FC236}">
                <a16:creationId xmlns:a16="http://schemas.microsoft.com/office/drawing/2014/main" id="{019CFEA9-80A4-B553-5298-E25AEBD5A063}"/>
              </a:ext>
            </a:extLst>
          </p:cNvPr>
          <p:cNvSpPr>
            <a:spLocks noGrp="1"/>
          </p:cNvSpPr>
          <p:nvPr>
            <p:ph idx="1"/>
          </p:nvPr>
        </p:nvSpPr>
        <p:spPr>
          <a:xfrm>
            <a:off x="533400" y="1428749"/>
            <a:ext cx="8305800" cy="3311843"/>
          </a:xfrm>
        </p:spPr>
        <p:txBody>
          <a:bodyPr>
            <a:normAutofit/>
          </a:bodyPr>
          <a:lstStyle/>
          <a:p>
            <a:r>
              <a:rPr lang="en-US" sz="2400" b="0" i="0" dirty="0">
                <a:solidFill>
                  <a:srgbClr val="1F1F1F"/>
                </a:solidFill>
                <a:effectLst/>
                <a:latin typeface="+mj-lt"/>
              </a:rPr>
              <a:t>Gradient descent is an iterative optimization algorithm commonly used in machine learning to </a:t>
            </a:r>
            <a:r>
              <a:rPr lang="en-US" sz="2400" b="0" i="0" dirty="0">
                <a:solidFill>
                  <a:srgbClr val="0432FF"/>
                </a:solidFill>
                <a:effectLst/>
                <a:latin typeface="+mj-lt"/>
              </a:rPr>
              <a:t>minimize </a:t>
            </a:r>
            <a:r>
              <a:rPr lang="en-US" sz="2400" dirty="0">
                <a:solidFill>
                  <a:srgbClr val="0432FF"/>
                </a:solidFill>
                <a:latin typeface="+mj-lt"/>
              </a:rPr>
              <a:t>the cost (</a:t>
            </a:r>
            <a:r>
              <a:rPr lang="en-US" sz="2400" b="0" i="0" dirty="0">
                <a:solidFill>
                  <a:srgbClr val="0432FF"/>
                </a:solidFill>
                <a:effectLst/>
                <a:latin typeface="+mj-lt"/>
              </a:rPr>
              <a:t>loss) function </a:t>
            </a:r>
            <a:r>
              <a:rPr lang="en-GB" sz="2400" i="1" dirty="0">
                <a:solidFill>
                  <a:srgbClr val="0432FF"/>
                </a:solidFill>
                <a:latin typeface="+mj-lt"/>
              </a:rPr>
              <a:t>J(w, b)</a:t>
            </a:r>
            <a:r>
              <a:rPr lang="en-GB" sz="2400" dirty="0">
                <a:solidFill>
                  <a:srgbClr val="0432FF"/>
                </a:solidFill>
                <a:latin typeface="+mj-lt"/>
              </a:rPr>
              <a:t> </a:t>
            </a:r>
            <a:r>
              <a:rPr lang="en-US" sz="2400" b="0" i="0" dirty="0">
                <a:solidFill>
                  <a:srgbClr val="1F1F1F"/>
                </a:solidFill>
                <a:effectLst/>
                <a:latin typeface="+mj-lt"/>
              </a:rPr>
              <a:t>by adjusting model parameters in the </a:t>
            </a:r>
            <a:r>
              <a:rPr lang="en-US" sz="2400" b="0" i="0" dirty="0">
                <a:solidFill>
                  <a:srgbClr val="0432FF"/>
                </a:solidFill>
                <a:effectLst/>
                <a:latin typeface="+mj-lt"/>
              </a:rPr>
              <a:t>direction of the steepest descen</a:t>
            </a:r>
            <a:r>
              <a:rPr lang="en-US" sz="2400" b="0" i="0" dirty="0">
                <a:solidFill>
                  <a:srgbClr val="1F1F1F"/>
                </a:solidFill>
                <a:effectLst/>
                <a:latin typeface="+mj-lt"/>
              </a:rPr>
              <a:t>t of the cost surface.</a:t>
            </a:r>
          </a:p>
          <a:p>
            <a:r>
              <a:rPr lang="en-US" sz="2400" dirty="0">
                <a:solidFill>
                  <a:srgbClr val="1F1F1F"/>
                </a:solidFill>
                <a:latin typeface="+mj-lt"/>
              </a:rPr>
              <a:t>Learning how Gradient Descent works is one of the main building block s of how machine learning works </a:t>
            </a:r>
            <a:endParaRPr lang="en-US" sz="2400" b="0" i="0" dirty="0">
              <a:solidFill>
                <a:srgbClr val="1F1F1F"/>
              </a:solidFill>
              <a:effectLst/>
              <a:latin typeface="+mj-lt"/>
            </a:endParaRPr>
          </a:p>
        </p:txBody>
      </p:sp>
      <p:sp>
        <p:nvSpPr>
          <p:cNvPr id="4" name="Slide Number Placeholder 3">
            <a:extLst>
              <a:ext uri="{FF2B5EF4-FFF2-40B4-BE49-F238E27FC236}">
                <a16:creationId xmlns:a16="http://schemas.microsoft.com/office/drawing/2014/main" id="{8D0B3CE2-32F5-C359-6A75-3CE1CBD865DF}"/>
              </a:ext>
            </a:extLst>
          </p:cNvPr>
          <p:cNvSpPr>
            <a:spLocks noGrp="1"/>
          </p:cNvSpPr>
          <p:nvPr>
            <p:ph type="sldNum" sz="quarter" idx="12"/>
          </p:nvPr>
        </p:nvSpPr>
        <p:spPr/>
        <p:txBody>
          <a:bodyPr/>
          <a:lstStyle/>
          <a:p>
            <a:fld id="{B6F15528-21DE-4FAA-801E-634DDDAF4B2B}" type="slidenum">
              <a:rPr lang="en-PS" smtClean="0"/>
              <a:t>3</a:t>
            </a:fld>
            <a:endParaRPr lang="en-PS"/>
          </a:p>
        </p:txBody>
      </p:sp>
    </p:spTree>
    <p:extLst>
      <p:ext uri="{BB962C8B-B14F-4D97-AF65-F5344CB8AC3E}">
        <p14:creationId xmlns:p14="http://schemas.microsoft.com/office/powerpoint/2010/main" val="1510139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FE16B-9030-9B7A-E3A9-5FD44D8BCAB9}"/>
              </a:ext>
            </a:extLst>
          </p:cNvPr>
          <p:cNvSpPr>
            <a:spLocks noGrp="1"/>
          </p:cNvSpPr>
          <p:nvPr>
            <p:ph type="title"/>
          </p:nvPr>
        </p:nvSpPr>
        <p:spPr>
          <a:xfrm>
            <a:off x="381000" y="88086"/>
            <a:ext cx="7886700" cy="545306"/>
          </a:xfrm>
        </p:spPr>
        <p:txBody>
          <a:bodyPr/>
          <a:lstStyle/>
          <a:p>
            <a:r>
              <a:rPr lang="en-PS" dirty="0">
                <a:solidFill>
                  <a:srgbClr val="0432FF"/>
                </a:solidFill>
                <a:latin typeface="Gill Sans MT" panose="020B0502020104020203" pitchFamily="34" charset="77"/>
              </a:rPr>
              <a:t>Where do we use it </a:t>
            </a:r>
          </a:p>
        </p:txBody>
      </p:sp>
      <p:sp>
        <p:nvSpPr>
          <p:cNvPr id="3" name="Content Placeholder 2">
            <a:extLst>
              <a:ext uri="{FF2B5EF4-FFF2-40B4-BE49-F238E27FC236}">
                <a16:creationId xmlns:a16="http://schemas.microsoft.com/office/drawing/2014/main" id="{4B262D75-DD31-CAE3-9AD0-C6D450F9BDA7}"/>
              </a:ext>
            </a:extLst>
          </p:cNvPr>
          <p:cNvSpPr>
            <a:spLocks noGrp="1"/>
          </p:cNvSpPr>
          <p:nvPr>
            <p:ph idx="1"/>
          </p:nvPr>
        </p:nvSpPr>
        <p:spPr>
          <a:xfrm>
            <a:off x="381000" y="633392"/>
            <a:ext cx="8534400" cy="4499146"/>
          </a:xfrm>
        </p:spPr>
        <p:txBody>
          <a:bodyPr>
            <a:normAutofit fontScale="92500"/>
          </a:bodyPr>
          <a:lstStyle/>
          <a:p>
            <a:pPr algn="l">
              <a:buFont typeface="+mj-lt"/>
              <a:buAutoNum type="arabicPeriod"/>
            </a:pPr>
            <a:r>
              <a:rPr lang="en-US" dirty="0">
                <a:solidFill>
                  <a:srgbClr val="0432FF"/>
                </a:solidFill>
                <a:effectLst/>
                <a:latin typeface="+mj-lt"/>
              </a:rPr>
              <a:t>Linear Regression</a:t>
            </a:r>
            <a:r>
              <a:rPr lang="en-US" dirty="0">
                <a:solidFill>
                  <a:srgbClr val="1F1F1F"/>
                </a:solidFill>
                <a:effectLst/>
                <a:latin typeface="+mj-lt"/>
              </a:rPr>
              <a:t>: Gradient descent is used to optimize the weights of a linear regression model to minimize the mean squared error (MSE) between predicted and actual values.</a:t>
            </a:r>
          </a:p>
          <a:p>
            <a:pPr algn="l">
              <a:buFont typeface="+mj-lt"/>
              <a:buAutoNum type="arabicPeriod"/>
            </a:pPr>
            <a:r>
              <a:rPr lang="en-US" dirty="0">
                <a:solidFill>
                  <a:srgbClr val="0432FF"/>
                </a:solidFill>
                <a:effectLst/>
                <a:latin typeface="+mj-lt"/>
              </a:rPr>
              <a:t>Logistic Regression</a:t>
            </a:r>
            <a:r>
              <a:rPr lang="en-US" dirty="0">
                <a:solidFill>
                  <a:srgbClr val="1F1F1F"/>
                </a:solidFill>
                <a:effectLst/>
                <a:latin typeface="+mj-lt"/>
              </a:rPr>
              <a:t>: Gradient descent is used to optimize the weights of a logistic regression model to minimize the loss and improve its ability to </a:t>
            </a:r>
            <a:r>
              <a:rPr lang="en-US" dirty="0">
                <a:solidFill>
                  <a:srgbClr val="0070C0"/>
                </a:solidFill>
                <a:effectLst/>
                <a:latin typeface="+mj-lt"/>
              </a:rPr>
              <a:t>classify</a:t>
            </a:r>
            <a:r>
              <a:rPr lang="en-US" dirty="0">
                <a:solidFill>
                  <a:srgbClr val="1F1F1F"/>
                </a:solidFill>
                <a:effectLst/>
                <a:latin typeface="+mj-lt"/>
              </a:rPr>
              <a:t> data points.</a:t>
            </a:r>
          </a:p>
          <a:p>
            <a:pPr algn="l">
              <a:buFont typeface="+mj-lt"/>
              <a:buAutoNum type="arabicPeriod"/>
            </a:pPr>
            <a:r>
              <a:rPr lang="en-US" dirty="0">
                <a:solidFill>
                  <a:srgbClr val="0432FF"/>
                </a:solidFill>
                <a:effectLst/>
                <a:latin typeface="+mj-lt"/>
              </a:rPr>
              <a:t>Neural Networks</a:t>
            </a:r>
            <a:r>
              <a:rPr lang="en-US" dirty="0">
                <a:solidFill>
                  <a:srgbClr val="1F1F1F"/>
                </a:solidFill>
                <a:effectLst/>
                <a:latin typeface="+mj-lt"/>
              </a:rPr>
              <a:t>: Gradient descent is the primary algorithm for training neural networks. It is used to </a:t>
            </a:r>
            <a:r>
              <a:rPr lang="en-US" dirty="0">
                <a:solidFill>
                  <a:srgbClr val="0070C0"/>
                </a:solidFill>
                <a:effectLst/>
                <a:latin typeface="+mj-lt"/>
              </a:rPr>
              <a:t>adjust the weights and biases </a:t>
            </a:r>
            <a:r>
              <a:rPr lang="en-US" dirty="0">
                <a:solidFill>
                  <a:srgbClr val="1F1F1F"/>
                </a:solidFill>
                <a:effectLst/>
                <a:latin typeface="+mj-lt"/>
              </a:rPr>
              <a:t>of the network's connections to minimize the loss function and improve its performance on a given task.</a:t>
            </a:r>
          </a:p>
          <a:p>
            <a:pPr algn="l">
              <a:buFont typeface="+mj-lt"/>
              <a:buAutoNum type="arabicPeriod"/>
            </a:pPr>
            <a:r>
              <a:rPr lang="en-US" dirty="0">
                <a:solidFill>
                  <a:srgbClr val="0432FF"/>
                </a:solidFill>
                <a:effectLst/>
                <a:latin typeface="+mj-lt"/>
              </a:rPr>
              <a:t>Support Vector Machines (SVMs): </a:t>
            </a:r>
            <a:r>
              <a:rPr lang="en-US" dirty="0">
                <a:solidFill>
                  <a:srgbClr val="1F1F1F"/>
                </a:solidFill>
                <a:effectLst/>
                <a:latin typeface="+mj-lt"/>
              </a:rPr>
              <a:t>Gradient descent is used to optimize the </a:t>
            </a:r>
            <a:r>
              <a:rPr lang="en-US" dirty="0">
                <a:solidFill>
                  <a:srgbClr val="0070C0"/>
                </a:solidFill>
                <a:effectLst/>
                <a:latin typeface="+mj-lt"/>
              </a:rPr>
              <a:t>hyperparameters of SVMs </a:t>
            </a:r>
            <a:r>
              <a:rPr lang="en-US" dirty="0">
                <a:solidFill>
                  <a:srgbClr val="1F1F1F"/>
                </a:solidFill>
                <a:effectLst/>
                <a:latin typeface="+mj-lt"/>
              </a:rPr>
              <a:t>to find the optimal decision boundary that maximizes the margin between the two classes.</a:t>
            </a:r>
          </a:p>
          <a:p>
            <a:pPr algn="l">
              <a:buFont typeface="+mj-lt"/>
              <a:buAutoNum type="arabicPeriod"/>
            </a:pPr>
            <a:r>
              <a:rPr lang="en-US" dirty="0">
                <a:solidFill>
                  <a:srgbClr val="0432FF"/>
                </a:solidFill>
                <a:effectLst/>
                <a:latin typeface="+mj-lt"/>
              </a:rPr>
              <a:t>Regularization Techniques</a:t>
            </a:r>
            <a:r>
              <a:rPr lang="en-US" dirty="0">
                <a:solidFill>
                  <a:srgbClr val="1F1F1F"/>
                </a:solidFill>
                <a:effectLst/>
                <a:latin typeface="+mj-lt"/>
              </a:rPr>
              <a:t>: Gradient descent is often used in conjunction with regularization techniques, such as L1 and L2 regularization, to </a:t>
            </a:r>
            <a:r>
              <a:rPr lang="en-US" dirty="0">
                <a:solidFill>
                  <a:srgbClr val="0070C0"/>
                </a:solidFill>
                <a:effectLst/>
                <a:latin typeface="+mj-lt"/>
              </a:rPr>
              <a:t>prevent overfitting </a:t>
            </a:r>
            <a:r>
              <a:rPr lang="en-US" dirty="0">
                <a:solidFill>
                  <a:srgbClr val="1F1F1F"/>
                </a:solidFill>
                <a:effectLst/>
                <a:latin typeface="+mj-lt"/>
              </a:rPr>
              <a:t>and improve the generalization ability of machine learning models.</a:t>
            </a:r>
          </a:p>
          <a:p>
            <a:endParaRPr lang="en-PS" dirty="0">
              <a:latin typeface="+mj-lt"/>
            </a:endParaRPr>
          </a:p>
        </p:txBody>
      </p:sp>
      <p:sp>
        <p:nvSpPr>
          <p:cNvPr id="4" name="Slide Number Placeholder 3">
            <a:extLst>
              <a:ext uri="{FF2B5EF4-FFF2-40B4-BE49-F238E27FC236}">
                <a16:creationId xmlns:a16="http://schemas.microsoft.com/office/drawing/2014/main" id="{232CBDAE-9804-460E-0444-8100AAF52D23}"/>
              </a:ext>
            </a:extLst>
          </p:cNvPr>
          <p:cNvSpPr>
            <a:spLocks noGrp="1"/>
          </p:cNvSpPr>
          <p:nvPr>
            <p:ph type="sldNum" sz="quarter" idx="12"/>
          </p:nvPr>
        </p:nvSpPr>
        <p:spPr/>
        <p:txBody>
          <a:bodyPr/>
          <a:lstStyle/>
          <a:p>
            <a:fld id="{B6F15528-21DE-4FAA-801E-634DDDAF4B2B}" type="slidenum">
              <a:rPr lang="en-PS" smtClean="0">
                <a:latin typeface="Gill Sans MT" panose="020B0502020104020203" pitchFamily="34" charset="77"/>
              </a:rPr>
              <a:t>4</a:t>
            </a:fld>
            <a:endParaRPr lang="en-PS">
              <a:latin typeface="Gill Sans MT" panose="020B0502020104020203" pitchFamily="34" charset="77"/>
            </a:endParaRPr>
          </a:p>
        </p:txBody>
      </p:sp>
    </p:spTree>
    <p:extLst>
      <p:ext uri="{BB962C8B-B14F-4D97-AF65-F5344CB8AC3E}">
        <p14:creationId xmlns:p14="http://schemas.microsoft.com/office/powerpoint/2010/main" val="3217590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9978260-71B8-7DDB-4BA2-772160359F9C}"/>
              </a:ext>
            </a:extLst>
          </p:cNvPr>
          <p:cNvGrpSpPr/>
          <p:nvPr/>
        </p:nvGrpSpPr>
        <p:grpSpPr>
          <a:xfrm>
            <a:off x="5636903" y="1946065"/>
            <a:ext cx="3246503" cy="569795"/>
            <a:chOff x="5092605" y="1178836"/>
            <a:chExt cx="3246503" cy="569795"/>
          </a:xfrm>
        </p:grpSpPr>
        <p:sp>
          <p:nvSpPr>
            <p:cNvPr id="18" name="object 18"/>
            <p:cNvSpPr txBox="1"/>
            <p:nvPr/>
          </p:nvSpPr>
          <p:spPr>
            <a:xfrm>
              <a:off x="6008920" y="1178836"/>
              <a:ext cx="2330188" cy="321242"/>
            </a:xfrm>
            <a:prstGeom prst="rect">
              <a:avLst/>
            </a:prstGeom>
          </p:spPr>
          <p:txBody>
            <a:bodyPr vert="horz" wrap="square" lIns="0" tIns="13335" rIns="0" bIns="0" rtlCol="0">
              <a:spAutoFit/>
            </a:bodyPr>
            <a:lstStyle/>
            <a:p>
              <a:pPr marL="38098">
                <a:spcBef>
                  <a:spcPts val="105"/>
                </a:spcBef>
                <a:tabLst>
                  <a:tab pos="295259" algn="l"/>
                </a:tabLst>
              </a:pPr>
              <a:r>
                <a:rPr sz="2000" spc="5" dirty="0">
                  <a:latin typeface="+mj-lt"/>
                  <a:cs typeface="Cambria Math"/>
                </a:rPr>
                <a:t>𝐽	</a:t>
              </a:r>
              <a:r>
                <a:rPr lang="en-GB" sz="2000" spc="5" dirty="0">
                  <a:latin typeface="+mj-lt"/>
                  <a:cs typeface="Cambria Math"/>
                </a:rPr>
                <a:t>(</a:t>
              </a:r>
              <a:r>
                <a:rPr sz="2000" spc="-120" dirty="0">
                  <a:latin typeface="+mj-lt"/>
                  <a:cs typeface="Cambria Math"/>
                </a:rPr>
                <a:t>𝑤</a:t>
              </a:r>
              <a:r>
                <a:rPr sz="2400" spc="157" baseline="-17973" dirty="0">
                  <a:latin typeface="+mj-lt"/>
                  <a:cs typeface="Cambria Math"/>
                </a:rPr>
                <a:t>1</a:t>
              </a:r>
              <a:r>
                <a:rPr sz="2000" dirty="0">
                  <a:latin typeface="+mj-lt"/>
                  <a:cs typeface="Cambria Math"/>
                </a:rPr>
                <a:t>,</a:t>
              </a:r>
              <a:r>
                <a:rPr sz="2000" spc="-120" dirty="0">
                  <a:latin typeface="+mj-lt"/>
                  <a:cs typeface="Cambria Math"/>
                </a:rPr>
                <a:t> </a:t>
              </a:r>
              <a:r>
                <a:rPr sz="2000" spc="-51" dirty="0">
                  <a:latin typeface="+mj-lt"/>
                  <a:cs typeface="Cambria Math"/>
                </a:rPr>
                <a:t>𝑤</a:t>
              </a:r>
              <a:r>
                <a:rPr sz="2400" spc="271" baseline="-17973" dirty="0">
                  <a:latin typeface="+mj-lt"/>
                  <a:cs typeface="Cambria Math"/>
                </a:rPr>
                <a:t>2</a:t>
              </a:r>
              <a:r>
                <a:rPr sz="2000" dirty="0">
                  <a:latin typeface="+mj-lt"/>
                  <a:cs typeface="Cambria Math"/>
                </a:rPr>
                <a:t>,</a:t>
              </a:r>
              <a:r>
                <a:rPr sz="2000" spc="-200" dirty="0">
                  <a:latin typeface="+mj-lt"/>
                  <a:cs typeface="Cambria Math"/>
                </a:rPr>
                <a:t> </a:t>
              </a:r>
              <a:r>
                <a:rPr sz="2000" dirty="0">
                  <a:latin typeface="+mj-lt"/>
                  <a:cs typeface="Cambria Math"/>
                </a:rPr>
                <a:t>…</a:t>
              </a:r>
              <a:r>
                <a:rPr sz="2000" spc="-85" dirty="0">
                  <a:latin typeface="+mj-lt"/>
                  <a:cs typeface="Cambria Math"/>
                </a:rPr>
                <a:t> </a:t>
              </a:r>
              <a:r>
                <a:rPr sz="2000" dirty="0">
                  <a:latin typeface="+mj-lt"/>
                  <a:cs typeface="Cambria Math"/>
                </a:rPr>
                <a:t>,</a:t>
              </a:r>
              <a:r>
                <a:rPr sz="2000" spc="-120" dirty="0">
                  <a:latin typeface="+mj-lt"/>
                  <a:cs typeface="Cambria Math"/>
                </a:rPr>
                <a:t> </a:t>
              </a:r>
              <a:r>
                <a:rPr sz="2000" spc="-125" dirty="0">
                  <a:latin typeface="+mj-lt"/>
                  <a:cs typeface="Cambria Math"/>
                </a:rPr>
                <a:t>𝑤</a:t>
              </a:r>
              <a:r>
                <a:rPr sz="2400" spc="503" baseline="-17973" dirty="0">
                  <a:latin typeface="+mj-lt"/>
                  <a:cs typeface="Cambria Math"/>
                </a:rPr>
                <a:t>𝑛</a:t>
              </a:r>
              <a:r>
                <a:rPr sz="2000" dirty="0">
                  <a:latin typeface="+mj-lt"/>
                  <a:cs typeface="Cambria Math"/>
                </a:rPr>
                <a:t>,</a:t>
              </a:r>
              <a:r>
                <a:rPr sz="2000" spc="-125" dirty="0">
                  <a:latin typeface="+mj-lt"/>
                  <a:cs typeface="Cambria Math"/>
                </a:rPr>
                <a:t> </a:t>
              </a:r>
              <a:r>
                <a:rPr sz="2000" spc="5" dirty="0">
                  <a:latin typeface="+mj-lt"/>
                  <a:cs typeface="Cambria Math"/>
                </a:rPr>
                <a:t>𝑏</a:t>
              </a:r>
              <a:r>
                <a:rPr lang="en-GB" sz="2000" spc="5" dirty="0">
                  <a:latin typeface="+mj-lt"/>
                  <a:cs typeface="Cambria Math"/>
                </a:rPr>
                <a:t>)</a:t>
              </a:r>
              <a:endParaRPr sz="2000" dirty="0">
                <a:latin typeface="+mj-lt"/>
                <a:cs typeface="Cambria Math"/>
              </a:endParaRPr>
            </a:p>
          </p:txBody>
        </p:sp>
        <p:sp>
          <p:nvSpPr>
            <p:cNvPr id="19" name="object 19"/>
            <p:cNvSpPr txBox="1"/>
            <p:nvPr/>
          </p:nvSpPr>
          <p:spPr>
            <a:xfrm>
              <a:off x="5092605" y="1194312"/>
              <a:ext cx="1358108" cy="554319"/>
            </a:xfrm>
            <a:prstGeom prst="rect">
              <a:avLst/>
            </a:prstGeom>
          </p:spPr>
          <p:txBody>
            <a:bodyPr vert="horz" wrap="square" lIns="0" tIns="13335" rIns="0" bIns="0" rtlCol="0">
              <a:spAutoFit/>
            </a:bodyPr>
            <a:lstStyle/>
            <a:p>
              <a:pPr algn="ctr">
                <a:lnSpc>
                  <a:spcPts val="2505"/>
                </a:lnSpc>
                <a:spcBef>
                  <a:spcPts val="105"/>
                </a:spcBef>
              </a:pPr>
              <a:r>
                <a:rPr sz="2400" spc="5" dirty="0">
                  <a:latin typeface="+mj-lt"/>
                  <a:cs typeface="Cambria Math"/>
                </a:rPr>
                <a:t>min</a:t>
              </a:r>
              <a:endParaRPr sz="2400" dirty="0">
                <a:latin typeface="+mj-lt"/>
                <a:cs typeface="Cambria Math"/>
              </a:endParaRPr>
            </a:p>
            <a:p>
              <a:pPr algn="ctr">
                <a:lnSpc>
                  <a:spcPts val="1664"/>
                </a:lnSpc>
              </a:pPr>
              <a:r>
                <a:rPr sz="1700" spc="75" dirty="0">
                  <a:latin typeface="+mj-lt"/>
                  <a:cs typeface="Cambria Math"/>
                </a:rPr>
                <a:t>w</a:t>
              </a:r>
              <a:r>
                <a:rPr sz="2100" spc="112" baseline="-15873" dirty="0">
                  <a:latin typeface="+mj-lt"/>
                  <a:cs typeface="Cambria Math"/>
                </a:rPr>
                <a:t>1</a:t>
              </a:r>
              <a:r>
                <a:rPr sz="1700" spc="75" dirty="0">
                  <a:latin typeface="+mj-lt"/>
                  <a:cs typeface="Cambria Math"/>
                </a:rPr>
                <a:t>,</a:t>
              </a:r>
              <a:r>
                <a:rPr sz="1700" spc="-11" dirty="0">
                  <a:latin typeface="+mj-lt"/>
                  <a:cs typeface="Cambria Math"/>
                </a:rPr>
                <a:t> </a:t>
              </a:r>
              <a:r>
                <a:rPr sz="1700" spc="95" dirty="0">
                  <a:latin typeface="+mj-lt"/>
                  <a:cs typeface="Cambria Math"/>
                </a:rPr>
                <a:t>…,w</a:t>
              </a:r>
              <a:r>
                <a:rPr sz="2100" spc="143" baseline="-15873" dirty="0">
                  <a:latin typeface="+mj-lt"/>
                  <a:cs typeface="Cambria Math"/>
                </a:rPr>
                <a:t>𝑛</a:t>
              </a:r>
              <a:r>
                <a:rPr sz="1700" spc="95" dirty="0">
                  <a:latin typeface="+mj-lt"/>
                  <a:cs typeface="Cambria Math"/>
                </a:rPr>
                <a:t>,𝑏</a:t>
              </a:r>
              <a:endParaRPr sz="1700" dirty="0">
                <a:latin typeface="+mj-lt"/>
                <a:cs typeface="Cambria Math"/>
              </a:endParaRPr>
            </a:p>
          </p:txBody>
        </p:sp>
      </p:grpSp>
      <p:sp>
        <p:nvSpPr>
          <p:cNvPr id="42" name="Slide Number Placeholder 41">
            <a:extLst>
              <a:ext uri="{FF2B5EF4-FFF2-40B4-BE49-F238E27FC236}">
                <a16:creationId xmlns:a16="http://schemas.microsoft.com/office/drawing/2014/main" id="{6BFD1D96-452A-1DB6-B871-DFF42DEE5390}"/>
              </a:ext>
            </a:extLst>
          </p:cNvPr>
          <p:cNvSpPr>
            <a:spLocks noGrp="1"/>
          </p:cNvSpPr>
          <p:nvPr>
            <p:ph type="sldNum" sz="quarter" idx="12"/>
          </p:nvPr>
        </p:nvSpPr>
        <p:spPr>
          <a:xfrm>
            <a:off x="8799789" y="4869656"/>
            <a:ext cx="306111" cy="273844"/>
          </a:xfrm>
        </p:spPr>
        <p:txBody>
          <a:bodyPr/>
          <a:lstStyle/>
          <a:p>
            <a:fld id="{B6F15528-21DE-4FAA-801E-634DDDAF4B2B}" type="slidenum">
              <a:rPr lang="en-PS" smtClean="0">
                <a:latin typeface="+mj-lt"/>
              </a:rPr>
              <a:t>5</a:t>
            </a:fld>
            <a:endParaRPr lang="en-PS">
              <a:latin typeface="+mj-lt"/>
            </a:endParaRPr>
          </a:p>
        </p:txBody>
      </p:sp>
      <p:sp>
        <p:nvSpPr>
          <p:cNvPr id="7" name="TextBox 6">
            <a:extLst>
              <a:ext uri="{FF2B5EF4-FFF2-40B4-BE49-F238E27FC236}">
                <a16:creationId xmlns:a16="http://schemas.microsoft.com/office/drawing/2014/main" id="{8512A569-1156-5C1C-F63B-5C53E30113DD}"/>
              </a:ext>
            </a:extLst>
          </p:cNvPr>
          <p:cNvSpPr txBox="1"/>
          <p:nvPr/>
        </p:nvSpPr>
        <p:spPr>
          <a:xfrm>
            <a:off x="198758" y="73619"/>
            <a:ext cx="4763292" cy="584775"/>
          </a:xfrm>
          <a:prstGeom prst="rect">
            <a:avLst/>
          </a:prstGeom>
          <a:noFill/>
        </p:spPr>
        <p:txBody>
          <a:bodyPr wrap="none" rtlCol="0">
            <a:spAutoFit/>
          </a:bodyPr>
          <a:lstStyle/>
          <a:p>
            <a:r>
              <a:rPr lang="en-GB" sz="3200" dirty="0">
                <a:solidFill>
                  <a:srgbClr val="0432FF"/>
                </a:solidFill>
                <a:latin typeface="+mj-lt"/>
              </a:rPr>
              <a:t>Review of linear regression </a:t>
            </a:r>
            <a:endParaRPr lang="en-PS" sz="3200" dirty="0">
              <a:solidFill>
                <a:srgbClr val="0432FF"/>
              </a:solidFill>
              <a:latin typeface="+mj-lt"/>
            </a:endParaRPr>
          </a:p>
        </p:txBody>
      </p:sp>
      <p:sp>
        <p:nvSpPr>
          <p:cNvPr id="5" name="TextBox 4">
            <a:extLst>
              <a:ext uri="{FF2B5EF4-FFF2-40B4-BE49-F238E27FC236}">
                <a16:creationId xmlns:a16="http://schemas.microsoft.com/office/drawing/2014/main" id="{7C4B5F39-6FF5-3787-7E04-1814F50FA13F}"/>
              </a:ext>
            </a:extLst>
          </p:cNvPr>
          <p:cNvSpPr txBox="1"/>
          <p:nvPr/>
        </p:nvSpPr>
        <p:spPr>
          <a:xfrm>
            <a:off x="5627021" y="680968"/>
            <a:ext cx="3327873" cy="923330"/>
          </a:xfrm>
          <a:prstGeom prst="rect">
            <a:avLst/>
          </a:prstGeom>
          <a:noFill/>
        </p:spPr>
        <p:txBody>
          <a:bodyPr wrap="square" rtlCol="0">
            <a:spAutoFit/>
          </a:bodyPr>
          <a:lstStyle/>
          <a:p>
            <a:r>
              <a:rPr lang="en-PS" dirty="0">
                <a:latin typeface="+mj-lt"/>
              </a:rPr>
              <a:t>Can be use for J(w,b), or any other</a:t>
            </a:r>
            <a:r>
              <a:rPr lang="ar-SA" dirty="0">
                <a:latin typeface="+mj-lt"/>
              </a:rPr>
              <a:t> </a:t>
            </a:r>
            <a:r>
              <a:rPr lang="en-PS" dirty="0">
                <a:latin typeface="+mj-lt"/>
              </a:rPr>
              <a:t>function, even with </a:t>
            </a:r>
            <a:r>
              <a:rPr lang="en-PS" dirty="0">
                <a:solidFill>
                  <a:srgbClr val="0070C0"/>
                </a:solidFill>
                <a:latin typeface="+mj-lt"/>
              </a:rPr>
              <a:t>large number of parameters</a:t>
            </a:r>
            <a:r>
              <a:rPr lang="en-PS" dirty="0">
                <a:latin typeface="+mj-lt"/>
              </a:rPr>
              <a:t>: </a:t>
            </a:r>
          </a:p>
        </p:txBody>
      </p:sp>
      <p:sp>
        <p:nvSpPr>
          <p:cNvPr id="8" name="TextBox 7">
            <a:extLst>
              <a:ext uri="{FF2B5EF4-FFF2-40B4-BE49-F238E27FC236}">
                <a16:creationId xmlns:a16="http://schemas.microsoft.com/office/drawing/2014/main" id="{B7BDE156-62F5-D56D-64DC-47ACB94341A2}"/>
              </a:ext>
            </a:extLst>
          </p:cNvPr>
          <p:cNvSpPr txBox="1"/>
          <p:nvPr/>
        </p:nvSpPr>
        <p:spPr>
          <a:xfrm>
            <a:off x="5585901" y="2919552"/>
            <a:ext cx="3327873" cy="1323439"/>
          </a:xfrm>
          <a:prstGeom prst="rect">
            <a:avLst/>
          </a:prstGeom>
          <a:noFill/>
        </p:spPr>
        <p:txBody>
          <a:bodyPr wrap="square" rtlCol="0">
            <a:spAutoFit/>
          </a:bodyPr>
          <a:lstStyle/>
          <a:p>
            <a:r>
              <a:rPr lang="en-PS" sz="2000" dirty="0">
                <a:latin typeface="+mj-lt"/>
              </a:rPr>
              <a:t>Gradient Descent can help us</a:t>
            </a:r>
          </a:p>
          <a:p>
            <a:r>
              <a:rPr lang="en-PS" sz="2000" dirty="0">
                <a:latin typeface="+mj-lt"/>
              </a:rPr>
              <a:t>find the values of </a:t>
            </a:r>
            <a:r>
              <a:rPr lang="en-PS" sz="2000" dirty="0">
                <a:solidFill>
                  <a:srgbClr val="0070C0"/>
                </a:solidFill>
                <a:latin typeface="+mj-lt"/>
              </a:rPr>
              <a:t>w</a:t>
            </a:r>
            <a:r>
              <a:rPr lang="en-PS" sz="2000" baseline="-25000" dirty="0">
                <a:solidFill>
                  <a:srgbClr val="0070C0"/>
                </a:solidFill>
                <a:latin typeface="+mj-lt"/>
              </a:rPr>
              <a:t>n</a:t>
            </a:r>
            <a:r>
              <a:rPr lang="en-PS" sz="2000" dirty="0">
                <a:solidFill>
                  <a:srgbClr val="0070C0"/>
                </a:solidFill>
                <a:latin typeface="+mj-lt"/>
              </a:rPr>
              <a:t> and b</a:t>
            </a:r>
          </a:p>
          <a:p>
            <a:r>
              <a:rPr lang="en-PS" sz="2000" dirty="0">
                <a:latin typeface="+mj-lt"/>
              </a:rPr>
              <a:t>that give the minimum value</a:t>
            </a:r>
          </a:p>
          <a:p>
            <a:r>
              <a:rPr lang="en-PS" sz="2000" dirty="0">
                <a:latin typeface="+mj-lt"/>
              </a:rPr>
              <a:t>for </a:t>
            </a:r>
            <a:r>
              <a:rPr lang="en-PS" sz="2000" dirty="0">
                <a:solidFill>
                  <a:srgbClr val="0070C0"/>
                </a:solidFill>
                <a:latin typeface="+mj-lt"/>
              </a:rPr>
              <a:t>J(w</a:t>
            </a:r>
            <a:r>
              <a:rPr lang="en-PS" sz="2000" baseline="-25000" dirty="0">
                <a:solidFill>
                  <a:srgbClr val="0070C0"/>
                </a:solidFill>
                <a:latin typeface="+mj-lt"/>
              </a:rPr>
              <a:t>1</a:t>
            </a:r>
            <a:r>
              <a:rPr lang="en-PS" sz="2000" dirty="0">
                <a:solidFill>
                  <a:srgbClr val="0070C0"/>
                </a:solidFill>
                <a:latin typeface="+mj-lt"/>
              </a:rPr>
              <a:t>, w</a:t>
            </a:r>
            <a:r>
              <a:rPr lang="en-PS" sz="2000" baseline="-25000" dirty="0">
                <a:solidFill>
                  <a:srgbClr val="0070C0"/>
                </a:solidFill>
                <a:latin typeface="+mj-lt"/>
              </a:rPr>
              <a:t>2</a:t>
            </a:r>
            <a:r>
              <a:rPr lang="en-PS" sz="2000" dirty="0">
                <a:solidFill>
                  <a:srgbClr val="0070C0"/>
                </a:solidFill>
                <a:latin typeface="+mj-lt"/>
              </a:rPr>
              <a:t>, w</a:t>
            </a:r>
            <a:r>
              <a:rPr lang="en-PS" sz="2000" baseline="-25000" dirty="0">
                <a:solidFill>
                  <a:srgbClr val="0070C0"/>
                </a:solidFill>
                <a:latin typeface="+mj-lt"/>
              </a:rPr>
              <a:t>3</a:t>
            </a:r>
            <a:r>
              <a:rPr lang="en-PS" sz="2000" dirty="0">
                <a:solidFill>
                  <a:srgbClr val="0070C0"/>
                </a:solidFill>
                <a:latin typeface="+mj-lt"/>
              </a:rPr>
              <a:t>, ...  w</a:t>
            </a:r>
            <a:r>
              <a:rPr lang="en-PS" sz="2000" baseline="-25000" dirty="0">
                <a:solidFill>
                  <a:srgbClr val="0070C0"/>
                </a:solidFill>
                <a:latin typeface="+mj-lt"/>
              </a:rPr>
              <a:t>n</a:t>
            </a:r>
            <a:r>
              <a:rPr lang="en-PS" sz="2000" dirty="0">
                <a:solidFill>
                  <a:srgbClr val="0070C0"/>
                </a:solidFill>
                <a:latin typeface="+mj-lt"/>
              </a:rPr>
              <a:t>, b)</a:t>
            </a:r>
          </a:p>
        </p:txBody>
      </p:sp>
      <p:cxnSp>
        <p:nvCxnSpPr>
          <p:cNvPr id="16" name="Straight Connector 15">
            <a:extLst>
              <a:ext uri="{FF2B5EF4-FFF2-40B4-BE49-F238E27FC236}">
                <a16:creationId xmlns:a16="http://schemas.microsoft.com/office/drawing/2014/main" id="{C0CDF58C-8E92-EC9C-B93E-BD9DA23CA35D}"/>
              </a:ext>
            </a:extLst>
          </p:cNvPr>
          <p:cNvCxnSpPr/>
          <p:nvPr/>
        </p:nvCxnSpPr>
        <p:spPr>
          <a:xfrm>
            <a:off x="5294287" y="466002"/>
            <a:ext cx="0" cy="4575105"/>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F8B3B05-58B2-EDB9-9824-27ED2C0CC271}"/>
              </a:ext>
            </a:extLst>
          </p:cNvPr>
          <p:cNvSpPr txBox="1"/>
          <p:nvPr/>
        </p:nvSpPr>
        <p:spPr>
          <a:xfrm>
            <a:off x="5301214" y="96670"/>
            <a:ext cx="3948710" cy="369332"/>
          </a:xfrm>
          <a:prstGeom prst="rect">
            <a:avLst/>
          </a:prstGeom>
          <a:noFill/>
        </p:spPr>
        <p:txBody>
          <a:bodyPr wrap="none" rtlCol="0">
            <a:spAutoFit/>
          </a:bodyPr>
          <a:lstStyle/>
          <a:p>
            <a:r>
              <a:rPr lang="en-PS" dirty="0">
                <a:latin typeface="+mj-lt"/>
              </a:rPr>
              <a:t>What can we do with Gradient Descent</a:t>
            </a:r>
          </a:p>
        </p:txBody>
      </p:sp>
      <p:sp>
        <p:nvSpPr>
          <p:cNvPr id="36" name="TextBox 35">
            <a:extLst>
              <a:ext uri="{FF2B5EF4-FFF2-40B4-BE49-F238E27FC236}">
                <a16:creationId xmlns:a16="http://schemas.microsoft.com/office/drawing/2014/main" id="{57EB368C-B2FB-4E42-D1B6-C5B97CCB8EBD}"/>
              </a:ext>
            </a:extLst>
          </p:cNvPr>
          <p:cNvSpPr txBox="1"/>
          <p:nvPr/>
        </p:nvSpPr>
        <p:spPr>
          <a:xfrm>
            <a:off x="85239" y="2258832"/>
            <a:ext cx="5020162" cy="2554545"/>
          </a:xfrm>
          <a:prstGeom prst="rect">
            <a:avLst/>
          </a:prstGeom>
          <a:noFill/>
        </p:spPr>
        <p:txBody>
          <a:bodyPr wrap="square" rtlCol="0">
            <a:spAutoFit/>
          </a:bodyPr>
          <a:lstStyle/>
          <a:p>
            <a:r>
              <a:rPr lang="en-PS" sz="2000" dirty="0">
                <a:latin typeface="+mj-lt"/>
              </a:rPr>
              <a:t>How is that implemented:</a:t>
            </a:r>
          </a:p>
          <a:p>
            <a:pPr marL="457200" indent="-457200">
              <a:buFont typeface="+mj-lt"/>
              <a:buAutoNum type="arabicPeriod"/>
            </a:pPr>
            <a:r>
              <a:rPr lang="en-PS" sz="2000" dirty="0">
                <a:latin typeface="+mj-lt"/>
              </a:rPr>
              <a:t> Start with some initial values for w, b, for example: </a:t>
            </a:r>
            <a:r>
              <a:rPr lang="en-PS" sz="2000" dirty="0">
                <a:solidFill>
                  <a:srgbClr val="0070C0"/>
                </a:solidFill>
                <a:latin typeface="+mj-lt"/>
              </a:rPr>
              <a:t>w= 0, b=0</a:t>
            </a:r>
          </a:p>
          <a:p>
            <a:pPr marL="457200" indent="-457200">
              <a:buFont typeface="+mj-lt"/>
              <a:buAutoNum type="arabicPeriod"/>
            </a:pPr>
            <a:r>
              <a:rPr lang="en-PS" sz="2000" dirty="0">
                <a:latin typeface="+mj-lt"/>
              </a:rPr>
              <a:t>Keep changing w, b to reduce J(w,b)</a:t>
            </a:r>
          </a:p>
          <a:p>
            <a:pPr marL="457200" indent="-457200">
              <a:buFont typeface="+mj-lt"/>
              <a:buAutoNum type="arabicPeriod"/>
            </a:pPr>
            <a:r>
              <a:rPr lang="en-PS" sz="2000" dirty="0">
                <a:latin typeface="+mj-lt"/>
              </a:rPr>
              <a:t>Keep changing until it settle at or near a </a:t>
            </a:r>
            <a:r>
              <a:rPr lang="en-PS" sz="2000" dirty="0">
                <a:solidFill>
                  <a:srgbClr val="0070C0"/>
                </a:solidFill>
                <a:latin typeface="+mj-lt"/>
              </a:rPr>
              <a:t>minimum value</a:t>
            </a:r>
            <a:r>
              <a:rPr lang="en-PS" sz="2000" dirty="0">
                <a:solidFill>
                  <a:srgbClr val="0432FF"/>
                </a:solidFill>
                <a:latin typeface="+mj-lt"/>
              </a:rPr>
              <a:t>.</a:t>
            </a:r>
          </a:p>
          <a:p>
            <a:pPr marL="457200" indent="-457200">
              <a:buFont typeface="+mj-lt"/>
              <a:buAutoNum type="arabicPeriod"/>
            </a:pPr>
            <a:r>
              <a:rPr lang="en-PS" sz="2000" dirty="0">
                <a:latin typeface="+mj-lt"/>
              </a:rPr>
              <a:t>There is a possibilty of having more than 1 local minimum </a:t>
            </a:r>
          </a:p>
        </p:txBody>
      </p:sp>
      <p:sp>
        <p:nvSpPr>
          <p:cNvPr id="37" name="TextBox 36">
            <a:extLst>
              <a:ext uri="{FF2B5EF4-FFF2-40B4-BE49-F238E27FC236}">
                <a16:creationId xmlns:a16="http://schemas.microsoft.com/office/drawing/2014/main" id="{03D17A49-1288-C870-9CC1-60747FDA5FF4}"/>
              </a:ext>
            </a:extLst>
          </p:cNvPr>
          <p:cNvSpPr txBox="1"/>
          <p:nvPr/>
        </p:nvSpPr>
        <p:spPr>
          <a:xfrm>
            <a:off x="236858" y="658394"/>
            <a:ext cx="4930137" cy="1015663"/>
          </a:xfrm>
          <a:prstGeom prst="rect">
            <a:avLst/>
          </a:prstGeom>
          <a:noFill/>
        </p:spPr>
        <p:txBody>
          <a:bodyPr wrap="square" rtlCol="0">
            <a:spAutoFit/>
          </a:bodyPr>
          <a:lstStyle/>
          <a:p>
            <a:r>
              <a:rPr lang="en-PS" sz="2000" dirty="0">
                <a:latin typeface="+mj-lt"/>
              </a:rPr>
              <a:t>Have some function </a:t>
            </a:r>
            <a:r>
              <a:rPr lang="en-PS" sz="2000" dirty="0">
                <a:solidFill>
                  <a:srgbClr val="0070C0"/>
                </a:solidFill>
                <a:latin typeface="+mj-lt"/>
              </a:rPr>
              <a:t>J(w,b)</a:t>
            </a:r>
            <a:r>
              <a:rPr lang="en-PS" sz="2000" dirty="0">
                <a:latin typeface="+mj-lt"/>
              </a:rPr>
              <a:t>, cost function, </a:t>
            </a:r>
          </a:p>
          <a:p>
            <a:r>
              <a:rPr lang="en-PS" sz="2000" dirty="0">
                <a:latin typeface="+mj-lt"/>
              </a:rPr>
              <a:t>Want to minimize </a:t>
            </a:r>
            <a:r>
              <a:rPr lang="en-PS" sz="2000" dirty="0">
                <a:solidFill>
                  <a:srgbClr val="0070C0"/>
                </a:solidFill>
                <a:latin typeface="+mj-lt"/>
              </a:rPr>
              <a:t>J(w,b)</a:t>
            </a:r>
            <a:r>
              <a:rPr lang="en-PS" sz="2000" dirty="0">
                <a:latin typeface="+mj-lt"/>
              </a:rPr>
              <a:t> with respect to w and b:</a:t>
            </a:r>
          </a:p>
        </p:txBody>
      </p:sp>
      <p:grpSp>
        <p:nvGrpSpPr>
          <p:cNvPr id="43" name="Group 42">
            <a:extLst>
              <a:ext uri="{FF2B5EF4-FFF2-40B4-BE49-F238E27FC236}">
                <a16:creationId xmlns:a16="http://schemas.microsoft.com/office/drawing/2014/main" id="{CE05AE21-F824-AA1E-FB08-EEED15C0F14F}"/>
              </a:ext>
            </a:extLst>
          </p:cNvPr>
          <p:cNvGrpSpPr/>
          <p:nvPr/>
        </p:nvGrpSpPr>
        <p:grpSpPr>
          <a:xfrm>
            <a:off x="1828800" y="1530809"/>
            <a:ext cx="1181477" cy="584776"/>
            <a:chOff x="1828800" y="1530809"/>
            <a:chExt cx="1181477" cy="584776"/>
          </a:xfrm>
        </p:grpSpPr>
        <p:sp>
          <p:nvSpPr>
            <p:cNvPr id="39" name="TextBox 38">
              <a:extLst>
                <a:ext uri="{FF2B5EF4-FFF2-40B4-BE49-F238E27FC236}">
                  <a16:creationId xmlns:a16="http://schemas.microsoft.com/office/drawing/2014/main" id="{2F7ADE13-F445-D2AB-FC62-E0589FED18B1}"/>
                </a:ext>
              </a:extLst>
            </p:cNvPr>
            <p:cNvSpPr txBox="1"/>
            <p:nvPr/>
          </p:nvSpPr>
          <p:spPr>
            <a:xfrm>
              <a:off x="1828800" y="1530809"/>
              <a:ext cx="1181477" cy="400110"/>
            </a:xfrm>
            <a:prstGeom prst="rect">
              <a:avLst/>
            </a:prstGeom>
            <a:noFill/>
          </p:spPr>
          <p:txBody>
            <a:bodyPr wrap="none" rtlCol="0">
              <a:spAutoFit/>
            </a:bodyPr>
            <a:lstStyle/>
            <a:p>
              <a:r>
                <a:rPr lang="en-PS" dirty="0">
                  <a:solidFill>
                    <a:srgbClr val="0070C0"/>
                  </a:solidFill>
                  <a:latin typeface="+mj-lt"/>
                </a:rPr>
                <a:t>min </a:t>
              </a:r>
              <a:r>
                <a:rPr lang="en-PS" sz="2000" i="1" dirty="0">
                  <a:solidFill>
                    <a:srgbClr val="0070C0"/>
                  </a:solidFill>
                  <a:latin typeface="+mj-lt"/>
                  <a:cs typeface="Times New Roman" panose="02020603050405020304" pitchFamily="18" charset="0"/>
                </a:rPr>
                <a:t>J(w,b)</a:t>
              </a:r>
              <a:endParaRPr lang="en-PS" i="1" dirty="0">
                <a:solidFill>
                  <a:srgbClr val="0070C0"/>
                </a:solidFill>
                <a:latin typeface="+mj-lt"/>
                <a:cs typeface="Times New Roman" panose="02020603050405020304" pitchFamily="18" charset="0"/>
              </a:endParaRPr>
            </a:p>
          </p:txBody>
        </p:sp>
        <p:sp>
          <p:nvSpPr>
            <p:cNvPr id="40" name="TextBox 39">
              <a:extLst>
                <a:ext uri="{FF2B5EF4-FFF2-40B4-BE49-F238E27FC236}">
                  <a16:creationId xmlns:a16="http://schemas.microsoft.com/office/drawing/2014/main" id="{DBC7D1E3-CBEB-381E-CFAF-53663F7A05B2}"/>
                </a:ext>
              </a:extLst>
            </p:cNvPr>
            <p:cNvSpPr txBox="1"/>
            <p:nvPr/>
          </p:nvSpPr>
          <p:spPr>
            <a:xfrm>
              <a:off x="2077543" y="1746253"/>
              <a:ext cx="505010" cy="369332"/>
            </a:xfrm>
            <a:prstGeom prst="rect">
              <a:avLst/>
            </a:prstGeom>
            <a:noFill/>
          </p:spPr>
          <p:txBody>
            <a:bodyPr wrap="none" rtlCol="0">
              <a:spAutoFit/>
            </a:bodyPr>
            <a:lstStyle/>
            <a:p>
              <a:r>
                <a:rPr lang="en-PS" i="1" dirty="0">
                  <a:solidFill>
                    <a:srgbClr val="0070C0"/>
                  </a:solidFill>
                  <a:latin typeface="+mj-lt"/>
                  <a:cs typeface="Times New Roman" panose="02020603050405020304" pitchFamily="18" charset="0"/>
                </a:rPr>
                <a:t>w,b</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00200" y="450389"/>
            <a:ext cx="6400800" cy="3505200"/>
          </a:xfrm>
          <a:prstGeom prst="rect">
            <a:avLst/>
          </a:prstGeom>
        </p:spPr>
      </p:pic>
      <p:sp>
        <p:nvSpPr>
          <p:cNvPr id="3" name="object 3"/>
          <p:cNvSpPr txBox="1"/>
          <p:nvPr/>
        </p:nvSpPr>
        <p:spPr>
          <a:xfrm>
            <a:off x="3048000" y="3564114"/>
            <a:ext cx="371475" cy="324449"/>
          </a:xfrm>
          <a:prstGeom prst="rect">
            <a:avLst/>
          </a:prstGeom>
        </p:spPr>
        <p:txBody>
          <a:bodyPr vert="horz" wrap="square" lIns="0" tIns="16511" rIns="0" bIns="0" rtlCol="0">
            <a:spAutoFit/>
          </a:bodyPr>
          <a:lstStyle/>
          <a:p>
            <a:pPr marL="12700">
              <a:spcBef>
                <a:spcPts val="131"/>
              </a:spcBef>
            </a:pPr>
            <a:r>
              <a:rPr sz="2000" u="heavy" spc="105" dirty="0">
                <a:uFill>
                  <a:solidFill>
                    <a:srgbClr val="4285F4"/>
                  </a:solidFill>
                </a:uFill>
                <a:latin typeface="Times New Roman"/>
                <a:cs typeface="Times New Roman"/>
              </a:rPr>
              <a:t> </a:t>
            </a:r>
            <a:r>
              <a:rPr sz="2000" u="heavy" spc="20" dirty="0">
                <a:uFill>
                  <a:solidFill>
                    <a:srgbClr val="4285F4"/>
                  </a:solidFill>
                </a:uFill>
                <a:latin typeface="Cambria Math"/>
                <a:cs typeface="Cambria Math"/>
              </a:rPr>
              <a:t>𝑤</a:t>
            </a:r>
            <a:r>
              <a:rPr sz="2000" u="heavy" spc="169" dirty="0">
                <a:uFill>
                  <a:solidFill>
                    <a:srgbClr val="4285F4"/>
                  </a:solidFill>
                </a:uFill>
                <a:latin typeface="Cambria Math"/>
                <a:cs typeface="Cambria Math"/>
              </a:rPr>
              <a:t> </a:t>
            </a:r>
            <a:endParaRPr sz="2000" dirty="0">
              <a:latin typeface="Cambria Math"/>
              <a:cs typeface="Cambria Math"/>
            </a:endParaRPr>
          </a:p>
        </p:txBody>
      </p:sp>
      <p:sp>
        <p:nvSpPr>
          <p:cNvPr id="4" name="object 4"/>
          <p:cNvSpPr txBox="1"/>
          <p:nvPr/>
        </p:nvSpPr>
        <p:spPr>
          <a:xfrm>
            <a:off x="6967599" y="3476310"/>
            <a:ext cx="371475" cy="324449"/>
          </a:xfrm>
          <a:prstGeom prst="rect">
            <a:avLst/>
          </a:prstGeom>
        </p:spPr>
        <p:txBody>
          <a:bodyPr vert="horz" wrap="square" lIns="0" tIns="16511" rIns="0" bIns="0" rtlCol="0">
            <a:spAutoFit/>
          </a:bodyPr>
          <a:lstStyle/>
          <a:p>
            <a:pPr marL="12700">
              <a:spcBef>
                <a:spcPts val="131"/>
              </a:spcBef>
            </a:pPr>
            <a:r>
              <a:rPr sz="2000" u="heavy" spc="5" dirty="0">
                <a:uFill>
                  <a:solidFill>
                    <a:srgbClr val="4285F4"/>
                  </a:solidFill>
                </a:uFill>
                <a:latin typeface="Times New Roman"/>
                <a:cs typeface="Times New Roman"/>
              </a:rPr>
              <a:t> </a:t>
            </a:r>
            <a:r>
              <a:rPr sz="2000" u="heavy" spc="-191" dirty="0">
                <a:uFill>
                  <a:solidFill>
                    <a:srgbClr val="4285F4"/>
                  </a:solidFill>
                </a:uFill>
                <a:latin typeface="Times New Roman"/>
                <a:cs typeface="Times New Roman"/>
              </a:rPr>
              <a:t> </a:t>
            </a:r>
            <a:r>
              <a:rPr sz="2000" u="heavy" spc="15" dirty="0">
                <a:uFill>
                  <a:solidFill>
                    <a:srgbClr val="4285F4"/>
                  </a:solidFill>
                </a:uFill>
                <a:latin typeface="Cambria Math"/>
                <a:cs typeface="Cambria Math"/>
              </a:rPr>
              <a:t>𝑏</a:t>
            </a:r>
            <a:r>
              <a:rPr sz="2000" u="heavy" spc="-75" dirty="0">
                <a:uFill>
                  <a:solidFill>
                    <a:srgbClr val="4285F4"/>
                  </a:solidFill>
                </a:uFill>
                <a:latin typeface="Cambria Math"/>
                <a:cs typeface="Cambria Math"/>
              </a:rPr>
              <a:t> </a:t>
            </a:r>
            <a:endParaRPr sz="2000" dirty="0">
              <a:latin typeface="Cambria Math"/>
              <a:cs typeface="Cambria Math"/>
            </a:endParaRPr>
          </a:p>
        </p:txBody>
      </p:sp>
      <p:sp>
        <p:nvSpPr>
          <p:cNvPr id="5" name="object 5"/>
          <p:cNvSpPr/>
          <p:nvPr/>
        </p:nvSpPr>
        <p:spPr>
          <a:xfrm>
            <a:off x="517907" y="2338706"/>
            <a:ext cx="652145" cy="238125"/>
          </a:xfrm>
          <a:custGeom>
            <a:avLst/>
            <a:gdLst/>
            <a:ahLst/>
            <a:cxnLst/>
            <a:rect l="l" t="t" r="r" b="b"/>
            <a:pathLst>
              <a:path w="652144" h="238125">
                <a:moveTo>
                  <a:pt x="576110" y="0"/>
                </a:moveTo>
                <a:lnTo>
                  <a:pt x="572719" y="9651"/>
                </a:lnTo>
                <a:lnTo>
                  <a:pt x="586507" y="15652"/>
                </a:lnTo>
                <a:lnTo>
                  <a:pt x="598363" y="23939"/>
                </a:lnTo>
                <a:lnTo>
                  <a:pt x="622443" y="62277"/>
                </a:lnTo>
                <a:lnTo>
                  <a:pt x="630351" y="117856"/>
                </a:lnTo>
                <a:lnTo>
                  <a:pt x="629468" y="138884"/>
                </a:lnTo>
                <a:lnTo>
                  <a:pt x="616229" y="190372"/>
                </a:lnTo>
                <a:lnTo>
                  <a:pt x="586663" y="222448"/>
                </a:lnTo>
                <a:lnTo>
                  <a:pt x="573087" y="228472"/>
                </a:lnTo>
                <a:lnTo>
                  <a:pt x="576110" y="238125"/>
                </a:lnTo>
                <a:lnTo>
                  <a:pt x="621617" y="211139"/>
                </a:lnTo>
                <a:lnTo>
                  <a:pt x="647184" y="161242"/>
                </a:lnTo>
                <a:lnTo>
                  <a:pt x="652081" y="119125"/>
                </a:lnTo>
                <a:lnTo>
                  <a:pt x="650852" y="97287"/>
                </a:lnTo>
                <a:lnTo>
                  <a:pt x="641022" y="58564"/>
                </a:lnTo>
                <a:lnTo>
                  <a:pt x="608523" y="15208"/>
                </a:lnTo>
                <a:lnTo>
                  <a:pt x="593381" y="6187"/>
                </a:lnTo>
                <a:lnTo>
                  <a:pt x="576110" y="0"/>
                </a:lnTo>
                <a:close/>
              </a:path>
              <a:path w="652144" h="238125">
                <a:moveTo>
                  <a:pt x="75971" y="0"/>
                </a:moveTo>
                <a:lnTo>
                  <a:pt x="30538" y="27039"/>
                </a:lnTo>
                <a:lnTo>
                  <a:pt x="4913" y="77104"/>
                </a:lnTo>
                <a:lnTo>
                  <a:pt x="0" y="119125"/>
                </a:lnTo>
                <a:lnTo>
                  <a:pt x="1223" y="141035"/>
                </a:lnTo>
                <a:lnTo>
                  <a:pt x="11015" y="179758"/>
                </a:lnTo>
                <a:lnTo>
                  <a:pt x="43476" y="222932"/>
                </a:lnTo>
                <a:lnTo>
                  <a:pt x="75971" y="238125"/>
                </a:lnTo>
                <a:lnTo>
                  <a:pt x="78981" y="228472"/>
                </a:lnTo>
                <a:lnTo>
                  <a:pt x="65405" y="222448"/>
                </a:lnTo>
                <a:lnTo>
                  <a:pt x="53692" y="214090"/>
                </a:lnTo>
                <a:lnTo>
                  <a:pt x="29667" y="175131"/>
                </a:lnTo>
                <a:lnTo>
                  <a:pt x="21717" y="117856"/>
                </a:lnTo>
                <a:lnTo>
                  <a:pt x="22600" y="97520"/>
                </a:lnTo>
                <a:lnTo>
                  <a:pt x="35852" y="47370"/>
                </a:lnTo>
                <a:lnTo>
                  <a:pt x="65620" y="15652"/>
                </a:lnTo>
                <a:lnTo>
                  <a:pt x="79362" y="9651"/>
                </a:lnTo>
                <a:lnTo>
                  <a:pt x="75971" y="0"/>
                </a:lnTo>
                <a:close/>
              </a:path>
            </a:pathLst>
          </a:custGeom>
          <a:solidFill>
            <a:srgbClr val="000000"/>
          </a:solidFill>
        </p:spPr>
        <p:txBody>
          <a:bodyPr wrap="square" lIns="0" tIns="0" rIns="0" bIns="0" rtlCol="0"/>
          <a:lstStyle/>
          <a:p>
            <a:endParaRPr/>
          </a:p>
        </p:txBody>
      </p:sp>
      <p:sp>
        <p:nvSpPr>
          <p:cNvPr id="6" name="object 6"/>
          <p:cNvSpPr txBox="1">
            <a:spLocks noGrp="1"/>
          </p:cNvSpPr>
          <p:nvPr>
            <p:ph type="title"/>
          </p:nvPr>
        </p:nvSpPr>
        <p:spPr>
          <a:xfrm>
            <a:off x="378143" y="2279166"/>
            <a:ext cx="894441" cy="293671"/>
          </a:xfrm>
          <a:prstGeom prst="rect">
            <a:avLst/>
          </a:prstGeom>
        </p:spPr>
        <p:txBody>
          <a:bodyPr vert="horz" wrap="square" lIns="0" tIns="16511" rIns="0" bIns="0" rtlCol="0" anchor="ctr">
            <a:spAutoFit/>
          </a:bodyPr>
          <a:lstStyle/>
          <a:p>
            <a:pPr marL="12700">
              <a:spcBef>
                <a:spcPts val="131"/>
              </a:spcBef>
            </a:pPr>
            <a:r>
              <a:rPr sz="2000" spc="31" dirty="0">
                <a:cs typeface="Cambria Math"/>
              </a:rPr>
              <a:t>𝐽 </a:t>
            </a:r>
            <a:r>
              <a:rPr sz="2000" spc="-5" dirty="0">
                <a:cs typeface="Cambria Math"/>
              </a:rPr>
              <a:t> </a:t>
            </a:r>
            <a:r>
              <a:rPr sz="2000" spc="20" dirty="0">
                <a:cs typeface="Cambria Math"/>
              </a:rPr>
              <a:t>𝑤,</a:t>
            </a:r>
            <a:r>
              <a:rPr sz="2000" spc="-111" dirty="0">
                <a:cs typeface="Cambria Math"/>
              </a:rPr>
              <a:t> </a:t>
            </a:r>
            <a:r>
              <a:rPr sz="2000" spc="31" dirty="0">
                <a:cs typeface="Cambria Math"/>
              </a:rPr>
              <a:t>𝑏</a:t>
            </a:r>
            <a:endParaRPr sz="2000" dirty="0">
              <a:cs typeface="Cambria Math"/>
            </a:endParaRPr>
          </a:p>
        </p:txBody>
      </p:sp>
      <p:sp>
        <p:nvSpPr>
          <p:cNvPr id="30" name="Slide Number Placeholder 29">
            <a:extLst>
              <a:ext uri="{FF2B5EF4-FFF2-40B4-BE49-F238E27FC236}">
                <a16:creationId xmlns:a16="http://schemas.microsoft.com/office/drawing/2014/main" id="{AD5FCB73-69C4-C23D-3FAE-0D71940B2871}"/>
              </a:ext>
            </a:extLst>
          </p:cNvPr>
          <p:cNvSpPr>
            <a:spLocks noGrp="1"/>
          </p:cNvSpPr>
          <p:nvPr>
            <p:ph type="sldNum" sz="quarter" idx="12"/>
          </p:nvPr>
        </p:nvSpPr>
        <p:spPr/>
        <p:txBody>
          <a:bodyPr/>
          <a:lstStyle/>
          <a:p>
            <a:fld id="{B6F15528-21DE-4FAA-801E-634DDDAF4B2B}" type="slidenum">
              <a:rPr lang="en-PS" smtClean="0"/>
              <a:t>6</a:t>
            </a:fld>
            <a:endParaRPr lang="en-PS"/>
          </a:p>
        </p:txBody>
      </p:sp>
      <p:sp>
        <p:nvSpPr>
          <p:cNvPr id="16" name="TextBox 15">
            <a:extLst>
              <a:ext uri="{FF2B5EF4-FFF2-40B4-BE49-F238E27FC236}">
                <a16:creationId xmlns:a16="http://schemas.microsoft.com/office/drawing/2014/main" id="{726E3C19-B5AA-0455-FE23-AF9C649737E6}"/>
              </a:ext>
            </a:extLst>
          </p:cNvPr>
          <p:cNvSpPr txBox="1"/>
          <p:nvPr/>
        </p:nvSpPr>
        <p:spPr>
          <a:xfrm>
            <a:off x="76200" y="14475"/>
            <a:ext cx="7217384" cy="461665"/>
          </a:xfrm>
          <a:prstGeom prst="rect">
            <a:avLst/>
          </a:prstGeom>
          <a:noFill/>
        </p:spPr>
        <p:txBody>
          <a:bodyPr wrap="square" rtlCol="0">
            <a:spAutoFit/>
          </a:bodyPr>
          <a:lstStyle/>
          <a:p>
            <a:r>
              <a:rPr lang="en-PS" sz="2400" dirty="0">
                <a:solidFill>
                  <a:srgbClr val="0432FF"/>
                </a:solidFill>
                <a:latin typeface="Gill Sans MT" panose="020B0502020104020203" pitchFamily="34" charset="77"/>
              </a:rPr>
              <a:t>Graphical Representation of Gradient Descent</a:t>
            </a:r>
          </a:p>
        </p:txBody>
      </p:sp>
      <p:cxnSp>
        <p:nvCxnSpPr>
          <p:cNvPr id="18" name="Straight Arrow Connector 17">
            <a:extLst>
              <a:ext uri="{FF2B5EF4-FFF2-40B4-BE49-F238E27FC236}">
                <a16:creationId xmlns:a16="http://schemas.microsoft.com/office/drawing/2014/main" id="{31FBE3C5-603D-7CC4-D06B-08BE69CD6F7D}"/>
              </a:ext>
            </a:extLst>
          </p:cNvPr>
          <p:cNvCxnSpPr>
            <a:cxnSpLocks/>
            <a:stCxn id="19" idx="0"/>
          </p:cNvCxnSpPr>
          <p:nvPr/>
        </p:nvCxnSpPr>
        <p:spPr>
          <a:xfrm flipV="1">
            <a:off x="1533891" y="1424970"/>
            <a:ext cx="2543144" cy="2545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0A92DCF-F5A5-6DF7-9255-0F8CD2073925}"/>
              </a:ext>
            </a:extLst>
          </p:cNvPr>
          <p:cNvSpPr txBox="1"/>
          <p:nvPr/>
        </p:nvSpPr>
        <p:spPr>
          <a:xfrm>
            <a:off x="207951" y="3970378"/>
            <a:ext cx="2651880" cy="923330"/>
          </a:xfrm>
          <a:prstGeom prst="rect">
            <a:avLst/>
          </a:prstGeom>
          <a:noFill/>
        </p:spPr>
        <p:txBody>
          <a:bodyPr wrap="none" rtlCol="0">
            <a:spAutoFit/>
          </a:bodyPr>
          <a:lstStyle/>
          <a:p>
            <a:r>
              <a:rPr lang="en-PS" dirty="0">
                <a:latin typeface="Gill Sans MT" panose="020B0502020104020203" pitchFamily="34" charset="77"/>
              </a:rPr>
              <a:t>you are standing here</a:t>
            </a:r>
          </a:p>
          <a:p>
            <a:r>
              <a:rPr lang="en-PS" dirty="0">
                <a:latin typeface="Gill Sans MT" panose="020B0502020104020203" pitchFamily="34" charset="77"/>
              </a:rPr>
              <a:t>and you want to reach the</a:t>
            </a:r>
          </a:p>
          <a:p>
            <a:r>
              <a:rPr lang="en-PS" dirty="0">
                <a:latin typeface="Gill Sans MT" panose="020B0502020104020203" pitchFamily="34" charset="77"/>
              </a:rPr>
              <a:t>minimum point(s)</a:t>
            </a:r>
          </a:p>
        </p:txBody>
      </p:sp>
      <p:cxnSp>
        <p:nvCxnSpPr>
          <p:cNvPr id="37" name="Straight Arrow Connector 36">
            <a:extLst>
              <a:ext uri="{FF2B5EF4-FFF2-40B4-BE49-F238E27FC236}">
                <a16:creationId xmlns:a16="http://schemas.microsoft.com/office/drawing/2014/main" id="{D137A653-869C-4AF4-6D5F-41F87FD2B21F}"/>
              </a:ext>
            </a:extLst>
          </p:cNvPr>
          <p:cNvCxnSpPr>
            <a:cxnSpLocks/>
          </p:cNvCxnSpPr>
          <p:nvPr/>
        </p:nvCxnSpPr>
        <p:spPr>
          <a:xfrm flipV="1">
            <a:off x="1990663" y="2771942"/>
            <a:ext cx="4614942" cy="19694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E161E54-B4B4-2977-9DCA-3F5E437F2E1D}"/>
              </a:ext>
            </a:extLst>
          </p:cNvPr>
          <p:cNvCxnSpPr>
            <a:cxnSpLocks/>
          </p:cNvCxnSpPr>
          <p:nvPr/>
        </p:nvCxnSpPr>
        <p:spPr>
          <a:xfrm flipV="1">
            <a:off x="1990663" y="3326051"/>
            <a:ext cx="2347678" cy="14191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Down Arrow 42">
            <a:extLst>
              <a:ext uri="{FF2B5EF4-FFF2-40B4-BE49-F238E27FC236}">
                <a16:creationId xmlns:a16="http://schemas.microsoft.com/office/drawing/2014/main" id="{4A6DAEA7-619D-90DD-13D1-EDC655263348}"/>
              </a:ext>
            </a:extLst>
          </p:cNvPr>
          <p:cNvSpPr/>
          <p:nvPr/>
        </p:nvSpPr>
        <p:spPr>
          <a:xfrm>
            <a:off x="3990944" y="1135380"/>
            <a:ext cx="152400" cy="3010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93983" y="633701"/>
            <a:ext cx="6400800" cy="3505200"/>
          </a:xfrm>
          <a:prstGeom prst="rect">
            <a:avLst/>
          </a:prstGeom>
        </p:spPr>
      </p:pic>
      <p:sp>
        <p:nvSpPr>
          <p:cNvPr id="3" name="object 3"/>
          <p:cNvSpPr txBox="1"/>
          <p:nvPr/>
        </p:nvSpPr>
        <p:spPr>
          <a:xfrm>
            <a:off x="2691480" y="3654639"/>
            <a:ext cx="371475" cy="324449"/>
          </a:xfrm>
          <a:prstGeom prst="rect">
            <a:avLst/>
          </a:prstGeom>
        </p:spPr>
        <p:txBody>
          <a:bodyPr vert="horz" wrap="square" lIns="0" tIns="16511" rIns="0" bIns="0" rtlCol="0">
            <a:spAutoFit/>
          </a:bodyPr>
          <a:lstStyle/>
          <a:p>
            <a:pPr marL="12700">
              <a:spcBef>
                <a:spcPts val="131"/>
              </a:spcBef>
            </a:pPr>
            <a:r>
              <a:rPr sz="2000" u="heavy" spc="105" dirty="0">
                <a:uFill>
                  <a:solidFill>
                    <a:srgbClr val="4285F4"/>
                  </a:solidFill>
                </a:uFill>
                <a:latin typeface="Times New Roman"/>
                <a:cs typeface="Times New Roman"/>
              </a:rPr>
              <a:t> </a:t>
            </a:r>
            <a:r>
              <a:rPr sz="2000" u="heavy" spc="20" dirty="0">
                <a:uFill>
                  <a:solidFill>
                    <a:srgbClr val="4285F4"/>
                  </a:solidFill>
                </a:uFill>
                <a:latin typeface="Cambria Math"/>
                <a:cs typeface="Cambria Math"/>
              </a:rPr>
              <a:t>𝑤</a:t>
            </a:r>
            <a:r>
              <a:rPr sz="2000" u="heavy" spc="169" dirty="0">
                <a:uFill>
                  <a:solidFill>
                    <a:srgbClr val="4285F4"/>
                  </a:solidFill>
                </a:uFill>
                <a:latin typeface="Cambria Math"/>
                <a:cs typeface="Cambria Math"/>
              </a:rPr>
              <a:t> </a:t>
            </a:r>
            <a:endParaRPr sz="2000" dirty="0">
              <a:latin typeface="Cambria Math"/>
              <a:cs typeface="Cambria Math"/>
            </a:endParaRPr>
          </a:p>
        </p:txBody>
      </p:sp>
      <p:sp>
        <p:nvSpPr>
          <p:cNvPr id="4" name="object 4"/>
          <p:cNvSpPr txBox="1"/>
          <p:nvPr/>
        </p:nvSpPr>
        <p:spPr>
          <a:xfrm>
            <a:off x="6954902" y="3430906"/>
            <a:ext cx="371475" cy="324449"/>
          </a:xfrm>
          <a:prstGeom prst="rect">
            <a:avLst/>
          </a:prstGeom>
        </p:spPr>
        <p:txBody>
          <a:bodyPr vert="horz" wrap="square" lIns="0" tIns="16511" rIns="0" bIns="0" rtlCol="0">
            <a:spAutoFit/>
          </a:bodyPr>
          <a:lstStyle/>
          <a:p>
            <a:pPr marL="12700">
              <a:spcBef>
                <a:spcPts val="131"/>
              </a:spcBef>
            </a:pPr>
            <a:r>
              <a:rPr sz="2000" u="heavy" spc="5" dirty="0">
                <a:uFill>
                  <a:solidFill>
                    <a:srgbClr val="4285F4"/>
                  </a:solidFill>
                </a:uFill>
                <a:latin typeface="Times New Roman"/>
                <a:cs typeface="Times New Roman"/>
              </a:rPr>
              <a:t> </a:t>
            </a:r>
            <a:r>
              <a:rPr sz="2000" u="heavy" spc="-191" dirty="0">
                <a:uFill>
                  <a:solidFill>
                    <a:srgbClr val="4285F4"/>
                  </a:solidFill>
                </a:uFill>
                <a:latin typeface="Times New Roman"/>
                <a:cs typeface="Times New Roman"/>
              </a:rPr>
              <a:t> </a:t>
            </a:r>
            <a:r>
              <a:rPr sz="2000" u="heavy" spc="15" dirty="0">
                <a:uFill>
                  <a:solidFill>
                    <a:srgbClr val="4285F4"/>
                  </a:solidFill>
                </a:uFill>
                <a:latin typeface="Cambria Math"/>
                <a:cs typeface="Cambria Math"/>
              </a:rPr>
              <a:t>𝑏</a:t>
            </a:r>
            <a:r>
              <a:rPr sz="2000" u="heavy" spc="-75" dirty="0">
                <a:uFill>
                  <a:solidFill>
                    <a:srgbClr val="4285F4"/>
                  </a:solidFill>
                </a:uFill>
                <a:latin typeface="Cambria Math"/>
                <a:cs typeface="Cambria Math"/>
              </a:rPr>
              <a:t> </a:t>
            </a:r>
            <a:endParaRPr sz="2000">
              <a:latin typeface="Cambria Math"/>
              <a:cs typeface="Cambria Math"/>
            </a:endParaRPr>
          </a:p>
        </p:txBody>
      </p:sp>
      <p:sp>
        <p:nvSpPr>
          <p:cNvPr id="5" name="object 5"/>
          <p:cNvSpPr/>
          <p:nvPr/>
        </p:nvSpPr>
        <p:spPr>
          <a:xfrm>
            <a:off x="517907" y="2338706"/>
            <a:ext cx="652145" cy="238125"/>
          </a:xfrm>
          <a:custGeom>
            <a:avLst/>
            <a:gdLst/>
            <a:ahLst/>
            <a:cxnLst/>
            <a:rect l="l" t="t" r="r" b="b"/>
            <a:pathLst>
              <a:path w="652144" h="238125">
                <a:moveTo>
                  <a:pt x="576110" y="0"/>
                </a:moveTo>
                <a:lnTo>
                  <a:pt x="572719" y="9651"/>
                </a:lnTo>
                <a:lnTo>
                  <a:pt x="586507" y="15652"/>
                </a:lnTo>
                <a:lnTo>
                  <a:pt x="598363" y="23939"/>
                </a:lnTo>
                <a:lnTo>
                  <a:pt x="622443" y="62277"/>
                </a:lnTo>
                <a:lnTo>
                  <a:pt x="630351" y="117856"/>
                </a:lnTo>
                <a:lnTo>
                  <a:pt x="629468" y="138884"/>
                </a:lnTo>
                <a:lnTo>
                  <a:pt x="616229" y="190372"/>
                </a:lnTo>
                <a:lnTo>
                  <a:pt x="586663" y="222448"/>
                </a:lnTo>
                <a:lnTo>
                  <a:pt x="573087" y="228472"/>
                </a:lnTo>
                <a:lnTo>
                  <a:pt x="576110" y="238125"/>
                </a:lnTo>
                <a:lnTo>
                  <a:pt x="621617" y="211139"/>
                </a:lnTo>
                <a:lnTo>
                  <a:pt x="647184" y="161242"/>
                </a:lnTo>
                <a:lnTo>
                  <a:pt x="652081" y="119125"/>
                </a:lnTo>
                <a:lnTo>
                  <a:pt x="650852" y="97287"/>
                </a:lnTo>
                <a:lnTo>
                  <a:pt x="641022" y="58564"/>
                </a:lnTo>
                <a:lnTo>
                  <a:pt x="608523" y="15208"/>
                </a:lnTo>
                <a:lnTo>
                  <a:pt x="593381" y="6187"/>
                </a:lnTo>
                <a:lnTo>
                  <a:pt x="576110" y="0"/>
                </a:lnTo>
                <a:close/>
              </a:path>
              <a:path w="652144" h="238125">
                <a:moveTo>
                  <a:pt x="75971" y="0"/>
                </a:moveTo>
                <a:lnTo>
                  <a:pt x="30538" y="27039"/>
                </a:lnTo>
                <a:lnTo>
                  <a:pt x="4913" y="77104"/>
                </a:lnTo>
                <a:lnTo>
                  <a:pt x="0" y="119125"/>
                </a:lnTo>
                <a:lnTo>
                  <a:pt x="1223" y="141035"/>
                </a:lnTo>
                <a:lnTo>
                  <a:pt x="11015" y="179758"/>
                </a:lnTo>
                <a:lnTo>
                  <a:pt x="43476" y="222932"/>
                </a:lnTo>
                <a:lnTo>
                  <a:pt x="75971" y="238125"/>
                </a:lnTo>
                <a:lnTo>
                  <a:pt x="78981" y="228472"/>
                </a:lnTo>
                <a:lnTo>
                  <a:pt x="65405" y="222448"/>
                </a:lnTo>
                <a:lnTo>
                  <a:pt x="53692" y="214090"/>
                </a:lnTo>
                <a:lnTo>
                  <a:pt x="29667" y="175131"/>
                </a:lnTo>
                <a:lnTo>
                  <a:pt x="21717" y="117856"/>
                </a:lnTo>
                <a:lnTo>
                  <a:pt x="22600" y="97520"/>
                </a:lnTo>
                <a:lnTo>
                  <a:pt x="35852" y="47370"/>
                </a:lnTo>
                <a:lnTo>
                  <a:pt x="65620" y="15652"/>
                </a:lnTo>
                <a:lnTo>
                  <a:pt x="79362" y="9651"/>
                </a:lnTo>
                <a:lnTo>
                  <a:pt x="75971" y="0"/>
                </a:lnTo>
                <a:close/>
              </a:path>
            </a:pathLst>
          </a:custGeom>
          <a:solidFill>
            <a:srgbClr val="000000"/>
          </a:solidFill>
        </p:spPr>
        <p:txBody>
          <a:bodyPr wrap="square" lIns="0" tIns="0" rIns="0" bIns="0" rtlCol="0"/>
          <a:lstStyle/>
          <a:p>
            <a:endParaRPr/>
          </a:p>
        </p:txBody>
      </p:sp>
      <p:sp>
        <p:nvSpPr>
          <p:cNvPr id="6" name="object 6"/>
          <p:cNvSpPr txBox="1">
            <a:spLocks noGrp="1"/>
          </p:cNvSpPr>
          <p:nvPr>
            <p:ph type="title"/>
          </p:nvPr>
        </p:nvSpPr>
        <p:spPr>
          <a:xfrm>
            <a:off x="378144" y="2263777"/>
            <a:ext cx="660400" cy="324449"/>
          </a:xfrm>
          <a:prstGeom prst="rect">
            <a:avLst/>
          </a:prstGeom>
        </p:spPr>
        <p:txBody>
          <a:bodyPr vert="horz" wrap="square" lIns="0" tIns="16511" rIns="0" bIns="0" rtlCol="0" anchor="ctr">
            <a:spAutoFit/>
          </a:bodyPr>
          <a:lstStyle/>
          <a:p>
            <a:pPr marL="12700">
              <a:spcBef>
                <a:spcPts val="131"/>
              </a:spcBef>
            </a:pPr>
            <a:r>
              <a:rPr sz="2000" spc="31" dirty="0">
                <a:latin typeface="Cambria Math"/>
                <a:cs typeface="Cambria Math"/>
              </a:rPr>
              <a:t>𝐽 </a:t>
            </a:r>
            <a:r>
              <a:rPr sz="2000" spc="-5" dirty="0">
                <a:latin typeface="Cambria Math"/>
                <a:cs typeface="Cambria Math"/>
              </a:rPr>
              <a:t> </a:t>
            </a:r>
            <a:r>
              <a:rPr sz="2000" spc="20" dirty="0">
                <a:latin typeface="Cambria Math"/>
                <a:cs typeface="Cambria Math"/>
              </a:rPr>
              <a:t>𝑤,</a:t>
            </a:r>
            <a:r>
              <a:rPr sz="2000" spc="-111" dirty="0">
                <a:latin typeface="Cambria Math"/>
                <a:cs typeface="Cambria Math"/>
              </a:rPr>
              <a:t> </a:t>
            </a:r>
            <a:r>
              <a:rPr sz="2000" spc="31" dirty="0">
                <a:latin typeface="Cambria Math"/>
                <a:cs typeface="Cambria Math"/>
              </a:rPr>
              <a:t>𝑏</a:t>
            </a:r>
            <a:endParaRPr sz="2000">
              <a:latin typeface="Cambria Math"/>
              <a:cs typeface="Cambria Math"/>
            </a:endParaRPr>
          </a:p>
        </p:txBody>
      </p:sp>
      <p:sp>
        <p:nvSpPr>
          <p:cNvPr id="7" name="object 7"/>
          <p:cNvSpPr/>
          <p:nvPr/>
        </p:nvSpPr>
        <p:spPr>
          <a:xfrm>
            <a:off x="357189" y="2652777"/>
            <a:ext cx="827405" cy="0"/>
          </a:xfrm>
          <a:custGeom>
            <a:avLst/>
            <a:gdLst/>
            <a:ahLst/>
            <a:cxnLst/>
            <a:rect l="l" t="t" r="r" b="b"/>
            <a:pathLst>
              <a:path w="827405">
                <a:moveTo>
                  <a:pt x="0" y="0"/>
                </a:moveTo>
                <a:lnTo>
                  <a:pt x="827316" y="0"/>
                </a:lnTo>
              </a:path>
            </a:pathLst>
          </a:custGeom>
          <a:ln w="25400">
            <a:solidFill>
              <a:srgbClr val="4285F4"/>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3731032" y="932910"/>
            <a:ext cx="3266821" cy="3080880"/>
          </a:xfrm>
          <a:prstGeom prst="rect">
            <a:avLst/>
          </a:prstGeom>
        </p:spPr>
      </p:pic>
      <p:pic>
        <p:nvPicPr>
          <p:cNvPr id="11" name="object 11"/>
          <p:cNvPicPr/>
          <p:nvPr/>
        </p:nvPicPr>
        <p:blipFill>
          <a:blip r:embed="rId4" cstate="print"/>
          <a:stretch>
            <a:fillRect/>
          </a:stretch>
        </p:blipFill>
        <p:spPr>
          <a:xfrm>
            <a:off x="3771520" y="342703"/>
            <a:ext cx="692276" cy="627506"/>
          </a:xfrm>
          <a:prstGeom prst="rect">
            <a:avLst/>
          </a:prstGeom>
        </p:spPr>
      </p:pic>
      <p:sp>
        <p:nvSpPr>
          <p:cNvPr id="30" name="Slide Number Placeholder 29">
            <a:extLst>
              <a:ext uri="{FF2B5EF4-FFF2-40B4-BE49-F238E27FC236}">
                <a16:creationId xmlns:a16="http://schemas.microsoft.com/office/drawing/2014/main" id="{AD5FCB73-69C4-C23D-3FAE-0D71940B2871}"/>
              </a:ext>
            </a:extLst>
          </p:cNvPr>
          <p:cNvSpPr>
            <a:spLocks noGrp="1"/>
          </p:cNvSpPr>
          <p:nvPr>
            <p:ph type="sldNum" sz="quarter" idx="12"/>
          </p:nvPr>
        </p:nvSpPr>
        <p:spPr>
          <a:xfrm>
            <a:off x="8610600" y="4819455"/>
            <a:ext cx="266700" cy="273844"/>
          </a:xfrm>
        </p:spPr>
        <p:txBody>
          <a:bodyPr/>
          <a:lstStyle/>
          <a:p>
            <a:fld id="{B6F15528-21DE-4FAA-801E-634DDDAF4B2B}" type="slidenum">
              <a:rPr lang="en-PS" smtClean="0">
                <a:solidFill>
                  <a:srgbClr val="0432FF"/>
                </a:solidFill>
                <a:latin typeface="Gill Sans MT" panose="020B0502020104020203" pitchFamily="34" charset="77"/>
              </a:rPr>
              <a:t>7</a:t>
            </a:fld>
            <a:endParaRPr lang="en-PS" dirty="0">
              <a:solidFill>
                <a:srgbClr val="0432FF"/>
              </a:solidFill>
              <a:latin typeface="Gill Sans MT" panose="020B0502020104020203" pitchFamily="34" charset="77"/>
            </a:endParaRPr>
          </a:p>
        </p:txBody>
      </p:sp>
      <p:sp>
        <p:nvSpPr>
          <p:cNvPr id="16" name="TextBox 15">
            <a:extLst>
              <a:ext uri="{FF2B5EF4-FFF2-40B4-BE49-F238E27FC236}">
                <a16:creationId xmlns:a16="http://schemas.microsoft.com/office/drawing/2014/main" id="{726E3C19-B5AA-0455-FE23-AF9C649737E6}"/>
              </a:ext>
            </a:extLst>
          </p:cNvPr>
          <p:cNvSpPr txBox="1"/>
          <p:nvPr/>
        </p:nvSpPr>
        <p:spPr>
          <a:xfrm>
            <a:off x="121690" y="174130"/>
            <a:ext cx="3737946" cy="830997"/>
          </a:xfrm>
          <a:prstGeom prst="rect">
            <a:avLst/>
          </a:prstGeom>
          <a:noFill/>
        </p:spPr>
        <p:txBody>
          <a:bodyPr wrap="none" rtlCol="0">
            <a:spAutoFit/>
          </a:bodyPr>
          <a:lstStyle/>
          <a:p>
            <a:r>
              <a:rPr lang="en-PS" sz="2400" dirty="0">
                <a:solidFill>
                  <a:srgbClr val="0432FF"/>
                </a:solidFill>
                <a:latin typeface="Gill Sans MT" panose="020B0502020104020203" pitchFamily="34" charset="77"/>
              </a:rPr>
              <a:t>Graphical Representation of </a:t>
            </a:r>
          </a:p>
          <a:p>
            <a:r>
              <a:rPr lang="en-PS" sz="2400" dirty="0">
                <a:solidFill>
                  <a:srgbClr val="0432FF"/>
                </a:solidFill>
                <a:latin typeface="Gill Sans MT" panose="020B0502020104020203" pitchFamily="34" charset="77"/>
              </a:rPr>
              <a:t>Gradient Descent</a:t>
            </a:r>
          </a:p>
        </p:txBody>
      </p:sp>
      <p:cxnSp>
        <p:nvCxnSpPr>
          <p:cNvPr id="18" name="Straight Arrow Connector 17">
            <a:extLst>
              <a:ext uri="{FF2B5EF4-FFF2-40B4-BE49-F238E27FC236}">
                <a16:creationId xmlns:a16="http://schemas.microsoft.com/office/drawing/2014/main" id="{31FBE3C5-603D-7CC4-D06B-08BE69CD6F7D}"/>
              </a:ext>
            </a:extLst>
          </p:cNvPr>
          <p:cNvCxnSpPr>
            <a:cxnSpLocks/>
          </p:cNvCxnSpPr>
          <p:nvPr/>
        </p:nvCxnSpPr>
        <p:spPr>
          <a:xfrm flipH="1">
            <a:off x="4038600" y="469312"/>
            <a:ext cx="2275467" cy="118803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D0A92DCF-F5A5-6DF7-9255-0F8CD2073925}"/>
              </a:ext>
            </a:extLst>
          </p:cNvPr>
          <p:cNvSpPr txBox="1"/>
          <p:nvPr/>
        </p:nvSpPr>
        <p:spPr>
          <a:xfrm>
            <a:off x="6314067" y="172036"/>
            <a:ext cx="2651880" cy="923330"/>
          </a:xfrm>
          <a:prstGeom prst="rect">
            <a:avLst/>
          </a:prstGeom>
          <a:noFill/>
        </p:spPr>
        <p:txBody>
          <a:bodyPr wrap="none" rtlCol="0">
            <a:spAutoFit/>
          </a:bodyPr>
          <a:lstStyle/>
          <a:p>
            <a:r>
              <a:rPr lang="en-PS" dirty="0">
                <a:latin typeface="Gill Sans MT" panose="020B0502020104020203" pitchFamily="34" charset="77"/>
              </a:rPr>
              <a:t>you are standing here</a:t>
            </a:r>
          </a:p>
          <a:p>
            <a:r>
              <a:rPr lang="en-PS" dirty="0">
                <a:latin typeface="Gill Sans MT" panose="020B0502020104020203" pitchFamily="34" charset="77"/>
              </a:rPr>
              <a:t>and you want to reach the</a:t>
            </a:r>
          </a:p>
          <a:p>
            <a:r>
              <a:rPr lang="en-PS" dirty="0">
                <a:latin typeface="Gill Sans MT" panose="020B0502020104020203" pitchFamily="34" charset="77"/>
              </a:rPr>
              <a:t>minimum point(s)</a:t>
            </a:r>
          </a:p>
        </p:txBody>
      </p:sp>
      <p:cxnSp>
        <p:nvCxnSpPr>
          <p:cNvPr id="32" name="Straight Arrow Connector 31">
            <a:extLst>
              <a:ext uri="{FF2B5EF4-FFF2-40B4-BE49-F238E27FC236}">
                <a16:creationId xmlns:a16="http://schemas.microsoft.com/office/drawing/2014/main" id="{B5597145-17D7-017E-B03F-173A7B4C5A82}"/>
              </a:ext>
            </a:extLst>
          </p:cNvPr>
          <p:cNvCxnSpPr/>
          <p:nvPr/>
        </p:nvCxnSpPr>
        <p:spPr>
          <a:xfrm flipH="1">
            <a:off x="6623432" y="1017455"/>
            <a:ext cx="1225168" cy="194228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A84B4B85-CBC0-9272-6521-549EBD50FB79}"/>
              </a:ext>
            </a:extLst>
          </p:cNvPr>
          <p:cNvCxnSpPr/>
          <p:nvPr/>
        </p:nvCxnSpPr>
        <p:spPr>
          <a:xfrm flipH="1">
            <a:off x="4387374" y="1017455"/>
            <a:ext cx="3461226" cy="252844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4E2925D5-B288-0E0C-010B-5B1EA07BBBF5}"/>
              </a:ext>
            </a:extLst>
          </p:cNvPr>
          <p:cNvCxnSpPr/>
          <p:nvPr/>
        </p:nvCxnSpPr>
        <p:spPr>
          <a:xfrm>
            <a:off x="4343400" y="3181350"/>
            <a:ext cx="43974" cy="3645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B7F449A-6E4C-F21C-2372-301AD9FDE5D3}"/>
              </a:ext>
            </a:extLst>
          </p:cNvPr>
          <p:cNvSpPr txBox="1"/>
          <p:nvPr/>
        </p:nvSpPr>
        <p:spPr>
          <a:xfrm>
            <a:off x="6137075" y="4012116"/>
            <a:ext cx="1900520" cy="461665"/>
          </a:xfrm>
          <a:prstGeom prst="rect">
            <a:avLst/>
          </a:prstGeom>
          <a:noFill/>
        </p:spPr>
        <p:txBody>
          <a:bodyPr wrap="none" rtlCol="0">
            <a:spAutoFit/>
          </a:bodyPr>
          <a:lstStyle/>
          <a:p>
            <a:r>
              <a:rPr lang="en-PS" sz="2400" dirty="0">
                <a:solidFill>
                  <a:schemeClr val="accent1">
                    <a:lumMod val="75000"/>
                  </a:schemeClr>
                </a:solidFill>
                <a:latin typeface="Gill Sans MT" panose="020B0502020104020203" pitchFamily="34" charset="77"/>
              </a:rPr>
              <a:t>Local minima </a:t>
            </a:r>
          </a:p>
        </p:txBody>
      </p:sp>
      <p:cxnSp>
        <p:nvCxnSpPr>
          <p:cNvPr id="31" name="Straight Arrow Connector 30">
            <a:extLst>
              <a:ext uri="{FF2B5EF4-FFF2-40B4-BE49-F238E27FC236}">
                <a16:creationId xmlns:a16="http://schemas.microsoft.com/office/drawing/2014/main" id="{480168E2-A5FA-E43D-6893-C1DF6720AAE9}"/>
              </a:ext>
            </a:extLst>
          </p:cNvPr>
          <p:cNvCxnSpPr>
            <a:cxnSpLocks/>
            <a:stCxn id="22" idx="0"/>
          </p:cNvCxnSpPr>
          <p:nvPr/>
        </p:nvCxnSpPr>
        <p:spPr>
          <a:xfrm flipH="1" flipV="1">
            <a:off x="4387374" y="3545897"/>
            <a:ext cx="2699961" cy="466219"/>
          </a:xfrm>
          <a:prstGeom prst="straightConnector1">
            <a:avLst/>
          </a:prstGeom>
          <a:ln w="19050">
            <a:solidFill>
              <a:srgbClr val="0070C0"/>
            </a:solidFill>
            <a:tailEnd type="triangle"/>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69FB54C0-CA08-BEB8-0208-ECC7670ED0B4}"/>
              </a:ext>
            </a:extLst>
          </p:cNvPr>
          <p:cNvCxnSpPr>
            <a:cxnSpLocks/>
            <a:stCxn id="22" idx="0"/>
          </p:cNvCxnSpPr>
          <p:nvPr/>
        </p:nvCxnSpPr>
        <p:spPr>
          <a:xfrm flipH="1" flipV="1">
            <a:off x="6621398" y="2959736"/>
            <a:ext cx="465937" cy="1052380"/>
          </a:xfrm>
          <a:prstGeom prst="straightConnector1">
            <a:avLst/>
          </a:prstGeom>
          <a:ln w="19050">
            <a:solidFill>
              <a:srgbClr val="0070C0"/>
            </a:solidFill>
            <a:tailEnd type="triangle"/>
          </a:ln>
        </p:spPr>
        <p:style>
          <a:lnRef idx="1">
            <a:schemeClr val="accent2"/>
          </a:lnRef>
          <a:fillRef idx="0">
            <a:schemeClr val="accent2"/>
          </a:fillRef>
          <a:effectRef idx="0">
            <a:schemeClr val="accent2"/>
          </a:effectRef>
          <a:fontRef idx="minor">
            <a:schemeClr val="tx1"/>
          </a:fontRef>
        </p:style>
      </p:cxnSp>
      <p:sp>
        <p:nvSpPr>
          <p:cNvPr id="37" name="TextBox 36">
            <a:extLst>
              <a:ext uri="{FF2B5EF4-FFF2-40B4-BE49-F238E27FC236}">
                <a16:creationId xmlns:a16="http://schemas.microsoft.com/office/drawing/2014/main" id="{E601FA19-B20D-AD9E-4D98-8C6B8A7B1A5F}"/>
              </a:ext>
            </a:extLst>
          </p:cNvPr>
          <p:cNvSpPr txBox="1"/>
          <p:nvPr/>
        </p:nvSpPr>
        <p:spPr>
          <a:xfrm>
            <a:off x="45697" y="4483286"/>
            <a:ext cx="9052606" cy="369332"/>
          </a:xfrm>
          <a:prstGeom prst="rect">
            <a:avLst/>
          </a:prstGeom>
          <a:noFill/>
        </p:spPr>
        <p:txBody>
          <a:bodyPr wrap="none" rtlCol="0">
            <a:spAutoFit/>
          </a:bodyPr>
          <a:lstStyle/>
          <a:p>
            <a:r>
              <a:rPr lang="en-PS" dirty="0">
                <a:latin typeface="Gill Sans MT" panose="020B0502020104020203" pitchFamily="34" charset="77"/>
              </a:rPr>
              <a:t>Starting at different points migh lead to different minima which means different values for w, b</a:t>
            </a:r>
          </a:p>
        </p:txBody>
      </p:sp>
    </p:spTree>
    <p:extLst>
      <p:ext uri="{BB962C8B-B14F-4D97-AF65-F5344CB8AC3E}">
        <p14:creationId xmlns:p14="http://schemas.microsoft.com/office/powerpoint/2010/main" val="382654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9D5A3-B21C-CA90-8C24-6C03A9CF2E2C}"/>
              </a:ext>
            </a:extLst>
          </p:cNvPr>
          <p:cNvSpPr>
            <a:spLocks noGrp="1"/>
          </p:cNvSpPr>
          <p:nvPr>
            <p:ph type="title"/>
          </p:nvPr>
        </p:nvSpPr>
        <p:spPr>
          <a:xfrm>
            <a:off x="309681" y="193783"/>
            <a:ext cx="7886700" cy="621506"/>
          </a:xfrm>
        </p:spPr>
        <p:txBody>
          <a:bodyPr/>
          <a:lstStyle/>
          <a:p>
            <a:r>
              <a:rPr lang="en-PS" dirty="0">
                <a:solidFill>
                  <a:srgbClr val="0432FF"/>
                </a:solidFill>
                <a:latin typeface="Gill Sans MT" panose="020B0502020104020203" pitchFamily="34" charset="77"/>
              </a:rPr>
              <a:t>What do we conclude </a:t>
            </a:r>
          </a:p>
        </p:txBody>
      </p:sp>
      <p:sp>
        <p:nvSpPr>
          <p:cNvPr id="3" name="Content Placeholder 2">
            <a:extLst>
              <a:ext uri="{FF2B5EF4-FFF2-40B4-BE49-F238E27FC236}">
                <a16:creationId xmlns:a16="http://schemas.microsoft.com/office/drawing/2014/main" id="{83EFFD2E-2084-A7B6-2602-4F70E43028CB}"/>
              </a:ext>
            </a:extLst>
          </p:cNvPr>
          <p:cNvSpPr>
            <a:spLocks noGrp="1"/>
          </p:cNvSpPr>
          <p:nvPr>
            <p:ph idx="1"/>
          </p:nvPr>
        </p:nvSpPr>
        <p:spPr>
          <a:xfrm>
            <a:off x="304800" y="891540"/>
            <a:ext cx="8210550" cy="3263504"/>
          </a:xfrm>
        </p:spPr>
        <p:txBody>
          <a:bodyPr>
            <a:normAutofit fontScale="92500"/>
          </a:bodyPr>
          <a:lstStyle/>
          <a:p>
            <a:r>
              <a:rPr lang="en-PS" sz="2400" dirty="0">
                <a:latin typeface="+mj-lt"/>
                <a:ea typeface="Segoe UI Historic" panose="020B0502040204020203" pitchFamily="34" charset="0"/>
                <a:cs typeface="Segoe UI Historic" panose="020B0502040204020203" pitchFamily="34" charset="0"/>
              </a:rPr>
              <a:t>To find the regression model, we need to find the values of </a:t>
            </a:r>
            <a:r>
              <a:rPr lang="en-PS" sz="2400" dirty="0">
                <a:solidFill>
                  <a:srgbClr val="0070C0"/>
                </a:solidFill>
                <a:latin typeface="+mj-lt"/>
                <a:ea typeface="Segoe UI Historic" panose="020B0502040204020203" pitchFamily="34" charset="0"/>
                <a:cs typeface="Segoe UI Historic" panose="020B0502040204020203" pitchFamily="34" charset="0"/>
              </a:rPr>
              <a:t>w</a:t>
            </a:r>
            <a:r>
              <a:rPr lang="en-PS" sz="2400" dirty="0">
                <a:latin typeface="+mj-lt"/>
                <a:ea typeface="Segoe UI Historic" panose="020B0502040204020203" pitchFamily="34" charset="0"/>
                <a:cs typeface="Segoe UI Historic" panose="020B0502040204020203" pitchFamily="34" charset="0"/>
              </a:rPr>
              <a:t> and </a:t>
            </a:r>
            <a:r>
              <a:rPr lang="en-PS" sz="2400" dirty="0">
                <a:solidFill>
                  <a:srgbClr val="0070C0"/>
                </a:solidFill>
                <a:latin typeface="+mj-lt"/>
                <a:ea typeface="Segoe UI Historic" panose="020B0502040204020203" pitchFamily="34" charset="0"/>
                <a:cs typeface="Segoe UI Historic" panose="020B0502040204020203" pitchFamily="34" charset="0"/>
              </a:rPr>
              <a:t>b</a:t>
            </a:r>
            <a:r>
              <a:rPr lang="en-PS" sz="2400" dirty="0">
                <a:latin typeface="+mj-lt"/>
                <a:ea typeface="Segoe UI Historic" panose="020B0502040204020203" pitchFamily="34" charset="0"/>
                <a:cs typeface="Segoe UI Historic" panose="020B0502040204020203" pitchFamily="34" charset="0"/>
              </a:rPr>
              <a:t>, such that </a:t>
            </a:r>
            <a:r>
              <a:rPr lang="en-PS" sz="2400" i="1" dirty="0">
                <a:solidFill>
                  <a:srgbClr val="0432FF"/>
                </a:solidFill>
                <a:latin typeface="+mj-lt"/>
                <a:ea typeface="Segoe UI Historic" panose="020B0502040204020203" pitchFamily="34" charset="0"/>
                <a:cs typeface="Segoe UI Historic" panose="020B0502040204020203" pitchFamily="34" charset="0"/>
              </a:rPr>
              <a:t>y(x) = wx + b</a:t>
            </a:r>
          </a:p>
          <a:p>
            <a:r>
              <a:rPr lang="en-PS" sz="2400" dirty="0">
                <a:latin typeface="+mj-lt"/>
                <a:ea typeface="Segoe UI Historic" panose="020B0502040204020203" pitchFamily="34" charset="0"/>
                <a:cs typeface="Segoe UI Historic" panose="020B0502040204020203" pitchFamily="34" charset="0"/>
              </a:rPr>
              <a:t>To find the w, and b, we use the cost function </a:t>
            </a:r>
            <a:r>
              <a:rPr lang="en-PS" sz="2400" dirty="0">
                <a:solidFill>
                  <a:srgbClr val="0070C0"/>
                </a:solidFill>
                <a:latin typeface="+mj-lt"/>
                <a:ea typeface="Segoe UI Historic" panose="020B0502040204020203" pitchFamily="34" charset="0"/>
                <a:cs typeface="Segoe UI Historic" panose="020B0502040204020203" pitchFamily="34" charset="0"/>
              </a:rPr>
              <a:t>J(w,b)</a:t>
            </a:r>
            <a:r>
              <a:rPr lang="en-PS" sz="2400" dirty="0">
                <a:latin typeface="+mj-lt"/>
                <a:ea typeface="Segoe UI Historic" panose="020B0502040204020203" pitchFamily="34" charset="0"/>
                <a:cs typeface="Segoe UI Historic" panose="020B0502040204020203" pitchFamily="34" charset="0"/>
              </a:rPr>
              <a:t>, which calculates the difference between </a:t>
            </a:r>
            <a:r>
              <a:rPr lang="en-PS" sz="2400" dirty="0">
                <a:solidFill>
                  <a:srgbClr val="0070C0"/>
                </a:solidFill>
                <a:latin typeface="+mj-lt"/>
                <a:ea typeface="Segoe UI Historic" panose="020B0502040204020203" pitchFamily="34" charset="0"/>
                <a:cs typeface="Segoe UI Historic" panose="020B0502040204020203" pitchFamily="34" charset="0"/>
              </a:rPr>
              <a:t>True</a:t>
            </a:r>
            <a:r>
              <a:rPr lang="en-PS" sz="2400" dirty="0">
                <a:latin typeface="+mj-lt"/>
                <a:ea typeface="Segoe UI Historic" panose="020B0502040204020203" pitchFamily="34" charset="0"/>
                <a:cs typeface="Segoe UI Historic" panose="020B0502040204020203" pitchFamily="34" charset="0"/>
              </a:rPr>
              <a:t> values and </a:t>
            </a:r>
            <a:r>
              <a:rPr lang="en-PS" sz="2400" dirty="0">
                <a:solidFill>
                  <a:srgbClr val="0070C0"/>
                </a:solidFill>
                <a:latin typeface="+mj-lt"/>
                <a:ea typeface="Segoe UI Historic" panose="020B0502040204020203" pitchFamily="34" charset="0"/>
                <a:cs typeface="Segoe UI Historic" panose="020B0502040204020203" pitchFamily="34" charset="0"/>
              </a:rPr>
              <a:t>Predicted</a:t>
            </a:r>
            <a:r>
              <a:rPr lang="en-PS" sz="2400" dirty="0">
                <a:latin typeface="+mj-lt"/>
                <a:ea typeface="Segoe UI Historic" panose="020B0502040204020203" pitchFamily="34" charset="0"/>
                <a:cs typeface="Segoe UI Historic" panose="020B0502040204020203" pitchFamily="34" charset="0"/>
              </a:rPr>
              <a:t> values</a:t>
            </a:r>
          </a:p>
          <a:p>
            <a:r>
              <a:rPr lang="en-PS" sz="2400" dirty="0">
                <a:latin typeface="+mj-lt"/>
                <a:ea typeface="Segoe UI Historic" panose="020B0502040204020203" pitchFamily="34" charset="0"/>
                <a:cs typeface="Segoe UI Historic" panose="020B0502040204020203" pitchFamily="34" charset="0"/>
              </a:rPr>
              <a:t>To find the values of </a:t>
            </a:r>
            <a:r>
              <a:rPr lang="en-PS" sz="2400" dirty="0">
                <a:solidFill>
                  <a:srgbClr val="0070C0"/>
                </a:solidFill>
                <a:latin typeface="+mj-lt"/>
                <a:ea typeface="Segoe UI Historic" panose="020B0502040204020203" pitchFamily="34" charset="0"/>
                <a:cs typeface="Segoe UI Historic" panose="020B0502040204020203" pitchFamily="34" charset="0"/>
              </a:rPr>
              <a:t>w</a:t>
            </a:r>
            <a:r>
              <a:rPr lang="en-PS" sz="2400" dirty="0">
                <a:latin typeface="+mj-lt"/>
                <a:ea typeface="Segoe UI Historic" panose="020B0502040204020203" pitchFamily="34" charset="0"/>
                <a:cs typeface="Segoe UI Historic" panose="020B0502040204020203" pitchFamily="34" charset="0"/>
              </a:rPr>
              <a:t> and </a:t>
            </a:r>
            <a:r>
              <a:rPr lang="en-PS" sz="2400" dirty="0">
                <a:solidFill>
                  <a:srgbClr val="0070C0"/>
                </a:solidFill>
                <a:latin typeface="+mj-lt"/>
                <a:ea typeface="Segoe UI Historic" panose="020B0502040204020203" pitchFamily="34" charset="0"/>
                <a:cs typeface="Segoe UI Historic" panose="020B0502040204020203" pitchFamily="34" charset="0"/>
              </a:rPr>
              <a:t>b</a:t>
            </a:r>
            <a:r>
              <a:rPr lang="en-PS" sz="2400" dirty="0">
                <a:latin typeface="+mj-lt"/>
                <a:ea typeface="Segoe UI Historic" panose="020B0502040204020203" pitchFamily="34" charset="0"/>
                <a:cs typeface="Segoe UI Historic" panose="020B0502040204020203" pitchFamily="34" charset="0"/>
              </a:rPr>
              <a:t>, we </a:t>
            </a:r>
            <a:r>
              <a:rPr lang="en-PS" sz="2400" dirty="0">
                <a:solidFill>
                  <a:srgbClr val="0070C0"/>
                </a:solidFill>
                <a:latin typeface="+mj-lt"/>
                <a:ea typeface="Segoe UI Historic" panose="020B0502040204020203" pitchFamily="34" charset="0"/>
                <a:cs typeface="Segoe UI Historic" panose="020B0502040204020203" pitchFamily="34" charset="0"/>
              </a:rPr>
              <a:t>minimize J(w,b)</a:t>
            </a:r>
            <a:r>
              <a:rPr lang="en-PS" sz="2400" dirty="0">
                <a:latin typeface="+mj-lt"/>
                <a:ea typeface="Segoe UI Historic" panose="020B0502040204020203" pitchFamily="34" charset="0"/>
                <a:cs typeface="Segoe UI Historic" panose="020B0502040204020203" pitchFamily="34" charset="0"/>
              </a:rPr>
              <a:t> by changing the values of </a:t>
            </a:r>
            <a:r>
              <a:rPr lang="en-PS" sz="2400" dirty="0">
                <a:solidFill>
                  <a:srgbClr val="0070C0"/>
                </a:solidFill>
                <a:latin typeface="+mj-lt"/>
                <a:ea typeface="Segoe UI Historic" panose="020B0502040204020203" pitchFamily="34" charset="0"/>
                <a:cs typeface="Segoe UI Historic" panose="020B0502040204020203" pitchFamily="34" charset="0"/>
              </a:rPr>
              <a:t>w and b</a:t>
            </a:r>
            <a:r>
              <a:rPr lang="en-PS" sz="2400" dirty="0">
                <a:latin typeface="+mj-lt"/>
                <a:ea typeface="Segoe UI Historic" panose="020B0502040204020203" pitchFamily="34" charset="0"/>
                <a:cs typeface="Segoe UI Historic" panose="020B0502040204020203" pitchFamily="34" charset="0"/>
              </a:rPr>
              <a:t>, so we search for w, b that make the cost function J(w,b) minimum.</a:t>
            </a:r>
          </a:p>
          <a:p>
            <a:r>
              <a:rPr lang="en-PS" sz="2400" dirty="0">
                <a:latin typeface="+mj-lt"/>
                <a:ea typeface="Segoe UI Historic" panose="020B0502040204020203" pitchFamily="34" charset="0"/>
                <a:cs typeface="Segoe UI Historic" panose="020B0502040204020203" pitchFamily="34" charset="0"/>
              </a:rPr>
              <a:t>One of the best way to find w and b is to use the Gradient Descent algorithm, that was graphical described in this part</a:t>
            </a:r>
          </a:p>
        </p:txBody>
      </p:sp>
      <p:sp>
        <p:nvSpPr>
          <p:cNvPr id="4" name="Slide Number Placeholder 3">
            <a:extLst>
              <a:ext uri="{FF2B5EF4-FFF2-40B4-BE49-F238E27FC236}">
                <a16:creationId xmlns:a16="http://schemas.microsoft.com/office/drawing/2014/main" id="{2E72CC64-BC72-2BEB-A9EB-7728492420FD}"/>
              </a:ext>
            </a:extLst>
          </p:cNvPr>
          <p:cNvSpPr>
            <a:spLocks noGrp="1"/>
          </p:cNvSpPr>
          <p:nvPr>
            <p:ph type="sldNum" sz="quarter" idx="12"/>
          </p:nvPr>
        </p:nvSpPr>
        <p:spPr>
          <a:xfrm>
            <a:off x="8724900" y="4767263"/>
            <a:ext cx="342900" cy="273844"/>
          </a:xfrm>
        </p:spPr>
        <p:txBody>
          <a:bodyPr/>
          <a:lstStyle/>
          <a:p>
            <a:fld id="{B6F15528-21DE-4FAA-801E-634DDDAF4B2B}" type="slidenum">
              <a:rPr lang="en-PS" smtClean="0">
                <a:latin typeface="Gill Sans MT" panose="020B0502020104020203" pitchFamily="34" charset="77"/>
              </a:rPr>
              <a:t>8</a:t>
            </a:fld>
            <a:endParaRPr lang="en-PS">
              <a:latin typeface="Gill Sans MT" panose="020B0502020104020203" pitchFamily="34" charset="77"/>
            </a:endParaRPr>
          </a:p>
        </p:txBody>
      </p:sp>
      <p:sp>
        <p:nvSpPr>
          <p:cNvPr id="5" name="TextBox 4">
            <a:extLst>
              <a:ext uri="{FF2B5EF4-FFF2-40B4-BE49-F238E27FC236}">
                <a16:creationId xmlns:a16="http://schemas.microsoft.com/office/drawing/2014/main" id="{0D818EF8-258B-DA2D-E0A8-F62267981403}"/>
              </a:ext>
            </a:extLst>
          </p:cNvPr>
          <p:cNvSpPr txBox="1"/>
          <p:nvPr/>
        </p:nvSpPr>
        <p:spPr>
          <a:xfrm>
            <a:off x="381000" y="4196299"/>
            <a:ext cx="6897914" cy="707886"/>
          </a:xfrm>
          <a:prstGeom prst="rect">
            <a:avLst/>
          </a:prstGeom>
          <a:noFill/>
        </p:spPr>
        <p:txBody>
          <a:bodyPr wrap="none" rtlCol="0">
            <a:spAutoFit/>
          </a:bodyPr>
          <a:lstStyle/>
          <a:p>
            <a:r>
              <a:rPr lang="en-PS" sz="2000" dirty="0">
                <a:solidFill>
                  <a:srgbClr val="C00000"/>
                </a:solidFill>
                <a:latin typeface="+mj-lt"/>
                <a:ea typeface="Segoe UI Historic" panose="020B0502040204020203" pitchFamily="34" charset="0"/>
                <a:cs typeface="Segoe UI Historic" panose="020B0502040204020203" pitchFamily="34" charset="0"/>
              </a:rPr>
              <a:t>In the upcoming section we look at the mathematical expressions</a:t>
            </a:r>
          </a:p>
          <a:p>
            <a:r>
              <a:rPr lang="en-PS" sz="2000" dirty="0">
                <a:solidFill>
                  <a:srgbClr val="C00000"/>
                </a:solidFill>
                <a:latin typeface="+mj-lt"/>
                <a:ea typeface="Segoe UI Historic" panose="020B0502040204020203" pitchFamily="34" charset="0"/>
                <a:cs typeface="Segoe UI Historic" panose="020B0502040204020203" pitchFamily="34" charset="0"/>
              </a:rPr>
              <a:t> of Gradient Descent</a:t>
            </a:r>
          </a:p>
        </p:txBody>
      </p:sp>
      <p:sp>
        <p:nvSpPr>
          <p:cNvPr id="6" name="Right Arrow 5">
            <a:extLst>
              <a:ext uri="{FF2B5EF4-FFF2-40B4-BE49-F238E27FC236}">
                <a16:creationId xmlns:a16="http://schemas.microsoft.com/office/drawing/2014/main" id="{075FCB35-6173-6558-3661-8CEF8D038B25}"/>
              </a:ext>
            </a:extLst>
          </p:cNvPr>
          <p:cNvSpPr/>
          <p:nvPr/>
        </p:nvSpPr>
        <p:spPr>
          <a:xfrm>
            <a:off x="7772400" y="4307547"/>
            <a:ext cx="400050" cy="325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latin typeface="Gill Sans MT" panose="020B0502020104020203" pitchFamily="34" charset="77"/>
            </a:endParaRPr>
          </a:p>
        </p:txBody>
      </p:sp>
    </p:spTree>
    <p:extLst>
      <p:ext uri="{BB962C8B-B14F-4D97-AF65-F5344CB8AC3E}">
        <p14:creationId xmlns:p14="http://schemas.microsoft.com/office/powerpoint/2010/main" val="233339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C7EF7-B2DF-7DD9-ACFF-82C6D1AB06DE}"/>
              </a:ext>
            </a:extLst>
          </p:cNvPr>
          <p:cNvSpPr>
            <a:spLocks noGrp="1"/>
          </p:cNvSpPr>
          <p:nvPr>
            <p:ph type="sldNum" sz="quarter" idx="7"/>
          </p:nvPr>
        </p:nvSpPr>
        <p:spPr>
          <a:xfrm>
            <a:off x="8229600" y="4767263"/>
            <a:ext cx="285750" cy="273844"/>
          </a:xfrm>
        </p:spPr>
        <p:txBody>
          <a:bodyPr/>
          <a:lstStyle/>
          <a:p>
            <a:pPr algn="ctr"/>
            <a:fld id="{B6F15528-21DE-4FAA-801E-634DDDAF4B2B}" type="slidenum">
              <a:rPr lang="en-PS" smtClean="0">
                <a:solidFill>
                  <a:srgbClr val="0432FF"/>
                </a:solidFill>
                <a:latin typeface="Gill Sans MT" panose="020B0502020104020203" pitchFamily="34" charset="77"/>
              </a:rPr>
              <a:pPr algn="ctr"/>
              <a:t>9</a:t>
            </a:fld>
            <a:endParaRPr lang="en-PS">
              <a:solidFill>
                <a:srgbClr val="0432FF"/>
              </a:solidFill>
              <a:latin typeface="Gill Sans MT" panose="020B0502020104020203" pitchFamily="34" charset="77"/>
            </a:endParaRPr>
          </a:p>
        </p:txBody>
      </p:sp>
      <p:sp>
        <p:nvSpPr>
          <p:cNvPr id="8" name="Subtitle 7">
            <a:extLst>
              <a:ext uri="{FF2B5EF4-FFF2-40B4-BE49-F238E27FC236}">
                <a16:creationId xmlns:a16="http://schemas.microsoft.com/office/drawing/2014/main" id="{A2816862-1D98-F566-8EB2-4F94A9BFF2E2}"/>
              </a:ext>
            </a:extLst>
          </p:cNvPr>
          <p:cNvSpPr>
            <a:spLocks noGrp="1"/>
          </p:cNvSpPr>
          <p:nvPr>
            <p:ph type="subTitle" idx="4"/>
          </p:nvPr>
        </p:nvSpPr>
        <p:spPr>
          <a:xfrm>
            <a:off x="304800" y="2377851"/>
            <a:ext cx="7924800" cy="498598"/>
          </a:xfrm>
        </p:spPr>
        <p:txBody>
          <a:bodyPr/>
          <a:lstStyle/>
          <a:p>
            <a:pPr marL="0" indent="0" algn="ctr">
              <a:buNone/>
            </a:pPr>
            <a:r>
              <a:rPr lang="en-PS" sz="3600" dirty="0">
                <a:latin typeface="Gill Sans MT" panose="020B0502020104020203" pitchFamily="34" charset="77"/>
              </a:rPr>
              <a:t>Implementing Gradient Descent</a:t>
            </a:r>
          </a:p>
        </p:txBody>
      </p:sp>
      <p:sp>
        <p:nvSpPr>
          <p:cNvPr id="2" name="TextBox 1">
            <a:extLst>
              <a:ext uri="{FF2B5EF4-FFF2-40B4-BE49-F238E27FC236}">
                <a16:creationId xmlns:a16="http://schemas.microsoft.com/office/drawing/2014/main" id="{34783664-CF9C-9A59-9E1D-1A22B81FA618}"/>
              </a:ext>
            </a:extLst>
          </p:cNvPr>
          <p:cNvSpPr txBox="1"/>
          <p:nvPr/>
        </p:nvSpPr>
        <p:spPr>
          <a:xfrm>
            <a:off x="2286000" y="3439840"/>
            <a:ext cx="3746988" cy="461665"/>
          </a:xfrm>
          <a:prstGeom prst="rect">
            <a:avLst/>
          </a:prstGeom>
          <a:noFill/>
        </p:spPr>
        <p:txBody>
          <a:bodyPr wrap="none" rtlCol="0">
            <a:spAutoFit/>
          </a:bodyPr>
          <a:lstStyle/>
          <a:p>
            <a:r>
              <a:rPr lang="en-PS" sz="2400" dirty="0">
                <a:solidFill>
                  <a:srgbClr val="0432FF"/>
                </a:solidFill>
                <a:latin typeface="Gill Sans MT" panose="020B0502020104020203" pitchFamily="34" charset="77"/>
              </a:rPr>
              <a:t>in Mathematical Expressions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3845" y="4750120"/>
            <a:ext cx="1007744" cy="231474"/>
          </a:xfrm>
          <a:prstGeom prst="rect">
            <a:avLst/>
          </a:prstGeom>
        </p:spPr>
        <p:txBody>
          <a:bodyPr vert="horz" wrap="square" lIns="0" tIns="15875" rIns="0" bIns="0" rtlCol="0">
            <a:spAutoFit/>
          </a:bodyPr>
          <a:lstStyle/>
          <a:p>
            <a:pPr marL="12700">
              <a:spcBef>
                <a:spcPts val="125"/>
              </a:spcBef>
            </a:pPr>
            <a:r>
              <a:rPr sz="1400" spc="15" dirty="0">
                <a:solidFill>
                  <a:srgbClr val="FFFFFF"/>
                </a:solidFill>
                <a:latin typeface="Verdana"/>
                <a:cs typeface="Verdana"/>
              </a:rPr>
              <a:t>An</a:t>
            </a:r>
            <a:r>
              <a:rPr sz="1400" spc="25" dirty="0">
                <a:solidFill>
                  <a:srgbClr val="FFFFFF"/>
                </a:solidFill>
                <a:latin typeface="Verdana"/>
                <a:cs typeface="Verdana"/>
              </a:rPr>
              <a:t>d</a:t>
            </a:r>
            <a:r>
              <a:rPr sz="1400" dirty="0">
                <a:solidFill>
                  <a:srgbClr val="FFFFFF"/>
                </a:solidFill>
                <a:latin typeface="Verdana"/>
                <a:cs typeface="Verdana"/>
              </a:rPr>
              <a:t>r</a:t>
            </a:r>
            <a:r>
              <a:rPr sz="1400" spc="-11" dirty="0">
                <a:solidFill>
                  <a:srgbClr val="FFFFFF"/>
                </a:solidFill>
                <a:latin typeface="Verdana"/>
                <a:cs typeface="Verdana"/>
              </a:rPr>
              <a:t>e</a:t>
            </a:r>
            <a:r>
              <a:rPr sz="1400" spc="20" dirty="0">
                <a:solidFill>
                  <a:srgbClr val="FFFFFF"/>
                </a:solidFill>
                <a:latin typeface="Verdana"/>
                <a:cs typeface="Verdana"/>
              </a:rPr>
              <a:t>w</a:t>
            </a:r>
            <a:r>
              <a:rPr sz="1400" spc="-85" dirty="0">
                <a:solidFill>
                  <a:srgbClr val="FFFFFF"/>
                </a:solidFill>
                <a:latin typeface="Verdana"/>
                <a:cs typeface="Verdana"/>
              </a:rPr>
              <a:t> </a:t>
            </a:r>
            <a:r>
              <a:rPr sz="1400" dirty="0">
                <a:solidFill>
                  <a:srgbClr val="FFFFFF"/>
                </a:solidFill>
                <a:latin typeface="Verdana"/>
                <a:cs typeface="Verdana"/>
              </a:rPr>
              <a:t>N</a:t>
            </a:r>
            <a:r>
              <a:rPr sz="1400" spc="15" dirty="0">
                <a:solidFill>
                  <a:srgbClr val="FFFFFF"/>
                </a:solidFill>
                <a:latin typeface="Verdana"/>
                <a:cs typeface="Verdana"/>
              </a:rPr>
              <a:t>g</a:t>
            </a:r>
            <a:endParaRPr sz="1400" dirty="0">
              <a:latin typeface="Verdana"/>
              <a:cs typeface="Verdana"/>
            </a:endParaRPr>
          </a:p>
        </p:txBody>
      </p:sp>
      <p:sp>
        <p:nvSpPr>
          <p:cNvPr id="3" name="object 3"/>
          <p:cNvSpPr txBox="1">
            <a:spLocks noGrp="1"/>
          </p:cNvSpPr>
          <p:nvPr>
            <p:ph type="title"/>
          </p:nvPr>
        </p:nvSpPr>
        <p:spPr>
          <a:xfrm>
            <a:off x="162562" y="24607"/>
            <a:ext cx="7914638" cy="428964"/>
          </a:xfrm>
          <a:prstGeom prst="rect">
            <a:avLst/>
          </a:prstGeom>
        </p:spPr>
        <p:txBody>
          <a:bodyPr vert="horz" wrap="square" lIns="0" tIns="13335" rIns="0" bIns="0" rtlCol="0" anchor="ctr">
            <a:spAutoFit/>
          </a:bodyPr>
          <a:lstStyle/>
          <a:p>
            <a:pPr marL="12700">
              <a:spcBef>
                <a:spcPts val="105"/>
              </a:spcBef>
            </a:pPr>
            <a:r>
              <a:rPr sz="3000" spc="5" dirty="0">
                <a:solidFill>
                  <a:srgbClr val="0432FF"/>
                </a:solidFill>
                <a:latin typeface="Gill Sans MT" panose="020B0502020104020203" pitchFamily="34" charset="77"/>
              </a:rPr>
              <a:t>Gradient</a:t>
            </a:r>
            <a:r>
              <a:rPr sz="3000" spc="-105" dirty="0">
                <a:solidFill>
                  <a:srgbClr val="0432FF"/>
                </a:solidFill>
                <a:latin typeface="Gill Sans MT" panose="020B0502020104020203" pitchFamily="34" charset="77"/>
              </a:rPr>
              <a:t> </a:t>
            </a:r>
            <a:r>
              <a:rPr sz="3000" dirty="0">
                <a:solidFill>
                  <a:srgbClr val="0432FF"/>
                </a:solidFill>
                <a:latin typeface="Gill Sans MT" panose="020B0502020104020203" pitchFamily="34" charset="77"/>
              </a:rPr>
              <a:t>descent</a:t>
            </a:r>
            <a:r>
              <a:rPr sz="3000" spc="-100" dirty="0">
                <a:solidFill>
                  <a:srgbClr val="0432FF"/>
                </a:solidFill>
                <a:latin typeface="Gill Sans MT" panose="020B0502020104020203" pitchFamily="34" charset="77"/>
              </a:rPr>
              <a:t> </a:t>
            </a:r>
            <a:r>
              <a:rPr sz="3000" spc="11" dirty="0">
                <a:solidFill>
                  <a:srgbClr val="0432FF"/>
                </a:solidFill>
                <a:latin typeface="Gill Sans MT" panose="020B0502020104020203" pitchFamily="34" charset="77"/>
              </a:rPr>
              <a:t>algorithm</a:t>
            </a:r>
            <a:r>
              <a:rPr lang="en-GB" sz="3000" spc="11" dirty="0">
                <a:solidFill>
                  <a:srgbClr val="0432FF"/>
                </a:solidFill>
                <a:latin typeface="Gill Sans MT" panose="020B0502020104020203" pitchFamily="34" charset="77"/>
              </a:rPr>
              <a:t>: the expression </a:t>
            </a:r>
            <a:endParaRPr sz="3000" dirty="0">
              <a:solidFill>
                <a:srgbClr val="0432FF"/>
              </a:solidFill>
              <a:latin typeface="Gill Sans MT" panose="020B0502020104020203" pitchFamily="34" charset="77"/>
            </a:endParaRPr>
          </a:p>
        </p:txBody>
      </p:sp>
      <p:sp>
        <p:nvSpPr>
          <p:cNvPr id="15" name="object 15"/>
          <p:cNvSpPr txBox="1"/>
          <p:nvPr/>
        </p:nvSpPr>
        <p:spPr>
          <a:xfrm>
            <a:off x="427676" y="4670336"/>
            <a:ext cx="3538218" cy="269049"/>
          </a:xfrm>
          <a:prstGeom prst="rect">
            <a:avLst/>
          </a:prstGeom>
        </p:spPr>
        <p:txBody>
          <a:bodyPr vert="horz" wrap="square" lIns="0" tIns="1271" rIns="0" bIns="0" rtlCol="0">
            <a:spAutoFit/>
          </a:bodyPr>
          <a:lstStyle/>
          <a:p>
            <a:pPr marL="12700" marR="5080" indent="-17780" algn="ctr">
              <a:lnSpc>
                <a:spcPct val="100800"/>
              </a:lnSpc>
              <a:spcBef>
                <a:spcPts val="1731"/>
              </a:spcBef>
            </a:pPr>
            <a:r>
              <a:rPr spc="-11" dirty="0">
                <a:solidFill>
                  <a:srgbClr val="FF9300"/>
                </a:solidFill>
                <a:latin typeface="Comic Sans MS"/>
                <a:cs typeface="Comic Sans MS"/>
              </a:rPr>
              <a:t>Simultaneously </a:t>
            </a:r>
            <a:r>
              <a:rPr spc="-525" dirty="0">
                <a:solidFill>
                  <a:srgbClr val="FF9300"/>
                </a:solidFill>
                <a:latin typeface="Comic Sans MS"/>
                <a:cs typeface="Comic Sans MS"/>
              </a:rPr>
              <a:t> </a:t>
            </a:r>
            <a:r>
              <a:rPr spc="-31" dirty="0">
                <a:solidFill>
                  <a:srgbClr val="FF9300"/>
                </a:solidFill>
                <a:latin typeface="Comic Sans MS"/>
                <a:cs typeface="Comic Sans MS"/>
              </a:rPr>
              <a:t>update</a:t>
            </a:r>
            <a:r>
              <a:rPr spc="91" dirty="0">
                <a:solidFill>
                  <a:srgbClr val="FF9300"/>
                </a:solidFill>
                <a:latin typeface="Comic Sans MS"/>
                <a:cs typeface="Comic Sans MS"/>
              </a:rPr>
              <a:t> </a:t>
            </a:r>
            <a:r>
              <a:rPr dirty="0">
                <a:solidFill>
                  <a:srgbClr val="FF9300"/>
                </a:solidFill>
                <a:latin typeface="Comic Sans MS"/>
                <a:cs typeface="Comic Sans MS"/>
              </a:rPr>
              <a:t>w and</a:t>
            </a:r>
            <a:r>
              <a:rPr spc="-45" dirty="0">
                <a:solidFill>
                  <a:srgbClr val="FF9300"/>
                </a:solidFill>
                <a:latin typeface="Comic Sans MS"/>
                <a:cs typeface="Comic Sans MS"/>
              </a:rPr>
              <a:t> </a:t>
            </a:r>
            <a:r>
              <a:rPr dirty="0">
                <a:solidFill>
                  <a:srgbClr val="FF9300"/>
                </a:solidFill>
                <a:latin typeface="Comic Sans MS"/>
                <a:cs typeface="Comic Sans MS"/>
              </a:rPr>
              <a:t>b</a:t>
            </a:r>
            <a:endParaRPr dirty="0">
              <a:latin typeface="Comic Sans MS"/>
              <a:cs typeface="Comic Sans MS"/>
            </a:endParaRPr>
          </a:p>
        </p:txBody>
      </p:sp>
      <p:grpSp>
        <p:nvGrpSpPr>
          <p:cNvPr id="25" name="Group 24">
            <a:extLst>
              <a:ext uri="{FF2B5EF4-FFF2-40B4-BE49-F238E27FC236}">
                <a16:creationId xmlns:a16="http://schemas.microsoft.com/office/drawing/2014/main" id="{BD262B36-C41C-4507-BB45-DAFEAED73AC2}"/>
              </a:ext>
            </a:extLst>
          </p:cNvPr>
          <p:cNvGrpSpPr/>
          <p:nvPr/>
        </p:nvGrpSpPr>
        <p:grpSpPr>
          <a:xfrm>
            <a:off x="439706" y="3790950"/>
            <a:ext cx="2879623" cy="652018"/>
            <a:chOff x="520605" y="2419350"/>
            <a:chExt cx="2879623" cy="652018"/>
          </a:xfrm>
        </p:grpSpPr>
        <p:pic>
          <p:nvPicPr>
            <p:cNvPr id="40" name="object 40"/>
            <p:cNvPicPr/>
            <p:nvPr/>
          </p:nvPicPr>
          <p:blipFill>
            <a:blip r:embed="rId2" cstate="print"/>
            <a:stretch>
              <a:fillRect/>
            </a:stretch>
          </p:blipFill>
          <p:spPr>
            <a:xfrm>
              <a:off x="1234078" y="2586482"/>
              <a:ext cx="165988" cy="263270"/>
            </a:xfrm>
            <a:prstGeom prst="rect">
              <a:avLst/>
            </a:prstGeom>
          </p:spPr>
        </p:pic>
        <p:pic>
          <p:nvPicPr>
            <p:cNvPr id="41" name="object 41"/>
            <p:cNvPicPr/>
            <p:nvPr/>
          </p:nvPicPr>
          <p:blipFill>
            <a:blip r:embed="rId3" cstate="print"/>
            <a:stretch>
              <a:fillRect/>
            </a:stretch>
          </p:blipFill>
          <p:spPr>
            <a:xfrm>
              <a:off x="2657914" y="2626488"/>
              <a:ext cx="272542" cy="210692"/>
            </a:xfrm>
            <a:prstGeom prst="rect">
              <a:avLst/>
            </a:prstGeom>
          </p:spPr>
        </p:pic>
        <p:pic>
          <p:nvPicPr>
            <p:cNvPr id="42" name="object 42"/>
            <p:cNvPicPr/>
            <p:nvPr/>
          </p:nvPicPr>
          <p:blipFill>
            <a:blip r:embed="rId4" cstate="print"/>
            <a:stretch>
              <a:fillRect/>
            </a:stretch>
          </p:blipFill>
          <p:spPr>
            <a:xfrm>
              <a:off x="1494975" y="2419350"/>
              <a:ext cx="1905253" cy="570738"/>
            </a:xfrm>
            <a:prstGeom prst="rect">
              <a:avLst/>
            </a:prstGeom>
          </p:spPr>
        </p:pic>
        <p:sp>
          <p:nvSpPr>
            <p:cNvPr id="43" name="object 43"/>
            <p:cNvSpPr/>
            <p:nvPr/>
          </p:nvSpPr>
          <p:spPr>
            <a:xfrm>
              <a:off x="936810" y="2676017"/>
              <a:ext cx="127635" cy="30480"/>
            </a:xfrm>
            <a:custGeom>
              <a:avLst/>
              <a:gdLst/>
              <a:ahLst/>
              <a:cxnLst/>
              <a:rect l="l" t="t" r="r" b="b"/>
              <a:pathLst>
                <a:path w="127634" h="30480">
                  <a:moveTo>
                    <a:pt x="108558" y="8762"/>
                  </a:moveTo>
                  <a:lnTo>
                    <a:pt x="5066" y="8762"/>
                  </a:lnTo>
                  <a:lnTo>
                    <a:pt x="4749" y="9143"/>
                  </a:lnTo>
                  <a:lnTo>
                    <a:pt x="2056" y="12064"/>
                  </a:lnTo>
                  <a:lnTo>
                    <a:pt x="1231" y="13842"/>
                  </a:lnTo>
                  <a:lnTo>
                    <a:pt x="118" y="22079"/>
                  </a:lnTo>
                  <a:lnTo>
                    <a:pt x="0" y="23749"/>
                  </a:lnTo>
                  <a:lnTo>
                    <a:pt x="2958" y="27939"/>
                  </a:lnTo>
                  <a:lnTo>
                    <a:pt x="12127" y="29972"/>
                  </a:lnTo>
                  <a:lnTo>
                    <a:pt x="16737" y="27304"/>
                  </a:lnTo>
                  <a:lnTo>
                    <a:pt x="17583" y="24637"/>
                  </a:lnTo>
                  <a:lnTo>
                    <a:pt x="15074" y="24511"/>
                  </a:lnTo>
                  <a:lnTo>
                    <a:pt x="12927" y="24256"/>
                  </a:lnTo>
                  <a:lnTo>
                    <a:pt x="10540" y="23622"/>
                  </a:lnTo>
                  <a:lnTo>
                    <a:pt x="17664" y="21985"/>
                  </a:lnTo>
                  <a:lnTo>
                    <a:pt x="19138" y="19685"/>
                  </a:lnTo>
                  <a:lnTo>
                    <a:pt x="125638" y="19685"/>
                  </a:lnTo>
                  <a:lnTo>
                    <a:pt x="127532" y="15493"/>
                  </a:lnTo>
                  <a:lnTo>
                    <a:pt x="127304" y="11937"/>
                  </a:lnTo>
                  <a:lnTo>
                    <a:pt x="108558" y="11937"/>
                  </a:lnTo>
                  <a:lnTo>
                    <a:pt x="108558" y="8762"/>
                  </a:lnTo>
                  <a:close/>
                </a:path>
                <a:path w="127634" h="30480">
                  <a:moveTo>
                    <a:pt x="124042" y="22098"/>
                  </a:moveTo>
                  <a:lnTo>
                    <a:pt x="18401" y="22098"/>
                  </a:lnTo>
                  <a:lnTo>
                    <a:pt x="17621" y="24519"/>
                  </a:lnTo>
                  <a:lnTo>
                    <a:pt x="18630" y="24637"/>
                  </a:lnTo>
                  <a:lnTo>
                    <a:pt x="60540" y="24637"/>
                  </a:lnTo>
                  <a:lnTo>
                    <a:pt x="64134" y="24764"/>
                  </a:lnTo>
                  <a:lnTo>
                    <a:pt x="94284" y="24764"/>
                  </a:lnTo>
                  <a:lnTo>
                    <a:pt x="105917" y="25018"/>
                  </a:lnTo>
                  <a:lnTo>
                    <a:pt x="114924" y="24891"/>
                  </a:lnTo>
                  <a:lnTo>
                    <a:pt x="116522" y="24608"/>
                  </a:lnTo>
                  <a:lnTo>
                    <a:pt x="117715" y="24256"/>
                  </a:lnTo>
                  <a:lnTo>
                    <a:pt x="118248" y="24256"/>
                  </a:lnTo>
                  <a:lnTo>
                    <a:pt x="118858" y="24129"/>
                  </a:lnTo>
                  <a:lnTo>
                    <a:pt x="122097" y="23622"/>
                  </a:lnTo>
                  <a:lnTo>
                    <a:pt x="124042" y="22098"/>
                  </a:lnTo>
                  <a:close/>
                </a:path>
                <a:path w="127634" h="30480">
                  <a:moveTo>
                    <a:pt x="114924" y="24891"/>
                  </a:moveTo>
                  <a:lnTo>
                    <a:pt x="105866" y="24891"/>
                  </a:lnTo>
                  <a:lnTo>
                    <a:pt x="108736" y="25018"/>
                  </a:lnTo>
                  <a:lnTo>
                    <a:pt x="114210" y="25018"/>
                  </a:lnTo>
                  <a:lnTo>
                    <a:pt x="114924" y="24891"/>
                  </a:lnTo>
                  <a:close/>
                </a:path>
                <a:path w="127634" h="30480">
                  <a:moveTo>
                    <a:pt x="117715" y="24256"/>
                  </a:moveTo>
                  <a:lnTo>
                    <a:pt x="116522" y="24608"/>
                  </a:lnTo>
                  <a:lnTo>
                    <a:pt x="117111" y="24494"/>
                  </a:lnTo>
                  <a:lnTo>
                    <a:pt x="117715" y="24256"/>
                  </a:lnTo>
                  <a:close/>
                </a:path>
                <a:path w="127634" h="30480">
                  <a:moveTo>
                    <a:pt x="17664" y="21985"/>
                  </a:moveTo>
                  <a:lnTo>
                    <a:pt x="10540" y="23622"/>
                  </a:lnTo>
                  <a:lnTo>
                    <a:pt x="12927" y="24256"/>
                  </a:lnTo>
                  <a:lnTo>
                    <a:pt x="15074" y="24511"/>
                  </a:lnTo>
                  <a:lnTo>
                    <a:pt x="17621" y="24519"/>
                  </a:lnTo>
                  <a:lnTo>
                    <a:pt x="17865" y="23749"/>
                  </a:lnTo>
                  <a:lnTo>
                    <a:pt x="16534" y="23749"/>
                  </a:lnTo>
                  <a:lnTo>
                    <a:pt x="17664" y="21985"/>
                  </a:lnTo>
                  <a:close/>
                </a:path>
                <a:path w="127634" h="30480">
                  <a:moveTo>
                    <a:pt x="118248" y="24256"/>
                  </a:moveTo>
                  <a:lnTo>
                    <a:pt x="117715" y="24256"/>
                  </a:lnTo>
                  <a:lnTo>
                    <a:pt x="117111" y="24494"/>
                  </a:lnTo>
                  <a:lnTo>
                    <a:pt x="118248" y="24256"/>
                  </a:lnTo>
                  <a:close/>
                </a:path>
                <a:path w="127634" h="30480">
                  <a:moveTo>
                    <a:pt x="18478" y="21798"/>
                  </a:moveTo>
                  <a:lnTo>
                    <a:pt x="17664" y="21985"/>
                  </a:lnTo>
                  <a:lnTo>
                    <a:pt x="16534" y="23749"/>
                  </a:lnTo>
                  <a:lnTo>
                    <a:pt x="18114" y="22351"/>
                  </a:lnTo>
                  <a:lnTo>
                    <a:pt x="18344" y="22117"/>
                  </a:lnTo>
                  <a:lnTo>
                    <a:pt x="18420" y="21985"/>
                  </a:lnTo>
                  <a:lnTo>
                    <a:pt x="18478" y="21798"/>
                  </a:lnTo>
                  <a:close/>
                </a:path>
                <a:path w="127634" h="30480">
                  <a:moveTo>
                    <a:pt x="18379" y="22117"/>
                  </a:moveTo>
                  <a:lnTo>
                    <a:pt x="16534" y="23749"/>
                  </a:lnTo>
                  <a:lnTo>
                    <a:pt x="17865" y="23749"/>
                  </a:lnTo>
                  <a:lnTo>
                    <a:pt x="18379" y="22117"/>
                  </a:lnTo>
                  <a:close/>
                </a:path>
                <a:path w="127634" h="30480">
                  <a:moveTo>
                    <a:pt x="18391" y="22079"/>
                  </a:moveTo>
                  <a:lnTo>
                    <a:pt x="18058" y="22351"/>
                  </a:lnTo>
                  <a:lnTo>
                    <a:pt x="18374" y="22117"/>
                  </a:lnTo>
                  <a:close/>
                </a:path>
                <a:path w="127634" h="30480">
                  <a:moveTo>
                    <a:pt x="18380" y="22113"/>
                  </a:moveTo>
                  <a:lnTo>
                    <a:pt x="18058" y="22351"/>
                  </a:lnTo>
                  <a:lnTo>
                    <a:pt x="18380" y="22113"/>
                  </a:lnTo>
                  <a:close/>
                </a:path>
                <a:path w="127634" h="30480">
                  <a:moveTo>
                    <a:pt x="124528" y="21716"/>
                  </a:moveTo>
                  <a:lnTo>
                    <a:pt x="18833" y="21716"/>
                  </a:lnTo>
                  <a:lnTo>
                    <a:pt x="18505" y="21985"/>
                  </a:lnTo>
                  <a:lnTo>
                    <a:pt x="18380" y="22113"/>
                  </a:lnTo>
                  <a:lnTo>
                    <a:pt x="124042" y="22098"/>
                  </a:lnTo>
                  <a:lnTo>
                    <a:pt x="124528" y="21716"/>
                  </a:lnTo>
                  <a:close/>
                </a:path>
                <a:path w="127634" h="30480">
                  <a:moveTo>
                    <a:pt x="18833" y="21716"/>
                  </a:moveTo>
                  <a:lnTo>
                    <a:pt x="18478" y="21798"/>
                  </a:lnTo>
                  <a:lnTo>
                    <a:pt x="18391" y="22079"/>
                  </a:lnTo>
                  <a:lnTo>
                    <a:pt x="18833" y="21716"/>
                  </a:lnTo>
                  <a:close/>
                </a:path>
                <a:path w="127634" h="30480">
                  <a:moveTo>
                    <a:pt x="19138" y="19685"/>
                  </a:moveTo>
                  <a:lnTo>
                    <a:pt x="17664" y="21985"/>
                  </a:lnTo>
                  <a:lnTo>
                    <a:pt x="18478" y="21798"/>
                  </a:lnTo>
                  <a:lnTo>
                    <a:pt x="19138" y="19685"/>
                  </a:lnTo>
                  <a:close/>
                </a:path>
                <a:path w="127634" h="30480">
                  <a:moveTo>
                    <a:pt x="125638" y="19685"/>
                  </a:moveTo>
                  <a:lnTo>
                    <a:pt x="19138" y="19685"/>
                  </a:lnTo>
                  <a:lnTo>
                    <a:pt x="18478" y="21798"/>
                  </a:lnTo>
                  <a:lnTo>
                    <a:pt x="18833" y="21716"/>
                  </a:lnTo>
                  <a:lnTo>
                    <a:pt x="124528" y="21716"/>
                  </a:lnTo>
                  <a:lnTo>
                    <a:pt x="124852" y="21462"/>
                  </a:lnTo>
                  <a:lnTo>
                    <a:pt x="125638" y="19685"/>
                  </a:lnTo>
                  <a:close/>
                </a:path>
                <a:path w="127634" h="30480">
                  <a:moveTo>
                    <a:pt x="121881" y="0"/>
                  </a:moveTo>
                  <a:lnTo>
                    <a:pt x="112406" y="0"/>
                  </a:lnTo>
                  <a:lnTo>
                    <a:pt x="108682" y="3810"/>
                  </a:lnTo>
                  <a:lnTo>
                    <a:pt x="108558" y="11937"/>
                  </a:lnTo>
                  <a:lnTo>
                    <a:pt x="109350" y="9143"/>
                  </a:lnTo>
                  <a:lnTo>
                    <a:pt x="108723" y="9143"/>
                  </a:lnTo>
                  <a:lnTo>
                    <a:pt x="109854" y="7365"/>
                  </a:lnTo>
                  <a:lnTo>
                    <a:pt x="112777" y="7365"/>
                  </a:lnTo>
                  <a:lnTo>
                    <a:pt x="118858" y="4699"/>
                  </a:lnTo>
                  <a:lnTo>
                    <a:pt x="118248" y="4572"/>
                  </a:lnTo>
                  <a:lnTo>
                    <a:pt x="117715" y="4572"/>
                  </a:lnTo>
                  <a:lnTo>
                    <a:pt x="116522" y="4220"/>
                  </a:lnTo>
                  <a:lnTo>
                    <a:pt x="114210" y="3810"/>
                  </a:lnTo>
                  <a:lnTo>
                    <a:pt x="125605" y="3810"/>
                  </a:lnTo>
                  <a:lnTo>
                    <a:pt x="121881" y="0"/>
                  </a:lnTo>
                  <a:close/>
                </a:path>
                <a:path w="127634" h="30480">
                  <a:moveTo>
                    <a:pt x="125729" y="4190"/>
                  </a:moveTo>
                  <a:lnTo>
                    <a:pt x="116420" y="4190"/>
                  </a:lnTo>
                  <a:lnTo>
                    <a:pt x="118858" y="4699"/>
                  </a:lnTo>
                  <a:lnTo>
                    <a:pt x="109439" y="8830"/>
                  </a:lnTo>
                  <a:lnTo>
                    <a:pt x="108558" y="11937"/>
                  </a:lnTo>
                  <a:lnTo>
                    <a:pt x="125729" y="11937"/>
                  </a:lnTo>
                  <a:lnTo>
                    <a:pt x="124433" y="7365"/>
                  </a:lnTo>
                  <a:lnTo>
                    <a:pt x="125729" y="7365"/>
                  </a:lnTo>
                  <a:lnTo>
                    <a:pt x="125729" y="4190"/>
                  </a:lnTo>
                  <a:close/>
                </a:path>
                <a:path w="127634" h="30480">
                  <a:moveTo>
                    <a:pt x="124433" y="7365"/>
                  </a:moveTo>
                  <a:lnTo>
                    <a:pt x="125729" y="11937"/>
                  </a:lnTo>
                  <a:lnTo>
                    <a:pt x="125729" y="9429"/>
                  </a:lnTo>
                  <a:lnTo>
                    <a:pt x="124433" y="7365"/>
                  </a:lnTo>
                  <a:close/>
                </a:path>
                <a:path w="127634" h="30480">
                  <a:moveTo>
                    <a:pt x="125729" y="9429"/>
                  </a:moveTo>
                  <a:lnTo>
                    <a:pt x="125729" y="11937"/>
                  </a:lnTo>
                  <a:lnTo>
                    <a:pt x="127304" y="11937"/>
                  </a:lnTo>
                  <a:lnTo>
                    <a:pt x="125729" y="9429"/>
                  </a:lnTo>
                  <a:close/>
                </a:path>
                <a:path w="127634" h="30480">
                  <a:moveTo>
                    <a:pt x="125729" y="7365"/>
                  </a:moveTo>
                  <a:lnTo>
                    <a:pt x="124433" y="7365"/>
                  </a:lnTo>
                  <a:lnTo>
                    <a:pt x="125729" y="9429"/>
                  </a:lnTo>
                  <a:lnTo>
                    <a:pt x="125729" y="7365"/>
                  </a:lnTo>
                  <a:close/>
                </a:path>
                <a:path w="127634" h="30480">
                  <a:moveTo>
                    <a:pt x="4867" y="8981"/>
                  </a:moveTo>
                  <a:lnTo>
                    <a:pt x="4719" y="9143"/>
                  </a:lnTo>
                  <a:lnTo>
                    <a:pt x="4867" y="8981"/>
                  </a:lnTo>
                  <a:close/>
                </a:path>
                <a:path w="127634" h="30480">
                  <a:moveTo>
                    <a:pt x="5066" y="8762"/>
                  </a:moveTo>
                  <a:lnTo>
                    <a:pt x="4867" y="8981"/>
                  </a:lnTo>
                  <a:lnTo>
                    <a:pt x="4749" y="9143"/>
                  </a:lnTo>
                  <a:lnTo>
                    <a:pt x="5066" y="8762"/>
                  </a:lnTo>
                  <a:close/>
                </a:path>
                <a:path w="127634" h="30480">
                  <a:moveTo>
                    <a:pt x="109854" y="7365"/>
                  </a:moveTo>
                  <a:lnTo>
                    <a:pt x="108723" y="9143"/>
                  </a:lnTo>
                  <a:lnTo>
                    <a:pt x="109439" y="8830"/>
                  </a:lnTo>
                  <a:lnTo>
                    <a:pt x="109854" y="7365"/>
                  </a:lnTo>
                  <a:close/>
                </a:path>
                <a:path w="127634" h="30480">
                  <a:moveTo>
                    <a:pt x="109439" y="8830"/>
                  </a:moveTo>
                  <a:lnTo>
                    <a:pt x="108723" y="9143"/>
                  </a:lnTo>
                  <a:lnTo>
                    <a:pt x="109350" y="9143"/>
                  </a:lnTo>
                  <a:lnTo>
                    <a:pt x="109439" y="8830"/>
                  </a:lnTo>
                  <a:close/>
                </a:path>
                <a:path w="127634" h="30480">
                  <a:moveTo>
                    <a:pt x="108682" y="3810"/>
                  </a:moveTo>
                  <a:lnTo>
                    <a:pt x="105917" y="3810"/>
                  </a:lnTo>
                  <a:lnTo>
                    <a:pt x="100164" y="3937"/>
                  </a:lnTo>
                  <a:lnTo>
                    <a:pt x="94372" y="3937"/>
                  </a:lnTo>
                  <a:lnTo>
                    <a:pt x="90851" y="4061"/>
                  </a:lnTo>
                  <a:lnTo>
                    <a:pt x="60565" y="4063"/>
                  </a:lnTo>
                  <a:lnTo>
                    <a:pt x="54812" y="4190"/>
                  </a:lnTo>
                  <a:lnTo>
                    <a:pt x="17601" y="4190"/>
                  </a:lnTo>
                  <a:lnTo>
                    <a:pt x="15074" y="4317"/>
                  </a:lnTo>
                  <a:lnTo>
                    <a:pt x="4867" y="8981"/>
                  </a:lnTo>
                  <a:lnTo>
                    <a:pt x="5066" y="8762"/>
                  </a:lnTo>
                  <a:lnTo>
                    <a:pt x="108558" y="8762"/>
                  </a:lnTo>
                  <a:lnTo>
                    <a:pt x="108682" y="3810"/>
                  </a:lnTo>
                  <a:close/>
                </a:path>
                <a:path w="127634" h="30480">
                  <a:moveTo>
                    <a:pt x="112777" y="7365"/>
                  </a:moveTo>
                  <a:lnTo>
                    <a:pt x="109854" y="7365"/>
                  </a:lnTo>
                  <a:lnTo>
                    <a:pt x="109439" y="8830"/>
                  </a:lnTo>
                  <a:lnTo>
                    <a:pt x="112777" y="7365"/>
                  </a:lnTo>
                  <a:close/>
                </a:path>
                <a:path w="127634" h="30480">
                  <a:moveTo>
                    <a:pt x="116522" y="4220"/>
                  </a:moveTo>
                  <a:lnTo>
                    <a:pt x="117715" y="4572"/>
                  </a:lnTo>
                  <a:lnTo>
                    <a:pt x="117029" y="4317"/>
                  </a:lnTo>
                  <a:lnTo>
                    <a:pt x="116522" y="4220"/>
                  </a:lnTo>
                  <a:close/>
                </a:path>
                <a:path w="127634" h="30480">
                  <a:moveTo>
                    <a:pt x="117111" y="4334"/>
                  </a:moveTo>
                  <a:lnTo>
                    <a:pt x="117715" y="4572"/>
                  </a:lnTo>
                  <a:lnTo>
                    <a:pt x="118248" y="4572"/>
                  </a:lnTo>
                  <a:lnTo>
                    <a:pt x="117111" y="4334"/>
                  </a:lnTo>
                  <a:close/>
                </a:path>
                <a:path w="127634" h="30480">
                  <a:moveTo>
                    <a:pt x="125605" y="3810"/>
                  </a:moveTo>
                  <a:lnTo>
                    <a:pt x="114210" y="3810"/>
                  </a:lnTo>
                  <a:lnTo>
                    <a:pt x="116522" y="4220"/>
                  </a:lnTo>
                  <a:lnTo>
                    <a:pt x="125729" y="4190"/>
                  </a:lnTo>
                  <a:lnTo>
                    <a:pt x="125605" y="3810"/>
                  </a:lnTo>
                  <a:close/>
                </a:path>
                <a:path w="127634" h="30480">
                  <a:moveTo>
                    <a:pt x="86994" y="3937"/>
                  </a:moveTo>
                  <a:lnTo>
                    <a:pt x="83603" y="3937"/>
                  </a:lnTo>
                  <a:lnTo>
                    <a:pt x="79285" y="4063"/>
                  </a:lnTo>
                  <a:lnTo>
                    <a:pt x="90851" y="4061"/>
                  </a:lnTo>
                  <a:lnTo>
                    <a:pt x="86994" y="3937"/>
                  </a:lnTo>
                  <a:close/>
                </a:path>
                <a:path w="127634" h="30480">
                  <a:moveTo>
                    <a:pt x="90851" y="4061"/>
                  </a:moveTo>
                  <a:close/>
                </a:path>
              </a:pathLst>
            </a:custGeom>
            <a:solidFill>
              <a:srgbClr val="0096FF"/>
            </a:solidFill>
          </p:spPr>
          <p:txBody>
            <a:bodyPr wrap="square" lIns="0" tIns="0" rIns="0" bIns="0" rtlCol="0"/>
            <a:lstStyle/>
            <a:p>
              <a:endParaRPr/>
            </a:p>
          </p:txBody>
        </p:sp>
        <p:pic>
          <p:nvPicPr>
            <p:cNvPr id="44" name="object 44"/>
            <p:cNvPicPr/>
            <p:nvPr/>
          </p:nvPicPr>
          <p:blipFill>
            <a:blip r:embed="rId5" cstate="print"/>
            <a:stretch>
              <a:fillRect/>
            </a:stretch>
          </p:blipFill>
          <p:spPr>
            <a:xfrm>
              <a:off x="520605" y="2545461"/>
              <a:ext cx="941603" cy="525907"/>
            </a:xfrm>
            <a:prstGeom prst="rect">
              <a:avLst/>
            </a:prstGeom>
          </p:spPr>
        </p:pic>
        <p:sp>
          <p:nvSpPr>
            <p:cNvPr id="45" name="object 45"/>
            <p:cNvSpPr/>
            <p:nvPr/>
          </p:nvSpPr>
          <p:spPr>
            <a:xfrm>
              <a:off x="931298" y="2761616"/>
              <a:ext cx="127000" cy="26670"/>
            </a:xfrm>
            <a:custGeom>
              <a:avLst/>
              <a:gdLst/>
              <a:ahLst/>
              <a:cxnLst/>
              <a:rect l="l" t="t" r="r" b="b"/>
              <a:pathLst>
                <a:path w="127000" h="26669">
                  <a:moveTo>
                    <a:pt x="123440" y="10800"/>
                  </a:moveTo>
                  <a:lnTo>
                    <a:pt x="110350" y="21573"/>
                  </a:lnTo>
                  <a:lnTo>
                    <a:pt x="113436" y="25527"/>
                  </a:lnTo>
                  <a:lnTo>
                    <a:pt x="118770" y="26162"/>
                  </a:lnTo>
                  <a:lnTo>
                    <a:pt x="122466" y="23368"/>
                  </a:lnTo>
                  <a:lnTo>
                    <a:pt x="126161" y="20447"/>
                  </a:lnTo>
                  <a:lnTo>
                    <a:pt x="126834" y="15112"/>
                  </a:lnTo>
                  <a:lnTo>
                    <a:pt x="123440" y="10800"/>
                  </a:lnTo>
                  <a:close/>
                </a:path>
                <a:path w="127000" h="26669">
                  <a:moveTo>
                    <a:pt x="103174" y="21717"/>
                  </a:moveTo>
                  <a:lnTo>
                    <a:pt x="97637" y="21717"/>
                  </a:lnTo>
                  <a:lnTo>
                    <a:pt x="100164" y="21843"/>
                  </a:lnTo>
                  <a:lnTo>
                    <a:pt x="100660" y="21843"/>
                  </a:lnTo>
                  <a:lnTo>
                    <a:pt x="103174" y="21717"/>
                  </a:lnTo>
                  <a:close/>
                </a:path>
                <a:path w="127000" h="26669">
                  <a:moveTo>
                    <a:pt x="110020" y="127"/>
                  </a:moveTo>
                  <a:lnTo>
                    <a:pt x="93929" y="127"/>
                  </a:lnTo>
                  <a:lnTo>
                    <a:pt x="91414" y="254"/>
                  </a:lnTo>
                  <a:lnTo>
                    <a:pt x="91744" y="254"/>
                  </a:lnTo>
                  <a:lnTo>
                    <a:pt x="88874" y="381"/>
                  </a:lnTo>
                  <a:lnTo>
                    <a:pt x="83121" y="507"/>
                  </a:lnTo>
                  <a:lnTo>
                    <a:pt x="43751" y="507"/>
                  </a:lnTo>
                  <a:lnTo>
                    <a:pt x="37998" y="635"/>
                  </a:lnTo>
                  <a:lnTo>
                    <a:pt x="26415" y="635"/>
                  </a:lnTo>
                  <a:lnTo>
                    <a:pt x="15062" y="1016"/>
                  </a:lnTo>
                  <a:lnTo>
                    <a:pt x="4000" y="1524"/>
                  </a:lnTo>
                  <a:lnTo>
                    <a:pt x="34" y="5679"/>
                  </a:lnTo>
                  <a:lnTo>
                    <a:pt x="0" y="16002"/>
                  </a:lnTo>
                  <a:lnTo>
                    <a:pt x="4000" y="20193"/>
                  </a:lnTo>
                  <a:lnTo>
                    <a:pt x="9105" y="20447"/>
                  </a:lnTo>
                  <a:lnTo>
                    <a:pt x="14846" y="20828"/>
                  </a:lnTo>
                  <a:lnTo>
                    <a:pt x="22644" y="21081"/>
                  </a:lnTo>
                  <a:lnTo>
                    <a:pt x="32219" y="21081"/>
                  </a:lnTo>
                  <a:lnTo>
                    <a:pt x="37985" y="21209"/>
                  </a:lnTo>
                  <a:lnTo>
                    <a:pt x="83121" y="21209"/>
                  </a:lnTo>
                  <a:lnTo>
                    <a:pt x="88874" y="21462"/>
                  </a:lnTo>
                  <a:lnTo>
                    <a:pt x="91414" y="21462"/>
                  </a:lnTo>
                  <a:lnTo>
                    <a:pt x="93929" y="21590"/>
                  </a:lnTo>
                  <a:lnTo>
                    <a:pt x="94373" y="21717"/>
                  </a:lnTo>
                  <a:lnTo>
                    <a:pt x="96710" y="21717"/>
                  </a:lnTo>
                  <a:lnTo>
                    <a:pt x="95999" y="21590"/>
                  </a:lnTo>
                  <a:lnTo>
                    <a:pt x="110020" y="21590"/>
                  </a:lnTo>
                  <a:lnTo>
                    <a:pt x="110350" y="21573"/>
                  </a:lnTo>
                  <a:lnTo>
                    <a:pt x="108038" y="18668"/>
                  </a:lnTo>
                  <a:lnTo>
                    <a:pt x="106337" y="14605"/>
                  </a:lnTo>
                  <a:lnTo>
                    <a:pt x="105629" y="9652"/>
                  </a:lnTo>
                  <a:lnTo>
                    <a:pt x="105583" y="8128"/>
                  </a:lnTo>
                  <a:lnTo>
                    <a:pt x="107416" y="4699"/>
                  </a:lnTo>
                  <a:lnTo>
                    <a:pt x="114223" y="1650"/>
                  </a:lnTo>
                  <a:lnTo>
                    <a:pt x="117825" y="1650"/>
                  </a:lnTo>
                  <a:lnTo>
                    <a:pt x="115951" y="507"/>
                  </a:lnTo>
                  <a:lnTo>
                    <a:pt x="112522" y="254"/>
                  </a:lnTo>
                  <a:lnTo>
                    <a:pt x="110020" y="127"/>
                  </a:lnTo>
                  <a:close/>
                </a:path>
                <a:path w="127000" h="26669">
                  <a:moveTo>
                    <a:pt x="95999" y="21590"/>
                  </a:moveTo>
                  <a:lnTo>
                    <a:pt x="96710" y="21717"/>
                  </a:lnTo>
                  <a:lnTo>
                    <a:pt x="96901" y="21717"/>
                  </a:lnTo>
                  <a:lnTo>
                    <a:pt x="95999" y="21590"/>
                  </a:lnTo>
                  <a:close/>
                </a:path>
                <a:path w="127000" h="26669">
                  <a:moveTo>
                    <a:pt x="110020" y="21590"/>
                  </a:moveTo>
                  <a:lnTo>
                    <a:pt x="95999" y="21590"/>
                  </a:lnTo>
                  <a:lnTo>
                    <a:pt x="96901" y="21717"/>
                  </a:lnTo>
                  <a:lnTo>
                    <a:pt x="109639" y="21717"/>
                  </a:lnTo>
                  <a:lnTo>
                    <a:pt x="110020" y="21590"/>
                  </a:lnTo>
                  <a:close/>
                </a:path>
                <a:path w="127000" h="26669">
                  <a:moveTo>
                    <a:pt x="114223" y="1650"/>
                  </a:moveTo>
                  <a:lnTo>
                    <a:pt x="107416" y="4699"/>
                  </a:lnTo>
                  <a:lnTo>
                    <a:pt x="105448" y="8381"/>
                  </a:lnTo>
                  <a:lnTo>
                    <a:pt x="106337" y="14605"/>
                  </a:lnTo>
                  <a:lnTo>
                    <a:pt x="108038" y="18668"/>
                  </a:lnTo>
                  <a:lnTo>
                    <a:pt x="110350" y="21573"/>
                  </a:lnTo>
                  <a:lnTo>
                    <a:pt x="112522" y="21462"/>
                  </a:lnTo>
                  <a:lnTo>
                    <a:pt x="115951" y="21209"/>
                  </a:lnTo>
                  <a:lnTo>
                    <a:pt x="119075" y="19431"/>
                  </a:lnTo>
                  <a:lnTo>
                    <a:pt x="123558" y="12192"/>
                  </a:lnTo>
                  <a:lnTo>
                    <a:pt x="123139" y="12192"/>
                  </a:lnTo>
                  <a:lnTo>
                    <a:pt x="121437" y="8255"/>
                  </a:lnTo>
                  <a:lnTo>
                    <a:pt x="122271" y="8255"/>
                  </a:lnTo>
                  <a:lnTo>
                    <a:pt x="121589" y="6350"/>
                  </a:lnTo>
                  <a:lnTo>
                    <a:pt x="121128" y="5679"/>
                  </a:lnTo>
                  <a:lnTo>
                    <a:pt x="118249" y="2412"/>
                  </a:lnTo>
                  <a:lnTo>
                    <a:pt x="114223" y="1650"/>
                  </a:lnTo>
                  <a:close/>
                </a:path>
                <a:path w="127000" h="26669">
                  <a:moveTo>
                    <a:pt x="121437" y="8255"/>
                  </a:moveTo>
                  <a:lnTo>
                    <a:pt x="123139" y="12192"/>
                  </a:lnTo>
                  <a:lnTo>
                    <a:pt x="122823" y="10016"/>
                  </a:lnTo>
                  <a:lnTo>
                    <a:pt x="121437" y="8255"/>
                  </a:lnTo>
                  <a:close/>
                </a:path>
                <a:path w="127000" h="26669">
                  <a:moveTo>
                    <a:pt x="122823" y="10016"/>
                  </a:moveTo>
                  <a:lnTo>
                    <a:pt x="123139" y="12192"/>
                  </a:lnTo>
                  <a:lnTo>
                    <a:pt x="123558" y="12192"/>
                  </a:lnTo>
                  <a:lnTo>
                    <a:pt x="123440" y="10800"/>
                  </a:lnTo>
                  <a:lnTo>
                    <a:pt x="122823" y="10016"/>
                  </a:lnTo>
                  <a:close/>
                </a:path>
                <a:path w="127000" h="26669">
                  <a:moveTo>
                    <a:pt x="121128" y="5679"/>
                  </a:moveTo>
                  <a:lnTo>
                    <a:pt x="121589" y="6350"/>
                  </a:lnTo>
                  <a:lnTo>
                    <a:pt x="122770" y="9652"/>
                  </a:lnTo>
                  <a:lnTo>
                    <a:pt x="122823" y="10016"/>
                  </a:lnTo>
                  <a:lnTo>
                    <a:pt x="123440" y="10800"/>
                  </a:lnTo>
                  <a:lnTo>
                    <a:pt x="123215" y="8128"/>
                  </a:lnTo>
                  <a:lnTo>
                    <a:pt x="121128" y="5679"/>
                  </a:lnTo>
                  <a:close/>
                </a:path>
                <a:path w="127000" h="26669">
                  <a:moveTo>
                    <a:pt x="122271" y="8255"/>
                  </a:moveTo>
                  <a:lnTo>
                    <a:pt x="121437" y="8255"/>
                  </a:lnTo>
                  <a:lnTo>
                    <a:pt x="122823" y="10016"/>
                  </a:lnTo>
                  <a:lnTo>
                    <a:pt x="122770" y="9652"/>
                  </a:lnTo>
                  <a:lnTo>
                    <a:pt x="122271" y="8255"/>
                  </a:lnTo>
                  <a:close/>
                </a:path>
                <a:path w="127000" h="26669">
                  <a:moveTo>
                    <a:pt x="117825" y="1650"/>
                  </a:moveTo>
                  <a:lnTo>
                    <a:pt x="114223" y="1650"/>
                  </a:lnTo>
                  <a:lnTo>
                    <a:pt x="118249" y="2412"/>
                  </a:lnTo>
                  <a:lnTo>
                    <a:pt x="121128" y="5679"/>
                  </a:lnTo>
                  <a:lnTo>
                    <a:pt x="120812" y="5206"/>
                  </a:lnTo>
                  <a:lnTo>
                    <a:pt x="119075" y="2412"/>
                  </a:lnTo>
                  <a:lnTo>
                    <a:pt x="117825" y="1650"/>
                  </a:lnTo>
                  <a:close/>
                </a:path>
                <a:path w="127000" h="26669">
                  <a:moveTo>
                    <a:pt x="96635" y="13"/>
                  </a:moveTo>
                  <a:lnTo>
                    <a:pt x="94373" y="127"/>
                  </a:lnTo>
                  <a:lnTo>
                    <a:pt x="95999" y="127"/>
                  </a:lnTo>
                  <a:lnTo>
                    <a:pt x="96635" y="13"/>
                  </a:lnTo>
                  <a:close/>
                </a:path>
                <a:path w="127000" h="26669">
                  <a:moveTo>
                    <a:pt x="96901" y="0"/>
                  </a:moveTo>
                  <a:lnTo>
                    <a:pt x="96635" y="13"/>
                  </a:lnTo>
                  <a:lnTo>
                    <a:pt x="95999" y="127"/>
                  </a:lnTo>
                  <a:lnTo>
                    <a:pt x="96901" y="0"/>
                  </a:lnTo>
                  <a:close/>
                </a:path>
                <a:path w="127000" h="26669">
                  <a:moveTo>
                    <a:pt x="103708" y="0"/>
                  </a:moveTo>
                  <a:lnTo>
                    <a:pt x="96901" y="0"/>
                  </a:lnTo>
                  <a:lnTo>
                    <a:pt x="95999" y="127"/>
                  </a:lnTo>
                  <a:lnTo>
                    <a:pt x="104419" y="127"/>
                  </a:lnTo>
                  <a:lnTo>
                    <a:pt x="103708" y="0"/>
                  </a:lnTo>
                  <a:close/>
                </a:path>
              </a:pathLst>
            </a:custGeom>
            <a:solidFill>
              <a:srgbClr val="0096FF"/>
            </a:solidFill>
          </p:spPr>
          <p:txBody>
            <a:bodyPr wrap="square" lIns="0" tIns="0" rIns="0" bIns="0" rtlCol="0"/>
            <a:lstStyle/>
            <a:p>
              <a:endParaRPr/>
            </a:p>
          </p:txBody>
        </p:sp>
      </p:grpSp>
      <p:grpSp>
        <p:nvGrpSpPr>
          <p:cNvPr id="28" name="Group 27">
            <a:extLst>
              <a:ext uri="{FF2B5EF4-FFF2-40B4-BE49-F238E27FC236}">
                <a16:creationId xmlns:a16="http://schemas.microsoft.com/office/drawing/2014/main" id="{C4954357-0D8F-05C6-6092-4730E7CFB328}"/>
              </a:ext>
            </a:extLst>
          </p:cNvPr>
          <p:cNvGrpSpPr/>
          <p:nvPr/>
        </p:nvGrpSpPr>
        <p:grpSpPr>
          <a:xfrm>
            <a:off x="439706" y="1478695"/>
            <a:ext cx="2989808" cy="601090"/>
            <a:chOff x="409949" y="989382"/>
            <a:chExt cx="2989808" cy="601090"/>
          </a:xfrm>
        </p:grpSpPr>
        <p:pic>
          <p:nvPicPr>
            <p:cNvPr id="39" name="object 39"/>
            <p:cNvPicPr/>
            <p:nvPr/>
          </p:nvPicPr>
          <p:blipFill>
            <a:blip r:embed="rId6" cstate="print"/>
            <a:stretch>
              <a:fillRect/>
            </a:stretch>
          </p:blipFill>
          <p:spPr>
            <a:xfrm>
              <a:off x="890879" y="1244237"/>
              <a:ext cx="146164" cy="111887"/>
            </a:xfrm>
            <a:prstGeom prst="rect">
              <a:avLst/>
            </a:prstGeom>
          </p:spPr>
        </p:pic>
        <p:pic>
          <p:nvPicPr>
            <p:cNvPr id="46" name="object 46"/>
            <p:cNvPicPr/>
            <p:nvPr/>
          </p:nvPicPr>
          <p:blipFill>
            <a:blip r:embed="rId7" cstate="print"/>
            <a:stretch>
              <a:fillRect/>
            </a:stretch>
          </p:blipFill>
          <p:spPr>
            <a:xfrm>
              <a:off x="1226533" y="989382"/>
              <a:ext cx="2173224" cy="601090"/>
            </a:xfrm>
            <a:prstGeom prst="rect">
              <a:avLst/>
            </a:prstGeom>
          </p:spPr>
        </p:pic>
        <p:pic>
          <p:nvPicPr>
            <p:cNvPr id="65" name="object 65"/>
            <p:cNvPicPr/>
            <p:nvPr/>
          </p:nvPicPr>
          <p:blipFill>
            <a:blip r:embed="rId8" cstate="print"/>
            <a:stretch>
              <a:fillRect/>
            </a:stretch>
          </p:blipFill>
          <p:spPr>
            <a:xfrm>
              <a:off x="409949" y="1091837"/>
              <a:ext cx="393612" cy="335243"/>
            </a:xfrm>
            <a:prstGeom prst="rect">
              <a:avLst/>
            </a:prstGeom>
          </p:spPr>
        </p:pic>
      </p:grpSp>
      <p:sp>
        <p:nvSpPr>
          <p:cNvPr id="75" name="Slide Number Placeholder 74">
            <a:extLst>
              <a:ext uri="{FF2B5EF4-FFF2-40B4-BE49-F238E27FC236}">
                <a16:creationId xmlns:a16="http://schemas.microsoft.com/office/drawing/2014/main" id="{FFE51A3D-89E3-4A75-53D4-F2CC1E0DEA30}"/>
              </a:ext>
            </a:extLst>
          </p:cNvPr>
          <p:cNvSpPr>
            <a:spLocks noGrp="1"/>
          </p:cNvSpPr>
          <p:nvPr>
            <p:ph type="sldNum" sz="quarter" idx="12"/>
          </p:nvPr>
        </p:nvSpPr>
        <p:spPr/>
        <p:txBody>
          <a:bodyPr/>
          <a:lstStyle/>
          <a:p>
            <a:fld id="{B6F15528-21DE-4FAA-801E-634DDDAF4B2B}" type="slidenum">
              <a:rPr lang="en-PS" smtClean="0"/>
              <a:t>10</a:t>
            </a:fld>
            <a:endParaRPr lang="en-PS"/>
          </a:p>
        </p:txBody>
      </p:sp>
      <p:sp>
        <p:nvSpPr>
          <p:cNvPr id="29" name="Rounded Rectangle 28">
            <a:extLst>
              <a:ext uri="{FF2B5EF4-FFF2-40B4-BE49-F238E27FC236}">
                <a16:creationId xmlns:a16="http://schemas.microsoft.com/office/drawing/2014/main" id="{7110E635-C81A-CE5E-F49B-CD53D5073112}"/>
              </a:ext>
            </a:extLst>
          </p:cNvPr>
          <p:cNvSpPr/>
          <p:nvPr/>
        </p:nvSpPr>
        <p:spPr>
          <a:xfrm>
            <a:off x="1949132" y="1352550"/>
            <a:ext cx="1644333" cy="762000"/>
          </a:xfrm>
          <a:prstGeom prst="roundRect">
            <a:avLst/>
          </a:prstGeom>
          <a:no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30" name="TextBox 29">
            <a:extLst>
              <a:ext uri="{FF2B5EF4-FFF2-40B4-BE49-F238E27FC236}">
                <a16:creationId xmlns:a16="http://schemas.microsoft.com/office/drawing/2014/main" id="{829C4B1C-2D1A-2859-EC91-2142A4219EEC}"/>
              </a:ext>
            </a:extLst>
          </p:cNvPr>
          <p:cNvSpPr txBox="1"/>
          <p:nvPr/>
        </p:nvSpPr>
        <p:spPr>
          <a:xfrm>
            <a:off x="3200400" y="2340925"/>
            <a:ext cx="1965859" cy="400110"/>
          </a:xfrm>
          <a:prstGeom prst="rect">
            <a:avLst/>
          </a:prstGeom>
          <a:noFill/>
        </p:spPr>
        <p:txBody>
          <a:bodyPr wrap="none" rtlCol="0">
            <a:spAutoFit/>
          </a:bodyPr>
          <a:lstStyle/>
          <a:p>
            <a:r>
              <a:rPr lang="en-PS" sz="2000" dirty="0">
                <a:solidFill>
                  <a:srgbClr val="0432FF"/>
                </a:solidFill>
              </a:rPr>
              <a:t>Partial Derivative</a:t>
            </a:r>
          </a:p>
        </p:txBody>
      </p:sp>
      <p:sp>
        <p:nvSpPr>
          <p:cNvPr id="31" name="TextBox 30">
            <a:extLst>
              <a:ext uri="{FF2B5EF4-FFF2-40B4-BE49-F238E27FC236}">
                <a16:creationId xmlns:a16="http://schemas.microsoft.com/office/drawing/2014/main" id="{6721DE14-DB06-CFA7-D4A8-3B182FEADF6C}"/>
              </a:ext>
            </a:extLst>
          </p:cNvPr>
          <p:cNvSpPr txBox="1"/>
          <p:nvPr/>
        </p:nvSpPr>
        <p:spPr>
          <a:xfrm>
            <a:off x="2093514" y="3114881"/>
            <a:ext cx="1470467" cy="369332"/>
          </a:xfrm>
          <a:prstGeom prst="rect">
            <a:avLst/>
          </a:prstGeom>
          <a:noFill/>
        </p:spPr>
        <p:txBody>
          <a:bodyPr wrap="none" rtlCol="0">
            <a:spAutoFit/>
          </a:bodyPr>
          <a:lstStyle/>
          <a:p>
            <a:r>
              <a:rPr lang="en-PS" dirty="0">
                <a:solidFill>
                  <a:srgbClr val="FF0000"/>
                </a:solidFill>
              </a:rPr>
              <a:t>Learning Rate</a:t>
            </a:r>
          </a:p>
        </p:txBody>
      </p:sp>
      <p:cxnSp>
        <p:nvCxnSpPr>
          <p:cNvPr id="34" name="Straight Arrow Connector 33">
            <a:extLst>
              <a:ext uri="{FF2B5EF4-FFF2-40B4-BE49-F238E27FC236}">
                <a16:creationId xmlns:a16="http://schemas.microsoft.com/office/drawing/2014/main" id="{30A28155-7011-04AE-1CE0-9D2F6708AD66}"/>
              </a:ext>
            </a:extLst>
          </p:cNvPr>
          <p:cNvCxnSpPr>
            <a:cxnSpLocks/>
          </p:cNvCxnSpPr>
          <p:nvPr/>
        </p:nvCxnSpPr>
        <p:spPr>
          <a:xfrm flipH="1" flipV="1">
            <a:off x="3505200" y="2114550"/>
            <a:ext cx="304800" cy="22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549A377-8513-8F1F-E546-DAAB3685E6D6}"/>
              </a:ext>
            </a:extLst>
          </p:cNvPr>
          <p:cNvCxnSpPr>
            <a:cxnSpLocks/>
            <a:stCxn id="31" idx="0"/>
          </p:cNvCxnSpPr>
          <p:nvPr/>
        </p:nvCxnSpPr>
        <p:spPr>
          <a:xfrm flipH="1" flipV="1">
            <a:off x="1834066" y="1943470"/>
            <a:ext cx="994682" cy="1171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9AD58D8-3EC1-CE87-08D0-EB7A8FF348EF}"/>
              </a:ext>
            </a:extLst>
          </p:cNvPr>
          <p:cNvSpPr txBox="1"/>
          <p:nvPr/>
        </p:nvSpPr>
        <p:spPr>
          <a:xfrm>
            <a:off x="124202" y="2492765"/>
            <a:ext cx="1111971" cy="584775"/>
          </a:xfrm>
          <a:prstGeom prst="rect">
            <a:avLst/>
          </a:prstGeom>
          <a:noFill/>
        </p:spPr>
        <p:txBody>
          <a:bodyPr wrap="none" rtlCol="0">
            <a:spAutoFit/>
          </a:bodyPr>
          <a:lstStyle/>
          <a:p>
            <a:pPr algn="ctr"/>
            <a:r>
              <a:rPr lang="en-PS" sz="1600" dirty="0">
                <a:solidFill>
                  <a:srgbClr val="00B0F0"/>
                </a:solidFill>
              </a:rPr>
              <a:t>new values</a:t>
            </a:r>
          </a:p>
          <a:p>
            <a:pPr algn="ctr"/>
            <a:r>
              <a:rPr lang="en-PS" sz="1600" dirty="0">
                <a:solidFill>
                  <a:srgbClr val="00B0F0"/>
                </a:solidFill>
              </a:rPr>
              <a:t>of w</a:t>
            </a:r>
          </a:p>
        </p:txBody>
      </p:sp>
      <p:sp>
        <p:nvSpPr>
          <p:cNvPr id="61" name="TextBox 60">
            <a:extLst>
              <a:ext uri="{FF2B5EF4-FFF2-40B4-BE49-F238E27FC236}">
                <a16:creationId xmlns:a16="http://schemas.microsoft.com/office/drawing/2014/main" id="{68EA36AD-BC7A-3E6E-F8F7-0CB285A4BF85}"/>
              </a:ext>
            </a:extLst>
          </p:cNvPr>
          <p:cNvSpPr txBox="1"/>
          <p:nvPr/>
        </p:nvSpPr>
        <p:spPr>
          <a:xfrm>
            <a:off x="660686" y="591436"/>
            <a:ext cx="1088568" cy="646331"/>
          </a:xfrm>
          <a:prstGeom prst="rect">
            <a:avLst/>
          </a:prstGeom>
          <a:noFill/>
        </p:spPr>
        <p:txBody>
          <a:bodyPr wrap="none" rtlCol="0">
            <a:spAutoFit/>
          </a:bodyPr>
          <a:lstStyle/>
          <a:p>
            <a:pPr algn="ctr"/>
            <a:r>
              <a:rPr lang="en-PS" dirty="0"/>
              <a:t>old value </a:t>
            </a:r>
          </a:p>
          <a:p>
            <a:pPr algn="ctr"/>
            <a:r>
              <a:rPr lang="en-PS" dirty="0"/>
              <a:t>of w</a:t>
            </a:r>
          </a:p>
        </p:txBody>
      </p:sp>
      <p:cxnSp>
        <p:nvCxnSpPr>
          <p:cNvPr id="64" name="Straight Arrow Connector 63">
            <a:extLst>
              <a:ext uri="{FF2B5EF4-FFF2-40B4-BE49-F238E27FC236}">
                <a16:creationId xmlns:a16="http://schemas.microsoft.com/office/drawing/2014/main" id="{CBBAADAB-840A-51B8-3E09-311D905BD224}"/>
              </a:ext>
            </a:extLst>
          </p:cNvPr>
          <p:cNvCxnSpPr>
            <a:cxnSpLocks/>
            <a:stCxn id="48" idx="0"/>
            <a:endCxn id="65" idx="2"/>
          </p:cNvCxnSpPr>
          <p:nvPr/>
        </p:nvCxnSpPr>
        <p:spPr>
          <a:xfrm flipH="1" flipV="1">
            <a:off x="636512" y="1916393"/>
            <a:ext cx="43676" cy="576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269FFEA-B972-C010-41F0-BAEC440618EB}"/>
              </a:ext>
            </a:extLst>
          </p:cNvPr>
          <p:cNvCxnSpPr>
            <a:stCxn id="61" idx="2"/>
          </p:cNvCxnSpPr>
          <p:nvPr/>
        </p:nvCxnSpPr>
        <p:spPr>
          <a:xfrm>
            <a:off x="1204970" y="1237767"/>
            <a:ext cx="176339" cy="389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508A8378-2CFF-C578-12AE-DAB4E5F2F0BE}"/>
              </a:ext>
            </a:extLst>
          </p:cNvPr>
          <p:cNvSpPr txBox="1"/>
          <p:nvPr/>
        </p:nvSpPr>
        <p:spPr>
          <a:xfrm>
            <a:off x="5239557" y="1371395"/>
            <a:ext cx="3912931" cy="2554545"/>
          </a:xfrm>
          <a:prstGeom prst="rect">
            <a:avLst/>
          </a:prstGeom>
          <a:noFill/>
        </p:spPr>
        <p:txBody>
          <a:bodyPr wrap="none" rtlCol="0">
            <a:spAutoFit/>
          </a:bodyPr>
          <a:lstStyle/>
          <a:p>
            <a:r>
              <a:rPr lang="en-PS" sz="2000" dirty="0">
                <a:latin typeface="+mj-lt"/>
              </a:rPr>
              <a:t>The equal sign (=) in the expression</a:t>
            </a:r>
          </a:p>
          <a:p>
            <a:r>
              <a:rPr lang="en-PS" sz="2000" dirty="0">
                <a:latin typeface="+mj-lt"/>
              </a:rPr>
              <a:t>is the assignment operator, which</a:t>
            </a:r>
          </a:p>
          <a:p>
            <a:r>
              <a:rPr lang="en-PS" sz="2000" dirty="0">
                <a:latin typeface="+mj-lt"/>
              </a:rPr>
              <a:t>assign the right value to the left </a:t>
            </a:r>
          </a:p>
          <a:p>
            <a:r>
              <a:rPr lang="en-PS" sz="2000" dirty="0">
                <a:latin typeface="+mj-lt"/>
              </a:rPr>
              <a:t>variable.</a:t>
            </a:r>
          </a:p>
          <a:p>
            <a:r>
              <a:rPr lang="en-PS" sz="2000" dirty="0">
                <a:latin typeface="+mj-lt"/>
              </a:rPr>
              <a:t>e.g. </a:t>
            </a:r>
            <a:r>
              <a:rPr lang="en-PS" sz="2000" dirty="0">
                <a:solidFill>
                  <a:srgbClr val="0070C0"/>
                </a:solidFill>
                <a:latin typeface="+mj-lt"/>
              </a:rPr>
              <a:t>a = a + 1 </a:t>
            </a:r>
          </a:p>
          <a:p>
            <a:r>
              <a:rPr lang="en-PS" sz="2000" dirty="0">
                <a:latin typeface="+mj-lt"/>
              </a:rPr>
              <a:t>means take the old value of </a:t>
            </a:r>
            <a:r>
              <a:rPr lang="en-PS" sz="2000" dirty="0">
                <a:solidFill>
                  <a:srgbClr val="0070C0"/>
                </a:solidFill>
                <a:latin typeface="+mj-lt"/>
              </a:rPr>
              <a:t>a</a:t>
            </a:r>
            <a:r>
              <a:rPr lang="en-PS" sz="2000" dirty="0">
                <a:latin typeface="+mj-lt"/>
              </a:rPr>
              <a:t> and</a:t>
            </a:r>
          </a:p>
          <a:p>
            <a:r>
              <a:rPr lang="en-PS" sz="2000" dirty="0">
                <a:latin typeface="+mj-lt"/>
              </a:rPr>
              <a:t> add </a:t>
            </a:r>
            <a:r>
              <a:rPr lang="en-PS" sz="2000" dirty="0">
                <a:solidFill>
                  <a:srgbClr val="0070C0"/>
                </a:solidFill>
                <a:latin typeface="+mj-lt"/>
              </a:rPr>
              <a:t>1</a:t>
            </a:r>
            <a:r>
              <a:rPr lang="en-PS" sz="2000" dirty="0">
                <a:latin typeface="+mj-lt"/>
              </a:rPr>
              <a:t> to it and assign the value</a:t>
            </a:r>
          </a:p>
          <a:p>
            <a:r>
              <a:rPr lang="en-PS" sz="2000" dirty="0">
                <a:latin typeface="+mj-lt"/>
              </a:rPr>
              <a:t> to the new </a:t>
            </a:r>
            <a:r>
              <a:rPr lang="en-PS" sz="2000" dirty="0">
                <a:solidFill>
                  <a:srgbClr val="0070C0"/>
                </a:solidFill>
                <a:latin typeface="+mj-lt"/>
              </a:rPr>
              <a:t>a</a:t>
            </a:r>
            <a:r>
              <a:rPr lang="en-PS" sz="2000" dirty="0">
                <a:solidFill>
                  <a:srgbClr val="0432FF"/>
                </a:solidFill>
                <a:latin typeface="+mj-lt"/>
              </a:rPr>
              <a:t>.</a:t>
            </a:r>
          </a:p>
        </p:txBody>
      </p:sp>
    </p:spTree>
    <p:extLst>
      <p:ext uri="{BB962C8B-B14F-4D97-AF65-F5344CB8AC3E}">
        <p14:creationId xmlns:p14="http://schemas.microsoft.com/office/powerpoint/2010/main" val="2273022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3845" y="4750120"/>
            <a:ext cx="1007744" cy="231474"/>
          </a:xfrm>
          <a:prstGeom prst="rect">
            <a:avLst/>
          </a:prstGeom>
        </p:spPr>
        <p:txBody>
          <a:bodyPr vert="horz" wrap="square" lIns="0" tIns="15875" rIns="0" bIns="0" rtlCol="0">
            <a:spAutoFit/>
          </a:bodyPr>
          <a:lstStyle/>
          <a:p>
            <a:pPr marL="12700">
              <a:spcBef>
                <a:spcPts val="125"/>
              </a:spcBef>
            </a:pPr>
            <a:r>
              <a:rPr sz="1400" spc="15" dirty="0">
                <a:solidFill>
                  <a:srgbClr val="FFFFFF"/>
                </a:solidFill>
                <a:latin typeface="Verdana"/>
                <a:cs typeface="Verdana"/>
              </a:rPr>
              <a:t>An</a:t>
            </a:r>
            <a:r>
              <a:rPr sz="1400" spc="25" dirty="0">
                <a:solidFill>
                  <a:srgbClr val="FFFFFF"/>
                </a:solidFill>
                <a:latin typeface="Verdana"/>
                <a:cs typeface="Verdana"/>
              </a:rPr>
              <a:t>d</a:t>
            </a:r>
            <a:r>
              <a:rPr sz="1400" dirty="0">
                <a:solidFill>
                  <a:srgbClr val="FFFFFF"/>
                </a:solidFill>
                <a:latin typeface="Verdana"/>
                <a:cs typeface="Verdana"/>
              </a:rPr>
              <a:t>r</a:t>
            </a:r>
            <a:r>
              <a:rPr sz="1400" spc="-11" dirty="0">
                <a:solidFill>
                  <a:srgbClr val="FFFFFF"/>
                </a:solidFill>
                <a:latin typeface="Verdana"/>
                <a:cs typeface="Verdana"/>
              </a:rPr>
              <a:t>e</a:t>
            </a:r>
            <a:r>
              <a:rPr sz="1400" spc="20" dirty="0">
                <a:solidFill>
                  <a:srgbClr val="FFFFFF"/>
                </a:solidFill>
                <a:latin typeface="Verdana"/>
                <a:cs typeface="Verdana"/>
              </a:rPr>
              <a:t>w</a:t>
            </a:r>
            <a:r>
              <a:rPr sz="1400" spc="-85" dirty="0">
                <a:solidFill>
                  <a:srgbClr val="FFFFFF"/>
                </a:solidFill>
                <a:latin typeface="Verdana"/>
                <a:cs typeface="Verdana"/>
              </a:rPr>
              <a:t> </a:t>
            </a:r>
            <a:r>
              <a:rPr sz="1400" dirty="0">
                <a:solidFill>
                  <a:srgbClr val="FFFFFF"/>
                </a:solidFill>
                <a:latin typeface="Verdana"/>
                <a:cs typeface="Verdana"/>
              </a:rPr>
              <a:t>N</a:t>
            </a:r>
            <a:r>
              <a:rPr sz="1400" spc="15" dirty="0">
                <a:solidFill>
                  <a:srgbClr val="FFFFFF"/>
                </a:solidFill>
                <a:latin typeface="Verdana"/>
                <a:cs typeface="Verdana"/>
              </a:rPr>
              <a:t>g</a:t>
            </a:r>
            <a:endParaRPr sz="1400" dirty="0">
              <a:latin typeface="Verdana"/>
              <a:cs typeface="Verdana"/>
            </a:endParaRPr>
          </a:p>
        </p:txBody>
      </p:sp>
      <p:sp>
        <p:nvSpPr>
          <p:cNvPr id="3" name="object 3"/>
          <p:cNvSpPr txBox="1">
            <a:spLocks noGrp="1"/>
          </p:cNvSpPr>
          <p:nvPr>
            <p:ph type="title"/>
          </p:nvPr>
        </p:nvSpPr>
        <p:spPr>
          <a:xfrm>
            <a:off x="226010" y="111286"/>
            <a:ext cx="7914638" cy="428964"/>
          </a:xfrm>
          <a:prstGeom prst="rect">
            <a:avLst/>
          </a:prstGeom>
        </p:spPr>
        <p:txBody>
          <a:bodyPr vert="horz" wrap="square" lIns="0" tIns="13335" rIns="0" bIns="0" rtlCol="0" anchor="ctr">
            <a:spAutoFit/>
          </a:bodyPr>
          <a:lstStyle/>
          <a:p>
            <a:pPr marL="12700">
              <a:spcBef>
                <a:spcPts val="105"/>
              </a:spcBef>
            </a:pPr>
            <a:r>
              <a:rPr sz="3000" spc="5" dirty="0">
                <a:latin typeface="+mj-lt"/>
              </a:rPr>
              <a:t>Gradient</a:t>
            </a:r>
            <a:r>
              <a:rPr sz="3000" spc="-105" dirty="0">
                <a:latin typeface="+mj-lt"/>
              </a:rPr>
              <a:t> </a:t>
            </a:r>
            <a:r>
              <a:rPr sz="3000" dirty="0">
                <a:latin typeface="+mj-lt"/>
              </a:rPr>
              <a:t>descent</a:t>
            </a:r>
            <a:r>
              <a:rPr sz="3000" spc="-100" dirty="0">
                <a:latin typeface="+mj-lt"/>
              </a:rPr>
              <a:t> </a:t>
            </a:r>
            <a:r>
              <a:rPr sz="3000" spc="11" dirty="0">
                <a:latin typeface="+mj-lt"/>
              </a:rPr>
              <a:t>algorithm</a:t>
            </a:r>
            <a:r>
              <a:rPr lang="en-GB" sz="3000" spc="11" dirty="0">
                <a:latin typeface="+mj-lt"/>
              </a:rPr>
              <a:t>: the expression </a:t>
            </a:r>
            <a:endParaRPr sz="3000" dirty="0">
              <a:latin typeface="+mj-lt"/>
            </a:endParaRPr>
          </a:p>
        </p:txBody>
      </p:sp>
      <p:sp>
        <p:nvSpPr>
          <p:cNvPr id="15" name="object 15"/>
          <p:cNvSpPr txBox="1"/>
          <p:nvPr/>
        </p:nvSpPr>
        <p:spPr>
          <a:xfrm>
            <a:off x="427676" y="4670336"/>
            <a:ext cx="3538218" cy="269049"/>
          </a:xfrm>
          <a:prstGeom prst="rect">
            <a:avLst/>
          </a:prstGeom>
        </p:spPr>
        <p:txBody>
          <a:bodyPr vert="horz" wrap="square" lIns="0" tIns="1271" rIns="0" bIns="0" rtlCol="0">
            <a:spAutoFit/>
          </a:bodyPr>
          <a:lstStyle/>
          <a:p>
            <a:pPr marL="12700" marR="5080" indent="-17780" algn="ctr">
              <a:lnSpc>
                <a:spcPct val="100800"/>
              </a:lnSpc>
              <a:spcBef>
                <a:spcPts val="1731"/>
              </a:spcBef>
            </a:pPr>
            <a:r>
              <a:rPr spc="-11" dirty="0">
                <a:solidFill>
                  <a:srgbClr val="FF9300"/>
                </a:solidFill>
                <a:latin typeface="Comic Sans MS"/>
                <a:cs typeface="Comic Sans MS"/>
              </a:rPr>
              <a:t>Simultaneously </a:t>
            </a:r>
            <a:r>
              <a:rPr spc="-525" dirty="0">
                <a:solidFill>
                  <a:srgbClr val="FF9300"/>
                </a:solidFill>
                <a:latin typeface="Comic Sans MS"/>
                <a:cs typeface="Comic Sans MS"/>
              </a:rPr>
              <a:t> </a:t>
            </a:r>
            <a:r>
              <a:rPr spc="-31" dirty="0">
                <a:solidFill>
                  <a:srgbClr val="FF9300"/>
                </a:solidFill>
                <a:latin typeface="Comic Sans MS"/>
                <a:cs typeface="Comic Sans MS"/>
              </a:rPr>
              <a:t>update</a:t>
            </a:r>
            <a:r>
              <a:rPr spc="91" dirty="0">
                <a:solidFill>
                  <a:srgbClr val="FF9300"/>
                </a:solidFill>
                <a:latin typeface="Comic Sans MS"/>
                <a:cs typeface="Comic Sans MS"/>
              </a:rPr>
              <a:t> </a:t>
            </a:r>
            <a:r>
              <a:rPr dirty="0">
                <a:solidFill>
                  <a:srgbClr val="FF9300"/>
                </a:solidFill>
                <a:latin typeface="Comic Sans MS"/>
                <a:cs typeface="Comic Sans MS"/>
              </a:rPr>
              <a:t>w and</a:t>
            </a:r>
            <a:r>
              <a:rPr spc="-45" dirty="0">
                <a:solidFill>
                  <a:srgbClr val="FF9300"/>
                </a:solidFill>
                <a:latin typeface="Comic Sans MS"/>
                <a:cs typeface="Comic Sans MS"/>
              </a:rPr>
              <a:t> </a:t>
            </a:r>
            <a:r>
              <a:rPr dirty="0">
                <a:solidFill>
                  <a:srgbClr val="FF9300"/>
                </a:solidFill>
                <a:latin typeface="Comic Sans MS"/>
                <a:cs typeface="Comic Sans MS"/>
              </a:rPr>
              <a:t>b</a:t>
            </a:r>
            <a:endParaRPr dirty="0">
              <a:latin typeface="Comic Sans MS"/>
              <a:cs typeface="Comic Sans MS"/>
            </a:endParaRPr>
          </a:p>
        </p:txBody>
      </p:sp>
      <p:grpSp>
        <p:nvGrpSpPr>
          <p:cNvPr id="25" name="Group 24">
            <a:extLst>
              <a:ext uri="{FF2B5EF4-FFF2-40B4-BE49-F238E27FC236}">
                <a16:creationId xmlns:a16="http://schemas.microsoft.com/office/drawing/2014/main" id="{BD262B36-C41C-4507-BB45-DAFEAED73AC2}"/>
              </a:ext>
            </a:extLst>
          </p:cNvPr>
          <p:cNvGrpSpPr/>
          <p:nvPr/>
        </p:nvGrpSpPr>
        <p:grpSpPr>
          <a:xfrm>
            <a:off x="439706" y="3790950"/>
            <a:ext cx="2879623" cy="652018"/>
            <a:chOff x="520605" y="2419350"/>
            <a:chExt cx="2879623" cy="652018"/>
          </a:xfrm>
        </p:grpSpPr>
        <p:pic>
          <p:nvPicPr>
            <p:cNvPr id="40" name="object 40"/>
            <p:cNvPicPr/>
            <p:nvPr/>
          </p:nvPicPr>
          <p:blipFill>
            <a:blip r:embed="rId2" cstate="print"/>
            <a:stretch>
              <a:fillRect/>
            </a:stretch>
          </p:blipFill>
          <p:spPr>
            <a:xfrm>
              <a:off x="1234078" y="2586482"/>
              <a:ext cx="165988" cy="263270"/>
            </a:xfrm>
            <a:prstGeom prst="rect">
              <a:avLst/>
            </a:prstGeom>
          </p:spPr>
        </p:pic>
        <p:pic>
          <p:nvPicPr>
            <p:cNvPr id="41" name="object 41"/>
            <p:cNvPicPr/>
            <p:nvPr/>
          </p:nvPicPr>
          <p:blipFill>
            <a:blip r:embed="rId3" cstate="print"/>
            <a:stretch>
              <a:fillRect/>
            </a:stretch>
          </p:blipFill>
          <p:spPr>
            <a:xfrm>
              <a:off x="2657914" y="2626488"/>
              <a:ext cx="272542" cy="210692"/>
            </a:xfrm>
            <a:prstGeom prst="rect">
              <a:avLst/>
            </a:prstGeom>
          </p:spPr>
        </p:pic>
        <p:pic>
          <p:nvPicPr>
            <p:cNvPr id="42" name="object 42"/>
            <p:cNvPicPr/>
            <p:nvPr/>
          </p:nvPicPr>
          <p:blipFill>
            <a:blip r:embed="rId4" cstate="print"/>
            <a:stretch>
              <a:fillRect/>
            </a:stretch>
          </p:blipFill>
          <p:spPr>
            <a:xfrm>
              <a:off x="1494975" y="2419350"/>
              <a:ext cx="1905253" cy="570738"/>
            </a:xfrm>
            <a:prstGeom prst="rect">
              <a:avLst/>
            </a:prstGeom>
          </p:spPr>
        </p:pic>
        <p:sp>
          <p:nvSpPr>
            <p:cNvPr id="43" name="object 43"/>
            <p:cNvSpPr/>
            <p:nvPr/>
          </p:nvSpPr>
          <p:spPr>
            <a:xfrm>
              <a:off x="936810" y="2676017"/>
              <a:ext cx="127635" cy="30480"/>
            </a:xfrm>
            <a:custGeom>
              <a:avLst/>
              <a:gdLst/>
              <a:ahLst/>
              <a:cxnLst/>
              <a:rect l="l" t="t" r="r" b="b"/>
              <a:pathLst>
                <a:path w="127634" h="30480">
                  <a:moveTo>
                    <a:pt x="108558" y="8762"/>
                  </a:moveTo>
                  <a:lnTo>
                    <a:pt x="5066" y="8762"/>
                  </a:lnTo>
                  <a:lnTo>
                    <a:pt x="4749" y="9143"/>
                  </a:lnTo>
                  <a:lnTo>
                    <a:pt x="2056" y="12064"/>
                  </a:lnTo>
                  <a:lnTo>
                    <a:pt x="1231" y="13842"/>
                  </a:lnTo>
                  <a:lnTo>
                    <a:pt x="118" y="22079"/>
                  </a:lnTo>
                  <a:lnTo>
                    <a:pt x="0" y="23749"/>
                  </a:lnTo>
                  <a:lnTo>
                    <a:pt x="2958" y="27939"/>
                  </a:lnTo>
                  <a:lnTo>
                    <a:pt x="12127" y="29972"/>
                  </a:lnTo>
                  <a:lnTo>
                    <a:pt x="16737" y="27304"/>
                  </a:lnTo>
                  <a:lnTo>
                    <a:pt x="17583" y="24637"/>
                  </a:lnTo>
                  <a:lnTo>
                    <a:pt x="15074" y="24511"/>
                  </a:lnTo>
                  <a:lnTo>
                    <a:pt x="12927" y="24256"/>
                  </a:lnTo>
                  <a:lnTo>
                    <a:pt x="10540" y="23622"/>
                  </a:lnTo>
                  <a:lnTo>
                    <a:pt x="17664" y="21985"/>
                  </a:lnTo>
                  <a:lnTo>
                    <a:pt x="19138" y="19685"/>
                  </a:lnTo>
                  <a:lnTo>
                    <a:pt x="125638" y="19685"/>
                  </a:lnTo>
                  <a:lnTo>
                    <a:pt x="127532" y="15493"/>
                  </a:lnTo>
                  <a:lnTo>
                    <a:pt x="127304" y="11937"/>
                  </a:lnTo>
                  <a:lnTo>
                    <a:pt x="108558" y="11937"/>
                  </a:lnTo>
                  <a:lnTo>
                    <a:pt x="108558" y="8762"/>
                  </a:lnTo>
                  <a:close/>
                </a:path>
                <a:path w="127634" h="30480">
                  <a:moveTo>
                    <a:pt x="124042" y="22098"/>
                  </a:moveTo>
                  <a:lnTo>
                    <a:pt x="18401" y="22098"/>
                  </a:lnTo>
                  <a:lnTo>
                    <a:pt x="17621" y="24519"/>
                  </a:lnTo>
                  <a:lnTo>
                    <a:pt x="18630" y="24637"/>
                  </a:lnTo>
                  <a:lnTo>
                    <a:pt x="60540" y="24637"/>
                  </a:lnTo>
                  <a:lnTo>
                    <a:pt x="64134" y="24764"/>
                  </a:lnTo>
                  <a:lnTo>
                    <a:pt x="94284" y="24764"/>
                  </a:lnTo>
                  <a:lnTo>
                    <a:pt x="105917" y="25018"/>
                  </a:lnTo>
                  <a:lnTo>
                    <a:pt x="114924" y="24891"/>
                  </a:lnTo>
                  <a:lnTo>
                    <a:pt x="116522" y="24608"/>
                  </a:lnTo>
                  <a:lnTo>
                    <a:pt x="117715" y="24256"/>
                  </a:lnTo>
                  <a:lnTo>
                    <a:pt x="118248" y="24256"/>
                  </a:lnTo>
                  <a:lnTo>
                    <a:pt x="118858" y="24129"/>
                  </a:lnTo>
                  <a:lnTo>
                    <a:pt x="122097" y="23622"/>
                  </a:lnTo>
                  <a:lnTo>
                    <a:pt x="124042" y="22098"/>
                  </a:lnTo>
                  <a:close/>
                </a:path>
                <a:path w="127634" h="30480">
                  <a:moveTo>
                    <a:pt x="114924" y="24891"/>
                  </a:moveTo>
                  <a:lnTo>
                    <a:pt x="105866" y="24891"/>
                  </a:lnTo>
                  <a:lnTo>
                    <a:pt x="108736" y="25018"/>
                  </a:lnTo>
                  <a:lnTo>
                    <a:pt x="114210" y="25018"/>
                  </a:lnTo>
                  <a:lnTo>
                    <a:pt x="114924" y="24891"/>
                  </a:lnTo>
                  <a:close/>
                </a:path>
                <a:path w="127634" h="30480">
                  <a:moveTo>
                    <a:pt x="117715" y="24256"/>
                  </a:moveTo>
                  <a:lnTo>
                    <a:pt x="116522" y="24608"/>
                  </a:lnTo>
                  <a:lnTo>
                    <a:pt x="117111" y="24494"/>
                  </a:lnTo>
                  <a:lnTo>
                    <a:pt x="117715" y="24256"/>
                  </a:lnTo>
                  <a:close/>
                </a:path>
                <a:path w="127634" h="30480">
                  <a:moveTo>
                    <a:pt x="17664" y="21985"/>
                  </a:moveTo>
                  <a:lnTo>
                    <a:pt x="10540" y="23622"/>
                  </a:lnTo>
                  <a:lnTo>
                    <a:pt x="12927" y="24256"/>
                  </a:lnTo>
                  <a:lnTo>
                    <a:pt x="15074" y="24511"/>
                  </a:lnTo>
                  <a:lnTo>
                    <a:pt x="17621" y="24519"/>
                  </a:lnTo>
                  <a:lnTo>
                    <a:pt x="17865" y="23749"/>
                  </a:lnTo>
                  <a:lnTo>
                    <a:pt x="16534" y="23749"/>
                  </a:lnTo>
                  <a:lnTo>
                    <a:pt x="17664" y="21985"/>
                  </a:lnTo>
                  <a:close/>
                </a:path>
                <a:path w="127634" h="30480">
                  <a:moveTo>
                    <a:pt x="118248" y="24256"/>
                  </a:moveTo>
                  <a:lnTo>
                    <a:pt x="117715" y="24256"/>
                  </a:lnTo>
                  <a:lnTo>
                    <a:pt x="117111" y="24494"/>
                  </a:lnTo>
                  <a:lnTo>
                    <a:pt x="118248" y="24256"/>
                  </a:lnTo>
                  <a:close/>
                </a:path>
                <a:path w="127634" h="30480">
                  <a:moveTo>
                    <a:pt x="18478" y="21798"/>
                  </a:moveTo>
                  <a:lnTo>
                    <a:pt x="17664" y="21985"/>
                  </a:lnTo>
                  <a:lnTo>
                    <a:pt x="16534" y="23749"/>
                  </a:lnTo>
                  <a:lnTo>
                    <a:pt x="18114" y="22351"/>
                  </a:lnTo>
                  <a:lnTo>
                    <a:pt x="18344" y="22117"/>
                  </a:lnTo>
                  <a:lnTo>
                    <a:pt x="18420" y="21985"/>
                  </a:lnTo>
                  <a:lnTo>
                    <a:pt x="18478" y="21798"/>
                  </a:lnTo>
                  <a:close/>
                </a:path>
                <a:path w="127634" h="30480">
                  <a:moveTo>
                    <a:pt x="18379" y="22117"/>
                  </a:moveTo>
                  <a:lnTo>
                    <a:pt x="16534" y="23749"/>
                  </a:lnTo>
                  <a:lnTo>
                    <a:pt x="17865" y="23749"/>
                  </a:lnTo>
                  <a:lnTo>
                    <a:pt x="18379" y="22117"/>
                  </a:lnTo>
                  <a:close/>
                </a:path>
                <a:path w="127634" h="30480">
                  <a:moveTo>
                    <a:pt x="18391" y="22079"/>
                  </a:moveTo>
                  <a:lnTo>
                    <a:pt x="18058" y="22351"/>
                  </a:lnTo>
                  <a:lnTo>
                    <a:pt x="18374" y="22117"/>
                  </a:lnTo>
                  <a:close/>
                </a:path>
                <a:path w="127634" h="30480">
                  <a:moveTo>
                    <a:pt x="18380" y="22113"/>
                  </a:moveTo>
                  <a:lnTo>
                    <a:pt x="18058" y="22351"/>
                  </a:lnTo>
                  <a:lnTo>
                    <a:pt x="18380" y="22113"/>
                  </a:lnTo>
                  <a:close/>
                </a:path>
                <a:path w="127634" h="30480">
                  <a:moveTo>
                    <a:pt x="124528" y="21716"/>
                  </a:moveTo>
                  <a:lnTo>
                    <a:pt x="18833" y="21716"/>
                  </a:lnTo>
                  <a:lnTo>
                    <a:pt x="18505" y="21985"/>
                  </a:lnTo>
                  <a:lnTo>
                    <a:pt x="18380" y="22113"/>
                  </a:lnTo>
                  <a:lnTo>
                    <a:pt x="124042" y="22098"/>
                  </a:lnTo>
                  <a:lnTo>
                    <a:pt x="124528" y="21716"/>
                  </a:lnTo>
                  <a:close/>
                </a:path>
                <a:path w="127634" h="30480">
                  <a:moveTo>
                    <a:pt x="18833" y="21716"/>
                  </a:moveTo>
                  <a:lnTo>
                    <a:pt x="18478" y="21798"/>
                  </a:lnTo>
                  <a:lnTo>
                    <a:pt x="18391" y="22079"/>
                  </a:lnTo>
                  <a:lnTo>
                    <a:pt x="18833" y="21716"/>
                  </a:lnTo>
                  <a:close/>
                </a:path>
                <a:path w="127634" h="30480">
                  <a:moveTo>
                    <a:pt x="19138" y="19685"/>
                  </a:moveTo>
                  <a:lnTo>
                    <a:pt x="17664" y="21985"/>
                  </a:lnTo>
                  <a:lnTo>
                    <a:pt x="18478" y="21798"/>
                  </a:lnTo>
                  <a:lnTo>
                    <a:pt x="19138" y="19685"/>
                  </a:lnTo>
                  <a:close/>
                </a:path>
                <a:path w="127634" h="30480">
                  <a:moveTo>
                    <a:pt x="125638" y="19685"/>
                  </a:moveTo>
                  <a:lnTo>
                    <a:pt x="19138" y="19685"/>
                  </a:lnTo>
                  <a:lnTo>
                    <a:pt x="18478" y="21798"/>
                  </a:lnTo>
                  <a:lnTo>
                    <a:pt x="18833" y="21716"/>
                  </a:lnTo>
                  <a:lnTo>
                    <a:pt x="124528" y="21716"/>
                  </a:lnTo>
                  <a:lnTo>
                    <a:pt x="124852" y="21462"/>
                  </a:lnTo>
                  <a:lnTo>
                    <a:pt x="125638" y="19685"/>
                  </a:lnTo>
                  <a:close/>
                </a:path>
                <a:path w="127634" h="30480">
                  <a:moveTo>
                    <a:pt x="121881" y="0"/>
                  </a:moveTo>
                  <a:lnTo>
                    <a:pt x="112406" y="0"/>
                  </a:lnTo>
                  <a:lnTo>
                    <a:pt x="108682" y="3810"/>
                  </a:lnTo>
                  <a:lnTo>
                    <a:pt x="108558" y="11937"/>
                  </a:lnTo>
                  <a:lnTo>
                    <a:pt x="109350" y="9143"/>
                  </a:lnTo>
                  <a:lnTo>
                    <a:pt x="108723" y="9143"/>
                  </a:lnTo>
                  <a:lnTo>
                    <a:pt x="109854" y="7365"/>
                  </a:lnTo>
                  <a:lnTo>
                    <a:pt x="112777" y="7365"/>
                  </a:lnTo>
                  <a:lnTo>
                    <a:pt x="118858" y="4699"/>
                  </a:lnTo>
                  <a:lnTo>
                    <a:pt x="118248" y="4572"/>
                  </a:lnTo>
                  <a:lnTo>
                    <a:pt x="117715" y="4572"/>
                  </a:lnTo>
                  <a:lnTo>
                    <a:pt x="116522" y="4220"/>
                  </a:lnTo>
                  <a:lnTo>
                    <a:pt x="114210" y="3810"/>
                  </a:lnTo>
                  <a:lnTo>
                    <a:pt x="125605" y="3810"/>
                  </a:lnTo>
                  <a:lnTo>
                    <a:pt x="121881" y="0"/>
                  </a:lnTo>
                  <a:close/>
                </a:path>
                <a:path w="127634" h="30480">
                  <a:moveTo>
                    <a:pt x="125729" y="4190"/>
                  </a:moveTo>
                  <a:lnTo>
                    <a:pt x="116420" y="4190"/>
                  </a:lnTo>
                  <a:lnTo>
                    <a:pt x="118858" y="4699"/>
                  </a:lnTo>
                  <a:lnTo>
                    <a:pt x="109439" y="8830"/>
                  </a:lnTo>
                  <a:lnTo>
                    <a:pt x="108558" y="11937"/>
                  </a:lnTo>
                  <a:lnTo>
                    <a:pt x="125729" y="11937"/>
                  </a:lnTo>
                  <a:lnTo>
                    <a:pt x="124433" y="7365"/>
                  </a:lnTo>
                  <a:lnTo>
                    <a:pt x="125729" y="7365"/>
                  </a:lnTo>
                  <a:lnTo>
                    <a:pt x="125729" y="4190"/>
                  </a:lnTo>
                  <a:close/>
                </a:path>
                <a:path w="127634" h="30480">
                  <a:moveTo>
                    <a:pt x="124433" y="7365"/>
                  </a:moveTo>
                  <a:lnTo>
                    <a:pt x="125729" y="11937"/>
                  </a:lnTo>
                  <a:lnTo>
                    <a:pt x="125729" y="9429"/>
                  </a:lnTo>
                  <a:lnTo>
                    <a:pt x="124433" y="7365"/>
                  </a:lnTo>
                  <a:close/>
                </a:path>
                <a:path w="127634" h="30480">
                  <a:moveTo>
                    <a:pt x="125729" y="9429"/>
                  </a:moveTo>
                  <a:lnTo>
                    <a:pt x="125729" y="11937"/>
                  </a:lnTo>
                  <a:lnTo>
                    <a:pt x="127304" y="11937"/>
                  </a:lnTo>
                  <a:lnTo>
                    <a:pt x="125729" y="9429"/>
                  </a:lnTo>
                  <a:close/>
                </a:path>
                <a:path w="127634" h="30480">
                  <a:moveTo>
                    <a:pt x="125729" y="7365"/>
                  </a:moveTo>
                  <a:lnTo>
                    <a:pt x="124433" y="7365"/>
                  </a:lnTo>
                  <a:lnTo>
                    <a:pt x="125729" y="9429"/>
                  </a:lnTo>
                  <a:lnTo>
                    <a:pt x="125729" y="7365"/>
                  </a:lnTo>
                  <a:close/>
                </a:path>
                <a:path w="127634" h="30480">
                  <a:moveTo>
                    <a:pt x="4867" y="8981"/>
                  </a:moveTo>
                  <a:lnTo>
                    <a:pt x="4719" y="9143"/>
                  </a:lnTo>
                  <a:lnTo>
                    <a:pt x="4867" y="8981"/>
                  </a:lnTo>
                  <a:close/>
                </a:path>
                <a:path w="127634" h="30480">
                  <a:moveTo>
                    <a:pt x="5066" y="8762"/>
                  </a:moveTo>
                  <a:lnTo>
                    <a:pt x="4867" y="8981"/>
                  </a:lnTo>
                  <a:lnTo>
                    <a:pt x="4749" y="9143"/>
                  </a:lnTo>
                  <a:lnTo>
                    <a:pt x="5066" y="8762"/>
                  </a:lnTo>
                  <a:close/>
                </a:path>
                <a:path w="127634" h="30480">
                  <a:moveTo>
                    <a:pt x="109854" y="7365"/>
                  </a:moveTo>
                  <a:lnTo>
                    <a:pt x="108723" y="9143"/>
                  </a:lnTo>
                  <a:lnTo>
                    <a:pt x="109439" y="8830"/>
                  </a:lnTo>
                  <a:lnTo>
                    <a:pt x="109854" y="7365"/>
                  </a:lnTo>
                  <a:close/>
                </a:path>
                <a:path w="127634" h="30480">
                  <a:moveTo>
                    <a:pt x="109439" y="8830"/>
                  </a:moveTo>
                  <a:lnTo>
                    <a:pt x="108723" y="9143"/>
                  </a:lnTo>
                  <a:lnTo>
                    <a:pt x="109350" y="9143"/>
                  </a:lnTo>
                  <a:lnTo>
                    <a:pt x="109439" y="8830"/>
                  </a:lnTo>
                  <a:close/>
                </a:path>
                <a:path w="127634" h="30480">
                  <a:moveTo>
                    <a:pt x="108682" y="3810"/>
                  </a:moveTo>
                  <a:lnTo>
                    <a:pt x="105917" y="3810"/>
                  </a:lnTo>
                  <a:lnTo>
                    <a:pt x="100164" y="3937"/>
                  </a:lnTo>
                  <a:lnTo>
                    <a:pt x="94372" y="3937"/>
                  </a:lnTo>
                  <a:lnTo>
                    <a:pt x="90851" y="4061"/>
                  </a:lnTo>
                  <a:lnTo>
                    <a:pt x="60565" y="4063"/>
                  </a:lnTo>
                  <a:lnTo>
                    <a:pt x="54812" y="4190"/>
                  </a:lnTo>
                  <a:lnTo>
                    <a:pt x="17601" y="4190"/>
                  </a:lnTo>
                  <a:lnTo>
                    <a:pt x="15074" y="4317"/>
                  </a:lnTo>
                  <a:lnTo>
                    <a:pt x="4867" y="8981"/>
                  </a:lnTo>
                  <a:lnTo>
                    <a:pt x="5066" y="8762"/>
                  </a:lnTo>
                  <a:lnTo>
                    <a:pt x="108558" y="8762"/>
                  </a:lnTo>
                  <a:lnTo>
                    <a:pt x="108682" y="3810"/>
                  </a:lnTo>
                  <a:close/>
                </a:path>
                <a:path w="127634" h="30480">
                  <a:moveTo>
                    <a:pt x="112777" y="7365"/>
                  </a:moveTo>
                  <a:lnTo>
                    <a:pt x="109854" y="7365"/>
                  </a:lnTo>
                  <a:lnTo>
                    <a:pt x="109439" y="8830"/>
                  </a:lnTo>
                  <a:lnTo>
                    <a:pt x="112777" y="7365"/>
                  </a:lnTo>
                  <a:close/>
                </a:path>
                <a:path w="127634" h="30480">
                  <a:moveTo>
                    <a:pt x="116522" y="4220"/>
                  </a:moveTo>
                  <a:lnTo>
                    <a:pt x="117715" y="4572"/>
                  </a:lnTo>
                  <a:lnTo>
                    <a:pt x="117029" y="4317"/>
                  </a:lnTo>
                  <a:lnTo>
                    <a:pt x="116522" y="4220"/>
                  </a:lnTo>
                  <a:close/>
                </a:path>
                <a:path w="127634" h="30480">
                  <a:moveTo>
                    <a:pt x="117111" y="4334"/>
                  </a:moveTo>
                  <a:lnTo>
                    <a:pt x="117715" y="4572"/>
                  </a:lnTo>
                  <a:lnTo>
                    <a:pt x="118248" y="4572"/>
                  </a:lnTo>
                  <a:lnTo>
                    <a:pt x="117111" y="4334"/>
                  </a:lnTo>
                  <a:close/>
                </a:path>
                <a:path w="127634" h="30480">
                  <a:moveTo>
                    <a:pt x="125605" y="3810"/>
                  </a:moveTo>
                  <a:lnTo>
                    <a:pt x="114210" y="3810"/>
                  </a:lnTo>
                  <a:lnTo>
                    <a:pt x="116522" y="4220"/>
                  </a:lnTo>
                  <a:lnTo>
                    <a:pt x="125729" y="4190"/>
                  </a:lnTo>
                  <a:lnTo>
                    <a:pt x="125605" y="3810"/>
                  </a:lnTo>
                  <a:close/>
                </a:path>
                <a:path w="127634" h="30480">
                  <a:moveTo>
                    <a:pt x="86994" y="3937"/>
                  </a:moveTo>
                  <a:lnTo>
                    <a:pt x="83603" y="3937"/>
                  </a:lnTo>
                  <a:lnTo>
                    <a:pt x="79285" y="4063"/>
                  </a:lnTo>
                  <a:lnTo>
                    <a:pt x="90851" y="4061"/>
                  </a:lnTo>
                  <a:lnTo>
                    <a:pt x="86994" y="3937"/>
                  </a:lnTo>
                  <a:close/>
                </a:path>
                <a:path w="127634" h="30480">
                  <a:moveTo>
                    <a:pt x="90851" y="4061"/>
                  </a:moveTo>
                  <a:close/>
                </a:path>
              </a:pathLst>
            </a:custGeom>
            <a:solidFill>
              <a:srgbClr val="0096FF"/>
            </a:solidFill>
          </p:spPr>
          <p:txBody>
            <a:bodyPr wrap="square" lIns="0" tIns="0" rIns="0" bIns="0" rtlCol="0"/>
            <a:lstStyle/>
            <a:p>
              <a:endParaRPr/>
            </a:p>
          </p:txBody>
        </p:sp>
        <p:pic>
          <p:nvPicPr>
            <p:cNvPr id="44" name="object 44"/>
            <p:cNvPicPr/>
            <p:nvPr/>
          </p:nvPicPr>
          <p:blipFill>
            <a:blip r:embed="rId5" cstate="print"/>
            <a:stretch>
              <a:fillRect/>
            </a:stretch>
          </p:blipFill>
          <p:spPr>
            <a:xfrm>
              <a:off x="520605" y="2545461"/>
              <a:ext cx="941603" cy="525907"/>
            </a:xfrm>
            <a:prstGeom prst="rect">
              <a:avLst/>
            </a:prstGeom>
          </p:spPr>
        </p:pic>
        <p:sp>
          <p:nvSpPr>
            <p:cNvPr id="45" name="object 45"/>
            <p:cNvSpPr/>
            <p:nvPr/>
          </p:nvSpPr>
          <p:spPr>
            <a:xfrm>
              <a:off x="931298" y="2761616"/>
              <a:ext cx="127000" cy="26670"/>
            </a:xfrm>
            <a:custGeom>
              <a:avLst/>
              <a:gdLst/>
              <a:ahLst/>
              <a:cxnLst/>
              <a:rect l="l" t="t" r="r" b="b"/>
              <a:pathLst>
                <a:path w="127000" h="26669">
                  <a:moveTo>
                    <a:pt x="123440" y="10800"/>
                  </a:moveTo>
                  <a:lnTo>
                    <a:pt x="110350" y="21573"/>
                  </a:lnTo>
                  <a:lnTo>
                    <a:pt x="113436" y="25527"/>
                  </a:lnTo>
                  <a:lnTo>
                    <a:pt x="118770" y="26162"/>
                  </a:lnTo>
                  <a:lnTo>
                    <a:pt x="122466" y="23368"/>
                  </a:lnTo>
                  <a:lnTo>
                    <a:pt x="126161" y="20447"/>
                  </a:lnTo>
                  <a:lnTo>
                    <a:pt x="126834" y="15112"/>
                  </a:lnTo>
                  <a:lnTo>
                    <a:pt x="123440" y="10800"/>
                  </a:lnTo>
                  <a:close/>
                </a:path>
                <a:path w="127000" h="26669">
                  <a:moveTo>
                    <a:pt x="103174" y="21717"/>
                  </a:moveTo>
                  <a:lnTo>
                    <a:pt x="97637" y="21717"/>
                  </a:lnTo>
                  <a:lnTo>
                    <a:pt x="100164" y="21843"/>
                  </a:lnTo>
                  <a:lnTo>
                    <a:pt x="100660" y="21843"/>
                  </a:lnTo>
                  <a:lnTo>
                    <a:pt x="103174" y="21717"/>
                  </a:lnTo>
                  <a:close/>
                </a:path>
                <a:path w="127000" h="26669">
                  <a:moveTo>
                    <a:pt x="110020" y="127"/>
                  </a:moveTo>
                  <a:lnTo>
                    <a:pt x="93929" y="127"/>
                  </a:lnTo>
                  <a:lnTo>
                    <a:pt x="91414" y="254"/>
                  </a:lnTo>
                  <a:lnTo>
                    <a:pt x="91744" y="254"/>
                  </a:lnTo>
                  <a:lnTo>
                    <a:pt x="88874" y="381"/>
                  </a:lnTo>
                  <a:lnTo>
                    <a:pt x="83121" y="507"/>
                  </a:lnTo>
                  <a:lnTo>
                    <a:pt x="43751" y="507"/>
                  </a:lnTo>
                  <a:lnTo>
                    <a:pt x="37998" y="635"/>
                  </a:lnTo>
                  <a:lnTo>
                    <a:pt x="26415" y="635"/>
                  </a:lnTo>
                  <a:lnTo>
                    <a:pt x="15062" y="1016"/>
                  </a:lnTo>
                  <a:lnTo>
                    <a:pt x="4000" y="1524"/>
                  </a:lnTo>
                  <a:lnTo>
                    <a:pt x="34" y="5679"/>
                  </a:lnTo>
                  <a:lnTo>
                    <a:pt x="0" y="16002"/>
                  </a:lnTo>
                  <a:lnTo>
                    <a:pt x="4000" y="20193"/>
                  </a:lnTo>
                  <a:lnTo>
                    <a:pt x="9105" y="20447"/>
                  </a:lnTo>
                  <a:lnTo>
                    <a:pt x="14846" y="20828"/>
                  </a:lnTo>
                  <a:lnTo>
                    <a:pt x="22644" y="21081"/>
                  </a:lnTo>
                  <a:lnTo>
                    <a:pt x="32219" y="21081"/>
                  </a:lnTo>
                  <a:lnTo>
                    <a:pt x="37985" y="21209"/>
                  </a:lnTo>
                  <a:lnTo>
                    <a:pt x="83121" y="21209"/>
                  </a:lnTo>
                  <a:lnTo>
                    <a:pt x="88874" y="21462"/>
                  </a:lnTo>
                  <a:lnTo>
                    <a:pt x="91414" y="21462"/>
                  </a:lnTo>
                  <a:lnTo>
                    <a:pt x="93929" y="21590"/>
                  </a:lnTo>
                  <a:lnTo>
                    <a:pt x="94373" y="21717"/>
                  </a:lnTo>
                  <a:lnTo>
                    <a:pt x="96710" y="21717"/>
                  </a:lnTo>
                  <a:lnTo>
                    <a:pt x="95999" y="21590"/>
                  </a:lnTo>
                  <a:lnTo>
                    <a:pt x="110020" y="21590"/>
                  </a:lnTo>
                  <a:lnTo>
                    <a:pt x="110350" y="21573"/>
                  </a:lnTo>
                  <a:lnTo>
                    <a:pt x="108038" y="18668"/>
                  </a:lnTo>
                  <a:lnTo>
                    <a:pt x="106337" y="14605"/>
                  </a:lnTo>
                  <a:lnTo>
                    <a:pt x="105629" y="9652"/>
                  </a:lnTo>
                  <a:lnTo>
                    <a:pt x="105583" y="8128"/>
                  </a:lnTo>
                  <a:lnTo>
                    <a:pt x="107416" y="4699"/>
                  </a:lnTo>
                  <a:lnTo>
                    <a:pt x="114223" y="1650"/>
                  </a:lnTo>
                  <a:lnTo>
                    <a:pt x="117825" y="1650"/>
                  </a:lnTo>
                  <a:lnTo>
                    <a:pt x="115951" y="507"/>
                  </a:lnTo>
                  <a:lnTo>
                    <a:pt x="112522" y="254"/>
                  </a:lnTo>
                  <a:lnTo>
                    <a:pt x="110020" y="127"/>
                  </a:lnTo>
                  <a:close/>
                </a:path>
                <a:path w="127000" h="26669">
                  <a:moveTo>
                    <a:pt x="95999" y="21590"/>
                  </a:moveTo>
                  <a:lnTo>
                    <a:pt x="96710" y="21717"/>
                  </a:lnTo>
                  <a:lnTo>
                    <a:pt x="96901" y="21717"/>
                  </a:lnTo>
                  <a:lnTo>
                    <a:pt x="95999" y="21590"/>
                  </a:lnTo>
                  <a:close/>
                </a:path>
                <a:path w="127000" h="26669">
                  <a:moveTo>
                    <a:pt x="110020" y="21590"/>
                  </a:moveTo>
                  <a:lnTo>
                    <a:pt x="95999" y="21590"/>
                  </a:lnTo>
                  <a:lnTo>
                    <a:pt x="96901" y="21717"/>
                  </a:lnTo>
                  <a:lnTo>
                    <a:pt x="109639" y="21717"/>
                  </a:lnTo>
                  <a:lnTo>
                    <a:pt x="110020" y="21590"/>
                  </a:lnTo>
                  <a:close/>
                </a:path>
                <a:path w="127000" h="26669">
                  <a:moveTo>
                    <a:pt x="114223" y="1650"/>
                  </a:moveTo>
                  <a:lnTo>
                    <a:pt x="107416" y="4699"/>
                  </a:lnTo>
                  <a:lnTo>
                    <a:pt x="105448" y="8381"/>
                  </a:lnTo>
                  <a:lnTo>
                    <a:pt x="106337" y="14605"/>
                  </a:lnTo>
                  <a:lnTo>
                    <a:pt x="108038" y="18668"/>
                  </a:lnTo>
                  <a:lnTo>
                    <a:pt x="110350" y="21573"/>
                  </a:lnTo>
                  <a:lnTo>
                    <a:pt x="112522" y="21462"/>
                  </a:lnTo>
                  <a:lnTo>
                    <a:pt x="115951" y="21209"/>
                  </a:lnTo>
                  <a:lnTo>
                    <a:pt x="119075" y="19431"/>
                  </a:lnTo>
                  <a:lnTo>
                    <a:pt x="123558" y="12192"/>
                  </a:lnTo>
                  <a:lnTo>
                    <a:pt x="123139" y="12192"/>
                  </a:lnTo>
                  <a:lnTo>
                    <a:pt x="121437" y="8255"/>
                  </a:lnTo>
                  <a:lnTo>
                    <a:pt x="122271" y="8255"/>
                  </a:lnTo>
                  <a:lnTo>
                    <a:pt x="121589" y="6350"/>
                  </a:lnTo>
                  <a:lnTo>
                    <a:pt x="121128" y="5679"/>
                  </a:lnTo>
                  <a:lnTo>
                    <a:pt x="118249" y="2412"/>
                  </a:lnTo>
                  <a:lnTo>
                    <a:pt x="114223" y="1650"/>
                  </a:lnTo>
                  <a:close/>
                </a:path>
                <a:path w="127000" h="26669">
                  <a:moveTo>
                    <a:pt x="121437" y="8255"/>
                  </a:moveTo>
                  <a:lnTo>
                    <a:pt x="123139" y="12192"/>
                  </a:lnTo>
                  <a:lnTo>
                    <a:pt x="122823" y="10016"/>
                  </a:lnTo>
                  <a:lnTo>
                    <a:pt x="121437" y="8255"/>
                  </a:lnTo>
                  <a:close/>
                </a:path>
                <a:path w="127000" h="26669">
                  <a:moveTo>
                    <a:pt x="122823" y="10016"/>
                  </a:moveTo>
                  <a:lnTo>
                    <a:pt x="123139" y="12192"/>
                  </a:lnTo>
                  <a:lnTo>
                    <a:pt x="123558" y="12192"/>
                  </a:lnTo>
                  <a:lnTo>
                    <a:pt x="123440" y="10800"/>
                  </a:lnTo>
                  <a:lnTo>
                    <a:pt x="122823" y="10016"/>
                  </a:lnTo>
                  <a:close/>
                </a:path>
                <a:path w="127000" h="26669">
                  <a:moveTo>
                    <a:pt x="121128" y="5679"/>
                  </a:moveTo>
                  <a:lnTo>
                    <a:pt x="121589" y="6350"/>
                  </a:lnTo>
                  <a:lnTo>
                    <a:pt x="122770" y="9652"/>
                  </a:lnTo>
                  <a:lnTo>
                    <a:pt x="122823" y="10016"/>
                  </a:lnTo>
                  <a:lnTo>
                    <a:pt x="123440" y="10800"/>
                  </a:lnTo>
                  <a:lnTo>
                    <a:pt x="123215" y="8128"/>
                  </a:lnTo>
                  <a:lnTo>
                    <a:pt x="121128" y="5679"/>
                  </a:lnTo>
                  <a:close/>
                </a:path>
                <a:path w="127000" h="26669">
                  <a:moveTo>
                    <a:pt x="122271" y="8255"/>
                  </a:moveTo>
                  <a:lnTo>
                    <a:pt x="121437" y="8255"/>
                  </a:lnTo>
                  <a:lnTo>
                    <a:pt x="122823" y="10016"/>
                  </a:lnTo>
                  <a:lnTo>
                    <a:pt x="122770" y="9652"/>
                  </a:lnTo>
                  <a:lnTo>
                    <a:pt x="122271" y="8255"/>
                  </a:lnTo>
                  <a:close/>
                </a:path>
                <a:path w="127000" h="26669">
                  <a:moveTo>
                    <a:pt x="117825" y="1650"/>
                  </a:moveTo>
                  <a:lnTo>
                    <a:pt x="114223" y="1650"/>
                  </a:lnTo>
                  <a:lnTo>
                    <a:pt x="118249" y="2412"/>
                  </a:lnTo>
                  <a:lnTo>
                    <a:pt x="121128" y="5679"/>
                  </a:lnTo>
                  <a:lnTo>
                    <a:pt x="120812" y="5206"/>
                  </a:lnTo>
                  <a:lnTo>
                    <a:pt x="119075" y="2412"/>
                  </a:lnTo>
                  <a:lnTo>
                    <a:pt x="117825" y="1650"/>
                  </a:lnTo>
                  <a:close/>
                </a:path>
                <a:path w="127000" h="26669">
                  <a:moveTo>
                    <a:pt x="96635" y="13"/>
                  </a:moveTo>
                  <a:lnTo>
                    <a:pt x="94373" y="127"/>
                  </a:lnTo>
                  <a:lnTo>
                    <a:pt x="95999" y="127"/>
                  </a:lnTo>
                  <a:lnTo>
                    <a:pt x="96635" y="13"/>
                  </a:lnTo>
                  <a:close/>
                </a:path>
                <a:path w="127000" h="26669">
                  <a:moveTo>
                    <a:pt x="96901" y="0"/>
                  </a:moveTo>
                  <a:lnTo>
                    <a:pt x="96635" y="13"/>
                  </a:lnTo>
                  <a:lnTo>
                    <a:pt x="95999" y="127"/>
                  </a:lnTo>
                  <a:lnTo>
                    <a:pt x="96901" y="0"/>
                  </a:lnTo>
                  <a:close/>
                </a:path>
                <a:path w="127000" h="26669">
                  <a:moveTo>
                    <a:pt x="103708" y="0"/>
                  </a:moveTo>
                  <a:lnTo>
                    <a:pt x="96901" y="0"/>
                  </a:lnTo>
                  <a:lnTo>
                    <a:pt x="95999" y="127"/>
                  </a:lnTo>
                  <a:lnTo>
                    <a:pt x="104419" y="127"/>
                  </a:lnTo>
                  <a:lnTo>
                    <a:pt x="103708" y="0"/>
                  </a:lnTo>
                  <a:close/>
                </a:path>
              </a:pathLst>
            </a:custGeom>
            <a:solidFill>
              <a:srgbClr val="0096FF"/>
            </a:solidFill>
          </p:spPr>
          <p:txBody>
            <a:bodyPr wrap="square" lIns="0" tIns="0" rIns="0" bIns="0" rtlCol="0"/>
            <a:lstStyle/>
            <a:p>
              <a:endParaRPr/>
            </a:p>
          </p:txBody>
        </p:sp>
      </p:grpSp>
      <p:grpSp>
        <p:nvGrpSpPr>
          <p:cNvPr id="28" name="Group 27">
            <a:extLst>
              <a:ext uri="{FF2B5EF4-FFF2-40B4-BE49-F238E27FC236}">
                <a16:creationId xmlns:a16="http://schemas.microsoft.com/office/drawing/2014/main" id="{C4954357-0D8F-05C6-6092-4730E7CFB328}"/>
              </a:ext>
            </a:extLst>
          </p:cNvPr>
          <p:cNvGrpSpPr/>
          <p:nvPr/>
        </p:nvGrpSpPr>
        <p:grpSpPr>
          <a:xfrm>
            <a:off x="439706" y="1464142"/>
            <a:ext cx="3005519" cy="601090"/>
            <a:chOff x="409949" y="974829"/>
            <a:chExt cx="3005519" cy="601090"/>
          </a:xfrm>
        </p:grpSpPr>
        <p:pic>
          <p:nvPicPr>
            <p:cNvPr id="39" name="object 39"/>
            <p:cNvPicPr/>
            <p:nvPr/>
          </p:nvPicPr>
          <p:blipFill>
            <a:blip r:embed="rId6" cstate="print"/>
            <a:stretch>
              <a:fillRect/>
            </a:stretch>
          </p:blipFill>
          <p:spPr>
            <a:xfrm>
              <a:off x="868938" y="1284750"/>
              <a:ext cx="146164" cy="111887"/>
            </a:xfrm>
            <a:prstGeom prst="rect">
              <a:avLst/>
            </a:prstGeom>
          </p:spPr>
        </p:pic>
        <p:pic>
          <p:nvPicPr>
            <p:cNvPr id="46" name="object 46"/>
            <p:cNvPicPr/>
            <p:nvPr/>
          </p:nvPicPr>
          <p:blipFill>
            <a:blip r:embed="rId7" cstate="print"/>
            <a:stretch>
              <a:fillRect/>
            </a:stretch>
          </p:blipFill>
          <p:spPr>
            <a:xfrm>
              <a:off x="1242244" y="974829"/>
              <a:ext cx="2173224" cy="601090"/>
            </a:xfrm>
            <a:prstGeom prst="rect">
              <a:avLst/>
            </a:prstGeom>
          </p:spPr>
        </p:pic>
        <p:pic>
          <p:nvPicPr>
            <p:cNvPr id="65" name="object 65"/>
            <p:cNvPicPr/>
            <p:nvPr/>
          </p:nvPicPr>
          <p:blipFill>
            <a:blip r:embed="rId8" cstate="print"/>
            <a:stretch>
              <a:fillRect/>
            </a:stretch>
          </p:blipFill>
          <p:spPr>
            <a:xfrm>
              <a:off x="409949" y="1168673"/>
              <a:ext cx="301280" cy="304164"/>
            </a:xfrm>
            <a:prstGeom prst="rect">
              <a:avLst/>
            </a:prstGeom>
          </p:spPr>
        </p:pic>
      </p:grpSp>
      <p:sp>
        <p:nvSpPr>
          <p:cNvPr id="75" name="Slide Number Placeholder 74">
            <a:extLst>
              <a:ext uri="{FF2B5EF4-FFF2-40B4-BE49-F238E27FC236}">
                <a16:creationId xmlns:a16="http://schemas.microsoft.com/office/drawing/2014/main" id="{FFE51A3D-89E3-4A75-53D4-F2CC1E0DEA30}"/>
              </a:ext>
            </a:extLst>
          </p:cNvPr>
          <p:cNvSpPr>
            <a:spLocks noGrp="1"/>
          </p:cNvSpPr>
          <p:nvPr>
            <p:ph type="sldNum" sz="quarter" idx="12"/>
          </p:nvPr>
        </p:nvSpPr>
        <p:spPr/>
        <p:txBody>
          <a:bodyPr/>
          <a:lstStyle/>
          <a:p>
            <a:fld id="{B6F15528-21DE-4FAA-801E-634DDDAF4B2B}" type="slidenum">
              <a:rPr lang="en-PS" smtClean="0"/>
              <a:t>11</a:t>
            </a:fld>
            <a:endParaRPr lang="en-PS"/>
          </a:p>
        </p:txBody>
      </p:sp>
      <p:sp>
        <p:nvSpPr>
          <p:cNvPr id="29" name="Rounded Rectangle 28">
            <a:extLst>
              <a:ext uri="{FF2B5EF4-FFF2-40B4-BE49-F238E27FC236}">
                <a16:creationId xmlns:a16="http://schemas.microsoft.com/office/drawing/2014/main" id="{7110E635-C81A-CE5E-F49B-CD53D5073112}"/>
              </a:ext>
            </a:extLst>
          </p:cNvPr>
          <p:cNvSpPr/>
          <p:nvPr/>
        </p:nvSpPr>
        <p:spPr>
          <a:xfrm>
            <a:off x="1949132" y="1352550"/>
            <a:ext cx="1644333" cy="762000"/>
          </a:xfrm>
          <a:prstGeom prst="roundRect">
            <a:avLst/>
          </a:prstGeom>
          <a:no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30" name="TextBox 29">
            <a:extLst>
              <a:ext uri="{FF2B5EF4-FFF2-40B4-BE49-F238E27FC236}">
                <a16:creationId xmlns:a16="http://schemas.microsoft.com/office/drawing/2014/main" id="{829C4B1C-2D1A-2859-EC91-2142A4219EEC}"/>
              </a:ext>
            </a:extLst>
          </p:cNvPr>
          <p:cNvSpPr txBox="1"/>
          <p:nvPr/>
        </p:nvSpPr>
        <p:spPr>
          <a:xfrm>
            <a:off x="3200400" y="2340925"/>
            <a:ext cx="1965859" cy="400110"/>
          </a:xfrm>
          <a:prstGeom prst="rect">
            <a:avLst/>
          </a:prstGeom>
          <a:noFill/>
        </p:spPr>
        <p:txBody>
          <a:bodyPr wrap="none" rtlCol="0">
            <a:spAutoFit/>
          </a:bodyPr>
          <a:lstStyle/>
          <a:p>
            <a:r>
              <a:rPr lang="en-PS" sz="2000" dirty="0">
                <a:solidFill>
                  <a:srgbClr val="0432FF"/>
                </a:solidFill>
              </a:rPr>
              <a:t>Partial Derivative</a:t>
            </a:r>
          </a:p>
        </p:txBody>
      </p:sp>
      <p:sp>
        <p:nvSpPr>
          <p:cNvPr id="31" name="TextBox 30">
            <a:extLst>
              <a:ext uri="{FF2B5EF4-FFF2-40B4-BE49-F238E27FC236}">
                <a16:creationId xmlns:a16="http://schemas.microsoft.com/office/drawing/2014/main" id="{6721DE14-DB06-CFA7-D4A8-3B182FEADF6C}"/>
              </a:ext>
            </a:extLst>
          </p:cNvPr>
          <p:cNvSpPr txBox="1"/>
          <p:nvPr/>
        </p:nvSpPr>
        <p:spPr>
          <a:xfrm>
            <a:off x="2093514" y="3114881"/>
            <a:ext cx="1470467" cy="369332"/>
          </a:xfrm>
          <a:prstGeom prst="rect">
            <a:avLst/>
          </a:prstGeom>
          <a:noFill/>
        </p:spPr>
        <p:txBody>
          <a:bodyPr wrap="none" rtlCol="0">
            <a:spAutoFit/>
          </a:bodyPr>
          <a:lstStyle/>
          <a:p>
            <a:r>
              <a:rPr lang="en-PS" dirty="0">
                <a:solidFill>
                  <a:srgbClr val="FF0000"/>
                </a:solidFill>
              </a:rPr>
              <a:t>Learning Rate</a:t>
            </a:r>
          </a:p>
        </p:txBody>
      </p:sp>
      <p:cxnSp>
        <p:nvCxnSpPr>
          <p:cNvPr id="34" name="Straight Arrow Connector 33">
            <a:extLst>
              <a:ext uri="{FF2B5EF4-FFF2-40B4-BE49-F238E27FC236}">
                <a16:creationId xmlns:a16="http://schemas.microsoft.com/office/drawing/2014/main" id="{30A28155-7011-04AE-1CE0-9D2F6708AD66}"/>
              </a:ext>
            </a:extLst>
          </p:cNvPr>
          <p:cNvCxnSpPr>
            <a:cxnSpLocks/>
          </p:cNvCxnSpPr>
          <p:nvPr/>
        </p:nvCxnSpPr>
        <p:spPr>
          <a:xfrm flipH="1" flipV="1">
            <a:off x="3505200" y="2114550"/>
            <a:ext cx="304800" cy="22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549A377-8513-8F1F-E546-DAAB3685E6D6}"/>
              </a:ext>
            </a:extLst>
          </p:cNvPr>
          <p:cNvCxnSpPr>
            <a:cxnSpLocks/>
            <a:stCxn id="31" idx="0"/>
          </p:cNvCxnSpPr>
          <p:nvPr/>
        </p:nvCxnSpPr>
        <p:spPr>
          <a:xfrm flipH="1" flipV="1">
            <a:off x="1834066" y="1943470"/>
            <a:ext cx="994682" cy="1171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9AD58D8-3EC1-CE87-08D0-EB7A8FF348EF}"/>
              </a:ext>
            </a:extLst>
          </p:cNvPr>
          <p:cNvSpPr txBox="1"/>
          <p:nvPr/>
        </p:nvSpPr>
        <p:spPr>
          <a:xfrm>
            <a:off x="124202" y="2492765"/>
            <a:ext cx="1111971" cy="584775"/>
          </a:xfrm>
          <a:prstGeom prst="rect">
            <a:avLst/>
          </a:prstGeom>
          <a:noFill/>
        </p:spPr>
        <p:txBody>
          <a:bodyPr wrap="none" rtlCol="0">
            <a:spAutoFit/>
          </a:bodyPr>
          <a:lstStyle/>
          <a:p>
            <a:pPr algn="ctr"/>
            <a:r>
              <a:rPr lang="en-PS" sz="1600" dirty="0">
                <a:solidFill>
                  <a:srgbClr val="00B0F0"/>
                </a:solidFill>
              </a:rPr>
              <a:t>new values</a:t>
            </a:r>
          </a:p>
          <a:p>
            <a:pPr algn="ctr"/>
            <a:r>
              <a:rPr lang="en-PS" sz="1600" dirty="0">
                <a:solidFill>
                  <a:srgbClr val="00B0F0"/>
                </a:solidFill>
              </a:rPr>
              <a:t>of w</a:t>
            </a:r>
          </a:p>
        </p:txBody>
      </p:sp>
      <p:sp>
        <p:nvSpPr>
          <p:cNvPr id="61" name="TextBox 60">
            <a:extLst>
              <a:ext uri="{FF2B5EF4-FFF2-40B4-BE49-F238E27FC236}">
                <a16:creationId xmlns:a16="http://schemas.microsoft.com/office/drawing/2014/main" id="{68EA36AD-BC7A-3E6E-F8F7-0CB285A4BF85}"/>
              </a:ext>
            </a:extLst>
          </p:cNvPr>
          <p:cNvSpPr txBox="1"/>
          <p:nvPr/>
        </p:nvSpPr>
        <p:spPr>
          <a:xfrm>
            <a:off x="660686" y="591436"/>
            <a:ext cx="1088568" cy="646331"/>
          </a:xfrm>
          <a:prstGeom prst="rect">
            <a:avLst/>
          </a:prstGeom>
          <a:noFill/>
        </p:spPr>
        <p:txBody>
          <a:bodyPr wrap="none" rtlCol="0">
            <a:spAutoFit/>
          </a:bodyPr>
          <a:lstStyle/>
          <a:p>
            <a:pPr algn="ctr"/>
            <a:r>
              <a:rPr lang="en-PS" dirty="0"/>
              <a:t>old value </a:t>
            </a:r>
          </a:p>
          <a:p>
            <a:pPr algn="ctr"/>
            <a:r>
              <a:rPr lang="en-PS" dirty="0"/>
              <a:t>of w</a:t>
            </a:r>
          </a:p>
        </p:txBody>
      </p:sp>
      <p:cxnSp>
        <p:nvCxnSpPr>
          <p:cNvPr id="64" name="Straight Arrow Connector 63">
            <a:extLst>
              <a:ext uri="{FF2B5EF4-FFF2-40B4-BE49-F238E27FC236}">
                <a16:creationId xmlns:a16="http://schemas.microsoft.com/office/drawing/2014/main" id="{CBBAADAB-840A-51B8-3E09-311D905BD224}"/>
              </a:ext>
            </a:extLst>
          </p:cNvPr>
          <p:cNvCxnSpPr>
            <a:stCxn id="48" idx="0"/>
            <a:endCxn id="65" idx="2"/>
          </p:cNvCxnSpPr>
          <p:nvPr/>
        </p:nvCxnSpPr>
        <p:spPr>
          <a:xfrm flipH="1" flipV="1">
            <a:off x="590346" y="1962150"/>
            <a:ext cx="89842" cy="530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269FFEA-B972-C010-41F0-BAEC440618EB}"/>
              </a:ext>
            </a:extLst>
          </p:cNvPr>
          <p:cNvCxnSpPr>
            <a:stCxn id="61" idx="2"/>
          </p:cNvCxnSpPr>
          <p:nvPr/>
        </p:nvCxnSpPr>
        <p:spPr>
          <a:xfrm>
            <a:off x="1204970" y="1237767"/>
            <a:ext cx="176339" cy="389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82F0F67-DAF3-41E0-3DAE-23E5D3FBC47E}"/>
              </a:ext>
            </a:extLst>
          </p:cNvPr>
          <p:cNvSpPr txBox="1"/>
          <p:nvPr/>
        </p:nvSpPr>
        <p:spPr>
          <a:xfrm>
            <a:off x="5562585" y="1548889"/>
            <a:ext cx="3264566" cy="2554545"/>
          </a:xfrm>
          <a:prstGeom prst="rect">
            <a:avLst/>
          </a:prstGeom>
          <a:noFill/>
        </p:spPr>
        <p:txBody>
          <a:bodyPr wrap="square" rtlCol="0">
            <a:spAutoFit/>
          </a:bodyPr>
          <a:lstStyle/>
          <a:p>
            <a:r>
              <a:rPr lang="en-US" sz="2000" dirty="0">
                <a:solidFill>
                  <a:srgbClr val="0432FF"/>
                </a:solidFill>
                <a:latin typeface="+mj-lt"/>
              </a:rPr>
              <a:t>The learning rate </a:t>
            </a:r>
            <a:r>
              <a:rPr lang="en-US" sz="2000" dirty="0">
                <a:solidFill>
                  <a:srgbClr val="0432FF"/>
                </a:solidFill>
                <a:latin typeface="Symbol" pitchFamily="2" charset="2"/>
              </a:rPr>
              <a:t>a</a:t>
            </a:r>
            <a:r>
              <a:rPr lang="en-US" sz="2000" dirty="0">
                <a:solidFill>
                  <a:srgbClr val="0432FF"/>
                </a:solidFill>
                <a:latin typeface="+mj-lt"/>
              </a:rPr>
              <a:t> (alpha)</a:t>
            </a:r>
          </a:p>
          <a:p>
            <a:r>
              <a:rPr lang="en-US" sz="2000" dirty="0">
                <a:latin typeface="+mj-lt"/>
              </a:rPr>
              <a:t>in gradient descent is a crucial </a:t>
            </a:r>
            <a:r>
              <a:rPr lang="en-US" sz="2000" dirty="0">
                <a:solidFill>
                  <a:srgbClr val="0432FF"/>
                </a:solidFill>
                <a:latin typeface="+mj-lt"/>
              </a:rPr>
              <a:t>hyperparameter</a:t>
            </a:r>
            <a:r>
              <a:rPr lang="en-US" sz="2000" dirty="0">
                <a:latin typeface="+mj-lt"/>
              </a:rPr>
              <a:t> that controls the step size at each iteration. A higher learning rate leads to larger updates, while a lower learning rate leads to smaller updates.</a:t>
            </a:r>
            <a:endParaRPr lang="en-PS" sz="2000" dirty="0">
              <a:latin typeface="+mj-lt"/>
            </a:endParaRPr>
          </a:p>
        </p:txBody>
      </p:sp>
    </p:spTree>
    <p:extLst>
      <p:ext uri="{BB962C8B-B14F-4D97-AF65-F5344CB8AC3E}">
        <p14:creationId xmlns:p14="http://schemas.microsoft.com/office/powerpoint/2010/main" val="2463630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3845" y="4750120"/>
            <a:ext cx="1007744" cy="231474"/>
          </a:xfrm>
          <a:prstGeom prst="rect">
            <a:avLst/>
          </a:prstGeom>
        </p:spPr>
        <p:txBody>
          <a:bodyPr vert="horz" wrap="square" lIns="0" tIns="15875" rIns="0" bIns="0" rtlCol="0">
            <a:spAutoFit/>
          </a:bodyPr>
          <a:lstStyle/>
          <a:p>
            <a:pPr marL="12700">
              <a:spcBef>
                <a:spcPts val="125"/>
              </a:spcBef>
            </a:pPr>
            <a:r>
              <a:rPr sz="1400" spc="15" dirty="0">
                <a:solidFill>
                  <a:srgbClr val="FFFFFF"/>
                </a:solidFill>
                <a:latin typeface="Verdana"/>
                <a:cs typeface="Verdana"/>
              </a:rPr>
              <a:t>An</a:t>
            </a:r>
            <a:r>
              <a:rPr sz="1400" spc="25" dirty="0">
                <a:solidFill>
                  <a:srgbClr val="FFFFFF"/>
                </a:solidFill>
                <a:latin typeface="Verdana"/>
                <a:cs typeface="Verdana"/>
              </a:rPr>
              <a:t>d</a:t>
            </a:r>
            <a:r>
              <a:rPr sz="1400" dirty="0">
                <a:solidFill>
                  <a:srgbClr val="FFFFFF"/>
                </a:solidFill>
                <a:latin typeface="Verdana"/>
                <a:cs typeface="Verdana"/>
              </a:rPr>
              <a:t>r</a:t>
            </a:r>
            <a:r>
              <a:rPr sz="1400" spc="-11" dirty="0">
                <a:solidFill>
                  <a:srgbClr val="FFFFFF"/>
                </a:solidFill>
                <a:latin typeface="Verdana"/>
                <a:cs typeface="Verdana"/>
              </a:rPr>
              <a:t>e</a:t>
            </a:r>
            <a:r>
              <a:rPr sz="1400" spc="20" dirty="0">
                <a:solidFill>
                  <a:srgbClr val="FFFFFF"/>
                </a:solidFill>
                <a:latin typeface="Verdana"/>
                <a:cs typeface="Verdana"/>
              </a:rPr>
              <a:t>w</a:t>
            </a:r>
            <a:r>
              <a:rPr sz="1400" spc="-85" dirty="0">
                <a:solidFill>
                  <a:srgbClr val="FFFFFF"/>
                </a:solidFill>
                <a:latin typeface="Verdana"/>
                <a:cs typeface="Verdana"/>
              </a:rPr>
              <a:t> </a:t>
            </a:r>
            <a:r>
              <a:rPr sz="1400" dirty="0">
                <a:solidFill>
                  <a:srgbClr val="FFFFFF"/>
                </a:solidFill>
                <a:latin typeface="Verdana"/>
                <a:cs typeface="Verdana"/>
              </a:rPr>
              <a:t>N</a:t>
            </a:r>
            <a:r>
              <a:rPr sz="1400" spc="15" dirty="0">
                <a:solidFill>
                  <a:srgbClr val="FFFFFF"/>
                </a:solidFill>
                <a:latin typeface="Verdana"/>
                <a:cs typeface="Verdana"/>
              </a:rPr>
              <a:t>g</a:t>
            </a:r>
            <a:endParaRPr sz="1400" dirty="0">
              <a:latin typeface="Verdana"/>
              <a:cs typeface="Verdana"/>
            </a:endParaRPr>
          </a:p>
        </p:txBody>
      </p:sp>
      <p:sp>
        <p:nvSpPr>
          <p:cNvPr id="3" name="object 3"/>
          <p:cNvSpPr txBox="1">
            <a:spLocks noGrp="1"/>
          </p:cNvSpPr>
          <p:nvPr>
            <p:ph type="title"/>
          </p:nvPr>
        </p:nvSpPr>
        <p:spPr>
          <a:xfrm>
            <a:off x="226010" y="81605"/>
            <a:ext cx="7914638" cy="428964"/>
          </a:xfrm>
          <a:prstGeom prst="rect">
            <a:avLst/>
          </a:prstGeom>
        </p:spPr>
        <p:txBody>
          <a:bodyPr vert="horz" wrap="square" lIns="0" tIns="13335" rIns="0" bIns="0" rtlCol="0" anchor="ctr">
            <a:spAutoFit/>
          </a:bodyPr>
          <a:lstStyle/>
          <a:p>
            <a:pPr marL="12700">
              <a:spcBef>
                <a:spcPts val="105"/>
              </a:spcBef>
            </a:pPr>
            <a:r>
              <a:rPr sz="3000" spc="5" dirty="0">
                <a:solidFill>
                  <a:srgbClr val="0432FF"/>
                </a:solidFill>
                <a:latin typeface="Gill Sans MT" panose="020B0502020104020203" pitchFamily="34" charset="77"/>
              </a:rPr>
              <a:t>Gradient</a:t>
            </a:r>
            <a:r>
              <a:rPr sz="3000" spc="-105" dirty="0">
                <a:solidFill>
                  <a:srgbClr val="0432FF"/>
                </a:solidFill>
                <a:latin typeface="Gill Sans MT" panose="020B0502020104020203" pitchFamily="34" charset="77"/>
              </a:rPr>
              <a:t> </a:t>
            </a:r>
            <a:r>
              <a:rPr sz="3000" dirty="0">
                <a:solidFill>
                  <a:srgbClr val="0432FF"/>
                </a:solidFill>
                <a:latin typeface="Gill Sans MT" panose="020B0502020104020203" pitchFamily="34" charset="77"/>
              </a:rPr>
              <a:t>descent</a:t>
            </a:r>
            <a:r>
              <a:rPr sz="3000" spc="-100" dirty="0">
                <a:solidFill>
                  <a:srgbClr val="0432FF"/>
                </a:solidFill>
                <a:latin typeface="Gill Sans MT" panose="020B0502020104020203" pitchFamily="34" charset="77"/>
              </a:rPr>
              <a:t> </a:t>
            </a:r>
            <a:r>
              <a:rPr sz="3000" spc="11" dirty="0">
                <a:solidFill>
                  <a:srgbClr val="0432FF"/>
                </a:solidFill>
                <a:latin typeface="Gill Sans MT" panose="020B0502020104020203" pitchFamily="34" charset="77"/>
              </a:rPr>
              <a:t>algorithm</a:t>
            </a:r>
            <a:r>
              <a:rPr lang="en-GB" sz="3000" spc="11" dirty="0">
                <a:solidFill>
                  <a:srgbClr val="0432FF"/>
                </a:solidFill>
                <a:latin typeface="Gill Sans MT" panose="020B0502020104020203" pitchFamily="34" charset="77"/>
              </a:rPr>
              <a:t>: the expression </a:t>
            </a:r>
            <a:endParaRPr sz="3000" dirty="0">
              <a:solidFill>
                <a:srgbClr val="0432FF"/>
              </a:solidFill>
              <a:latin typeface="Gill Sans MT" panose="020B0502020104020203" pitchFamily="34" charset="77"/>
            </a:endParaRPr>
          </a:p>
        </p:txBody>
      </p:sp>
      <p:sp>
        <p:nvSpPr>
          <p:cNvPr id="15" name="object 15"/>
          <p:cNvSpPr txBox="1"/>
          <p:nvPr/>
        </p:nvSpPr>
        <p:spPr>
          <a:xfrm>
            <a:off x="427676" y="4670336"/>
            <a:ext cx="3538218" cy="269049"/>
          </a:xfrm>
          <a:prstGeom prst="rect">
            <a:avLst/>
          </a:prstGeom>
        </p:spPr>
        <p:txBody>
          <a:bodyPr vert="horz" wrap="square" lIns="0" tIns="1271" rIns="0" bIns="0" rtlCol="0">
            <a:spAutoFit/>
          </a:bodyPr>
          <a:lstStyle/>
          <a:p>
            <a:pPr marL="12700" marR="5080" indent="-17780" algn="ctr">
              <a:lnSpc>
                <a:spcPct val="100800"/>
              </a:lnSpc>
              <a:spcBef>
                <a:spcPts val="1731"/>
              </a:spcBef>
            </a:pPr>
            <a:r>
              <a:rPr spc="-11" dirty="0">
                <a:solidFill>
                  <a:srgbClr val="FF9300"/>
                </a:solidFill>
                <a:latin typeface="Comic Sans MS"/>
                <a:cs typeface="Comic Sans MS"/>
              </a:rPr>
              <a:t>Simultaneously </a:t>
            </a:r>
            <a:r>
              <a:rPr spc="-525" dirty="0">
                <a:solidFill>
                  <a:srgbClr val="FF9300"/>
                </a:solidFill>
                <a:latin typeface="Comic Sans MS"/>
                <a:cs typeface="Comic Sans MS"/>
              </a:rPr>
              <a:t> </a:t>
            </a:r>
            <a:r>
              <a:rPr spc="-31" dirty="0">
                <a:solidFill>
                  <a:srgbClr val="FF9300"/>
                </a:solidFill>
                <a:latin typeface="Comic Sans MS"/>
                <a:cs typeface="Comic Sans MS"/>
              </a:rPr>
              <a:t>update</a:t>
            </a:r>
            <a:r>
              <a:rPr spc="91" dirty="0">
                <a:solidFill>
                  <a:srgbClr val="FF9300"/>
                </a:solidFill>
                <a:latin typeface="Comic Sans MS"/>
                <a:cs typeface="Comic Sans MS"/>
              </a:rPr>
              <a:t> </a:t>
            </a:r>
            <a:r>
              <a:rPr dirty="0">
                <a:solidFill>
                  <a:srgbClr val="FF9300"/>
                </a:solidFill>
                <a:latin typeface="Comic Sans MS"/>
                <a:cs typeface="Comic Sans MS"/>
              </a:rPr>
              <a:t>w and</a:t>
            </a:r>
            <a:r>
              <a:rPr spc="-45" dirty="0">
                <a:solidFill>
                  <a:srgbClr val="FF9300"/>
                </a:solidFill>
                <a:latin typeface="Comic Sans MS"/>
                <a:cs typeface="Comic Sans MS"/>
              </a:rPr>
              <a:t> </a:t>
            </a:r>
            <a:r>
              <a:rPr dirty="0">
                <a:solidFill>
                  <a:srgbClr val="FF9300"/>
                </a:solidFill>
                <a:latin typeface="Comic Sans MS"/>
                <a:cs typeface="Comic Sans MS"/>
              </a:rPr>
              <a:t>b</a:t>
            </a:r>
            <a:endParaRPr dirty="0">
              <a:latin typeface="Comic Sans MS"/>
              <a:cs typeface="Comic Sans MS"/>
            </a:endParaRPr>
          </a:p>
        </p:txBody>
      </p:sp>
      <p:grpSp>
        <p:nvGrpSpPr>
          <p:cNvPr id="25" name="Group 24">
            <a:extLst>
              <a:ext uri="{FF2B5EF4-FFF2-40B4-BE49-F238E27FC236}">
                <a16:creationId xmlns:a16="http://schemas.microsoft.com/office/drawing/2014/main" id="{BD262B36-C41C-4507-BB45-DAFEAED73AC2}"/>
              </a:ext>
            </a:extLst>
          </p:cNvPr>
          <p:cNvGrpSpPr/>
          <p:nvPr/>
        </p:nvGrpSpPr>
        <p:grpSpPr>
          <a:xfrm>
            <a:off x="439706" y="3790950"/>
            <a:ext cx="2879623" cy="652018"/>
            <a:chOff x="520605" y="2419350"/>
            <a:chExt cx="2879623" cy="652018"/>
          </a:xfrm>
        </p:grpSpPr>
        <p:pic>
          <p:nvPicPr>
            <p:cNvPr id="40" name="object 40"/>
            <p:cNvPicPr/>
            <p:nvPr/>
          </p:nvPicPr>
          <p:blipFill>
            <a:blip r:embed="rId2" cstate="print"/>
            <a:stretch>
              <a:fillRect/>
            </a:stretch>
          </p:blipFill>
          <p:spPr>
            <a:xfrm>
              <a:off x="1234078" y="2586482"/>
              <a:ext cx="165988" cy="263270"/>
            </a:xfrm>
            <a:prstGeom prst="rect">
              <a:avLst/>
            </a:prstGeom>
          </p:spPr>
        </p:pic>
        <p:pic>
          <p:nvPicPr>
            <p:cNvPr id="41" name="object 41"/>
            <p:cNvPicPr/>
            <p:nvPr/>
          </p:nvPicPr>
          <p:blipFill>
            <a:blip r:embed="rId3" cstate="print"/>
            <a:stretch>
              <a:fillRect/>
            </a:stretch>
          </p:blipFill>
          <p:spPr>
            <a:xfrm>
              <a:off x="2657914" y="2626488"/>
              <a:ext cx="272542" cy="210692"/>
            </a:xfrm>
            <a:prstGeom prst="rect">
              <a:avLst/>
            </a:prstGeom>
          </p:spPr>
        </p:pic>
        <p:pic>
          <p:nvPicPr>
            <p:cNvPr id="42" name="object 42"/>
            <p:cNvPicPr/>
            <p:nvPr/>
          </p:nvPicPr>
          <p:blipFill>
            <a:blip r:embed="rId4" cstate="print"/>
            <a:stretch>
              <a:fillRect/>
            </a:stretch>
          </p:blipFill>
          <p:spPr>
            <a:xfrm>
              <a:off x="1494975" y="2419350"/>
              <a:ext cx="1905253" cy="570738"/>
            </a:xfrm>
            <a:prstGeom prst="rect">
              <a:avLst/>
            </a:prstGeom>
          </p:spPr>
        </p:pic>
        <p:sp>
          <p:nvSpPr>
            <p:cNvPr id="43" name="object 43"/>
            <p:cNvSpPr/>
            <p:nvPr/>
          </p:nvSpPr>
          <p:spPr>
            <a:xfrm>
              <a:off x="936810" y="2676017"/>
              <a:ext cx="127635" cy="30480"/>
            </a:xfrm>
            <a:custGeom>
              <a:avLst/>
              <a:gdLst/>
              <a:ahLst/>
              <a:cxnLst/>
              <a:rect l="l" t="t" r="r" b="b"/>
              <a:pathLst>
                <a:path w="127634" h="30480">
                  <a:moveTo>
                    <a:pt x="108558" y="8762"/>
                  </a:moveTo>
                  <a:lnTo>
                    <a:pt x="5066" y="8762"/>
                  </a:lnTo>
                  <a:lnTo>
                    <a:pt x="4749" y="9143"/>
                  </a:lnTo>
                  <a:lnTo>
                    <a:pt x="2056" y="12064"/>
                  </a:lnTo>
                  <a:lnTo>
                    <a:pt x="1231" y="13842"/>
                  </a:lnTo>
                  <a:lnTo>
                    <a:pt x="118" y="22079"/>
                  </a:lnTo>
                  <a:lnTo>
                    <a:pt x="0" y="23749"/>
                  </a:lnTo>
                  <a:lnTo>
                    <a:pt x="2958" y="27939"/>
                  </a:lnTo>
                  <a:lnTo>
                    <a:pt x="12127" y="29972"/>
                  </a:lnTo>
                  <a:lnTo>
                    <a:pt x="16737" y="27304"/>
                  </a:lnTo>
                  <a:lnTo>
                    <a:pt x="17583" y="24637"/>
                  </a:lnTo>
                  <a:lnTo>
                    <a:pt x="15074" y="24511"/>
                  </a:lnTo>
                  <a:lnTo>
                    <a:pt x="12927" y="24256"/>
                  </a:lnTo>
                  <a:lnTo>
                    <a:pt x="10540" y="23622"/>
                  </a:lnTo>
                  <a:lnTo>
                    <a:pt x="17664" y="21985"/>
                  </a:lnTo>
                  <a:lnTo>
                    <a:pt x="19138" y="19685"/>
                  </a:lnTo>
                  <a:lnTo>
                    <a:pt x="125638" y="19685"/>
                  </a:lnTo>
                  <a:lnTo>
                    <a:pt x="127532" y="15493"/>
                  </a:lnTo>
                  <a:lnTo>
                    <a:pt x="127304" y="11937"/>
                  </a:lnTo>
                  <a:lnTo>
                    <a:pt x="108558" y="11937"/>
                  </a:lnTo>
                  <a:lnTo>
                    <a:pt x="108558" y="8762"/>
                  </a:lnTo>
                  <a:close/>
                </a:path>
                <a:path w="127634" h="30480">
                  <a:moveTo>
                    <a:pt x="124042" y="22098"/>
                  </a:moveTo>
                  <a:lnTo>
                    <a:pt x="18401" y="22098"/>
                  </a:lnTo>
                  <a:lnTo>
                    <a:pt x="17621" y="24519"/>
                  </a:lnTo>
                  <a:lnTo>
                    <a:pt x="18630" y="24637"/>
                  </a:lnTo>
                  <a:lnTo>
                    <a:pt x="60540" y="24637"/>
                  </a:lnTo>
                  <a:lnTo>
                    <a:pt x="64134" y="24764"/>
                  </a:lnTo>
                  <a:lnTo>
                    <a:pt x="94284" y="24764"/>
                  </a:lnTo>
                  <a:lnTo>
                    <a:pt x="105917" y="25018"/>
                  </a:lnTo>
                  <a:lnTo>
                    <a:pt x="114924" y="24891"/>
                  </a:lnTo>
                  <a:lnTo>
                    <a:pt x="116522" y="24608"/>
                  </a:lnTo>
                  <a:lnTo>
                    <a:pt x="117715" y="24256"/>
                  </a:lnTo>
                  <a:lnTo>
                    <a:pt x="118248" y="24256"/>
                  </a:lnTo>
                  <a:lnTo>
                    <a:pt x="118858" y="24129"/>
                  </a:lnTo>
                  <a:lnTo>
                    <a:pt x="122097" y="23622"/>
                  </a:lnTo>
                  <a:lnTo>
                    <a:pt x="124042" y="22098"/>
                  </a:lnTo>
                  <a:close/>
                </a:path>
                <a:path w="127634" h="30480">
                  <a:moveTo>
                    <a:pt x="114924" y="24891"/>
                  </a:moveTo>
                  <a:lnTo>
                    <a:pt x="105866" y="24891"/>
                  </a:lnTo>
                  <a:lnTo>
                    <a:pt x="108736" y="25018"/>
                  </a:lnTo>
                  <a:lnTo>
                    <a:pt x="114210" y="25018"/>
                  </a:lnTo>
                  <a:lnTo>
                    <a:pt x="114924" y="24891"/>
                  </a:lnTo>
                  <a:close/>
                </a:path>
                <a:path w="127634" h="30480">
                  <a:moveTo>
                    <a:pt x="117715" y="24256"/>
                  </a:moveTo>
                  <a:lnTo>
                    <a:pt x="116522" y="24608"/>
                  </a:lnTo>
                  <a:lnTo>
                    <a:pt x="117111" y="24494"/>
                  </a:lnTo>
                  <a:lnTo>
                    <a:pt x="117715" y="24256"/>
                  </a:lnTo>
                  <a:close/>
                </a:path>
                <a:path w="127634" h="30480">
                  <a:moveTo>
                    <a:pt x="17664" y="21985"/>
                  </a:moveTo>
                  <a:lnTo>
                    <a:pt x="10540" y="23622"/>
                  </a:lnTo>
                  <a:lnTo>
                    <a:pt x="12927" y="24256"/>
                  </a:lnTo>
                  <a:lnTo>
                    <a:pt x="15074" y="24511"/>
                  </a:lnTo>
                  <a:lnTo>
                    <a:pt x="17621" y="24519"/>
                  </a:lnTo>
                  <a:lnTo>
                    <a:pt x="17865" y="23749"/>
                  </a:lnTo>
                  <a:lnTo>
                    <a:pt x="16534" y="23749"/>
                  </a:lnTo>
                  <a:lnTo>
                    <a:pt x="17664" y="21985"/>
                  </a:lnTo>
                  <a:close/>
                </a:path>
                <a:path w="127634" h="30480">
                  <a:moveTo>
                    <a:pt x="118248" y="24256"/>
                  </a:moveTo>
                  <a:lnTo>
                    <a:pt x="117715" y="24256"/>
                  </a:lnTo>
                  <a:lnTo>
                    <a:pt x="117111" y="24494"/>
                  </a:lnTo>
                  <a:lnTo>
                    <a:pt x="118248" y="24256"/>
                  </a:lnTo>
                  <a:close/>
                </a:path>
                <a:path w="127634" h="30480">
                  <a:moveTo>
                    <a:pt x="18478" y="21798"/>
                  </a:moveTo>
                  <a:lnTo>
                    <a:pt x="17664" y="21985"/>
                  </a:lnTo>
                  <a:lnTo>
                    <a:pt x="16534" y="23749"/>
                  </a:lnTo>
                  <a:lnTo>
                    <a:pt x="18114" y="22351"/>
                  </a:lnTo>
                  <a:lnTo>
                    <a:pt x="18344" y="22117"/>
                  </a:lnTo>
                  <a:lnTo>
                    <a:pt x="18420" y="21985"/>
                  </a:lnTo>
                  <a:lnTo>
                    <a:pt x="18478" y="21798"/>
                  </a:lnTo>
                  <a:close/>
                </a:path>
                <a:path w="127634" h="30480">
                  <a:moveTo>
                    <a:pt x="18379" y="22117"/>
                  </a:moveTo>
                  <a:lnTo>
                    <a:pt x="16534" y="23749"/>
                  </a:lnTo>
                  <a:lnTo>
                    <a:pt x="17865" y="23749"/>
                  </a:lnTo>
                  <a:lnTo>
                    <a:pt x="18379" y="22117"/>
                  </a:lnTo>
                  <a:close/>
                </a:path>
                <a:path w="127634" h="30480">
                  <a:moveTo>
                    <a:pt x="18391" y="22079"/>
                  </a:moveTo>
                  <a:lnTo>
                    <a:pt x="18058" y="22351"/>
                  </a:lnTo>
                  <a:lnTo>
                    <a:pt x="18374" y="22117"/>
                  </a:lnTo>
                  <a:close/>
                </a:path>
                <a:path w="127634" h="30480">
                  <a:moveTo>
                    <a:pt x="18380" y="22113"/>
                  </a:moveTo>
                  <a:lnTo>
                    <a:pt x="18058" y="22351"/>
                  </a:lnTo>
                  <a:lnTo>
                    <a:pt x="18380" y="22113"/>
                  </a:lnTo>
                  <a:close/>
                </a:path>
                <a:path w="127634" h="30480">
                  <a:moveTo>
                    <a:pt x="124528" y="21716"/>
                  </a:moveTo>
                  <a:lnTo>
                    <a:pt x="18833" y="21716"/>
                  </a:lnTo>
                  <a:lnTo>
                    <a:pt x="18505" y="21985"/>
                  </a:lnTo>
                  <a:lnTo>
                    <a:pt x="18380" y="22113"/>
                  </a:lnTo>
                  <a:lnTo>
                    <a:pt x="124042" y="22098"/>
                  </a:lnTo>
                  <a:lnTo>
                    <a:pt x="124528" y="21716"/>
                  </a:lnTo>
                  <a:close/>
                </a:path>
                <a:path w="127634" h="30480">
                  <a:moveTo>
                    <a:pt x="18833" y="21716"/>
                  </a:moveTo>
                  <a:lnTo>
                    <a:pt x="18478" y="21798"/>
                  </a:lnTo>
                  <a:lnTo>
                    <a:pt x="18391" y="22079"/>
                  </a:lnTo>
                  <a:lnTo>
                    <a:pt x="18833" y="21716"/>
                  </a:lnTo>
                  <a:close/>
                </a:path>
                <a:path w="127634" h="30480">
                  <a:moveTo>
                    <a:pt x="19138" y="19685"/>
                  </a:moveTo>
                  <a:lnTo>
                    <a:pt x="17664" y="21985"/>
                  </a:lnTo>
                  <a:lnTo>
                    <a:pt x="18478" y="21798"/>
                  </a:lnTo>
                  <a:lnTo>
                    <a:pt x="19138" y="19685"/>
                  </a:lnTo>
                  <a:close/>
                </a:path>
                <a:path w="127634" h="30480">
                  <a:moveTo>
                    <a:pt x="125638" y="19685"/>
                  </a:moveTo>
                  <a:lnTo>
                    <a:pt x="19138" y="19685"/>
                  </a:lnTo>
                  <a:lnTo>
                    <a:pt x="18478" y="21798"/>
                  </a:lnTo>
                  <a:lnTo>
                    <a:pt x="18833" y="21716"/>
                  </a:lnTo>
                  <a:lnTo>
                    <a:pt x="124528" y="21716"/>
                  </a:lnTo>
                  <a:lnTo>
                    <a:pt x="124852" y="21462"/>
                  </a:lnTo>
                  <a:lnTo>
                    <a:pt x="125638" y="19685"/>
                  </a:lnTo>
                  <a:close/>
                </a:path>
                <a:path w="127634" h="30480">
                  <a:moveTo>
                    <a:pt x="121881" y="0"/>
                  </a:moveTo>
                  <a:lnTo>
                    <a:pt x="112406" y="0"/>
                  </a:lnTo>
                  <a:lnTo>
                    <a:pt x="108682" y="3810"/>
                  </a:lnTo>
                  <a:lnTo>
                    <a:pt x="108558" y="11937"/>
                  </a:lnTo>
                  <a:lnTo>
                    <a:pt x="109350" y="9143"/>
                  </a:lnTo>
                  <a:lnTo>
                    <a:pt x="108723" y="9143"/>
                  </a:lnTo>
                  <a:lnTo>
                    <a:pt x="109854" y="7365"/>
                  </a:lnTo>
                  <a:lnTo>
                    <a:pt x="112777" y="7365"/>
                  </a:lnTo>
                  <a:lnTo>
                    <a:pt x="118858" y="4699"/>
                  </a:lnTo>
                  <a:lnTo>
                    <a:pt x="118248" y="4572"/>
                  </a:lnTo>
                  <a:lnTo>
                    <a:pt x="117715" y="4572"/>
                  </a:lnTo>
                  <a:lnTo>
                    <a:pt x="116522" y="4220"/>
                  </a:lnTo>
                  <a:lnTo>
                    <a:pt x="114210" y="3810"/>
                  </a:lnTo>
                  <a:lnTo>
                    <a:pt x="125605" y="3810"/>
                  </a:lnTo>
                  <a:lnTo>
                    <a:pt x="121881" y="0"/>
                  </a:lnTo>
                  <a:close/>
                </a:path>
                <a:path w="127634" h="30480">
                  <a:moveTo>
                    <a:pt x="125729" y="4190"/>
                  </a:moveTo>
                  <a:lnTo>
                    <a:pt x="116420" y="4190"/>
                  </a:lnTo>
                  <a:lnTo>
                    <a:pt x="118858" y="4699"/>
                  </a:lnTo>
                  <a:lnTo>
                    <a:pt x="109439" y="8830"/>
                  </a:lnTo>
                  <a:lnTo>
                    <a:pt x="108558" y="11937"/>
                  </a:lnTo>
                  <a:lnTo>
                    <a:pt x="125729" y="11937"/>
                  </a:lnTo>
                  <a:lnTo>
                    <a:pt x="124433" y="7365"/>
                  </a:lnTo>
                  <a:lnTo>
                    <a:pt x="125729" y="7365"/>
                  </a:lnTo>
                  <a:lnTo>
                    <a:pt x="125729" y="4190"/>
                  </a:lnTo>
                  <a:close/>
                </a:path>
                <a:path w="127634" h="30480">
                  <a:moveTo>
                    <a:pt x="124433" y="7365"/>
                  </a:moveTo>
                  <a:lnTo>
                    <a:pt x="125729" y="11937"/>
                  </a:lnTo>
                  <a:lnTo>
                    <a:pt x="125729" y="9429"/>
                  </a:lnTo>
                  <a:lnTo>
                    <a:pt x="124433" y="7365"/>
                  </a:lnTo>
                  <a:close/>
                </a:path>
                <a:path w="127634" h="30480">
                  <a:moveTo>
                    <a:pt x="125729" y="9429"/>
                  </a:moveTo>
                  <a:lnTo>
                    <a:pt x="125729" y="11937"/>
                  </a:lnTo>
                  <a:lnTo>
                    <a:pt x="127304" y="11937"/>
                  </a:lnTo>
                  <a:lnTo>
                    <a:pt x="125729" y="9429"/>
                  </a:lnTo>
                  <a:close/>
                </a:path>
                <a:path w="127634" h="30480">
                  <a:moveTo>
                    <a:pt x="125729" y="7365"/>
                  </a:moveTo>
                  <a:lnTo>
                    <a:pt x="124433" y="7365"/>
                  </a:lnTo>
                  <a:lnTo>
                    <a:pt x="125729" y="9429"/>
                  </a:lnTo>
                  <a:lnTo>
                    <a:pt x="125729" y="7365"/>
                  </a:lnTo>
                  <a:close/>
                </a:path>
                <a:path w="127634" h="30480">
                  <a:moveTo>
                    <a:pt x="4867" y="8981"/>
                  </a:moveTo>
                  <a:lnTo>
                    <a:pt x="4719" y="9143"/>
                  </a:lnTo>
                  <a:lnTo>
                    <a:pt x="4867" y="8981"/>
                  </a:lnTo>
                  <a:close/>
                </a:path>
                <a:path w="127634" h="30480">
                  <a:moveTo>
                    <a:pt x="5066" y="8762"/>
                  </a:moveTo>
                  <a:lnTo>
                    <a:pt x="4867" y="8981"/>
                  </a:lnTo>
                  <a:lnTo>
                    <a:pt x="4749" y="9143"/>
                  </a:lnTo>
                  <a:lnTo>
                    <a:pt x="5066" y="8762"/>
                  </a:lnTo>
                  <a:close/>
                </a:path>
                <a:path w="127634" h="30480">
                  <a:moveTo>
                    <a:pt x="109854" y="7365"/>
                  </a:moveTo>
                  <a:lnTo>
                    <a:pt x="108723" y="9143"/>
                  </a:lnTo>
                  <a:lnTo>
                    <a:pt x="109439" y="8830"/>
                  </a:lnTo>
                  <a:lnTo>
                    <a:pt x="109854" y="7365"/>
                  </a:lnTo>
                  <a:close/>
                </a:path>
                <a:path w="127634" h="30480">
                  <a:moveTo>
                    <a:pt x="109439" y="8830"/>
                  </a:moveTo>
                  <a:lnTo>
                    <a:pt x="108723" y="9143"/>
                  </a:lnTo>
                  <a:lnTo>
                    <a:pt x="109350" y="9143"/>
                  </a:lnTo>
                  <a:lnTo>
                    <a:pt x="109439" y="8830"/>
                  </a:lnTo>
                  <a:close/>
                </a:path>
                <a:path w="127634" h="30480">
                  <a:moveTo>
                    <a:pt x="108682" y="3810"/>
                  </a:moveTo>
                  <a:lnTo>
                    <a:pt x="105917" y="3810"/>
                  </a:lnTo>
                  <a:lnTo>
                    <a:pt x="100164" y="3937"/>
                  </a:lnTo>
                  <a:lnTo>
                    <a:pt x="94372" y="3937"/>
                  </a:lnTo>
                  <a:lnTo>
                    <a:pt x="90851" y="4061"/>
                  </a:lnTo>
                  <a:lnTo>
                    <a:pt x="60565" y="4063"/>
                  </a:lnTo>
                  <a:lnTo>
                    <a:pt x="54812" y="4190"/>
                  </a:lnTo>
                  <a:lnTo>
                    <a:pt x="17601" y="4190"/>
                  </a:lnTo>
                  <a:lnTo>
                    <a:pt x="15074" y="4317"/>
                  </a:lnTo>
                  <a:lnTo>
                    <a:pt x="4867" y="8981"/>
                  </a:lnTo>
                  <a:lnTo>
                    <a:pt x="5066" y="8762"/>
                  </a:lnTo>
                  <a:lnTo>
                    <a:pt x="108558" y="8762"/>
                  </a:lnTo>
                  <a:lnTo>
                    <a:pt x="108682" y="3810"/>
                  </a:lnTo>
                  <a:close/>
                </a:path>
                <a:path w="127634" h="30480">
                  <a:moveTo>
                    <a:pt x="112777" y="7365"/>
                  </a:moveTo>
                  <a:lnTo>
                    <a:pt x="109854" y="7365"/>
                  </a:lnTo>
                  <a:lnTo>
                    <a:pt x="109439" y="8830"/>
                  </a:lnTo>
                  <a:lnTo>
                    <a:pt x="112777" y="7365"/>
                  </a:lnTo>
                  <a:close/>
                </a:path>
                <a:path w="127634" h="30480">
                  <a:moveTo>
                    <a:pt x="116522" y="4220"/>
                  </a:moveTo>
                  <a:lnTo>
                    <a:pt x="117715" y="4572"/>
                  </a:lnTo>
                  <a:lnTo>
                    <a:pt x="117029" y="4317"/>
                  </a:lnTo>
                  <a:lnTo>
                    <a:pt x="116522" y="4220"/>
                  </a:lnTo>
                  <a:close/>
                </a:path>
                <a:path w="127634" h="30480">
                  <a:moveTo>
                    <a:pt x="117111" y="4334"/>
                  </a:moveTo>
                  <a:lnTo>
                    <a:pt x="117715" y="4572"/>
                  </a:lnTo>
                  <a:lnTo>
                    <a:pt x="118248" y="4572"/>
                  </a:lnTo>
                  <a:lnTo>
                    <a:pt x="117111" y="4334"/>
                  </a:lnTo>
                  <a:close/>
                </a:path>
                <a:path w="127634" h="30480">
                  <a:moveTo>
                    <a:pt x="125605" y="3810"/>
                  </a:moveTo>
                  <a:lnTo>
                    <a:pt x="114210" y="3810"/>
                  </a:lnTo>
                  <a:lnTo>
                    <a:pt x="116522" y="4220"/>
                  </a:lnTo>
                  <a:lnTo>
                    <a:pt x="125729" y="4190"/>
                  </a:lnTo>
                  <a:lnTo>
                    <a:pt x="125605" y="3810"/>
                  </a:lnTo>
                  <a:close/>
                </a:path>
                <a:path w="127634" h="30480">
                  <a:moveTo>
                    <a:pt x="86994" y="3937"/>
                  </a:moveTo>
                  <a:lnTo>
                    <a:pt x="83603" y="3937"/>
                  </a:lnTo>
                  <a:lnTo>
                    <a:pt x="79285" y="4063"/>
                  </a:lnTo>
                  <a:lnTo>
                    <a:pt x="90851" y="4061"/>
                  </a:lnTo>
                  <a:lnTo>
                    <a:pt x="86994" y="3937"/>
                  </a:lnTo>
                  <a:close/>
                </a:path>
                <a:path w="127634" h="30480">
                  <a:moveTo>
                    <a:pt x="90851" y="4061"/>
                  </a:moveTo>
                  <a:close/>
                </a:path>
              </a:pathLst>
            </a:custGeom>
            <a:solidFill>
              <a:srgbClr val="0096FF"/>
            </a:solidFill>
          </p:spPr>
          <p:txBody>
            <a:bodyPr wrap="square" lIns="0" tIns="0" rIns="0" bIns="0" rtlCol="0"/>
            <a:lstStyle/>
            <a:p>
              <a:endParaRPr/>
            </a:p>
          </p:txBody>
        </p:sp>
        <p:pic>
          <p:nvPicPr>
            <p:cNvPr id="44" name="object 44"/>
            <p:cNvPicPr/>
            <p:nvPr/>
          </p:nvPicPr>
          <p:blipFill>
            <a:blip r:embed="rId5" cstate="print"/>
            <a:stretch>
              <a:fillRect/>
            </a:stretch>
          </p:blipFill>
          <p:spPr>
            <a:xfrm>
              <a:off x="520605" y="2545461"/>
              <a:ext cx="941603" cy="525907"/>
            </a:xfrm>
            <a:prstGeom prst="rect">
              <a:avLst/>
            </a:prstGeom>
          </p:spPr>
        </p:pic>
        <p:sp>
          <p:nvSpPr>
            <p:cNvPr id="45" name="object 45"/>
            <p:cNvSpPr/>
            <p:nvPr/>
          </p:nvSpPr>
          <p:spPr>
            <a:xfrm>
              <a:off x="931298" y="2761616"/>
              <a:ext cx="127000" cy="26670"/>
            </a:xfrm>
            <a:custGeom>
              <a:avLst/>
              <a:gdLst/>
              <a:ahLst/>
              <a:cxnLst/>
              <a:rect l="l" t="t" r="r" b="b"/>
              <a:pathLst>
                <a:path w="127000" h="26669">
                  <a:moveTo>
                    <a:pt x="123440" y="10800"/>
                  </a:moveTo>
                  <a:lnTo>
                    <a:pt x="110350" y="21573"/>
                  </a:lnTo>
                  <a:lnTo>
                    <a:pt x="113436" y="25527"/>
                  </a:lnTo>
                  <a:lnTo>
                    <a:pt x="118770" y="26162"/>
                  </a:lnTo>
                  <a:lnTo>
                    <a:pt x="122466" y="23368"/>
                  </a:lnTo>
                  <a:lnTo>
                    <a:pt x="126161" y="20447"/>
                  </a:lnTo>
                  <a:lnTo>
                    <a:pt x="126834" y="15112"/>
                  </a:lnTo>
                  <a:lnTo>
                    <a:pt x="123440" y="10800"/>
                  </a:lnTo>
                  <a:close/>
                </a:path>
                <a:path w="127000" h="26669">
                  <a:moveTo>
                    <a:pt x="103174" y="21717"/>
                  </a:moveTo>
                  <a:lnTo>
                    <a:pt x="97637" y="21717"/>
                  </a:lnTo>
                  <a:lnTo>
                    <a:pt x="100164" y="21843"/>
                  </a:lnTo>
                  <a:lnTo>
                    <a:pt x="100660" y="21843"/>
                  </a:lnTo>
                  <a:lnTo>
                    <a:pt x="103174" y="21717"/>
                  </a:lnTo>
                  <a:close/>
                </a:path>
                <a:path w="127000" h="26669">
                  <a:moveTo>
                    <a:pt x="110020" y="127"/>
                  </a:moveTo>
                  <a:lnTo>
                    <a:pt x="93929" y="127"/>
                  </a:lnTo>
                  <a:lnTo>
                    <a:pt x="91414" y="254"/>
                  </a:lnTo>
                  <a:lnTo>
                    <a:pt x="91744" y="254"/>
                  </a:lnTo>
                  <a:lnTo>
                    <a:pt x="88874" y="381"/>
                  </a:lnTo>
                  <a:lnTo>
                    <a:pt x="83121" y="507"/>
                  </a:lnTo>
                  <a:lnTo>
                    <a:pt x="43751" y="507"/>
                  </a:lnTo>
                  <a:lnTo>
                    <a:pt x="37998" y="635"/>
                  </a:lnTo>
                  <a:lnTo>
                    <a:pt x="26415" y="635"/>
                  </a:lnTo>
                  <a:lnTo>
                    <a:pt x="15062" y="1016"/>
                  </a:lnTo>
                  <a:lnTo>
                    <a:pt x="4000" y="1524"/>
                  </a:lnTo>
                  <a:lnTo>
                    <a:pt x="34" y="5679"/>
                  </a:lnTo>
                  <a:lnTo>
                    <a:pt x="0" y="16002"/>
                  </a:lnTo>
                  <a:lnTo>
                    <a:pt x="4000" y="20193"/>
                  </a:lnTo>
                  <a:lnTo>
                    <a:pt x="9105" y="20447"/>
                  </a:lnTo>
                  <a:lnTo>
                    <a:pt x="14846" y="20828"/>
                  </a:lnTo>
                  <a:lnTo>
                    <a:pt x="22644" y="21081"/>
                  </a:lnTo>
                  <a:lnTo>
                    <a:pt x="32219" y="21081"/>
                  </a:lnTo>
                  <a:lnTo>
                    <a:pt x="37985" y="21209"/>
                  </a:lnTo>
                  <a:lnTo>
                    <a:pt x="83121" y="21209"/>
                  </a:lnTo>
                  <a:lnTo>
                    <a:pt x="88874" y="21462"/>
                  </a:lnTo>
                  <a:lnTo>
                    <a:pt x="91414" y="21462"/>
                  </a:lnTo>
                  <a:lnTo>
                    <a:pt x="93929" y="21590"/>
                  </a:lnTo>
                  <a:lnTo>
                    <a:pt x="94373" y="21717"/>
                  </a:lnTo>
                  <a:lnTo>
                    <a:pt x="96710" y="21717"/>
                  </a:lnTo>
                  <a:lnTo>
                    <a:pt x="95999" y="21590"/>
                  </a:lnTo>
                  <a:lnTo>
                    <a:pt x="110020" y="21590"/>
                  </a:lnTo>
                  <a:lnTo>
                    <a:pt x="110350" y="21573"/>
                  </a:lnTo>
                  <a:lnTo>
                    <a:pt x="108038" y="18668"/>
                  </a:lnTo>
                  <a:lnTo>
                    <a:pt x="106337" y="14605"/>
                  </a:lnTo>
                  <a:lnTo>
                    <a:pt x="105629" y="9652"/>
                  </a:lnTo>
                  <a:lnTo>
                    <a:pt x="105583" y="8128"/>
                  </a:lnTo>
                  <a:lnTo>
                    <a:pt x="107416" y="4699"/>
                  </a:lnTo>
                  <a:lnTo>
                    <a:pt x="114223" y="1650"/>
                  </a:lnTo>
                  <a:lnTo>
                    <a:pt x="117825" y="1650"/>
                  </a:lnTo>
                  <a:lnTo>
                    <a:pt x="115951" y="507"/>
                  </a:lnTo>
                  <a:lnTo>
                    <a:pt x="112522" y="254"/>
                  </a:lnTo>
                  <a:lnTo>
                    <a:pt x="110020" y="127"/>
                  </a:lnTo>
                  <a:close/>
                </a:path>
                <a:path w="127000" h="26669">
                  <a:moveTo>
                    <a:pt x="95999" y="21590"/>
                  </a:moveTo>
                  <a:lnTo>
                    <a:pt x="96710" y="21717"/>
                  </a:lnTo>
                  <a:lnTo>
                    <a:pt x="96901" y="21717"/>
                  </a:lnTo>
                  <a:lnTo>
                    <a:pt x="95999" y="21590"/>
                  </a:lnTo>
                  <a:close/>
                </a:path>
                <a:path w="127000" h="26669">
                  <a:moveTo>
                    <a:pt x="110020" y="21590"/>
                  </a:moveTo>
                  <a:lnTo>
                    <a:pt x="95999" y="21590"/>
                  </a:lnTo>
                  <a:lnTo>
                    <a:pt x="96901" y="21717"/>
                  </a:lnTo>
                  <a:lnTo>
                    <a:pt x="109639" y="21717"/>
                  </a:lnTo>
                  <a:lnTo>
                    <a:pt x="110020" y="21590"/>
                  </a:lnTo>
                  <a:close/>
                </a:path>
                <a:path w="127000" h="26669">
                  <a:moveTo>
                    <a:pt x="114223" y="1650"/>
                  </a:moveTo>
                  <a:lnTo>
                    <a:pt x="107416" y="4699"/>
                  </a:lnTo>
                  <a:lnTo>
                    <a:pt x="105448" y="8381"/>
                  </a:lnTo>
                  <a:lnTo>
                    <a:pt x="106337" y="14605"/>
                  </a:lnTo>
                  <a:lnTo>
                    <a:pt x="108038" y="18668"/>
                  </a:lnTo>
                  <a:lnTo>
                    <a:pt x="110350" y="21573"/>
                  </a:lnTo>
                  <a:lnTo>
                    <a:pt x="112522" y="21462"/>
                  </a:lnTo>
                  <a:lnTo>
                    <a:pt x="115951" y="21209"/>
                  </a:lnTo>
                  <a:lnTo>
                    <a:pt x="119075" y="19431"/>
                  </a:lnTo>
                  <a:lnTo>
                    <a:pt x="123558" y="12192"/>
                  </a:lnTo>
                  <a:lnTo>
                    <a:pt x="123139" y="12192"/>
                  </a:lnTo>
                  <a:lnTo>
                    <a:pt x="121437" y="8255"/>
                  </a:lnTo>
                  <a:lnTo>
                    <a:pt x="122271" y="8255"/>
                  </a:lnTo>
                  <a:lnTo>
                    <a:pt x="121589" y="6350"/>
                  </a:lnTo>
                  <a:lnTo>
                    <a:pt x="121128" y="5679"/>
                  </a:lnTo>
                  <a:lnTo>
                    <a:pt x="118249" y="2412"/>
                  </a:lnTo>
                  <a:lnTo>
                    <a:pt x="114223" y="1650"/>
                  </a:lnTo>
                  <a:close/>
                </a:path>
                <a:path w="127000" h="26669">
                  <a:moveTo>
                    <a:pt x="121437" y="8255"/>
                  </a:moveTo>
                  <a:lnTo>
                    <a:pt x="123139" y="12192"/>
                  </a:lnTo>
                  <a:lnTo>
                    <a:pt x="122823" y="10016"/>
                  </a:lnTo>
                  <a:lnTo>
                    <a:pt x="121437" y="8255"/>
                  </a:lnTo>
                  <a:close/>
                </a:path>
                <a:path w="127000" h="26669">
                  <a:moveTo>
                    <a:pt x="122823" y="10016"/>
                  </a:moveTo>
                  <a:lnTo>
                    <a:pt x="123139" y="12192"/>
                  </a:lnTo>
                  <a:lnTo>
                    <a:pt x="123558" y="12192"/>
                  </a:lnTo>
                  <a:lnTo>
                    <a:pt x="123440" y="10800"/>
                  </a:lnTo>
                  <a:lnTo>
                    <a:pt x="122823" y="10016"/>
                  </a:lnTo>
                  <a:close/>
                </a:path>
                <a:path w="127000" h="26669">
                  <a:moveTo>
                    <a:pt x="121128" y="5679"/>
                  </a:moveTo>
                  <a:lnTo>
                    <a:pt x="121589" y="6350"/>
                  </a:lnTo>
                  <a:lnTo>
                    <a:pt x="122770" y="9652"/>
                  </a:lnTo>
                  <a:lnTo>
                    <a:pt x="122823" y="10016"/>
                  </a:lnTo>
                  <a:lnTo>
                    <a:pt x="123440" y="10800"/>
                  </a:lnTo>
                  <a:lnTo>
                    <a:pt x="123215" y="8128"/>
                  </a:lnTo>
                  <a:lnTo>
                    <a:pt x="121128" y="5679"/>
                  </a:lnTo>
                  <a:close/>
                </a:path>
                <a:path w="127000" h="26669">
                  <a:moveTo>
                    <a:pt x="122271" y="8255"/>
                  </a:moveTo>
                  <a:lnTo>
                    <a:pt x="121437" y="8255"/>
                  </a:lnTo>
                  <a:lnTo>
                    <a:pt x="122823" y="10016"/>
                  </a:lnTo>
                  <a:lnTo>
                    <a:pt x="122770" y="9652"/>
                  </a:lnTo>
                  <a:lnTo>
                    <a:pt x="122271" y="8255"/>
                  </a:lnTo>
                  <a:close/>
                </a:path>
                <a:path w="127000" h="26669">
                  <a:moveTo>
                    <a:pt x="117825" y="1650"/>
                  </a:moveTo>
                  <a:lnTo>
                    <a:pt x="114223" y="1650"/>
                  </a:lnTo>
                  <a:lnTo>
                    <a:pt x="118249" y="2412"/>
                  </a:lnTo>
                  <a:lnTo>
                    <a:pt x="121128" y="5679"/>
                  </a:lnTo>
                  <a:lnTo>
                    <a:pt x="120812" y="5206"/>
                  </a:lnTo>
                  <a:lnTo>
                    <a:pt x="119075" y="2412"/>
                  </a:lnTo>
                  <a:lnTo>
                    <a:pt x="117825" y="1650"/>
                  </a:lnTo>
                  <a:close/>
                </a:path>
                <a:path w="127000" h="26669">
                  <a:moveTo>
                    <a:pt x="96635" y="13"/>
                  </a:moveTo>
                  <a:lnTo>
                    <a:pt x="94373" y="127"/>
                  </a:lnTo>
                  <a:lnTo>
                    <a:pt x="95999" y="127"/>
                  </a:lnTo>
                  <a:lnTo>
                    <a:pt x="96635" y="13"/>
                  </a:lnTo>
                  <a:close/>
                </a:path>
                <a:path w="127000" h="26669">
                  <a:moveTo>
                    <a:pt x="96901" y="0"/>
                  </a:moveTo>
                  <a:lnTo>
                    <a:pt x="96635" y="13"/>
                  </a:lnTo>
                  <a:lnTo>
                    <a:pt x="95999" y="127"/>
                  </a:lnTo>
                  <a:lnTo>
                    <a:pt x="96901" y="0"/>
                  </a:lnTo>
                  <a:close/>
                </a:path>
                <a:path w="127000" h="26669">
                  <a:moveTo>
                    <a:pt x="103708" y="0"/>
                  </a:moveTo>
                  <a:lnTo>
                    <a:pt x="96901" y="0"/>
                  </a:lnTo>
                  <a:lnTo>
                    <a:pt x="95999" y="127"/>
                  </a:lnTo>
                  <a:lnTo>
                    <a:pt x="104419" y="127"/>
                  </a:lnTo>
                  <a:lnTo>
                    <a:pt x="103708" y="0"/>
                  </a:lnTo>
                  <a:close/>
                </a:path>
              </a:pathLst>
            </a:custGeom>
            <a:solidFill>
              <a:srgbClr val="0096FF"/>
            </a:solidFill>
          </p:spPr>
          <p:txBody>
            <a:bodyPr wrap="square" lIns="0" tIns="0" rIns="0" bIns="0" rtlCol="0"/>
            <a:lstStyle/>
            <a:p>
              <a:endParaRPr/>
            </a:p>
          </p:txBody>
        </p:sp>
      </p:grpSp>
      <p:grpSp>
        <p:nvGrpSpPr>
          <p:cNvPr id="28" name="Group 27">
            <a:extLst>
              <a:ext uri="{FF2B5EF4-FFF2-40B4-BE49-F238E27FC236}">
                <a16:creationId xmlns:a16="http://schemas.microsoft.com/office/drawing/2014/main" id="{C4954357-0D8F-05C6-6092-4730E7CFB328}"/>
              </a:ext>
            </a:extLst>
          </p:cNvPr>
          <p:cNvGrpSpPr/>
          <p:nvPr/>
        </p:nvGrpSpPr>
        <p:grpSpPr>
          <a:xfrm>
            <a:off x="439706" y="1464142"/>
            <a:ext cx="3005519" cy="601090"/>
            <a:chOff x="409949" y="974829"/>
            <a:chExt cx="3005519" cy="601090"/>
          </a:xfrm>
        </p:grpSpPr>
        <p:pic>
          <p:nvPicPr>
            <p:cNvPr id="39" name="object 39"/>
            <p:cNvPicPr/>
            <p:nvPr/>
          </p:nvPicPr>
          <p:blipFill>
            <a:blip r:embed="rId6" cstate="print"/>
            <a:stretch>
              <a:fillRect/>
            </a:stretch>
          </p:blipFill>
          <p:spPr>
            <a:xfrm>
              <a:off x="868938" y="1284750"/>
              <a:ext cx="146164" cy="111887"/>
            </a:xfrm>
            <a:prstGeom prst="rect">
              <a:avLst/>
            </a:prstGeom>
          </p:spPr>
        </p:pic>
        <p:pic>
          <p:nvPicPr>
            <p:cNvPr id="46" name="object 46"/>
            <p:cNvPicPr/>
            <p:nvPr/>
          </p:nvPicPr>
          <p:blipFill>
            <a:blip r:embed="rId7" cstate="print"/>
            <a:stretch>
              <a:fillRect/>
            </a:stretch>
          </p:blipFill>
          <p:spPr>
            <a:xfrm>
              <a:off x="1242244" y="974829"/>
              <a:ext cx="2173224" cy="601090"/>
            </a:xfrm>
            <a:prstGeom prst="rect">
              <a:avLst/>
            </a:prstGeom>
          </p:spPr>
        </p:pic>
        <p:pic>
          <p:nvPicPr>
            <p:cNvPr id="65" name="object 65"/>
            <p:cNvPicPr/>
            <p:nvPr/>
          </p:nvPicPr>
          <p:blipFill>
            <a:blip r:embed="rId8" cstate="print"/>
            <a:stretch>
              <a:fillRect/>
            </a:stretch>
          </p:blipFill>
          <p:spPr>
            <a:xfrm>
              <a:off x="409949" y="1168673"/>
              <a:ext cx="301280" cy="304164"/>
            </a:xfrm>
            <a:prstGeom prst="rect">
              <a:avLst/>
            </a:prstGeom>
          </p:spPr>
        </p:pic>
      </p:grpSp>
      <p:sp>
        <p:nvSpPr>
          <p:cNvPr id="75" name="Slide Number Placeholder 74">
            <a:extLst>
              <a:ext uri="{FF2B5EF4-FFF2-40B4-BE49-F238E27FC236}">
                <a16:creationId xmlns:a16="http://schemas.microsoft.com/office/drawing/2014/main" id="{FFE51A3D-89E3-4A75-53D4-F2CC1E0DEA30}"/>
              </a:ext>
            </a:extLst>
          </p:cNvPr>
          <p:cNvSpPr>
            <a:spLocks noGrp="1"/>
          </p:cNvSpPr>
          <p:nvPr>
            <p:ph type="sldNum" sz="quarter" idx="12"/>
          </p:nvPr>
        </p:nvSpPr>
        <p:spPr>
          <a:xfrm>
            <a:off x="8730614" y="4823910"/>
            <a:ext cx="361950" cy="273844"/>
          </a:xfrm>
        </p:spPr>
        <p:txBody>
          <a:bodyPr/>
          <a:lstStyle/>
          <a:p>
            <a:fld id="{B6F15528-21DE-4FAA-801E-634DDDAF4B2B}" type="slidenum">
              <a:rPr lang="en-PS" smtClean="0"/>
              <a:t>12</a:t>
            </a:fld>
            <a:endParaRPr lang="en-PS"/>
          </a:p>
        </p:txBody>
      </p:sp>
      <p:sp>
        <p:nvSpPr>
          <p:cNvPr id="29" name="Rounded Rectangle 28">
            <a:extLst>
              <a:ext uri="{FF2B5EF4-FFF2-40B4-BE49-F238E27FC236}">
                <a16:creationId xmlns:a16="http://schemas.microsoft.com/office/drawing/2014/main" id="{7110E635-C81A-CE5E-F49B-CD53D5073112}"/>
              </a:ext>
            </a:extLst>
          </p:cNvPr>
          <p:cNvSpPr/>
          <p:nvPr/>
        </p:nvSpPr>
        <p:spPr>
          <a:xfrm>
            <a:off x="1949132" y="1352550"/>
            <a:ext cx="1644333" cy="762000"/>
          </a:xfrm>
          <a:prstGeom prst="roundRect">
            <a:avLst/>
          </a:prstGeom>
          <a:no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30" name="TextBox 29">
            <a:extLst>
              <a:ext uri="{FF2B5EF4-FFF2-40B4-BE49-F238E27FC236}">
                <a16:creationId xmlns:a16="http://schemas.microsoft.com/office/drawing/2014/main" id="{829C4B1C-2D1A-2859-EC91-2142A4219EEC}"/>
              </a:ext>
            </a:extLst>
          </p:cNvPr>
          <p:cNvSpPr txBox="1"/>
          <p:nvPr/>
        </p:nvSpPr>
        <p:spPr>
          <a:xfrm>
            <a:off x="3200400" y="2340925"/>
            <a:ext cx="1965859" cy="400110"/>
          </a:xfrm>
          <a:prstGeom prst="rect">
            <a:avLst/>
          </a:prstGeom>
          <a:noFill/>
        </p:spPr>
        <p:txBody>
          <a:bodyPr wrap="none" rtlCol="0">
            <a:spAutoFit/>
          </a:bodyPr>
          <a:lstStyle/>
          <a:p>
            <a:r>
              <a:rPr lang="en-PS" sz="2000" dirty="0">
                <a:solidFill>
                  <a:srgbClr val="0432FF"/>
                </a:solidFill>
              </a:rPr>
              <a:t>Partial Derivative</a:t>
            </a:r>
          </a:p>
        </p:txBody>
      </p:sp>
      <p:sp>
        <p:nvSpPr>
          <p:cNvPr id="31" name="TextBox 30">
            <a:extLst>
              <a:ext uri="{FF2B5EF4-FFF2-40B4-BE49-F238E27FC236}">
                <a16:creationId xmlns:a16="http://schemas.microsoft.com/office/drawing/2014/main" id="{6721DE14-DB06-CFA7-D4A8-3B182FEADF6C}"/>
              </a:ext>
            </a:extLst>
          </p:cNvPr>
          <p:cNvSpPr txBox="1"/>
          <p:nvPr/>
        </p:nvSpPr>
        <p:spPr>
          <a:xfrm>
            <a:off x="2093514" y="3114881"/>
            <a:ext cx="1470467" cy="369332"/>
          </a:xfrm>
          <a:prstGeom prst="rect">
            <a:avLst/>
          </a:prstGeom>
          <a:noFill/>
        </p:spPr>
        <p:txBody>
          <a:bodyPr wrap="none" rtlCol="0">
            <a:spAutoFit/>
          </a:bodyPr>
          <a:lstStyle/>
          <a:p>
            <a:r>
              <a:rPr lang="en-PS" dirty="0">
                <a:solidFill>
                  <a:srgbClr val="FF0000"/>
                </a:solidFill>
              </a:rPr>
              <a:t>Learning Rate</a:t>
            </a:r>
          </a:p>
        </p:txBody>
      </p:sp>
      <p:cxnSp>
        <p:nvCxnSpPr>
          <p:cNvPr id="34" name="Straight Arrow Connector 33">
            <a:extLst>
              <a:ext uri="{FF2B5EF4-FFF2-40B4-BE49-F238E27FC236}">
                <a16:creationId xmlns:a16="http://schemas.microsoft.com/office/drawing/2014/main" id="{30A28155-7011-04AE-1CE0-9D2F6708AD66}"/>
              </a:ext>
            </a:extLst>
          </p:cNvPr>
          <p:cNvCxnSpPr>
            <a:cxnSpLocks/>
          </p:cNvCxnSpPr>
          <p:nvPr/>
        </p:nvCxnSpPr>
        <p:spPr>
          <a:xfrm flipH="1" flipV="1">
            <a:off x="3505200" y="2114550"/>
            <a:ext cx="304800" cy="227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549A377-8513-8F1F-E546-DAAB3685E6D6}"/>
              </a:ext>
            </a:extLst>
          </p:cNvPr>
          <p:cNvCxnSpPr>
            <a:cxnSpLocks/>
            <a:stCxn id="31" idx="0"/>
          </p:cNvCxnSpPr>
          <p:nvPr/>
        </p:nvCxnSpPr>
        <p:spPr>
          <a:xfrm flipH="1" flipV="1">
            <a:off x="1834066" y="1943470"/>
            <a:ext cx="994682" cy="1171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9AD58D8-3EC1-CE87-08D0-EB7A8FF348EF}"/>
              </a:ext>
            </a:extLst>
          </p:cNvPr>
          <p:cNvSpPr txBox="1"/>
          <p:nvPr/>
        </p:nvSpPr>
        <p:spPr>
          <a:xfrm>
            <a:off x="124202" y="2492765"/>
            <a:ext cx="1111971" cy="584775"/>
          </a:xfrm>
          <a:prstGeom prst="rect">
            <a:avLst/>
          </a:prstGeom>
          <a:noFill/>
        </p:spPr>
        <p:txBody>
          <a:bodyPr wrap="none" rtlCol="0">
            <a:spAutoFit/>
          </a:bodyPr>
          <a:lstStyle/>
          <a:p>
            <a:pPr algn="ctr"/>
            <a:r>
              <a:rPr lang="en-PS" sz="1600" dirty="0">
                <a:solidFill>
                  <a:srgbClr val="00B0F0"/>
                </a:solidFill>
              </a:rPr>
              <a:t>new values</a:t>
            </a:r>
          </a:p>
          <a:p>
            <a:pPr algn="ctr"/>
            <a:r>
              <a:rPr lang="en-PS" sz="1600" dirty="0">
                <a:solidFill>
                  <a:srgbClr val="00B0F0"/>
                </a:solidFill>
              </a:rPr>
              <a:t>of w</a:t>
            </a:r>
          </a:p>
        </p:txBody>
      </p:sp>
      <p:sp>
        <p:nvSpPr>
          <p:cNvPr id="61" name="TextBox 60">
            <a:extLst>
              <a:ext uri="{FF2B5EF4-FFF2-40B4-BE49-F238E27FC236}">
                <a16:creationId xmlns:a16="http://schemas.microsoft.com/office/drawing/2014/main" id="{68EA36AD-BC7A-3E6E-F8F7-0CB285A4BF85}"/>
              </a:ext>
            </a:extLst>
          </p:cNvPr>
          <p:cNvSpPr txBox="1"/>
          <p:nvPr/>
        </p:nvSpPr>
        <p:spPr>
          <a:xfrm>
            <a:off x="660686" y="591436"/>
            <a:ext cx="1088568" cy="646331"/>
          </a:xfrm>
          <a:prstGeom prst="rect">
            <a:avLst/>
          </a:prstGeom>
          <a:noFill/>
        </p:spPr>
        <p:txBody>
          <a:bodyPr wrap="none" rtlCol="0">
            <a:spAutoFit/>
          </a:bodyPr>
          <a:lstStyle/>
          <a:p>
            <a:pPr algn="ctr"/>
            <a:r>
              <a:rPr lang="en-PS" dirty="0"/>
              <a:t>old value </a:t>
            </a:r>
          </a:p>
          <a:p>
            <a:pPr algn="ctr"/>
            <a:r>
              <a:rPr lang="en-PS" dirty="0"/>
              <a:t>of w</a:t>
            </a:r>
          </a:p>
        </p:txBody>
      </p:sp>
      <p:cxnSp>
        <p:nvCxnSpPr>
          <p:cNvPr id="64" name="Straight Arrow Connector 63">
            <a:extLst>
              <a:ext uri="{FF2B5EF4-FFF2-40B4-BE49-F238E27FC236}">
                <a16:creationId xmlns:a16="http://schemas.microsoft.com/office/drawing/2014/main" id="{CBBAADAB-840A-51B8-3E09-311D905BD224}"/>
              </a:ext>
            </a:extLst>
          </p:cNvPr>
          <p:cNvCxnSpPr>
            <a:stCxn id="48" idx="0"/>
            <a:endCxn id="65" idx="2"/>
          </p:cNvCxnSpPr>
          <p:nvPr/>
        </p:nvCxnSpPr>
        <p:spPr>
          <a:xfrm flipH="1" flipV="1">
            <a:off x="590346" y="1962150"/>
            <a:ext cx="89842" cy="530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269FFEA-B972-C010-41F0-BAEC440618EB}"/>
              </a:ext>
            </a:extLst>
          </p:cNvPr>
          <p:cNvCxnSpPr>
            <a:stCxn id="61" idx="2"/>
          </p:cNvCxnSpPr>
          <p:nvPr/>
        </p:nvCxnSpPr>
        <p:spPr>
          <a:xfrm>
            <a:off x="1204970" y="1237767"/>
            <a:ext cx="176339" cy="389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82F0F67-DAF3-41E0-3DAE-23E5D3FBC47E}"/>
              </a:ext>
            </a:extLst>
          </p:cNvPr>
          <p:cNvSpPr txBox="1"/>
          <p:nvPr/>
        </p:nvSpPr>
        <p:spPr>
          <a:xfrm>
            <a:off x="5410200" y="1352550"/>
            <a:ext cx="3531869" cy="3016210"/>
          </a:xfrm>
          <a:prstGeom prst="rect">
            <a:avLst/>
          </a:prstGeom>
          <a:noFill/>
        </p:spPr>
        <p:txBody>
          <a:bodyPr wrap="square" rtlCol="0">
            <a:spAutoFit/>
          </a:bodyPr>
          <a:lstStyle/>
          <a:p>
            <a:r>
              <a:rPr lang="en-US" sz="2000" dirty="0">
                <a:solidFill>
                  <a:srgbClr val="0432FF"/>
                </a:solidFill>
                <a:latin typeface="+mj-lt"/>
              </a:rPr>
              <a:t>The Partial Derivative:</a:t>
            </a:r>
          </a:p>
          <a:p>
            <a:pPr>
              <a:spcBef>
                <a:spcPts val="600"/>
              </a:spcBef>
            </a:pPr>
            <a:r>
              <a:rPr lang="en-US" sz="2000" b="0" i="0" dirty="0">
                <a:solidFill>
                  <a:srgbClr val="1F1F1F"/>
                </a:solidFill>
                <a:effectLst/>
                <a:latin typeface="+mj-lt"/>
              </a:rPr>
              <a:t>The partial derivative term indicates the direction and magnitude of the steepest descent of the cost function,</a:t>
            </a:r>
            <a:r>
              <a:rPr lang="en-US" sz="2000" dirty="0">
                <a:solidFill>
                  <a:srgbClr val="1F1F1F"/>
                </a:solidFill>
                <a:latin typeface="+mj-lt"/>
              </a:rPr>
              <a:t> </a:t>
            </a:r>
          </a:p>
          <a:p>
            <a:pPr>
              <a:spcBef>
                <a:spcPts val="600"/>
              </a:spcBef>
            </a:pPr>
            <a:r>
              <a:rPr lang="en-US" sz="2000" b="0" i="0" dirty="0">
                <a:solidFill>
                  <a:srgbClr val="1F1F1F"/>
                </a:solidFill>
                <a:effectLst/>
                <a:latin typeface="+mj-lt"/>
              </a:rPr>
              <a:t>(i.e. the slope)</a:t>
            </a:r>
            <a:r>
              <a:rPr lang="en-US" sz="2000" dirty="0">
                <a:solidFill>
                  <a:srgbClr val="1F1F1F"/>
                </a:solidFill>
                <a:latin typeface="+mj-lt"/>
              </a:rPr>
              <a:t>,</a:t>
            </a:r>
            <a:r>
              <a:rPr lang="en-US" sz="2000" b="0" i="0" dirty="0">
                <a:solidFill>
                  <a:srgbClr val="1F1F1F"/>
                </a:solidFill>
                <a:effectLst/>
                <a:latin typeface="+mj-lt"/>
              </a:rPr>
              <a:t> guiding the algorithm's step towards minimizing the cost function </a:t>
            </a:r>
            <a:r>
              <a:rPr lang="en-US" sz="2000" b="0" i="0" dirty="0">
                <a:solidFill>
                  <a:srgbClr val="0070C0"/>
                </a:solidFill>
                <a:effectLst/>
                <a:latin typeface="+mj-lt"/>
              </a:rPr>
              <a:t>J(</a:t>
            </a:r>
            <a:r>
              <a:rPr lang="en-US" sz="2000" b="0" i="0" dirty="0" err="1">
                <a:solidFill>
                  <a:srgbClr val="0070C0"/>
                </a:solidFill>
                <a:effectLst/>
                <a:latin typeface="+mj-lt"/>
              </a:rPr>
              <a:t>w,b</a:t>
            </a:r>
            <a:r>
              <a:rPr lang="en-US" sz="2000" b="0" i="0" dirty="0">
                <a:solidFill>
                  <a:srgbClr val="0070C0"/>
                </a:solidFill>
                <a:effectLst/>
                <a:latin typeface="+mj-lt"/>
              </a:rPr>
              <a:t>)</a:t>
            </a:r>
            <a:r>
              <a:rPr lang="en-US" sz="2000" b="0" i="0" dirty="0">
                <a:solidFill>
                  <a:srgbClr val="1F1F1F"/>
                </a:solidFill>
                <a:effectLst/>
                <a:latin typeface="+mj-lt"/>
              </a:rPr>
              <a:t>.</a:t>
            </a:r>
            <a:endParaRPr lang="en-PS" sz="2000" dirty="0">
              <a:latin typeface="+mj-lt"/>
            </a:endParaRPr>
          </a:p>
        </p:txBody>
      </p:sp>
    </p:spTree>
    <p:extLst>
      <p:ext uri="{BB962C8B-B14F-4D97-AF65-F5344CB8AC3E}">
        <p14:creationId xmlns:p14="http://schemas.microsoft.com/office/powerpoint/2010/main" val="733053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3845" y="4750120"/>
            <a:ext cx="1007744" cy="231474"/>
          </a:xfrm>
          <a:prstGeom prst="rect">
            <a:avLst/>
          </a:prstGeom>
        </p:spPr>
        <p:txBody>
          <a:bodyPr vert="horz" wrap="square" lIns="0" tIns="15875" rIns="0" bIns="0" rtlCol="0">
            <a:spAutoFit/>
          </a:bodyPr>
          <a:lstStyle/>
          <a:p>
            <a:pPr marL="12700">
              <a:spcBef>
                <a:spcPts val="125"/>
              </a:spcBef>
            </a:pPr>
            <a:r>
              <a:rPr sz="1400" spc="15" dirty="0">
                <a:solidFill>
                  <a:srgbClr val="FFFFFF"/>
                </a:solidFill>
                <a:latin typeface="Verdana"/>
                <a:cs typeface="Verdana"/>
              </a:rPr>
              <a:t>An</a:t>
            </a:r>
            <a:r>
              <a:rPr sz="1400" spc="25" dirty="0">
                <a:solidFill>
                  <a:srgbClr val="FFFFFF"/>
                </a:solidFill>
                <a:latin typeface="Verdana"/>
                <a:cs typeface="Verdana"/>
              </a:rPr>
              <a:t>d</a:t>
            </a:r>
            <a:r>
              <a:rPr sz="1400" dirty="0">
                <a:solidFill>
                  <a:srgbClr val="FFFFFF"/>
                </a:solidFill>
                <a:latin typeface="Verdana"/>
                <a:cs typeface="Verdana"/>
              </a:rPr>
              <a:t>r</a:t>
            </a:r>
            <a:r>
              <a:rPr sz="1400" spc="-11" dirty="0">
                <a:solidFill>
                  <a:srgbClr val="FFFFFF"/>
                </a:solidFill>
                <a:latin typeface="Verdana"/>
                <a:cs typeface="Verdana"/>
              </a:rPr>
              <a:t>e</a:t>
            </a:r>
            <a:r>
              <a:rPr sz="1400" spc="20" dirty="0">
                <a:solidFill>
                  <a:srgbClr val="FFFFFF"/>
                </a:solidFill>
                <a:latin typeface="Verdana"/>
                <a:cs typeface="Verdana"/>
              </a:rPr>
              <a:t>w</a:t>
            </a:r>
            <a:r>
              <a:rPr sz="1400" spc="-85" dirty="0">
                <a:solidFill>
                  <a:srgbClr val="FFFFFF"/>
                </a:solidFill>
                <a:latin typeface="Verdana"/>
                <a:cs typeface="Verdana"/>
              </a:rPr>
              <a:t> </a:t>
            </a:r>
            <a:r>
              <a:rPr sz="1400" dirty="0">
                <a:solidFill>
                  <a:srgbClr val="FFFFFF"/>
                </a:solidFill>
                <a:latin typeface="Verdana"/>
                <a:cs typeface="Verdana"/>
              </a:rPr>
              <a:t>N</a:t>
            </a:r>
            <a:r>
              <a:rPr sz="1400" spc="15" dirty="0">
                <a:solidFill>
                  <a:srgbClr val="FFFFFF"/>
                </a:solidFill>
                <a:latin typeface="Verdana"/>
                <a:cs typeface="Verdana"/>
              </a:rPr>
              <a:t>g</a:t>
            </a:r>
            <a:endParaRPr sz="1400" dirty="0">
              <a:latin typeface="Verdana"/>
              <a:cs typeface="Verdana"/>
            </a:endParaRPr>
          </a:p>
        </p:txBody>
      </p:sp>
      <p:sp>
        <p:nvSpPr>
          <p:cNvPr id="3" name="object 3"/>
          <p:cNvSpPr txBox="1">
            <a:spLocks noGrp="1"/>
          </p:cNvSpPr>
          <p:nvPr>
            <p:ph type="title"/>
          </p:nvPr>
        </p:nvSpPr>
        <p:spPr>
          <a:xfrm>
            <a:off x="162562" y="1524"/>
            <a:ext cx="5260340" cy="475130"/>
          </a:xfrm>
          <a:prstGeom prst="rect">
            <a:avLst/>
          </a:prstGeom>
        </p:spPr>
        <p:txBody>
          <a:bodyPr vert="horz" wrap="square" lIns="0" tIns="13335" rIns="0" bIns="0" rtlCol="0" anchor="ctr">
            <a:spAutoFit/>
          </a:bodyPr>
          <a:lstStyle/>
          <a:p>
            <a:pPr marL="12700">
              <a:spcBef>
                <a:spcPts val="105"/>
              </a:spcBef>
            </a:pPr>
            <a:r>
              <a:rPr sz="3000" spc="5" dirty="0"/>
              <a:t>Gradient</a:t>
            </a:r>
            <a:r>
              <a:rPr sz="3000" spc="-105" dirty="0"/>
              <a:t> </a:t>
            </a:r>
            <a:r>
              <a:rPr sz="3000" dirty="0"/>
              <a:t>descent</a:t>
            </a:r>
            <a:r>
              <a:rPr sz="3000" spc="-100" dirty="0"/>
              <a:t> </a:t>
            </a:r>
            <a:r>
              <a:rPr sz="3000" spc="11" dirty="0"/>
              <a:t>algorithm</a:t>
            </a:r>
            <a:endParaRPr sz="3000" dirty="0"/>
          </a:p>
        </p:txBody>
      </p:sp>
      <p:sp>
        <p:nvSpPr>
          <p:cNvPr id="15" name="object 15"/>
          <p:cNvSpPr txBox="1"/>
          <p:nvPr/>
        </p:nvSpPr>
        <p:spPr>
          <a:xfrm>
            <a:off x="4985773" y="102393"/>
            <a:ext cx="3717292" cy="4005456"/>
          </a:xfrm>
          <a:prstGeom prst="rect">
            <a:avLst/>
          </a:prstGeom>
        </p:spPr>
        <p:txBody>
          <a:bodyPr vert="horz" wrap="square" lIns="0" tIns="1271" rIns="0" bIns="0" rtlCol="0">
            <a:spAutoFit/>
          </a:bodyPr>
          <a:lstStyle/>
          <a:p>
            <a:pPr marR="5080" algn="ctr">
              <a:lnSpc>
                <a:spcPct val="100800"/>
              </a:lnSpc>
              <a:spcBef>
                <a:spcPts val="1731"/>
              </a:spcBef>
            </a:pPr>
            <a:r>
              <a:rPr sz="2000" spc="-11" dirty="0">
                <a:solidFill>
                  <a:srgbClr val="0432FF"/>
                </a:solidFill>
                <a:latin typeface="+mj-lt"/>
                <a:cs typeface="Comic Sans MS"/>
              </a:rPr>
              <a:t>Simultaneously </a:t>
            </a:r>
            <a:r>
              <a:rPr sz="2000" spc="-525" dirty="0">
                <a:solidFill>
                  <a:srgbClr val="0432FF"/>
                </a:solidFill>
                <a:latin typeface="+mj-lt"/>
                <a:cs typeface="Comic Sans MS"/>
              </a:rPr>
              <a:t> </a:t>
            </a:r>
            <a:r>
              <a:rPr sz="2000" spc="-31" dirty="0">
                <a:solidFill>
                  <a:srgbClr val="0432FF"/>
                </a:solidFill>
                <a:latin typeface="+mj-lt"/>
                <a:cs typeface="Comic Sans MS"/>
              </a:rPr>
              <a:t>update</a:t>
            </a:r>
            <a:r>
              <a:rPr sz="2000" spc="91" dirty="0">
                <a:solidFill>
                  <a:srgbClr val="0432FF"/>
                </a:solidFill>
                <a:latin typeface="+mj-lt"/>
                <a:cs typeface="Comic Sans MS"/>
              </a:rPr>
              <a:t> </a:t>
            </a:r>
            <a:r>
              <a:rPr sz="2000" dirty="0">
                <a:solidFill>
                  <a:srgbClr val="0432FF"/>
                </a:solidFill>
                <a:latin typeface="+mj-lt"/>
                <a:cs typeface="Comic Sans MS"/>
              </a:rPr>
              <a:t>w and</a:t>
            </a:r>
            <a:r>
              <a:rPr sz="2000" spc="-45" dirty="0">
                <a:solidFill>
                  <a:srgbClr val="0432FF"/>
                </a:solidFill>
                <a:latin typeface="+mj-lt"/>
                <a:cs typeface="Comic Sans MS"/>
              </a:rPr>
              <a:t> </a:t>
            </a:r>
            <a:r>
              <a:rPr sz="2000" dirty="0">
                <a:solidFill>
                  <a:srgbClr val="0432FF"/>
                </a:solidFill>
                <a:latin typeface="+mj-lt"/>
                <a:cs typeface="Comic Sans MS"/>
              </a:rPr>
              <a:t>b</a:t>
            </a:r>
            <a:endParaRPr lang="en-GB" sz="2000" dirty="0">
              <a:solidFill>
                <a:srgbClr val="0432FF"/>
              </a:solidFill>
              <a:latin typeface="+mj-lt"/>
              <a:cs typeface="Comic Sans MS"/>
            </a:endParaRPr>
          </a:p>
          <a:p>
            <a:pPr marL="342900" indent="-342900" algn="l">
              <a:buFont typeface="Arial" panose="020B0604020202020204" pitchFamily="34" charset="0"/>
              <a:buChar char="•"/>
            </a:pPr>
            <a:r>
              <a:rPr lang="en-US" sz="2000" b="0" i="0" dirty="0">
                <a:solidFill>
                  <a:srgbClr val="1F1F1F"/>
                </a:solidFill>
                <a:effectLst/>
                <a:latin typeface="+mj-lt"/>
              </a:rPr>
              <a:t>When updating w and b simultaneously, the algorithm considers the combined effect of both parameters on the error. </a:t>
            </a:r>
          </a:p>
          <a:p>
            <a:pPr marL="342900" indent="-342900" algn="l">
              <a:buFont typeface="Arial" panose="020B0604020202020204" pitchFamily="34" charset="0"/>
              <a:buChar char="•"/>
            </a:pPr>
            <a:r>
              <a:rPr lang="en-US" sz="2000" b="0" i="0" dirty="0">
                <a:solidFill>
                  <a:srgbClr val="1F1F1F"/>
                </a:solidFill>
                <a:effectLst/>
                <a:latin typeface="+mj-lt"/>
              </a:rPr>
              <a:t>This ensures that the updates are coordinated and lead to an overall improvement in the model's fit.</a:t>
            </a:r>
          </a:p>
          <a:p>
            <a:pPr marL="342900" indent="-342900" algn="l">
              <a:buFont typeface="Arial" panose="020B0604020202020204" pitchFamily="34" charset="0"/>
              <a:buChar char="•"/>
            </a:pPr>
            <a:r>
              <a:rPr lang="en-US" sz="2000" b="0" i="0" dirty="0">
                <a:solidFill>
                  <a:srgbClr val="1F1F1F"/>
                </a:solidFill>
                <a:effectLst/>
                <a:latin typeface="+mj-lt"/>
              </a:rPr>
              <a:t>These update rules are applied simultaneously, meaning that both w and b are adjusted in the same iteration.</a:t>
            </a:r>
          </a:p>
        </p:txBody>
      </p:sp>
      <p:sp>
        <p:nvSpPr>
          <p:cNvPr id="27" name="object 27"/>
          <p:cNvSpPr txBox="1"/>
          <p:nvPr/>
        </p:nvSpPr>
        <p:spPr>
          <a:xfrm>
            <a:off x="185982" y="508199"/>
            <a:ext cx="3288665" cy="323807"/>
          </a:xfrm>
          <a:prstGeom prst="rect">
            <a:avLst/>
          </a:prstGeom>
        </p:spPr>
        <p:txBody>
          <a:bodyPr vert="horz" wrap="square" lIns="0" tIns="15875" rIns="0" bIns="0" rtlCol="0">
            <a:spAutoFit/>
          </a:bodyPr>
          <a:lstStyle/>
          <a:p>
            <a:pPr marL="12700">
              <a:spcBef>
                <a:spcPts val="125"/>
              </a:spcBef>
            </a:pPr>
            <a:r>
              <a:rPr sz="2000" spc="15" dirty="0">
                <a:solidFill>
                  <a:srgbClr val="0432FF"/>
                </a:solidFill>
                <a:latin typeface="Verdana"/>
                <a:cs typeface="Verdana"/>
              </a:rPr>
              <a:t>Repeat</a:t>
            </a:r>
            <a:r>
              <a:rPr sz="2000" spc="-100" dirty="0">
                <a:solidFill>
                  <a:srgbClr val="0432FF"/>
                </a:solidFill>
                <a:latin typeface="Verdana"/>
                <a:cs typeface="Verdana"/>
              </a:rPr>
              <a:t> </a:t>
            </a:r>
            <a:r>
              <a:rPr sz="2000" spc="5" dirty="0">
                <a:solidFill>
                  <a:srgbClr val="0432FF"/>
                </a:solidFill>
                <a:latin typeface="Verdana"/>
                <a:cs typeface="Verdana"/>
              </a:rPr>
              <a:t>until</a:t>
            </a:r>
            <a:r>
              <a:rPr sz="2000" spc="-80" dirty="0">
                <a:solidFill>
                  <a:srgbClr val="0432FF"/>
                </a:solidFill>
                <a:latin typeface="Verdana"/>
                <a:cs typeface="Verdana"/>
              </a:rPr>
              <a:t> </a:t>
            </a:r>
            <a:r>
              <a:rPr sz="2000" spc="11" dirty="0">
                <a:solidFill>
                  <a:srgbClr val="0432FF"/>
                </a:solidFill>
                <a:latin typeface="Verdana"/>
                <a:cs typeface="Verdana"/>
              </a:rPr>
              <a:t>convergence</a:t>
            </a:r>
            <a:endParaRPr sz="2000" dirty="0">
              <a:solidFill>
                <a:srgbClr val="0432FF"/>
              </a:solidFill>
              <a:latin typeface="Verdana"/>
              <a:cs typeface="Verdana"/>
            </a:endParaRPr>
          </a:p>
        </p:txBody>
      </p:sp>
      <p:sp>
        <p:nvSpPr>
          <p:cNvPr id="75" name="Slide Number Placeholder 74">
            <a:extLst>
              <a:ext uri="{FF2B5EF4-FFF2-40B4-BE49-F238E27FC236}">
                <a16:creationId xmlns:a16="http://schemas.microsoft.com/office/drawing/2014/main" id="{FFE51A3D-89E3-4A75-53D4-F2CC1E0DEA30}"/>
              </a:ext>
            </a:extLst>
          </p:cNvPr>
          <p:cNvSpPr>
            <a:spLocks noGrp="1"/>
          </p:cNvSpPr>
          <p:nvPr>
            <p:ph type="sldNum" sz="quarter" idx="12"/>
          </p:nvPr>
        </p:nvSpPr>
        <p:spPr>
          <a:xfrm>
            <a:off x="8791721" y="4829836"/>
            <a:ext cx="321064" cy="273844"/>
          </a:xfrm>
        </p:spPr>
        <p:txBody>
          <a:bodyPr/>
          <a:lstStyle/>
          <a:p>
            <a:fld id="{B6F15528-21DE-4FAA-801E-634DDDAF4B2B}" type="slidenum">
              <a:rPr lang="en-PS" smtClean="0">
                <a:solidFill>
                  <a:srgbClr val="0432FF"/>
                </a:solidFill>
              </a:rPr>
              <a:t>13</a:t>
            </a:fld>
            <a:endParaRPr lang="en-PS" dirty="0">
              <a:solidFill>
                <a:srgbClr val="0432FF"/>
              </a:solidFill>
            </a:endParaRPr>
          </a:p>
        </p:txBody>
      </p:sp>
      <p:sp>
        <p:nvSpPr>
          <p:cNvPr id="29" name="TextBox 28">
            <a:extLst>
              <a:ext uri="{FF2B5EF4-FFF2-40B4-BE49-F238E27FC236}">
                <a16:creationId xmlns:a16="http://schemas.microsoft.com/office/drawing/2014/main" id="{FE9CF16A-80F3-EAC1-6408-ADD714C88060}"/>
              </a:ext>
            </a:extLst>
          </p:cNvPr>
          <p:cNvSpPr txBox="1"/>
          <p:nvPr/>
        </p:nvSpPr>
        <p:spPr>
          <a:xfrm>
            <a:off x="4603552" y="4411186"/>
            <a:ext cx="4710430" cy="400110"/>
          </a:xfrm>
          <a:prstGeom prst="rect">
            <a:avLst/>
          </a:prstGeom>
          <a:noFill/>
        </p:spPr>
        <p:txBody>
          <a:bodyPr wrap="square">
            <a:spAutoFit/>
          </a:bodyPr>
          <a:lstStyle/>
          <a:p>
            <a:r>
              <a:rPr lang="en-US" sz="2000" dirty="0">
                <a:solidFill>
                  <a:srgbClr val="0432FF"/>
                </a:solidFill>
                <a:latin typeface="Times New Roman" panose="02020603050405020304" pitchFamily="18" charset="0"/>
                <a:cs typeface="Times New Roman" panose="02020603050405020304" pitchFamily="18" charset="0"/>
              </a:rPr>
              <a:t>(w, </a:t>
            </a:r>
            <a:r>
              <a:rPr lang="en-US" sz="2000" dirty="0">
                <a:solidFill>
                  <a:srgbClr val="C00000"/>
                </a:solidFill>
                <a:latin typeface="Times New Roman" panose="02020603050405020304" pitchFamily="18" charset="0"/>
                <a:cs typeface="Times New Roman" panose="02020603050405020304" pitchFamily="18" charset="0"/>
              </a:rPr>
              <a:t>b</a:t>
            </a:r>
            <a:r>
              <a:rPr lang="en-US" sz="2000" dirty="0">
                <a:solidFill>
                  <a:srgbClr val="0432FF"/>
                </a:solidFill>
                <a:latin typeface="Times New Roman" panose="02020603050405020304" pitchFamily="18" charset="0"/>
                <a:cs typeface="Times New Roman" panose="02020603050405020304" pitchFamily="18" charset="0"/>
              </a:rPr>
              <a:t>) = (w - </a:t>
            </a:r>
            <a:r>
              <a:rPr lang="el-GR" sz="2000" dirty="0">
                <a:solidFill>
                  <a:srgbClr val="0432FF"/>
                </a:solidFill>
                <a:latin typeface="Times New Roman" panose="02020603050405020304" pitchFamily="18" charset="0"/>
                <a:cs typeface="Times New Roman" panose="02020603050405020304" pitchFamily="18" charset="0"/>
              </a:rPr>
              <a:t>α * ∂</a:t>
            </a:r>
            <a:r>
              <a:rPr lang="en-US" sz="2000" dirty="0">
                <a:solidFill>
                  <a:srgbClr val="0432FF"/>
                </a:solidFill>
                <a:latin typeface="Times New Roman" panose="02020603050405020304" pitchFamily="18" charset="0"/>
                <a:cs typeface="Times New Roman" panose="02020603050405020304" pitchFamily="18" charset="0"/>
              </a:rPr>
              <a:t>J/∂w, </a:t>
            </a:r>
            <a:r>
              <a:rPr lang="en-US" sz="2000" dirty="0">
                <a:solidFill>
                  <a:srgbClr val="C00000"/>
                </a:solidFill>
                <a:latin typeface="Times New Roman" panose="02020603050405020304" pitchFamily="18" charset="0"/>
                <a:cs typeface="Times New Roman" panose="02020603050405020304" pitchFamily="18" charset="0"/>
              </a:rPr>
              <a:t>b - </a:t>
            </a:r>
            <a:r>
              <a:rPr lang="el-GR" sz="2000" dirty="0">
                <a:solidFill>
                  <a:srgbClr val="C00000"/>
                </a:solidFill>
                <a:latin typeface="Times New Roman" panose="02020603050405020304" pitchFamily="18" charset="0"/>
                <a:cs typeface="Times New Roman" panose="02020603050405020304" pitchFamily="18" charset="0"/>
              </a:rPr>
              <a:t>α * ∂</a:t>
            </a:r>
            <a:r>
              <a:rPr lang="en-US" sz="2000" dirty="0">
                <a:solidFill>
                  <a:srgbClr val="C00000"/>
                </a:solidFill>
                <a:latin typeface="Times New Roman" panose="02020603050405020304" pitchFamily="18" charset="0"/>
                <a:cs typeface="Times New Roman" panose="02020603050405020304" pitchFamily="18" charset="0"/>
              </a:rPr>
              <a:t>J/∂b</a:t>
            </a:r>
            <a:r>
              <a:rPr lang="en-US" sz="2000" dirty="0">
                <a:solidFill>
                  <a:srgbClr val="0432FF"/>
                </a:solidFill>
                <a:latin typeface="Times New Roman" panose="02020603050405020304" pitchFamily="18" charset="0"/>
                <a:cs typeface="Times New Roman" panose="02020603050405020304" pitchFamily="18" charset="0"/>
              </a:rPr>
              <a:t>)</a:t>
            </a:r>
          </a:p>
        </p:txBody>
      </p:sp>
      <p:sp>
        <p:nvSpPr>
          <p:cNvPr id="34" name="Left Brace 33">
            <a:extLst>
              <a:ext uri="{FF2B5EF4-FFF2-40B4-BE49-F238E27FC236}">
                <a16:creationId xmlns:a16="http://schemas.microsoft.com/office/drawing/2014/main" id="{ED7086A7-800A-9EFC-957C-9C79545E31B7}"/>
              </a:ext>
            </a:extLst>
          </p:cNvPr>
          <p:cNvSpPr/>
          <p:nvPr/>
        </p:nvSpPr>
        <p:spPr>
          <a:xfrm>
            <a:off x="234314" y="1123950"/>
            <a:ext cx="295838" cy="106680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S"/>
          </a:p>
        </p:txBody>
      </p:sp>
      <p:sp>
        <p:nvSpPr>
          <p:cNvPr id="38" name="Curved Right Arrow 37">
            <a:extLst>
              <a:ext uri="{FF2B5EF4-FFF2-40B4-BE49-F238E27FC236}">
                <a16:creationId xmlns:a16="http://schemas.microsoft.com/office/drawing/2014/main" id="{466EC791-7ADE-3DDD-21FF-B415357503FF}"/>
              </a:ext>
            </a:extLst>
          </p:cNvPr>
          <p:cNvSpPr/>
          <p:nvPr/>
        </p:nvSpPr>
        <p:spPr>
          <a:xfrm rot="5400000" flipH="1">
            <a:off x="1354142" y="1081784"/>
            <a:ext cx="275972" cy="10668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solidFill>
                <a:schemeClr val="tx1"/>
              </a:solidFill>
            </a:endParaRPr>
          </a:p>
        </p:txBody>
      </p:sp>
      <p:grpSp>
        <p:nvGrpSpPr>
          <p:cNvPr id="66" name="Group 65">
            <a:extLst>
              <a:ext uri="{FF2B5EF4-FFF2-40B4-BE49-F238E27FC236}">
                <a16:creationId xmlns:a16="http://schemas.microsoft.com/office/drawing/2014/main" id="{B201CDB9-0C09-4117-8903-B34A1E85BA7F}"/>
              </a:ext>
            </a:extLst>
          </p:cNvPr>
          <p:cNvGrpSpPr/>
          <p:nvPr/>
        </p:nvGrpSpPr>
        <p:grpSpPr>
          <a:xfrm>
            <a:off x="440935" y="2344064"/>
            <a:ext cx="4185477" cy="2417749"/>
            <a:chOff x="440935" y="2344064"/>
            <a:chExt cx="4185477" cy="2417749"/>
          </a:xfrm>
        </p:grpSpPr>
        <p:sp>
          <p:nvSpPr>
            <p:cNvPr id="7" name="object 7"/>
            <p:cNvSpPr txBox="1"/>
            <p:nvPr/>
          </p:nvSpPr>
          <p:spPr>
            <a:xfrm>
              <a:off x="440935" y="2655103"/>
              <a:ext cx="4185477" cy="507575"/>
            </a:xfrm>
            <a:prstGeom prst="rect">
              <a:avLst/>
            </a:prstGeom>
          </p:spPr>
          <p:txBody>
            <a:bodyPr vert="horz" wrap="square" lIns="0" tIns="15875" rIns="0" bIns="0" rtlCol="0">
              <a:spAutoFit/>
            </a:bodyPr>
            <a:lstStyle/>
            <a:p>
              <a:pPr marL="38733" algn="ctr">
                <a:lnSpc>
                  <a:spcPts val="1835"/>
                </a:lnSpc>
              </a:pPr>
              <a:r>
                <a:rPr sz="2000" spc="35" dirty="0">
                  <a:latin typeface="Cambria Math"/>
                  <a:cs typeface="Cambria Math"/>
                </a:rPr>
                <a:t>∂</a:t>
              </a:r>
              <a:endParaRPr sz="2000" dirty="0">
                <a:latin typeface="Cambria Math"/>
                <a:cs typeface="Cambria Math"/>
              </a:endParaRPr>
            </a:p>
            <a:p>
              <a:pPr marL="43813">
                <a:lnSpc>
                  <a:spcPts val="1951"/>
                </a:lnSpc>
              </a:pPr>
              <a:r>
                <a:rPr sz="2000" spc="40" dirty="0">
                  <a:solidFill>
                    <a:srgbClr val="0096FF"/>
                  </a:solidFill>
                  <a:latin typeface="Cambria Math"/>
                  <a:cs typeface="Cambria Math"/>
                </a:rPr>
                <a:t>𝑡𝑚</a:t>
              </a:r>
              <a:r>
                <a:rPr sz="2000" spc="25" dirty="0">
                  <a:solidFill>
                    <a:srgbClr val="0096FF"/>
                  </a:solidFill>
                  <a:latin typeface="Cambria Math"/>
                  <a:cs typeface="Cambria Math"/>
                </a:rPr>
                <a:t>𝑝</a:t>
              </a:r>
              <a:r>
                <a:rPr sz="2000" spc="20" dirty="0">
                  <a:solidFill>
                    <a:srgbClr val="0096FF"/>
                  </a:solidFill>
                  <a:latin typeface="Cambria Math"/>
                  <a:cs typeface="Cambria Math"/>
                </a:rPr>
                <a:t>_𝑤</a:t>
              </a:r>
              <a:r>
                <a:rPr sz="2000" spc="85" dirty="0">
                  <a:solidFill>
                    <a:srgbClr val="0096FF"/>
                  </a:solidFill>
                  <a:latin typeface="Cambria Math"/>
                  <a:cs typeface="Cambria Math"/>
                </a:rPr>
                <a:t> </a:t>
              </a:r>
              <a:r>
                <a:rPr sz="2000" spc="20" dirty="0">
                  <a:solidFill>
                    <a:srgbClr val="0096FF"/>
                  </a:solidFill>
                  <a:latin typeface="Cambria Math"/>
                  <a:cs typeface="Cambria Math"/>
                </a:rPr>
                <a:t>=</a:t>
              </a:r>
              <a:r>
                <a:rPr sz="2000" spc="65" dirty="0">
                  <a:solidFill>
                    <a:srgbClr val="0096FF"/>
                  </a:solidFill>
                  <a:latin typeface="Cambria Math"/>
                  <a:cs typeface="Cambria Math"/>
                </a:rPr>
                <a:t> </a:t>
              </a:r>
              <a:r>
                <a:rPr sz="2000" spc="31" dirty="0">
                  <a:latin typeface="Cambria Math"/>
                  <a:cs typeface="Cambria Math"/>
                </a:rPr>
                <a:t>𝑤</a:t>
              </a:r>
              <a:r>
                <a:rPr sz="2000" spc="11" dirty="0">
                  <a:latin typeface="Cambria Math"/>
                  <a:cs typeface="Cambria Math"/>
                </a:rPr>
                <a:t> </a:t>
              </a:r>
              <a:r>
                <a:rPr sz="2000" spc="20" dirty="0">
                  <a:latin typeface="Cambria Math"/>
                  <a:cs typeface="Cambria Math"/>
                </a:rPr>
                <a:t>−</a:t>
              </a:r>
              <a:r>
                <a:rPr sz="2000" spc="-5" dirty="0">
                  <a:latin typeface="Cambria Math"/>
                  <a:cs typeface="Cambria Math"/>
                </a:rPr>
                <a:t> </a:t>
              </a:r>
              <a:r>
                <a:rPr sz="2000" spc="31" dirty="0">
                  <a:latin typeface="Cambria Math"/>
                  <a:cs typeface="Cambria Math"/>
                </a:rPr>
                <a:t>𝛼</a:t>
              </a:r>
              <a:r>
                <a:rPr sz="2000" spc="-11" dirty="0">
                  <a:latin typeface="Cambria Math"/>
                  <a:cs typeface="Cambria Math"/>
                </a:rPr>
                <a:t> </a:t>
              </a:r>
              <a:r>
                <a:rPr sz="3000" spc="31" baseline="-37500" dirty="0">
                  <a:latin typeface="Cambria Math"/>
                  <a:cs typeface="Cambria Math"/>
                </a:rPr>
                <a:t>∂</a:t>
              </a:r>
              <a:r>
                <a:rPr sz="3000" spc="67" baseline="-37500" dirty="0">
                  <a:latin typeface="Cambria Math"/>
                  <a:cs typeface="Cambria Math"/>
                </a:rPr>
                <a:t>𝑤</a:t>
              </a:r>
              <a:r>
                <a:rPr sz="3000" spc="-209" baseline="-37500" dirty="0">
                  <a:latin typeface="Cambria Math"/>
                  <a:cs typeface="Cambria Math"/>
                </a:rPr>
                <a:t> </a:t>
              </a:r>
              <a:r>
                <a:rPr sz="2000" spc="31" dirty="0">
                  <a:latin typeface="Cambria Math"/>
                  <a:cs typeface="Cambria Math"/>
                </a:rPr>
                <a:t>𝐽</a:t>
              </a:r>
              <a:r>
                <a:rPr sz="2000" dirty="0">
                  <a:latin typeface="Cambria Math"/>
                  <a:cs typeface="Cambria Math"/>
                </a:rPr>
                <a:t> </a:t>
              </a:r>
              <a:r>
                <a:rPr sz="2000" spc="-5" dirty="0">
                  <a:latin typeface="Cambria Math"/>
                  <a:cs typeface="Cambria Math"/>
                </a:rPr>
                <a:t> </a:t>
              </a:r>
              <a:r>
                <a:rPr sz="2000" spc="105" dirty="0">
                  <a:latin typeface="Cambria Math"/>
                  <a:cs typeface="Cambria Math"/>
                </a:rPr>
                <a:t>𝑤</a:t>
              </a:r>
              <a:r>
                <a:rPr sz="2000" spc="5" dirty="0">
                  <a:latin typeface="Cambria Math"/>
                  <a:cs typeface="Cambria Math"/>
                </a:rPr>
                <a:t>,</a:t>
              </a:r>
              <a:r>
                <a:rPr sz="2000" spc="-105" dirty="0">
                  <a:latin typeface="Cambria Math"/>
                  <a:cs typeface="Cambria Math"/>
                </a:rPr>
                <a:t> </a:t>
              </a:r>
              <a:r>
                <a:rPr sz="2000" spc="31" dirty="0">
                  <a:latin typeface="Cambria Math"/>
                  <a:cs typeface="Cambria Math"/>
                </a:rPr>
                <a:t>𝑏</a:t>
              </a:r>
              <a:endParaRPr sz="2000" dirty="0">
                <a:latin typeface="Cambria Math"/>
                <a:cs typeface="Cambria Math"/>
              </a:endParaRPr>
            </a:p>
          </p:txBody>
        </p:sp>
        <p:sp>
          <p:nvSpPr>
            <p:cNvPr id="35" name="Curved Right Arrow 34">
              <a:extLst>
                <a:ext uri="{FF2B5EF4-FFF2-40B4-BE49-F238E27FC236}">
                  <a16:creationId xmlns:a16="http://schemas.microsoft.com/office/drawing/2014/main" id="{2BE1B796-30AC-89F0-E617-D7CD2CB1D1AD}"/>
                </a:ext>
              </a:extLst>
            </p:cNvPr>
            <p:cNvSpPr/>
            <p:nvPr/>
          </p:nvSpPr>
          <p:spPr>
            <a:xfrm rot="5400000" flipH="1">
              <a:off x="1090854" y="1968535"/>
              <a:ext cx="315741" cy="10668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solidFill>
                  <a:schemeClr val="tx1"/>
                </a:solidFill>
              </a:endParaRPr>
            </a:p>
          </p:txBody>
        </p:sp>
        <p:grpSp>
          <p:nvGrpSpPr>
            <p:cNvPr id="64" name="Group 63">
              <a:extLst>
                <a:ext uri="{FF2B5EF4-FFF2-40B4-BE49-F238E27FC236}">
                  <a16:creationId xmlns:a16="http://schemas.microsoft.com/office/drawing/2014/main" id="{3C9A7E87-0AD9-26B2-1182-F13AF3B88787}"/>
                </a:ext>
              </a:extLst>
            </p:cNvPr>
            <p:cNvGrpSpPr/>
            <p:nvPr/>
          </p:nvGrpSpPr>
          <p:grpSpPr>
            <a:xfrm>
              <a:off x="499038" y="2682574"/>
              <a:ext cx="2744218" cy="2079239"/>
              <a:chOff x="547370" y="2670881"/>
              <a:chExt cx="2744218" cy="2079239"/>
            </a:xfrm>
          </p:grpSpPr>
          <p:sp>
            <p:nvSpPr>
              <p:cNvPr id="8" name="object 8"/>
              <p:cNvSpPr/>
              <p:nvPr/>
            </p:nvSpPr>
            <p:spPr>
              <a:xfrm>
                <a:off x="2226311" y="3655440"/>
                <a:ext cx="285751" cy="19051"/>
              </a:xfrm>
              <a:custGeom>
                <a:avLst/>
                <a:gdLst/>
                <a:ahLst/>
                <a:cxnLst/>
                <a:rect l="l" t="t" r="r" b="b"/>
                <a:pathLst>
                  <a:path w="285750" h="19050">
                    <a:moveTo>
                      <a:pt x="285750" y="0"/>
                    </a:moveTo>
                    <a:lnTo>
                      <a:pt x="0" y="0"/>
                    </a:lnTo>
                    <a:lnTo>
                      <a:pt x="0" y="19050"/>
                    </a:lnTo>
                    <a:lnTo>
                      <a:pt x="285750" y="19050"/>
                    </a:lnTo>
                    <a:lnTo>
                      <a:pt x="285750" y="0"/>
                    </a:lnTo>
                    <a:close/>
                  </a:path>
                </a:pathLst>
              </a:custGeom>
              <a:solidFill>
                <a:srgbClr val="000000"/>
              </a:solidFill>
            </p:spPr>
            <p:txBody>
              <a:bodyPr wrap="square" lIns="0" tIns="0" rIns="0" bIns="0" rtlCol="0"/>
              <a:lstStyle/>
              <a:p>
                <a:endParaRPr/>
              </a:p>
            </p:txBody>
          </p:sp>
          <p:sp>
            <p:nvSpPr>
              <p:cNvPr id="9" name="object 9"/>
              <p:cNvSpPr txBox="1"/>
              <p:nvPr/>
            </p:nvSpPr>
            <p:spPr>
              <a:xfrm>
                <a:off x="2215896" y="3649663"/>
                <a:ext cx="307340" cy="323807"/>
              </a:xfrm>
              <a:prstGeom prst="rect">
                <a:avLst/>
              </a:prstGeom>
            </p:spPr>
            <p:txBody>
              <a:bodyPr vert="horz" wrap="square" lIns="0" tIns="15875" rIns="0" bIns="0" rtlCol="0">
                <a:spAutoFit/>
              </a:bodyPr>
              <a:lstStyle/>
              <a:p>
                <a:pPr marL="12700">
                  <a:spcBef>
                    <a:spcPts val="125"/>
                  </a:spcBef>
                </a:pPr>
                <a:r>
                  <a:rPr sz="2000" spc="31" dirty="0">
                    <a:latin typeface="Cambria Math"/>
                    <a:cs typeface="Cambria Math"/>
                  </a:rPr>
                  <a:t>∂</a:t>
                </a:r>
                <a:r>
                  <a:rPr sz="2000" spc="25" dirty="0">
                    <a:latin typeface="Cambria Math"/>
                    <a:cs typeface="Cambria Math"/>
                  </a:rPr>
                  <a:t>𝑏</a:t>
                </a:r>
                <a:endParaRPr sz="2000">
                  <a:latin typeface="Cambria Math"/>
                  <a:cs typeface="Cambria Math"/>
                </a:endParaRPr>
              </a:p>
            </p:txBody>
          </p:sp>
          <p:sp>
            <p:nvSpPr>
              <p:cNvPr id="10" name="object 10"/>
              <p:cNvSpPr/>
              <p:nvPr/>
            </p:nvSpPr>
            <p:spPr>
              <a:xfrm>
                <a:off x="2677543" y="3550159"/>
                <a:ext cx="614045" cy="238760"/>
              </a:xfrm>
              <a:custGeom>
                <a:avLst/>
                <a:gdLst/>
                <a:ahLst/>
                <a:cxnLst/>
                <a:rect l="l" t="t" r="r" b="b"/>
                <a:pathLst>
                  <a:path w="614045" h="238760">
                    <a:moveTo>
                      <a:pt x="537971" y="0"/>
                    </a:moveTo>
                    <a:lnTo>
                      <a:pt x="534669" y="9651"/>
                    </a:lnTo>
                    <a:lnTo>
                      <a:pt x="548459" y="15652"/>
                    </a:lnTo>
                    <a:lnTo>
                      <a:pt x="560308" y="23939"/>
                    </a:lnTo>
                    <a:lnTo>
                      <a:pt x="584378" y="62349"/>
                    </a:lnTo>
                    <a:lnTo>
                      <a:pt x="592200" y="117855"/>
                    </a:lnTo>
                    <a:lnTo>
                      <a:pt x="591319" y="138884"/>
                    </a:lnTo>
                    <a:lnTo>
                      <a:pt x="578104" y="190372"/>
                    </a:lnTo>
                    <a:lnTo>
                      <a:pt x="548600" y="222573"/>
                    </a:lnTo>
                    <a:lnTo>
                      <a:pt x="535051" y="228599"/>
                    </a:lnTo>
                    <a:lnTo>
                      <a:pt x="537971" y="238251"/>
                    </a:lnTo>
                    <a:lnTo>
                      <a:pt x="583477" y="211195"/>
                    </a:lnTo>
                    <a:lnTo>
                      <a:pt x="609107" y="161242"/>
                    </a:lnTo>
                    <a:lnTo>
                      <a:pt x="614044" y="119125"/>
                    </a:lnTo>
                    <a:lnTo>
                      <a:pt x="612808" y="97289"/>
                    </a:lnTo>
                    <a:lnTo>
                      <a:pt x="602954" y="58618"/>
                    </a:lnTo>
                    <a:lnTo>
                      <a:pt x="570452" y="15271"/>
                    </a:lnTo>
                    <a:lnTo>
                      <a:pt x="555283" y="6242"/>
                    </a:lnTo>
                    <a:lnTo>
                      <a:pt x="537971" y="0"/>
                    </a:lnTo>
                    <a:close/>
                  </a:path>
                  <a:path w="614045" h="238760">
                    <a:moveTo>
                      <a:pt x="75945" y="0"/>
                    </a:moveTo>
                    <a:lnTo>
                      <a:pt x="30565" y="27110"/>
                    </a:lnTo>
                    <a:lnTo>
                      <a:pt x="4937" y="77120"/>
                    </a:lnTo>
                    <a:lnTo>
                      <a:pt x="0" y="119125"/>
                    </a:lnTo>
                    <a:lnTo>
                      <a:pt x="1216" y="141035"/>
                    </a:lnTo>
                    <a:lnTo>
                      <a:pt x="10983" y="179758"/>
                    </a:lnTo>
                    <a:lnTo>
                      <a:pt x="43465" y="222996"/>
                    </a:lnTo>
                    <a:lnTo>
                      <a:pt x="75945" y="238251"/>
                    </a:lnTo>
                    <a:lnTo>
                      <a:pt x="78993" y="228599"/>
                    </a:lnTo>
                    <a:lnTo>
                      <a:pt x="65424" y="222573"/>
                    </a:lnTo>
                    <a:lnTo>
                      <a:pt x="53689" y="214201"/>
                    </a:lnTo>
                    <a:lnTo>
                      <a:pt x="29646" y="175131"/>
                    </a:lnTo>
                    <a:lnTo>
                      <a:pt x="21716" y="117855"/>
                    </a:lnTo>
                    <a:lnTo>
                      <a:pt x="22598" y="97591"/>
                    </a:lnTo>
                    <a:lnTo>
                      <a:pt x="35813" y="47370"/>
                    </a:lnTo>
                    <a:lnTo>
                      <a:pt x="65639" y="15652"/>
                    </a:lnTo>
                    <a:lnTo>
                      <a:pt x="79375" y="9651"/>
                    </a:lnTo>
                    <a:lnTo>
                      <a:pt x="75945" y="0"/>
                    </a:lnTo>
                    <a:close/>
                  </a:path>
                </a:pathLst>
              </a:custGeom>
              <a:solidFill>
                <a:srgbClr val="000000"/>
              </a:solidFill>
            </p:spPr>
            <p:txBody>
              <a:bodyPr wrap="square" lIns="0" tIns="0" rIns="0" bIns="0" rtlCol="0"/>
              <a:lstStyle/>
              <a:p>
                <a:endParaRPr/>
              </a:p>
            </p:txBody>
          </p:sp>
          <p:sp>
            <p:nvSpPr>
              <p:cNvPr id="11" name="object 11"/>
              <p:cNvSpPr txBox="1"/>
              <p:nvPr/>
            </p:nvSpPr>
            <p:spPr>
              <a:xfrm>
                <a:off x="547370" y="3287080"/>
                <a:ext cx="2662555" cy="533223"/>
              </a:xfrm>
              <a:prstGeom prst="rect">
                <a:avLst/>
              </a:prstGeom>
            </p:spPr>
            <p:txBody>
              <a:bodyPr vert="horz" wrap="square" lIns="0" tIns="15875" rIns="0" bIns="0" rtlCol="0">
                <a:spAutoFit/>
              </a:bodyPr>
              <a:lstStyle/>
              <a:p>
                <a:pPr marL="1748067">
                  <a:lnSpc>
                    <a:spcPts val="1951"/>
                  </a:lnSpc>
                  <a:spcBef>
                    <a:spcPts val="125"/>
                  </a:spcBef>
                </a:pPr>
                <a:r>
                  <a:rPr sz="2000" spc="35" dirty="0">
                    <a:latin typeface="Cambria Math"/>
                    <a:cs typeface="Cambria Math"/>
                  </a:rPr>
                  <a:t>∂</a:t>
                </a:r>
                <a:endParaRPr sz="2000" dirty="0">
                  <a:latin typeface="Cambria Math"/>
                  <a:cs typeface="Cambria Math"/>
                </a:endParaRPr>
              </a:p>
              <a:p>
                <a:pPr marL="12700">
                  <a:lnSpc>
                    <a:spcPts val="1951"/>
                  </a:lnSpc>
                  <a:tabLst>
                    <a:tab pos="2014120" algn="l"/>
                  </a:tabLst>
                </a:pPr>
                <a:r>
                  <a:rPr sz="2000" spc="35" dirty="0">
                    <a:solidFill>
                      <a:srgbClr val="0096FF"/>
                    </a:solidFill>
                    <a:latin typeface="Cambria Math"/>
                    <a:cs typeface="Cambria Math"/>
                  </a:rPr>
                  <a:t>𝑡</a:t>
                </a:r>
                <a:r>
                  <a:rPr sz="2000" spc="40" dirty="0">
                    <a:solidFill>
                      <a:srgbClr val="0096FF"/>
                    </a:solidFill>
                    <a:latin typeface="Cambria Math"/>
                    <a:cs typeface="Cambria Math"/>
                  </a:rPr>
                  <a:t>𝑚</a:t>
                </a:r>
                <a:r>
                  <a:rPr sz="2000" spc="20" dirty="0">
                    <a:solidFill>
                      <a:srgbClr val="0096FF"/>
                    </a:solidFill>
                    <a:latin typeface="Cambria Math"/>
                    <a:cs typeface="Cambria Math"/>
                  </a:rPr>
                  <a:t>𝑝</a:t>
                </a:r>
                <a:r>
                  <a:rPr sz="2000" spc="11" dirty="0">
                    <a:solidFill>
                      <a:srgbClr val="0096FF"/>
                    </a:solidFill>
                    <a:latin typeface="Cambria Math"/>
                    <a:cs typeface="Cambria Math"/>
                  </a:rPr>
                  <a:t>_b</a:t>
                </a:r>
                <a:r>
                  <a:rPr sz="2000" spc="20" dirty="0">
                    <a:solidFill>
                      <a:srgbClr val="0096FF"/>
                    </a:solidFill>
                    <a:latin typeface="Cambria Math"/>
                    <a:cs typeface="Cambria Math"/>
                  </a:rPr>
                  <a:t> =</a:t>
                </a:r>
                <a:r>
                  <a:rPr sz="2000" spc="71" dirty="0">
                    <a:solidFill>
                      <a:srgbClr val="0096FF"/>
                    </a:solidFill>
                    <a:latin typeface="Cambria Math"/>
                    <a:cs typeface="Cambria Math"/>
                  </a:rPr>
                  <a:t> </a:t>
                </a:r>
                <a:r>
                  <a:rPr sz="2000" spc="25" dirty="0">
                    <a:latin typeface="Cambria Math"/>
                    <a:cs typeface="Cambria Math"/>
                  </a:rPr>
                  <a:t>𝑏</a:t>
                </a:r>
                <a:r>
                  <a:rPr sz="2000" spc="40" dirty="0">
                    <a:latin typeface="Cambria Math"/>
                    <a:cs typeface="Cambria Math"/>
                  </a:rPr>
                  <a:t> </a:t>
                </a:r>
                <a:r>
                  <a:rPr sz="2000" spc="20" dirty="0">
                    <a:latin typeface="Cambria Math"/>
                    <a:cs typeface="Cambria Math"/>
                  </a:rPr>
                  <a:t>−</a:t>
                </a:r>
                <a:r>
                  <a:rPr sz="2000" spc="-5" dirty="0">
                    <a:latin typeface="Cambria Math"/>
                    <a:cs typeface="Cambria Math"/>
                  </a:rPr>
                  <a:t> </a:t>
                </a:r>
                <a:r>
                  <a:rPr sz="2000" spc="25" dirty="0">
                    <a:latin typeface="Cambria Math"/>
                    <a:cs typeface="Cambria Math"/>
                  </a:rPr>
                  <a:t>𝛼</a:t>
                </a:r>
                <a:r>
                  <a:rPr sz="2000" dirty="0">
                    <a:latin typeface="Cambria Math"/>
                    <a:cs typeface="Cambria Math"/>
                  </a:rPr>
                  <a:t>	</a:t>
                </a:r>
                <a:r>
                  <a:rPr sz="2000" spc="25" dirty="0">
                    <a:latin typeface="Cambria Math"/>
                    <a:cs typeface="Cambria Math"/>
                  </a:rPr>
                  <a:t>𝐽</a:t>
                </a:r>
                <a:r>
                  <a:rPr sz="2000" dirty="0">
                    <a:latin typeface="Cambria Math"/>
                    <a:cs typeface="Cambria Math"/>
                  </a:rPr>
                  <a:t> </a:t>
                </a:r>
                <a:r>
                  <a:rPr sz="2000" spc="-80" dirty="0">
                    <a:latin typeface="Cambria Math"/>
                    <a:cs typeface="Cambria Math"/>
                  </a:rPr>
                  <a:t> </a:t>
                </a:r>
                <a:r>
                  <a:rPr sz="2000" spc="100" dirty="0">
                    <a:latin typeface="Cambria Math"/>
                    <a:cs typeface="Cambria Math"/>
                  </a:rPr>
                  <a:t>𝑤</a:t>
                </a:r>
                <a:r>
                  <a:rPr sz="2000" spc="5" dirty="0">
                    <a:latin typeface="Cambria Math"/>
                    <a:cs typeface="Cambria Math"/>
                  </a:rPr>
                  <a:t>,</a:t>
                </a:r>
                <a:r>
                  <a:rPr sz="2000" spc="-111" dirty="0">
                    <a:latin typeface="Cambria Math"/>
                    <a:cs typeface="Cambria Math"/>
                  </a:rPr>
                  <a:t> </a:t>
                </a:r>
                <a:r>
                  <a:rPr sz="2000" spc="25" dirty="0">
                    <a:latin typeface="Cambria Math"/>
                    <a:cs typeface="Cambria Math"/>
                  </a:rPr>
                  <a:t>𝑏</a:t>
                </a:r>
                <a:endParaRPr sz="2000" dirty="0">
                  <a:latin typeface="Cambria Math"/>
                  <a:cs typeface="Cambria Math"/>
                </a:endParaRPr>
              </a:p>
            </p:txBody>
          </p:sp>
          <p:sp>
            <p:nvSpPr>
              <p:cNvPr id="12" name="object 12"/>
              <p:cNvSpPr txBox="1"/>
              <p:nvPr/>
            </p:nvSpPr>
            <p:spPr>
              <a:xfrm>
                <a:off x="567688" y="4051210"/>
                <a:ext cx="1303020" cy="698910"/>
              </a:xfrm>
              <a:prstGeom prst="rect">
                <a:avLst/>
              </a:prstGeom>
            </p:spPr>
            <p:txBody>
              <a:bodyPr vert="horz" wrap="square" lIns="0" tIns="44451" rIns="0" bIns="0" rtlCol="0">
                <a:spAutoFit/>
              </a:bodyPr>
              <a:lstStyle/>
              <a:p>
                <a:pPr marL="12700">
                  <a:spcBef>
                    <a:spcPts val="351"/>
                  </a:spcBef>
                </a:pPr>
                <a:r>
                  <a:rPr sz="2000" spc="20" dirty="0">
                    <a:solidFill>
                      <a:srgbClr val="0096FF"/>
                    </a:solidFill>
                    <a:latin typeface="Cambria Math"/>
                    <a:cs typeface="Cambria Math"/>
                  </a:rPr>
                  <a:t>𝑤</a:t>
                </a:r>
                <a:r>
                  <a:rPr sz="2000" spc="115" dirty="0">
                    <a:solidFill>
                      <a:srgbClr val="0096FF"/>
                    </a:solidFill>
                    <a:latin typeface="Cambria Math"/>
                    <a:cs typeface="Cambria Math"/>
                  </a:rPr>
                  <a:t> </a:t>
                </a:r>
                <a:r>
                  <a:rPr sz="2000" spc="20" dirty="0">
                    <a:solidFill>
                      <a:srgbClr val="0096FF"/>
                    </a:solidFill>
                    <a:latin typeface="Cambria Math"/>
                    <a:cs typeface="Cambria Math"/>
                  </a:rPr>
                  <a:t>=</a:t>
                </a:r>
                <a:r>
                  <a:rPr sz="2000" spc="35" dirty="0">
                    <a:solidFill>
                      <a:srgbClr val="0096FF"/>
                    </a:solidFill>
                    <a:latin typeface="Cambria Math"/>
                    <a:cs typeface="Cambria Math"/>
                  </a:rPr>
                  <a:t> </a:t>
                </a:r>
                <a:r>
                  <a:rPr sz="2000" spc="15" dirty="0">
                    <a:latin typeface="Cambria Math"/>
                    <a:cs typeface="Cambria Math"/>
                  </a:rPr>
                  <a:t>𝑡𝑚𝑝_𝑤</a:t>
                </a:r>
                <a:endParaRPr sz="2000" dirty="0">
                  <a:latin typeface="Cambria Math"/>
                  <a:cs typeface="Cambria Math"/>
                </a:endParaRPr>
              </a:p>
              <a:p>
                <a:pPr marL="21590">
                  <a:spcBef>
                    <a:spcPts val="259"/>
                  </a:spcBef>
                </a:pPr>
                <a:r>
                  <a:rPr sz="2000" spc="15" dirty="0">
                    <a:solidFill>
                      <a:srgbClr val="0096FF"/>
                    </a:solidFill>
                    <a:latin typeface="Cambria Math"/>
                    <a:cs typeface="Cambria Math"/>
                  </a:rPr>
                  <a:t>𝑏</a:t>
                </a:r>
                <a:r>
                  <a:rPr sz="2000" spc="91" dirty="0">
                    <a:solidFill>
                      <a:srgbClr val="0096FF"/>
                    </a:solidFill>
                    <a:latin typeface="Cambria Math"/>
                    <a:cs typeface="Cambria Math"/>
                  </a:rPr>
                  <a:t> </a:t>
                </a:r>
                <a:r>
                  <a:rPr sz="2000" spc="20" dirty="0">
                    <a:solidFill>
                      <a:srgbClr val="0096FF"/>
                    </a:solidFill>
                    <a:latin typeface="Cambria Math"/>
                    <a:cs typeface="Cambria Math"/>
                  </a:rPr>
                  <a:t>=</a:t>
                </a:r>
                <a:r>
                  <a:rPr sz="2000" spc="120" dirty="0">
                    <a:solidFill>
                      <a:srgbClr val="0096FF"/>
                    </a:solidFill>
                    <a:latin typeface="Cambria Math"/>
                    <a:cs typeface="Cambria Math"/>
                  </a:rPr>
                  <a:t> </a:t>
                </a:r>
                <a:r>
                  <a:rPr sz="2000" dirty="0">
                    <a:latin typeface="Cambria Math"/>
                    <a:cs typeface="Cambria Math"/>
                  </a:rPr>
                  <a:t>𝑡𝑚𝑝_𝑏</a:t>
                </a:r>
              </a:p>
            </p:txBody>
          </p:sp>
          <p:pic>
            <p:nvPicPr>
              <p:cNvPr id="36" name="object 36"/>
              <p:cNvPicPr/>
              <p:nvPr/>
            </p:nvPicPr>
            <p:blipFill>
              <a:blip r:embed="rId2" cstate="print"/>
              <a:stretch>
                <a:fillRect/>
              </a:stretch>
            </p:blipFill>
            <p:spPr>
              <a:xfrm>
                <a:off x="1489776" y="2832517"/>
                <a:ext cx="1494789" cy="965199"/>
              </a:xfrm>
              <a:prstGeom prst="rect">
                <a:avLst/>
              </a:prstGeom>
            </p:spPr>
          </p:pic>
          <p:sp>
            <p:nvSpPr>
              <p:cNvPr id="63" name="TextBox 62">
                <a:extLst>
                  <a:ext uri="{FF2B5EF4-FFF2-40B4-BE49-F238E27FC236}">
                    <a16:creationId xmlns:a16="http://schemas.microsoft.com/office/drawing/2014/main" id="{FABDFCE4-0EEA-8217-59E0-023A31C5120B}"/>
                  </a:ext>
                </a:extLst>
              </p:cNvPr>
              <p:cNvSpPr txBox="1"/>
              <p:nvPr/>
            </p:nvSpPr>
            <p:spPr>
              <a:xfrm>
                <a:off x="2212342" y="2670881"/>
                <a:ext cx="530915" cy="369332"/>
              </a:xfrm>
              <a:prstGeom prst="rect">
                <a:avLst/>
              </a:prstGeom>
              <a:noFill/>
            </p:spPr>
            <p:txBody>
              <a:bodyPr wrap="none" rtlCol="0">
                <a:spAutoFit/>
              </a:bodyPr>
              <a:lstStyle/>
              <a:p>
                <a:r>
                  <a:rPr lang="en-PS" dirty="0"/>
                  <a:t>___</a:t>
                </a:r>
              </a:p>
            </p:txBody>
          </p:sp>
        </p:grpSp>
      </p:grpSp>
      <p:pic>
        <p:nvPicPr>
          <p:cNvPr id="82" name="Picture 81">
            <a:extLst>
              <a:ext uri="{FF2B5EF4-FFF2-40B4-BE49-F238E27FC236}">
                <a16:creationId xmlns:a16="http://schemas.microsoft.com/office/drawing/2014/main" id="{68BC0F77-41DA-5FBD-64F2-5755B3AD6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842771"/>
            <a:ext cx="2640735" cy="609600"/>
          </a:xfrm>
          <a:prstGeom prst="rect">
            <a:avLst/>
          </a:prstGeom>
        </p:spPr>
      </p:pic>
      <p:pic>
        <p:nvPicPr>
          <p:cNvPr id="84" name="Picture 83">
            <a:extLst>
              <a:ext uri="{FF2B5EF4-FFF2-40B4-BE49-F238E27FC236}">
                <a16:creationId xmlns:a16="http://schemas.microsoft.com/office/drawing/2014/main" id="{579A5A7C-8F01-1E61-2177-D6F9235F68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324" y="1846457"/>
            <a:ext cx="2489200" cy="533400"/>
          </a:xfrm>
          <a:prstGeom prst="rect">
            <a:avLst/>
          </a:prstGeom>
        </p:spPr>
      </p:pic>
      <p:sp>
        <p:nvSpPr>
          <p:cNvPr id="4" name="object 10">
            <a:extLst>
              <a:ext uri="{FF2B5EF4-FFF2-40B4-BE49-F238E27FC236}">
                <a16:creationId xmlns:a16="http://schemas.microsoft.com/office/drawing/2014/main" id="{337084E7-E64A-DA3D-D3BC-65C4A4D81D9E}"/>
              </a:ext>
            </a:extLst>
          </p:cNvPr>
          <p:cNvSpPr/>
          <p:nvPr/>
        </p:nvSpPr>
        <p:spPr>
          <a:xfrm>
            <a:off x="2732931" y="2919992"/>
            <a:ext cx="614045" cy="238760"/>
          </a:xfrm>
          <a:custGeom>
            <a:avLst/>
            <a:gdLst/>
            <a:ahLst/>
            <a:cxnLst/>
            <a:rect l="l" t="t" r="r" b="b"/>
            <a:pathLst>
              <a:path w="614045" h="238760">
                <a:moveTo>
                  <a:pt x="537971" y="0"/>
                </a:moveTo>
                <a:lnTo>
                  <a:pt x="534669" y="9651"/>
                </a:lnTo>
                <a:lnTo>
                  <a:pt x="548459" y="15652"/>
                </a:lnTo>
                <a:lnTo>
                  <a:pt x="560308" y="23939"/>
                </a:lnTo>
                <a:lnTo>
                  <a:pt x="584378" y="62349"/>
                </a:lnTo>
                <a:lnTo>
                  <a:pt x="592200" y="117855"/>
                </a:lnTo>
                <a:lnTo>
                  <a:pt x="591319" y="138884"/>
                </a:lnTo>
                <a:lnTo>
                  <a:pt x="578104" y="190372"/>
                </a:lnTo>
                <a:lnTo>
                  <a:pt x="548600" y="222573"/>
                </a:lnTo>
                <a:lnTo>
                  <a:pt x="535051" y="228599"/>
                </a:lnTo>
                <a:lnTo>
                  <a:pt x="537971" y="238251"/>
                </a:lnTo>
                <a:lnTo>
                  <a:pt x="583477" y="211195"/>
                </a:lnTo>
                <a:lnTo>
                  <a:pt x="609107" y="161242"/>
                </a:lnTo>
                <a:lnTo>
                  <a:pt x="614044" y="119125"/>
                </a:lnTo>
                <a:lnTo>
                  <a:pt x="612808" y="97289"/>
                </a:lnTo>
                <a:lnTo>
                  <a:pt x="602954" y="58618"/>
                </a:lnTo>
                <a:lnTo>
                  <a:pt x="570452" y="15271"/>
                </a:lnTo>
                <a:lnTo>
                  <a:pt x="555283" y="6242"/>
                </a:lnTo>
                <a:lnTo>
                  <a:pt x="537971" y="0"/>
                </a:lnTo>
                <a:close/>
              </a:path>
              <a:path w="614045" h="238760">
                <a:moveTo>
                  <a:pt x="75945" y="0"/>
                </a:moveTo>
                <a:lnTo>
                  <a:pt x="30565" y="27110"/>
                </a:lnTo>
                <a:lnTo>
                  <a:pt x="4937" y="77120"/>
                </a:lnTo>
                <a:lnTo>
                  <a:pt x="0" y="119125"/>
                </a:lnTo>
                <a:lnTo>
                  <a:pt x="1216" y="141035"/>
                </a:lnTo>
                <a:lnTo>
                  <a:pt x="10983" y="179758"/>
                </a:lnTo>
                <a:lnTo>
                  <a:pt x="43465" y="222996"/>
                </a:lnTo>
                <a:lnTo>
                  <a:pt x="75945" y="238251"/>
                </a:lnTo>
                <a:lnTo>
                  <a:pt x="78993" y="228599"/>
                </a:lnTo>
                <a:lnTo>
                  <a:pt x="65424" y="222573"/>
                </a:lnTo>
                <a:lnTo>
                  <a:pt x="53689" y="214201"/>
                </a:lnTo>
                <a:lnTo>
                  <a:pt x="29646" y="175131"/>
                </a:lnTo>
                <a:lnTo>
                  <a:pt x="21716" y="117855"/>
                </a:lnTo>
                <a:lnTo>
                  <a:pt x="22598" y="97591"/>
                </a:lnTo>
                <a:lnTo>
                  <a:pt x="35813" y="47370"/>
                </a:lnTo>
                <a:lnTo>
                  <a:pt x="65639" y="15652"/>
                </a:lnTo>
                <a:lnTo>
                  <a:pt x="79375" y="9651"/>
                </a:lnTo>
                <a:lnTo>
                  <a:pt x="75945"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10209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5DD85-DEEC-8A7E-7F76-463B0962227A}"/>
              </a:ext>
            </a:extLst>
          </p:cNvPr>
          <p:cNvSpPr>
            <a:spLocks noGrp="1"/>
          </p:cNvSpPr>
          <p:nvPr>
            <p:ph type="title"/>
          </p:nvPr>
        </p:nvSpPr>
        <p:spPr>
          <a:xfrm>
            <a:off x="621030" y="143231"/>
            <a:ext cx="7886700" cy="621506"/>
          </a:xfrm>
        </p:spPr>
        <p:txBody>
          <a:bodyPr/>
          <a:lstStyle/>
          <a:p>
            <a:r>
              <a:rPr lang="en-PS" dirty="0">
                <a:solidFill>
                  <a:srgbClr val="0432FF"/>
                </a:solidFill>
              </a:rPr>
              <a:t>What do we conclude ... </a:t>
            </a:r>
          </a:p>
        </p:txBody>
      </p:sp>
      <p:sp>
        <p:nvSpPr>
          <p:cNvPr id="3" name="Content Placeholder 2">
            <a:extLst>
              <a:ext uri="{FF2B5EF4-FFF2-40B4-BE49-F238E27FC236}">
                <a16:creationId xmlns:a16="http://schemas.microsoft.com/office/drawing/2014/main" id="{481C7A09-76D7-3F83-0961-7CB6F0BCF9D8}"/>
              </a:ext>
            </a:extLst>
          </p:cNvPr>
          <p:cNvSpPr>
            <a:spLocks noGrp="1"/>
          </p:cNvSpPr>
          <p:nvPr>
            <p:ph idx="1"/>
          </p:nvPr>
        </p:nvSpPr>
        <p:spPr>
          <a:xfrm>
            <a:off x="621030" y="939998"/>
            <a:ext cx="7886700" cy="3917752"/>
          </a:xfrm>
        </p:spPr>
        <p:txBody>
          <a:bodyPr>
            <a:normAutofit/>
          </a:bodyPr>
          <a:lstStyle/>
          <a:p>
            <a:pPr marL="0" indent="0" algn="l">
              <a:buNone/>
            </a:pPr>
            <a:r>
              <a:rPr lang="en-US" sz="2000" b="0" i="0" dirty="0">
                <a:effectLst/>
                <a:latin typeface="+mj-lt"/>
                <a:cs typeface="Times New Roman" panose="02020603050405020304" pitchFamily="18" charset="0"/>
              </a:rPr>
              <a:t>What are w and b?</a:t>
            </a:r>
          </a:p>
          <a:p>
            <a:pPr algn="l">
              <a:buFont typeface="Arial" panose="020B0604020202020204" pitchFamily="34" charset="0"/>
              <a:buChar char="•"/>
            </a:pPr>
            <a:r>
              <a:rPr lang="en-US" sz="2000" b="0" i="0" dirty="0">
                <a:effectLst/>
                <a:latin typeface="+mj-lt"/>
                <a:cs typeface="Times New Roman" panose="02020603050405020304" pitchFamily="18" charset="0"/>
              </a:rPr>
              <a:t>w (weight): Represents the slope of the line in linear regression. It indicates how much the predicted value changes as the input value changes.</a:t>
            </a:r>
          </a:p>
          <a:p>
            <a:pPr algn="l">
              <a:buFont typeface="Arial" panose="020B0604020202020204" pitchFamily="34" charset="0"/>
              <a:buChar char="•"/>
            </a:pPr>
            <a:r>
              <a:rPr lang="en-US" sz="2000" b="0" i="0" dirty="0">
                <a:effectLst/>
                <a:latin typeface="+mj-lt"/>
                <a:cs typeface="Times New Roman" panose="02020603050405020304" pitchFamily="18" charset="0"/>
              </a:rPr>
              <a:t>b (bias): Represents the intercept of the line in linear regression. It indicates the predicted value when the input value is zero.</a:t>
            </a:r>
          </a:p>
          <a:p>
            <a:pPr marL="0" indent="0" algn="l">
              <a:buNone/>
            </a:pPr>
            <a:r>
              <a:rPr lang="en-US" sz="2000" b="0" i="0" dirty="0">
                <a:effectLst/>
                <a:latin typeface="+mj-lt"/>
                <a:cs typeface="Times New Roman" panose="02020603050405020304" pitchFamily="18" charset="0"/>
              </a:rPr>
              <a:t>What are the update equations?</a:t>
            </a:r>
          </a:p>
          <a:p>
            <a:pPr algn="l">
              <a:buFont typeface="Arial" panose="020B0604020202020204" pitchFamily="34" charset="0"/>
              <a:buChar char="•"/>
            </a:pPr>
            <a:r>
              <a:rPr lang="en-US" sz="2000" b="0" i="0" dirty="0">
                <a:effectLst/>
                <a:latin typeface="+mj-lt"/>
                <a:cs typeface="Times New Roman" panose="02020603050405020304" pitchFamily="18" charset="0"/>
              </a:rPr>
              <a:t>w = w - </a:t>
            </a:r>
            <a:r>
              <a:rPr lang="el-GR" sz="2000" b="0" i="0" dirty="0">
                <a:effectLst/>
                <a:latin typeface="+mj-lt"/>
                <a:cs typeface="Times New Roman" panose="02020603050405020304" pitchFamily="18" charset="0"/>
              </a:rPr>
              <a:t>α * ∂</a:t>
            </a:r>
            <a:r>
              <a:rPr lang="en-US" sz="2000" b="0" i="0" dirty="0">
                <a:effectLst/>
                <a:latin typeface="+mj-lt"/>
                <a:cs typeface="Times New Roman" panose="02020603050405020304" pitchFamily="18" charset="0"/>
              </a:rPr>
              <a:t>E/∂w: This equation updates the weight (w) based on the partial derivative of the loss function (∂E/∂w) and the learning rate (</a:t>
            </a:r>
            <a:r>
              <a:rPr lang="el-GR" sz="2000" b="0" i="0" dirty="0">
                <a:effectLst/>
                <a:latin typeface="+mj-lt"/>
                <a:cs typeface="Times New Roman" panose="02020603050405020304" pitchFamily="18" charset="0"/>
              </a:rPr>
              <a:t>α).</a:t>
            </a:r>
          </a:p>
          <a:p>
            <a:pPr algn="l">
              <a:buFont typeface="Arial" panose="020B0604020202020204" pitchFamily="34" charset="0"/>
              <a:buChar char="•"/>
            </a:pPr>
            <a:r>
              <a:rPr lang="en-US" sz="2000" b="0" i="0" dirty="0">
                <a:effectLst/>
                <a:latin typeface="+mj-lt"/>
                <a:cs typeface="Times New Roman" panose="02020603050405020304" pitchFamily="18" charset="0"/>
              </a:rPr>
              <a:t>b = b - </a:t>
            </a:r>
            <a:r>
              <a:rPr lang="el-GR" sz="2000" b="0" i="0" dirty="0">
                <a:effectLst/>
                <a:latin typeface="+mj-lt"/>
                <a:cs typeface="Times New Roman" panose="02020603050405020304" pitchFamily="18" charset="0"/>
              </a:rPr>
              <a:t>α * ∂</a:t>
            </a:r>
            <a:r>
              <a:rPr lang="en-US" sz="2000" b="0" i="0" dirty="0">
                <a:effectLst/>
                <a:latin typeface="+mj-lt"/>
                <a:cs typeface="Times New Roman" panose="02020603050405020304" pitchFamily="18" charset="0"/>
              </a:rPr>
              <a:t>E/∂b: This equation updates the bias (b) based on the partial derivative of the loss function (∂E/∂b) and the learning rate (</a:t>
            </a:r>
            <a:r>
              <a:rPr lang="el-GR" sz="2000" b="0" i="0" dirty="0">
                <a:effectLst/>
                <a:latin typeface="+mj-lt"/>
                <a:cs typeface="Times New Roman" panose="02020603050405020304" pitchFamily="18" charset="0"/>
              </a:rPr>
              <a:t>α).</a:t>
            </a:r>
            <a:br>
              <a:rPr lang="el-GR" sz="2000" dirty="0">
                <a:latin typeface="+mj-lt"/>
                <a:cs typeface="Times New Roman" panose="02020603050405020304" pitchFamily="18" charset="0"/>
              </a:rPr>
            </a:br>
            <a:endParaRPr lang="en-PS" sz="20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6BD3ECB9-741C-7AEE-E992-AF2D9C3BADE1}"/>
              </a:ext>
            </a:extLst>
          </p:cNvPr>
          <p:cNvSpPr>
            <a:spLocks noGrp="1"/>
          </p:cNvSpPr>
          <p:nvPr>
            <p:ph type="sldNum" sz="quarter" idx="12"/>
          </p:nvPr>
        </p:nvSpPr>
        <p:spPr/>
        <p:txBody>
          <a:bodyPr/>
          <a:lstStyle/>
          <a:p>
            <a:fld id="{B6F15528-21DE-4FAA-801E-634DDDAF4B2B}" type="slidenum">
              <a:rPr lang="en-PS" smtClean="0"/>
              <a:t>14</a:t>
            </a:fld>
            <a:endParaRPr lang="en-PS"/>
          </a:p>
        </p:txBody>
      </p:sp>
    </p:spTree>
    <p:extLst>
      <p:ext uri="{BB962C8B-B14F-4D97-AF65-F5344CB8AC3E}">
        <p14:creationId xmlns:p14="http://schemas.microsoft.com/office/powerpoint/2010/main" val="1082055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19D9D-2160-7923-1B3D-59611780F4A9}"/>
              </a:ext>
            </a:extLst>
          </p:cNvPr>
          <p:cNvSpPr>
            <a:spLocks noGrp="1"/>
          </p:cNvSpPr>
          <p:nvPr>
            <p:ph type="title"/>
          </p:nvPr>
        </p:nvSpPr>
        <p:spPr>
          <a:xfrm>
            <a:off x="628650" y="273844"/>
            <a:ext cx="7886700" cy="621506"/>
          </a:xfrm>
        </p:spPr>
        <p:txBody>
          <a:bodyPr/>
          <a:lstStyle/>
          <a:p>
            <a:r>
              <a:rPr lang="en-PS" dirty="0">
                <a:solidFill>
                  <a:srgbClr val="0432FF"/>
                </a:solidFill>
                <a:latin typeface="Gill Sans MT" panose="020B0502020104020203" pitchFamily="34" charset="77"/>
                <a:cs typeface="Times New Roman" panose="02020603050405020304" pitchFamily="18" charset="0"/>
              </a:rPr>
              <a:t>What do we conclude</a:t>
            </a:r>
          </a:p>
        </p:txBody>
      </p:sp>
      <p:sp>
        <p:nvSpPr>
          <p:cNvPr id="3" name="Content Placeholder 2">
            <a:extLst>
              <a:ext uri="{FF2B5EF4-FFF2-40B4-BE49-F238E27FC236}">
                <a16:creationId xmlns:a16="http://schemas.microsoft.com/office/drawing/2014/main" id="{0DB678DE-16D3-0A99-884A-09B56EF0BF36}"/>
              </a:ext>
            </a:extLst>
          </p:cNvPr>
          <p:cNvSpPr>
            <a:spLocks noGrp="1"/>
          </p:cNvSpPr>
          <p:nvPr>
            <p:ph idx="1"/>
          </p:nvPr>
        </p:nvSpPr>
        <p:spPr>
          <a:xfrm>
            <a:off x="628650" y="1047750"/>
            <a:ext cx="7886700" cy="3657600"/>
          </a:xfrm>
        </p:spPr>
        <p:txBody>
          <a:bodyPr>
            <a:normAutofit lnSpcReduction="10000"/>
          </a:bodyPr>
          <a:lstStyle/>
          <a:p>
            <a:pPr marL="0" indent="0" algn="l">
              <a:buNone/>
            </a:pPr>
            <a:r>
              <a:rPr lang="en-US" b="0" i="0" dirty="0">
                <a:solidFill>
                  <a:srgbClr val="0432FF"/>
                </a:solidFill>
                <a:effectLst/>
                <a:latin typeface="+mj-lt"/>
                <a:cs typeface="Times New Roman" panose="02020603050405020304" pitchFamily="18" charset="0"/>
              </a:rPr>
              <a:t>What do the partial derivatives mean?</a:t>
            </a:r>
          </a:p>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The partial derivatives (</a:t>
            </a:r>
            <a:r>
              <a:rPr lang="en-US" b="0" i="0" dirty="0">
                <a:solidFill>
                  <a:srgbClr val="0070C0"/>
                </a:solidFill>
                <a:effectLst/>
                <a:latin typeface="+mj-lt"/>
                <a:cs typeface="Times New Roman" panose="02020603050405020304" pitchFamily="18" charset="0"/>
              </a:rPr>
              <a:t>∂E/∂w and ∂E/∂b</a:t>
            </a:r>
            <a:r>
              <a:rPr lang="en-US" b="0" i="0" dirty="0">
                <a:solidFill>
                  <a:srgbClr val="1F1F1F"/>
                </a:solidFill>
                <a:effectLst/>
                <a:latin typeface="+mj-lt"/>
                <a:cs typeface="Times New Roman" panose="02020603050405020304" pitchFamily="18" charset="0"/>
              </a:rPr>
              <a:t>) indicate the direction and magnitude of the steepest descent of the loss function.</a:t>
            </a:r>
          </a:p>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In simpler terms, they tell us which way to adjust the parameters (</a:t>
            </a:r>
            <a:r>
              <a:rPr lang="en-US" b="0" i="0" dirty="0">
                <a:solidFill>
                  <a:srgbClr val="0070C0"/>
                </a:solidFill>
                <a:effectLst/>
                <a:latin typeface="+mj-lt"/>
                <a:cs typeface="Times New Roman" panose="02020603050405020304" pitchFamily="18" charset="0"/>
              </a:rPr>
              <a:t>w and b</a:t>
            </a:r>
            <a:r>
              <a:rPr lang="en-US" b="0" i="0" dirty="0">
                <a:solidFill>
                  <a:srgbClr val="1F1F1F"/>
                </a:solidFill>
                <a:effectLst/>
                <a:latin typeface="+mj-lt"/>
                <a:cs typeface="Times New Roman" panose="02020603050405020304" pitchFamily="18" charset="0"/>
              </a:rPr>
              <a:t>) to reduce the error more effectively.</a:t>
            </a:r>
          </a:p>
          <a:p>
            <a:pPr marL="0" indent="0" algn="l">
              <a:buNone/>
            </a:pPr>
            <a:r>
              <a:rPr lang="en-US" b="0" i="0" dirty="0">
                <a:solidFill>
                  <a:srgbClr val="0432FF"/>
                </a:solidFill>
                <a:effectLst/>
                <a:latin typeface="+mj-lt"/>
                <a:cs typeface="Times New Roman" panose="02020603050405020304" pitchFamily="18" charset="0"/>
              </a:rPr>
              <a:t>What does the learning rate (</a:t>
            </a:r>
            <a:r>
              <a:rPr lang="el-GR" b="0" i="0" dirty="0">
                <a:solidFill>
                  <a:srgbClr val="0432FF"/>
                </a:solidFill>
                <a:effectLst/>
                <a:latin typeface="+mj-lt"/>
                <a:cs typeface="Times New Roman" panose="02020603050405020304" pitchFamily="18" charset="0"/>
              </a:rPr>
              <a:t>α) </a:t>
            </a:r>
            <a:r>
              <a:rPr lang="en-US" b="0" i="0" dirty="0">
                <a:solidFill>
                  <a:srgbClr val="0432FF"/>
                </a:solidFill>
                <a:effectLst/>
                <a:latin typeface="+mj-lt"/>
                <a:cs typeface="Times New Roman" panose="02020603050405020304" pitchFamily="18" charset="0"/>
              </a:rPr>
              <a:t>do?</a:t>
            </a:r>
          </a:p>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The learning rate (</a:t>
            </a:r>
            <a:r>
              <a:rPr lang="el-GR" b="0" i="0" dirty="0">
                <a:solidFill>
                  <a:srgbClr val="0070C0"/>
                </a:solidFill>
                <a:effectLst/>
                <a:latin typeface="+mj-lt"/>
                <a:cs typeface="Times New Roman" panose="02020603050405020304" pitchFamily="18" charset="0"/>
              </a:rPr>
              <a:t>α</a:t>
            </a:r>
            <a:r>
              <a:rPr lang="el-GR" b="0" i="0" dirty="0">
                <a:solidFill>
                  <a:srgbClr val="1F1F1F"/>
                </a:solidFill>
                <a:effectLst/>
                <a:latin typeface="+mj-lt"/>
                <a:cs typeface="Times New Roman" panose="02020603050405020304" pitchFamily="18" charset="0"/>
              </a:rPr>
              <a:t>) </a:t>
            </a:r>
            <a:r>
              <a:rPr lang="en-US" b="0" i="0" dirty="0">
                <a:solidFill>
                  <a:srgbClr val="1F1F1F"/>
                </a:solidFill>
                <a:effectLst/>
                <a:latin typeface="+mj-lt"/>
                <a:cs typeface="Times New Roman" panose="02020603050405020304" pitchFamily="18" charset="0"/>
              </a:rPr>
              <a:t>controls the step size of the updates.</a:t>
            </a:r>
          </a:p>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A larger learning rate leads to faster convergence but may cause overshooting the minimum.</a:t>
            </a:r>
          </a:p>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A smaller learning rate leads to slower convergence but is less likely to overshoot the minimum.</a:t>
            </a:r>
          </a:p>
          <a:p>
            <a:endParaRPr lang="en-PS"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1AAD2005-E9A1-0131-3FB3-1EE8FF40175B}"/>
              </a:ext>
            </a:extLst>
          </p:cNvPr>
          <p:cNvSpPr>
            <a:spLocks noGrp="1"/>
          </p:cNvSpPr>
          <p:nvPr>
            <p:ph type="sldNum" sz="quarter" idx="12"/>
          </p:nvPr>
        </p:nvSpPr>
        <p:spPr/>
        <p:txBody>
          <a:bodyPr/>
          <a:lstStyle/>
          <a:p>
            <a:fld id="{B6F15528-21DE-4FAA-801E-634DDDAF4B2B}" type="slidenum">
              <a:rPr lang="en-PS" smtClean="0">
                <a:latin typeface="Gill Sans MT" panose="020B0502020104020203" pitchFamily="34" charset="77"/>
              </a:rPr>
              <a:t>15</a:t>
            </a:fld>
            <a:endParaRPr lang="en-PS">
              <a:latin typeface="Gill Sans MT" panose="020B0502020104020203" pitchFamily="34" charset="77"/>
            </a:endParaRPr>
          </a:p>
        </p:txBody>
      </p:sp>
    </p:spTree>
    <p:extLst>
      <p:ext uri="{BB962C8B-B14F-4D97-AF65-F5344CB8AC3E}">
        <p14:creationId xmlns:p14="http://schemas.microsoft.com/office/powerpoint/2010/main" val="303287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C4FFB-D421-434C-6DE4-DBBC266BBE34}"/>
              </a:ext>
            </a:extLst>
          </p:cNvPr>
          <p:cNvSpPr>
            <a:spLocks noGrp="1"/>
          </p:cNvSpPr>
          <p:nvPr>
            <p:ph type="title"/>
          </p:nvPr>
        </p:nvSpPr>
        <p:spPr>
          <a:xfrm>
            <a:off x="628650" y="273844"/>
            <a:ext cx="7886700" cy="545306"/>
          </a:xfrm>
        </p:spPr>
        <p:txBody>
          <a:bodyPr>
            <a:normAutofit/>
          </a:bodyPr>
          <a:lstStyle/>
          <a:p>
            <a:r>
              <a:rPr lang="en-US" sz="3200" b="0" i="0" dirty="0">
                <a:solidFill>
                  <a:srgbClr val="1F1F1F"/>
                </a:solidFill>
                <a:effectLst/>
                <a:latin typeface="Gill Sans MT" panose="020B0502020104020203" pitchFamily="34" charset="77"/>
                <a:cs typeface="Times New Roman" panose="02020603050405020304" pitchFamily="18" charset="0"/>
              </a:rPr>
              <a:t>What is the overall goal?</a:t>
            </a:r>
            <a:endParaRPr lang="en-PS" sz="3200" dirty="0">
              <a:latin typeface="Gill Sans MT" panose="020B0502020104020203" pitchFamily="34" charset="77"/>
              <a:cs typeface="Times New Roman" panose="02020603050405020304" pitchFamily="18" charset="0"/>
            </a:endParaRPr>
          </a:p>
        </p:txBody>
      </p:sp>
      <p:sp>
        <p:nvSpPr>
          <p:cNvPr id="3" name="Content Placeholder 2">
            <a:extLst>
              <a:ext uri="{FF2B5EF4-FFF2-40B4-BE49-F238E27FC236}">
                <a16:creationId xmlns:a16="http://schemas.microsoft.com/office/drawing/2014/main" id="{4EA8459C-F8BA-B246-A569-EB5A3D088A96}"/>
              </a:ext>
            </a:extLst>
          </p:cNvPr>
          <p:cNvSpPr>
            <a:spLocks noGrp="1"/>
          </p:cNvSpPr>
          <p:nvPr>
            <p:ph idx="1"/>
          </p:nvPr>
        </p:nvSpPr>
        <p:spPr>
          <a:xfrm>
            <a:off x="628650" y="1369219"/>
            <a:ext cx="7886700" cy="2193131"/>
          </a:xfrm>
        </p:spPr>
        <p:txBody>
          <a:bodyPr/>
          <a:lstStyle/>
          <a:p>
            <a:pPr algn="l">
              <a:buFont typeface="Arial" panose="020B0604020202020204" pitchFamily="34" charset="0"/>
              <a:buChar char="•"/>
            </a:pPr>
            <a:r>
              <a:rPr lang="en-US" b="0" i="0" dirty="0">
                <a:solidFill>
                  <a:srgbClr val="1F1F1F"/>
                </a:solidFill>
                <a:effectLst/>
                <a:latin typeface="+mj-lt"/>
                <a:cs typeface="Times New Roman" panose="02020603050405020304" pitchFamily="18" charset="0"/>
              </a:rPr>
              <a:t>The goal of these equations is to iteratively adjust the parameters (w and b) to minimize the loss function, which ultimately improves the model's fit to the data.</a:t>
            </a:r>
          </a:p>
          <a:p>
            <a:pPr algn="l"/>
            <a:r>
              <a:rPr lang="en-US" b="0" i="0" dirty="0">
                <a:solidFill>
                  <a:srgbClr val="1F1F1F"/>
                </a:solidFill>
                <a:effectLst/>
                <a:latin typeface="+mj-lt"/>
                <a:cs typeface="Times New Roman" panose="02020603050405020304" pitchFamily="18" charset="0"/>
              </a:rPr>
              <a:t>In essence, these equations are the core of the gradient descent algorithm, enabling it to optimize the parameters of a model and achieve better predictions.</a:t>
            </a:r>
          </a:p>
          <a:p>
            <a:endParaRPr lang="en-PS"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9470D7-A889-0366-0252-B14A16BB4ED3}"/>
              </a:ext>
            </a:extLst>
          </p:cNvPr>
          <p:cNvSpPr>
            <a:spLocks noGrp="1"/>
          </p:cNvSpPr>
          <p:nvPr>
            <p:ph type="sldNum" sz="quarter" idx="12"/>
          </p:nvPr>
        </p:nvSpPr>
        <p:spPr/>
        <p:txBody>
          <a:bodyPr/>
          <a:lstStyle/>
          <a:p>
            <a:fld id="{B6F15528-21DE-4FAA-801E-634DDDAF4B2B}" type="slidenum">
              <a:rPr lang="en-PS" smtClean="0">
                <a:latin typeface="Gill Sans MT" panose="020B0502020104020203" pitchFamily="34" charset="77"/>
              </a:rPr>
              <a:t>16</a:t>
            </a:fld>
            <a:endParaRPr lang="en-PS">
              <a:latin typeface="Gill Sans MT" panose="020B0502020104020203" pitchFamily="34" charset="77"/>
            </a:endParaRPr>
          </a:p>
        </p:txBody>
      </p:sp>
      <p:sp>
        <p:nvSpPr>
          <p:cNvPr id="5" name="TextBox 4">
            <a:extLst>
              <a:ext uri="{FF2B5EF4-FFF2-40B4-BE49-F238E27FC236}">
                <a16:creationId xmlns:a16="http://schemas.microsoft.com/office/drawing/2014/main" id="{F60DC79B-D710-13D8-4A5D-DCE9ADCDF8D7}"/>
              </a:ext>
            </a:extLst>
          </p:cNvPr>
          <p:cNvSpPr txBox="1"/>
          <p:nvPr/>
        </p:nvSpPr>
        <p:spPr>
          <a:xfrm>
            <a:off x="304800" y="3749308"/>
            <a:ext cx="7711406" cy="830997"/>
          </a:xfrm>
          <a:prstGeom prst="rect">
            <a:avLst/>
          </a:prstGeom>
          <a:noFill/>
        </p:spPr>
        <p:txBody>
          <a:bodyPr wrap="none" rtlCol="0">
            <a:spAutoFit/>
          </a:bodyPr>
          <a:lstStyle/>
          <a:p>
            <a:r>
              <a:rPr lang="en-PS" sz="2400" dirty="0">
                <a:solidFill>
                  <a:srgbClr val="C00000"/>
                </a:solidFill>
                <a:latin typeface="Gill Sans MT" panose="020B0502020104020203" pitchFamily="34" charset="77"/>
                <a:cs typeface="Times New Roman" panose="02020603050405020304" pitchFamily="18" charset="0"/>
              </a:rPr>
              <a:t>To understand how updates get occured, we need to review </a:t>
            </a:r>
          </a:p>
          <a:p>
            <a:r>
              <a:rPr lang="en-PS" sz="2400" dirty="0">
                <a:solidFill>
                  <a:srgbClr val="C00000"/>
                </a:solidFill>
                <a:latin typeface="Gill Sans MT" panose="020B0502020104020203" pitchFamily="34" charset="77"/>
                <a:cs typeface="Times New Roman" panose="02020603050405020304" pitchFamily="18" charset="0"/>
              </a:rPr>
              <a:t>the partial derivative </a:t>
            </a:r>
          </a:p>
        </p:txBody>
      </p:sp>
      <p:sp>
        <p:nvSpPr>
          <p:cNvPr id="6" name="Right Arrow 5">
            <a:extLst>
              <a:ext uri="{FF2B5EF4-FFF2-40B4-BE49-F238E27FC236}">
                <a16:creationId xmlns:a16="http://schemas.microsoft.com/office/drawing/2014/main" id="{A3D2CBC0-D7D9-1368-74DD-720215E22409}"/>
              </a:ext>
            </a:extLst>
          </p:cNvPr>
          <p:cNvSpPr/>
          <p:nvPr/>
        </p:nvSpPr>
        <p:spPr>
          <a:xfrm>
            <a:off x="7940006" y="4316626"/>
            <a:ext cx="746794" cy="3535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b="1">
              <a:ln w="22225">
                <a:solidFill>
                  <a:schemeClr val="accent2"/>
                </a:solidFill>
                <a:prstDash val="solid"/>
              </a:ln>
              <a:solidFill>
                <a:schemeClr val="accent2">
                  <a:lumMod val="40000"/>
                  <a:lumOff val="60000"/>
                </a:schemeClr>
              </a:solidFill>
              <a:latin typeface="Gill Sans MT" panose="020B0502020104020203" pitchFamily="34" charset="77"/>
            </a:endParaRPr>
          </a:p>
        </p:txBody>
      </p:sp>
    </p:spTree>
    <p:extLst>
      <p:ext uri="{BB962C8B-B14F-4D97-AF65-F5344CB8AC3E}">
        <p14:creationId xmlns:p14="http://schemas.microsoft.com/office/powerpoint/2010/main" val="184454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4400" y="1809750"/>
            <a:ext cx="6781800" cy="632097"/>
          </a:xfrm>
          <a:prstGeom prst="rect">
            <a:avLst/>
          </a:prstGeom>
        </p:spPr>
        <p:txBody>
          <a:bodyPr vert="horz" wrap="square" lIns="0" tIns="11431" rIns="0" bIns="0" rtlCol="0">
            <a:spAutoFit/>
          </a:bodyPr>
          <a:lstStyle/>
          <a:p>
            <a:pPr marL="1080108" marR="5080" indent="-1068044">
              <a:lnSpc>
                <a:spcPct val="115399"/>
              </a:lnSpc>
              <a:spcBef>
                <a:spcPts val="91"/>
              </a:spcBef>
            </a:pPr>
            <a:r>
              <a:rPr sz="3800" spc="25" dirty="0">
                <a:latin typeface="Gill Sans MT" panose="020B0502020104020203" pitchFamily="34" charset="77"/>
                <a:cs typeface="Verdana"/>
              </a:rPr>
              <a:t>Gradient</a:t>
            </a:r>
            <a:r>
              <a:rPr sz="3800" spc="-305" dirty="0">
                <a:latin typeface="Gill Sans MT" panose="020B0502020104020203" pitchFamily="34" charset="77"/>
                <a:cs typeface="Verdana"/>
              </a:rPr>
              <a:t> </a:t>
            </a:r>
            <a:r>
              <a:rPr sz="3800" spc="5" dirty="0">
                <a:latin typeface="Gill Sans MT" panose="020B0502020104020203" pitchFamily="34" charset="77"/>
                <a:cs typeface="Verdana"/>
              </a:rPr>
              <a:t>Descent </a:t>
            </a:r>
            <a:r>
              <a:rPr sz="3800" spc="-1320" dirty="0">
                <a:latin typeface="Gill Sans MT" panose="020B0502020104020203" pitchFamily="34" charset="77"/>
                <a:cs typeface="Verdana"/>
              </a:rPr>
              <a:t> </a:t>
            </a:r>
            <a:r>
              <a:rPr sz="3800" spc="15" dirty="0">
                <a:latin typeface="Gill Sans MT" panose="020B0502020104020203" pitchFamily="34" charset="77"/>
                <a:cs typeface="Verdana"/>
              </a:rPr>
              <a:t>Intuition</a:t>
            </a:r>
            <a:endParaRPr sz="3800" dirty="0">
              <a:latin typeface="Gill Sans MT" panose="020B0502020104020203" pitchFamily="34" charset="77"/>
              <a:cs typeface="Verdana"/>
            </a:endParaRPr>
          </a:p>
        </p:txBody>
      </p:sp>
      <p:sp>
        <p:nvSpPr>
          <p:cNvPr id="4" name="Slide Number Placeholder 3">
            <a:extLst>
              <a:ext uri="{FF2B5EF4-FFF2-40B4-BE49-F238E27FC236}">
                <a16:creationId xmlns:a16="http://schemas.microsoft.com/office/drawing/2014/main" id="{5278DA1D-0892-CAD2-18DB-754A4889535D}"/>
              </a:ext>
            </a:extLst>
          </p:cNvPr>
          <p:cNvSpPr>
            <a:spLocks noGrp="1"/>
          </p:cNvSpPr>
          <p:nvPr>
            <p:ph type="sldNum" sz="quarter" idx="7"/>
          </p:nvPr>
        </p:nvSpPr>
        <p:spPr/>
        <p:txBody>
          <a:bodyPr/>
          <a:lstStyle/>
          <a:p>
            <a:fld id="{B6F15528-21DE-4FAA-801E-634DDDAF4B2B}" type="slidenum">
              <a:rPr lang="en-PS" smtClean="0">
                <a:latin typeface="Gill Sans MT" panose="020B0502020104020203" pitchFamily="34" charset="77"/>
              </a:rPr>
              <a:t>17</a:t>
            </a:fld>
            <a:endParaRPr lang="en-PS">
              <a:latin typeface="Gill Sans MT" panose="020B0502020104020203" pitchFamily="34" charset="77"/>
            </a:endParaRPr>
          </a:p>
        </p:txBody>
      </p:sp>
      <p:sp>
        <p:nvSpPr>
          <p:cNvPr id="2" name="TextBox 1">
            <a:extLst>
              <a:ext uri="{FF2B5EF4-FFF2-40B4-BE49-F238E27FC236}">
                <a16:creationId xmlns:a16="http://schemas.microsoft.com/office/drawing/2014/main" id="{3BF04DA3-0ADD-7373-F5E1-72D6E9A9FAB1}"/>
              </a:ext>
            </a:extLst>
          </p:cNvPr>
          <p:cNvSpPr txBox="1"/>
          <p:nvPr/>
        </p:nvSpPr>
        <p:spPr>
          <a:xfrm>
            <a:off x="726339" y="3409950"/>
            <a:ext cx="7157922" cy="707886"/>
          </a:xfrm>
          <a:prstGeom prst="rect">
            <a:avLst/>
          </a:prstGeom>
          <a:noFill/>
        </p:spPr>
        <p:txBody>
          <a:bodyPr wrap="none" rtlCol="0">
            <a:spAutoFit/>
          </a:bodyPr>
          <a:lstStyle/>
          <a:p>
            <a:r>
              <a:rPr lang="en-PS" sz="2000" dirty="0">
                <a:latin typeface="Gill Sans MT" panose="020B0502020104020203" pitchFamily="34" charset="77"/>
                <a:cs typeface="Times New Roman" panose="02020603050405020304" pitchFamily="18" charset="0"/>
              </a:rPr>
              <a:t>This section explain the role of the learning rate and the derivative </a:t>
            </a:r>
          </a:p>
          <a:p>
            <a:r>
              <a:rPr lang="en-PS" sz="2000" dirty="0">
                <a:latin typeface="Gill Sans MT" panose="020B0502020104020203" pitchFamily="34" charset="77"/>
                <a:cs typeface="Times New Roman" panose="02020603050405020304" pitchFamily="18" charset="0"/>
              </a:rPr>
              <a:t>terms in deciding the updates of w and b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316505" y="2262064"/>
            <a:ext cx="212712" cy="144652"/>
          </a:xfrm>
          <a:prstGeom prst="rect">
            <a:avLst/>
          </a:prstGeom>
        </p:spPr>
      </p:pic>
      <p:sp>
        <p:nvSpPr>
          <p:cNvPr id="12" name="object 12"/>
          <p:cNvSpPr/>
          <p:nvPr/>
        </p:nvSpPr>
        <p:spPr>
          <a:xfrm>
            <a:off x="1290712" y="2470726"/>
            <a:ext cx="288290" cy="0"/>
          </a:xfrm>
          <a:custGeom>
            <a:avLst/>
            <a:gdLst/>
            <a:ahLst/>
            <a:cxnLst/>
            <a:rect l="l" t="t" r="r" b="b"/>
            <a:pathLst>
              <a:path w="288290">
                <a:moveTo>
                  <a:pt x="0" y="0"/>
                </a:moveTo>
                <a:lnTo>
                  <a:pt x="288036" y="0"/>
                </a:lnTo>
              </a:path>
            </a:pathLst>
          </a:custGeom>
          <a:ln w="38100">
            <a:solidFill>
              <a:srgbClr val="C00000"/>
            </a:solidFill>
          </a:ln>
        </p:spPr>
        <p:txBody>
          <a:bodyPr wrap="square" lIns="0" tIns="0" rIns="0" bIns="0" rtlCol="0"/>
          <a:lstStyle/>
          <a:p>
            <a:endParaRPr>
              <a:latin typeface="Gill Sans MT" panose="020B0502020104020203" pitchFamily="34" charset="77"/>
            </a:endParaRPr>
          </a:p>
        </p:txBody>
      </p:sp>
      <p:pic>
        <p:nvPicPr>
          <p:cNvPr id="16" name="object 16"/>
          <p:cNvPicPr/>
          <p:nvPr/>
        </p:nvPicPr>
        <p:blipFill>
          <a:blip r:embed="rId3" cstate="print"/>
          <a:stretch>
            <a:fillRect/>
          </a:stretch>
        </p:blipFill>
        <p:spPr>
          <a:xfrm>
            <a:off x="1322017" y="2886904"/>
            <a:ext cx="134937" cy="215137"/>
          </a:xfrm>
          <a:prstGeom prst="rect">
            <a:avLst/>
          </a:prstGeom>
        </p:spPr>
      </p:pic>
      <p:sp>
        <p:nvSpPr>
          <p:cNvPr id="17" name="object 17"/>
          <p:cNvSpPr/>
          <p:nvPr/>
        </p:nvSpPr>
        <p:spPr>
          <a:xfrm>
            <a:off x="1243087" y="3175576"/>
            <a:ext cx="288290" cy="0"/>
          </a:xfrm>
          <a:custGeom>
            <a:avLst/>
            <a:gdLst/>
            <a:ahLst/>
            <a:cxnLst/>
            <a:rect l="l" t="t" r="r" b="b"/>
            <a:pathLst>
              <a:path w="288290">
                <a:moveTo>
                  <a:pt x="0" y="0"/>
                </a:moveTo>
                <a:lnTo>
                  <a:pt x="287909" y="0"/>
                </a:lnTo>
              </a:path>
            </a:pathLst>
          </a:custGeom>
          <a:ln w="38100">
            <a:solidFill>
              <a:srgbClr val="C00000"/>
            </a:solidFill>
          </a:ln>
        </p:spPr>
        <p:txBody>
          <a:bodyPr wrap="square" lIns="0" tIns="0" rIns="0" bIns="0" rtlCol="0"/>
          <a:lstStyle/>
          <a:p>
            <a:endParaRPr>
              <a:latin typeface="Gill Sans MT" panose="020B0502020104020203" pitchFamily="34" charset="77"/>
            </a:endParaRPr>
          </a:p>
        </p:txBody>
      </p:sp>
      <p:sp>
        <p:nvSpPr>
          <p:cNvPr id="2" name="object 2"/>
          <p:cNvSpPr txBox="1">
            <a:spLocks noGrp="1"/>
          </p:cNvSpPr>
          <p:nvPr>
            <p:ph type="title"/>
          </p:nvPr>
        </p:nvSpPr>
        <p:spPr>
          <a:xfrm>
            <a:off x="299064" y="169007"/>
            <a:ext cx="5266691" cy="428964"/>
          </a:xfrm>
          <a:prstGeom prst="rect">
            <a:avLst/>
          </a:prstGeom>
        </p:spPr>
        <p:txBody>
          <a:bodyPr vert="horz" wrap="square" lIns="0" tIns="13335" rIns="0" bIns="0" rtlCol="0">
            <a:spAutoFit/>
          </a:bodyPr>
          <a:lstStyle/>
          <a:p>
            <a:pPr marL="12700">
              <a:spcBef>
                <a:spcPts val="105"/>
              </a:spcBef>
            </a:pPr>
            <a:r>
              <a:rPr sz="3000" spc="5" dirty="0">
                <a:solidFill>
                  <a:srgbClr val="0432FF"/>
                </a:solidFill>
                <a:latin typeface="Gill Sans MT" panose="020B0502020104020203" pitchFamily="34" charset="77"/>
              </a:rPr>
              <a:t>Gradient</a:t>
            </a:r>
            <a:r>
              <a:rPr sz="3000" spc="-95" dirty="0">
                <a:solidFill>
                  <a:srgbClr val="0432FF"/>
                </a:solidFill>
                <a:latin typeface="Gill Sans MT" panose="020B0502020104020203" pitchFamily="34" charset="77"/>
              </a:rPr>
              <a:t> </a:t>
            </a:r>
            <a:r>
              <a:rPr sz="3000" dirty="0">
                <a:solidFill>
                  <a:srgbClr val="0432FF"/>
                </a:solidFill>
                <a:latin typeface="Gill Sans MT" panose="020B0502020104020203" pitchFamily="34" charset="77"/>
              </a:rPr>
              <a:t>descent</a:t>
            </a:r>
            <a:r>
              <a:rPr sz="3000" spc="-95" dirty="0">
                <a:solidFill>
                  <a:srgbClr val="0432FF"/>
                </a:solidFill>
                <a:latin typeface="Gill Sans MT" panose="020B0502020104020203" pitchFamily="34" charset="77"/>
              </a:rPr>
              <a:t> </a:t>
            </a:r>
            <a:r>
              <a:rPr sz="3000" spc="11" dirty="0">
                <a:solidFill>
                  <a:srgbClr val="0432FF"/>
                </a:solidFill>
                <a:latin typeface="Gill Sans MT" panose="020B0502020104020203" pitchFamily="34" charset="77"/>
              </a:rPr>
              <a:t>algorithm</a:t>
            </a:r>
            <a:endParaRPr sz="3000" dirty="0">
              <a:solidFill>
                <a:srgbClr val="0432FF"/>
              </a:solidFill>
              <a:latin typeface="Gill Sans MT" panose="020B0502020104020203" pitchFamily="34" charset="77"/>
            </a:endParaRPr>
          </a:p>
        </p:txBody>
      </p:sp>
      <p:sp>
        <p:nvSpPr>
          <p:cNvPr id="3" name="object 3"/>
          <p:cNvSpPr txBox="1"/>
          <p:nvPr/>
        </p:nvSpPr>
        <p:spPr>
          <a:xfrm>
            <a:off x="207288" y="936636"/>
            <a:ext cx="5450244" cy="444352"/>
          </a:xfrm>
          <a:prstGeom prst="rect">
            <a:avLst/>
          </a:prstGeom>
        </p:spPr>
        <p:txBody>
          <a:bodyPr vert="horz" wrap="square" lIns="0" tIns="13335" rIns="0" bIns="0" rtlCol="0">
            <a:spAutoFit/>
          </a:bodyPr>
          <a:lstStyle/>
          <a:p>
            <a:pPr marL="12700">
              <a:spcBef>
                <a:spcPts val="105"/>
              </a:spcBef>
            </a:pPr>
            <a:r>
              <a:rPr sz="2400" spc="5" dirty="0">
                <a:latin typeface="Gill Sans MT" panose="020B0502020104020203" pitchFamily="34" charset="77"/>
                <a:cs typeface="Arial MT"/>
              </a:rPr>
              <a:t>repeat</a:t>
            </a:r>
            <a:r>
              <a:rPr sz="2400" spc="55" dirty="0">
                <a:latin typeface="Gill Sans MT" panose="020B0502020104020203" pitchFamily="34" charset="77"/>
                <a:cs typeface="Arial MT"/>
              </a:rPr>
              <a:t> </a:t>
            </a:r>
            <a:r>
              <a:rPr sz="2400" spc="11" dirty="0">
                <a:latin typeface="Gill Sans MT" panose="020B0502020104020203" pitchFamily="34" charset="77"/>
                <a:cs typeface="Arial MT"/>
              </a:rPr>
              <a:t>until</a:t>
            </a:r>
            <a:r>
              <a:rPr sz="2400" spc="35" dirty="0">
                <a:latin typeface="Gill Sans MT" panose="020B0502020104020203" pitchFamily="34" charset="77"/>
                <a:cs typeface="Arial MT"/>
              </a:rPr>
              <a:t> </a:t>
            </a:r>
            <a:r>
              <a:rPr sz="2400" dirty="0">
                <a:latin typeface="Gill Sans MT" panose="020B0502020104020203" pitchFamily="34" charset="77"/>
                <a:cs typeface="Arial MT"/>
              </a:rPr>
              <a:t>convergence</a:t>
            </a:r>
            <a:r>
              <a:rPr sz="2400" spc="325" dirty="0">
                <a:latin typeface="Gill Sans MT" panose="020B0502020104020203" pitchFamily="34" charset="77"/>
                <a:cs typeface="Arial MT"/>
              </a:rPr>
              <a:t> </a:t>
            </a:r>
            <a:r>
              <a:rPr sz="2800" dirty="0">
                <a:latin typeface="Gill Sans MT" panose="020B0502020104020203" pitchFamily="34" charset="77"/>
                <a:cs typeface="Cambria Math"/>
              </a:rPr>
              <a:t>{</a:t>
            </a:r>
          </a:p>
        </p:txBody>
      </p:sp>
      <p:sp>
        <p:nvSpPr>
          <p:cNvPr id="6" name="object 6"/>
          <p:cNvSpPr/>
          <p:nvPr/>
        </p:nvSpPr>
        <p:spPr>
          <a:xfrm>
            <a:off x="1644788" y="2276542"/>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a:latin typeface="Gill Sans MT" panose="020B0502020104020203" pitchFamily="34" charset="77"/>
            </a:endParaRPr>
          </a:p>
        </p:txBody>
      </p:sp>
      <p:pic>
        <p:nvPicPr>
          <p:cNvPr id="7" name="object 7"/>
          <p:cNvPicPr/>
          <p:nvPr/>
        </p:nvPicPr>
        <p:blipFill>
          <a:blip r:embed="rId4" cstate="print"/>
          <a:stretch>
            <a:fillRect/>
          </a:stretch>
        </p:blipFill>
        <p:spPr>
          <a:xfrm>
            <a:off x="1945142" y="2262064"/>
            <a:ext cx="212725" cy="144652"/>
          </a:xfrm>
          <a:prstGeom prst="rect">
            <a:avLst/>
          </a:prstGeom>
        </p:spPr>
      </p:pic>
      <p:sp>
        <p:nvSpPr>
          <p:cNvPr id="8" name="object 8"/>
          <p:cNvSpPr/>
          <p:nvPr/>
        </p:nvSpPr>
        <p:spPr>
          <a:xfrm>
            <a:off x="1587638" y="2971867"/>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a:latin typeface="Gill Sans MT" panose="020B0502020104020203" pitchFamily="34" charset="77"/>
            </a:endParaRPr>
          </a:p>
        </p:txBody>
      </p:sp>
      <p:pic>
        <p:nvPicPr>
          <p:cNvPr id="9" name="object 9"/>
          <p:cNvPicPr/>
          <p:nvPr/>
        </p:nvPicPr>
        <p:blipFill>
          <a:blip r:embed="rId5" cstate="print"/>
          <a:stretch>
            <a:fillRect/>
          </a:stretch>
        </p:blipFill>
        <p:spPr>
          <a:xfrm>
            <a:off x="1893453" y="2886904"/>
            <a:ext cx="135000" cy="215137"/>
          </a:xfrm>
          <a:prstGeom prst="rect">
            <a:avLst/>
          </a:prstGeom>
        </p:spPr>
      </p:pic>
      <p:sp>
        <p:nvSpPr>
          <p:cNvPr id="10" name="object 10"/>
          <p:cNvSpPr/>
          <p:nvPr/>
        </p:nvSpPr>
        <p:spPr>
          <a:xfrm>
            <a:off x="2140088" y="3002619"/>
            <a:ext cx="183515" cy="20320"/>
          </a:xfrm>
          <a:custGeom>
            <a:avLst/>
            <a:gdLst/>
            <a:ahLst/>
            <a:cxnLst/>
            <a:rect l="l" t="t" r="r" b="b"/>
            <a:pathLst>
              <a:path w="183514" h="20319">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a:latin typeface="Gill Sans MT" panose="020B0502020104020203" pitchFamily="34" charset="77"/>
            </a:endParaRPr>
          </a:p>
        </p:txBody>
      </p:sp>
      <p:pic>
        <p:nvPicPr>
          <p:cNvPr id="11" name="object 11"/>
          <p:cNvPicPr/>
          <p:nvPr/>
        </p:nvPicPr>
        <p:blipFill>
          <a:blip r:embed="rId6" cstate="print"/>
          <a:stretch>
            <a:fillRect/>
          </a:stretch>
        </p:blipFill>
        <p:spPr>
          <a:xfrm>
            <a:off x="2428885" y="2955103"/>
            <a:ext cx="161925" cy="146939"/>
          </a:xfrm>
          <a:prstGeom prst="rect">
            <a:avLst/>
          </a:prstGeom>
        </p:spPr>
      </p:pic>
      <p:pic>
        <p:nvPicPr>
          <p:cNvPr id="13" name="object 13"/>
          <p:cNvPicPr/>
          <p:nvPr/>
        </p:nvPicPr>
        <p:blipFill>
          <a:blip r:embed="rId7" cstate="print"/>
          <a:stretch>
            <a:fillRect/>
          </a:stretch>
        </p:blipFill>
        <p:spPr>
          <a:xfrm>
            <a:off x="1614308" y="1873191"/>
            <a:ext cx="4071747" cy="1428877"/>
          </a:xfrm>
          <a:prstGeom prst="rect">
            <a:avLst/>
          </a:prstGeom>
        </p:spPr>
      </p:pic>
      <p:grpSp>
        <p:nvGrpSpPr>
          <p:cNvPr id="38" name="Group 37">
            <a:extLst>
              <a:ext uri="{FF2B5EF4-FFF2-40B4-BE49-F238E27FC236}">
                <a16:creationId xmlns:a16="http://schemas.microsoft.com/office/drawing/2014/main" id="{BAA07370-35DE-1E23-DCD7-426D9CB1B0AC}"/>
              </a:ext>
            </a:extLst>
          </p:cNvPr>
          <p:cNvGrpSpPr/>
          <p:nvPr/>
        </p:nvGrpSpPr>
        <p:grpSpPr>
          <a:xfrm>
            <a:off x="6005534" y="1745098"/>
            <a:ext cx="2521511" cy="1728169"/>
            <a:chOff x="5931101" y="979805"/>
            <a:chExt cx="2521511" cy="1728169"/>
          </a:xfrm>
        </p:grpSpPr>
        <p:sp>
          <p:nvSpPr>
            <p:cNvPr id="19" name="object 19"/>
            <p:cNvSpPr/>
            <p:nvPr/>
          </p:nvSpPr>
          <p:spPr>
            <a:xfrm>
              <a:off x="6629909" y="2166875"/>
              <a:ext cx="434975" cy="282575"/>
            </a:xfrm>
            <a:custGeom>
              <a:avLst/>
              <a:gdLst/>
              <a:ahLst/>
              <a:cxnLst/>
              <a:rect l="l" t="t" r="r" b="b"/>
              <a:pathLst>
                <a:path w="434975" h="282575">
                  <a:moveTo>
                    <a:pt x="344805" y="0"/>
                  </a:moveTo>
                  <a:lnTo>
                    <a:pt x="340868" y="11430"/>
                  </a:lnTo>
                  <a:lnTo>
                    <a:pt x="357175" y="18504"/>
                  </a:lnTo>
                  <a:lnTo>
                    <a:pt x="371221" y="28305"/>
                  </a:lnTo>
                  <a:lnTo>
                    <a:pt x="399764" y="73852"/>
                  </a:lnTo>
                  <a:lnTo>
                    <a:pt x="408146" y="115623"/>
                  </a:lnTo>
                  <a:lnTo>
                    <a:pt x="409194" y="139700"/>
                  </a:lnTo>
                  <a:lnTo>
                    <a:pt x="408146" y="164580"/>
                  </a:lnTo>
                  <a:lnTo>
                    <a:pt x="399764" y="207529"/>
                  </a:lnTo>
                  <a:lnTo>
                    <a:pt x="371268" y="253777"/>
                  </a:lnTo>
                  <a:lnTo>
                    <a:pt x="341249" y="270763"/>
                  </a:lnTo>
                  <a:lnTo>
                    <a:pt x="344805" y="282320"/>
                  </a:lnTo>
                  <a:lnTo>
                    <a:pt x="383365" y="264239"/>
                  </a:lnTo>
                  <a:lnTo>
                    <a:pt x="411734" y="232918"/>
                  </a:lnTo>
                  <a:lnTo>
                    <a:pt x="429053" y="191071"/>
                  </a:lnTo>
                  <a:lnTo>
                    <a:pt x="434848" y="141224"/>
                  </a:lnTo>
                  <a:lnTo>
                    <a:pt x="433395" y="115339"/>
                  </a:lnTo>
                  <a:lnTo>
                    <a:pt x="421774" y="69429"/>
                  </a:lnTo>
                  <a:lnTo>
                    <a:pt x="398722" y="32093"/>
                  </a:lnTo>
                  <a:lnTo>
                    <a:pt x="365333" y="7379"/>
                  </a:lnTo>
                  <a:lnTo>
                    <a:pt x="344805" y="0"/>
                  </a:lnTo>
                  <a:close/>
                </a:path>
                <a:path w="434975" h="282575">
                  <a:moveTo>
                    <a:pt x="90043" y="0"/>
                  </a:moveTo>
                  <a:lnTo>
                    <a:pt x="51657" y="18081"/>
                  </a:lnTo>
                  <a:lnTo>
                    <a:pt x="23368" y="49402"/>
                  </a:lnTo>
                  <a:lnTo>
                    <a:pt x="5826" y="91408"/>
                  </a:lnTo>
                  <a:lnTo>
                    <a:pt x="0" y="141224"/>
                  </a:lnTo>
                  <a:lnTo>
                    <a:pt x="1452" y="167159"/>
                  </a:lnTo>
                  <a:lnTo>
                    <a:pt x="13073" y="212982"/>
                  </a:lnTo>
                  <a:lnTo>
                    <a:pt x="36125" y="250227"/>
                  </a:lnTo>
                  <a:lnTo>
                    <a:pt x="69514" y="274941"/>
                  </a:lnTo>
                  <a:lnTo>
                    <a:pt x="90043" y="282320"/>
                  </a:lnTo>
                  <a:lnTo>
                    <a:pt x="93599" y="270763"/>
                  </a:lnTo>
                  <a:lnTo>
                    <a:pt x="77549" y="263663"/>
                  </a:lnTo>
                  <a:lnTo>
                    <a:pt x="63690" y="253777"/>
                  </a:lnTo>
                  <a:lnTo>
                    <a:pt x="35210" y="207529"/>
                  </a:lnTo>
                  <a:lnTo>
                    <a:pt x="26828" y="164580"/>
                  </a:lnTo>
                  <a:lnTo>
                    <a:pt x="25781" y="139700"/>
                  </a:lnTo>
                  <a:lnTo>
                    <a:pt x="26828" y="115623"/>
                  </a:lnTo>
                  <a:lnTo>
                    <a:pt x="35210" y="73852"/>
                  </a:lnTo>
                  <a:lnTo>
                    <a:pt x="63801" y="28305"/>
                  </a:lnTo>
                  <a:lnTo>
                    <a:pt x="94107" y="11430"/>
                  </a:lnTo>
                  <a:lnTo>
                    <a:pt x="90043"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sp>
          <p:nvSpPr>
            <p:cNvPr id="20" name="object 20"/>
            <p:cNvSpPr txBox="1"/>
            <p:nvPr/>
          </p:nvSpPr>
          <p:spPr>
            <a:xfrm>
              <a:off x="5931101" y="2152309"/>
              <a:ext cx="1052195" cy="555665"/>
            </a:xfrm>
            <a:prstGeom prst="rect">
              <a:avLst/>
            </a:prstGeom>
          </p:spPr>
          <p:txBody>
            <a:bodyPr vert="horz" wrap="square" lIns="0" tIns="13335" rIns="0" bIns="0" rtlCol="0">
              <a:spAutoFit/>
            </a:bodyPr>
            <a:lstStyle/>
            <a:p>
              <a:pPr marL="12700">
                <a:lnSpc>
                  <a:spcPts val="2505"/>
                </a:lnSpc>
                <a:spcBef>
                  <a:spcPts val="105"/>
                </a:spcBef>
              </a:pPr>
              <a:r>
                <a:rPr sz="2400" spc="20" dirty="0">
                  <a:solidFill>
                    <a:srgbClr val="0096FF"/>
                  </a:solidFill>
                  <a:latin typeface="Gill Sans MT" panose="020B0502020104020203" pitchFamily="34" charset="77"/>
                  <a:cs typeface="Cambria Math"/>
                </a:rPr>
                <a:t>m</a:t>
              </a:r>
              <a:r>
                <a:rPr sz="2400" dirty="0">
                  <a:solidFill>
                    <a:srgbClr val="0096FF"/>
                  </a:solidFill>
                  <a:latin typeface="Gill Sans MT" panose="020B0502020104020203" pitchFamily="34" charset="77"/>
                  <a:cs typeface="Cambria Math"/>
                </a:rPr>
                <a:t>in</a:t>
              </a:r>
              <a:r>
                <a:rPr sz="2400" spc="-135" dirty="0">
                  <a:solidFill>
                    <a:srgbClr val="0096FF"/>
                  </a:solidFill>
                  <a:latin typeface="Gill Sans MT" panose="020B0502020104020203" pitchFamily="34" charset="77"/>
                  <a:cs typeface="Cambria Math"/>
                </a:rPr>
                <a:t> </a:t>
              </a:r>
              <a:r>
                <a:rPr sz="2400" spc="5" dirty="0">
                  <a:solidFill>
                    <a:srgbClr val="0096FF"/>
                  </a:solidFill>
                  <a:latin typeface="Gill Sans MT" panose="020B0502020104020203" pitchFamily="34" charset="77"/>
                  <a:cs typeface="Cambria Math"/>
                </a:rPr>
                <a:t>𝐽</a:t>
              </a:r>
              <a:r>
                <a:rPr sz="2400" dirty="0">
                  <a:solidFill>
                    <a:srgbClr val="0096FF"/>
                  </a:solidFill>
                  <a:latin typeface="Gill Sans MT" panose="020B0502020104020203" pitchFamily="34" charset="77"/>
                  <a:cs typeface="Cambria Math"/>
                </a:rPr>
                <a:t> </a:t>
              </a:r>
              <a:r>
                <a:rPr sz="2400" spc="-100" dirty="0">
                  <a:solidFill>
                    <a:srgbClr val="0096FF"/>
                  </a:solidFill>
                  <a:latin typeface="Gill Sans MT" panose="020B0502020104020203" pitchFamily="34" charset="77"/>
                  <a:cs typeface="Cambria Math"/>
                </a:rPr>
                <a:t> </a:t>
              </a:r>
              <a:r>
                <a:rPr sz="2400" spc="5" dirty="0">
                  <a:solidFill>
                    <a:srgbClr val="0096FF"/>
                  </a:solidFill>
                  <a:latin typeface="Gill Sans MT" panose="020B0502020104020203" pitchFamily="34" charset="77"/>
                  <a:cs typeface="Cambria Math"/>
                </a:rPr>
                <a:t>𝑤</a:t>
              </a:r>
              <a:endParaRPr sz="2400" dirty="0">
                <a:latin typeface="Gill Sans MT" panose="020B0502020104020203" pitchFamily="34" charset="77"/>
                <a:cs typeface="Cambria Math"/>
              </a:endParaRPr>
            </a:p>
            <a:p>
              <a:pPr marL="165096">
                <a:lnSpc>
                  <a:spcPts val="1664"/>
                </a:lnSpc>
              </a:pPr>
              <a:r>
                <a:rPr sz="1700" spc="95" dirty="0">
                  <a:solidFill>
                    <a:srgbClr val="0096FF"/>
                  </a:solidFill>
                  <a:latin typeface="Gill Sans MT" panose="020B0502020104020203" pitchFamily="34" charset="77"/>
                  <a:cs typeface="Cambria Math"/>
                </a:rPr>
                <a:t>w</a:t>
              </a:r>
              <a:endParaRPr sz="1700" dirty="0">
                <a:latin typeface="Gill Sans MT" panose="020B0502020104020203" pitchFamily="34" charset="77"/>
                <a:cs typeface="Cambria Math"/>
              </a:endParaRPr>
            </a:p>
          </p:txBody>
        </p:sp>
        <p:sp>
          <p:nvSpPr>
            <p:cNvPr id="22" name="object 22"/>
            <p:cNvSpPr/>
            <p:nvPr/>
          </p:nvSpPr>
          <p:spPr>
            <a:xfrm>
              <a:off x="6135243" y="1070864"/>
              <a:ext cx="434975" cy="282575"/>
            </a:xfrm>
            <a:custGeom>
              <a:avLst/>
              <a:gdLst/>
              <a:ahLst/>
              <a:cxnLst/>
              <a:rect l="l" t="t" r="r" b="b"/>
              <a:pathLst>
                <a:path w="434975" h="282575">
                  <a:moveTo>
                    <a:pt x="344805" y="0"/>
                  </a:moveTo>
                  <a:lnTo>
                    <a:pt x="340741" y="11430"/>
                  </a:lnTo>
                  <a:lnTo>
                    <a:pt x="357104" y="18522"/>
                  </a:lnTo>
                  <a:lnTo>
                    <a:pt x="371157" y="28352"/>
                  </a:lnTo>
                  <a:lnTo>
                    <a:pt x="399690" y="73852"/>
                  </a:lnTo>
                  <a:lnTo>
                    <a:pt x="408021" y="115623"/>
                  </a:lnTo>
                  <a:lnTo>
                    <a:pt x="409066" y="139700"/>
                  </a:lnTo>
                  <a:lnTo>
                    <a:pt x="408019" y="164635"/>
                  </a:lnTo>
                  <a:lnTo>
                    <a:pt x="399637" y="207601"/>
                  </a:lnTo>
                  <a:lnTo>
                    <a:pt x="371205" y="253857"/>
                  </a:lnTo>
                  <a:lnTo>
                    <a:pt x="341249" y="270890"/>
                  </a:lnTo>
                  <a:lnTo>
                    <a:pt x="344805" y="282321"/>
                  </a:lnTo>
                  <a:lnTo>
                    <a:pt x="383301" y="264255"/>
                  </a:lnTo>
                  <a:lnTo>
                    <a:pt x="411607" y="233045"/>
                  </a:lnTo>
                  <a:lnTo>
                    <a:pt x="429037" y="191135"/>
                  </a:lnTo>
                  <a:lnTo>
                    <a:pt x="434848" y="141224"/>
                  </a:lnTo>
                  <a:lnTo>
                    <a:pt x="433395" y="115341"/>
                  </a:lnTo>
                  <a:lnTo>
                    <a:pt x="421774" y="69482"/>
                  </a:lnTo>
                  <a:lnTo>
                    <a:pt x="398651" y="32146"/>
                  </a:lnTo>
                  <a:lnTo>
                    <a:pt x="365261" y="7381"/>
                  </a:lnTo>
                  <a:lnTo>
                    <a:pt x="344805" y="0"/>
                  </a:lnTo>
                  <a:close/>
                </a:path>
                <a:path w="434975" h="282575">
                  <a:moveTo>
                    <a:pt x="90043" y="0"/>
                  </a:moveTo>
                  <a:lnTo>
                    <a:pt x="51593" y="18097"/>
                  </a:lnTo>
                  <a:lnTo>
                    <a:pt x="23241" y="49530"/>
                  </a:lnTo>
                  <a:lnTo>
                    <a:pt x="5810" y="91424"/>
                  </a:lnTo>
                  <a:lnTo>
                    <a:pt x="0" y="141224"/>
                  </a:lnTo>
                  <a:lnTo>
                    <a:pt x="1452" y="167179"/>
                  </a:lnTo>
                  <a:lnTo>
                    <a:pt x="13073" y="213090"/>
                  </a:lnTo>
                  <a:lnTo>
                    <a:pt x="36071" y="250281"/>
                  </a:lnTo>
                  <a:lnTo>
                    <a:pt x="69496" y="274943"/>
                  </a:lnTo>
                  <a:lnTo>
                    <a:pt x="90043" y="282321"/>
                  </a:lnTo>
                  <a:lnTo>
                    <a:pt x="93599" y="270890"/>
                  </a:lnTo>
                  <a:lnTo>
                    <a:pt x="77475" y="263773"/>
                  </a:lnTo>
                  <a:lnTo>
                    <a:pt x="63579" y="253857"/>
                  </a:lnTo>
                  <a:lnTo>
                    <a:pt x="35083" y="207601"/>
                  </a:lnTo>
                  <a:lnTo>
                    <a:pt x="26701" y="164635"/>
                  </a:lnTo>
                  <a:lnTo>
                    <a:pt x="25654" y="139700"/>
                  </a:lnTo>
                  <a:lnTo>
                    <a:pt x="26701" y="115623"/>
                  </a:lnTo>
                  <a:lnTo>
                    <a:pt x="35083" y="73852"/>
                  </a:lnTo>
                  <a:lnTo>
                    <a:pt x="63722" y="28352"/>
                  </a:lnTo>
                  <a:lnTo>
                    <a:pt x="93980" y="11430"/>
                  </a:lnTo>
                  <a:lnTo>
                    <a:pt x="90043"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sp>
          <p:nvSpPr>
            <p:cNvPr id="23" name="object 23"/>
            <p:cNvSpPr txBox="1"/>
            <p:nvPr/>
          </p:nvSpPr>
          <p:spPr>
            <a:xfrm>
              <a:off x="5978144" y="979805"/>
              <a:ext cx="499109" cy="382797"/>
            </a:xfrm>
            <a:prstGeom prst="rect">
              <a:avLst/>
            </a:prstGeom>
          </p:spPr>
          <p:txBody>
            <a:bodyPr vert="horz" wrap="square" lIns="0" tIns="13335" rIns="0" bIns="0" rtlCol="0">
              <a:spAutoFit/>
            </a:bodyPr>
            <a:lstStyle/>
            <a:p>
              <a:pPr marL="12700">
                <a:spcBef>
                  <a:spcPts val="105"/>
                </a:spcBef>
                <a:tabLst>
                  <a:tab pos="260344" algn="l"/>
                </a:tabLst>
              </a:pPr>
              <a:r>
                <a:rPr sz="2400" spc="5" dirty="0">
                  <a:solidFill>
                    <a:srgbClr val="0096FF"/>
                  </a:solidFill>
                  <a:latin typeface="Gill Sans MT" panose="020B0502020104020203" pitchFamily="34" charset="77"/>
                  <a:cs typeface="Cambria Math"/>
                </a:rPr>
                <a:t>𝐽	𝑤</a:t>
              </a:r>
              <a:endParaRPr sz="2400" dirty="0">
                <a:latin typeface="Gill Sans MT" panose="020B0502020104020203" pitchFamily="34" charset="77"/>
                <a:cs typeface="Cambria Math"/>
              </a:endParaRPr>
            </a:p>
          </p:txBody>
        </p:sp>
        <p:pic>
          <p:nvPicPr>
            <p:cNvPr id="24" name="object 24"/>
            <p:cNvPicPr/>
            <p:nvPr/>
          </p:nvPicPr>
          <p:blipFill>
            <a:blip r:embed="rId8" cstate="print"/>
            <a:stretch>
              <a:fillRect/>
            </a:stretch>
          </p:blipFill>
          <p:spPr>
            <a:xfrm>
              <a:off x="5951346" y="1658366"/>
              <a:ext cx="212599" cy="144653"/>
            </a:xfrm>
            <a:prstGeom prst="rect">
              <a:avLst/>
            </a:prstGeom>
          </p:spPr>
        </p:pic>
        <p:sp>
          <p:nvSpPr>
            <p:cNvPr id="25" name="object 25"/>
            <p:cNvSpPr/>
            <p:nvPr/>
          </p:nvSpPr>
          <p:spPr>
            <a:xfrm>
              <a:off x="6279643" y="1672843"/>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26" name="object 26"/>
            <p:cNvPicPr/>
            <p:nvPr/>
          </p:nvPicPr>
          <p:blipFill>
            <a:blip r:embed="rId8" cstate="print"/>
            <a:stretch>
              <a:fillRect/>
            </a:stretch>
          </p:blipFill>
          <p:spPr>
            <a:xfrm>
              <a:off x="6579997" y="1658366"/>
              <a:ext cx="212599" cy="144653"/>
            </a:xfrm>
            <a:prstGeom prst="rect">
              <a:avLst/>
            </a:prstGeom>
          </p:spPr>
        </p:pic>
        <p:sp>
          <p:nvSpPr>
            <p:cNvPr id="27" name="object 27"/>
            <p:cNvSpPr/>
            <p:nvPr/>
          </p:nvSpPr>
          <p:spPr>
            <a:xfrm>
              <a:off x="6898768" y="1703595"/>
              <a:ext cx="183515" cy="20320"/>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28" name="object 28"/>
            <p:cNvPicPr/>
            <p:nvPr/>
          </p:nvPicPr>
          <p:blipFill>
            <a:blip r:embed="rId9" cstate="print"/>
            <a:stretch>
              <a:fillRect/>
            </a:stretch>
          </p:blipFill>
          <p:spPr>
            <a:xfrm>
              <a:off x="7187439" y="1656079"/>
              <a:ext cx="161925" cy="146939"/>
            </a:xfrm>
            <a:prstGeom prst="rect">
              <a:avLst/>
            </a:prstGeom>
          </p:spPr>
        </p:pic>
        <p:grpSp>
          <p:nvGrpSpPr>
            <p:cNvPr id="29" name="object 29"/>
            <p:cNvGrpSpPr/>
            <p:nvPr/>
          </p:nvGrpSpPr>
          <p:grpSpPr>
            <a:xfrm>
              <a:off x="7409943" y="1576070"/>
              <a:ext cx="1042669" cy="427355"/>
              <a:chOff x="7409942" y="1576069"/>
              <a:chExt cx="1042669" cy="427355"/>
            </a:xfrm>
          </p:grpSpPr>
          <p:sp>
            <p:nvSpPr>
              <p:cNvPr id="30" name="object 30"/>
              <p:cNvSpPr/>
              <p:nvPr/>
            </p:nvSpPr>
            <p:spPr>
              <a:xfrm>
                <a:off x="7409942" y="1705482"/>
                <a:ext cx="400050" cy="19050"/>
              </a:xfrm>
              <a:custGeom>
                <a:avLst/>
                <a:gdLst/>
                <a:ahLst/>
                <a:cxnLst/>
                <a:rect l="l" t="t" r="r" b="b"/>
                <a:pathLst>
                  <a:path w="400050" h="19050">
                    <a:moveTo>
                      <a:pt x="400050" y="0"/>
                    </a:moveTo>
                    <a:lnTo>
                      <a:pt x="0" y="0"/>
                    </a:lnTo>
                    <a:lnTo>
                      <a:pt x="0" y="19050"/>
                    </a:lnTo>
                    <a:lnTo>
                      <a:pt x="400050" y="19050"/>
                    </a:lnTo>
                    <a:lnTo>
                      <a:pt x="400050"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31" name="object 31"/>
              <p:cNvPicPr/>
              <p:nvPr/>
            </p:nvPicPr>
            <p:blipFill>
              <a:blip r:embed="rId10" cstate="print"/>
              <a:stretch>
                <a:fillRect/>
              </a:stretch>
            </p:blipFill>
            <p:spPr>
              <a:xfrm>
                <a:off x="7426427" y="1786889"/>
                <a:ext cx="135897" cy="216154"/>
              </a:xfrm>
              <a:prstGeom prst="rect">
                <a:avLst/>
              </a:prstGeom>
            </p:spPr>
          </p:pic>
          <p:pic>
            <p:nvPicPr>
              <p:cNvPr id="32" name="object 32"/>
              <p:cNvPicPr/>
              <p:nvPr/>
            </p:nvPicPr>
            <p:blipFill>
              <a:blip r:embed="rId8" cstate="print"/>
              <a:stretch>
                <a:fillRect/>
              </a:stretch>
            </p:blipFill>
            <p:spPr>
              <a:xfrm>
                <a:off x="7589647" y="1858390"/>
                <a:ext cx="212598" cy="144653"/>
              </a:xfrm>
              <a:prstGeom prst="rect">
                <a:avLst/>
              </a:prstGeom>
            </p:spPr>
          </p:pic>
          <p:sp>
            <p:nvSpPr>
              <p:cNvPr id="33" name="object 33"/>
              <p:cNvSpPr/>
              <p:nvPr/>
            </p:nvSpPr>
            <p:spPr>
              <a:xfrm>
                <a:off x="7839837" y="1576069"/>
                <a:ext cx="612775" cy="282575"/>
              </a:xfrm>
              <a:custGeom>
                <a:avLst/>
                <a:gdLst/>
                <a:ahLst/>
                <a:cxnLst/>
                <a:rect l="l" t="t" r="r" b="b"/>
                <a:pathLst>
                  <a:path w="612775" h="282575">
                    <a:moveTo>
                      <a:pt x="135255" y="21463"/>
                    </a:moveTo>
                    <a:lnTo>
                      <a:pt x="75692" y="21463"/>
                    </a:lnTo>
                    <a:lnTo>
                      <a:pt x="74041" y="28702"/>
                    </a:lnTo>
                    <a:lnTo>
                      <a:pt x="79121" y="29083"/>
                    </a:lnTo>
                    <a:lnTo>
                      <a:pt x="82804" y="30099"/>
                    </a:lnTo>
                    <a:lnTo>
                      <a:pt x="87503" y="33782"/>
                    </a:lnTo>
                    <a:lnTo>
                      <a:pt x="88646" y="37084"/>
                    </a:lnTo>
                    <a:lnTo>
                      <a:pt x="88646" y="47879"/>
                    </a:lnTo>
                    <a:lnTo>
                      <a:pt x="50546" y="222504"/>
                    </a:lnTo>
                    <a:lnTo>
                      <a:pt x="32004" y="264033"/>
                    </a:lnTo>
                    <a:lnTo>
                      <a:pt x="24511" y="267601"/>
                    </a:lnTo>
                    <a:lnTo>
                      <a:pt x="9652" y="267601"/>
                    </a:lnTo>
                    <a:lnTo>
                      <a:pt x="5842" y="267208"/>
                    </a:lnTo>
                    <a:lnTo>
                      <a:pt x="3810" y="266446"/>
                    </a:lnTo>
                    <a:lnTo>
                      <a:pt x="0" y="280670"/>
                    </a:lnTo>
                    <a:lnTo>
                      <a:pt x="3556" y="281686"/>
                    </a:lnTo>
                    <a:lnTo>
                      <a:pt x="8382" y="282194"/>
                    </a:lnTo>
                    <a:lnTo>
                      <a:pt x="14097" y="282194"/>
                    </a:lnTo>
                    <a:lnTo>
                      <a:pt x="50952" y="271830"/>
                    </a:lnTo>
                    <a:lnTo>
                      <a:pt x="72644" y="239052"/>
                    </a:lnTo>
                    <a:lnTo>
                      <a:pt x="113919" y="56261"/>
                    </a:lnTo>
                    <a:lnTo>
                      <a:pt x="116967" y="45212"/>
                    </a:lnTo>
                    <a:lnTo>
                      <a:pt x="133604" y="28702"/>
                    </a:lnTo>
                    <a:lnTo>
                      <a:pt x="135255" y="21463"/>
                    </a:lnTo>
                    <a:close/>
                  </a:path>
                  <a:path w="612775" h="282575">
                    <a:moveTo>
                      <a:pt x="272034" y="11430"/>
                    </a:moveTo>
                    <a:lnTo>
                      <a:pt x="267970" y="0"/>
                    </a:lnTo>
                    <a:lnTo>
                      <a:pt x="247510" y="7391"/>
                    </a:lnTo>
                    <a:lnTo>
                      <a:pt x="229577" y="18110"/>
                    </a:lnTo>
                    <a:lnTo>
                      <a:pt x="201295" y="49530"/>
                    </a:lnTo>
                    <a:lnTo>
                      <a:pt x="183743" y="91427"/>
                    </a:lnTo>
                    <a:lnTo>
                      <a:pt x="177927" y="141224"/>
                    </a:lnTo>
                    <a:lnTo>
                      <a:pt x="179374" y="167182"/>
                    </a:lnTo>
                    <a:lnTo>
                      <a:pt x="190995" y="213093"/>
                    </a:lnTo>
                    <a:lnTo>
                      <a:pt x="214045" y="250342"/>
                    </a:lnTo>
                    <a:lnTo>
                      <a:pt x="247434" y="274967"/>
                    </a:lnTo>
                    <a:lnTo>
                      <a:pt x="267970" y="282321"/>
                    </a:lnTo>
                    <a:lnTo>
                      <a:pt x="271526" y="270891"/>
                    </a:lnTo>
                    <a:lnTo>
                      <a:pt x="255473" y="263779"/>
                    </a:lnTo>
                    <a:lnTo>
                      <a:pt x="241617" y="253860"/>
                    </a:lnTo>
                    <a:lnTo>
                      <a:pt x="213131" y="207606"/>
                    </a:lnTo>
                    <a:lnTo>
                      <a:pt x="204749" y="164693"/>
                    </a:lnTo>
                    <a:lnTo>
                      <a:pt x="203708" y="139827"/>
                    </a:lnTo>
                    <a:lnTo>
                      <a:pt x="204749" y="115735"/>
                    </a:lnTo>
                    <a:lnTo>
                      <a:pt x="213131" y="73926"/>
                    </a:lnTo>
                    <a:lnTo>
                      <a:pt x="241719" y="28422"/>
                    </a:lnTo>
                    <a:lnTo>
                      <a:pt x="255739" y="18580"/>
                    </a:lnTo>
                    <a:lnTo>
                      <a:pt x="272034" y="11430"/>
                    </a:lnTo>
                    <a:close/>
                  </a:path>
                  <a:path w="612775" h="282575">
                    <a:moveTo>
                      <a:pt x="612775" y="141224"/>
                    </a:moveTo>
                    <a:lnTo>
                      <a:pt x="606958" y="91427"/>
                    </a:lnTo>
                    <a:lnTo>
                      <a:pt x="589534" y="49530"/>
                    </a:lnTo>
                    <a:lnTo>
                      <a:pt x="561174" y="18097"/>
                    </a:lnTo>
                    <a:lnTo>
                      <a:pt x="522732" y="0"/>
                    </a:lnTo>
                    <a:lnTo>
                      <a:pt x="518795" y="11430"/>
                    </a:lnTo>
                    <a:lnTo>
                      <a:pt x="535101" y="18580"/>
                    </a:lnTo>
                    <a:lnTo>
                      <a:pt x="549148" y="28422"/>
                    </a:lnTo>
                    <a:lnTo>
                      <a:pt x="577684" y="73926"/>
                    </a:lnTo>
                    <a:lnTo>
                      <a:pt x="586066" y="115735"/>
                    </a:lnTo>
                    <a:lnTo>
                      <a:pt x="587121" y="139827"/>
                    </a:lnTo>
                    <a:lnTo>
                      <a:pt x="586066" y="164693"/>
                    </a:lnTo>
                    <a:lnTo>
                      <a:pt x="577684" y="207606"/>
                    </a:lnTo>
                    <a:lnTo>
                      <a:pt x="549186" y="253860"/>
                    </a:lnTo>
                    <a:lnTo>
                      <a:pt x="519176" y="270891"/>
                    </a:lnTo>
                    <a:lnTo>
                      <a:pt x="522732" y="282321"/>
                    </a:lnTo>
                    <a:lnTo>
                      <a:pt x="561289" y="264312"/>
                    </a:lnTo>
                    <a:lnTo>
                      <a:pt x="589661" y="233045"/>
                    </a:lnTo>
                    <a:lnTo>
                      <a:pt x="606971" y="191135"/>
                    </a:lnTo>
                    <a:lnTo>
                      <a:pt x="611314" y="167182"/>
                    </a:lnTo>
                    <a:lnTo>
                      <a:pt x="612775" y="141224"/>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34" name="object 34"/>
              <p:cNvPicPr/>
              <p:nvPr/>
            </p:nvPicPr>
            <p:blipFill>
              <a:blip r:embed="rId8" cstate="print"/>
              <a:stretch>
                <a:fillRect/>
              </a:stretch>
            </p:blipFill>
            <p:spPr>
              <a:xfrm>
                <a:off x="8123047" y="1658365"/>
                <a:ext cx="212598" cy="144653"/>
              </a:xfrm>
              <a:prstGeom prst="rect">
                <a:avLst/>
              </a:prstGeom>
            </p:spPr>
          </p:pic>
        </p:grpSp>
        <p:pic>
          <p:nvPicPr>
            <p:cNvPr id="35" name="object 35"/>
            <p:cNvPicPr/>
            <p:nvPr/>
          </p:nvPicPr>
          <p:blipFill>
            <a:blip r:embed="rId10" cstate="print"/>
            <a:stretch>
              <a:fillRect/>
            </a:stretch>
          </p:blipFill>
          <p:spPr>
            <a:xfrm>
              <a:off x="7531202" y="1358263"/>
              <a:ext cx="135897" cy="216155"/>
            </a:xfrm>
            <a:prstGeom prst="rect">
              <a:avLst/>
            </a:prstGeom>
          </p:spPr>
        </p:pic>
      </p:grpSp>
      <p:sp>
        <p:nvSpPr>
          <p:cNvPr id="37" name="Slide Number Placeholder 36">
            <a:extLst>
              <a:ext uri="{FF2B5EF4-FFF2-40B4-BE49-F238E27FC236}">
                <a16:creationId xmlns:a16="http://schemas.microsoft.com/office/drawing/2014/main" id="{48E98963-EFAD-0815-BDCC-1C8896DB409D}"/>
              </a:ext>
            </a:extLst>
          </p:cNvPr>
          <p:cNvSpPr>
            <a:spLocks noGrp="1"/>
          </p:cNvSpPr>
          <p:nvPr>
            <p:ph type="sldNum" sz="quarter" idx="12"/>
          </p:nvPr>
        </p:nvSpPr>
        <p:spPr>
          <a:xfrm>
            <a:off x="8777777" y="4781550"/>
            <a:ext cx="317869" cy="273844"/>
          </a:xfrm>
        </p:spPr>
        <p:txBody>
          <a:bodyPr/>
          <a:lstStyle/>
          <a:p>
            <a:pPr algn="ctr"/>
            <a:fld id="{B6F15528-21DE-4FAA-801E-634DDDAF4B2B}" type="slidenum">
              <a:rPr lang="en-PS" smtClean="0">
                <a:latin typeface="Gill Sans MT" panose="020B0502020104020203" pitchFamily="34" charset="77"/>
              </a:rPr>
              <a:pPr algn="ctr"/>
              <a:t>18</a:t>
            </a:fld>
            <a:endParaRPr lang="en-PS">
              <a:latin typeface="Gill Sans MT" panose="020B0502020104020203" pitchFamily="34" charset="77"/>
            </a:endParaRPr>
          </a:p>
        </p:txBody>
      </p:sp>
      <p:sp>
        <p:nvSpPr>
          <p:cNvPr id="14" name="TextBox 13">
            <a:extLst>
              <a:ext uri="{FF2B5EF4-FFF2-40B4-BE49-F238E27FC236}">
                <a16:creationId xmlns:a16="http://schemas.microsoft.com/office/drawing/2014/main" id="{C6FE6269-2537-2B4E-EBC4-76FD9F4498C6}"/>
              </a:ext>
            </a:extLst>
          </p:cNvPr>
          <p:cNvSpPr txBox="1"/>
          <p:nvPr/>
        </p:nvSpPr>
        <p:spPr>
          <a:xfrm>
            <a:off x="207287" y="3872041"/>
            <a:ext cx="6437363" cy="830997"/>
          </a:xfrm>
          <a:prstGeom prst="rect">
            <a:avLst/>
          </a:prstGeom>
          <a:noFill/>
        </p:spPr>
        <p:txBody>
          <a:bodyPr wrap="square" rtlCol="0">
            <a:spAutoFit/>
          </a:bodyPr>
          <a:lstStyle/>
          <a:p>
            <a:r>
              <a:rPr lang="en-PS" sz="2400" dirty="0">
                <a:latin typeface="Gill Sans MT" panose="020B0502020104020203" pitchFamily="34" charset="77"/>
                <a:cs typeface="Times New Roman" panose="02020603050405020304" pitchFamily="18" charset="0"/>
              </a:rPr>
              <a:t>The learning rate determines how big is the step we take when we update w and b </a:t>
            </a:r>
          </a:p>
        </p:txBody>
      </p:sp>
      <p:sp>
        <p:nvSpPr>
          <p:cNvPr id="15" name="TextBox 14">
            <a:extLst>
              <a:ext uri="{FF2B5EF4-FFF2-40B4-BE49-F238E27FC236}">
                <a16:creationId xmlns:a16="http://schemas.microsoft.com/office/drawing/2014/main" id="{417B1BB2-975F-95C2-0A48-E41D6DE9A43C}"/>
              </a:ext>
            </a:extLst>
          </p:cNvPr>
          <p:cNvSpPr txBox="1"/>
          <p:nvPr/>
        </p:nvSpPr>
        <p:spPr>
          <a:xfrm>
            <a:off x="5878374" y="458353"/>
            <a:ext cx="3058338" cy="1015663"/>
          </a:xfrm>
          <a:prstGeom prst="rect">
            <a:avLst/>
          </a:prstGeom>
          <a:noFill/>
        </p:spPr>
        <p:txBody>
          <a:bodyPr wrap="none" rtlCol="0">
            <a:spAutoFit/>
          </a:bodyPr>
          <a:lstStyle/>
          <a:p>
            <a:r>
              <a:rPr lang="en-PS" sz="2000" dirty="0">
                <a:latin typeface="Gill Sans MT" panose="020B0502020104020203" pitchFamily="34" charset="77"/>
                <a:cs typeface="Times New Roman" panose="02020603050405020304" pitchFamily="18" charset="0"/>
              </a:rPr>
              <a:t>Just to make the calculation</a:t>
            </a:r>
          </a:p>
          <a:p>
            <a:r>
              <a:rPr lang="en-PS" sz="2000" dirty="0">
                <a:latin typeface="Gill Sans MT" panose="020B0502020104020203" pitchFamily="34" charset="77"/>
                <a:cs typeface="Times New Roman" panose="02020603050405020304" pitchFamily="18" charset="0"/>
              </a:rPr>
              <a:t>simple we will use one </a:t>
            </a:r>
          </a:p>
          <a:p>
            <a:r>
              <a:rPr lang="en-PS" sz="2000" dirty="0">
                <a:latin typeface="Gill Sans MT" panose="020B0502020104020203" pitchFamily="34" charset="77"/>
                <a:cs typeface="Times New Roman" panose="02020603050405020304" pitchFamily="18" charset="0"/>
              </a:rPr>
              <a:t>parameter </a:t>
            </a:r>
            <a:r>
              <a:rPr lang="en-PS" sz="2000" dirty="0">
                <a:solidFill>
                  <a:srgbClr val="C00000"/>
                </a:solidFill>
                <a:latin typeface="Gill Sans MT" panose="020B0502020104020203" pitchFamily="34" charset="77"/>
                <a:cs typeface="Times New Roman" panose="02020603050405020304" pitchFamily="18" charset="0"/>
              </a:rPr>
              <a:t>only (w)</a:t>
            </a:r>
          </a:p>
        </p:txBody>
      </p:sp>
      <p:grpSp>
        <p:nvGrpSpPr>
          <p:cNvPr id="21" name="Group 20">
            <a:extLst>
              <a:ext uri="{FF2B5EF4-FFF2-40B4-BE49-F238E27FC236}">
                <a16:creationId xmlns:a16="http://schemas.microsoft.com/office/drawing/2014/main" id="{BD2E3C8D-6323-8DB6-F4C5-47E35A337725}"/>
              </a:ext>
            </a:extLst>
          </p:cNvPr>
          <p:cNvGrpSpPr/>
          <p:nvPr/>
        </p:nvGrpSpPr>
        <p:grpSpPr>
          <a:xfrm>
            <a:off x="299064" y="1657350"/>
            <a:ext cx="1223948" cy="1612764"/>
            <a:chOff x="299064" y="1657350"/>
            <a:chExt cx="1223948" cy="1612764"/>
          </a:xfrm>
        </p:grpSpPr>
        <p:pic>
          <p:nvPicPr>
            <p:cNvPr id="18" name="object 18"/>
            <p:cNvPicPr/>
            <p:nvPr/>
          </p:nvPicPr>
          <p:blipFill>
            <a:blip r:embed="rId11" cstate="print"/>
            <a:stretch>
              <a:fillRect/>
            </a:stretch>
          </p:blipFill>
          <p:spPr>
            <a:xfrm>
              <a:off x="341912" y="1745098"/>
              <a:ext cx="1181100" cy="1525016"/>
            </a:xfrm>
            <a:prstGeom prst="rect">
              <a:avLst/>
            </a:prstGeom>
          </p:spPr>
        </p:pic>
        <p:sp>
          <p:nvSpPr>
            <p:cNvPr id="4" name="Oval 3">
              <a:extLst>
                <a:ext uri="{FF2B5EF4-FFF2-40B4-BE49-F238E27FC236}">
                  <a16:creationId xmlns:a16="http://schemas.microsoft.com/office/drawing/2014/main" id="{3E4ECA26-52B7-0E52-141A-A282E2BB7642}"/>
                </a:ext>
              </a:extLst>
            </p:cNvPr>
            <p:cNvSpPr/>
            <p:nvPr/>
          </p:nvSpPr>
          <p:spPr>
            <a:xfrm>
              <a:off x="299064" y="1657350"/>
              <a:ext cx="234336" cy="304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P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E2281-F3F3-FA57-936A-D1D0F7017AD7}"/>
              </a:ext>
            </a:extLst>
          </p:cNvPr>
          <p:cNvSpPr>
            <a:spLocks noGrp="1"/>
          </p:cNvSpPr>
          <p:nvPr>
            <p:ph type="title"/>
          </p:nvPr>
        </p:nvSpPr>
        <p:spPr>
          <a:xfrm>
            <a:off x="220980" y="-47277"/>
            <a:ext cx="8820150" cy="751481"/>
          </a:xfrm>
        </p:spPr>
        <p:txBody>
          <a:bodyPr>
            <a:normAutofit fontScale="90000"/>
          </a:bodyPr>
          <a:lstStyle/>
          <a:p>
            <a:r>
              <a:rPr lang="en-PS" dirty="0"/>
              <a:t>The impact of the derivative on the parameters updates</a:t>
            </a:r>
          </a:p>
        </p:txBody>
      </p:sp>
      <p:sp>
        <p:nvSpPr>
          <p:cNvPr id="4" name="Slide Number Placeholder 3">
            <a:extLst>
              <a:ext uri="{FF2B5EF4-FFF2-40B4-BE49-F238E27FC236}">
                <a16:creationId xmlns:a16="http://schemas.microsoft.com/office/drawing/2014/main" id="{C9B3E1DB-FD66-67C3-15F5-E412B96E9799}"/>
              </a:ext>
            </a:extLst>
          </p:cNvPr>
          <p:cNvSpPr>
            <a:spLocks noGrp="1"/>
          </p:cNvSpPr>
          <p:nvPr>
            <p:ph type="sldNum" sz="quarter" idx="12"/>
          </p:nvPr>
        </p:nvSpPr>
        <p:spPr>
          <a:xfrm>
            <a:off x="8686800" y="4767263"/>
            <a:ext cx="361950" cy="273844"/>
          </a:xfrm>
        </p:spPr>
        <p:txBody>
          <a:bodyPr/>
          <a:lstStyle/>
          <a:p>
            <a:fld id="{B6F15528-21DE-4FAA-801E-634DDDAF4B2B}" type="slidenum">
              <a:rPr lang="en-PS" smtClean="0"/>
              <a:t>19</a:t>
            </a:fld>
            <a:endParaRPr lang="en-PS"/>
          </a:p>
        </p:txBody>
      </p:sp>
      <p:sp>
        <p:nvSpPr>
          <p:cNvPr id="24" name="TextBox 23">
            <a:extLst>
              <a:ext uri="{FF2B5EF4-FFF2-40B4-BE49-F238E27FC236}">
                <a16:creationId xmlns:a16="http://schemas.microsoft.com/office/drawing/2014/main" id="{D5478B5B-69B6-B2A4-D94F-9F2FCF559472}"/>
              </a:ext>
            </a:extLst>
          </p:cNvPr>
          <p:cNvSpPr txBox="1"/>
          <p:nvPr/>
        </p:nvSpPr>
        <p:spPr>
          <a:xfrm>
            <a:off x="3898377" y="4666221"/>
            <a:ext cx="3137180" cy="307777"/>
          </a:xfrm>
          <a:prstGeom prst="rect">
            <a:avLst/>
          </a:prstGeom>
          <a:noFill/>
        </p:spPr>
        <p:txBody>
          <a:bodyPr wrap="square" rtlCol="0">
            <a:spAutoFit/>
          </a:bodyPr>
          <a:lstStyle/>
          <a:p>
            <a:r>
              <a:rPr lang="en-PS" sz="1400" dirty="0"/>
              <a:t>initialize w at this point</a:t>
            </a:r>
          </a:p>
        </p:txBody>
      </p:sp>
      <p:grpSp>
        <p:nvGrpSpPr>
          <p:cNvPr id="38" name="Group 37">
            <a:extLst>
              <a:ext uri="{FF2B5EF4-FFF2-40B4-BE49-F238E27FC236}">
                <a16:creationId xmlns:a16="http://schemas.microsoft.com/office/drawing/2014/main" id="{9AA80CAD-C72B-30FC-984A-99EE65954CE1}"/>
              </a:ext>
            </a:extLst>
          </p:cNvPr>
          <p:cNvGrpSpPr/>
          <p:nvPr/>
        </p:nvGrpSpPr>
        <p:grpSpPr>
          <a:xfrm>
            <a:off x="5867400" y="704204"/>
            <a:ext cx="2501266" cy="645162"/>
            <a:chOff x="5951346" y="1358263"/>
            <a:chExt cx="2501266" cy="645162"/>
          </a:xfrm>
        </p:grpSpPr>
        <p:pic>
          <p:nvPicPr>
            <p:cNvPr id="43" name="object 24">
              <a:extLst>
                <a:ext uri="{FF2B5EF4-FFF2-40B4-BE49-F238E27FC236}">
                  <a16:creationId xmlns:a16="http://schemas.microsoft.com/office/drawing/2014/main" id="{E97365D0-212C-ADCE-8DD9-026956F9FBE9}"/>
                </a:ext>
              </a:extLst>
            </p:cNvPr>
            <p:cNvPicPr/>
            <p:nvPr/>
          </p:nvPicPr>
          <p:blipFill>
            <a:blip r:embed="rId2" cstate="print"/>
            <a:stretch>
              <a:fillRect/>
            </a:stretch>
          </p:blipFill>
          <p:spPr>
            <a:xfrm>
              <a:off x="5951346" y="1658366"/>
              <a:ext cx="212599" cy="144653"/>
            </a:xfrm>
            <a:prstGeom prst="rect">
              <a:avLst/>
            </a:prstGeom>
          </p:spPr>
        </p:pic>
        <p:sp>
          <p:nvSpPr>
            <p:cNvPr id="44" name="object 25">
              <a:extLst>
                <a:ext uri="{FF2B5EF4-FFF2-40B4-BE49-F238E27FC236}">
                  <a16:creationId xmlns:a16="http://schemas.microsoft.com/office/drawing/2014/main" id="{2C2D61D8-CF7F-5E25-8806-F8C76FCF415B}"/>
                </a:ext>
              </a:extLst>
            </p:cNvPr>
            <p:cNvSpPr/>
            <p:nvPr/>
          </p:nvSpPr>
          <p:spPr>
            <a:xfrm>
              <a:off x="6279643" y="1672843"/>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96FF"/>
            </a:solidFill>
          </p:spPr>
          <p:txBody>
            <a:bodyPr wrap="square" lIns="0" tIns="0" rIns="0" bIns="0" rtlCol="0"/>
            <a:lstStyle/>
            <a:p>
              <a:endParaRPr/>
            </a:p>
          </p:txBody>
        </p:sp>
        <p:pic>
          <p:nvPicPr>
            <p:cNvPr id="45" name="object 26">
              <a:extLst>
                <a:ext uri="{FF2B5EF4-FFF2-40B4-BE49-F238E27FC236}">
                  <a16:creationId xmlns:a16="http://schemas.microsoft.com/office/drawing/2014/main" id="{DED740E9-B15F-315E-77F1-627D32C4BE84}"/>
                </a:ext>
              </a:extLst>
            </p:cNvPr>
            <p:cNvPicPr/>
            <p:nvPr/>
          </p:nvPicPr>
          <p:blipFill>
            <a:blip r:embed="rId2" cstate="print"/>
            <a:stretch>
              <a:fillRect/>
            </a:stretch>
          </p:blipFill>
          <p:spPr>
            <a:xfrm>
              <a:off x="6579997" y="1658366"/>
              <a:ext cx="212599" cy="144653"/>
            </a:xfrm>
            <a:prstGeom prst="rect">
              <a:avLst/>
            </a:prstGeom>
          </p:spPr>
        </p:pic>
        <p:sp>
          <p:nvSpPr>
            <p:cNvPr id="46" name="object 27">
              <a:extLst>
                <a:ext uri="{FF2B5EF4-FFF2-40B4-BE49-F238E27FC236}">
                  <a16:creationId xmlns:a16="http://schemas.microsoft.com/office/drawing/2014/main" id="{43FFCABE-63E4-6298-BF7A-36666F2F1646}"/>
                </a:ext>
              </a:extLst>
            </p:cNvPr>
            <p:cNvSpPr/>
            <p:nvPr/>
          </p:nvSpPr>
          <p:spPr>
            <a:xfrm>
              <a:off x="6898768" y="1703595"/>
              <a:ext cx="183515" cy="20320"/>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96FF"/>
            </a:solidFill>
          </p:spPr>
          <p:txBody>
            <a:bodyPr wrap="square" lIns="0" tIns="0" rIns="0" bIns="0" rtlCol="0"/>
            <a:lstStyle/>
            <a:p>
              <a:endParaRPr/>
            </a:p>
          </p:txBody>
        </p:sp>
        <p:pic>
          <p:nvPicPr>
            <p:cNvPr id="47" name="object 28">
              <a:extLst>
                <a:ext uri="{FF2B5EF4-FFF2-40B4-BE49-F238E27FC236}">
                  <a16:creationId xmlns:a16="http://schemas.microsoft.com/office/drawing/2014/main" id="{F31A1EA6-5E98-2A12-D25C-00711AF53E53}"/>
                </a:ext>
              </a:extLst>
            </p:cNvPr>
            <p:cNvPicPr/>
            <p:nvPr/>
          </p:nvPicPr>
          <p:blipFill>
            <a:blip r:embed="rId3" cstate="print"/>
            <a:stretch>
              <a:fillRect/>
            </a:stretch>
          </p:blipFill>
          <p:spPr>
            <a:xfrm>
              <a:off x="7187439" y="1656079"/>
              <a:ext cx="161925" cy="146939"/>
            </a:xfrm>
            <a:prstGeom prst="rect">
              <a:avLst/>
            </a:prstGeom>
          </p:spPr>
        </p:pic>
        <p:grpSp>
          <p:nvGrpSpPr>
            <p:cNvPr id="48" name="object 29">
              <a:extLst>
                <a:ext uri="{FF2B5EF4-FFF2-40B4-BE49-F238E27FC236}">
                  <a16:creationId xmlns:a16="http://schemas.microsoft.com/office/drawing/2014/main" id="{C7957474-D8A5-2A99-D45A-28AB2C83DBF8}"/>
                </a:ext>
              </a:extLst>
            </p:cNvPr>
            <p:cNvGrpSpPr/>
            <p:nvPr/>
          </p:nvGrpSpPr>
          <p:grpSpPr>
            <a:xfrm>
              <a:off x="7409943" y="1576070"/>
              <a:ext cx="1042669" cy="427355"/>
              <a:chOff x="7409942" y="1576069"/>
              <a:chExt cx="1042669" cy="427355"/>
            </a:xfrm>
          </p:grpSpPr>
          <p:sp>
            <p:nvSpPr>
              <p:cNvPr id="50" name="object 30">
                <a:extLst>
                  <a:ext uri="{FF2B5EF4-FFF2-40B4-BE49-F238E27FC236}">
                    <a16:creationId xmlns:a16="http://schemas.microsoft.com/office/drawing/2014/main" id="{65D49369-FD1D-332E-1E63-BC71CDA418A4}"/>
                  </a:ext>
                </a:extLst>
              </p:cNvPr>
              <p:cNvSpPr/>
              <p:nvPr/>
            </p:nvSpPr>
            <p:spPr>
              <a:xfrm>
                <a:off x="7409942" y="1705482"/>
                <a:ext cx="400050" cy="19050"/>
              </a:xfrm>
              <a:custGeom>
                <a:avLst/>
                <a:gdLst/>
                <a:ahLst/>
                <a:cxnLst/>
                <a:rect l="l" t="t" r="r" b="b"/>
                <a:pathLst>
                  <a:path w="400050" h="19050">
                    <a:moveTo>
                      <a:pt x="400050" y="0"/>
                    </a:moveTo>
                    <a:lnTo>
                      <a:pt x="0" y="0"/>
                    </a:lnTo>
                    <a:lnTo>
                      <a:pt x="0" y="19050"/>
                    </a:lnTo>
                    <a:lnTo>
                      <a:pt x="400050" y="19050"/>
                    </a:lnTo>
                    <a:lnTo>
                      <a:pt x="400050" y="0"/>
                    </a:lnTo>
                    <a:close/>
                  </a:path>
                </a:pathLst>
              </a:custGeom>
              <a:solidFill>
                <a:srgbClr val="0096FF"/>
              </a:solidFill>
            </p:spPr>
            <p:txBody>
              <a:bodyPr wrap="square" lIns="0" tIns="0" rIns="0" bIns="0" rtlCol="0"/>
              <a:lstStyle/>
              <a:p>
                <a:endParaRPr/>
              </a:p>
            </p:txBody>
          </p:sp>
          <p:pic>
            <p:nvPicPr>
              <p:cNvPr id="51" name="object 31">
                <a:extLst>
                  <a:ext uri="{FF2B5EF4-FFF2-40B4-BE49-F238E27FC236}">
                    <a16:creationId xmlns:a16="http://schemas.microsoft.com/office/drawing/2014/main" id="{28E8EF91-B3E6-C918-8214-EDCC2B2BB176}"/>
                  </a:ext>
                </a:extLst>
              </p:cNvPr>
              <p:cNvPicPr/>
              <p:nvPr/>
            </p:nvPicPr>
            <p:blipFill>
              <a:blip r:embed="rId4" cstate="print"/>
              <a:stretch>
                <a:fillRect/>
              </a:stretch>
            </p:blipFill>
            <p:spPr>
              <a:xfrm>
                <a:off x="7426427" y="1786889"/>
                <a:ext cx="135897" cy="216154"/>
              </a:xfrm>
              <a:prstGeom prst="rect">
                <a:avLst/>
              </a:prstGeom>
            </p:spPr>
          </p:pic>
          <p:pic>
            <p:nvPicPr>
              <p:cNvPr id="52" name="object 32">
                <a:extLst>
                  <a:ext uri="{FF2B5EF4-FFF2-40B4-BE49-F238E27FC236}">
                    <a16:creationId xmlns:a16="http://schemas.microsoft.com/office/drawing/2014/main" id="{BB9F8D4D-5E6C-4D2E-E9F4-6F9CC9E73B5B}"/>
                  </a:ext>
                </a:extLst>
              </p:cNvPr>
              <p:cNvPicPr/>
              <p:nvPr/>
            </p:nvPicPr>
            <p:blipFill>
              <a:blip r:embed="rId2" cstate="print"/>
              <a:stretch>
                <a:fillRect/>
              </a:stretch>
            </p:blipFill>
            <p:spPr>
              <a:xfrm>
                <a:off x="7589647" y="1858390"/>
                <a:ext cx="212598" cy="144653"/>
              </a:xfrm>
              <a:prstGeom prst="rect">
                <a:avLst/>
              </a:prstGeom>
            </p:spPr>
          </p:pic>
          <p:sp>
            <p:nvSpPr>
              <p:cNvPr id="53" name="object 33">
                <a:extLst>
                  <a:ext uri="{FF2B5EF4-FFF2-40B4-BE49-F238E27FC236}">
                    <a16:creationId xmlns:a16="http://schemas.microsoft.com/office/drawing/2014/main" id="{E737A38A-10BC-815E-532A-FECB3FB97DDE}"/>
                  </a:ext>
                </a:extLst>
              </p:cNvPr>
              <p:cNvSpPr/>
              <p:nvPr/>
            </p:nvSpPr>
            <p:spPr>
              <a:xfrm>
                <a:off x="7839837" y="1576069"/>
                <a:ext cx="612775" cy="282575"/>
              </a:xfrm>
              <a:custGeom>
                <a:avLst/>
                <a:gdLst/>
                <a:ahLst/>
                <a:cxnLst/>
                <a:rect l="l" t="t" r="r" b="b"/>
                <a:pathLst>
                  <a:path w="612775" h="282575">
                    <a:moveTo>
                      <a:pt x="135255" y="21463"/>
                    </a:moveTo>
                    <a:lnTo>
                      <a:pt x="75692" y="21463"/>
                    </a:lnTo>
                    <a:lnTo>
                      <a:pt x="74041" y="28702"/>
                    </a:lnTo>
                    <a:lnTo>
                      <a:pt x="79121" y="29083"/>
                    </a:lnTo>
                    <a:lnTo>
                      <a:pt x="82804" y="30099"/>
                    </a:lnTo>
                    <a:lnTo>
                      <a:pt x="87503" y="33782"/>
                    </a:lnTo>
                    <a:lnTo>
                      <a:pt x="88646" y="37084"/>
                    </a:lnTo>
                    <a:lnTo>
                      <a:pt x="88646" y="47879"/>
                    </a:lnTo>
                    <a:lnTo>
                      <a:pt x="50546" y="222504"/>
                    </a:lnTo>
                    <a:lnTo>
                      <a:pt x="32004" y="264033"/>
                    </a:lnTo>
                    <a:lnTo>
                      <a:pt x="24511" y="267601"/>
                    </a:lnTo>
                    <a:lnTo>
                      <a:pt x="9652" y="267601"/>
                    </a:lnTo>
                    <a:lnTo>
                      <a:pt x="5842" y="267208"/>
                    </a:lnTo>
                    <a:lnTo>
                      <a:pt x="3810" y="266446"/>
                    </a:lnTo>
                    <a:lnTo>
                      <a:pt x="0" y="280670"/>
                    </a:lnTo>
                    <a:lnTo>
                      <a:pt x="3556" y="281686"/>
                    </a:lnTo>
                    <a:lnTo>
                      <a:pt x="8382" y="282194"/>
                    </a:lnTo>
                    <a:lnTo>
                      <a:pt x="14097" y="282194"/>
                    </a:lnTo>
                    <a:lnTo>
                      <a:pt x="50952" y="271830"/>
                    </a:lnTo>
                    <a:lnTo>
                      <a:pt x="72644" y="239052"/>
                    </a:lnTo>
                    <a:lnTo>
                      <a:pt x="113919" y="56261"/>
                    </a:lnTo>
                    <a:lnTo>
                      <a:pt x="116967" y="45212"/>
                    </a:lnTo>
                    <a:lnTo>
                      <a:pt x="133604" y="28702"/>
                    </a:lnTo>
                    <a:lnTo>
                      <a:pt x="135255" y="21463"/>
                    </a:lnTo>
                    <a:close/>
                  </a:path>
                  <a:path w="612775" h="282575">
                    <a:moveTo>
                      <a:pt x="272034" y="11430"/>
                    </a:moveTo>
                    <a:lnTo>
                      <a:pt x="267970" y="0"/>
                    </a:lnTo>
                    <a:lnTo>
                      <a:pt x="247510" y="7391"/>
                    </a:lnTo>
                    <a:lnTo>
                      <a:pt x="229577" y="18110"/>
                    </a:lnTo>
                    <a:lnTo>
                      <a:pt x="201295" y="49530"/>
                    </a:lnTo>
                    <a:lnTo>
                      <a:pt x="183743" y="91427"/>
                    </a:lnTo>
                    <a:lnTo>
                      <a:pt x="177927" y="141224"/>
                    </a:lnTo>
                    <a:lnTo>
                      <a:pt x="179374" y="167182"/>
                    </a:lnTo>
                    <a:lnTo>
                      <a:pt x="190995" y="213093"/>
                    </a:lnTo>
                    <a:lnTo>
                      <a:pt x="214045" y="250342"/>
                    </a:lnTo>
                    <a:lnTo>
                      <a:pt x="247434" y="274967"/>
                    </a:lnTo>
                    <a:lnTo>
                      <a:pt x="267970" y="282321"/>
                    </a:lnTo>
                    <a:lnTo>
                      <a:pt x="271526" y="270891"/>
                    </a:lnTo>
                    <a:lnTo>
                      <a:pt x="255473" y="263779"/>
                    </a:lnTo>
                    <a:lnTo>
                      <a:pt x="241617" y="253860"/>
                    </a:lnTo>
                    <a:lnTo>
                      <a:pt x="213131" y="207606"/>
                    </a:lnTo>
                    <a:lnTo>
                      <a:pt x="204749" y="164693"/>
                    </a:lnTo>
                    <a:lnTo>
                      <a:pt x="203708" y="139827"/>
                    </a:lnTo>
                    <a:lnTo>
                      <a:pt x="204749" y="115735"/>
                    </a:lnTo>
                    <a:lnTo>
                      <a:pt x="213131" y="73926"/>
                    </a:lnTo>
                    <a:lnTo>
                      <a:pt x="241719" y="28422"/>
                    </a:lnTo>
                    <a:lnTo>
                      <a:pt x="255739" y="18580"/>
                    </a:lnTo>
                    <a:lnTo>
                      <a:pt x="272034" y="11430"/>
                    </a:lnTo>
                    <a:close/>
                  </a:path>
                  <a:path w="612775" h="282575">
                    <a:moveTo>
                      <a:pt x="612775" y="141224"/>
                    </a:moveTo>
                    <a:lnTo>
                      <a:pt x="606958" y="91427"/>
                    </a:lnTo>
                    <a:lnTo>
                      <a:pt x="589534" y="49530"/>
                    </a:lnTo>
                    <a:lnTo>
                      <a:pt x="561174" y="18097"/>
                    </a:lnTo>
                    <a:lnTo>
                      <a:pt x="522732" y="0"/>
                    </a:lnTo>
                    <a:lnTo>
                      <a:pt x="518795" y="11430"/>
                    </a:lnTo>
                    <a:lnTo>
                      <a:pt x="535101" y="18580"/>
                    </a:lnTo>
                    <a:lnTo>
                      <a:pt x="549148" y="28422"/>
                    </a:lnTo>
                    <a:lnTo>
                      <a:pt x="577684" y="73926"/>
                    </a:lnTo>
                    <a:lnTo>
                      <a:pt x="586066" y="115735"/>
                    </a:lnTo>
                    <a:lnTo>
                      <a:pt x="587121" y="139827"/>
                    </a:lnTo>
                    <a:lnTo>
                      <a:pt x="586066" y="164693"/>
                    </a:lnTo>
                    <a:lnTo>
                      <a:pt x="577684" y="207606"/>
                    </a:lnTo>
                    <a:lnTo>
                      <a:pt x="549186" y="253860"/>
                    </a:lnTo>
                    <a:lnTo>
                      <a:pt x="519176" y="270891"/>
                    </a:lnTo>
                    <a:lnTo>
                      <a:pt x="522732" y="282321"/>
                    </a:lnTo>
                    <a:lnTo>
                      <a:pt x="561289" y="264312"/>
                    </a:lnTo>
                    <a:lnTo>
                      <a:pt x="589661" y="233045"/>
                    </a:lnTo>
                    <a:lnTo>
                      <a:pt x="606971" y="191135"/>
                    </a:lnTo>
                    <a:lnTo>
                      <a:pt x="611314" y="167182"/>
                    </a:lnTo>
                    <a:lnTo>
                      <a:pt x="612775" y="141224"/>
                    </a:lnTo>
                    <a:close/>
                  </a:path>
                </a:pathLst>
              </a:custGeom>
              <a:solidFill>
                <a:srgbClr val="0096FF"/>
              </a:solidFill>
            </p:spPr>
            <p:txBody>
              <a:bodyPr wrap="square" lIns="0" tIns="0" rIns="0" bIns="0" rtlCol="0"/>
              <a:lstStyle/>
              <a:p>
                <a:endParaRPr/>
              </a:p>
            </p:txBody>
          </p:sp>
          <p:pic>
            <p:nvPicPr>
              <p:cNvPr id="54" name="object 34">
                <a:extLst>
                  <a:ext uri="{FF2B5EF4-FFF2-40B4-BE49-F238E27FC236}">
                    <a16:creationId xmlns:a16="http://schemas.microsoft.com/office/drawing/2014/main" id="{0D3B0D69-985F-0316-510E-9D320EBE499F}"/>
                  </a:ext>
                </a:extLst>
              </p:cNvPr>
              <p:cNvPicPr/>
              <p:nvPr/>
            </p:nvPicPr>
            <p:blipFill>
              <a:blip r:embed="rId2" cstate="print"/>
              <a:stretch>
                <a:fillRect/>
              </a:stretch>
            </p:blipFill>
            <p:spPr>
              <a:xfrm>
                <a:off x="8123047" y="1658365"/>
                <a:ext cx="212598" cy="144653"/>
              </a:xfrm>
              <a:prstGeom prst="rect">
                <a:avLst/>
              </a:prstGeom>
            </p:spPr>
          </p:pic>
        </p:grpSp>
        <p:pic>
          <p:nvPicPr>
            <p:cNvPr id="49" name="object 35">
              <a:extLst>
                <a:ext uri="{FF2B5EF4-FFF2-40B4-BE49-F238E27FC236}">
                  <a16:creationId xmlns:a16="http://schemas.microsoft.com/office/drawing/2014/main" id="{39C5C175-9D20-80F3-814C-BC1B0F12FCF2}"/>
                </a:ext>
              </a:extLst>
            </p:cNvPr>
            <p:cNvPicPr/>
            <p:nvPr/>
          </p:nvPicPr>
          <p:blipFill>
            <a:blip r:embed="rId4" cstate="print"/>
            <a:stretch>
              <a:fillRect/>
            </a:stretch>
          </p:blipFill>
          <p:spPr>
            <a:xfrm>
              <a:off x="7531202" y="1358263"/>
              <a:ext cx="135897" cy="216155"/>
            </a:xfrm>
            <a:prstGeom prst="rect">
              <a:avLst/>
            </a:prstGeom>
          </p:spPr>
        </p:pic>
      </p:grpSp>
      <p:sp>
        <p:nvSpPr>
          <p:cNvPr id="58" name="Rounded Rectangle 57">
            <a:extLst>
              <a:ext uri="{FF2B5EF4-FFF2-40B4-BE49-F238E27FC236}">
                <a16:creationId xmlns:a16="http://schemas.microsoft.com/office/drawing/2014/main" id="{31D4D36F-7155-EF88-B582-FF54B2B79B62}"/>
              </a:ext>
            </a:extLst>
          </p:cNvPr>
          <p:cNvSpPr/>
          <p:nvPr/>
        </p:nvSpPr>
        <p:spPr>
          <a:xfrm>
            <a:off x="7315200" y="514350"/>
            <a:ext cx="1191918"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59" name="TextBox 58">
            <a:extLst>
              <a:ext uri="{FF2B5EF4-FFF2-40B4-BE49-F238E27FC236}">
                <a16:creationId xmlns:a16="http://schemas.microsoft.com/office/drawing/2014/main" id="{AC4DA52B-8D0A-7DC2-A41C-3667A047C1BC}"/>
              </a:ext>
            </a:extLst>
          </p:cNvPr>
          <p:cNvSpPr txBox="1"/>
          <p:nvPr/>
        </p:nvSpPr>
        <p:spPr>
          <a:xfrm>
            <a:off x="5207123" y="1875829"/>
            <a:ext cx="3459447" cy="369332"/>
          </a:xfrm>
          <a:prstGeom prst="rect">
            <a:avLst/>
          </a:prstGeom>
          <a:noFill/>
        </p:spPr>
        <p:txBody>
          <a:bodyPr wrap="square" rtlCol="0">
            <a:spAutoFit/>
          </a:bodyPr>
          <a:lstStyle/>
          <a:p>
            <a:r>
              <a:rPr lang="en-PS" dirty="0"/>
              <a:t>Derivative = slope of J(w) = C/A = + </a:t>
            </a:r>
          </a:p>
        </p:txBody>
      </p:sp>
      <p:grpSp>
        <p:nvGrpSpPr>
          <p:cNvPr id="82" name="Group 81">
            <a:extLst>
              <a:ext uri="{FF2B5EF4-FFF2-40B4-BE49-F238E27FC236}">
                <a16:creationId xmlns:a16="http://schemas.microsoft.com/office/drawing/2014/main" id="{40DC077F-3B65-D4EF-92AD-8B0AD2239647}"/>
              </a:ext>
            </a:extLst>
          </p:cNvPr>
          <p:cNvGrpSpPr/>
          <p:nvPr/>
        </p:nvGrpSpPr>
        <p:grpSpPr>
          <a:xfrm>
            <a:off x="70977" y="492364"/>
            <a:ext cx="5136146" cy="4173857"/>
            <a:chOff x="235546" y="1109134"/>
            <a:chExt cx="5136146" cy="4173857"/>
          </a:xfrm>
        </p:grpSpPr>
        <p:grpSp>
          <p:nvGrpSpPr>
            <p:cNvPr id="37" name="Group 36">
              <a:extLst>
                <a:ext uri="{FF2B5EF4-FFF2-40B4-BE49-F238E27FC236}">
                  <a16:creationId xmlns:a16="http://schemas.microsoft.com/office/drawing/2014/main" id="{991B6ADD-194C-3526-0511-E995D02FBA5D}"/>
                </a:ext>
              </a:extLst>
            </p:cNvPr>
            <p:cNvGrpSpPr/>
            <p:nvPr/>
          </p:nvGrpSpPr>
          <p:grpSpPr>
            <a:xfrm>
              <a:off x="235546" y="1109134"/>
              <a:ext cx="5136146" cy="4173857"/>
              <a:chOff x="1287780" y="1028250"/>
              <a:chExt cx="5136146" cy="4173857"/>
            </a:xfrm>
          </p:grpSpPr>
          <p:pic>
            <p:nvPicPr>
              <p:cNvPr id="16" name="Picture 15">
                <a:extLst>
                  <a:ext uri="{FF2B5EF4-FFF2-40B4-BE49-F238E27FC236}">
                    <a16:creationId xmlns:a16="http://schemas.microsoft.com/office/drawing/2014/main" id="{B7102A8E-B6FD-1443-3C09-FD3BABF13A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4082" y="1028250"/>
                <a:ext cx="4889844" cy="3913389"/>
              </a:xfrm>
              <a:prstGeom prst="rect">
                <a:avLst/>
              </a:prstGeom>
            </p:spPr>
          </p:pic>
          <p:sp>
            <p:nvSpPr>
              <p:cNvPr id="17" name="TextBox 16">
                <a:extLst>
                  <a:ext uri="{FF2B5EF4-FFF2-40B4-BE49-F238E27FC236}">
                    <a16:creationId xmlns:a16="http://schemas.microsoft.com/office/drawing/2014/main" id="{80A144FA-DC49-35D5-A097-501C76C4ABC6}"/>
                  </a:ext>
                </a:extLst>
              </p:cNvPr>
              <p:cNvSpPr txBox="1"/>
              <p:nvPr/>
            </p:nvSpPr>
            <p:spPr>
              <a:xfrm>
                <a:off x="1287780" y="2552700"/>
                <a:ext cx="564578" cy="369332"/>
              </a:xfrm>
              <a:prstGeom prst="rect">
                <a:avLst/>
              </a:prstGeom>
              <a:noFill/>
            </p:spPr>
            <p:txBody>
              <a:bodyPr wrap="none" rtlCol="0">
                <a:spAutoFit/>
              </a:bodyPr>
              <a:lstStyle/>
              <a:p>
                <a:r>
                  <a:rPr lang="en-PS" dirty="0"/>
                  <a:t>J(w)</a:t>
                </a:r>
              </a:p>
            </p:txBody>
          </p:sp>
          <p:cxnSp>
            <p:nvCxnSpPr>
              <p:cNvPr id="19" name="Straight Connector 18">
                <a:extLst>
                  <a:ext uri="{FF2B5EF4-FFF2-40B4-BE49-F238E27FC236}">
                    <a16:creationId xmlns:a16="http://schemas.microsoft.com/office/drawing/2014/main" id="{FAA1E32A-CE60-DD37-AA8A-F10222A2A808}"/>
                  </a:ext>
                </a:extLst>
              </p:cNvPr>
              <p:cNvCxnSpPr/>
              <p:nvPr/>
            </p:nvCxnSpPr>
            <p:spPr>
              <a:xfrm>
                <a:off x="5227320" y="4324350"/>
                <a:ext cx="0" cy="15240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8BE81FE-5C1D-06E9-6B0E-4C5FFB126248}"/>
                  </a:ext>
                </a:extLst>
              </p:cNvPr>
              <p:cNvCxnSpPr>
                <a:cxnSpLocks/>
              </p:cNvCxnSpPr>
              <p:nvPr/>
            </p:nvCxnSpPr>
            <p:spPr>
              <a:xfrm flipV="1">
                <a:off x="5227320" y="3333750"/>
                <a:ext cx="0" cy="1143000"/>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641A0BE-A542-96F2-993A-9A07531B4E12}"/>
                  </a:ext>
                </a:extLst>
              </p:cNvPr>
              <p:cNvSpPr/>
              <p:nvPr/>
            </p:nvSpPr>
            <p:spPr>
              <a:xfrm>
                <a:off x="5151120" y="325755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26" name="Straight Arrow Connector 25">
                <a:extLst>
                  <a:ext uri="{FF2B5EF4-FFF2-40B4-BE49-F238E27FC236}">
                    <a16:creationId xmlns:a16="http://schemas.microsoft.com/office/drawing/2014/main" id="{2A93F4C9-E9CB-F90A-F9B7-296E5EB429B6}"/>
                  </a:ext>
                </a:extLst>
              </p:cNvPr>
              <p:cNvCxnSpPr>
                <a:cxnSpLocks/>
              </p:cNvCxnSpPr>
              <p:nvPr/>
            </p:nvCxnSpPr>
            <p:spPr>
              <a:xfrm flipH="1" flipV="1">
                <a:off x="5381867" y="4400550"/>
                <a:ext cx="339893" cy="801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D232B115-5E07-9036-4550-A9B97B59C1DD}"/>
                </a:ext>
              </a:extLst>
            </p:cNvPr>
            <p:cNvCxnSpPr>
              <a:cxnSpLocks/>
            </p:cNvCxnSpPr>
            <p:nvPr/>
          </p:nvCxnSpPr>
          <p:spPr>
            <a:xfrm flipH="1">
              <a:off x="3657600" y="2699912"/>
              <a:ext cx="990600" cy="160343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61" name="Straight Connector 60">
              <a:extLst>
                <a:ext uri="{FF2B5EF4-FFF2-40B4-BE49-F238E27FC236}">
                  <a16:creationId xmlns:a16="http://schemas.microsoft.com/office/drawing/2014/main" id="{E4C153D9-9EF7-AC87-CC19-E894AE6511C4}"/>
                </a:ext>
              </a:extLst>
            </p:cNvPr>
            <p:cNvCxnSpPr>
              <a:cxnSpLocks/>
            </p:cNvCxnSpPr>
            <p:nvPr/>
          </p:nvCxnSpPr>
          <p:spPr>
            <a:xfrm>
              <a:off x="4572000" y="2699912"/>
              <a:ext cx="0" cy="16034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2939F90-7B28-A8C4-63ED-A2C86C9CC1D4}"/>
                </a:ext>
              </a:extLst>
            </p:cNvPr>
            <p:cNvCxnSpPr/>
            <p:nvPr/>
          </p:nvCxnSpPr>
          <p:spPr>
            <a:xfrm>
              <a:off x="3657600" y="4171950"/>
              <a:ext cx="1157566" cy="0"/>
            </a:xfrm>
            <a:prstGeom prst="line">
              <a:avLst/>
            </a:prstGeom>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0948C1D-7380-C8ED-74C7-35632ECFA54D}"/>
                </a:ext>
              </a:extLst>
            </p:cNvPr>
            <p:cNvSpPr txBox="1"/>
            <p:nvPr/>
          </p:nvSpPr>
          <p:spPr>
            <a:xfrm>
              <a:off x="4539325" y="3414634"/>
              <a:ext cx="306494" cy="369332"/>
            </a:xfrm>
            <a:prstGeom prst="rect">
              <a:avLst/>
            </a:prstGeom>
            <a:noFill/>
          </p:spPr>
          <p:txBody>
            <a:bodyPr wrap="none" rtlCol="0">
              <a:spAutoFit/>
            </a:bodyPr>
            <a:lstStyle/>
            <a:p>
              <a:r>
                <a:rPr lang="en-PS" dirty="0"/>
                <a:t>C</a:t>
              </a:r>
            </a:p>
          </p:txBody>
        </p:sp>
        <p:sp>
          <p:nvSpPr>
            <p:cNvPr id="67" name="TextBox 66">
              <a:extLst>
                <a:ext uri="{FF2B5EF4-FFF2-40B4-BE49-F238E27FC236}">
                  <a16:creationId xmlns:a16="http://schemas.microsoft.com/office/drawing/2014/main" id="{DD477D68-127D-4CBF-1DD1-4C2C8CDC0ACE}"/>
                </a:ext>
              </a:extLst>
            </p:cNvPr>
            <p:cNvSpPr txBox="1"/>
            <p:nvPr/>
          </p:nvSpPr>
          <p:spPr>
            <a:xfrm>
              <a:off x="4047215" y="4061159"/>
              <a:ext cx="317716" cy="369332"/>
            </a:xfrm>
            <a:prstGeom prst="rect">
              <a:avLst/>
            </a:prstGeom>
            <a:noFill/>
          </p:spPr>
          <p:txBody>
            <a:bodyPr wrap="none" rtlCol="0">
              <a:spAutoFit/>
            </a:bodyPr>
            <a:lstStyle/>
            <a:p>
              <a:r>
                <a:rPr lang="en-PS" dirty="0"/>
                <a:t>A</a:t>
              </a:r>
            </a:p>
          </p:txBody>
        </p:sp>
      </p:grpSp>
      <p:sp>
        <p:nvSpPr>
          <p:cNvPr id="81" name="TextBox 80">
            <a:extLst>
              <a:ext uri="{FF2B5EF4-FFF2-40B4-BE49-F238E27FC236}">
                <a16:creationId xmlns:a16="http://schemas.microsoft.com/office/drawing/2014/main" id="{0D504BFF-0627-8423-B936-CF03BF8A5CC3}"/>
              </a:ext>
            </a:extLst>
          </p:cNvPr>
          <p:cNvSpPr txBox="1"/>
          <p:nvPr/>
        </p:nvSpPr>
        <p:spPr>
          <a:xfrm>
            <a:off x="4825671" y="2330315"/>
            <a:ext cx="4239183" cy="1631216"/>
          </a:xfrm>
          <a:prstGeom prst="rect">
            <a:avLst/>
          </a:prstGeom>
          <a:noFill/>
        </p:spPr>
        <p:txBody>
          <a:bodyPr wrap="square" rtlCol="0">
            <a:spAutoFit/>
          </a:bodyPr>
          <a:lstStyle/>
          <a:p>
            <a:r>
              <a:rPr lang="en-PS" sz="2000" dirty="0">
                <a:solidFill>
                  <a:srgbClr val="0070C0"/>
                </a:solidFill>
                <a:latin typeface="Times New Roman" panose="02020603050405020304" pitchFamily="18" charset="0"/>
                <a:cs typeface="Times New Roman" panose="02020603050405020304" pitchFamily="18" charset="0"/>
              </a:rPr>
              <a:t>w = w - </a:t>
            </a:r>
            <a:r>
              <a:rPr lang="en-PS" sz="2000" dirty="0">
                <a:solidFill>
                  <a:srgbClr val="0070C0"/>
                </a:solidFill>
                <a:latin typeface="Symbol" pitchFamily="2" charset="2"/>
                <a:cs typeface="Times New Roman" panose="02020603050405020304" pitchFamily="18" charset="0"/>
              </a:rPr>
              <a:t>a</a:t>
            </a:r>
            <a:r>
              <a:rPr lang="en-PS" sz="2000" dirty="0">
                <a:solidFill>
                  <a:srgbClr val="0070C0"/>
                </a:solidFill>
                <a:latin typeface="Times New Roman" panose="02020603050405020304" pitchFamily="18" charset="0"/>
                <a:cs typeface="Times New Roman" panose="02020603050405020304" pitchFamily="18" charset="0"/>
              </a:rPr>
              <a:t>. Derivative(positive number)</a:t>
            </a:r>
          </a:p>
          <a:p>
            <a:r>
              <a:rPr lang="en-PS" sz="2000" dirty="0">
                <a:latin typeface="Symbol" pitchFamily="2" charset="2"/>
              </a:rPr>
              <a:t>a: </a:t>
            </a:r>
            <a:r>
              <a:rPr lang="en-PS" sz="2000" dirty="0"/>
              <a:t>is always positive number </a:t>
            </a:r>
          </a:p>
          <a:p>
            <a:pPr marL="342900" indent="-342900">
              <a:buFont typeface="Wingdings" pitchFamily="2" charset="2"/>
              <a:buChar char="à"/>
            </a:pPr>
            <a:r>
              <a:rPr lang="en-PS" sz="2000" dirty="0">
                <a:solidFill>
                  <a:srgbClr val="0070C0"/>
                </a:solidFill>
                <a:sym typeface="Wingdings" pitchFamily="2" charset="2"/>
              </a:rPr>
              <a:t>w(new) = w(old) – positive value</a:t>
            </a:r>
          </a:p>
          <a:p>
            <a:pPr marL="342900" indent="-342900">
              <a:buFont typeface="Wingdings" pitchFamily="2" charset="2"/>
              <a:buChar char="à"/>
            </a:pPr>
            <a:r>
              <a:rPr lang="en-PS" sz="2000" dirty="0">
                <a:sym typeface="Wingdings" pitchFamily="2" charset="2"/>
              </a:rPr>
              <a:t>w will move to the left, in the direction of the minimum</a:t>
            </a:r>
            <a:endParaRPr lang="en-PS" sz="2000" dirty="0"/>
          </a:p>
        </p:txBody>
      </p:sp>
      <p:cxnSp>
        <p:nvCxnSpPr>
          <p:cNvPr id="85" name="Straight Arrow Connector 84">
            <a:extLst>
              <a:ext uri="{FF2B5EF4-FFF2-40B4-BE49-F238E27FC236}">
                <a16:creationId xmlns:a16="http://schemas.microsoft.com/office/drawing/2014/main" id="{E924E988-03A9-7738-BB6C-971FD4157453}"/>
              </a:ext>
            </a:extLst>
          </p:cNvPr>
          <p:cNvCxnSpPr/>
          <p:nvPr/>
        </p:nvCxnSpPr>
        <p:spPr>
          <a:xfrm flipH="1">
            <a:off x="3048000" y="4095750"/>
            <a:ext cx="103871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B1BEBD-F8E0-3FA1-8F36-D45598F35409}"/>
              </a:ext>
            </a:extLst>
          </p:cNvPr>
          <p:cNvSpPr txBox="1"/>
          <p:nvPr/>
        </p:nvSpPr>
        <p:spPr>
          <a:xfrm>
            <a:off x="3048000" y="4192268"/>
            <a:ext cx="3305072" cy="369332"/>
          </a:xfrm>
          <a:prstGeom prst="rect">
            <a:avLst/>
          </a:prstGeom>
          <a:noFill/>
        </p:spPr>
        <p:txBody>
          <a:bodyPr wrap="none" rtlCol="0">
            <a:spAutoFit/>
          </a:bodyPr>
          <a:lstStyle/>
          <a:p>
            <a:r>
              <a:rPr lang="en-PS" dirty="0">
                <a:solidFill>
                  <a:srgbClr val="C00000"/>
                </a:solidFill>
              </a:rPr>
              <a:t>w is decreasing towards the min </a:t>
            </a:r>
          </a:p>
        </p:txBody>
      </p:sp>
    </p:spTree>
    <p:extLst>
      <p:ext uri="{BB962C8B-B14F-4D97-AF65-F5344CB8AC3E}">
        <p14:creationId xmlns:p14="http://schemas.microsoft.com/office/powerpoint/2010/main" val="2981941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E2281-F3F3-FA57-936A-D1D0F7017AD7}"/>
              </a:ext>
            </a:extLst>
          </p:cNvPr>
          <p:cNvSpPr>
            <a:spLocks noGrp="1"/>
          </p:cNvSpPr>
          <p:nvPr>
            <p:ph type="title"/>
          </p:nvPr>
        </p:nvSpPr>
        <p:spPr>
          <a:xfrm>
            <a:off x="220980" y="-47277"/>
            <a:ext cx="8820150" cy="751481"/>
          </a:xfrm>
        </p:spPr>
        <p:txBody>
          <a:bodyPr>
            <a:normAutofit fontScale="90000"/>
          </a:bodyPr>
          <a:lstStyle/>
          <a:p>
            <a:r>
              <a:rPr lang="en-PS" dirty="0"/>
              <a:t>The impact of the derivative on the parameters updates</a:t>
            </a:r>
          </a:p>
        </p:txBody>
      </p:sp>
      <p:sp>
        <p:nvSpPr>
          <p:cNvPr id="4" name="Slide Number Placeholder 3">
            <a:extLst>
              <a:ext uri="{FF2B5EF4-FFF2-40B4-BE49-F238E27FC236}">
                <a16:creationId xmlns:a16="http://schemas.microsoft.com/office/drawing/2014/main" id="{C9B3E1DB-FD66-67C3-15F5-E412B96E9799}"/>
              </a:ext>
            </a:extLst>
          </p:cNvPr>
          <p:cNvSpPr>
            <a:spLocks noGrp="1"/>
          </p:cNvSpPr>
          <p:nvPr>
            <p:ph type="sldNum" sz="quarter" idx="12"/>
          </p:nvPr>
        </p:nvSpPr>
        <p:spPr>
          <a:xfrm>
            <a:off x="8686800" y="4767263"/>
            <a:ext cx="361950" cy="273844"/>
          </a:xfrm>
        </p:spPr>
        <p:txBody>
          <a:bodyPr/>
          <a:lstStyle/>
          <a:p>
            <a:fld id="{B6F15528-21DE-4FAA-801E-634DDDAF4B2B}" type="slidenum">
              <a:rPr lang="en-PS" smtClean="0"/>
              <a:t>20</a:t>
            </a:fld>
            <a:endParaRPr lang="en-PS"/>
          </a:p>
        </p:txBody>
      </p:sp>
      <p:sp>
        <p:nvSpPr>
          <p:cNvPr id="24" name="TextBox 23">
            <a:extLst>
              <a:ext uri="{FF2B5EF4-FFF2-40B4-BE49-F238E27FC236}">
                <a16:creationId xmlns:a16="http://schemas.microsoft.com/office/drawing/2014/main" id="{D5478B5B-69B6-B2A4-D94F-9F2FCF559472}"/>
              </a:ext>
            </a:extLst>
          </p:cNvPr>
          <p:cNvSpPr txBox="1"/>
          <p:nvPr/>
        </p:nvSpPr>
        <p:spPr>
          <a:xfrm>
            <a:off x="174221" y="4755602"/>
            <a:ext cx="3137180" cy="307777"/>
          </a:xfrm>
          <a:prstGeom prst="rect">
            <a:avLst/>
          </a:prstGeom>
          <a:noFill/>
        </p:spPr>
        <p:txBody>
          <a:bodyPr wrap="square" rtlCol="0">
            <a:spAutoFit/>
          </a:bodyPr>
          <a:lstStyle/>
          <a:p>
            <a:r>
              <a:rPr lang="en-PS" sz="1400" dirty="0">
                <a:latin typeface="Gill Sans MT" panose="020B0502020104020203" pitchFamily="34" charset="77"/>
              </a:rPr>
              <a:t>initialize w at this point</a:t>
            </a:r>
          </a:p>
        </p:txBody>
      </p:sp>
      <p:grpSp>
        <p:nvGrpSpPr>
          <p:cNvPr id="38" name="Group 37">
            <a:extLst>
              <a:ext uri="{FF2B5EF4-FFF2-40B4-BE49-F238E27FC236}">
                <a16:creationId xmlns:a16="http://schemas.microsoft.com/office/drawing/2014/main" id="{9AA80CAD-C72B-30FC-984A-99EE65954CE1}"/>
              </a:ext>
            </a:extLst>
          </p:cNvPr>
          <p:cNvGrpSpPr/>
          <p:nvPr/>
        </p:nvGrpSpPr>
        <p:grpSpPr>
          <a:xfrm>
            <a:off x="5867400" y="704204"/>
            <a:ext cx="2501266" cy="645162"/>
            <a:chOff x="5951346" y="1358263"/>
            <a:chExt cx="2501266" cy="645162"/>
          </a:xfrm>
        </p:grpSpPr>
        <p:pic>
          <p:nvPicPr>
            <p:cNvPr id="43" name="object 24">
              <a:extLst>
                <a:ext uri="{FF2B5EF4-FFF2-40B4-BE49-F238E27FC236}">
                  <a16:creationId xmlns:a16="http://schemas.microsoft.com/office/drawing/2014/main" id="{E97365D0-212C-ADCE-8DD9-026956F9FBE9}"/>
                </a:ext>
              </a:extLst>
            </p:cNvPr>
            <p:cNvPicPr/>
            <p:nvPr/>
          </p:nvPicPr>
          <p:blipFill>
            <a:blip r:embed="rId2" cstate="print"/>
            <a:stretch>
              <a:fillRect/>
            </a:stretch>
          </p:blipFill>
          <p:spPr>
            <a:xfrm>
              <a:off x="5951346" y="1658366"/>
              <a:ext cx="212599" cy="144653"/>
            </a:xfrm>
            <a:prstGeom prst="rect">
              <a:avLst/>
            </a:prstGeom>
          </p:spPr>
        </p:pic>
        <p:sp>
          <p:nvSpPr>
            <p:cNvPr id="44" name="object 25">
              <a:extLst>
                <a:ext uri="{FF2B5EF4-FFF2-40B4-BE49-F238E27FC236}">
                  <a16:creationId xmlns:a16="http://schemas.microsoft.com/office/drawing/2014/main" id="{2C2D61D8-CF7F-5E25-8806-F8C76FCF415B}"/>
                </a:ext>
              </a:extLst>
            </p:cNvPr>
            <p:cNvSpPr/>
            <p:nvPr/>
          </p:nvSpPr>
          <p:spPr>
            <a:xfrm>
              <a:off x="6279643" y="1672843"/>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45" name="object 26">
              <a:extLst>
                <a:ext uri="{FF2B5EF4-FFF2-40B4-BE49-F238E27FC236}">
                  <a16:creationId xmlns:a16="http://schemas.microsoft.com/office/drawing/2014/main" id="{DED740E9-B15F-315E-77F1-627D32C4BE84}"/>
                </a:ext>
              </a:extLst>
            </p:cNvPr>
            <p:cNvPicPr/>
            <p:nvPr/>
          </p:nvPicPr>
          <p:blipFill>
            <a:blip r:embed="rId2" cstate="print"/>
            <a:stretch>
              <a:fillRect/>
            </a:stretch>
          </p:blipFill>
          <p:spPr>
            <a:xfrm>
              <a:off x="6579997" y="1658366"/>
              <a:ext cx="212599" cy="144653"/>
            </a:xfrm>
            <a:prstGeom prst="rect">
              <a:avLst/>
            </a:prstGeom>
          </p:spPr>
        </p:pic>
        <p:sp>
          <p:nvSpPr>
            <p:cNvPr id="46" name="object 27">
              <a:extLst>
                <a:ext uri="{FF2B5EF4-FFF2-40B4-BE49-F238E27FC236}">
                  <a16:creationId xmlns:a16="http://schemas.microsoft.com/office/drawing/2014/main" id="{43FFCABE-63E4-6298-BF7A-36666F2F1646}"/>
                </a:ext>
              </a:extLst>
            </p:cNvPr>
            <p:cNvSpPr/>
            <p:nvPr/>
          </p:nvSpPr>
          <p:spPr>
            <a:xfrm>
              <a:off x="6898768" y="1703595"/>
              <a:ext cx="183515" cy="20320"/>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47" name="object 28">
              <a:extLst>
                <a:ext uri="{FF2B5EF4-FFF2-40B4-BE49-F238E27FC236}">
                  <a16:creationId xmlns:a16="http://schemas.microsoft.com/office/drawing/2014/main" id="{F31A1EA6-5E98-2A12-D25C-00711AF53E53}"/>
                </a:ext>
              </a:extLst>
            </p:cNvPr>
            <p:cNvPicPr/>
            <p:nvPr/>
          </p:nvPicPr>
          <p:blipFill>
            <a:blip r:embed="rId3" cstate="print"/>
            <a:stretch>
              <a:fillRect/>
            </a:stretch>
          </p:blipFill>
          <p:spPr>
            <a:xfrm>
              <a:off x="7187439" y="1656079"/>
              <a:ext cx="161925" cy="146939"/>
            </a:xfrm>
            <a:prstGeom prst="rect">
              <a:avLst/>
            </a:prstGeom>
          </p:spPr>
        </p:pic>
        <p:grpSp>
          <p:nvGrpSpPr>
            <p:cNvPr id="48" name="object 29">
              <a:extLst>
                <a:ext uri="{FF2B5EF4-FFF2-40B4-BE49-F238E27FC236}">
                  <a16:creationId xmlns:a16="http://schemas.microsoft.com/office/drawing/2014/main" id="{C7957474-D8A5-2A99-D45A-28AB2C83DBF8}"/>
                </a:ext>
              </a:extLst>
            </p:cNvPr>
            <p:cNvGrpSpPr/>
            <p:nvPr/>
          </p:nvGrpSpPr>
          <p:grpSpPr>
            <a:xfrm>
              <a:off x="7409943" y="1576070"/>
              <a:ext cx="1042669" cy="427355"/>
              <a:chOff x="7409942" y="1576069"/>
              <a:chExt cx="1042669" cy="427355"/>
            </a:xfrm>
          </p:grpSpPr>
          <p:sp>
            <p:nvSpPr>
              <p:cNvPr id="50" name="object 30">
                <a:extLst>
                  <a:ext uri="{FF2B5EF4-FFF2-40B4-BE49-F238E27FC236}">
                    <a16:creationId xmlns:a16="http://schemas.microsoft.com/office/drawing/2014/main" id="{65D49369-FD1D-332E-1E63-BC71CDA418A4}"/>
                  </a:ext>
                </a:extLst>
              </p:cNvPr>
              <p:cNvSpPr/>
              <p:nvPr/>
            </p:nvSpPr>
            <p:spPr>
              <a:xfrm>
                <a:off x="7409942" y="1705482"/>
                <a:ext cx="400050" cy="19050"/>
              </a:xfrm>
              <a:custGeom>
                <a:avLst/>
                <a:gdLst/>
                <a:ahLst/>
                <a:cxnLst/>
                <a:rect l="l" t="t" r="r" b="b"/>
                <a:pathLst>
                  <a:path w="400050" h="19050">
                    <a:moveTo>
                      <a:pt x="400050" y="0"/>
                    </a:moveTo>
                    <a:lnTo>
                      <a:pt x="0" y="0"/>
                    </a:lnTo>
                    <a:lnTo>
                      <a:pt x="0" y="19050"/>
                    </a:lnTo>
                    <a:lnTo>
                      <a:pt x="400050" y="19050"/>
                    </a:lnTo>
                    <a:lnTo>
                      <a:pt x="400050" y="0"/>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51" name="object 31">
                <a:extLst>
                  <a:ext uri="{FF2B5EF4-FFF2-40B4-BE49-F238E27FC236}">
                    <a16:creationId xmlns:a16="http://schemas.microsoft.com/office/drawing/2014/main" id="{28E8EF91-B3E6-C918-8214-EDCC2B2BB176}"/>
                  </a:ext>
                </a:extLst>
              </p:cNvPr>
              <p:cNvPicPr/>
              <p:nvPr/>
            </p:nvPicPr>
            <p:blipFill>
              <a:blip r:embed="rId4" cstate="print"/>
              <a:stretch>
                <a:fillRect/>
              </a:stretch>
            </p:blipFill>
            <p:spPr>
              <a:xfrm>
                <a:off x="7426427" y="1786889"/>
                <a:ext cx="135897" cy="216154"/>
              </a:xfrm>
              <a:prstGeom prst="rect">
                <a:avLst/>
              </a:prstGeom>
            </p:spPr>
          </p:pic>
          <p:pic>
            <p:nvPicPr>
              <p:cNvPr id="52" name="object 32">
                <a:extLst>
                  <a:ext uri="{FF2B5EF4-FFF2-40B4-BE49-F238E27FC236}">
                    <a16:creationId xmlns:a16="http://schemas.microsoft.com/office/drawing/2014/main" id="{BB9F8D4D-5E6C-4D2E-E9F4-6F9CC9E73B5B}"/>
                  </a:ext>
                </a:extLst>
              </p:cNvPr>
              <p:cNvPicPr/>
              <p:nvPr/>
            </p:nvPicPr>
            <p:blipFill>
              <a:blip r:embed="rId2" cstate="print"/>
              <a:stretch>
                <a:fillRect/>
              </a:stretch>
            </p:blipFill>
            <p:spPr>
              <a:xfrm>
                <a:off x="7589647" y="1858390"/>
                <a:ext cx="212598" cy="144653"/>
              </a:xfrm>
              <a:prstGeom prst="rect">
                <a:avLst/>
              </a:prstGeom>
            </p:spPr>
          </p:pic>
          <p:sp>
            <p:nvSpPr>
              <p:cNvPr id="53" name="object 33">
                <a:extLst>
                  <a:ext uri="{FF2B5EF4-FFF2-40B4-BE49-F238E27FC236}">
                    <a16:creationId xmlns:a16="http://schemas.microsoft.com/office/drawing/2014/main" id="{E737A38A-10BC-815E-532A-FECB3FB97DDE}"/>
                  </a:ext>
                </a:extLst>
              </p:cNvPr>
              <p:cNvSpPr/>
              <p:nvPr/>
            </p:nvSpPr>
            <p:spPr>
              <a:xfrm>
                <a:off x="7839837" y="1576069"/>
                <a:ext cx="612775" cy="282575"/>
              </a:xfrm>
              <a:custGeom>
                <a:avLst/>
                <a:gdLst/>
                <a:ahLst/>
                <a:cxnLst/>
                <a:rect l="l" t="t" r="r" b="b"/>
                <a:pathLst>
                  <a:path w="612775" h="282575">
                    <a:moveTo>
                      <a:pt x="135255" y="21463"/>
                    </a:moveTo>
                    <a:lnTo>
                      <a:pt x="75692" y="21463"/>
                    </a:lnTo>
                    <a:lnTo>
                      <a:pt x="74041" y="28702"/>
                    </a:lnTo>
                    <a:lnTo>
                      <a:pt x="79121" y="29083"/>
                    </a:lnTo>
                    <a:lnTo>
                      <a:pt x="82804" y="30099"/>
                    </a:lnTo>
                    <a:lnTo>
                      <a:pt x="87503" y="33782"/>
                    </a:lnTo>
                    <a:lnTo>
                      <a:pt x="88646" y="37084"/>
                    </a:lnTo>
                    <a:lnTo>
                      <a:pt x="88646" y="47879"/>
                    </a:lnTo>
                    <a:lnTo>
                      <a:pt x="50546" y="222504"/>
                    </a:lnTo>
                    <a:lnTo>
                      <a:pt x="32004" y="264033"/>
                    </a:lnTo>
                    <a:lnTo>
                      <a:pt x="24511" y="267601"/>
                    </a:lnTo>
                    <a:lnTo>
                      <a:pt x="9652" y="267601"/>
                    </a:lnTo>
                    <a:lnTo>
                      <a:pt x="5842" y="267208"/>
                    </a:lnTo>
                    <a:lnTo>
                      <a:pt x="3810" y="266446"/>
                    </a:lnTo>
                    <a:lnTo>
                      <a:pt x="0" y="280670"/>
                    </a:lnTo>
                    <a:lnTo>
                      <a:pt x="3556" y="281686"/>
                    </a:lnTo>
                    <a:lnTo>
                      <a:pt x="8382" y="282194"/>
                    </a:lnTo>
                    <a:lnTo>
                      <a:pt x="14097" y="282194"/>
                    </a:lnTo>
                    <a:lnTo>
                      <a:pt x="50952" y="271830"/>
                    </a:lnTo>
                    <a:lnTo>
                      <a:pt x="72644" y="239052"/>
                    </a:lnTo>
                    <a:lnTo>
                      <a:pt x="113919" y="56261"/>
                    </a:lnTo>
                    <a:lnTo>
                      <a:pt x="116967" y="45212"/>
                    </a:lnTo>
                    <a:lnTo>
                      <a:pt x="133604" y="28702"/>
                    </a:lnTo>
                    <a:lnTo>
                      <a:pt x="135255" y="21463"/>
                    </a:lnTo>
                    <a:close/>
                  </a:path>
                  <a:path w="612775" h="282575">
                    <a:moveTo>
                      <a:pt x="272034" y="11430"/>
                    </a:moveTo>
                    <a:lnTo>
                      <a:pt x="267970" y="0"/>
                    </a:lnTo>
                    <a:lnTo>
                      <a:pt x="247510" y="7391"/>
                    </a:lnTo>
                    <a:lnTo>
                      <a:pt x="229577" y="18110"/>
                    </a:lnTo>
                    <a:lnTo>
                      <a:pt x="201295" y="49530"/>
                    </a:lnTo>
                    <a:lnTo>
                      <a:pt x="183743" y="91427"/>
                    </a:lnTo>
                    <a:lnTo>
                      <a:pt x="177927" y="141224"/>
                    </a:lnTo>
                    <a:lnTo>
                      <a:pt x="179374" y="167182"/>
                    </a:lnTo>
                    <a:lnTo>
                      <a:pt x="190995" y="213093"/>
                    </a:lnTo>
                    <a:lnTo>
                      <a:pt x="214045" y="250342"/>
                    </a:lnTo>
                    <a:lnTo>
                      <a:pt x="247434" y="274967"/>
                    </a:lnTo>
                    <a:lnTo>
                      <a:pt x="267970" y="282321"/>
                    </a:lnTo>
                    <a:lnTo>
                      <a:pt x="271526" y="270891"/>
                    </a:lnTo>
                    <a:lnTo>
                      <a:pt x="255473" y="263779"/>
                    </a:lnTo>
                    <a:lnTo>
                      <a:pt x="241617" y="253860"/>
                    </a:lnTo>
                    <a:lnTo>
                      <a:pt x="213131" y="207606"/>
                    </a:lnTo>
                    <a:lnTo>
                      <a:pt x="204749" y="164693"/>
                    </a:lnTo>
                    <a:lnTo>
                      <a:pt x="203708" y="139827"/>
                    </a:lnTo>
                    <a:lnTo>
                      <a:pt x="204749" y="115735"/>
                    </a:lnTo>
                    <a:lnTo>
                      <a:pt x="213131" y="73926"/>
                    </a:lnTo>
                    <a:lnTo>
                      <a:pt x="241719" y="28422"/>
                    </a:lnTo>
                    <a:lnTo>
                      <a:pt x="255739" y="18580"/>
                    </a:lnTo>
                    <a:lnTo>
                      <a:pt x="272034" y="11430"/>
                    </a:lnTo>
                    <a:close/>
                  </a:path>
                  <a:path w="612775" h="282575">
                    <a:moveTo>
                      <a:pt x="612775" y="141224"/>
                    </a:moveTo>
                    <a:lnTo>
                      <a:pt x="606958" y="91427"/>
                    </a:lnTo>
                    <a:lnTo>
                      <a:pt x="589534" y="49530"/>
                    </a:lnTo>
                    <a:lnTo>
                      <a:pt x="561174" y="18097"/>
                    </a:lnTo>
                    <a:lnTo>
                      <a:pt x="522732" y="0"/>
                    </a:lnTo>
                    <a:lnTo>
                      <a:pt x="518795" y="11430"/>
                    </a:lnTo>
                    <a:lnTo>
                      <a:pt x="535101" y="18580"/>
                    </a:lnTo>
                    <a:lnTo>
                      <a:pt x="549148" y="28422"/>
                    </a:lnTo>
                    <a:lnTo>
                      <a:pt x="577684" y="73926"/>
                    </a:lnTo>
                    <a:lnTo>
                      <a:pt x="586066" y="115735"/>
                    </a:lnTo>
                    <a:lnTo>
                      <a:pt x="587121" y="139827"/>
                    </a:lnTo>
                    <a:lnTo>
                      <a:pt x="586066" y="164693"/>
                    </a:lnTo>
                    <a:lnTo>
                      <a:pt x="577684" y="207606"/>
                    </a:lnTo>
                    <a:lnTo>
                      <a:pt x="549186" y="253860"/>
                    </a:lnTo>
                    <a:lnTo>
                      <a:pt x="519176" y="270891"/>
                    </a:lnTo>
                    <a:lnTo>
                      <a:pt x="522732" y="282321"/>
                    </a:lnTo>
                    <a:lnTo>
                      <a:pt x="561289" y="264312"/>
                    </a:lnTo>
                    <a:lnTo>
                      <a:pt x="589661" y="233045"/>
                    </a:lnTo>
                    <a:lnTo>
                      <a:pt x="606971" y="191135"/>
                    </a:lnTo>
                    <a:lnTo>
                      <a:pt x="611314" y="167182"/>
                    </a:lnTo>
                    <a:lnTo>
                      <a:pt x="612775" y="141224"/>
                    </a:lnTo>
                    <a:close/>
                  </a:path>
                </a:pathLst>
              </a:custGeom>
              <a:solidFill>
                <a:srgbClr val="0096FF"/>
              </a:solidFill>
            </p:spPr>
            <p:txBody>
              <a:bodyPr wrap="square" lIns="0" tIns="0" rIns="0" bIns="0" rtlCol="0"/>
              <a:lstStyle/>
              <a:p>
                <a:endParaRPr>
                  <a:latin typeface="Gill Sans MT" panose="020B0502020104020203" pitchFamily="34" charset="77"/>
                </a:endParaRPr>
              </a:p>
            </p:txBody>
          </p:sp>
          <p:pic>
            <p:nvPicPr>
              <p:cNvPr id="54" name="object 34">
                <a:extLst>
                  <a:ext uri="{FF2B5EF4-FFF2-40B4-BE49-F238E27FC236}">
                    <a16:creationId xmlns:a16="http://schemas.microsoft.com/office/drawing/2014/main" id="{0D3B0D69-985F-0316-510E-9D320EBE499F}"/>
                  </a:ext>
                </a:extLst>
              </p:cNvPr>
              <p:cNvPicPr/>
              <p:nvPr/>
            </p:nvPicPr>
            <p:blipFill>
              <a:blip r:embed="rId2" cstate="print"/>
              <a:stretch>
                <a:fillRect/>
              </a:stretch>
            </p:blipFill>
            <p:spPr>
              <a:xfrm>
                <a:off x="8123047" y="1658365"/>
                <a:ext cx="212598" cy="144653"/>
              </a:xfrm>
              <a:prstGeom prst="rect">
                <a:avLst/>
              </a:prstGeom>
            </p:spPr>
          </p:pic>
        </p:grpSp>
        <p:pic>
          <p:nvPicPr>
            <p:cNvPr id="49" name="object 35">
              <a:extLst>
                <a:ext uri="{FF2B5EF4-FFF2-40B4-BE49-F238E27FC236}">
                  <a16:creationId xmlns:a16="http://schemas.microsoft.com/office/drawing/2014/main" id="{39C5C175-9D20-80F3-814C-BC1B0F12FCF2}"/>
                </a:ext>
              </a:extLst>
            </p:cNvPr>
            <p:cNvPicPr/>
            <p:nvPr/>
          </p:nvPicPr>
          <p:blipFill>
            <a:blip r:embed="rId4" cstate="print"/>
            <a:stretch>
              <a:fillRect/>
            </a:stretch>
          </p:blipFill>
          <p:spPr>
            <a:xfrm>
              <a:off x="7531202" y="1358263"/>
              <a:ext cx="135897" cy="216155"/>
            </a:xfrm>
            <a:prstGeom prst="rect">
              <a:avLst/>
            </a:prstGeom>
          </p:spPr>
        </p:pic>
      </p:grpSp>
      <p:sp>
        <p:nvSpPr>
          <p:cNvPr id="58" name="Rounded Rectangle 57">
            <a:extLst>
              <a:ext uri="{FF2B5EF4-FFF2-40B4-BE49-F238E27FC236}">
                <a16:creationId xmlns:a16="http://schemas.microsoft.com/office/drawing/2014/main" id="{31D4D36F-7155-EF88-B582-FF54B2B79B62}"/>
              </a:ext>
            </a:extLst>
          </p:cNvPr>
          <p:cNvSpPr/>
          <p:nvPr/>
        </p:nvSpPr>
        <p:spPr>
          <a:xfrm>
            <a:off x="7315200" y="514350"/>
            <a:ext cx="1100631"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latin typeface="Gill Sans MT" panose="020B0502020104020203" pitchFamily="34" charset="77"/>
            </a:endParaRPr>
          </a:p>
        </p:txBody>
      </p:sp>
      <p:sp>
        <p:nvSpPr>
          <p:cNvPr id="59" name="TextBox 58">
            <a:extLst>
              <a:ext uri="{FF2B5EF4-FFF2-40B4-BE49-F238E27FC236}">
                <a16:creationId xmlns:a16="http://schemas.microsoft.com/office/drawing/2014/main" id="{AC4DA52B-8D0A-7DC2-A41C-3667A047C1BC}"/>
              </a:ext>
            </a:extLst>
          </p:cNvPr>
          <p:cNvSpPr txBox="1"/>
          <p:nvPr/>
        </p:nvSpPr>
        <p:spPr>
          <a:xfrm>
            <a:off x="5343000" y="1756369"/>
            <a:ext cx="3998963" cy="369332"/>
          </a:xfrm>
          <a:prstGeom prst="rect">
            <a:avLst/>
          </a:prstGeom>
          <a:noFill/>
        </p:spPr>
        <p:txBody>
          <a:bodyPr wrap="square" rtlCol="0">
            <a:spAutoFit/>
          </a:bodyPr>
          <a:lstStyle/>
          <a:p>
            <a:r>
              <a:rPr lang="en-PS" dirty="0">
                <a:latin typeface="Gill Sans MT" panose="020B0502020104020203" pitchFamily="34" charset="77"/>
              </a:rPr>
              <a:t>Derivative = slope of J(w) = - (negative) </a:t>
            </a:r>
          </a:p>
        </p:txBody>
      </p:sp>
      <p:grpSp>
        <p:nvGrpSpPr>
          <p:cNvPr id="82" name="Group 81">
            <a:extLst>
              <a:ext uri="{FF2B5EF4-FFF2-40B4-BE49-F238E27FC236}">
                <a16:creationId xmlns:a16="http://schemas.microsoft.com/office/drawing/2014/main" id="{40DC077F-3B65-D4EF-92AD-8B0AD2239647}"/>
              </a:ext>
            </a:extLst>
          </p:cNvPr>
          <p:cNvGrpSpPr/>
          <p:nvPr/>
        </p:nvGrpSpPr>
        <p:grpSpPr>
          <a:xfrm>
            <a:off x="260166" y="494661"/>
            <a:ext cx="5136146" cy="4272602"/>
            <a:chOff x="235546" y="1109134"/>
            <a:chExt cx="5136146" cy="4272602"/>
          </a:xfrm>
        </p:grpSpPr>
        <p:grpSp>
          <p:nvGrpSpPr>
            <p:cNvPr id="37" name="Group 36">
              <a:extLst>
                <a:ext uri="{FF2B5EF4-FFF2-40B4-BE49-F238E27FC236}">
                  <a16:creationId xmlns:a16="http://schemas.microsoft.com/office/drawing/2014/main" id="{991B6ADD-194C-3526-0511-E995D02FBA5D}"/>
                </a:ext>
              </a:extLst>
            </p:cNvPr>
            <p:cNvGrpSpPr/>
            <p:nvPr/>
          </p:nvGrpSpPr>
          <p:grpSpPr>
            <a:xfrm>
              <a:off x="235546" y="1109134"/>
              <a:ext cx="5136146" cy="4272602"/>
              <a:chOff x="1287780" y="1028250"/>
              <a:chExt cx="5136146" cy="4272602"/>
            </a:xfrm>
          </p:grpSpPr>
          <p:pic>
            <p:nvPicPr>
              <p:cNvPr id="16" name="Picture 15">
                <a:extLst>
                  <a:ext uri="{FF2B5EF4-FFF2-40B4-BE49-F238E27FC236}">
                    <a16:creationId xmlns:a16="http://schemas.microsoft.com/office/drawing/2014/main" id="{B7102A8E-B6FD-1443-3C09-FD3BABF13A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4082" y="1028250"/>
                <a:ext cx="4889844" cy="3913389"/>
              </a:xfrm>
              <a:prstGeom prst="rect">
                <a:avLst/>
              </a:prstGeom>
            </p:spPr>
          </p:pic>
          <p:sp>
            <p:nvSpPr>
              <p:cNvPr id="17" name="TextBox 16">
                <a:extLst>
                  <a:ext uri="{FF2B5EF4-FFF2-40B4-BE49-F238E27FC236}">
                    <a16:creationId xmlns:a16="http://schemas.microsoft.com/office/drawing/2014/main" id="{80A144FA-DC49-35D5-A097-501C76C4ABC6}"/>
                  </a:ext>
                </a:extLst>
              </p:cNvPr>
              <p:cNvSpPr txBox="1"/>
              <p:nvPr/>
            </p:nvSpPr>
            <p:spPr>
              <a:xfrm>
                <a:off x="1287780" y="2552700"/>
                <a:ext cx="564578" cy="369332"/>
              </a:xfrm>
              <a:prstGeom prst="rect">
                <a:avLst/>
              </a:prstGeom>
              <a:noFill/>
            </p:spPr>
            <p:txBody>
              <a:bodyPr wrap="none" rtlCol="0">
                <a:spAutoFit/>
              </a:bodyPr>
              <a:lstStyle/>
              <a:p>
                <a:r>
                  <a:rPr lang="en-PS" dirty="0">
                    <a:latin typeface="Gill Sans MT" panose="020B0502020104020203" pitchFamily="34" charset="77"/>
                  </a:rPr>
                  <a:t>J(w)</a:t>
                </a:r>
              </a:p>
            </p:txBody>
          </p:sp>
          <p:cxnSp>
            <p:nvCxnSpPr>
              <p:cNvPr id="19" name="Straight Connector 18">
                <a:extLst>
                  <a:ext uri="{FF2B5EF4-FFF2-40B4-BE49-F238E27FC236}">
                    <a16:creationId xmlns:a16="http://schemas.microsoft.com/office/drawing/2014/main" id="{FAA1E32A-CE60-DD37-AA8A-F10222A2A808}"/>
                  </a:ext>
                </a:extLst>
              </p:cNvPr>
              <p:cNvCxnSpPr/>
              <p:nvPr/>
            </p:nvCxnSpPr>
            <p:spPr>
              <a:xfrm>
                <a:off x="2740803" y="4349607"/>
                <a:ext cx="0" cy="15240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8BE81FE-5C1D-06E9-6B0E-4C5FFB126248}"/>
                  </a:ext>
                </a:extLst>
              </p:cNvPr>
              <p:cNvCxnSpPr>
                <a:cxnSpLocks/>
              </p:cNvCxnSpPr>
              <p:nvPr/>
            </p:nvCxnSpPr>
            <p:spPr>
              <a:xfrm flipV="1">
                <a:off x="2749962" y="3206607"/>
                <a:ext cx="0" cy="1143000"/>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641A0BE-A542-96F2-993A-9A07531B4E12}"/>
                  </a:ext>
                </a:extLst>
              </p:cNvPr>
              <p:cNvSpPr/>
              <p:nvPr/>
            </p:nvSpPr>
            <p:spPr>
              <a:xfrm>
                <a:off x="2618025" y="311658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latin typeface="Gill Sans MT" panose="020B0502020104020203" pitchFamily="34" charset="77"/>
                </a:endParaRPr>
              </a:p>
            </p:txBody>
          </p:sp>
          <p:cxnSp>
            <p:nvCxnSpPr>
              <p:cNvPr id="26" name="Straight Arrow Connector 25">
                <a:extLst>
                  <a:ext uri="{FF2B5EF4-FFF2-40B4-BE49-F238E27FC236}">
                    <a16:creationId xmlns:a16="http://schemas.microsoft.com/office/drawing/2014/main" id="{2A93F4C9-E9CB-F90A-F9B7-296E5EB429B6}"/>
                  </a:ext>
                </a:extLst>
              </p:cNvPr>
              <p:cNvCxnSpPr>
                <a:cxnSpLocks/>
              </p:cNvCxnSpPr>
              <p:nvPr/>
            </p:nvCxnSpPr>
            <p:spPr>
              <a:xfrm flipV="1">
                <a:off x="1852358" y="4495565"/>
                <a:ext cx="885126" cy="805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D232B115-5E07-9036-4550-A9B97B59C1DD}"/>
                </a:ext>
              </a:extLst>
            </p:cNvPr>
            <p:cNvCxnSpPr>
              <a:cxnSpLocks/>
            </p:cNvCxnSpPr>
            <p:nvPr/>
          </p:nvCxnSpPr>
          <p:spPr>
            <a:xfrm>
              <a:off x="1120838" y="2339527"/>
              <a:ext cx="1042307" cy="1860608"/>
            </a:xfrm>
            <a:prstGeom prst="line">
              <a:avLst/>
            </a:prstGeom>
            <a:ln w="38100"/>
          </p:spPr>
          <p:style>
            <a:lnRef idx="1">
              <a:schemeClr val="accent2"/>
            </a:lnRef>
            <a:fillRef idx="0">
              <a:schemeClr val="accent2"/>
            </a:fillRef>
            <a:effectRef idx="0">
              <a:schemeClr val="accent2"/>
            </a:effectRef>
            <a:fontRef idx="minor">
              <a:schemeClr val="tx1"/>
            </a:fontRef>
          </p:style>
        </p:cxnSp>
      </p:grpSp>
      <p:sp>
        <p:nvSpPr>
          <p:cNvPr id="81" name="TextBox 80">
            <a:extLst>
              <a:ext uri="{FF2B5EF4-FFF2-40B4-BE49-F238E27FC236}">
                <a16:creationId xmlns:a16="http://schemas.microsoft.com/office/drawing/2014/main" id="{0D504BFF-0627-8423-B936-CF03BF8A5CC3}"/>
              </a:ext>
            </a:extLst>
          </p:cNvPr>
          <p:cNvSpPr txBox="1"/>
          <p:nvPr/>
        </p:nvSpPr>
        <p:spPr>
          <a:xfrm>
            <a:off x="5235285" y="2266776"/>
            <a:ext cx="3996017" cy="1631216"/>
          </a:xfrm>
          <a:prstGeom prst="rect">
            <a:avLst/>
          </a:prstGeom>
          <a:noFill/>
        </p:spPr>
        <p:txBody>
          <a:bodyPr wrap="square" rtlCol="0">
            <a:spAutoFit/>
          </a:bodyPr>
          <a:lstStyle/>
          <a:p>
            <a:r>
              <a:rPr lang="en-PS" sz="2000" dirty="0">
                <a:solidFill>
                  <a:srgbClr val="0070C0"/>
                </a:solidFill>
                <a:latin typeface="Gill Sans MT" panose="020B0502020104020203" pitchFamily="34" charset="77"/>
                <a:cs typeface="Times New Roman" panose="02020603050405020304" pitchFamily="18" charset="0"/>
              </a:rPr>
              <a:t>w = w - a. (negative number)</a:t>
            </a:r>
          </a:p>
          <a:p>
            <a:r>
              <a:rPr lang="en-PS" sz="2000" dirty="0">
                <a:latin typeface="Gill Sans MT" panose="020B0502020104020203" pitchFamily="34" charset="77"/>
              </a:rPr>
              <a:t>     a: is always positive number </a:t>
            </a:r>
          </a:p>
          <a:p>
            <a:pPr marL="342900" indent="-342900">
              <a:buFont typeface="Wingdings" pitchFamily="2" charset="2"/>
              <a:buChar char="à"/>
            </a:pPr>
            <a:r>
              <a:rPr lang="en-PS" sz="2000" dirty="0">
                <a:solidFill>
                  <a:srgbClr val="0070C0"/>
                </a:solidFill>
                <a:latin typeface="Gill Sans MT" panose="020B0502020104020203" pitchFamily="34" charset="77"/>
                <a:sym typeface="Wingdings" pitchFamily="2" charset="2"/>
              </a:rPr>
              <a:t>w(new) = w(old) + positive value</a:t>
            </a:r>
          </a:p>
          <a:p>
            <a:pPr marL="342900" indent="-342900">
              <a:buFont typeface="Wingdings" pitchFamily="2" charset="2"/>
              <a:buChar char="à"/>
            </a:pPr>
            <a:r>
              <a:rPr lang="en-PS" sz="2000" dirty="0">
                <a:latin typeface="Gill Sans MT" panose="020B0502020104020203" pitchFamily="34" charset="77"/>
                <a:sym typeface="Wingdings" pitchFamily="2" charset="2"/>
              </a:rPr>
              <a:t>w will move to the right, in the direction of the minimum</a:t>
            </a:r>
            <a:endParaRPr lang="en-PS" sz="2000" dirty="0">
              <a:latin typeface="Gill Sans MT" panose="020B0502020104020203" pitchFamily="34" charset="77"/>
            </a:endParaRPr>
          </a:p>
        </p:txBody>
      </p:sp>
      <p:cxnSp>
        <p:nvCxnSpPr>
          <p:cNvPr id="85" name="Straight Arrow Connector 84">
            <a:extLst>
              <a:ext uri="{FF2B5EF4-FFF2-40B4-BE49-F238E27FC236}">
                <a16:creationId xmlns:a16="http://schemas.microsoft.com/office/drawing/2014/main" id="{E924E988-03A9-7738-BB6C-971FD4157453}"/>
              </a:ext>
            </a:extLst>
          </p:cNvPr>
          <p:cNvCxnSpPr>
            <a:cxnSpLocks/>
          </p:cNvCxnSpPr>
          <p:nvPr/>
        </p:nvCxnSpPr>
        <p:spPr>
          <a:xfrm>
            <a:off x="1052116" y="4127462"/>
            <a:ext cx="1381389"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B1BEBD-F8E0-3FA1-8F36-D45598F35409}"/>
              </a:ext>
            </a:extLst>
          </p:cNvPr>
          <p:cNvSpPr txBox="1"/>
          <p:nvPr/>
        </p:nvSpPr>
        <p:spPr>
          <a:xfrm>
            <a:off x="115042" y="4343430"/>
            <a:ext cx="3189656" cy="369332"/>
          </a:xfrm>
          <a:prstGeom prst="rect">
            <a:avLst/>
          </a:prstGeom>
          <a:noFill/>
        </p:spPr>
        <p:txBody>
          <a:bodyPr wrap="none" rtlCol="0">
            <a:spAutoFit/>
          </a:bodyPr>
          <a:lstStyle/>
          <a:p>
            <a:r>
              <a:rPr lang="en-PS" dirty="0">
                <a:solidFill>
                  <a:srgbClr val="C00000"/>
                </a:solidFill>
                <a:latin typeface="Gill Sans MT" panose="020B0502020104020203" pitchFamily="34" charset="77"/>
              </a:rPr>
              <a:t>w is increasing towards the min </a:t>
            </a:r>
          </a:p>
        </p:txBody>
      </p:sp>
      <p:cxnSp>
        <p:nvCxnSpPr>
          <p:cNvPr id="8" name="Straight Arrow Connector 7">
            <a:extLst>
              <a:ext uri="{FF2B5EF4-FFF2-40B4-BE49-F238E27FC236}">
                <a16:creationId xmlns:a16="http://schemas.microsoft.com/office/drawing/2014/main" id="{27136987-04D1-5DA6-CD14-2B8F957FD855}"/>
              </a:ext>
            </a:extLst>
          </p:cNvPr>
          <p:cNvCxnSpPr>
            <a:cxnSpLocks/>
          </p:cNvCxnSpPr>
          <p:nvPr/>
        </p:nvCxnSpPr>
        <p:spPr>
          <a:xfrm flipH="1">
            <a:off x="1742810" y="1941035"/>
            <a:ext cx="3600190" cy="641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9972B67-9306-1045-A5ED-DF4776AB20EE}"/>
              </a:ext>
            </a:extLst>
          </p:cNvPr>
          <p:cNvSpPr txBox="1"/>
          <p:nvPr/>
        </p:nvSpPr>
        <p:spPr>
          <a:xfrm>
            <a:off x="4161194" y="4259108"/>
            <a:ext cx="4458400" cy="923330"/>
          </a:xfrm>
          <a:prstGeom prst="rect">
            <a:avLst/>
          </a:prstGeom>
          <a:noFill/>
        </p:spPr>
        <p:txBody>
          <a:bodyPr wrap="none" rtlCol="0">
            <a:spAutoFit/>
          </a:bodyPr>
          <a:lstStyle/>
          <a:p>
            <a:r>
              <a:rPr lang="en-PS" dirty="0">
                <a:solidFill>
                  <a:srgbClr val="C00000"/>
                </a:solidFill>
                <a:latin typeface="Gill Sans MT" panose="020B0502020104020203" pitchFamily="34" charset="77"/>
              </a:rPr>
              <a:t>This means that the gradient descent is doing </a:t>
            </a:r>
          </a:p>
          <a:p>
            <a:r>
              <a:rPr lang="en-PS" dirty="0">
                <a:solidFill>
                  <a:srgbClr val="C00000"/>
                </a:solidFill>
                <a:latin typeface="Gill Sans MT" panose="020B0502020104020203" pitchFamily="34" charset="77"/>
              </a:rPr>
              <a:t>something resonable, i.e. moving with J(w) </a:t>
            </a:r>
          </a:p>
          <a:p>
            <a:r>
              <a:rPr lang="en-PS" dirty="0">
                <a:solidFill>
                  <a:srgbClr val="C00000"/>
                </a:solidFill>
                <a:latin typeface="Gill Sans MT" panose="020B0502020104020203" pitchFamily="34" charset="77"/>
              </a:rPr>
              <a:t>towards the min.</a:t>
            </a:r>
          </a:p>
        </p:txBody>
      </p:sp>
    </p:spTree>
    <p:extLst>
      <p:ext uri="{BB962C8B-B14F-4D97-AF65-F5344CB8AC3E}">
        <p14:creationId xmlns:p14="http://schemas.microsoft.com/office/powerpoint/2010/main" val="868941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5B71-098D-9E80-28A1-8F306386C153}"/>
              </a:ext>
            </a:extLst>
          </p:cNvPr>
          <p:cNvSpPr>
            <a:spLocks noGrp="1"/>
          </p:cNvSpPr>
          <p:nvPr>
            <p:ph type="title"/>
          </p:nvPr>
        </p:nvSpPr>
        <p:spPr>
          <a:xfrm>
            <a:off x="502920" y="102393"/>
            <a:ext cx="7886700" cy="564357"/>
          </a:xfrm>
        </p:spPr>
        <p:txBody>
          <a:bodyPr/>
          <a:lstStyle/>
          <a:p>
            <a:r>
              <a:rPr lang="en-PS" dirty="0">
                <a:solidFill>
                  <a:srgbClr val="0432FF"/>
                </a:solidFill>
              </a:rPr>
              <a:t>To conclude ...</a:t>
            </a:r>
          </a:p>
        </p:txBody>
      </p:sp>
      <p:sp>
        <p:nvSpPr>
          <p:cNvPr id="3" name="Content Placeholder 2">
            <a:extLst>
              <a:ext uri="{FF2B5EF4-FFF2-40B4-BE49-F238E27FC236}">
                <a16:creationId xmlns:a16="http://schemas.microsoft.com/office/drawing/2014/main" id="{2AD6D91E-58F9-6556-072C-1D0627C0BE89}"/>
              </a:ext>
            </a:extLst>
          </p:cNvPr>
          <p:cNvSpPr>
            <a:spLocks noGrp="1"/>
          </p:cNvSpPr>
          <p:nvPr>
            <p:ph idx="1"/>
          </p:nvPr>
        </p:nvSpPr>
        <p:spPr>
          <a:xfrm>
            <a:off x="605790" y="666750"/>
            <a:ext cx="7886700" cy="3671459"/>
          </a:xfrm>
        </p:spPr>
        <p:txBody>
          <a:bodyPr>
            <a:normAutofit/>
          </a:bodyPr>
          <a:lstStyle/>
          <a:p>
            <a:r>
              <a:rPr lang="en-US" sz="2400" dirty="0"/>
              <a:t>This derivative indicates the sensitivity of the loss function to changes in </a:t>
            </a:r>
            <a:r>
              <a:rPr lang="en-US" sz="2400" i="1" dirty="0">
                <a:solidFill>
                  <a:srgbClr val="0070C0"/>
                </a:solidFill>
              </a:rPr>
              <a:t>w</a:t>
            </a:r>
            <a:r>
              <a:rPr lang="en-US" sz="2400" dirty="0"/>
              <a:t>.  A positive derivative implies that increasing w will reduce the loss, while a negative derivative suggests that decreasing w will reduce the loss.</a:t>
            </a:r>
          </a:p>
          <a:p>
            <a:r>
              <a:rPr lang="en-US" sz="2400" dirty="0"/>
              <a:t>The weight update rule, also known as the gradient descent algorithm, utilizes the derivative to adjust w in the direction that minimizes the loss.</a:t>
            </a:r>
          </a:p>
          <a:p>
            <a:r>
              <a:rPr lang="en-US" sz="2000" b="0" i="0" dirty="0">
                <a:solidFill>
                  <a:srgbClr val="1F1F1F"/>
                </a:solidFill>
                <a:effectLst/>
              </a:rPr>
              <a:t>In summary, the derivative of the loss function serves as a guiding signal for updating the weight parameter, ensuring that the weight moves towards the value that minimizes the overall loss.</a:t>
            </a:r>
            <a:endParaRPr lang="en-PS" sz="2400" dirty="0"/>
          </a:p>
        </p:txBody>
      </p:sp>
      <p:sp>
        <p:nvSpPr>
          <p:cNvPr id="4" name="Slide Number Placeholder 3">
            <a:extLst>
              <a:ext uri="{FF2B5EF4-FFF2-40B4-BE49-F238E27FC236}">
                <a16:creationId xmlns:a16="http://schemas.microsoft.com/office/drawing/2014/main" id="{F93CB202-2317-81DA-C884-3579C6B8942E}"/>
              </a:ext>
            </a:extLst>
          </p:cNvPr>
          <p:cNvSpPr>
            <a:spLocks noGrp="1"/>
          </p:cNvSpPr>
          <p:nvPr>
            <p:ph type="sldNum" sz="quarter" idx="12"/>
          </p:nvPr>
        </p:nvSpPr>
        <p:spPr>
          <a:xfrm>
            <a:off x="8153400" y="4767263"/>
            <a:ext cx="361950" cy="273844"/>
          </a:xfrm>
        </p:spPr>
        <p:txBody>
          <a:bodyPr/>
          <a:lstStyle/>
          <a:p>
            <a:fld id="{B6F15528-21DE-4FAA-801E-634DDDAF4B2B}" type="slidenum">
              <a:rPr lang="en-PS" smtClean="0"/>
              <a:t>21</a:t>
            </a:fld>
            <a:endParaRPr lang="en-PS"/>
          </a:p>
        </p:txBody>
      </p:sp>
      <p:sp>
        <p:nvSpPr>
          <p:cNvPr id="5" name="TextBox 4">
            <a:extLst>
              <a:ext uri="{FF2B5EF4-FFF2-40B4-BE49-F238E27FC236}">
                <a16:creationId xmlns:a16="http://schemas.microsoft.com/office/drawing/2014/main" id="{C7834D6C-A99F-749E-4846-78831420E775}"/>
              </a:ext>
            </a:extLst>
          </p:cNvPr>
          <p:cNvSpPr txBox="1"/>
          <p:nvPr/>
        </p:nvSpPr>
        <p:spPr>
          <a:xfrm>
            <a:off x="762000" y="4338209"/>
            <a:ext cx="5513561" cy="461665"/>
          </a:xfrm>
          <a:prstGeom prst="rect">
            <a:avLst/>
          </a:prstGeom>
          <a:noFill/>
        </p:spPr>
        <p:txBody>
          <a:bodyPr wrap="none" rtlCol="0">
            <a:spAutoFit/>
          </a:bodyPr>
          <a:lstStyle/>
          <a:p>
            <a:r>
              <a:rPr lang="en-PS" sz="2400" dirty="0">
                <a:solidFill>
                  <a:srgbClr val="C00000"/>
                </a:solidFill>
                <a:latin typeface="Gill Sans MT" panose="020B0502020104020203" pitchFamily="34" charset="77"/>
              </a:rPr>
              <a:t>But what is the role of the learning rate a ?</a:t>
            </a:r>
          </a:p>
        </p:txBody>
      </p:sp>
      <p:sp>
        <p:nvSpPr>
          <p:cNvPr id="7" name="Right Arrow 6">
            <a:extLst>
              <a:ext uri="{FF2B5EF4-FFF2-40B4-BE49-F238E27FC236}">
                <a16:creationId xmlns:a16="http://schemas.microsoft.com/office/drawing/2014/main" id="{68532D40-F466-B508-713F-8A7557263949}"/>
              </a:ext>
            </a:extLst>
          </p:cNvPr>
          <p:cNvSpPr/>
          <p:nvPr/>
        </p:nvSpPr>
        <p:spPr>
          <a:xfrm>
            <a:off x="7010400" y="4430030"/>
            <a:ext cx="609600" cy="4429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latin typeface="Gill Sans MT" panose="020B0502020104020203" pitchFamily="34" charset="77"/>
            </a:endParaRPr>
          </a:p>
        </p:txBody>
      </p:sp>
    </p:spTree>
    <p:extLst>
      <p:ext uri="{BB962C8B-B14F-4D97-AF65-F5344CB8AC3E}">
        <p14:creationId xmlns:p14="http://schemas.microsoft.com/office/powerpoint/2010/main" val="3460068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4820" y="704850"/>
            <a:ext cx="3404235" cy="601448"/>
          </a:xfrm>
          <a:prstGeom prst="rect">
            <a:avLst/>
          </a:prstGeom>
        </p:spPr>
        <p:txBody>
          <a:bodyPr vert="horz" wrap="square" lIns="0" tIns="16511" rIns="0" bIns="0" rtlCol="0">
            <a:spAutoFit/>
          </a:bodyPr>
          <a:lstStyle/>
          <a:p>
            <a:pPr marL="12700">
              <a:spcBef>
                <a:spcPts val="131"/>
              </a:spcBef>
            </a:pPr>
            <a:r>
              <a:rPr sz="3800" spc="15" dirty="0">
                <a:solidFill>
                  <a:srgbClr val="0432FF"/>
                </a:solidFill>
                <a:latin typeface="Verdana"/>
                <a:cs typeface="Verdana"/>
              </a:rPr>
              <a:t>Learning</a:t>
            </a:r>
            <a:r>
              <a:rPr sz="3800" spc="-204" dirty="0">
                <a:solidFill>
                  <a:srgbClr val="0432FF"/>
                </a:solidFill>
                <a:latin typeface="Verdana"/>
                <a:cs typeface="Verdana"/>
              </a:rPr>
              <a:t> </a:t>
            </a:r>
            <a:r>
              <a:rPr sz="3800" spc="11" dirty="0">
                <a:solidFill>
                  <a:srgbClr val="0432FF"/>
                </a:solidFill>
                <a:latin typeface="Verdana"/>
                <a:cs typeface="Verdana"/>
              </a:rPr>
              <a:t>Rate</a:t>
            </a:r>
            <a:endParaRPr sz="3800" dirty="0">
              <a:solidFill>
                <a:srgbClr val="0432FF"/>
              </a:solidFill>
              <a:latin typeface="Verdana"/>
              <a:cs typeface="Verdana"/>
            </a:endParaRPr>
          </a:p>
        </p:txBody>
      </p:sp>
      <p:sp>
        <p:nvSpPr>
          <p:cNvPr id="4" name="Slide Number Placeholder 3">
            <a:extLst>
              <a:ext uri="{FF2B5EF4-FFF2-40B4-BE49-F238E27FC236}">
                <a16:creationId xmlns:a16="http://schemas.microsoft.com/office/drawing/2014/main" id="{A8F8BE76-79F0-480E-F36E-694C333EA7CE}"/>
              </a:ext>
            </a:extLst>
          </p:cNvPr>
          <p:cNvSpPr>
            <a:spLocks noGrp="1"/>
          </p:cNvSpPr>
          <p:nvPr>
            <p:ph type="sldNum" sz="quarter" idx="7"/>
          </p:nvPr>
        </p:nvSpPr>
        <p:spPr/>
        <p:txBody>
          <a:bodyPr/>
          <a:lstStyle/>
          <a:p>
            <a:fld id="{B6F15528-21DE-4FAA-801E-634DDDAF4B2B}" type="slidenum">
              <a:rPr lang="en-PS" smtClean="0"/>
              <a:t>22</a:t>
            </a:fld>
            <a:endParaRPr lang="en-PS"/>
          </a:p>
        </p:txBody>
      </p:sp>
      <p:sp>
        <p:nvSpPr>
          <p:cNvPr id="5" name="TextBox 4">
            <a:extLst>
              <a:ext uri="{FF2B5EF4-FFF2-40B4-BE49-F238E27FC236}">
                <a16:creationId xmlns:a16="http://schemas.microsoft.com/office/drawing/2014/main" id="{7BAD46EB-3FC6-FF54-97CB-879156FB3815}"/>
              </a:ext>
            </a:extLst>
          </p:cNvPr>
          <p:cNvSpPr txBox="1"/>
          <p:nvPr/>
        </p:nvSpPr>
        <p:spPr>
          <a:xfrm>
            <a:off x="464820" y="2166493"/>
            <a:ext cx="7720062" cy="707886"/>
          </a:xfrm>
          <a:prstGeom prst="rect">
            <a:avLst/>
          </a:prstGeom>
          <a:noFill/>
        </p:spPr>
        <p:txBody>
          <a:bodyPr wrap="square">
            <a:spAutoFit/>
          </a:bodyPr>
          <a:lstStyle/>
          <a:p>
            <a:r>
              <a:rPr lang="en-US" sz="2000" i="1" dirty="0">
                <a:solidFill>
                  <a:srgbClr val="0070C0"/>
                </a:solidFill>
                <a:latin typeface="Gill Sans MT" panose="020B0502020104020203" pitchFamily="34" charset="77"/>
              </a:rPr>
              <a:t>w = w – </a:t>
            </a:r>
            <a:r>
              <a:rPr lang="en-US" sz="2000" i="1" dirty="0">
                <a:solidFill>
                  <a:srgbClr val="0070C0"/>
                </a:solidFill>
                <a:latin typeface="Symbol" pitchFamily="2" charset="2"/>
              </a:rPr>
              <a:t>a</a:t>
            </a:r>
            <a:r>
              <a:rPr lang="en-US" sz="2000" i="1" dirty="0">
                <a:solidFill>
                  <a:srgbClr val="0070C0"/>
                </a:solidFill>
                <a:latin typeface="Gill Sans MT" panose="020B0502020104020203" pitchFamily="34" charset="77"/>
              </a:rPr>
              <a:t> * </a:t>
            </a:r>
            <a:r>
              <a:rPr lang="en-US" sz="2000" i="1" dirty="0" err="1">
                <a:solidFill>
                  <a:srgbClr val="0070C0"/>
                </a:solidFill>
                <a:latin typeface="Gill Sans MT" panose="020B0502020104020203" pitchFamily="34" charset="77"/>
              </a:rPr>
              <a:t>dJ</a:t>
            </a:r>
            <a:r>
              <a:rPr lang="en-US" sz="2000" i="1" dirty="0">
                <a:solidFill>
                  <a:srgbClr val="0070C0"/>
                </a:solidFill>
                <a:latin typeface="Gill Sans MT" panose="020B0502020104020203" pitchFamily="34" charset="77"/>
              </a:rPr>
              <a:t>/</a:t>
            </a:r>
            <a:r>
              <a:rPr lang="en-US" sz="2000" i="1" dirty="0" err="1">
                <a:solidFill>
                  <a:srgbClr val="0070C0"/>
                </a:solidFill>
                <a:latin typeface="Gill Sans MT" panose="020B0502020104020203" pitchFamily="34" charset="77"/>
              </a:rPr>
              <a:t>dw</a:t>
            </a:r>
            <a:r>
              <a:rPr lang="en-US" sz="2000" i="1" dirty="0">
                <a:solidFill>
                  <a:srgbClr val="0070C0"/>
                </a:solidFill>
                <a:latin typeface="Gill Sans MT" panose="020B0502020104020203" pitchFamily="34" charset="77"/>
              </a:rPr>
              <a:t> </a:t>
            </a:r>
          </a:p>
          <a:p>
            <a:pPr algn="l"/>
            <a:r>
              <a:rPr lang="en-US" sz="2000" b="0" i="0" dirty="0">
                <a:solidFill>
                  <a:srgbClr val="1F1F1F"/>
                </a:solidFill>
                <a:effectLst/>
                <a:latin typeface="Gill Sans MT" panose="020B0502020104020203" pitchFamily="34" charset="77"/>
              </a:rPr>
              <a:t>where:  </a:t>
            </a:r>
            <a:r>
              <a:rPr lang="en-US" sz="2000" b="0" i="0" dirty="0">
                <a:solidFill>
                  <a:srgbClr val="0070C0"/>
                </a:solidFill>
                <a:effectLst/>
                <a:latin typeface="Symbol" pitchFamily="2" charset="2"/>
              </a:rPr>
              <a:t>a</a:t>
            </a:r>
            <a:r>
              <a:rPr lang="en-US" sz="2000" b="0" i="0" dirty="0">
                <a:solidFill>
                  <a:srgbClr val="1F1F1F"/>
                </a:solidFill>
                <a:effectLst/>
                <a:latin typeface="Gill Sans MT" panose="020B0502020104020203" pitchFamily="34" charset="77"/>
              </a:rPr>
              <a:t> is the learning rate, which controls the step size of the update</a:t>
            </a:r>
          </a:p>
        </p:txBody>
      </p:sp>
      <p:sp>
        <p:nvSpPr>
          <p:cNvPr id="6" name="TextBox 5">
            <a:extLst>
              <a:ext uri="{FF2B5EF4-FFF2-40B4-BE49-F238E27FC236}">
                <a16:creationId xmlns:a16="http://schemas.microsoft.com/office/drawing/2014/main" id="{77877D85-C76E-9B68-7E46-C3CB43939218}"/>
              </a:ext>
            </a:extLst>
          </p:cNvPr>
          <p:cNvSpPr txBox="1"/>
          <p:nvPr/>
        </p:nvSpPr>
        <p:spPr>
          <a:xfrm>
            <a:off x="152400" y="3734574"/>
            <a:ext cx="8669361" cy="707886"/>
          </a:xfrm>
          <a:prstGeom prst="rect">
            <a:avLst/>
          </a:prstGeom>
          <a:noFill/>
        </p:spPr>
        <p:txBody>
          <a:bodyPr wrap="none" rtlCol="0">
            <a:spAutoFit/>
          </a:bodyPr>
          <a:lstStyle/>
          <a:p>
            <a:r>
              <a:rPr lang="en-PS" sz="2000" dirty="0">
                <a:solidFill>
                  <a:srgbClr val="C00000"/>
                </a:solidFill>
                <a:latin typeface="Gill Sans MT" panose="020B0502020104020203" pitchFamily="34" charset="77"/>
              </a:rPr>
              <a:t>The main question becomes, how fast we shall be moving towards the minimum, </a:t>
            </a:r>
          </a:p>
          <a:p>
            <a:r>
              <a:rPr lang="en-PS" sz="2000" dirty="0">
                <a:solidFill>
                  <a:srgbClr val="C00000"/>
                </a:solidFill>
                <a:latin typeface="Gill Sans MT" panose="020B0502020104020203" pitchFamily="34" charset="77"/>
              </a:rPr>
              <a:t>or what determines the speed of change towards the min.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44797" y="2679276"/>
            <a:ext cx="4726940" cy="1440139"/>
          </a:xfrm>
          <a:prstGeom prst="rect">
            <a:avLst/>
          </a:prstGeom>
        </p:spPr>
        <p:txBody>
          <a:bodyPr vert="horz" wrap="square" lIns="0" tIns="16511" rIns="0" bIns="0" rtlCol="0">
            <a:spAutoFit/>
          </a:bodyPr>
          <a:lstStyle/>
          <a:p>
            <a:pPr marL="12700">
              <a:spcBef>
                <a:spcPts val="131"/>
              </a:spcBef>
            </a:pPr>
            <a:r>
              <a:rPr sz="2000" spc="-11" dirty="0">
                <a:latin typeface="Gill Sans MT" panose="020B0502020104020203" pitchFamily="34" charset="77"/>
                <a:cs typeface="Verdana"/>
              </a:rPr>
              <a:t>If</a:t>
            </a:r>
            <a:r>
              <a:rPr sz="2000" spc="-5" dirty="0">
                <a:latin typeface="Gill Sans MT" panose="020B0502020104020203" pitchFamily="34" charset="77"/>
                <a:cs typeface="Verdana"/>
              </a:rPr>
              <a:t> </a:t>
            </a:r>
            <a:r>
              <a:rPr sz="2000" spc="15" dirty="0">
                <a:latin typeface="Gill Sans MT" panose="020B0502020104020203" pitchFamily="34" charset="77"/>
                <a:cs typeface="Cambria Math"/>
              </a:rPr>
              <a:t>𝛼</a:t>
            </a:r>
            <a:r>
              <a:rPr sz="2000" spc="345" dirty="0">
                <a:latin typeface="Gill Sans MT" panose="020B0502020104020203" pitchFamily="34" charset="77"/>
                <a:cs typeface="Cambria Math"/>
              </a:rPr>
              <a:t> </a:t>
            </a:r>
            <a:r>
              <a:rPr sz="2000" spc="-11" dirty="0">
                <a:latin typeface="Gill Sans MT" panose="020B0502020104020203" pitchFamily="34" charset="77"/>
                <a:cs typeface="Verdana"/>
              </a:rPr>
              <a:t>is</a:t>
            </a:r>
            <a:r>
              <a:rPr sz="2000" spc="-51" dirty="0">
                <a:latin typeface="Gill Sans MT" panose="020B0502020104020203" pitchFamily="34" charset="77"/>
                <a:cs typeface="Verdana"/>
              </a:rPr>
              <a:t> </a:t>
            </a:r>
            <a:r>
              <a:rPr sz="2000" spc="11" dirty="0">
                <a:latin typeface="Gill Sans MT" panose="020B0502020104020203" pitchFamily="34" charset="77"/>
                <a:cs typeface="Verdana"/>
              </a:rPr>
              <a:t>too</a:t>
            </a:r>
            <a:r>
              <a:rPr sz="2000" spc="-75" dirty="0">
                <a:latin typeface="Gill Sans MT" panose="020B0502020104020203" pitchFamily="34" charset="77"/>
                <a:cs typeface="Verdana"/>
              </a:rPr>
              <a:t> </a:t>
            </a:r>
            <a:r>
              <a:rPr sz="2000" spc="11" dirty="0">
                <a:latin typeface="Gill Sans MT" panose="020B0502020104020203" pitchFamily="34" charset="77"/>
                <a:cs typeface="Verdana"/>
              </a:rPr>
              <a:t>large…</a:t>
            </a:r>
            <a:endParaRPr sz="2000" dirty="0">
              <a:latin typeface="Gill Sans MT" panose="020B0502020104020203" pitchFamily="34" charset="77"/>
              <a:cs typeface="Verdana"/>
            </a:endParaRPr>
          </a:p>
          <a:p>
            <a:pPr marL="26670">
              <a:spcBef>
                <a:spcPts val="1485"/>
              </a:spcBef>
            </a:pPr>
            <a:r>
              <a:rPr sz="2000" spc="15" dirty="0">
                <a:latin typeface="Gill Sans MT" panose="020B0502020104020203" pitchFamily="34" charset="77"/>
                <a:cs typeface="Verdana"/>
              </a:rPr>
              <a:t>G</a:t>
            </a:r>
            <a:r>
              <a:rPr sz="2000" spc="40" dirty="0">
                <a:latin typeface="Gill Sans MT" panose="020B0502020104020203" pitchFamily="34" charset="77"/>
                <a:cs typeface="Verdana"/>
              </a:rPr>
              <a:t>r</a:t>
            </a:r>
            <a:r>
              <a:rPr sz="2000" spc="-5" dirty="0">
                <a:latin typeface="Gill Sans MT" panose="020B0502020104020203" pitchFamily="34" charset="77"/>
                <a:cs typeface="Verdana"/>
              </a:rPr>
              <a:t>a</a:t>
            </a:r>
            <a:r>
              <a:rPr sz="2000" spc="20" dirty="0">
                <a:latin typeface="Gill Sans MT" panose="020B0502020104020203" pitchFamily="34" charset="77"/>
                <a:cs typeface="Verdana"/>
              </a:rPr>
              <a:t>d</a:t>
            </a:r>
            <a:r>
              <a:rPr sz="2000" spc="-31" dirty="0">
                <a:latin typeface="Gill Sans MT" panose="020B0502020104020203" pitchFamily="34" charset="77"/>
                <a:cs typeface="Verdana"/>
              </a:rPr>
              <a:t>i</a:t>
            </a:r>
            <a:r>
              <a:rPr sz="2000" spc="5" dirty="0">
                <a:latin typeface="Gill Sans MT" panose="020B0502020104020203" pitchFamily="34" charset="77"/>
                <a:cs typeface="Verdana"/>
              </a:rPr>
              <a:t>en</a:t>
            </a:r>
            <a:r>
              <a:rPr sz="2000" spc="11" dirty="0">
                <a:latin typeface="Gill Sans MT" panose="020B0502020104020203" pitchFamily="34" charset="77"/>
                <a:cs typeface="Verdana"/>
              </a:rPr>
              <a:t>t</a:t>
            </a:r>
            <a:r>
              <a:rPr sz="2000" spc="-160" dirty="0">
                <a:latin typeface="Gill Sans MT" panose="020B0502020104020203" pitchFamily="34" charset="77"/>
                <a:cs typeface="Verdana"/>
              </a:rPr>
              <a:t> </a:t>
            </a:r>
            <a:r>
              <a:rPr sz="2000" spc="20" dirty="0">
                <a:latin typeface="Gill Sans MT" panose="020B0502020104020203" pitchFamily="34" charset="77"/>
                <a:cs typeface="Verdana"/>
              </a:rPr>
              <a:t>d</a:t>
            </a:r>
            <a:r>
              <a:rPr sz="2000" spc="5" dirty="0">
                <a:latin typeface="Gill Sans MT" panose="020B0502020104020203" pitchFamily="34" charset="77"/>
                <a:cs typeface="Verdana"/>
              </a:rPr>
              <a:t>escen</a:t>
            </a:r>
            <a:r>
              <a:rPr sz="2000" spc="11" dirty="0">
                <a:latin typeface="Gill Sans MT" panose="020B0502020104020203" pitchFamily="34" charset="77"/>
                <a:cs typeface="Verdana"/>
              </a:rPr>
              <a:t>t</a:t>
            </a:r>
            <a:r>
              <a:rPr sz="2000" spc="-80" dirty="0">
                <a:latin typeface="Gill Sans MT" panose="020B0502020104020203" pitchFamily="34" charset="77"/>
                <a:cs typeface="Verdana"/>
              </a:rPr>
              <a:t> </a:t>
            </a:r>
            <a:r>
              <a:rPr sz="2000" dirty="0">
                <a:latin typeface="Gill Sans MT" panose="020B0502020104020203" pitchFamily="34" charset="77"/>
                <a:cs typeface="Verdana"/>
              </a:rPr>
              <a:t>m</a:t>
            </a:r>
            <a:r>
              <a:rPr sz="2000" spc="-5" dirty="0">
                <a:latin typeface="Gill Sans MT" panose="020B0502020104020203" pitchFamily="34" charset="77"/>
                <a:cs typeface="Verdana"/>
              </a:rPr>
              <a:t>a</a:t>
            </a:r>
            <a:r>
              <a:rPr sz="2000" spc="15" dirty="0">
                <a:latin typeface="Gill Sans MT" panose="020B0502020104020203" pitchFamily="34" charset="77"/>
                <a:cs typeface="Verdana"/>
              </a:rPr>
              <a:t>y:</a:t>
            </a:r>
            <a:endParaRPr sz="2000" dirty="0">
              <a:latin typeface="Gill Sans MT" panose="020B0502020104020203" pitchFamily="34" charset="77"/>
              <a:cs typeface="Verdana"/>
            </a:endParaRPr>
          </a:p>
          <a:p>
            <a:pPr marL="407660" indent="-200655">
              <a:spcBef>
                <a:spcPts val="5"/>
              </a:spcBef>
              <a:buChar char="-"/>
              <a:tabLst>
                <a:tab pos="408295" algn="l"/>
              </a:tabLst>
            </a:pPr>
            <a:r>
              <a:rPr sz="2000" spc="11" dirty="0">
                <a:latin typeface="Gill Sans MT" panose="020B0502020104020203" pitchFamily="34" charset="77"/>
                <a:cs typeface="Verdana"/>
              </a:rPr>
              <a:t>Overshoot,</a:t>
            </a:r>
            <a:r>
              <a:rPr sz="2000" spc="-115" dirty="0">
                <a:latin typeface="Gill Sans MT" panose="020B0502020104020203" pitchFamily="34" charset="77"/>
                <a:cs typeface="Verdana"/>
              </a:rPr>
              <a:t> </a:t>
            </a:r>
            <a:r>
              <a:rPr sz="2000" spc="11" dirty="0">
                <a:latin typeface="Gill Sans MT" panose="020B0502020104020203" pitchFamily="34" charset="77"/>
                <a:cs typeface="Verdana"/>
              </a:rPr>
              <a:t>never</a:t>
            </a:r>
            <a:r>
              <a:rPr sz="2000" spc="-95" dirty="0">
                <a:latin typeface="Gill Sans MT" panose="020B0502020104020203" pitchFamily="34" charset="77"/>
                <a:cs typeface="Verdana"/>
              </a:rPr>
              <a:t> </a:t>
            </a:r>
            <a:r>
              <a:rPr sz="2000" spc="15" dirty="0">
                <a:latin typeface="Gill Sans MT" panose="020B0502020104020203" pitchFamily="34" charset="77"/>
                <a:cs typeface="Verdana"/>
              </a:rPr>
              <a:t>reach</a:t>
            </a:r>
            <a:r>
              <a:rPr sz="2000" spc="-135" dirty="0">
                <a:latin typeface="Gill Sans MT" panose="020B0502020104020203" pitchFamily="34" charset="77"/>
                <a:cs typeface="Verdana"/>
              </a:rPr>
              <a:t> </a:t>
            </a:r>
            <a:r>
              <a:rPr sz="2000" dirty="0">
                <a:latin typeface="Gill Sans MT" panose="020B0502020104020203" pitchFamily="34" charset="77"/>
                <a:cs typeface="Verdana"/>
              </a:rPr>
              <a:t>minimum</a:t>
            </a:r>
          </a:p>
          <a:p>
            <a:pPr marL="407660" indent="-200655">
              <a:spcBef>
                <a:spcPts val="5"/>
              </a:spcBef>
              <a:buChar char="-"/>
              <a:tabLst>
                <a:tab pos="408295" algn="l"/>
              </a:tabLst>
            </a:pPr>
            <a:r>
              <a:rPr sz="2000" spc="5" dirty="0">
                <a:latin typeface="Gill Sans MT" panose="020B0502020104020203" pitchFamily="34" charset="77"/>
                <a:cs typeface="Verdana"/>
              </a:rPr>
              <a:t>Fail</a:t>
            </a:r>
            <a:r>
              <a:rPr sz="2000" spc="-71" dirty="0">
                <a:latin typeface="Gill Sans MT" panose="020B0502020104020203" pitchFamily="34" charset="77"/>
                <a:cs typeface="Verdana"/>
              </a:rPr>
              <a:t> </a:t>
            </a:r>
            <a:r>
              <a:rPr sz="2000" spc="25" dirty="0">
                <a:latin typeface="Gill Sans MT" panose="020B0502020104020203" pitchFamily="34" charset="77"/>
                <a:cs typeface="Verdana"/>
              </a:rPr>
              <a:t>to</a:t>
            </a:r>
            <a:r>
              <a:rPr sz="2000" spc="-71" dirty="0">
                <a:latin typeface="Gill Sans MT" panose="020B0502020104020203" pitchFamily="34" charset="77"/>
                <a:cs typeface="Verdana"/>
              </a:rPr>
              <a:t> </a:t>
            </a:r>
            <a:r>
              <a:rPr sz="2000" spc="11" dirty="0">
                <a:latin typeface="Gill Sans MT" panose="020B0502020104020203" pitchFamily="34" charset="77"/>
                <a:cs typeface="Verdana"/>
              </a:rPr>
              <a:t>converge,</a:t>
            </a:r>
            <a:r>
              <a:rPr sz="2000" spc="-95" dirty="0">
                <a:latin typeface="Gill Sans MT" panose="020B0502020104020203" pitchFamily="34" charset="77"/>
                <a:cs typeface="Verdana"/>
              </a:rPr>
              <a:t> </a:t>
            </a:r>
            <a:r>
              <a:rPr lang="en-GB" sz="2000" spc="-95" dirty="0">
                <a:latin typeface="Gill Sans MT" panose="020B0502020104020203" pitchFamily="34" charset="77"/>
                <a:cs typeface="Verdana"/>
              </a:rPr>
              <a:t>which means </a:t>
            </a:r>
            <a:r>
              <a:rPr sz="2000" spc="15" dirty="0">
                <a:latin typeface="Gill Sans MT" panose="020B0502020104020203" pitchFamily="34" charset="77"/>
                <a:cs typeface="Verdana"/>
              </a:rPr>
              <a:t>diverge</a:t>
            </a:r>
            <a:endParaRPr sz="2000" dirty="0">
              <a:latin typeface="Gill Sans MT" panose="020B0502020104020203" pitchFamily="34" charset="77"/>
              <a:cs typeface="Verdana"/>
            </a:endParaRPr>
          </a:p>
        </p:txBody>
      </p:sp>
      <p:sp>
        <p:nvSpPr>
          <p:cNvPr id="4" name="object 4"/>
          <p:cNvSpPr txBox="1"/>
          <p:nvPr/>
        </p:nvSpPr>
        <p:spPr>
          <a:xfrm>
            <a:off x="315666" y="1160382"/>
            <a:ext cx="3977640" cy="1065677"/>
          </a:xfrm>
          <a:prstGeom prst="rect">
            <a:avLst/>
          </a:prstGeom>
        </p:spPr>
        <p:txBody>
          <a:bodyPr vert="horz" wrap="square" lIns="0" tIns="77471" rIns="0" bIns="0" rtlCol="0">
            <a:spAutoFit/>
          </a:bodyPr>
          <a:lstStyle/>
          <a:p>
            <a:pPr marL="26670">
              <a:spcBef>
                <a:spcPts val="611"/>
              </a:spcBef>
            </a:pPr>
            <a:r>
              <a:rPr sz="2000" spc="-11" dirty="0">
                <a:solidFill>
                  <a:srgbClr val="0432FF"/>
                </a:solidFill>
                <a:latin typeface="Gill Sans MT" panose="020B0502020104020203" pitchFamily="34" charset="77"/>
                <a:cs typeface="Verdana"/>
              </a:rPr>
              <a:t>If</a:t>
            </a:r>
            <a:r>
              <a:rPr sz="2000" spc="-5" dirty="0">
                <a:solidFill>
                  <a:srgbClr val="0432FF"/>
                </a:solidFill>
                <a:latin typeface="Gill Sans MT" panose="020B0502020104020203" pitchFamily="34" charset="77"/>
                <a:cs typeface="Verdana"/>
              </a:rPr>
              <a:t> </a:t>
            </a:r>
            <a:r>
              <a:rPr sz="2000" spc="15" dirty="0">
                <a:solidFill>
                  <a:srgbClr val="0432FF"/>
                </a:solidFill>
                <a:latin typeface="Gill Sans MT" panose="020B0502020104020203" pitchFamily="34" charset="77"/>
                <a:cs typeface="Cambria Math"/>
              </a:rPr>
              <a:t>𝛼</a:t>
            </a:r>
            <a:r>
              <a:rPr sz="2000" spc="345" dirty="0">
                <a:solidFill>
                  <a:srgbClr val="0432FF"/>
                </a:solidFill>
                <a:latin typeface="Gill Sans MT" panose="020B0502020104020203" pitchFamily="34" charset="77"/>
                <a:cs typeface="Cambria Math"/>
              </a:rPr>
              <a:t> </a:t>
            </a:r>
            <a:r>
              <a:rPr sz="2000" spc="-11" dirty="0">
                <a:solidFill>
                  <a:srgbClr val="0432FF"/>
                </a:solidFill>
                <a:latin typeface="Gill Sans MT" panose="020B0502020104020203" pitchFamily="34" charset="77"/>
                <a:cs typeface="Verdana"/>
              </a:rPr>
              <a:t>is</a:t>
            </a:r>
            <a:r>
              <a:rPr sz="2000" spc="-55" dirty="0">
                <a:solidFill>
                  <a:srgbClr val="0432FF"/>
                </a:solidFill>
                <a:latin typeface="Gill Sans MT" panose="020B0502020104020203" pitchFamily="34" charset="77"/>
                <a:cs typeface="Verdana"/>
              </a:rPr>
              <a:t> </a:t>
            </a:r>
            <a:r>
              <a:rPr sz="2000" spc="11" dirty="0">
                <a:solidFill>
                  <a:srgbClr val="0432FF"/>
                </a:solidFill>
                <a:latin typeface="Gill Sans MT" panose="020B0502020104020203" pitchFamily="34" charset="77"/>
                <a:cs typeface="Verdana"/>
              </a:rPr>
              <a:t>too</a:t>
            </a:r>
            <a:r>
              <a:rPr sz="2000" spc="-71" dirty="0">
                <a:solidFill>
                  <a:srgbClr val="0432FF"/>
                </a:solidFill>
                <a:latin typeface="Gill Sans MT" panose="020B0502020104020203" pitchFamily="34" charset="77"/>
                <a:cs typeface="Verdana"/>
              </a:rPr>
              <a:t> </a:t>
            </a:r>
            <a:r>
              <a:rPr sz="2000" spc="-11" dirty="0">
                <a:solidFill>
                  <a:srgbClr val="0432FF"/>
                </a:solidFill>
                <a:latin typeface="Gill Sans MT" panose="020B0502020104020203" pitchFamily="34" charset="77"/>
                <a:cs typeface="Verdana"/>
              </a:rPr>
              <a:t>small…</a:t>
            </a:r>
            <a:endParaRPr sz="2000" dirty="0">
              <a:solidFill>
                <a:srgbClr val="0432FF"/>
              </a:solidFill>
              <a:latin typeface="Gill Sans MT" panose="020B0502020104020203" pitchFamily="34" charset="77"/>
              <a:cs typeface="Verdana"/>
            </a:endParaRPr>
          </a:p>
          <a:p>
            <a:pPr marL="12700">
              <a:spcBef>
                <a:spcPts val="515"/>
              </a:spcBef>
            </a:pPr>
            <a:r>
              <a:rPr sz="2000" spc="11" dirty="0">
                <a:solidFill>
                  <a:srgbClr val="0432FF"/>
                </a:solidFill>
                <a:latin typeface="Gill Sans MT" panose="020B0502020104020203" pitchFamily="34" charset="77"/>
                <a:cs typeface="Verdana"/>
              </a:rPr>
              <a:t>Gradient</a:t>
            </a:r>
            <a:r>
              <a:rPr sz="2000" spc="-169" dirty="0">
                <a:solidFill>
                  <a:srgbClr val="0432FF"/>
                </a:solidFill>
                <a:latin typeface="Gill Sans MT" panose="020B0502020104020203" pitchFamily="34" charset="77"/>
                <a:cs typeface="Verdana"/>
              </a:rPr>
              <a:t> </a:t>
            </a:r>
            <a:r>
              <a:rPr sz="2000" spc="5" dirty="0">
                <a:solidFill>
                  <a:srgbClr val="0432FF"/>
                </a:solidFill>
                <a:latin typeface="Gill Sans MT" panose="020B0502020104020203" pitchFamily="34" charset="77"/>
                <a:cs typeface="Verdana"/>
              </a:rPr>
              <a:t>descent</a:t>
            </a:r>
            <a:r>
              <a:rPr sz="2000" spc="-91" dirty="0">
                <a:solidFill>
                  <a:srgbClr val="0432FF"/>
                </a:solidFill>
                <a:latin typeface="Gill Sans MT" panose="020B0502020104020203" pitchFamily="34" charset="77"/>
                <a:cs typeface="Verdana"/>
              </a:rPr>
              <a:t> </a:t>
            </a:r>
            <a:r>
              <a:rPr sz="2000" spc="5" dirty="0">
                <a:solidFill>
                  <a:srgbClr val="0432FF"/>
                </a:solidFill>
                <a:latin typeface="Gill Sans MT" panose="020B0502020104020203" pitchFamily="34" charset="77"/>
                <a:cs typeface="Verdana"/>
              </a:rPr>
              <a:t>may</a:t>
            </a:r>
            <a:r>
              <a:rPr sz="2000" spc="-40" dirty="0">
                <a:solidFill>
                  <a:srgbClr val="0432FF"/>
                </a:solidFill>
                <a:latin typeface="Gill Sans MT" panose="020B0502020104020203" pitchFamily="34" charset="77"/>
                <a:cs typeface="Verdana"/>
              </a:rPr>
              <a:t> </a:t>
            </a:r>
            <a:r>
              <a:rPr sz="2000" spc="20" dirty="0">
                <a:solidFill>
                  <a:srgbClr val="0432FF"/>
                </a:solidFill>
                <a:latin typeface="Gill Sans MT" panose="020B0502020104020203" pitchFamily="34" charset="77"/>
                <a:cs typeface="Verdana"/>
              </a:rPr>
              <a:t>be</a:t>
            </a:r>
            <a:r>
              <a:rPr sz="2000" spc="-55" dirty="0">
                <a:solidFill>
                  <a:srgbClr val="0432FF"/>
                </a:solidFill>
                <a:latin typeface="Gill Sans MT" panose="020B0502020104020203" pitchFamily="34" charset="77"/>
                <a:cs typeface="Verdana"/>
              </a:rPr>
              <a:t> </a:t>
            </a:r>
            <a:r>
              <a:rPr sz="2000" spc="-5" dirty="0">
                <a:solidFill>
                  <a:srgbClr val="0432FF"/>
                </a:solidFill>
                <a:latin typeface="Gill Sans MT" panose="020B0502020104020203" pitchFamily="34" charset="77"/>
                <a:cs typeface="Verdana"/>
              </a:rPr>
              <a:t>slow</a:t>
            </a:r>
            <a:r>
              <a:rPr lang="en-GB" sz="2000" spc="-5" dirty="0">
                <a:solidFill>
                  <a:srgbClr val="0432FF"/>
                </a:solidFill>
                <a:latin typeface="Gill Sans MT" panose="020B0502020104020203" pitchFamily="34" charset="77"/>
                <a:cs typeface="Verdana"/>
              </a:rPr>
              <a:t>, and it might take long time to converge</a:t>
            </a:r>
          </a:p>
        </p:txBody>
      </p:sp>
      <p:sp>
        <p:nvSpPr>
          <p:cNvPr id="15" name="object 15"/>
          <p:cNvSpPr txBox="1">
            <a:spLocks noGrp="1"/>
          </p:cNvSpPr>
          <p:nvPr>
            <p:ph type="title"/>
          </p:nvPr>
        </p:nvSpPr>
        <p:spPr>
          <a:xfrm>
            <a:off x="651727" y="363858"/>
            <a:ext cx="1209675" cy="293029"/>
          </a:xfrm>
          <a:prstGeom prst="rect">
            <a:avLst/>
          </a:prstGeom>
        </p:spPr>
        <p:txBody>
          <a:bodyPr vert="horz" wrap="square" lIns="0" tIns="15875" rIns="0" bIns="0" rtlCol="0">
            <a:spAutoFit/>
          </a:bodyPr>
          <a:lstStyle/>
          <a:p>
            <a:pPr marL="12700">
              <a:spcBef>
                <a:spcPts val="125"/>
              </a:spcBef>
            </a:pPr>
            <a:r>
              <a:rPr sz="2000" b="1" spc="20" dirty="0">
                <a:latin typeface="Cambria Math"/>
                <a:cs typeface="Cambria Math"/>
              </a:rPr>
              <a:t>𝑤</a:t>
            </a:r>
            <a:r>
              <a:rPr sz="2000" b="1" spc="131" dirty="0">
                <a:latin typeface="Cambria Math"/>
                <a:cs typeface="Cambria Math"/>
              </a:rPr>
              <a:t> </a:t>
            </a:r>
            <a:r>
              <a:rPr sz="2000" b="1" spc="20" dirty="0">
                <a:latin typeface="Cambria Math"/>
                <a:cs typeface="Cambria Math"/>
              </a:rPr>
              <a:t>=</a:t>
            </a:r>
            <a:r>
              <a:rPr sz="2000" b="1" spc="45" dirty="0">
                <a:latin typeface="Cambria Math"/>
                <a:cs typeface="Cambria Math"/>
              </a:rPr>
              <a:t> </a:t>
            </a:r>
            <a:r>
              <a:rPr sz="2000" b="1" spc="20" dirty="0">
                <a:latin typeface="Cambria Math"/>
                <a:cs typeface="Cambria Math"/>
              </a:rPr>
              <a:t>𝑤</a:t>
            </a:r>
            <a:r>
              <a:rPr sz="2000" b="1" spc="60" dirty="0">
                <a:latin typeface="Cambria Math"/>
                <a:cs typeface="Cambria Math"/>
              </a:rPr>
              <a:t> </a:t>
            </a:r>
            <a:r>
              <a:rPr sz="2000" b="1" spc="20" dirty="0">
                <a:latin typeface="Cambria Math"/>
                <a:cs typeface="Cambria Math"/>
              </a:rPr>
              <a:t>−</a:t>
            </a:r>
            <a:r>
              <a:rPr sz="2000" b="1" spc="-25" dirty="0">
                <a:latin typeface="Cambria Math"/>
                <a:cs typeface="Cambria Math"/>
              </a:rPr>
              <a:t> </a:t>
            </a:r>
            <a:r>
              <a:rPr sz="2000" b="1" spc="15" dirty="0">
                <a:latin typeface="Cambria Math"/>
                <a:cs typeface="Cambria Math"/>
              </a:rPr>
              <a:t>𝛼</a:t>
            </a:r>
            <a:endParaRPr sz="2000" b="1" dirty="0">
              <a:latin typeface="Cambria Math"/>
              <a:cs typeface="Cambria Math"/>
            </a:endParaRPr>
          </a:p>
        </p:txBody>
      </p:sp>
      <p:sp>
        <p:nvSpPr>
          <p:cNvPr id="18" name="object 18"/>
          <p:cNvSpPr txBox="1"/>
          <p:nvPr/>
        </p:nvSpPr>
        <p:spPr>
          <a:xfrm>
            <a:off x="1890357" y="520299"/>
            <a:ext cx="371475" cy="323807"/>
          </a:xfrm>
          <a:prstGeom prst="rect">
            <a:avLst/>
          </a:prstGeom>
        </p:spPr>
        <p:txBody>
          <a:bodyPr vert="horz" wrap="square" lIns="0" tIns="15875" rIns="0" bIns="0" rtlCol="0">
            <a:spAutoFit/>
          </a:bodyPr>
          <a:lstStyle/>
          <a:p>
            <a:pPr marL="12700">
              <a:spcBef>
                <a:spcPts val="125"/>
              </a:spcBef>
            </a:pPr>
            <a:r>
              <a:rPr sz="2000" b="1" spc="35" dirty="0">
                <a:latin typeface="Cambria Math"/>
                <a:cs typeface="Cambria Math"/>
              </a:rPr>
              <a:t>𝑑𝑤</a:t>
            </a:r>
            <a:endParaRPr sz="2000" b="1" dirty="0">
              <a:latin typeface="Cambria Math"/>
              <a:cs typeface="Cambria Math"/>
            </a:endParaRPr>
          </a:p>
        </p:txBody>
      </p:sp>
      <p:grpSp>
        <p:nvGrpSpPr>
          <p:cNvPr id="2" name="Group 1">
            <a:extLst>
              <a:ext uri="{FF2B5EF4-FFF2-40B4-BE49-F238E27FC236}">
                <a16:creationId xmlns:a16="http://schemas.microsoft.com/office/drawing/2014/main" id="{2AB1226E-7147-88DD-4C1C-321598D7C373}"/>
              </a:ext>
            </a:extLst>
          </p:cNvPr>
          <p:cNvGrpSpPr/>
          <p:nvPr/>
        </p:nvGrpSpPr>
        <p:grpSpPr>
          <a:xfrm>
            <a:off x="1900773" y="157587"/>
            <a:ext cx="874775" cy="514689"/>
            <a:chOff x="2019301" y="415861"/>
            <a:chExt cx="874775" cy="514689"/>
          </a:xfrm>
        </p:grpSpPr>
        <p:sp>
          <p:nvSpPr>
            <p:cNvPr id="16" name="object 16"/>
            <p:cNvSpPr/>
            <p:nvPr/>
          </p:nvSpPr>
          <p:spPr>
            <a:xfrm>
              <a:off x="2019301" y="789431"/>
              <a:ext cx="342900" cy="19051"/>
            </a:xfrm>
            <a:custGeom>
              <a:avLst/>
              <a:gdLst/>
              <a:ahLst/>
              <a:cxnLst/>
              <a:rect l="l" t="t" r="r" b="b"/>
              <a:pathLst>
                <a:path w="342900" h="19050">
                  <a:moveTo>
                    <a:pt x="342900" y="0"/>
                  </a:moveTo>
                  <a:lnTo>
                    <a:pt x="0" y="0"/>
                  </a:lnTo>
                  <a:lnTo>
                    <a:pt x="0" y="19050"/>
                  </a:lnTo>
                  <a:lnTo>
                    <a:pt x="342900" y="19050"/>
                  </a:lnTo>
                  <a:lnTo>
                    <a:pt x="342900" y="0"/>
                  </a:lnTo>
                  <a:close/>
                </a:path>
              </a:pathLst>
            </a:custGeom>
            <a:solidFill>
              <a:srgbClr val="000000"/>
            </a:solidFill>
          </p:spPr>
          <p:txBody>
            <a:bodyPr wrap="square" lIns="0" tIns="0" rIns="0" bIns="0" rtlCol="0"/>
            <a:lstStyle/>
            <a:p>
              <a:endParaRPr b="1"/>
            </a:p>
          </p:txBody>
        </p:sp>
        <p:sp>
          <p:nvSpPr>
            <p:cNvPr id="17" name="object 17"/>
            <p:cNvSpPr txBox="1"/>
            <p:nvPr/>
          </p:nvSpPr>
          <p:spPr>
            <a:xfrm>
              <a:off x="2104009" y="415861"/>
              <a:ext cx="175260" cy="323807"/>
            </a:xfrm>
            <a:prstGeom prst="rect">
              <a:avLst/>
            </a:prstGeom>
          </p:spPr>
          <p:txBody>
            <a:bodyPr vert="horz" wrap="square" lIns="0" tIns="15875" rIns="0" bIns="0" rtlCol="0">
              <a:spAutoFit/>
            </a:bodyPr>
            <a:lstStyle/>
            <a:p>
              <a:pPr marL="12700">
                <a:spcBef>
                  <a:spcPts val="125"/>
                </a:spcBef>
              </a:pPr>
              <a:r>
                <a:rPr sz="2000" b="1" spc="25" dirty="0">
                  <a:latin typeface="Cambria Math"/>
                  <a:cs typeface="Cambria Math"/>
                </a:rPr>
                <a:t>𝑑</a:t>
              </a:r>
              <a:endParaRPr sz="2000" b="1">
                <a:latin typeface="Cambria Math"/>
                <a:cs typeface="Cambria Math"/>
              </a:endParaRPr>
            </a:p>
          </p:txBody>
        </p:sp>
        <p:sp>
          <p:nvSpPr>
            <p:cNvPr id="19" name="object 19"/>
            <p:cNvSpPr/>
            <p:nvPr/>
          </p:nvSpPr>
          <p:spPr>
            <a:xfrm>
              <a:off x="2527681" y="684277"/>
              <a:ext cx="366395" cy="238125"/>
            </a:xfrm>
            <a:custGeom>
              <a:avLst/>
              <a:gdLst/>
              <a:ahLst/>
              <a:cxnLst/>
              <a:rect l="l" t="t" r="r" b="b"/>
              <a:pathLst>
                <a:path w="366394" h="238125">
                  <a:moveTo>
                    <a:pt x="290321" y="0"/>
                  </a:moveTo>
                  <a:lnTo>
                    <a:pt x="287019" y="9651"/>
                  </a:lnTo>
                  <a:lnTo>
                    <a:pt x="300809" y="15652"/>
                  </a:lnTo>
                  <a:lnTo>
                    <a:pt x="312658" y="23939"/>
                  </a:lnTo>
                  <a:lnTo>
                    <a:pt x="336748" y="62277"/>
                  </a:lnTo>
                  <a:lnTo>
                    <a:pt x="344677" y="117856"/>
                  </a:lnTo>
                  <a:lnTo>
                    <a:pt x="343777" y="138884"/>
                  </a:lnTo>
                  <a:lnTo>
                    <a:pt x="330454" y="190373"/>
                  </a:lnTo>
                  <a:lnTo>
                    <a:pt x="300950" y="222448"/>
                  </a:lnTo>
                  <a:lnTo>
                    <a:pt x="287400" y="228473"/>
                  </a:lnTo>
                  <a:lnTo>
                    <a:pt x="290321" y="238125"/>
                  </a:lnTo>
                  <a:lnTo>
                    <a:pt x="335845" y="211139"/>
                  </a:lnTo>
                  <a:lnTo>
                    <a:pt x="361457" y="161242"/>
                  </a:lnTo>
                  <a:lnTo>
                    <a:pt x="366394" y="119125"/>
                  </a:lnTo>
                  <a:lnTo>
                    <a:pt x="365158" y="97287"/>
                  </a:lnTo>
                  <a:lnTo>
                    <a:pt x="355304" y="58564"/>
                  </a:lnTo>
                  <a:lnTo>
                    <a:pt x="322802" y="15208"/>
                  </a:lnTo>
                  <a:lnTo>
                    <a:pt x="307633" y="6187"/>
                  </a:lnTo>
                  <a:lnTo>
                    <a:pt x="290321" y="0"/>
                  </a:lnTo>
                  <a:close/>
                </a:path>
                <a:path w="366394" h="238125">
                  <a:moveTo>
                    <a:pt x="75945" y="0"/>
                  </a:moveTo>
                  <a:lnTo>
                    <a:pt x="30565" y="27039"/>
                  </a:lnTo>
                  <a:lnTo>
                    <a:pt x="4937" y="77104"/>
                  </a:lnTo>
                  <a:lnTo>
                    <a:pt x="0" y="119125"/>
                  </a:lnTo>
                  <a:lnTo>
                    <a:pt x="1216" y="141035"/>
                  </a:lnTo>
                  <a:lnTo>
                    <a:pt x="10983" y="179758"/>
                  </a:lnTo>
                  <a:lnTo>
                    <a:pt x="43465" y="222932"/>
                  </a:lnTo>
                  <a:lnTo>
                    <a:pt x="75945" y="238125"/>
                  </a:lnTo>
                  <a:lnTo>
                    <a:pt x="78993" y="228473"/>
                  </a:lnTo>
                  <a:lnTo>
                    <a:pt x="65442" y="222448"/>
                  </a:lnTo>
                  <a:lnTo>
                    <a:pt x="53736" y="214090"/>
                  </a:lnTo>
                  <a:lnTo>
                    <a:pt x="29646" y="175131"/>
                  </a:lnTo>
                  <a:lnTo>
                    <a:pt x="21717" y="117856"/>
                  </a:lnTo>
                  <a:lnTo>
                    <a:pt x="22598" y="97520"/>
                  </a:lnTo>
                  <a:lnTo>
                    <a:pt x="35813" y="47371"/>
                  </a:lnTo>
                  <a:lnTo>
                    <a:pt x="65657" y="15652"/>
                  </a:lnTo>
                  <a:lnTo>
                    <a:pt x="79375" y="9651"/>
                  </a:lnTo>
                  <a:lnTo>
                    <a:pt x="75945" y="0"/>
                  </a:lnTo>
                  <a:close/>
                </a:path>
              </a:pathLst>
            </a:custGeom>
            <a:solidFill>
              <a:srgbClr val="000000"/>
            </a:solidFill>
          </p:spPr>
          <p:txBody>
            <a:bodyPr wrap="square" lIns="0" tIns="0" rIns="0" bIns="0" rtlCol="0"/>
            <a:lstStyle/>
            <a:p>
              <a:endParaRPr b="1"/>
            </a:p>
          </p:txBody>
        </p:sp>
        <p:sp>
          <p:nvSpPr>
            <p:cNvPr id="20" name="object 20"/>
            <p:cNvSpPr txBox="1"/>
            <p:nvPr/>
          </p:nvSpPr>
          <p:spPr>
            <a:xfrm>
              <a:off x="2390139" y="606743"/>
              <a:ext cx="426084" cy="323807"/>
            </a:xfrm>
            <a:prstGeom prst="rect">
              <a:avLst/>
            </a:prstGeom>
          </p:spPr>
          <p:txBody>
            <a:bodyPr vert="horz" wrap="square" lIns="0" tIns="15875" rIns="0" bIns="0" rtlCol="0">
              <a:spAutoFit/>
            </a:bodyPr>
            <a:lstStyle/>
            <a:p>
              <a:pPr marL="12700">
                <a:spcBef>
                  <a:spcPts val="125"/>
                </a:spcBef>
              </a:pPr>
              <a:r>
                <a:rPr sz="2000" b="1" spc="11" dirty="0">
                  <a:latin typeface="Cambria Math"/>
                  <a:cs typeface="Cambria Math"/>
                </a:rPr>
                <a:t>𝐽</a:t>
              </a:r>
              <a:r>
                <a:rPr sz="2000" b="1" spc="345" dirty="0">
                  <a:latin typeface="Cambria Math"/>
                  <a:cs typeface="Cambria Math"/>
                </a:rPr>
                <a:t> </a:t>
              </a:r>
              <a:r>
                <a:rPr sz="2000" b="1" spc="20" dirty="0">
                  <a:latin typeface="Cambria Math"/>
                  <a:cs typeface="Cambria Math"/>
                </a:rPr>
                <a:t>𝑤</a:t>
              </a:r>
              <a:endParaRPr sz="2000" b="1">
                <a:latin typeface="Cambria Math"/>
                <a:cs typeface="Cambria Math"/>
              </a:endParaRPr>
            </a:p>
          </p:txBody>
        </p:sp>
      </p:grpSp>
      <p:sp>
        <p:nvSpPr>
          <p:cNvPr id="6" name="object 6"/>
          <p:cNvSpPr/>
          <p:nvPr/>
        </p:nvSpPr>
        <p:spPr>
          <a:xfrm>
            <a:off x="6181157" y="4087020"/>
            <a:ext cx="887385" cy="0"/>
          </a:xfrm>
          <a:custGeom>
            <a:avLst/>
            <a:gdLst/>
            <a:ahLst/>
            <a:cxnLst/>
            <a:rect l="l" t="t" r="r" b="b"/>
            <a:pathLst>
              <a:path w="773429">
                <a:moveTo>
                  <a:pt x="773176" y="0"/>
                </a:moveTo>
                <a:lnTo>
                  <a:pt x="0" y="0"/>
                </a:lnTo>
              </a:path>
            </a:pathLst>
          </a:custGeom>
          <a:ln w="38100">
            <a:solidFill>
              <a:srgbClr val="4285F4"/>
            </a:solidFill>
            <a:prstDash val="dash"/>
          </a:ln>
        </p:spPr>
        <p:txBody>
          <a:bodyPr wrap="square" lIns="0" tIns="0" rIns="0" bIns="0" rtlCol="0"/>
          <a:lstStyle/>
          <a:p>
            <a:endParaRPr/>
          </a:p>
        </p:txBody>
      </p:sp>
      <p:sp>
        <p:nvSpPr>
          <p:cNvPr id="7" name="object 7"/>
          <p:cNvSpPr/>
          <p:nvPr/>
        </p:nvSpPr>
        <p:spPr>
          <a:xfrm>
            <a:off x="6071964" y="2629695"/>
            <a:ext cx="262281" cy="1907539"/>
          </a:xfrm>
          <a:custGeom>
            <a:avLst/>
            <a:gdLst/>
            <a:ahLst/>
            <a:cxnLst/>
            <a:rect l="l" t="t" r="r" b="b"/>
            <a:pathLst>
              <a:path w="228600" h="1907539">
                <a:moveTo>
                  <a:pt x="114220" y="59435"/>
                </a:moveTo>
                <a:lnTo>
                  <a:pt x="95170" y="82295"/>
                </a:lnTo>
                <a:lnTo>
                  <a:pt x="95170" y="1907133"/>
                </a:lnTo>
                <a:lnTo>
                  <a:pt x="133270" y="1907133"/>
                </a:lnTo>
                <a:lnTo>
                  <a:pt x="133270" y="82295"/>
                </a:lnTo>
                <a:lnTo>
                  <a:pt x="114220" y="59435"/>
                </a:lnTo>
                <a:close/>
              </a:path>
              <a:path w="228600" h="1907539">
                <a:moveTo>
                  <a:pt x="114220" y="0"/>
                </a:moveTo>
                <a:lnTo>
                  <a:pt x="4365" y="131825"/>
                </a:lnTo>
                <a:lnTo>
                  <a:pt x="760" y="138495"/>
                </a:lnTo>
                <a:lnTo>
                  <a:pt x="0" y="145748"/>
                </a:lnTo>
                <a:lnTo>
                  <a:pt x="2026" y="152739"/>
                </a:lnTo>
                <a:lnTo>
                  <a:pt x="6778" y="158623"/>
                </a:lnTo>
                <a:lnTo>
                  <a:pt x="13448" y="162228"/>
                </a:lnTo>
                <a:lnTo>
                  <a:pt x="20701" y="162988"/>
                </a:lnTo>
                <a:lnTo>
                  <a:pt x="27691" y="160962"/>
                </a:lnTo>
                <a:lnTo>
                  <a:pt x="33575" y="156210"/>
                </a:lnTo>
                <a:lnTo>
                  <a:pt x="95170" y="82295"/>
                </a:lnTo>
                <a:lnTo>
                  <a:pt x="95170" y="29718"/>
                </a:lnTo>
                <a:lnTo>
                  <a:pt x="138985" y="29718"/>
                </a:lnTo>
                <a:lnTo>
                  <a:pt x="114220" y="0"/>
                </a:lnTo>
                <a:close/>
              </a:path>
              <a:path w="228600" h="1907539">
                <a:moveTo>
                  <a:pt x="138985" y="29718"/>
                </a:moveTo>
                <a:lnTo>
                  <a:pt x="133270" y="29718"/>
                </a:lnTo>
                <a:lnTo>
                  <a:pt x="133270" y="82295"/>
                </a:lnTo>
                <a:lnTo>
                  <a:pt x="194865" y="156210"/>
                </a:lnTo>
                <a:lnTo>
                  <a:pt x="200749" y="160962"/>
                </a:lnTo>
                <a:lnTo>
                  <a:pt x="207740" y="162988"/>
                </a:lnTo>
                <a:lnTo>
                  <a:pt x="214993" y="162228"/>
                </a:lnTo>
                <a:lnTo>
                  <a:pt x="221662" y="158623"/>
                </a:lnTo>
                <a:lnTo>
                  <a:pt x="226415" y="152739"/>
                </a:lnTo>
                <a:lnTo>
                  <a:pt x="228441" y="145748"/>
                </a:lnTo>
                <a:lnTo>
                  <a:pt x="227681" y="138495"/>
                </a:lnTo>
                <a:lnTo>
                  <a:pt x="224075" y="131825"/>
                </a:lnTo>
                <a:lnTo>
                  <a:pt x="138985" y="29718"/>
                </a:lnTo>
                <a:close/>
              </a:path>
              <a:path w="228600" h="1907539">
                <a:moveTo>
                  <a:pt x="133270" y="29718"/>
                </a:moveTo>
                <a:lnTo>
                  <a:pt x="95170" y="29718"/>
                </a:lnTo>
                <a:lnTo>
                  <a:pt x="95170" y="82295"/>
                </a:lnTo>
                <a:lnTo>
                  <a:pt x="114220" y="59435"/>
                </a:lnTo>
                <a:lnTo>
                  <a:pt x="99615" y="41910"/>
                </a:lnTo>
                <a:lnTo>
                  <a:pt x="133270" y="41910"/>
                </a:lnTo>
                <a:lnTo>
                  <a:pt x="133270" y="29718"/>
                </a:lnTo>
                <a:close/>
              </a:path>
              <a:path w="228600" h="1907539">
                <a:moveTo>
                  <a:pt x="133270" y="41910"/>
                </a:moveTo>
                <a:lnTo>
                  <a:pt x="128825" y="41910"/>
                </a:lnTo>
                <a:lnTo>
                  <a:pt x="114220" y="59435"/>
                </a:lnTo>
                <a:lnTo>
                  <a:pt x="133270" y="82295"/>
                </a:lnTo>
                <a:lnTo>
                  <a:pt x="133270" y="41910"/>
                </a:lnTo>
                <a:close/>
              </a:path>
              <a:path w="228600" h="1907539">
                <a:moveTo>
                  <a:pt x="128825" y="41910"/>
                </a:moveTo>
                <a:lnTo>
                  <a:pt x="99615" y="41910"/>
                </a:lnTo>
                <a:lnTo>
                  <a:pt x="114220" y="59435"/>
                </a:lnTo>
                <a:lnTo>
                  <a:pt x="128825" y="41910"/>
                </a:lnTo>
                <a:close/>
              </a:path>
            </a:pathLst>
          </a:custGeom>
          <a:solidFill>
            <a:srgbClr val="000000"/>
          </a:solidFill>
        </p:spPr>
        <p:txBody>
          <a:bodyPr wrap="square" lIns="0" tIns="0" rIns="0" bIns="0" rtlCol="0"/>
          <a:lstStyle/>
          <a:p>
            <a:endParaRPr/>
          </a:p>
        </p:txBody>
      </p:sp>
      <p:sp>
        <p:nvSpPr>
          <p:cNvPr id="8" name="object 8"/>
          <p:cNvSpPr/>
          <p:nvPr/>
        </p:nvSpPr>
        <p:spPr>
          <a:xfrm>
            <a:off x="5984446" y="4220446"/>
            <a:ext cx="2764881" cy="228600"/>
          </a:xfrm>
          <a:custGeom>
            <a:avLst/>
            <a:gdLst/>
            <a:ahLst/>
            <a:cxnLst/>
            <a:rect l="l" t="t" r="r" b="b"/>
            <a:pathLst>
              <a:path w="2409825" h="228600">
                <a:moveTo>
                  <a:pt x="2350104" y="114223"/>
                </a:moveTo>
                <a:lnTo>
                  <a:pt x="2253360" y="194843"/>
                </a:lnTo>
                <a:lnTo>
                  <a:pt x="2248608" y="200738"/>
                </a:lnTo>
                <a:lnTo>
                  <a:pt x="2246582" y="207749"/>
                </a:lnTo>
                <a:lnTo>
                  <a:pt x="2247342" y="215013"/>
                </a:lnTo>
                <a:lnTo>
                  <a:pt x="2250948" y="221665"/>
                </a:lnTo>
                <a:lnTo>
                  <a:pt x="2256831" y="226408"/>
                </a:lnTo>
                <a:lnTo>
                  <a:pt x="2263822" y="228447"/>
                </a:lnTo>
                <a:lnTo>
                  <a:pt x="2271075" y="227705"/>
                </a:lnTo>
                <a:lnTo>
                  <a:pt x="2277745" y="224104"/>
                </a:lnTo>
                <a:lnTo>
                  <a:pt x="2386716" y="133273"/>
                </a:lnTo>
                <a:lnTo>
                  <a:pt x="2379853" y="133273"/>
                </a:lnTo>
                <a:lnTo>
                  <a:pt x="2379853" y="128854"/>
                </a:lnTo>
                <a:lnTo>
                  <a:pt x="2367660" y="128854"/>
                </a:lnTo>
                <a:lnTo>
                  <a:pt x="2350104" y="114223"/>
                </a:lnTo>
                <a:close/>
              </a:path>
              <a:path w="2409825" h="228600">
                <a:moveTo>
                  <a:pt x="2327244" y="95173"/>
                </a:moveTo>
                <a:lnTo>
                  <a:pt x="0" y="95173"/>
                </a:lnTo>
                <a:lnTo>
                  <a:pt x="0" y="133273"/>
                </a:lnTo>
                <a:lnTo>
                  <a:pt x="2327244" y="133273"/>
                </a:lnTo>
                <a:lnTo>
                  <a:pt x="2350104" y="114223"/>
                </a:lnTo>
                <a:lnTo>
                  <a:pt x="2327244" y="95173"/>
                </a:lnTo>
                <a:close/>
              </a:path>
              <a:path w="2409825" h="228600">
                <a:moveTo>
                  <a:pt x="2386716" y="95173"/>
                </a:moveTo>
                <a:lnTo>
                  <a:pt x="2379853" y="95173"/>
                </a:lnTo>
                <a:lnTo>
                  <a:pt x="2379853" y="133273"/>
                </a:lnTo>
                <a:lnTo>
                  <a:pt x="2386716" y="133273"/>
                </a:lnTo>
                <a:lnTo>
                  <a:pt x="2409571" y="114223"/>
                </a:lnTo>
                <a:lnTo>
                  <a:pt x="2386716" y="95173"/>
                </a:lnTo>
                <a:close/>
              </a:path>
              <a:path w="2409825" h="228600">
                <a:moveTo>
                  <a:pt x="2367660" y="99593"/>
                </a:moveTo>
                <a:lnTo>
                  <a:pt x="2350104" y="114223"/>
                </a:lnTo>
                <a:lnTo>
                  <a:pt x="2367660" y="128854"/>
                </a:lnTo>
                <a:lnTo>
                  <a:pt x="2367660" y="99593"/>
                </a:lnTo>
                <a:close/>
              </a:path>
              <a:path w="2409825" h="228600">
                <a:moveTo>
                  <a:pt x="2379853" y="99593"/>
                </a:moveTo>
                <a:lnTo>
                  <a:pt x="2367660" y="99593"/>
                </a:lnTo>
                <a:lnTo>
                  <a:pt x="2367660" y="128854"/>
                </a:lnTo>
                <a:lnTo>
                  <a:pt x="2379853" y="128854"/>
                </a:lnTo>
                <a:lnTo>
                  <a:pt x="2379853" y="99593"/>
                </a:lnTo>
                <a:close/>
              </a:path>
              <a:path w="2409825" h="228600">
                <a:moveTo>
                  <a:pt x="2263822" y="0"/>
                </a:moveTo>
                <a:lnTo>
                  <a:pt x="2256831" y="2039"/>
                </a:lnTo>
                <a:lnTo>
                  <a:pt x="2250948" y="6781"/>
                </a:lnTo>
                <a:lnTo>
                  <a:pt x="2247342" y="13433"/>
                </a:lnTo>
                <a:lnTo>
                  <a:pt x="2246582" y="20697"/>
                </a:lnTo>
                <a:lnTo>
                  <a:pt x="2248608" y="27709"/>
                </a:lnTo>
                <a:lnTo>
                  <a:pt x="2253360" y="33604"/>
                </a:lnTo>
                <a:lnTo>
                  <a:pt x="2350104" y="114223"/>
                </a:lnTo>
                <a:lnTo>
                  <a:pt x="2367660" y="99593"/>
                </a:lnTo>
                <a:lnTo>
                  <a:pt x="2379853" y="99593"/>
                </a:lnTo>
                <a:lnTo>
                  <a:pt x="2379853" y="95173"/>
                </a:lnTo>
                <a:lnTo>
                  <a:pt x="2386716" y="95173"/>
                </a:lnTo>
                <a:lnTo>
                  <a:pt x="2277745" y="4343"/>
                </a:lnTo>
                <a:lnTo>
                  <a:pt x="2271075" y="741"/>
                </a:lnTo>
                <a:lnTo>
                  <a:pt x="2263822" y="0"/>
                </a:lnTo>
                <a:close/>
              </a:path>
            </a:pathLst>
          </a:custGeom>
          <a:solidFill>
            <a:srgbClr val="000000"/>
          </a:solidFill>
        </p:spPr>
        <p:txBody>
          <a:bodyPr wrap="square" lIns="0" tIns="0" rIns="0" bIns="0" rtlCol="0"/>
          <a:lstStyle/>
          <a:p>
            <a:endParaRPr/>
          </a:p>
        </p:txBody>
      </p:sp>
      <p:pic>
        <p:nvPicPr>
          <p:cNvPr id="9" name="object 9"/>
          <p:cNvPicPr/>
          <p:nvPr/>
        </p:nvPicPr>
        <p:blipFill>
          <a:blip r:embed="rId2" cstate="print"/>
          <a:stretch>
            <a:fillRect/>
          </a:stretch>
        </p:blipFill>
        <p:spPr>
          <a:xfrm>
            <a:off x="6192085" y="2934495"/>
            <a:ext cx="2446838" cy="1689265"/>
          </a:xfrm>
          <a:prstGeom prst="rect">
            <a:avLst/>
          </a:prstGeom>
        </p:spPr>
      </p:pic>
      <p:sp>
        <p:nvSpPr>
          <p:cNvPr id="22" name="object 22"/>
          <p:cNvSpPr txBox="1"/>
          <p:nvPr/>
        </p:nvSpPr>
        <p:spPr>
          <a:xfrm>
            <a:off x="5486401" y="3311938"/>
            <a:ext cx="611989" cy="324449"/>
          </a:xfrm>
          <a:prstGeom prst="rect">
            <a:avLst/>
          </a:prstGeom>
        </p:spPr>
        <p:txBody>
          <a:bodyPr vert="horz" wrap="square" lIns="0" tIns="16511" rIns="0" bIns="0" rtlCol="0">
            <a:spAutoFit/>
          </a:bodyPr>
          <a:lstStyle/>
          <a:p>
            <a:pPr marL="12700">
              <a:spcBef>
                <a:spcPts val="131"/>
              </a:spcBef>
            </a:pPr>
            <a:r>
              <a:rPr sz="2000" spc="5" dirty="0">
                <a:latin typeface="Cambria Math"/>
                <a:cs typeface="Cambria Math"/>
              </a:rPr>
              <a:t>𝐽</a:t>
            </a:r>
            <a:r>
              <a:rPr sz="2000" spc="-11" dirty="0">
                <a:latin typeface="Cambria Math"/>
                <a:cs typeface="Cambria Math"/>
              </a:rPr>
              <a:t>(</a:t>
            </a:r>
            <a:r>
              <a:rPr sz="2000" spc="105" dirty="0">
                <a:latin typeface="Cambria Math"/>
                <a:cs typeface="Cambria Math"/>
              </a:rPr>
              <a:t>𝑤</a:t>
            </a:r>
            <a:r>
              <a:rPr sz="2000" spc="11" dirty="0">
                <a:latin typeface="Cambria Math"/>
                <a:cs typeface="Cambria Math"/>
              </a:rPr>
              <a:t>)</a:t>
            </a:r>
            <a:endParaRPr sz="2000">
              <a:latin typeface="Cambria Math"/>
              <a:cs typeface="Cambria Math"/>
            </a:endParaRPr>
          </a:p>
        </p:txBody>
      </p:sp>
      <p:sp>
        <p:nvSpPr>
          <p:cNvPr id="23" name="object 23"/>
          <p:cNvSpPr txBox="1"/>
          <p:nvPr/>
        </p:nvSpPr>
        <p:spPr>
          <a:xfrm>
            <a:off x="7317707" y="4298791"/>
            <a:ext cx="1194108" cy="525145"/>
          </a:xfrm>
          <a:prstGeom prst="rect">
            <a:avLst/>
          </a:prstGeom>
        </p:spPr>
        <p:txBody>
          <a:bodyPr vert="horz" wrap="square" lIns="0" tIns="16511" rIns="0" bIns="0" rtlCol="0">
            <a:spAutoFit/>
          </a:bodyPr>
          <a:lstStyle/>
          <a:p>
            <a:pPr marL="12700">
              <a:lnSpc>
                <a:spcPts val="2375"/>
              </a:lnSpc>
              <a:spcBef>
                <a:spcPts val="131"/>
              </a:spcBef>
            </a:pPr>
            <a:r>
              <a:rPr sz="2000" spc="20" dirty="0">
                <a:latin typeface="Cambria Math"/>
                <a:cs typeface="Cambria Math"/>
              </a:rPr>
              <a:t>𝑤</a:t>
            </a:r>
            <a:endParaRPr sz="2000" dirty="0">
              <a:latin typeface="Cambria Math"/>
              <a:cs typeface="Cambria Math"/>
            </a:endParaRPr>
          </a:p>
          <a:p>
            <a:pPr marL="163191">
              <a:lnSpc>
                <a:spcPts val="1655"/>
              </a:lnSpc>
            </a:pPr>
            <a:r>
              <a:rPr sz="1400" spc="20" dirty="0">
                <a:solidFill>
                  <a:srgbClr val="4285F4"/>
                </a:solidFill>
                <a:latin typeface="Verdana"/>
                <a:cs typeface="Verdana"/>
              </a:rPr>
              <a:t>minimum</a:t>
            </a:r>
            <a:endParaRPr sz="1400" dirty="0">
              <a:latin typeface="Verdana"/>
              <a:cs typeface="Verdana"/>
            </a:endParaRPr>
          </a:p>
        </p:txBody>
      </p:sp>
      <p:sp>
        <p:nvSpPr>
          <p:cNvPr id="27" name="object 27"/>
          <p:cNvSpPr/>
          <p:nvPr/>
        </p:nvSpPr>
        <p:spPr>
          <a:xfrm>
            <a:off x="1637373" y="360089"/>
            <a:ext cx="247651" cy="332740"/>
          </a:xfrm>
          <a:custGeom>
            <a:avLst/>
            <a:gdLst/>
            <a:ahLst/>
            <a:cxnLst/>
            <a:rect l="l" t="t" r="r" b="b"/>
            <a:pathLst>
              <a:path w="247650" h="332740">
                <a:moveTo>
                  <a:pt x="138556" y="331469"/>
                </a:moveTo>
                <a:lnTo>
                  <a:pt x="99568" y="331469"/>
                </a:lnTo>
                <a:lnTo>
                  <a:pt x="107823" y="332739"/>
                </a:lnTo>
                <a:lnTo>
                  <a:pt x="128905" y="332739"/>
                </a:lnTo>
                <a:lnTo>
                  <a:pt x="138556" y="331469"/>
                </a:lnTo>
                <a:close/>
              </a:path>
              <a:path w="247650" h="332740">
                <a:moveTo>
                  <a:pt x="85852" y="307339"/>
                </a:moveTo>
                <a:lnTo>
                  <a:pt x="39624" y="307339"/>
                </a:lnTo>
                <a:lnTo>
                  <a:pt x="41783" y="309879"/>
                </a:lnTo>
                <a:lnTo>
                  <a:pt x="43687" y="312419"/>
                </a:lnTo>
                <a:lnTo>
                  <a:pt x="48768" y="314960"/>
                </a:lnTo>
                <a:lnTo>
                  <a:pt x="49275" y="316229"/>
                </a:lnTo>
                <a:lnTo>
                  <a:pt x="52197" y="317500"/>
                </a:lnTo>
                <a:lnTo>
                  <a:pt x="53086" y="318769"/>
                </a:lnTo>
                <a:lnTo>
                  <a:pt x="57404" y="320039"/>
                </a:lnTo>
                <a:lnTo>
                  <a:pt x="57785" y="320039"/>
                </a:lnTo>
                <a:lnTo>
                  <a:pt x="61722" y="322579"/>
                </a:lnTo>
                <a:lnTo>
                  <a:pt x="62103" y="322579"/>
                </a:lnTo>
                <a:lnTo>
                  <a:pt x="68834" y="325119"/>
                </a:lnTo>
                <a:lnTo>
                  <a:pt x="69977" y="326389"/>
                </a:lnTo>
                <a:lnTo>
                  <a:pt x="74675" y="327660"/>
                </a:lnTo>
                <a:lnTo>
                  <a:pt x="80264" y="328929"/>
                </a:lnTo>
                <a:lnTo>
                  <a:pt x="88646" y="330200"/>
                </a:lnTo>
                <a:lnTo>
                  <a:pt x="99695" y="331469"/>
                </a:lnTo>
                <a:lnTo>
                  <a:pt x="140208" y="331469"/>
                </a:lnTo>
                <a:lnTo>
                  <a:pt x="145287" y="328929"/>
                </a:lnTo>
                <a:lnTo>
                  <a:pt x="151511" y="327660"/>
                </a:lnTo>
                <a:lnTo>
                  <a:pt x="153162" y="326389"/>
                </a:lnTo>
                <a:lnTo>
                  <a:pt x="157099" y="325119"/>
                </a:lnTo>
                <a:lnTo>
                  <a:pt x="156718" y="325119"/>
                </a:lnTo>
                <a:lnTo>
                  <a:pt x="161036" y="322579"/>
                </a:lnTo>
                <a:lnTo>
                  <a:pt x="163068" y="321310"/>
                </a:lnTo>
                <a:lnTo>
                  <a:pt x="166624" y="318769"/>
                </a:lnTo>
                <a:lnTo>
                  <a:pt x="166243" y="318769"/>
                </a:lnTo>
                <a:lnTo>
                  <a:pt x="170180" y="316229"/>
                </a:lnTo>
                <a:lnTo>
                  <a:pt x="176479" y="311150"/>
                </a:lnTo>
                <a:lnTo>
                  <a:pt x="110743" y="311150"/>
                </a:lnTo>
                <a:lnTo>
                  <a:pt x="102362" y="309879"/>
                </a:lnTo>
                <a:lnTo>
                  <a:pt x="102108" y="309879"/>
                </a:lnTo>
                <a:lnTo>
                  <a:pt x="92075" y="308610"/>
                </a:lnTo>
                <a:lnTo>
                  <a:pt x="93091" y="308610"/>
                </a:lnTo>
                <a:lnTo>
                  <a:pt x="85852" y="307339"/>
                </a:lnTo>
                <a:close/>
              </a:path>
              <a:path w="247650" h="332740">
                <a:moveTo>
                  <a:pt x="178054" y="309879"/>
                </a:moveTo>
                <a:lnTo>
                  <a:pt x="135255" y="309879"/>
                </a:lnTo>
                <a:lnTo>
                  <a:pt x="125603" y="311150"/>
                </a:lnTo>
                <a:lnTo>
                  <a:pt x="176479" y="311150"/>
                </a:lnTo>
                <a:lnTo>
                  <a:pt x="178054" y="309879"/>
                </a:lnTo>
                <a:close/>
              </a:path>
              <a:path w="247650" h="332740">
                <a:moveTo>
                  <a:pt x="144018" y="306069"/>
                </a:moveTo>
                <a:lnTo>
                  <a:pt x="137922" y="308610"/>
                </a:lnTo>
                <a:lnTo>
                  <a:pt x="138303" y="308610"/>
                </a:lnTo>
                <a:lnTo>
                  <a:pt x="133604" y="309879"/>
                </a:lnTo>
                <a:lnTo>
                  <a:pt x="177927" y="309879"/>
                </a:lnTo>
                <a:lnTo>
                  <a:pt x="181483" y="307339"/>
                </a:lnTo>
                <a:lnTo>
                  <a:pt x="142367" y="307339"/>
                </a:lnTo>
                <a:lnTo>
                  <a:pt x="144018" y="306069"/>
                </a:lnTo>
                <a:close/>
              </a:path>
              <a:path w="247650" h="332740">
                <a:moveTo>
                  <a:pt x="33739" y="265429"/>
                </a:moveTo>
                <a:lnTo>
                  <a:pt x="8381" y="265429"/>
                </a:lnTo>
                <a:lnTo>
                  <a:pt x="9906" y="267969"/>
                </a:lnTo>
                <a:lnTo>
                  <a:pt x="10606" y="269355"/>
                </a:lnTo>
                <a:lnTo>
                  <a:pt x="14859" y="276860"/>
                </a:lnTo>
                <a:lnTo>
                  <a:pt x="15493" y="278129"/>
                </a:lnTo>
                <a:lnTo>
                  <a:pt x="18034" y="280669"/>
                </a:lnTo>
                <a:lnTo>
                  <a:pt x="17780" y="280669"/>
                </a:lnTo>
                <a:lnTo>
                  <a:pt x="23622" y="288289"/>
                </a:lnTo>
                <a:lnTo>
                  <a:pt x="24130" y="289560"/>
                </a:lnTo>
                <a:lnTo>
                  <a:pt x="26670" y="292100"/>
                </a:lnTo>
                <a:lnTo>
                  <a:pt x="32766" y="299719"/>
                </a:lnTo>
                <a:lnTo>
                  <a:pt x="32385" y="299719"/>
                </a:lnTo>
                <a:lnTo>
                  <a:pt x="34925" y="302260"/>
                </a:lnTo>
                <a:lnTo>
                  <a:pt x="35560" y="303529"/>
                </a:lnTo>
                <a:lnTo>
                  <a:pt x="39878" y="307339"/>
                </a:lnTo>
                <a:lnTo>
                  <a:pt x="86995" y="307339"/>
                </a:lnTo>
                <a:lnTo>
                  <a:pt x="81153" y="306069"/>
                </a:lnTo>
                <a:lnTo>
                  <a:pt x="76454" y="304800"/>
                </a:lnTo>
                <a:lnTo>
                  <a:pt x="77597" y="304800"/>
                </a:lnTo>
                <a:lnTo>
                  <a:pt x="70739" y="302260"/>
                </a:lnTo>
                <a:lnTo>
                  <a:pt x="70993" y="302260"/>
                </a:lnTo>
                <a:lnTo>
                  <a:pt x="69024" y="300989"/>
                </a:lnTo>
                <a:lnTo>
                  <a:pt x="67437" y="300989"/>
                </a:lnTo>
                <a:lnTo>
                  <a:pt x="63118" y="298450"/>
                </a:lnTo>
                <a:lnTo>
                  <a:pt x="64008" y="298450"/>
                </a:lnTo>
                <a:lnTo>
                  <a:pt x="61087" y="297179"/>
                </a:lnTo>
                <a:lnTo>
                  <a:pt x="61722" y="297179"/>
                </a:lnTo>
                <a:lnTo>
                  <a:pt x="60028" y="295910"/>
                </a:lnTo>
                <a:lnTo>
                  <a:pt x="58674" y="295910"/>
                </a:lnTo>
                <a:lnTo>
                  <a:pt x="56387" y="293369"/>
                </a:lnTo>
                <a:lnTo>
                  <a:pt x="56134" y="293369"/>
                </a:lnTo>
                <a:lnTo>
                  <a:pt x="51816" y="288289"/>
                </a:lnTo>
                <a:lnTo>
                  <a:pt x="52450" y="288289"/>
                </a:lnTo>
                <a:lnTo>
                  <a:pt x="49911" y="285750"/>
                </a:lnTo>
                <a:lnTo>
                  <a:pt x="49656" y="285750"/>
                </a:lnTo>
                <a:lnTo>
                  <a:pt x="43561" y="278129"/>
                </a:lnTo>
                <a:lnTo>
                  <a:pt x="43306" y="278129"/>
                </a:lnTo>
                <a:lnTo>
                  <a:pt x="40767" y="275589"/>
                </a:lnTo>
                <a:lnTo>
                  <a:pt x="41529" y="275589"/>
                </a:lnTo>
                <a:lnTo>
                  <a:pt x="35687" y="267969"/>
                </a:lnTo>
                <a:lnTo>
                  <a:pt x="35433" y="267969"/>
                </a:lnTo>
                <a:lnTo>
                  <a:pt x="33739" y="265429"/>
                </a:lnTo>
                <a:close/>
              </a:path>
              <a:path w="247650" h="332740">
                <a:moveTo>
                  <a:pt x="150283" y="302683"/>
                </a:moveTo>
                <a:lnTo>
                  <a:pt x="146685" y="304800"/>
                </a:lnTo>
                <a:lnTo>
                  <a:pt x="146304" y="304800"/>
                </a:lnTo>
                <a:lnTo>
                  <a:pt x="142367" y="307339"/>
                </a:lnTo>
                <a:lnTo>
                  <a:pt x="181483" y="307339"/>
                </a:lnTo>
                <a:lnTo>
                  <a:pt x="183134" y="306069"/>
                </a:lnTo>
                <a:lnTo>
                  <a:pt x="185547" y="303529"/>
                </a:lnTo>
                <a:lnTo>
                  <a:pt x="149098" y="303529"/>
                </a:lnTo>
                <a:lnTo>
                  <a:pt x="150283" y="302683"/>
                </a:lnTo>
                <a:close/>
              </a:path>
              <a:path w="247650" h="332740">
                <a:moveTo>
                  <a:pt x="151003" y="302260"/>
                </a:moveTo>
                <a:lnTo>
                  <a:pt x="150283" y="302683"/>
                </a:lnTo>
                <a:lnTo>
                  <a:pt x="149098" y="303529"/>
                </a:lnTo>
                <a:lnTo>
                  <a:pt x="151003" y="302260"/>
                </a:lnTo>
                <a:close/>
              </a:path>
              <a:path w="247650" h="332740">
                <a:moveTo>
                  <a:pt x="186753" y="302260"/>
                </a:moveTo>
                <a:lnTo>
                  <a:pt x="151003" y="302260"/>
                </a:lnTo>
                <a:lnTo>
                  <a:pt x="149098" y="303529"/>
                </a:lnTo>
                <a:lnTo>
                  <a:pt x="185547" y="303529"/>
                </a:lnTo>
                <a:lnTo>
                  <a:pt x="186753" y="302260"/>
                </a:lnTo>
                <a:close/>
              </a:path>
              <a:path w="247650" h="332740">
                <a:moveTo>
                  <a:pt x="198183" y="289560"/>
                </a:moveTo>
                <a:lnTo>
                  <a:pt x="168656" y="289560"/>
                </a:lnTo>
                <a:lnTo>
                  <a:pt x="167005" y="290829"/>
                </a:lnTo>
                <a:lnTo>
                  <a:pt x="165100" y="292100"/>
                </a:lnTo>
                <a:lnTo>
                  <a:pt x="161036" y="294639"/>
                </a:lnTo>
                <a:lnTo>
                  <a:pt x="156972" y="297179"/>
                </a:lnTo>
                <a:lnTo>
                  <a:pt x="153035" y="300989"/>
                </a:lnTo>
                <a:lnTo>
                  <a:pt x="152654" y="300989"/>
                </a:lnTo>
                <a:lnTo>
                  <a:pt x="150283" y="302683"/>
                </a:lnTo>
                <a:lnTo>
                  <a:pt x="151003" y="302260"/>
                </a:lnTo>
                <a:lnTo>
                  <a:pt x="186753" y="302260"/>
                </a:lnTo>
                <a:lnTo>
                  <a:pt x="190373" y="298450"/>
                </a:lnTo>
                <a:lnTo>
                  <a:pt x="194564" y="294639"/>
                </a:lnTo>
                <a:lnTo>
                  <a:pt x="194945" y="293369"/>
                </a:lnTo>
                <a:lnTo>
                  <a:pt x="198183" y="289560"/>
                </a:lnTo>
                <a:close/>
              </a:path>
              <a:path w="247650" h="332740">
                <a:moveTo>
                  <a:pt x="67056" y="299719"/>
                </a:moveTo>
                <a:lnTo>
                  <a:pt x="67437" y="300989"/>
                </a:lnTo>
                <a:lnTo>
                  <a:pt x="69024" y="300989"/>
                </a:lnTo>
                <a:lnTo>
                  <a:pt x="67056" y="299719"/>
                </a:lnTo>
                <a:close/>
              </a:path>
              <a:path w="247650" h="332740">
                <a:moveTo>
                  <a:pt x="56642" y="293369"/>
                </a:moveTo>
                <a:lnTo>
                  <a:pt x="58674" y="295910"/>
                </a:lnTo>
                <a:lnTo>
                  <a:pt x="60028" y="295910"/>
                </a:lnTo>
                <a:lnTo>
                  <a:pt x="56642" y="293369"/>
                </a:lnTo>
                <a:close/>
              </a:path>
              <a:path w="247650" h="332740">
                <a:moveTo>
                  <a:pt x="167273" y="290547"/>
                </a:moveTo>
                <a:lnTo>
                  <a:pt x="166878" y="290829"/>
                </a:lnTo>
                <a:lnTo>
                  <a:pt x="167273" y="290547"/>
                </a:lnTo>
                <a:close/>
              </a:path>
              <a:path w="247650" h="332740">
                <a:moveTo>
                  <a:pt x="168656" y="289560"/>
                </a:moveTo>
                <a:lnTo>
                  <a:pt x="167273" y="290547"/>
                </a:lnTo>
                <a:lnTo>
                  <a:pt x="167005" y="290829"/>
                </a:lnTo>
                <a:lnTo>
                  <a:pt x="168656" y="289560"/>
                </a:lnTo>
                <a:close/>
              </a:path>
              <a:path w="247650" h="332740">
                <a:moveTo>
                  <a:pt x="186083" y="269355"/>
                </a:moveTo>
                <a:lnTo>
                  <a:pt x="177546" y="279400"/>
                </a:lnTo>
                <a:lnTo>
                  <a:pt x="178054" y="279400"/>
                </a:lnTo>
                <a:lnTo>
                  <a:pt x="174117" y="283210"/>
                </a:lnTo>
                <a:lnTo>
                  <a:pt x="167273" y="290547"/>
                </a:lnTo>
                <a:lnTo>
                  <a:pt x="168656" y="289560"/>
                </a:lnTo>
                <a:lnTo>
                  <a:pt x="198183" y="289560"/>
                </a:lnTo>
                <a:lnTo>
                  <a:pt x="203581" y="283210"/>
                </a:lnTo>
                <a:lnTo>
                  <a:pt x="204470" y="281939"/>
                </a:lnTo>
                <a:lnTo>
                  <a:pt x="207264" y="276860"/>
                </a:lnTo>
                <a:lnTo>
                  <a:pt x="211153" y="270510"/>
                </a:lnTo>
                <a:lnTo>
                  <a:pt x="185420" y="270510"/>
                </a:lnTo>
                <a:lnTo>
                  <a:pt x="186083" y="269355"/>
                </a:lnTo>
                <a:close/>
              </a:path>
              <a:path w="247650" h="332740">
                <a:moveTo>
                  <a:pt x="186181" y="269239"/>
                </a:moveTo>
                <a:lnTo>
                  <a:pt x="185420" y="270510"/>
                </a:lnTo>
                <a:lnTo>
                  <a:pt x="186181" y="269239"/>
                </a:lnTo>
                <a:close/>
              </a:path>
              <a:path w="247650" h="332740">
                <a:moveTo>
                  <a:pt x="211931" y="269239"/>
                </a:moveTo>
                <a:lnTo>
                  <a:pt x="186181" y="269239"/>
                </a:lnTo>
                <a:lnTo>
                  <a:pt x="185420" y="270510"/>
                </a:lnTo>
                <a:lnTo>
                  <a:pt x="211153" y="270510"/>
                </a:lnTo>
                <a:lnTo>
                  <a:pt x="211931" y="269239"/>
                </a:lnTo>
                <a:close/>
              </a:path>
              <a:path w="247650" h="332740">
                <a:moveTo>
                  <a:pt x="226525" y="237489"/>
                </a:moveTo>
                <a:lnTo>
                  <a:pt x="203073" y="237489"/>
                </a:lnTo>
                <a:lnTo>
                  <a:pt x="202565" y="238760"/>
                </a:lnTo>
                <a:lnTo>
                  <a:pt x="200914" y="242569"/>
                </a:lnTo>
                <a:lnTo>
                  <a:pt x="201168" y="242569"/>
                </a:lnTo>
                <a:lnTo>
                  <a:pt x="196469" y="251460"/>
                </a:lnTo>
                <a:lnTo>
                  <a:pt x="196596" y="251460"/>
                </a:lnTo>
                <a:lnTo>
                  <a:pt x="194056" y="255269"/>
                </a:lnTo>
                <a:lnTo>
                  <a:pt x="194437" y="255269"/>
                </a:lnTo>
                <a:lnTo>
                  <a:pt x="188214" y="265429"/>
                </a:lnTo>
                <a:lnTo>
                  <a:pt x="186083" y="269355"/>
                </a:lnTo>
                <a:lnTo>
                  <a:pt x="211931" y="269239"/>
                </a:lnTo>
                <a:lnTo>
                  <a:pt x="213487" y="266700"/>
                </a:lnTo>
                <a:lnTo>
                  <a:pt x="213741" y="266700"/>
                </a:lnTo>
                <a:lnTo>
                  <a:pt x="216281" y="261619"/>
                </a:lnTo>
                <a:lnTo>
                  <a:pt x="216408" y="261619"/>
                </a:lnTo>
                <a:lnTo>
                  <a:pt x="221234" y="251460"/>
                </a:lnTo>
                <a:lnTo>
                  <a:pt x="223393" y="246379"/>
                </a:lnTo>
                <a:lnTo>
                  <a:pt x="223900" y="245110"/>
                </a:lnTo>
                <a:lnTo>
                  <a:pt x="226525" y="237489"/>
                </a:lnTo>
                <a:close/>
              </a:path>
              <a:path w="247650" h="332740">
                <a:moveTo>
                  <a:pt x="24003" y="245110"/>
                </a:moveTo>
                <a:lnTo>
                  <a:pt x="24256" y="246379"/>
                </a:lnTo>
                <a:lnTo>
                  <a:pt x="1524" y="246379"/>
                </a:lnTo>
                <a:lnTo>
                  <a:pt x="3302" y="252729"/>
                </a:lnTo>
                <a:lnTo>
                  <a:pt x="3556" y="254000"/>
                </a:lnTo>
                <a:lnTo>
                  <a:pt x="5334" y="257810"/>
                </a:lnTo>
                <a:lnTo>
                  <a:pt x="5587" y="259079"/>
                </a:lnTo>
                <a:lnTo>
                  <a:pt x="8509" y="265429"/>
                </a:lnTo>
                <a:lnTo>
                  <a:pt x="33655" y="265429"/>
                </a:lnTo>
                <a:lnTo>
                  <a:pt x="32893" y="264160"/>
                </a:lnTo>
                <a:lnTo>
                  <a:pt x="30056" y="259079"/>
                </a:lnTo>
                <a:lnTo>
                  <a:pt x="28575" y="256539"/>
                </a:lnTo>
                <a:lnTo>
                  <a:pt x="25654" y="250189"/>
                </a:lnTo>
                <a:lnTo>
                  <a:pt x="25908" y="250189"/>
                </a:lnTo>
                <a:lnTo>
                  <a:pt x="24003" y="245110"/>
                </a:lnTo>
                <a:close/>
              </a:path>
              <a:path w="247650" h="332740">
                <a:moveTo>
                  <a:pt x="32893" y="264160"/>
                </a:moveTo>
                <a:lnTo>
                  <a:pt x="33655" y="265429"/>
                </a:lnTo>
                <a:lnTo>
                  <a:pt x="33175" y="264583"/>
                </a:lnTo>
                <a:lnTo>
                  <a:pt x="32893" y="264160"/>
                </a:lnTo>
                <a:close/>
              </a:path>
              <a:path w="247650" h="332740">
                <a:moveTo>
                  <a:pt x="33175" y="264583"/>
                </a:moveTo>
                <a:lnTo>
                  <a:pt x="33655" y="265429"/>
                </a:lnTo>
                <a:lnTo>
                  <a:pt x="33175" y="264583"/>
                </a:lnTo>
                <a:close/>
              </a:path>
              <a:path w="247650" h="332740">
                <a:moveTo>
                  <a:pt x="32935" y="264160"/>
                </a:moveTo>
                <a:lnTo>
                  <a:pt x="33175" y="264583"/>
                </a:lnTo>
                <a:lnTo>
                  <a:pt x="32935" y="264160"/>
                </a:lnTo>
                <a:close/>
              </a:path>
              <a:path w="247650" h="332740">
                <a:moveTo>
                  <a:pt x="29337" y="257810"/>
                </a:moveTo>
                <a:lnTo>
                  <a:pt x="29972" y="259079"/>
                </a:lnTo>
                <a:lnTo>
                  <a:pt x="29337" y="257810"/>
                </a:lnTo>
                <a:close/>
              </a:path>
              <a:path w="247650" h="332740">
                <a:moveTo>
                  <a:pt x="33274" y="170179"/>
                </a:moveTo>
                <a:lnTo>
                  <a:pt x="11937" y="170179"/>
                </a:lnTo>
                <a:lnTo>
                  <a:pt x="8890" y="180339"/>
                </a:lnTo>
                <a:lnTo>
                  <a:pt x="4953" y="194310"/>
                </a:lnTo>
                <a:lnTo>
                  <a:pt x="3556" y="199389"/>
                </a:lnTo>
                <a:lnTo>
                  <a:pt x="3302" y="199389"/>
                </a:lnTo>
                <a:lnTo>
                  <a:pt x="889" y="210819"/>
                </a:lnTo>
                <a:lnTo>
                  <a:pt x="508" y="214629"/>
                </a:lnTo>
                <a:lnTo>
                  <a:pt x="127" y="219710"/>
                </a:lnTo>
                <a:lnTo>
                  <a:pt x="84" y="237489"/>
                </a:lnTo>
                <a:lnTo>
                  <a:pt x="0" y="240029"/>
                </a:lnTo>
                <a:lnTo>
                  <a:pt x="381" y="242569"/>
                </a:lnTo>
                <a:lnTo>
                  <a:pt x="1397" y="246379"/>
                </a:lnTo>
                <a:lnTo>
                  <a:pt x="24256" y="246379"/>
                </a:lnTo>
                <a:lnTo>
                  <a:pt x="22834" y="241300"/>
                </a:lnTo>
                <a:lnTo>
                  <a:pt x="22606" y="241300"/>
                </a:lnTo>
                <a:lnTo>
                  <a:pt x="22320" y="240029"/>
                </a:lnTo>
                <a:lnTo>
                  <a:pt x="21843" y="240029"/>
                </a:lnTo>
                <a:lnTo>
                  <a:pt x="21462" y="236219"/>
                </a:lnTo>
                <a:lnTo>
                  <a:pt x="21843" y="236219"/>
                </a:lnTo>
                <a:lnTo>
                  <a:pt x="21812" y="219710"/>
                </a:lnTo>
                <a:lnTo>
                  <a:pt x="22352" y="212089"/>
                </a:lnTo>
                <a:lnTo>
                  <a:pt x="22764" y="212089"/>
                </a:lnTo>
                <a:lnTo>
                  <a:pt x="24384" y="204469"/>
                </a:lnTo>
                <a:lnTo>
                  <a:pt x="25527" y="200660"/>
                </a:lnTo>
                <a:lnTo>
                  <a:pt x="28448" y="190500"/>
                </a:lnTo>
                <a:lnTo>
                  <a:pt x="29591" y="185419"/>
                </a:lnTo>
                <a:lnTo>
                  <a:pt x="29819" y="185419"/>
                </a:lnTo>
                <a:lnTo>
                  <a:pt x="31242" y="180339"/>
                </a:lnTo>
                <a:lnTo>
                  <a:pt x="32258" y="176529"/>
                </a:lnTo>
                <a:lnTo>
                  <a:pt x="32639" y="175260"/>
                </a:lnTo>
                <a:lnTo>
                  <a:pt x="33274" y="170179"/>
                </a:lnTo>
                <a:close/>
              </a:path>
              <a:path w="247650" h="332740">
                <a:moveTo>
                  <a:pt x="22479" y="240029"/>
                </a:moveTo>
                <a:lnTo>
                  <a:pt x="22606" y="241300"/>
                </a:lnTo>
                <a:lnTo>
                  <a:pt x="22834" y="241300"/>
                </a:lnTo>
                <a:lnTo>
                  <a:pt x="22479" y="240029"/>
                </a:lnTo>
                <a:close/>
              </a:path>
              <a:path w="247650" h="332740">
                <a:moveTo>
                  <a:pt x="21462" y="236219"/>
                </a:moveTo>
                <a:lnTo>
                  <a:pt x="21843" y="240029"/>
                </a:lnTo>
                <a:lnTo>
                  <a:pt x="21748" y="237489"/>
                </a:lnTo>
                <a:lnTo>
                  <a:pt x="21462" y="236219"/>
                </a:lnTo>
                <a:close/>
              </a:path>
              <a:path w="247650" h="332740">
                <a:moveTo>
                  <a:pt x="21843" y="237913"/>
                </a:moveTo>
                <a:lnTo>
                  <a:pt x="21843" y="240029"/>
                </a:lnTo>
                <a:lnTo>
                  <a:pt x="22320" y="240029"/>
                </a:lnTo>
                <a:lnTo>
                  <a:pt x="21843" y="237913"/>
                </a:lnTo>
                <a:close/>
              </a:path>
              <a:path w="247650" h="332740">
                <a:moveTo>
                  <a:pt x="202661" y="238457"/>
                </a:moveTo>
                <a:lnTo>
                  <a:pt x="202533" y="238760"/>
                </a:lnTo>
                <a:lnTo>
                  <a:pt x="202661" y="238457"/>
                </a:lnTo>
                <a:close/>
              </a:path>
              <a:path w="247650" h="332740">
                <a:moveTo>
                  <a:pt x="203073" y="237489"/>
                </a:moveTo>
                <a:lnTo>
                  <a:pt x="202661" y="238457"/>
                </a:lnTo>
                <a:lnTo>
                  <a:pt x="202565" y="238760"/>
                </a:lnTo>
                <a:lnTo>
                  <a:pt x="203073" y="237489"/>
                </a:lnTo>
                <a:close/>
              </a:path>
              <a:path w="247650" h="332740">
                <a:moveTo>
                  <a:pt x="217170" y="186689"/>
                </a:moveTo>
                <a:lnTo>
                  <a:pt x="213233" y="201929"/>
                </a:lnTo>
                <a:lnTo>
                  <a:pt x="211836" y="208279"/>
                </a:lnTo>
                <a:lnTo>
                  <a:pt x="208280" y="220979"/>
                </a:lnTo>
                <a:lnTo>
                  <a:pt x="206502" y="226060"/>
                </a:lnTo>
                <a:lnTo>
                  <a:pt x="202661" y="238457"/>
                </a:lnTo>
                <a:lnTo>
                  <a:pt x="203073" y="237489"/>
                </a:lnTo>
                <a:lnTo>
                  <a:pt x="226525" y="237489"/>
                </a:lnTo>
                <a:lnTo>
                  <a:pt x="227837" y="233679"/>
                </a:lnTo>
                <a:lnTo>
                  <a:pt x="227965" y="232410"/>
                </a:lnTo>
                <a:lnTo>
                  <a:pt x="229743" y="227329"/>
                </a:lnTo>
                <a:lnTo>
                  <a:pt x="229743" y="226060"/>
                </a:lnTo>
                <a:lnTo>
                  <a:pt x="233425" y="213360"/>
                </a:lnTo>
                <a:lnTo>
                  <a:pt x="234823" y="208279"/>
                </a:lnTo>
                <a:lnTo>
                  <a:pt x="238760" y="193039"/>
                </a:lnTo>
                <a:lnTo>
                  <a:pt x="239014" y="191769"/>
                </a:lnTo>
                <a:lnTo>
                  <a:pt x="239852" y="187960"/>
                </a:lnTo>
                <a:lnTo>
                  <a:pt x="217043" y="187960"/>
                </a:lnTo>
                <a:lnTo>
                  <a:pt x="217170" y="186689"/>
                </a:lnTo>
                <a:close/>
              </a:path>
              <a:path w="247650" h="332740">
                <a:moveTo>
                  <a:pt x="21843" y="236219"/>
                </a:moveTo>
                <a:lnTo>
                  <a:pt x="21462" y="236219"/>
                </a:lnTo>
                <a:lnTo>
                  <a:pt x="21843" y="237913"/>
                </a:lnTo>
                <a:lnTo>
                  <a:pt x="21843" y="236219"/>
                </a:lnTo>
                <a:close/>
              </a:path>
              <a:path w="247650" h="332740">
                <a:moveTo>
                  <a:pt x="21812" y="219710"/>
                </a:moveTo>
                <a:lnTo>
                  <a:pt x="21717" y="220979"/>
                </a:lnTo>
                <a:lnTo>
                  <a:pt x="21812" y="219710"/>
                </a:lnTo>
                <a:close/>
              </a:path>
              <a:path w="247650" h="332740">
                <a:moveTo>
                  <a:pt x="22764" y="212089"/>
                </a:moveTo>
                <a:lnTo>
                  <a:pt x="22352" y="212089"/>
                </a:lnTo>
                <a:lnTo>
                  <a:pt x="22225" y="214629"/>
                </a:lnTo>
                <a:lnTo>
                  <a:pt x="22764" y="212089"/>
                </a:lnTo>
                <a:close/>
              </a:path>
              <a:path w="247650" h="332740">
                <a:moveTo>
                  <a:pt x="24479" y="204469"/>
                </a:moveTo>
                <a:lnTo>
                  <a:pt x="24130" y="205739"/>
                </a:lnTo>
                <a:lnTo>
                  <a:pt x="24479" y="204469"/>
                </a:lnTo>
                <a:close/>
              </a:path>
              <a:path w="247650" h="332740">
                <a:moveTo>
                  <a:pt x="247396" y="133350"/>
                </a:moveTo>
                <a:lnTo>
                  <a:pt x="225171" y="133350"/>
                </a:lnTo>
                <a:lnTo>
                  <a:pt x="225075" y="144779"/>
                </a:lnTo>
                <a:lnTo>
                  <a:pt x="224790" y="148589"/>
                </a:lnTo>
                <a:lnTo>
                  <a:pt x="223393" y="160019"/>
                </a:lnTo>
                <a:lnTo>
                  <a:pt x="222504" y="165100"/>
                </a:lnTo>
                <a:lnTo>
                  <a:pt x="222318" y="165100"/>
                </a:lnTo>
                <a:lnTo>
                  <a:pt x="218567" y="180339"/>
                </a:lnTo>
                <a:lnTo>
                  <a:pt x="217043" y="187960"/>
                </a:lnTo>
                <a:lnTo>
                  <a:pt x="239852" y="187960"/>
                </a:lnTo>
                <a:lnTo>
                  <a:pt x="240411" y="185419"/>
                </a:lnTo>
                <a:lnTo>
                  <a:pt x="244348" y="168910"/>
                </a:lnTo>
                <a:lnTo>
                  <a:pt x="245205" y="165100"/>
                </a:lnTo>
                <a:lnTo>
                  <a:pt x="222504" y="165100"/>
                </a:lnTo>
                <a:lnTo>
                  <a:pt x="222631" y="163829"/>
                </a:lnTo>
                <a:lnTo>
                  <a:pt x="245491" y="163829"/>
                </a:lnTo>
                <a:lnTo>
                  <a:pt x="245618" y="162560"/>
                </a:lnTo>
                <a:lnTo>
                  <a:pt x="247015" y="151129"/>
                </a:lnTo>
                <a:lnTo>
                  <a:pt x="247110" y="148589"/>
                </a:lnTo>
                <a:lnTo>
                  <a:pt x="247396" y="144779"/>
                </a:lnTo>
                <a:lnTo>
                  <a:pt x="247396" y="133350"/>
                </a:lnTo>
                <a:close/>
              </a:path>
              <a:path w="247650" h="332740">
                <a:moveTo>
                  <a:pt x="29819" y="185419"/>
                </a:moveTo>
                <a:lnTo>
                  <a:pt x="29591" y="185419"/>
                </a:lnTo>
                <a:lnTo>
                  <a:pt x="29464" y="186689"/>
                </a:lnTo>
                <a:lnTo>
                  <a:pt x="29819" y="185419"/>
                </a:lnTo>
                <a:close/>
              </a:path>
              <a:path w="247650" h="332740">
                <a:moveTo>
                  <a:pt x="15351" y="156527"/>
                </a:moveTo>
                <a:lnTo>
                  <a:pt x="14350" y="158750"/>
                </a:lnTo>
                <a:lnTo>
                  <a:pt x="13970" y="160019"/>
                </a:lnTo>
                <a:lnTo>
                  <a:pt x="13208" y="163829"/>
                </a:lnTo>
                <a:lnTo>
                  <a:pt x="12573" y="166369"/>
                </a:lnTo>
                <a:lnTo>
                  <a:pt x="11556" y="171450"/>
                </a:lnTo>
                <a:lnTo>
                  <a:pt x="11937" y="170179"/>
                </a:lnTo>
                <a:lnTo>
                  <a:pt x="33528" y="170179"/>
                </a:lnTo>
                <a:lnTo>
                  <a:pt x="33909" y="168910"/>
                </a:lnTo>
                <a:lnTo>
                  <a:pt x="33909" y="167639"/>
                </a:lnTo>
                <a:lnTo>
                  <a:pt x="34290" y="166369"/>
                </a:lnTo>
                <a:lnTo>
                  <a:pt x="34162" y="166369"/>
                </a:lnTo>
                <a:lnTo>
                  <a:pt x="34671" y="165100"/>
                </a:lnTo>
                <a:lnTo>
                  <a:pt x="35306" y="163829"/>
                </a:lnTo>
                <a:lnTo>
                  <a:pt x="35560" y="162560"/>
                </a:lnTo>
                <a:lnTo>
                  <a:pt x="36322" y="160019"/>
                </a:lnTo>
                <a:lnTo>
                  <a:pt x="37033" y="157479"/>
                </a:lnTo>
                <a:lnTo>
                  <a:pt x="15112" y="157479"/>
                </a:lnTo>
                <a:lnTo>
                  <a:pt x="15351" y="156527"/>
                </a:lnTo>
                <a:close/>
              </a:path>
              <a:path w="247650" h="332740">
                <a:moveTo>
                  <a:pt x="33528" y="170179"/>
                </a:moveTo>
                <a:lnTo>
                  <a:pt x="33274" y="170179"/>
                </a:lnTo>
                <a:lnTo>
                  <a:pt x="33147" y="171450"/>
                </a:lnTo>
                <a:lnTo>
                  <a:pt x="33528" y="170179"/>
                </a:lnTo>
                <a:close/>
              </a:path>
              <a:path w="247650" h="332740">
                <a:moveTo>
                  <a:pt x="34671" y="165100"/>
                </a:moveTo>
                <a:lnTo>
                  <a:pt x="34162" y="166369"/>
                </a:lnTo>
                <a:lnTo>
                  <a:pt x="34544" y="165523"/>
                </a:lnTo>
                <a:lnTo>
                  <a:pt x="34671" y="165100"/>
                </a:lnTo>
                <a:close/>
              </a:path>
              <a:path w="247650" h="332740">
                <a:moveTo>
                  <a:pt x="34544" y="165523"/>
                </a:moveTo>
                <a:lnTo>
                  <a:pt x="34162" y="166369"/>
                </a:lnTo>
                <a:lnTo>
                  <a:pt x="34290" y="166369"/>
                </a:lnTo>
                <a:lnTo>
                  <a:pt x="34544" y="165523"/>
                </a:lnTo>
                <a:close/>
              </a:path>
              <a:path w="247650" h="332740">
                <a:moveTo>
                  <a:pt x="34734" y="165100"/>
                </a:moveTo>
                <a:lnTo>
                  <a:pt x="34544" y="165523"/>
                </a:lnTo>
                <a:lnTo>
                  <a:pt x="34734" y="165100"/>
                </a:lnTo>
                <a:close/>
              </a:path>
              <a:path w="247650" h="332740">
                <a:moveTo>
                  <a:pt x="223520" y="158750"/>
                </a:moveTo>
                <a:lnTo>
                  <a:pt x="223316" y="160019"/>
                </a:lnTo>
                <a:lnTo>
                  <a:pt x="223520" y="158750"/>
                </a:lnTo>
                <a:close/>
              </a:path>
              <a:path w="247650" h="332740">
                <a:moveTo>
                  <a:pt x="15493" y="156210"/>
                </a:moveTo>
                <a:lnTo>
                  <a:pt x="15351" y="156527"/>
                </a:lnTo>
                <a:lnTo>
                  <a:pt x="15112" y="157479"/>
                </a:lnTo>
                <a:lnTo>
                  <a:pt x="15493" y="156210"/>
                </a:lnTo>
                <a:close/>
              </a:path>
              <a:path w="247650" h="332740">
                <a:moveTo>
                  <a:pt x="37388" y="156210"/>
                </a:moveTo>
                <a:lnTo>
                  <a:pt x="15493" y="156210"/>
                </a:lnTo>
                <a:lnTo>
                  <a:pt x="15112" y="157479"/>
                </a:lnTo>
                <a:lnTo>
                  <a:pt x="37033" y="157479"/>
                </a:lnTo>
                <a:lnTo>
                  <a:pt x="37388" y="156210"/>
                </a:lnTo>
                <a:close/>
              </a:path>
              <a:path w="247650" h="332740">
                <a:moveTo>
                  <a:pt x="51435" y="121919"/>
                </a:moveTo>
                <a:lnTo>
                  <a:pt x="28321" y="121919"/>
                </a:lnTo>
                <a:lnTo>
                  <a:pt x="26924" y="124460"/>
                </a:lnTo>
                <a:lnTo>
                  <a:pt x="23622" y="132079"/>
                </a:lnTo>
                <a:lnTo>
                  <a:pt x="22225" y="134619"/>
                </a:lnTo>
                <a:lnTo>
                  <a:pt x="21971" y="135889"/>
                </a:lnTo>
                <a:lnTo>
                  <a:pt x="19177" y="142239"/>
                </a:lnTo>
                <a:lnTo>
                  <a:pt x="17653" y="147319"/>
                </a:lnTo>
                <a:lnTo>
                  <a:pt x="15875" y="153669"/>
                </a:lnTo>
                <a:lnTo>
                  <a:pt x="15748" y="154939"/>
                </a:lnTo>
                <a:lnTo>
                  <a:pt x="15351" y="156527"/>
                </a:lnTo>
                <a:lnTo>
                  <a:pt x="15493" y="156210"/>
                </a:lnTo>
                <a:lnTo>
                  <a:pt x="37388" y="156210"/>
                </a:lnTo>
                <a:lnTo>
                  <a:pt x="38100" y="153669"/>
                </a:lnTo>
                <a:lnTo>
                  <a:pt x="38777" y="151129"/>
                </a:lnTo>
                <a:lnTo>
                  <a:pt x="39116" y="149860"/>
                </a:lnTo>
                <a:lnTo>
                  <a:pt x="41656" y="143510"/>
                </a:lnTo>
                <a:lnTo>
                  <a:pt x="42925" y="140969"/>
                </a:lnTo>
                <a:lnTo>
                  <a:pt x="46100" y="133350"/>
                </a:lnTo>
                <a:lnTo>
                  <a:pt x="47498" y="129539"/>
                </a:lnTo>
                <a:lnTo>
                  <a:pt x="51435" y="121919"/>
                </a:lnTo>
                <a:close/>
              </a:path>
              <a:path w="247650" h="332740">
                <a:moveTo>
                  <a:pt x="39116" y="149860"/>
                </a:moveTo>
                <a:lnTo>
                  <a:pt x="38735" y="151129"/>
                </a:lnTo>
                <a:lnTo>
                  <a:pt x="38874" y="150767"/>
                </a:lnTo>
                <a:lnTo>
                  <a:pt x="39116" y="149860"/>
                </a:lnTo>
                <a:close/>
              </a:path>
              <a:path w="247650" h="332740">
                <a:moveTo>
                  <a:pt x="38874" y="150767"/>
                </a:moveTo>
                <a:lnTo>
                  <a:pt x="38735" y="151129"/>
                </a:lnTo>
                <a:lnTo>
                  <a:pt x="38874" y="150767"/>
                </a:lnTo>
                <a:close/>
              </a:path>
              <a:path w="247650" h="332740">
                <a:moveTo>
                  <a:pt x="39221" y="149860"/>
                </a:moveTo>
                <a:lnTo>
                  <a:pt x="38874" y="150767"/>
                </a:lnTo>
                <a:lnTo>
                  <a:pt x="39221" y="149860"/>
                </a:lnTo>
                <a:close/>
              </a:path>
              <a:path w="247650" h="332740">
                <a:moveTo>
                  <a:pt x="244322" y="110489"/>
                </a:moveTo>
                <a:lnTo>
                  <a:pt x="221742" y="110489"/>
                </a:lnTo>
                <a:lnTo>
                  <a:pt x="222758" y="116839"/>
                </a:lnTo>
                <a:lnTo>
                  <a:pt x="224917" y="129539"/>
                </a:lnTo>
                <a:lnTo>
                  <a:pt x="225171" y="134619"/>
                </a:lnTo>
                <a:lnTo>
                  <a:pt x="225171" y="133350"/>
                </a:lnTo>
                <a:lnTo>
                  <a:pt x="247396" y="133350"/>
                </a:lnTo>
                <a:lnTo>
                  <a:pt x="247142" y="127000"/>
                </a:lnTo>
                <a:lnTo>
                  <a:pt x="247015" y="125729"/>
                </a:lnTo>
                <a:lnTo>
                  <a:pt x="244856" y="113029"/>
                </a:lnTo>
                <a:lnTo>
                  <a:pt x="244322" y="110489"/>
                </a:lnTo>
                <a:close/>
              </a:path>
              <a:path w="247650" h="332740">
                <a:moveTo>
                  <a:pt x="60071" y="106679"/>
                </a:moveTo>
                <a:lnTo>
                  <a:pt x="35560" y="106679"/>
                </a:lnTo>
                <a:lnTo>
                  <a:pt x="32639" y="111760"/>
                </a:lnTo>
                <a:lnTo>
                  <a:pt x="32385" y="113029"/>
                </a:lnTo>
                <a:lnTo>
                  <a:pt x="28448" y="121919"/>
                </a:lnTo>
                <a:lnTo>
                  <a:pt x="51181" y="121919"/>
                </a:lnTo>
                <a:lnTo>
                  <a:pt x="54102" y="116839"/>
                </a:lnTo>
                <a:lnTo>
                  <a:pt x="53975" y="116839"/>
                </a:lnTo>
                <a:lnTo>
                  <a:pt x="57150" y="110489"/>
                </a:lnTo>
                <a:lnTo>
                  <a:pt x="57689" y="110489"/>
                </a:lnTo>
                <a:lnTo>
                  <a:pt x="59277" y="107950"/>
                </a:lnTo>
                <a:lnTo>
                  <a:pt x="60071" y="106679"/>
                </a:lnTo>
                <a:close/>
              </a:path>
              <a:path w="247650" h="332740">
                <a:moveTo>
                  <a:pt x="57689" y="110489"/>
                </a:moveTo>
                <a:lnTo>
                  <a:pt x="57150" y="110489"/>
                </a:lnTo>
                <a:lnTo>
                  <a:pt x="56896" y="111760"/>
                </a:lnTo>
                <a:lnTo>
                  <a:pt x="57689" y="110489"/>
                </a:lnTo>
                <a:close/>
              </a:path>
              <a:path w="247650" h="332740">
                <a:moveTo>
                  <a:pt x="218567" y="97789"/>
                </a:moveTo>
                <a:lnTo>
                  <a:pt x="221869" y="111760"/>
                </a:lnTo>
                <a:lnTo>
                  <a:pt x="221742" y="110489"/>
                </a:lnTo>
                <a:lnTo>
                  <a:pt x="244322" y="110489"/>
                </a:lnTo>
                <a:lnTo>
                  <a:pt x="243712" y="106679"/>
                </a:lnTo>
                <a:lnTo>
                  <a:pt x="241911" y="99060"/>
                </a:lnTo>
                <a:lnTo>
                  <a:pt x="219075" y="99060"/>
                </a:lnTo>
                <a:lnTo>
                  <a:pt x="218567" y="97789"/>
                </a:lnTo>
                <a:close/>
              </a:path>
              <a:path w="247650" h="332740">
                <a:moveTo>
                  <a:pt x="60071" y="106679"/>
                </a:moveTo>
                <a:lnTo>
                  <a:pt x="59181" y="107950"/>
                </a:lnTo>
                <a:lnTo>
                  <a:pt x="59541" y="107526"/>
                </a:lnTo>
                <a:lnTo>
                  <a:pt x="60071" y="106679"/>
                </a:lnTo>
                <a:close/>
              </a:path>
              <a:path w="247650" h="332740">
                <a:moveTo>
                  <a:pt x="59541" y="107526"/>
                </a:moveTo>
                <a:lnTo>
                  <a:pt x="59181" y="107950"/>
                </a:lnTo>
                <a:lnTo>
                  <a:pt x="59541" y="107526"/>
                </a:lnTo>
                <a:close/>
              </a:path>
              <a:path w="247650" h="332740">
                <a:moveTo>
                  <a:pt x="47625" y="88900"/>
                </a:moveTo>
                <a:lnTo>
                  <a:pt x="43306" y="93979"/>
                </a:lnTo>
                <a:lnTo>
                  <a:pt x="42418" y="95250"/>
                </a:lnTo>
                <a:lnTo>
                  <a:pt x="39243" y="100329"/>
                </a:lnTo>
                <a:lnTo>
                  <a:pt x="38862" y="100329"/>
                </a:lnTo>
                <a:lnTo>
                  <a:pt x="35687" y="106679"/>
                </a:lnTo>
                <a:lnTo>
                  <a:pt x="60071" y="106679"/>
                </a:lnTo>
                <a:lnTo>
                  <a:pt x="59541" y="107526"/>
                </a:lnTo>
                <a:lnTo>
                  <a:pt x="63500" y="102869"/>
                </a:lnTo>
                <a:lnTo>
                  <a:pt x="64008" y="101600"/>
                </a:lnTo>
                <a:lnTo>
                  <a:pt x="66167" y="99060"/>
                </a:lnTo>
                <a:lnTo>
                  <a:pt x="66420" y="99060"/>
                </a:lnTo>
                <a:lnTo>
                  <a:pt x="67691" y="97789"/>
                </a:lnTo>
                <a:lnTo>
                  <a:pt x="68199" y="97789"/>
                </a:lnTo>
                <a:lnTo>
                  <a:pt x="72517" y="91439"/>
                </a:lnTo>
                <a:lnTo>
                  <a:pt x="74675" y="90169"/>
                </a:lnTo>
                <a:lnTo>
                  <a:pt x="47243" y="90169"/>
                </a:lnTo>
                <a:lnTo>
                  <a:pt x="47625" y="88900"/>
                </a:lnTo>
                <a:close/>
              </a:path>
              <a:path w="247650" h="332740">
                <a:moveTo>
                  <a:pt x="66420" y="99060"/>
                </a:moveTo>
                <a:lnTo>
                  <a:pt x="66167" y="99060"/>
                </a:lnTo>
                <a:lnTo>
                  <a:pt x="65150" y="100329"/>
                </a:lnTo>
                <a:lnTo>
                  <a:pt x="66420" y="99060"/>
                </a:lnTo>
                <a:close/>
              </a:path>
              <a:path w="247650" h="332740">
                <a:moveTo>
                  <a:pt x="235204" y="76200"/>
                </a:moveTo>
                <a:lnTo>
                  <a:pt x="212344" y="76200"/>
                </a:lnTo>
                <a:lnTo>
                  <a:pt x="213487" y="81279"/>
                </a:lnTo>
                <a:lnTo>
                  <a:pt x="213614" y="81279"/>
                </a:lnTo>
                <a:lnTo>
                  <a:pt x="216916" y="93979"/>
                </a:lnTo>
                <a:lnTo>
                  <a:pt x="217170" y="93979"/>
                </a:lnTo>
                <a:lnTo>
                  <a:pt x="219075" y="99060"/>
                </a:lnTo>
                <a:lnTo>
                  <a:pt x="241911" y="99060"/>
                </a:lnTo>
                <a:lnTo>
                  <a:pt x="240411" y="92710"/>
                </a:lnTo>
                <a:lnTo>
                  <a:pt x="239903" y="91439"/>
                </a:lnTo>
                <a:lnTo>
                  <a:pt x="238569" y="87629"/>
                </a:lnTo>
                <a:lnTo>
                  <a:pt x="238379" y="87629"/>
                </a:lnTo>
                <a:lnTo>
                  <a:pt x="235204" y="76200"/>
                </a:lnTo>
                <a:close/>
              </a:path>
              <a:path w="247650" h="332740">
                <a:moveTo>
                  <a:pt x="52959" y="82550"/>
                </a:moveTo>
                <a:lnTo>
                  <a:pt x="50418" y="85089"/>
                </a:lnTo>
                <a:lnTo>
                  <a:pt x="49403" y="86360"/>
                </a:lnTo>
                <a:lnTo>
                  <a:pt x="47243" y="90169"/>
                </a:lnTo>
                <a:lnTo>
                  <a:pt x="74675" y="90169"/>
                </a:lnTo>
                <a:lnTo>
                  <a:pt x="78993" y="85089"/>
                </a:lnTo>
                <a:lnTo>
                  <a:pt x="78486" y="85089"/>
                </a:lnTo>
                <a:lnTo>
                  <a:pt x="79565" y="83819"/>
                </a:lnTo>
                <a:lnTo>
                  <a:pt x="52324" y="83819"/>
                </a:lnTo>
                <a:lnTo>
                  <a:pt x="52959" y="82550"/>
                </a:lnTo>
                <a:close/>
              </a:path>
              <a:path w="247650" h="332740">
                <a:moveTo>
                  <a:pt x="238125" y="86360"/>
                </a:moveTo>
                <a:lnTo>
                  <a:pt x="238379" y="87629"/>
                </a:lnTo>
                <a:lnTo>
                  <a:pt x="238569" y="87629"/>
                </a:lnTo>
                <a:lnTo>
                  <a:pt x="238125" y="86360"/>
                </a:lnTo>
                <a:close/>
              </a:path>
              <a:path w="247650" h="332740">
                <a:moveTo>
                  <a:pt x="65246" y="69214"/>
                </a:moveTo>
                <a:lnTo>
                  <a:pt x="63246" y="71119"/>
                </a:lnTo>
                <a:lnTo>
                  <a:pt x="58928" y="76200"/>
                </a:lnTo>
                <a:lnTo>
                  <a:pt x="58800" y="76200"/>
                </a:lnTo>
                <a:lnTo>
                  <a:pt x="52324" y="83819"/>
                </a:lnTo>
                <a:lnTo>
                  <a:pt x="79565" y="83819"/>
                </a:lnTo>
                <a:lnTo>
                  <a:pt x="80645" y="82550"/>
                </a:lnTo>
                <a:lnTo>
                  <a:pt x="81661" y="81279"/>
                </a:lnTo>
                <a:lnTo>
                  <a:pt x="82550" y="80010"/>
                </a:lnTo>
                <a:lnTo>
                  <a:pt x="82296" y="80010"/>
                </a:lnTo>
                <a:lnTo>
                  <a:pt x="83439" y="78739"/>
                </a:lnTo>
                <a:lnTo>
                  <a:pt x="83756" y="78739"/>
                </a:lnTo>
                <a:lnTo>
                  <a:pt x="85217" y="77469"/>
                </a:lnTo>
                <a:lnTo>
                  <a:pt x="88773" y="73660"/>
                </a:lnTo>
                <a:lnTo>
                  <a:pt x="88137" y="73660"/>
                </a:lnTo>
                <a:lnTo>
                  <a:pt x="89916" y="72389"/>
                </a:lnTo>
                <a:lnTo>
                  <a:pt x="91524" y="69850"/>
                </a:lnTo>
                <a:lnTo>
                  <a:pt x="64770" y="69850"/>
                </a:lnTo>
                <a:lnTo>
                  <a:pt x="65246" y="69214"/>
                </a:lnTo>
                <a:close/>
              </a:path>
              <a:path w="247650" h="332740">
                <a:moveTo>
                  <a:pt x="83439" y="78739"/>
                </a:moveTo>
                <a:lnTo>
                  <a:pt x="82296" y="80010"/>
                </a:lnTo>
                <a:lnTo>
                  <a:pt x="82945" y="79445"/>
                </a:lnTo>
                <a:lnTo>
                  <a:pt x="83439" y="78739"/>
                </a:lnTo>
                <a:close/>
              </a:path>
              <a:path w="247650" h="332740">
                <a:moveTo>
                  <a:pt x="82945" y="79445"/>
                </a:moveTo>
                <a:lnTo>
                  <a:pt x="82296" y="80010"/>
                </a:lnTo>
                <a:lnTo>
                  <a:pt x="82550" y="80010"/>
                </a:lnTo>
                <a:lnTo>
                  <a:pt x="82945" y="79445"/>
                </a:lnTo>
                <a:close/>
              </a:path>
              <a:path w="247650" h="332740">
                <a:moveTo>
                  <a:pt x="83756" y="78739"/>
                </a:moveTo>
                <a:lnTo>
                  <a:pt x="83439" y="78739"/>
                </a:lnTo>
                <a:lnTo>
                  <a:pt x="82945" y="79445"/>
                </a:lnTo>
                <a:lnTo>
                  <a:pt x="83756" y="78739"/>
                </a:lnTo>
                <a:close/>
              </a:path>
              <a:path w="247650" h="332740">
                <a:moveTo>
                  <a:pt x="231238" y="60960"/>
                </a:moveTo>
                <a:lnTo>
                  <a:pt x="207899" y="60960"/>
                </a:lnTo>
                <a:lnTo>
                  <a:pt x="209423" y="66039"/>
                </a:lnTo>
                <a:lnTo>
                  <a:pt x="212598" y="77469"/>
                </a:lnTo>
                <a:lnTo>
                  <a:pt x="212344" y="76200"/>
                </a:lnTo>
                <a:lnTo>
                  <a:pt x="235331" y="76200"/>
                </a:lnTo>
                <a:lnTo>
                  <a:pt x="234315" y="71119"/>
                </a:lnTo>
                <a:lnTo>
                  <a:pt x="234061" y="71119"/>
                </a:lnTo>
                <a:lnTo>
                  <a:pt x="231238" y="60960"/>
                </a:lnTo>
                <a:close/>
              </a:path>
              <a:path w="247650" h="332740">
                <a:moveTo>
                  <a:pt x="65912" y="68579"/>
                </a:moveTo>
                <a:lnTo>
                  <a:pt x="65246" y="69214"/>
                </a:lnTo>
                <a:lnTo>
                  <a:pt x="64770" y="69850"/>
                </a:lnTo>
                <a:lnTo>
                  <a:pt x="65912" y="68579"/>
                </a:lnTo>
                <a:close/>
              </a:path>
              <a:path w="247650" h="332740">
                <a:moveTo>
                  <a:pt x="92329" y="68579"/>
                </a:moveTo>
                <a:lnTo>
                  <a:pt x="65912" y="68579"/>
                </a:lnTo>
                <a:lnTo>
                  <a:pt x="64770" y="69850"/>
                </a:lnTo>
                <a:lnTo>
                  <a:pt x="91524" y="69850"/>
                </a:lnTo>
                <a:lnTo>
                  <a:pt x="92329" y="68579"/>
                </a:lnTo>
                <a:close/>
              </a:path>
              <a:path w="247650" h="332740">
                <a:moveTo>
                  <a:pt x="69850" y="63500"/>
                </a:moveTo>
                <a:lnTo>
                  <a:pt x="67691" y="66039"/>
                </a:lnTo>
                <a:lnTo>
                  <a:pt x="66675" y="67310"/>
                </a:lnTo>
                <a:lnTo>
                  <a:pt x="65246" y="69214"/>
                </a:lnTo>
                <a:lnTo>
                  <a:pt x="65912" y="68579"/>
                </a:lnTo>
                <a:lnTo>
                  <a:pt x="92456" y="68579"/>
                </a:lnTo>
                <a:lnTo>
                  <a:pt x="93853" y="67310"/>
                </a:lnTo>
                <a:lnTo>
                  <a:pt x="93725" y="67310"/>
                </a:lnTo>
                <a:lnTo>
                  <a:pt x="96096" y="64769"/>
                </a:lnTo>
                <a:lnTo>
                  <a:pt x="69215" y="64769"/>
                </a:lnTo>
                <a:lnTo>
                  <a:pt x="69850" y="63500"/>
                </a:lnTo>
                <a:close/>
              </a:path>
              <a:path w="247650" h="332740">
                <a:moveTo>
                  <a:pt x="75311" y="57150"/>
                </a:moveTo>
                <a:lnTo>
                  <a:pt x="72898" y="59689"/>
                </a:lnTo>
                <a:lnTo>
                  <a:pt x="71120" y="62229"/>
                </a:lnTo>
                <a:lnTo>
                  <a:pt x="69215" y="64769"/>
                </a:lnTo>
                <a:lnTo>
                  <a:pt x="96096" y="64769"/>
                </a:lnTo>
                <a:lnTo>
                  <a:pt x="97281" y="63500"/>
                </a:lnTo>
                <a:lnTo>
                  <a:pt x="99441" y="59689"/>
                </a:lnTo>
                <a:lnTo>
                  <a:pt x="99949" y="59689"/>
                </a:lnTo>
                <a:lnTo>
                  <a:pt x="100901" y="58419"/>
                </a:lnTo>
                <a:lnTo>
                  <a:pt x="74803" y="58419"/>
                </a:lnTo>
                <a:lnTo>
                  <a:pt x="75311" y="57150"/>
                </a:lnTo>
                <a:close/>
              </a:path>
              <a:path w="247650" h="332740">
                <a:moveTo>
                  <a:pt x="99949" y="59689"/>
                </a:moveTo>
                <a:lnTo>
                  <a:pt x="99441" y="59689"/>
                </a:lnTo>
                <a:lnTo>
                  <a:pt x="98171" y="62229"/>
                </a:lnTo>
                <a:lnTo>
                  <a:pt x="99949" y="59689"/>
                </a:lnTo>
                <a:close/>
              </a:path>
              <a:path w="247650" h="332740">
                <a:moveTo>
                  <a:pt x="228441" y="52069"/>
                </a:moveTo>
                <a:lnTo>
                  <a:pt x="203962" y="52069"/>
                </a:lnTo>
                <a:lnTo>
                  <a:pt x="208280" y="62229"/>
                </a:lnTo>
                <a:lnTo>
                  <a:pt x="207899" y="60960"/>
                </a:lnTo>
                <a:lnTo>
                  <a:pt x="231238" y="60960"/>
                </a:lnTo>
                <a:lnTo>
                  <a:pt x="230886" y="59689"/>
                </a:lnTo>
                <a:lnTo>
                  <a:pt x="228981" y="53339"/>
                </a:lnTo>
                <a:lnTo>
                  <a:pt x="228441" y="52069"/>
                </a:lnTo>
                <a:close/>
              </a:path>
              <a:path w="247650" h="332740">
                <a:moveTo>
                  <a:pt x="102870" y="54610"/>
                </a:moveTo>
                <a:lnTo>
                  <a:pt x="77850" y="54610"/>
                </a:lnTo>
                <a:lnTo>
                  <a:pt x="76454" y="55879"/>
                </a:lnTo>
                <a:lnTo>
                  <a:pt x="74803" y="58419"/>
                </a:lnTo>
                <a:lnTo>
                  <a:pt x="100901" y="58419"/>
                </a:lnTo>
                <a:lnTo>
                  <a:pt x="101854" y="57150"/>
                </a:lnTo>
                <a:lnTo>
                  <a:pt x="101600" y="57150"/>
                </a:lnTo>
                <a:lnTo>
                  <a:pt x="102870" y="54610"/>
                </a:lnTo>
                <a:close/>
              </a:path>
              <a:path w="247650" h="332740">
                <a:moveTo>
                  <a:pt x="102870" y="54610"/>
                </a:moveTo>
                <a:lnTo>
                  <a:pt x="101600" y="57150"/>
                </a:lnTo>
                <a:lnTo>
                  <a:pt x="102192" y="56303"/>
                </a:lnTo>
                <a:lnTo>
                  <a:pt x="102870" y="54610"/>
                </a:lnTo>
                <a:close/>
              </a:path>
              <a:path w="247650" h="332740">
                <a:moveTo>
                  <a:pt x="102192" y="56303"/>
                </a:moveTo>
                <a:lnTo>
                  <a:pt x="101600" y="57150"/>
                </a:lnTo>
                <a:lnTo>
                  <a:pt x="101854" y="57150"/>
                </a:lnTo>
                <a:lnTo>
                  <a:pt x="102192" y="56303"/>
                </a:lnTo>
                <a:close/>
              </a:path>
              <a:path w="247650" h="332740">
                <a:moveTo>
                  <a:pt x="81534" y="49529"/>
                </a:moveTo>
                <a:lnTo>
                  <a:pt x="77978" y="54610"/>
                </a:lnTo>
                <a:lnTo>
                  <a:pt x="102870" y="54610"/>
                </a:lnTo>
                <a:lnTo>
                  <a:pt x="102192" y="56303"/>
                </a:lnTo>
                <a:lnTo>
                  <a:pt x="103378" y="54610"/>
                </a:lnTo>
                <a:lnTo>
                  <a:pt x="104012" y="53339"/>
                </a:lnTo>
                <a:lnTo>
                  <a:pt x="105410" y="52069"/>
                </a:lnTo>
                <a:lnTo>
                  <a:pt x="105029" y="52069"/>
                </a:lnTo>
                <a:lnTo>
                  <a:pt x="106298" y="50800"/>
                </a:lnTo>
                <a:lnTo>
                  <a:pt x="80899" y="50800"/>
                </a:lnTo>
                <a:lnTo>
                  <a:pt x="81534" y="49529"/>
                </a:lnTo>
                <a:close/>
              </a:path>
              <a:path w="247650" h="332740">
                <a:moveTo>
                  <a:pt x="202471" y="48937"/>
                </a:moveTo>
                <a:lnTo>
                  <a:pt x="204343" y="53339"/>
                </a:lnTo>
                <a:lnTo>
                  <a:pt x="203962" y="52069"/>
                </a:lnTo>
                <a:lnTo>
                  <a:pt x="228441" y="52069"/>
                </a:lnTo>
                <a:lnTo>
                  <a:pt x="227361" y="49529"/>
                </a:lnTo>
                <a:lnTo>
                  <a:pt x="202946" y="49529"/>
                </a:lnTo>
                <a:lnTo>
                  <a:pt x="202471" y="48937"/>
                </a:lnTo>
                <a:close/>
              </a:path>
              <a:path w="247650" h="332740">
                <a:moveTo>
                  <a:pt x="84226" y="46609"/>
                </a:moveTo>
                <a:lnTo>
                  <a:pt x="83693" y="46989"/>
                </a:lnTo>
                <a:lnTo>
                  <a:pt x="82423" y="48260"/>
                </a:lnTo>
                <a:lnTo>
                  <a:pt x="80899" y="50800"/>
                </a:lnTo>
                <a:lnTo>
                  <a:pt x="106298" y="50800"/>
                </a:lnTo>
                <a:lnTo>
                  <a:pt x="107568" y="49529"/>
                </a:lnTo>
                <a:lnTo>
                  <a:pt x="107315" y="49529"/>
                </a:lnTo>
                <a:lnTo>
                  <a:pt x="108203" y="48260"/>
                </a:lnTo>
                <a:lnTo>
                  <a:pt x="83566" y="48260"/>
                </a:lnTo>
                <a:lnTo>
                  <a:pt x="84226" y="46609"/>
                </a:lnTo>
                <a:close/>
              </a:path>
              <a:path w="247650" h="332740">
                <a:moveTo>
                  <a:pt x="202184" y="48260"/>
                </a:moveTo>
                <a:lnTo>
                  <a:pt x="202471" y="48937"/>
                </a:lnTo>
                <a:lnTo>
                  <a:pt x="202946" y="49529"/>
                </a:lnTo>
                <a:lnTo>
                  <a:pt x="202184" y="48260"/>
                </a:lnTo>
                <a:close/>
              </a:path>
              <a:path w="247650" h="332740">
                <a:moveTo>
                  <a:pt x="226822" y="48260"/>
                </a:moveTo>
                <a:lnTo>
                  <a:pt x="202184" y="48260"/>
                </a:lnTo>
                <a:lnTo>
                  <a:pt x="202946" y="49529"/>
                </a:lnTo>
                <a:lnTo>
                  <a:pt x="227361" y="49529"/>
                </a:lnTo>
                <a:lnTo>
                  <a:pt x="226822" y="48260"/>
                </a:lnTo>
                <a:close/>
              </a:path>
              <a:path w="247650" h="332740">
                <a:moveTo>
                  <a:pt x="224662" y="43179"/>
                </a:moveTo>
                <a:lnTo>
                  <a:pt x="197866" y="43179"/>
                </a:lnTo>
                <a:lnTo>
                  <a:pt x="202471" y="48937"/>
                </a:lnTo>
                <a:lnTo>
                  <a:pt x="202184" y="48260"/>
                </a:lnTo>
                <a:lnTo>
                  <a:pt x="226822" y="48260"/>
                </a:lnTo>
                <a:lnTo>
                  <a:pt x="224662" y="43179"/>
                </a:lnTo>
                <a:close/>
              </a:path>
              <a:path w="247650" h="332740">
                <a:moveTo>
                  <a:pt x="85471" y="45719"/>
                </a:moveTo>
                <a:lnTo>
                  <a:pt x="84226" y="46609"/>
                </a:lnTo>
                <a:lnTo>
                  <a:pt x="83566" y="48260"/>
                </a:lnTo>
                <a:lnTo>
                  <a:pt x="85471" y="45719"/>
                </a:lnTo>
                <a:close/>
              </a:path>
              <a:path w="247650" h="332740">
                <a:moveTo>
                  <a:pt x="110151" y="45719"/>
                </a:moveTo>
                <a:lnTo>
                  <a:pt x="85471" y="45719"/>
                </a:lnTo>
                <a:lnTo>
                  <a:pt x="83566" y="48260"/>
                </a:lnTo>
                <a:lnTo>
                  <a:pt x="108203" y="48260"/>
                </a:lnTo>
                <a:lnTo>
                  <a:pt x="109093" y="46989"/>
                </a:lnTo>
                <a:lnTo>
                  <a:pt x="108839" y="46989"/>
                </a:lnTo>
                <a:lnTo>
                  <a:pt x="110151" y="45719"/>
                </a:lnTo>
                <a:close/>
              </a:path>
              <a:path w="247650" h="332740">
                <a:moveTo>
                  <a:pt x="87756" y="41910"/>
                </a:moveTo>
                <a:lnTo>
                  <a:pt x="85979" y="44450"/>
                </a:lnTo>
                <a:lnTo>
                  <a:pt x="84581" y="45719"/>
                </a:lnTo>
                <a:lnTo>
                  <a:pt x="84226" y="46609"/>
                </a:lnTo>
                <a:lnTo>
                  <a:pt x="85471" y="45719"/>
                </a:lnTo>
                <a:lnTo>
                  <a:pt x="110151" y="45719"/>
                </a:lnTo>
                <a:lnTo>
                  <a:pt x="112775" y="43179"/>
                </a:lnTo>
                <a:lnTo>
                  <a:pt x="87122" y="43179"/>
                </a:lnTo>
                <a:lnTo>
                  <a:pt x="87756" y="41910"/>
                </a:lnTo>
                <a:close/>
              </a:path>
              <a:path w="247650" h="332740">
                <a:moveTo>
                  <a:pt x="136220" y="17779"/>
                </a:moveTo>
                <a:lnTo>
                  <a:pt x="112395" y="17779"/>
                </a:lnTo>
                <a:lnTo>
                  <a:pt x="110743" y="19050"/>
                </a:lnTo>
                <a:lnTo>
                  <a:pt x="109855" y="19050"/>
                </a:lnTo>
                <a:lnTo>
                  <a:pt x="106299" y="21589"/>
                </a:lnTo>
                <a:lnTo>
                  <a:pt x="104648" y="22860"/>
                </a:lnTo>
                <a:lnTo>
                  <a:pt x="103886" y="24129"/>
                </a:lnTo>
                <a:lnTo>
                  <a:pt x="100330" y="26669"/>
                </a:lnTo>
                <a:lnTo>
                  <a:pt x="99949" y="27939"/>
                </a:lnTo>
                <a:lnTo>
                  <a:pt x="98043" y="29210"/>
                </a:lnTo>
                <a:lnTo>
                  <a:pt x="97790" y="29210"/>
                </a:lnTo>
                <a:lnTo>
                  <a:pt x="93853" y="34289"/>
                </a:lnTo>
                <a:lnTo>
                  <a:pt x="93472" y="34289"/>
                </a:lnTo>
                <a:lnTo>
                  <a:pt x="91693" y="36829"/>
                </a:lnTo>
                <a:lnTo>
                  <a:pt x="91440" y="36829"/>
                </a:lnTo>
                <a:lnTo>
                  <a:pt x="88900" y="39369"/>
                </a:lnTo>
                <a:lnTo>
                  <a:pt x="88518" y="40639"/>
                </a:lnTo>
                <a:lnTo>
                  <a:pt x="87122" y="43179"/>
                </a:lnTo>
                <a:lnTo>
                  <a:pt x="112522" y="43179"/>
                </a:lnTo>
                <a:lnTo>
                  <a:pt x="114300" y="41910"/>
                </a:lnTo>
                <a:lnTo>
                  <a:pt x="113918" y="41910"/>
                </a:lnTo>
                <a:lnTo>
                  <a:pt x="117475" y="39369"/>
                </a:lnTo>
                <a:lnTo>
                  <a:pt x="116840" y="39369"/>
                </a:lnTo>
                <a:lnTo>
                  <a:pt x="118237" y="38100"/>
                </a:lnTo>
                <a:lnTo>
                  <a:pt x="117983" y="38100"/>
                </a:lnTo>
                <a:lnTo>
                  <a:pt x="121539" y="35560"/>
                </a:lnTo>
                <a:lnTo>
                  <a:pt x="122809" y="35560"/>
                </a:lnTo>
                <a:lnTo>
                  <a:pt x="124333" y="34289"/>
                </a:lnTo>
                <a:lnTo>
                  <a:pt x="127889" y="30479"/>
                </a:lnTo>
                <a:lnTo>
                  <a:pt x="128650" y="30479"/>
                </a:lnTo>
                <a:lnTo>
                  <a:pt x="133350" y="26669"/>
                </a:lnTo>
                <a:lnTo>
                  <a:pt x="133477" y="26669"/>
                </a:lnTo>
                <a:lnTo>
                  <a:pt x="135381" y="25400"/>
                </a:lnTo>
                <a:lnTo>
                  <a:pt x="135678" y="25400"/>
                </a:lnTo>
                <a:lnTo>
                  <a:pt x="136942" y="24452"/>
                </a:lnTo>
                <a:lnTo>
                  <a:pt x="135509" y="22860"/>
                </a:lnTo>
                <a:lnTo>
                  <a:pt x="136220" y="17779"/>
                </a:lnTo>
                <a:close/>
              </a:path>
              <a:path w="247650" h="332740">
                <a:moveTo>
                  <a:pt x="196053" y="40986"/>
                </a:moveTo>
                <a:lnTo>
                  <a:pt x="198247" y="43179"/>
                </a:lnTo>
                <a:lnTo>
                  <a:pt x="224409" y="43179"/>
                </a:lnTo>
                <a:lnTo>
                  <a:pt x="223869" y="41910"/>
                </a:lnTo>
                <a:lnTo>
                  <a:pt x="197485" y="41910"/>
                </a:lnTo>
                <a:lnTo>
                  <a:pt x="196053" y="40986"/>
                </a:lnTo>
                <a:close/>
              </a:path>
              <a:path w="247650" h="332740">
                <a:moveTo>
                  <a:pt x="195706" y="40639"/>
                </a:moveTo>
                <a:lnTo>
                  <a:pt x="196053" y="40986"/>
                </a:lnTo>
                <a:lnTo>
                  <a:pt x="197485" y="41910"/>
                </a:lnTo>
                <a:lnTo>
                  <a:pt x="195706" y="40639"/>
                </a:lnTo>
                <a:close/>
              </a:path>
              <a:path w="247650" h="332740">
                <a:moveTo>
                  <a:pt x="223329" y="40639"/>
                </a:moveTo>
                <a:lnTo>
                  <a:pt x="195706" y="40639"/>
                </a:lnTo>
                <a:lnTo>
                  <a:pt x="197485" y="41910"/>
                </a:lnTo>
                <a:lnTo>
                  <a:pt x="223869" y="41910"/>
                </a:lnTo>
                <a:lnTo>
                  <a:pt x="223329" y="40639"/>
                </a:lnTo>
                <a:close/>
              </a:path>
              <a:path w="247650" h="332740">
                <a:moveTo>
                  <a:pt x="220472" y="35560"/>
                </a:moveTo>
                <a:lnTo>
                  <a:pt x="189484" y="35560"/>
                </a:lnTo>
                <a:lnTo>
                  <a:pt x="194183" y="39369"/>
                </a:lnTo>
                <a:lnTo>
                  <a:pt x="193548" y="39369"/>
                </a:lnTo>
                <a:lnTo>
                  <a:pt x="196053" y="40986"/>
                </a:lnTo>
                <a:lnTo>
                  <a:pt x="195706" y="40639"/>
                </a:lnTo>
                <a:lnTo>
                  <a:pt x="223329" y="40639"/>
                </a:lnTo>
                <a:lnTo>
                  <a:pt x="222250" y="38100"/>
                </a:lnTo>
                <a:lnTo>
                  <a:pt x="221487" y="36829"/>
                </a:lnTo>
                <a:lnTo>
                  <a:pt x="220472" y="35560"/>
                </a:lnTo>
                <a:close/>
              </a:path>
              <a:path w="247650" h="332740">
                <a:moveTo>
                  <a:pt x="122809" y="35560"/>
                </a:moveTo>
                <a:lnTo>
                  <a:pt x="121539" y="35560"/>
                </a:lnTo>
                <a:lnTo>
                  <a:pt x="121031" y="36829"/>
                </a:lnTo>
                <a:lnTo>
                  <a:pt x="122809" y="35560"/>
                </a:lnTo>
                <a:close/>
              </a:path>
              <a:path w="247650" h="332740">
                <a:moveTo>
                  <a:pt x="202437" y="17779"/>
                </a:moveTo>
                <a:lnTo>
                  <a:pt x="172974" y="17779"/>
                </a:lnTo>
                <a:lnTo>
                  <a:pt x="173862" y="24129"/>
                </a:lnTo>
                <a:lnTo>
                  <a:pt x="174002" y="24828"/>
                </a:lnTo>
                <a:lnTo>
                  <a:pt x="175260" y="25400"/>
                </a:lnTo>
                <a:lnTo>
                  <a:pt x="174117" y="25400"/>
                </a:lnTo>
                <a:lnTo>
                  <a:pt x="177419" y="27939"/>
                </a:lnTo>
                <a:lnTo>
                  <a:pt x="180340" y="29210"/>
                </a:lnTo>
                <a:lnTo>
                  <a:pt x="179705" y="29210"/>
                </a:lnTo>
                <a:lnTo>
                  <a:pt x="185800" y="33019"/>
                </a:lnTo>
                <a:lnTo>
                  <a:pt x="186436" y="34289"/>
                </a:lnTo>
                <a:lnTo>
                  <a:pt x="189737" y="36829"/>
                </a:lnTo>
                <a:lnTo>
                  <a:pt x="189484" y="35560"/>
                </a:lnTo>
                <a:lnTo>
                  <a:pt x="220472" y="35560"/>
                </a:lnTo>
                <a:lnTo>
                  <a:pt x="216408" y="30479"/>
                </a:lnTo>
                <a:lnTo>
                  <a:pt x="213614" y="26669"/>
                </a:lnTo>
                <a:lnTo>
                  <a:pt x="212725" y="25400"/>
                </a:lnTo>
                <a:lnTo>
                  <a:pt x="175260" y="25400"/>
                </a:lnTo>
                <a:lnTo>
                  <a:pt x="174032" y="24976"/>
                </a:lnTo>
                <a:lnTo>
                  <a:pt x="212428" y="24976"/>
                </a:lnTo>
                <a:lnTo>
                  <a:pt x="211836" y="24129"/>
                </a:lnTo>
                <a:lnTo>
                  <a:pt x="207137" y="20319"/>
                </a:lnTo>
                <a:lnTo>
                  <a:pt x="202437" y="17779"/>
                </a:lnTo>
                <a:close/>
              </a:path>
              <a:path w="247650" h="332740">
                <a:moveTo>
                  <a:pt x="156802" y="20319"/>
                </a:moveTo>
                <a:lnTo>
                  <a:pt x="148717" y="20319"/>
                </a:lnTo>
                <a:lnTo>
                  <a:pt x="144399" y="21589"/>
                </a:lnTo>
                <a:lnTo>
                  <a:pt x="143510" y="21589"/>
                </a:lnTo>
                <a:lnTo>
                  <a:pt x="139628" y="22639"/>
                </a:lnTo>
                <a:lnTo>
                  <a:pt x="139319" y="22860"/>
                </a:lnTo>
                <a:lnTo>
                  <a:pt x="139065" y="22860"/>
                </a:lnTo>
                <a:lnTo>
                  <a:pt x="136942" y="24452"/>
                </a:lnTo>
                <a:lnTo>
                  <a:pt x="138937" y="26669"/>
                </a:lnTo>
                <a:lnTo>
                  <a:pt x="142240" y="31750"/>
                </a:lnTo>
                <a:lnTo>
                  <a:pt x="148590" y="33019"/>
                </a:lnTo>
                <a:lnTo>
                  <a:pt x="153162" y="29210"/>
                </a:lnTo>
                <a:lnTo>
                  <a:pt x="154559" y="27939"/>
                </a:lnTo>
                <a:lnTo>
                  <a:pt x="155702" y="26669"/>
                </a:lnTo>
                <a:lnTo>
                  <a:pt x="155321" y="26669"/>
                </a:lnTo>
                <a:lnTo>
                  <a:pt x="155892" y="26458"/>
                </a:lnTo>
                <a:lnTo>
                  <a:pt x="157480" y="25400"/>
                </a:lnTo>
                <a:lnTo>
                  <a:pt x="158432" y="25400"/>
                </a:lnTo>
                <a:lnTo>
                  <a:pt x="157480" y="22860"/>
                </a:lnTo>
                <a:lnTo>
                  <a:pt x="157099" y="21589"/>
                </a:lnTo>
                <a:lnTo>
                  <a:pt x="156802" y="20319"/>
                </a:lnTo>
                <a:close/>
              </a:path>
              <a:path w="247650" h="332740">
                <a:moveTo>
                  <a:pt x="167533" y="21870"/>
                </a:moveTo>
                <a:lnTo>
                  <a:pt x="164465" y="22860"/>
                </a:lnTo>
                <a:lnTo>
                  <a:pt x="165608" y="22860"/>
                </a:lnTo>
                <a:lnTo>
                  <a:pt x="161290" y="24129"/>
                </a:lnTo>
                <a:lnTo>
                  <a:pt x="158623" y="25400"/>
                </a:lnTo>
                <a:lnTo>
                  <a:pt x="158471" y="25503"/>
                </a:lnTo>
                <a:lnTo>
                  <a:pt x="160781" y="31750"/>
                </a:lnTo>
                <a:lnTo>
                  <a:pt x="164719" y="33019"/>
                </a:lnTo>
                <a:lnTo>
                  <a:pt x="172339" y="30479"/>
                </a:lnTo>
                <a:lnTo>
                  <a:pt x="174625" y="27939"/>
                </a:lnTo>
                <a:lnTo>
                  <a:pt x="174117" y="25400"/>
                </a:lnTo>
                <a:lnTo>
                  <a:pt x="173188" y="24685"/>
                </a:lnTo>
                <a:lnTo>
                  <a:pt x="171577" y="24129"/>
                </a:lnTo>
                <a:lnTo>
                  <a:pt x="170687" y="22860"/>
                </a:lnTo>
                <a:lnTo>
                  <a:pt x="169853" y="22497"/>
                </a:lnTo>
                <a:lnTo>
                  <a:pt x="167533" y="21870"/>
                </a:lnTo>
                <a:close/>
              </a:path>
              <a:path w="247650" h="332740">
                <a:moveTo>
                  <a:pt x="128778" y="30479"/>
                </a:moveTo>
                <a:lnTo>
                  <a:pt x="127889" y="30479"/>
                </a:lnTo>
                <a:lnTo>
                  <a:pt x="127381" y="31750"/>
                </a:lnTo>
                <a:lnTo>
                  <a:pt x="128778" y="30479"/>
                </a:lnTo>
                <a:close/>
              </a:path>
              <a:path w="247650" h="332740">
                <a:moveTo>
                  <a:pt x="156896" y="26086"/>
                </a:moveTo>
                <a:lnTo>
                  <a:pt x="155892" y="26458"/>
                </a:lnTo>
                <a:lnTo>
                  <a:pt x="155575" y="26669"/>
                </a:lnTo>
                <a:lnTo>
                  <a:pt x="155956" y="26669"/>
                </a:lnTo>
                <a:lnTo>
                  <a:pt x="155321" y="27939"/>
                </a:lnTo>
                <a:lnTo>
                  <a:pt x="156896" y="26086"/>
                </a:lnTo>
                <a:close/>
              </a:path>
              <a:path w="247650" h="332740">
                <a:moveTo>
                  <a:pt x="135678" y="25400"/>
                </a:moveTo>
                <a:lnTo>
                  <a:pt x="135381" y="25400"/>
                </a:lnTo>
                <a:lnTo>
                  <a:pt x="133985" y="26669"/>
                </a:lnTo>
                <a:lnTo>
                  <a:pt x="135678" y="25400"/>
                </a:lnTo>
                <a:close/>
              </a:path>
              <a:path w="247650" h="332740">
                <a:moveTo>
                  <a:pt x="157480" y="25400"/>
                </a:moveTo>
                <a:lnTo>
                  <a:pt x="155892" y="26458"/>
                </a:lnTo>
                <a:lnTo>
                  <a:pt x="156896" y="26086"/>
                </a:lnTo>
                <a:lnTo>
                  <a:pt x="157480" y="25400"/>
                </a:lnTo>
                <a:close/>
              </a:path>
              <a:path w="247650" h="332740">
                <a:moveTo>
                  <a:pt x="158432" y="25400"/>
                </a:moveTo>
                <a:lnTo>
                  <a:pt x="157480" y="25400"/>
                </a:lnTo>
                <a:lnTo>
                  <a:pt x="156896" y="26086"/>
                </a:lnTo>
                <a:lnTo>
                  <a:pt x="158471" y="25503"/>
                </a:lnTo>
                <a:close/>
              </a:path>
              <a:path w="247650" h="332740">
                <a:moveTo>
                  <a:pt x="156533" y="19165"/>
                </a:moveTo>
                <a:lnTo>
                  <a:pt x="157099" y="21589"/>
                </a:lnTo>
                <a:lnTo>
                  <a:pt x="157480" y="22860"/>
                </a:lnTo>
                <a:lnTo>
                  <a:pt x="158471" y="25503"/>
                </a:lnTo>
                <a:lnTo>
                  <a:pt x="158750" y="25400"/>
                </a:lnTo>
                <a:lnTo>
                  <a:pt x="161290" y="24129"/>
                </a:lnTo>
                <a:lnTo>
                  <a:pt x="165608" y="22860"/>
                </a:lnTo>
                <a:lnTo>
                  <a:pt x="164465" y="22860"/>
                </a:lnTo>
                <a:lnTo>
                  <a:pt x="167533" y="21870"/>
                </a:lnTo>
                <a:lnTo>
                  <a:pt x="166497" y="21589"/>
                </a:lnTo>
                <a:lnTo>
                  <a:pt x="158115" y="21589"/>
                </a:lnTo>
                <a:lnTo>
                  <a:pt x="157121" y="20146"/>
                </a:lnTo>
                <a:lnTo>
                  <a:pt x="156533" y="19165"/>
                </a:lnTo>
                <a:close/>
              </a:path>
              <a:path w="247650" h="332740">
                <a:moveTo>
                  <a:pt x="173188" y="24685"/>
                </a:moveTo>
                <a:lnTo>
                  <a:pt x="174117" y="25400"/>
                </a:lnTo>
                <a:lnTo>
                  <a:pt x="174032" y="24976"/>
                </a:lnTo>
                <a:lnTo>
                  <a:pt x="173188" y="24685"/>
                </a:lnTo>
                <a:close/>
              </a:path>
              <a:path w="247650" h="332740">
                <a:moveTo>
                  <a:pt x="174002" y="24828"/>
                </a:moveTo>
                <a:lnTo>
                  <a:pt x="174032" y="24976"/>
                </a:lnTo>
                <a:lnTo>
                  <a:pt x="175260" y="25400"/>
                </a:lnTo>
                <a:lnTo>
                  <a:pt x="174002" y="24828"/>
                </a:lnTo>
                <a:close/>
              </a:path>
              <a:path w="247650" h="332740">
                <a:moveTo>
                  <a:pt x="172466" y="24129"/>
                </a:moveTo>
                <a:lnTo>
                  <a:pt x="173188" y="24685"/>
                </a:lnTo>
                <a:lnTo>
                  <a:pt x="174032" y="24976"/>
                </a:lnTo>
                <a:lnTo>
                  <a:pt x="174002" y="24828"/>
                </a:lnTo>
                <a:lnTo>
                  <a:pt x="172466" y="24129"/>
                </a:lnTo>
                <a:close/>
              </a:path>
              <a:path w="247650" h="332740">
                <a:moveTo>
                  <a:pt x="173862" y="24129"/>
                </a:moveTo>
                <a:lnTo>
                  <a:pt x="172466" y="24129"/>
                </a:lnTo>
                <a:lnTo>
                  <a:pt x="174002" y="24828"/>
                </a:lnTo>
                <a:lnTo>
                  <a:pt x="173862" y="24129"/>
                </a:lnTo>
                <a:close/>
              </a:path>
              <a:path w="247650" h="332740">
                <a:moveTo>
                  <a:pt x="169853" y="22497"/>
                </a:moveTo>
                <a:lnTo>
                  <a:pt x="170687" y="22860"/>
                </a:lnTo>
                <a:lnTo>
                  <a:pt x="171577" y="24129"/>
                </a:lnTo>
                <a:lnTo>
                  <a:pt x="173188" y="24685"/>
                </a:lnTo>
                <a:lnTo>
                  <a:pt x="172466" y="24129"/>
                </a:lnTo>
                <a:lnTo>
                  <a:pt x="173862" y="24129"/>
                </a:lnTo>
                <a:lnTo>
                  <a:pt x="173685" y="22860"/>
                </a:lnTo>
                <a:lnTo>
                  <a:pt x="171196" y="22860"/>
                </a:lnTo>
                <a:lnTo>
                  <a:pt x="169853" y="22497"/>
                </a:lnTo>
                <a:close/>
              </a:path>
              <a:path w="247650" h="332740">
                <a:moveTo>
                  <a:pt x="169037" y="7619"/>
                </a:moveTo>
                <a:lnTo>
                  <a:pt x="148462" y="7619"/>
                </a:lnTo>
                <a:lnTo>
                  <a:pt x="146431" y="8889"/>
                </a:lnTo>
                <a:lnTo>
                  <a:pt x="144525" y="10160"/>
                </a:lnTo>
                <a:lnTo>
                  <a:pt x="141605" y="12700"/>
                </a:lnTo>
                <a:lnTo>
                  <a:pt x="140970" y="12700"/>
                </a:lnTo>
                <a:lnTo>
                  <a:pt x="136398" y="16510"/>
                </a:lnTo>
                <a:lnTo>
                  <a:pt x="135509" y="22860"/>
                </a:lnTo>
                <a:lnTo>
                  <a:pt x="136942" y="24452"/>
                </a:lnTo>
                <a:lnTo>
                  <a:pt x="139065" y="22860"/>
                </a:lnTo>
                <a:lnTo>
                  <a:pt x="138811" y="22860"/>
                </a:lnTo>
                <a:lnTo>
                  <a:pt x="141097" y="21589"/>
                </a:lnTo>
                <a:lnTo>
                  <a:pt x="143764" y="21589"/>
                </a:lnTo>
                <a:lnTo>
                  <a:pt x="145923" y="20319"/>
                </a:lnTo>
                <a:lnTo>
                  <a:pt x="156802" y="20319"/>
                </a:lnTo>
                <a:lnTo>
                  <a:pt x="156533" y="19165"/>
                </a:lnTo>
                <a:lnTo>
                  <a:pt x="155956" y="19050"/>
                </a:lnTo>
                <a:lnTo>
                  <a:pt x="155194" y="17779"/>
                </a:lnTo>
                <a:lnTo>
                  <a:pt x="172847" y="17779"/>
                </a:lnTo>
                <a:lnTo>
                  <a:pt x="172466" y="13969"/>
                </a:lnTo>
                <a:lnTo>
                  <a:pt x="172085" y="12700"/>
                </a:lnTo>
                <a:lnTo>
                  <a:pt x="141224" y="12700"/>
                </a:lnTo>
                <a:lnTo>
                  <a:pt x="142367" y="11429"/>
                </a:lnTo>
                <a:lnTo>
                  <a:pt x="171704" y="11429"/>
                </a:lnTo>
                <a:lnTo>
                  <a:pt x="171069" y="10160"/>
                </a:lnTo>
                <a:lnTo>
                  <a:pt x="170561" y="8889"/>
                </a:lnTo>
                <a:lnTo>
                  <a:pt x="169925" y="8889"/>
                </a:lnTo>
                <a:lnTo>
                  <a:pt x="169037" y="7619"/>
                </a:lnTo>
                <a:close/>
              </a:path>
              <a:path w="247650" h="332740">
                <a:moveTo>
                  <a:pt x="141097" y="21589"/>
                </a:moveTo>
                <a:lnTo>
                  <a:pt x="138811" y="22860"/>
                </a:lnTo>
                <a:lnTo>
                  <a:pt x="139628" y="22639"/>
                </a:lnTo>
                <a:lnTo>
                  <a:pt x="141097" y="21589"/>
                </a:lnTo>
                <a:close/>
              </a:path>
              <a:path w="247650" h="332740">
                <a:moveTo>
                  <a:pt x="139628" y="22639"/>
                </a:moveTo>
                <a:lnTo>
                  <a:pt x="138811" y="22860"/>
                </a:lnTo>
                <a:lnTo>
                  <a:pt x="139319" y="22860"/>
                </a:lnTo>
                <a:lnTo>
                  <a:pt x="139628" y="22639"/>
                </a:lnTo>
                <a:close/>
              </a:path>
              <a:path w="247650" h="332740">
                <a:moveTo>
                  <a:pt x="168062" y="21699"/>
                </a:moveTo>
                <a:lnTo>
                  <a:pt x="169853" y="22497"/>
                </a:lnTo>
                <a:lnTo>
                  <a:pt x="171196" y="22860"/>
                </a:lnTo>
                <a:lnTo>
                  <a:pt x="168062" y="21699"/>
                </a:lnTo>
                <a:close/>
              </a:path>
              <a:path w="247650" h="332740">
                <a:moveTo>
                  <a:pt x="156616" y="18592"/>
                </a:moveTo>
                <a:lnTo>
                  <a:pt x="156739" y="18838"/>
                </a:lnTo>
                <a:lnTo>
                  <a:pt x="156972" y="19050"/>
                </a:lnTo>
                <a:lnTo>
                  <a:pt x="158115" y="21589"/>
                </a:lnTo>
                <a:lnTo>
                  <a:pt x="168402" y="21589"/>
                </a:lnTo>
                <a:lnTo>
                  <a:pt x="168062" y="21699"/>
                </a:lnTo>
                <a:lnTo>
                  <a:pt x="171196" y="22860"/>
                </a:lnTo>
                <a:lnTo>
                  <a:pt x="173685" y="22860"/>
                </a:lnTo>
                <a:lnTo>
                  <a:pt x="173329" y="20319"/>
                </a:lnTo>
                <a:lnTo>
                  <a:pt x="159004" y="20319"/>
                </a:lnTo>
                <a:lnTo>
                  <a:pt x="159334" y="20146"/>
                </a:lnTo>
                <a:lnTo>
                  <a:pt x="156616" y="18592"/>
                </a:lnTo>
                <a:close/>
              </a:path>
              <a:path w="247650" h="332740">
                <a:moveTo>
                  <a:pt x="143510" y="21589"/>
                </a:moveTo>
                <a:lnTo>
                  <a:pt x="141097" y="21589"/>
                </a:lnTo>
                <a:lnTo>
                  <a:pt x="139628" y="22639"/>
                </a:lnTo>
                <a:lnTo>
                  <a:pt x="143510" y="21589"/>
                </a:lnTo>
                <a:close/>
              </a:path>
              <a:path w="247650" h="332740">
                <a:moveTo>
                  <a:pt x="168037" y="21707"/>
                </a:moveTo>
                <a:lnTo>
                  <a:pt x="167533" y="21870"/>
                </a:lnTo>
                <a:lnTo>
                  <a:pt x="169853" y="22497"/>
                </a:lnTo>
                <a:lnTo>
                  <a:pt x="168037" y="21707"/>
                </a:lnTo>
                <a:close/>
              </a:path>
              <a:path w="247650" h="332740">
                <a:moveTo>
                  <a:pt x="167767" y="21589"/>
                </a:moveTo>
                <a:lnTo>
                  <a:pt x="166497" y="21589"/>
                </a:lnTo>
                <a:lnTo>
                  <a:pt x="167533" y="21870"/>
                </a:lnTo>
                <a:lnTo>
                  <a:pt x="168037" y="21707"/>
                </a:lnTo>
                <a:lnTo>
                  <a:pt x="167767" y="21589"/>
                </a:lnTo>
                <a:close/>
              </a:path>
              <a:path w="247650" h="332740">
                <a:moveTo>
                  <a:pt x="167767" y="21589"/>
                </a:moveTo>
                <a:lnTo>
                  <a:pt x="168037" y="21707"/>
                </a:lnTo>
                <a:lnTo>
                  <a:pt x="167767" y="21589"/>
                </a:lnTo>
                <a:close/>
              </a:path>
              <a:path w="247650" h="332740">
                <a:moveTo>
                  <a:pt x="168402" y="21589"/>
                </a:moveTo>
                <a:lnTo>
                  <a:pt x="167767" y="21589"/>
                </a:lnTo>
                <a:lnTo>
                  <a:pt x="168062" y="21699"/>
                </a:lnTo>
                <a:lnTo>
                  <a:pt x="168402" y="21589"/>
                </a:lnTo>
                <a:close/>
              </a:path>
              <a:path w="247650" h="332740">
                <a:moveTo>
                  <a:pt x="145923" y="20319"/>
                </a:moveTo>
                <a:lnTo>
                  <a:pt x="143764" y="21589"/>
                </a:lnTo>
                <a:lnTo>
                  <a:pt x="144399" y="21589"/>
                </a:lnTo>
                <a:lnTo>
                  <a:pt x="145923" y="20319"/>
                </a:lnTo>
                <a:close/>
              </a:path>
              <a:path w="247650" h="332740">
                <a:moveTo>
                  <a:pt x="148717" y="20319"/>
                </a:moveTo>
                <a:lnTo>
                  <a:pt x="145923" y="20319"/>
                </a:lnTo>
                <a:lnTo>
                  <a:pt x="144399" y="21589"/>
                </a:lnTo>
                <a:lnTo>
                  <a:pt x="148717" y="20319"/>
                </a:lnTo>
                <a:close/>
              </a:path>
              <a:path w="247650" h="332740">
                <a:moveTo>
                  <a:pt x="156380" y="18512"/>
                </a:moveTo>
                <a:lnTo>
                  <a:pt x="156533" y="19165"/>
                </a:lnTo>
                <a:lnTo>
                  <a:pt x="157225" y="20319"/>
                </a:lnTo>
                <a:lnTo>
                  <a:pt x="158115" y="21589"/>
                </a:lnTo>
                <a:lnTo>
                  <a:pt x="156739" y="18838"/>
                </a:lnTo>
                <a:lnTo>
                  <a:pt x="156380" y="18512"/>
                </a:lnTo>
                <a:close/>
              </a:path>
              <a:path w="247650" h="332740">
                <a:moveTo>
                  <a:pt x="159334" y="20146"/>
                </a:moveTo>
                <a:lnTo>
                  <a:pt x="159004" y="20319"/>
                </a:lnTo>
                <a:lnTo>
                  <a:pt x="159639" y="20319"/>
                </a:lnTo>
                <a:lnTo>
                  <a:pt x="159334" y="20146"/>
                </a:lnTo>
                <a:close/>
              </a:path>
              <a:path w="247650" h="332740">
                <a:moveTo>
                  <a:pt x="161417" y="19050"/>
                </a:moveTo>
                <a:lnTo>
                  <a:pt x="159334" y="20146"/>
                </a:lnTo>
                <a:lnTo>
                  <a:pt x="159639" y="20319"/>
                </a:lnTo>
                <a:lnTo>
                  <a:pt x="160400" y="20319"/>
                </a:lnTo>
                <a:lnTo>
                  <a:pt x="161417" y="19050"/>
                </a:lnTo>
                <a:close/>
              </a:path>
              <a:path w="247650" h="332740">
                <a:moveTo>
                  <a:pt x="172974" y="17779"/>
                </a:moveTo>
                <a:lnTo>
                  <a:pt x="172974" y="19050"/>
                </a:lnTo>
                <a:lnTo>
                  <a:pt x="161417" y="19050"/>
                </a:lnTo>
                <a:lnTo>
                  <a:pt x="160400" y="20319"/>
                </a:lnTo>
                <a:lnTo>
                  <a:pt x="173329" y="20319"/>
                </a:lnTo>
                <a:lnTo>
                  <a:pt x="172974" y="17779"/>
                </a:lnTo>
                <a:close/>
              </a:path>
              <a:path w="247650" h="332740">
                <a:moveTo>
                  <a:pt x="172847" y="17779"/>
                </a:moveTo>
                <a:lnTo>
                  <a:pt x="156210" y="17779"/>
                </a:lnTo>
                <a:lnTo>
                  <a:pt x="156616" y="18592"/>
                </a:lnTo>
                <a:lnTo>
                  <a:pt x="159334" y="20146"/>
                </a:lnTo>
                <a:lnTo>
                  <a:pt x="161417" y="19050"/>
                </a:lnTo>
                <a:lnTo>
                  <a:pt x="172974" y="19050"/>
                </a:lnTo>
                <a:lnTo>
                  <a:pt x="172847" y="17779"/>
                </a:lnTo>
                <a:close/>
              </a:path>
              <a:path w="247650" h="332740">
                <a:moveTo>
                  <a:pt x="155773" y="18111"/>
                </a:moveTo>
                <a:lnTo>
                  <a:pt x="156337" y="19050"/>
                </a:lnTo>
                <a:lnTo>
                  <a:pt x="156464" y="19050"/>
                </a:lnTo>
                <a:lnTo>
                  <a:pt x="156380" y="18512"/>
                </a:lnTo>
                <a:lnTo>
                  <a:pt x="156219" y="18366"/>
                </a:lnTo>
                <a:lnTo>
                  <a:pt x="155773" y="18111"/>
                </a:lnTo>
                <a:close/>
              </a:path>
              <a:path w="247650" h="332740">
                <a:moveTo>
                  <a:pt x="111505" y="18415"/>
                </a:moveTo>
                <a:lnTo>
                  <a:pt x="110617" y="19050"/>
                </a:lnTo>
                <a:lnTo>
                  <a:pt x="111505" y="18415"/>
                </a:lnTo>
                <a:close/>
              </a:path>
              <a:path w="247650" h="332740">
                <a:moveTo>
                  <a:pt x="112395" y="17779"/>
                </a:moveTo>
                <a:lnTo>
                  <a:pt x="111292" y="18592"/>
                </a:lnTo>
                <a:lnTo>
                  <a:pt x="110743" y="19050"/>
                </a:lnTo>
                <a:lnTo>
                  <a:pt x="112395" y="17779"/>
                </a:lnTo>
                <a:close/>
              </a:path>
              <a:path w="247650" h="332740">
                <a:moveTo>
                  <a:pt x="155194" y="17779"/>
                </a:moveTo>
                <a:lnTo>
                  <a:pt x="155956" y="19050"/>
                </a:lnTo>
                <a:lnTo>
                  <a:pt x="156337" y="19050"/>
                </a:lnTo>
                <a:lnTo>
                  <a:pt x="155773" y="18111"/>
                </a:lnTo>
                <a:lnTo>
                  <a:pt x="155194" y="17779"/>
                </a:lnTo>
                <a:close/>
              </a:path>
              <a:path w="247650" h="332740">
                <a:moveTo>
                  <a:pt x="156739" y="18838"/>
                </a:moveTo>
                <a:lnTo>
                  <a:pt x="156845" y="19050"/>
                </a:lnTo>
                <a:lnTo>
                  <a:pt x="156739" y="18838"/>
                </a:lnTo>
                <a:close/>
              </a:path>
              <a:path w="247650" h="332740">
                <a:moveTo>
                  <a:pt x="190881" y="8889"/>
                </a:moveTo>
                <a:lnTo>
                  <a:pt x="170561" y="8889"/>
                </a:lnTo>
                <a:lnTo>
                  <a:pt x="171069" y="10160"/>
                </a:lnTo>
                <a:lnTo>
                  <a:pt x="171704" y="11429"/>
                </a:lnTo>
                <a:lnTo>
                  <a:pt x="172466" y="13969"/>
                </a:lnTo>
                <a:lnTo>
                  <a:pt x="172974" y="19050"/>
                </a:lnTo>
                <a:lnTo>
                  <a:pt x="172974" y="17779"/>
                </a:lnTo>
                <a:lnTo>
                  <a:pt x="202311" y="17779"/>
                </a:lnTo>
                <a:lnTo>
                  <a:pt x="199136" y="15239"/>
                </a:lnTo>
                <a:lnTo>
                  <a:pt x="199644" y="15239"/>
                </a:lnTo>
                <a:lnTo>
                  <a:pt x="193040" y="10160"/>
                </a:lnTo>
                <a:lnTo>
                  <a:pt x="190881" y="8889"/>
                </a:lnTo>
                <a:close/>
              </a:path>
              <a:path w="247650" h="332740">
                <a:moveTo>
                  <a:pt x="156366" y="18449"/>
                </a:moveTo>
                <a:lnTo>
                  <a:pt x="156469" y="18592"/>
                </a:lnTo>
                <a:lnTo>
                  <a:pt x="156739" y="18838"/>
                </a:lnTo>
                <a:lnTo>
                  <a:pt x="156616" y="18592"/>
                </a:lnTo>
                <a:lnTo>
                  <a:pt x="156366" y="18449"/>
                </a:lnTo>
                <a:close/>
              </a:path>
              <a:path w="247650" h="332740">
                <a:moveTo>
                  <a:pt x="156210" y="17779"/>
                </a:moveTo>
                <a:lnTo>
                  <a:pt x="156358" y="18415"/>
                </a:lnTo>
                <a:lnTo>
                  <a:pt x="156616" y="18592"/>
                </a:lnTo>
                <a:lnTo>
                  <a:pt x="156210" y="17779"/>
                </a:lnTo>
                <a:close/>
              </a:path>
              <a:path w="247650" h="332740">
                <a:moveTo>
                  <a:pt x="156219" y="18366"/>
                </a:moveTo>
                <a:lnTo>
                  <a:pt x="156380" y="18512"/>
                </a:lnTo>
                <a:lnTo>
                  <a:pt x="156219" y="18366"/>
                </a:lnTo>
                <a:close/>
              </a:path>
              <a:path w="247650" h="332740">
                <a:moveTo>
                  <a:pt x="156210" y="17779"/>
                </a:moveTo>
                <a:lnTo>
                  <a:pt x="155575" y="17779"/>
                </a:lnTo>
                <a:lnTo>
                  <a:pt x="156219" y="18366"/>
                </a:lnTo>
                <a:lnTo>
                  <a:pt x="156366" y="18449"/>
                </a:lnTo>
                <a:lnTo>
                  <a:pt x="156210" y="17779"/>
                </a:lnTo>
                <a:close/>
              </a:path>
              <a:path w="247650" h="332740">
                <a:moveTo>
                  <a:pt x="142367" y="11429"/>
                </a:moveTo>
                <a:lnTo>
                  <a:pt x="121158" y="11429"/>
                </a:lnTo>
                <a:lnTo>
                  <a:pt x="116459" y="13969"/>
                </a:lnTo>
                <a:lnTo>
                  <a:pt x="116840" y="13969"/>
                </a:lnTo>
                <a:lnTo>
                  <a:pt x="111505" y="18415"/>
                </a:lnTo>
                <a:lnTo>
                  <a:pt x="112395" y="17779"/>
                </a:lnTo>
                <a:lnTo>
                  <a:pt x="136220" y="17779"/>
                </a:lnTo>
                <a:lnTo>
                  <a:pt x="136398" y="16510"/>
                </a:lnTo>
                <a:lnTo>
                  <a:pt x="140970" y="12700"/>
                </a:lnTo>
                <a:lnTo>
                  <a:pt x="142367" y="11429"/>
                </a:lnTo>
                <a:close/>
              </a:path>
              <a:path w="247650" h="332740">
                <a:moveTo>
                  <a:pt x="155575" y="17779"/>
                </a:moveTo>
                <a:lnTo>
                  <a:pt x="155773" y="18111"/>
                </a:lnTo>
                <a:lnTo>
                  <a:pt x="156219" y="18366"/>
                </a:lnTo>
                <a:lnTo>
                  <a:pt x="155575" y="17779"/>
                </a:lnTo>
                <a:close/>
              </a:path>
              <a:path w="247650" h="332740">
                <a:moveTo>
                  <a:pt x="155575" y="17779"/>
                </a:moveTo>
                <a:lnTo>
                  <a:pt x="155194" y="17779"/>
                </a:lnTo>
                <a:lnTo>
                  <a:pt x="155773" y="18111"/>
                </a:lnTo>
                <a:lnTo>
                  <a:pt x="155575" y="17779"/>
                </a:lnTo>
                <a:close/>
              </a:path>
              <a:path w="247650" h="332740">
                <a:moveTo>
                  <a:pt x="146905" y="8297"/>
                </a:moveTo>
                <a:lnTo>
                  <a:pt x="145542" y="8889"/>
                </a:lnTo>
                <a:lnTo>
                  <a:pt x="122809" y="8889"/>
                </a:lnTo>
                <a:lnTo>
                  <a:pt x="121031" y="11429"/>
                </a:lnTo>
                <a:lnTo>
                  <a:pt x="142367" y="11429"/>
                </a:lnTo>
                <a:lnTo>
                  <a:pt x="141224" y="12700"/>
                </a:lnTo>
                <a:lnTo>
                  <a:pt x="141605" y="12700"/>
                </a:lnTo>
                <a:lnTo>
                  <a:pt x="144525" y="10160"/>
                </a:lnTo>
                <a:lnTo>
                  <a:pt x="146431" y="8889"/>
                </a:lnTo>
                <a:lnTo>
                  <a:pt x="146905" y="8297"/>
                </a:lnTo>
                <a:close/>
              </a:path>
              <a:path w="247650" h="332740">
                <a:moveTo>
                  <a:pt x="155575" y="2539"/>
                </a:moveTo>
                <a:lnTo>
                  <a:pt x="137668" y="2539"/>
                </a:lnTo>
                <a:lnTo>
                  <a:pt x="132969" y="3810"/>
                </a:lnTo>
                <a:lnTo>
                  <a:pt x="130937" y="5079"/>
                </a:lnTo>
                <a:lnTo>
                  <a:pt x="129031" y="6350"/>
                </a:lnTo>
                <a:lnTo>
                  <a:pt x="129159" y="6350"/>
                </a:lnTo>
                <a:lnTo>
                  <a:pt x="124079" y="8889"/>
                </a:lnTo>
                <a:lnTo>
                  <a:pt x="145542" y="8889"/>
                </a:lnTo>
                <a:lnTo>
                  <a:pt x="146905" y="8297"/>
                </a:lnTo>
                <a:lnTo>
                  <a:pt x="147447" y="7619"/>
                </a:lnTo>
                <a:lnTo>
                  <a:pt x="151256" y="5079"/>
                </a:lnTo>
                <a:lnTo>
                  <a:pt x="155575" y="2539"/>
                </a:lnTo>
                <a:close/>
              </a:path>
              <a:path w="247650" h="332740">
                <a:moveTo>
                  <a:pt x="148462" y="7619"/>
                </a:moveTo>
                <a:lnTo>
                  <a:pt x="146905" y="8297"/>
                </a:lnTo>
                <a:lnTo>
                  <a:pt x="146431" y="8889"/>
                </a:lnTo>
                <a:lnTo>
                  <a:pt x="148462" y="7619"/>
                </a:lnTo>
                <a:close/>
              </a:path>
              <a:path w="247650" h="332740">
                <a:moveTo>
                  <a:pt x="178054" y="1269"/>
                </a:moveTo>
                <a:lnTo>
                  <a:pt x="163449" y="1269"/>
                </a:lnTo>
                <a:lnTo>
                  <a:pt x="165354" y="2539"/>
                </a:lnTo>
                <a:lnTo>
                  <a:pt x="166750" y="3810"/>
                </a:lnTo>
                <a:lnTo>
                  <a:pt x="167259" y="5079"/>
                </a:lnTo>
                <a:lnTo>
                  <a:pt x="168402" y="6350"/>
                </a:lnTo>
                <a:lnTo>
                  <a:pt x="169037" y="7619"/>
                </a:lnTo>
                <a:lnTo>
                  <a:pt x="169925" y="8889"/>
                </a:lnTo>
                <a:lnTo>
                  <a:pt x="191516" y="8889"/>
                </a:lnTo>
                <a:lnTo>
                  <a:pt x="186436" y="5079"/>
                </a:lnTo>
                <a:lnTo>
                  <a:pt x="183642" y="3810"/>
                </a:lnTo>
                <a:lnTo>
                  <a:pt x="180086" y="2539"/>
                </a:lnTo>
                <a:lnTo>
                  <a:pt x="180848" y="2539"/>
                </a:lnTo>
                <a:lnTo>
                  <a:pt x="178054" y="1269"/>
                </a:lnTo>
                <a:close/>
              </a:path>
              <a:path w="247650" h="332740">
                <a:moveTo>
                  <a:pt x="174625" y="0"/>
                </a:moveTo>
                <a:lnTo>
                  <a:pt x="160400" y="0"/>
                </a:lnTo>
                <a:lnTo>
                  <a:pt x="157734" y="1269"/>
                </a:lnTo>
                <a:lnTo>
                  <a:pt x="155956" y="2539"/>
                </a:lnTo>
                <a:lnTo>
                  <a:pt x="155575" y="2539"/>
                </a:lnTo>
                <a:lnTo>
                  <a:pt x="151256" y="5079"/>
                </a:lnTo>
                <a:lnTo>
                  <a:pt x="147447" y="7619"/>
                </a:lnTo>
                <a:lnTo>
                  <a:pt x="146905" y="8297"/>
                </a:lnTo>
                <a:lnTo>
                  <a:pt x="148462" y="7619"/>
                </a:lnTo>
                <a:lnTo>
                  <a:pt x="169037" y="7619"/>
                </a:lnTo>
                <a:lnTo>
                  <a:pt x="168529" y="6350"/>
                </a:lnTo>
                <a:lnTo>
                  <a:pt x="167259" y="5079"/>
                </a:lnTo>
                <a:lnTo>
                  <a:pt x="166750" y="3810"/>
                </a:lnTo>
                <a:lnTo>
                  <a:pt x="165354" y="2539"/>
                </a:lnTo>
                <a:lnTo>
                  <a:pt x="163449" y="1269"/>
                </a:lnTo>
                <a:lnTo>
                  <a:pt x="178054" y="1269"/>
                </a:lnTo>
                <a:lnTo>
                  <a:pt x="174625" y="0"/>
                </a:lnTo>
                <a:close/>
              </a:path>
              <a:path w="247650" h="332740">
                <a:moveTo>
                  <a:pt x="157734" y="1269"/>
                </a:moveTo>
                <a:lnTo>
                  <a:pt x="139700" y="1269"/>
                </a:lnTo>
                <a:lnTo>
                  <a:pt x="137541" y="2539"/>
                </a:lnTo>
                <a:lnTo>
                  <a:pt x="155956" y="2539"/>
                </a:lnTo>
                <a:lnTo>
                  <a:pt x="157734" y="1269"/>
                </a:lnTo>
                <a:close/>
              </a:path>
            </a:pathLst>
          </a:custGeom>
          <a:solidFill>
            <a:srgbClr val="C00000"/>
          </a:solidFill>
        </p:spPr>
        <p:txBody>
          <a:bodyPr wrap="square" lIns="0" tIns="0" rIns="0" bIns="0" rtlCol="0"/>
          <a:lstStyle/>
          <a:p>
            <a:endParaRPr b="1"/>
          </a:p>
        </p:txBody>
      </p:sp>
      <p:grpSp>
        <p:nvGrpSpPr>
          <p:cNvPr id="24" name="Group 23">
            <a:extLst>
              <a:ext uri="{FF2B5EF4-FFF2-40B4-BE49-F238E27FC236}">
                <a16:creationId xmlns:a16="http://schemas.microsoft.com/office/drawing/2014/main" id="{D629D93F-C12E-DBC3-FA6D-0013DCEFD6E9}"/>
              </a:ext>
            </a:extLst>
          </p:cNvPr>
          <p:cNvGrpSpPr/>
          <p:nvPr/>
        </p:nvGrpSpPr>
        <p:grpSpPr>
          <a:xfrm>
            <a:off x="5410201" y="357951"/>
            <a:ext cx="3361392" cy="2000271"/>
            <a:chOff x="5833364" y="180975"/>
            <a:chExt cx="2843913" cy="2000271"/>
          </a:xfrm>
        </p:grpSpPr>
        <p:sp>
          <p:nvSpPr>
            <p:cNvPr id="10" name="object 10"/>
            <p:cNvSpPr/>
            <p:nvPr/>
          </p:nvSpPr>
          <p:spPr>
            <a:xfrm>
              <a:off x="6267452" y="180975"/>
              <a:ext cx="2409825" cy="1907539"/>
            </a:xfrm>
            <a:custGeom>
              <a:avLst/>
              <a:gdLst/>
              <a:ahLst/>
              <a:cxnLst/>
              <a:rect l="l" t="t" r="r" b="b"/>
              <a:pathLst>
                <a:path w="2409825" h="1907539">
                  <a:moveTo>
                    <a:pt x="2409571" y="1704975"/>
                  </a:moveTo>
                  <a:lnTo>
                    <a:pt x="2386711" y="1685925"/>
                  </a:lnTo>
                  <a:lnTo>
                    <a:pt x="2277745" y="1595120"/>
                  </a:lnTo>
                  <a:lnTo>
                    <a:pt x="2271064" y="1591525"/>
                  </a:lnTo>
                  <a:lnTo>
                    <a:pt x="2246579" y="1611464"/>
                  </a:lnTo>
                  <a:lnTo>
                    <a:pt x="2248598" y="1618449"/>
                  </a:lnTo>
                  <a:lnTo>
                    <a:pt x="2253361" y="1624330"/>
                  </a:lnTo>
                  <a:lnTo>
                    <a:pt x="2327275" y="1685925"/>
                  </a:lnTo>
                  <a:lnTo>
                    <a:pt x="209550" y="1685925"/>
                  </a:lnTo>
                  <a:lnTo>
                    <a:pt x="209550" y="82296"/>
                  </a:lnTo>
                  <a:lnTo>
                    <a:pt x="271145" y="156210"/>
                  </a:lnTo>
                  <a:lnTo>
                    <a:pt x="277025" y="160972"/>
                  </a:lnTo>
                  <a:lnTo>
                    <a:pt x="284010" y="162991"/>
                  </a:lnTo>
                  <a:lnTo>
                    <a:pt x="291261" y="162229"/>
                  </a:lnTo>
                  <a:lnTo>
                    <a:pt x="297942" y="158623"/>
                  </a:lnTo>
                  <a:lnTo>
                    <a:pt x="302691" y="152742"/>
                  </a:lnTo>
                  <a:lnTo>
                    <a:pt x="304711" y="145757"/>
                  </a:lnTo>
                  <a:lnTo>
                    <a:pt x="303949" y="138506"/>
                  </a:lnTo>
                  <a:lnTo>
                    <a:pt x="300355" y="131826"/>
                  </a:lnTo>
                  <a:lnTo>
                    <a:pt x="215265" y="29718"/>
                  </a:lnTo>
                  <a:lnTo>
                    <a:pt x="190500" y="0"/>
                  </a:lnTo>
                  <a:lnTo>
                    <a:pt x="80645" y="131826"/>
                  </a:lnTo>
                  <a:lnTo>
                    <a:pt x="77038" y="138506"/>
                  </a:lnTo>
                  <a:lnTo>
                    <a:pt x="76276" y="145757"/>
                  </a:lnTo>
                  <a:lnTo>
                    <a:pt x="78295" y="152742"/>
                  </a:lnTo>
                  <a:lnTo>
                    <a:pt x="83058" y="158623"/>
                  </a:lnTo>
                  <a:lnTo>
                    <a:pt x="89725" y="162229"/>
                  </a:lnTo>
                  <a:lnTo>
                    <a:pt x="96977" y="162991"/>
                  </a:lnTo>
                  <a:lnTo>
                    <a:pt x="103962" y="160972"/>
                  </a:lnTo>
                  <a:lnTo>
                    <a:pt x="109855" y="156210"/>
                  </a:lnTo>
                  <a:lnTo>
                    <a:pt x="171450" y="82296"/>
                  </a:lnTo>
                  <a:lnTo>
                    <a:pt x="171450" y="1685925"/>
                  </a:lnTo>
                  <a:lnTo>
                    <a:pt x="0" y="1685925"/>
                  </a:lnTo>
                  <a:lnTo>
                    <a:pt x="0" y="1724025"/>
                  </a:lnTo>
                  <a:lnTo>
                    <a:pt x="171450" y="1724025"/>
                  </a:lnTo>
                  <a:lnTo>
                    <a:pt x="171450" y="1907159"/>
                  </a:lnTo>
                  <a:lnTo>
                    <a:pt x="209550" y="1907159"/>
                  </a:lnTo>
                  <a:lnTo>
                    <a:pt x="209550" y="1724025"/>
                  </a:lnTo>
                  <a:lnTo>
                    <a:pt x="2327275" y="1724025"/>
                  </a:lnTo>
                  <a:lnTo>
                    <a:pt x="2253361" y="1785620"/>
                  </a:lnTo>
                  <a:lnTo>
                    <a:pt x="2248598" y="1791512"/>
                  </a:lnTo>
                  <a:lnTo>
                    <a:pt x="2246579" y="1798497"/>
                  </a:lnTo>
                  <a:lnTo>
                    <a:pt x="2247341" y="1805749"/>
                  </a:lnTo>
                  <a:lnTo>
                    <a:pt x="2250948" y="1812417"/>
                  </a:lnTo>
                  <a:lnTo>
                    <a:pt x="2256828" y="1817179"/>
                  </a:lnTo>
                  <a:lnTo>
                    <a:pt x="2263813" y="1819198"/>
                  </a:lnTo>
                  <a:lnTo>
                    <a:pt x="2271064" y="1818436"/>
                  </a:lnTo>
                  <a:lnTo>
                    <a:pt x="2277745" y="1814830"/>
                  </a:lnTo>
                  <a:lnTo>
                    <a:pt x="2386711" y="1724025"/>
                  </a:lnTo>
                  <a:lnTo>
                    <a:pt x="2409571" y="1704975"/>
                  </a:lnTo>
                  <a:close/>
                </a:path>
              </a:pathLst>
            </a:custGeom>
            <a:solidFill>
              <a:srgbClr val="000000"/>
            </a:solidFill>
          </p:spPr>
          <p:txBody>
            <a:bodyPr wrap="square" lIns="0" tIns="0" rIns="0" bIns="0" rtlCol="0"/>
            <a:lstStyle/>
            <a:p>
              <a:endParaRPr/>
            </a:p>
          </p:txBody>
        </p:sp>
        <p:sp>
          <p:nvSpPr>
            <p:cNvPr id="11" name="object 11"/>
            <p:cNvSpPr txBox="1"/>
            <p:nvPr/>
          </p:nvSpPr>
          <p:spPr>
            <a:xfrm>
              <a:off x="7454646" y="1857439"/>
              <a:ext cx="215900" cy="323807"/>
            </a:xfrm>
            <a:prstGeom prst="rect">
              <a:avLst/>
            </a:prstGeom>
          </p:spPr>
          <p:txBody>
            <a:bodyPr vert="horz" wrap="square" lIns="0" tIns="15875" rIns="0" bIns="0" rtlCol="0">
              <a:spAutoFit/>
            </a:bodyPr>
            <a:lstStyle/>
            <a:p>
              <a:pPr marL="12700">
                <a:spcBef>
                  <a:spcPts val="125"/>
                </a:spcBef>
              </a:pPr>
              <a:r>
                <a:rPr sz="2000" spc="25" dirty="0">
                  <a:latin typeface="Cambria Math"/>
                  <a:cs typeface="Cambria Math"/>
                </a:rPr>
                <a:t>𝑤</a:t>
              </a:r>
              <a:endParaRPr sz="2000">
                <a:latin typeface="Cambria Math"/>
                <a:cs typeface="Cambria Math"/>
              </a:endParaRPr>
            </a:p>
          </p:txBody>
        </p:sp>
        <p:grpSp>
          <p:nvGrpSpPr>
            <p:cNvPr id="12" name="object 12"/>
            <p:cNvGrpSpPr/>
            <p:nvPr/>
          </p:nvGrpSpPr>
          <p:grpSpPr>
            <a:xfrm>
              <a:off x="6566103" y="476250"/>
              <a:ext cx="1987551" cy="1309371"/>
              <a:chOff x="6566103" y="476250"/>
              <a:chExt cx="1987550" cy="1309370"/>
            </a:xfrm>
          </p:grpSpPr>
          <p:sp>
            <p:nvSpPr>
              <p:cNvPr id="13" name="object 13"/>
              <p:cNvSpPr/>
              <p:nvPr/>
            </p:nvSpPr>
            <p:spPr>
              <a:xfrm>
                <a:off x="6585153" y="495300"/>
                <a:ext cx="1949450" cy="1240790"/>
              </a:xfrm>
              <a:custGeom>
                <a:avLst/>
                <a:gdLst/>
                <a:ahLst/>
                <a:cxnLst/>
                <a:rect l="l" t="t" r="r" b="b"/>
                <a:pathLst>
                  <a:path w="1949450" h="1240789">
                    <a:moveTo>
                      <a:pt x="6146" y="0"/>
                    </a:moveTo>
                    <a:lnTo>
                      <a:pt x="2074" y="46707"/>
                    </a:lnTo>
                    <a:lnTo>
                      <a:pt x="7" y="94930"/>
                    </a:lnTo>
                    <a:lnTo>
                      <a:pt x="0" y="144189"/>
                    </a:lnTo>
                    <a:lnTo>
                      <a:pt x="2104" y="194004"/>
                    </a:lnTo>
                    <a:lnTo>
                      <a:pt x="6373" y="243893"/>
                    </a:lnTo>
                    <a:lnTo>
                      <a:pt x="12861" y="293377"/>
                    </a:lnTo>
                    <a:lnTo>
                      <a:pt x="21621" y="341975"/>
                    </a:lnTo>
                    <a:lnTo>
                      <a:pt x="32705" y="389208"/>
                    </a:lnTo>
                    <a:lnTo>
                      <a:pt x="46168" y="434594"/>
                    </a:lnTo>
                    <a:lnTo>
                      <a:pt x="62062" y="477653"/>
                    </a:lnTo>
                    <a:lnTo>
                      <a:pt x="80441" y="517905"/>
                    </a:lnTo>
                    <a:lnTo>
                      <a:pt x="103542" y="566566"/>
                    </a:lnTo>
                    <a:lnTo>
                      <a:pt x="125562" y="612007"/>
                    </a:lnTo>
                    <a:lnTo>
                      <a:pt x="147581" y="654797"/>
                    </a:lnTo>
                    <a:lnTo>
                      <a:pt x="170683" y="695509"/>
                    </a:lnTo>
                    <a:lnTo>
                      <a:pt x="195948" y="734712"/>
                    </a:lnTo>
                    <a:lnTo>
                      <a:pt x="224459" y="772978"/>
                    </a:lnTo>
                    <a:lnTo>
                      <a:pt x="257297" y="810877"/>
                    </a:lnTo>
                    <a:lnTo>
                      <a:pt x="295544" y="848979"/>
                    </a:lnTo>
                    <a:lnTo>
                      <a:pt x="340283" y="887857"/>
                    </a:lnTo>
                    <a:lnTo>
                      <a:pt x="367682" y="923049"/>
                    </a:lnTo>
                    <a:lnTo>
                      <a:pt x="397948" y="960452"/>
                    </a:lnTo>
                    <a:lnTo>
                      <a:pt x="430806" y="999051"/>
                    </a:lnTo>
                    <a:lnTo>
                      <a:pt x="465984" y="1037834"/>
                    </a:lnTo>
                    <a:lnTo>
                      <a:pt x="503211" y="1075788"/>
                    </a:lnTo>
                    <a:lnTo>
                      <a:pt x="542213" y="1111900"/>
                    </a:lnTo>
                    <a:lnTo>
                      <a:pt x="582717" y="1145158"/>
                    </a:lnTo>
                    <a:lnTo>
                      <a:pt x="624452" y="1174547"/>
                    </a:lnTo>
                    <a:lnTo>
                      <a:pt x="667145" y="1199056"/>
                    </a:lnTo>
                    <a:lnTo>
                      <a:pt x="710523" y="1217671"/>
                    </a:lnTo>
                    <a:lnTo>
                      <a:pt x="754314" y="1229380"/>
                    </a:lnTo>
                    <a:lnTo>
                      <a:pt x="798245" y="1233170"/>
                    </a:lnTo>
                    <a:lnTo>
                      <a:pt x="838005" y="1238613"/>
                    </a:lnTo>
                    <a:lnTo>
                      <a:pt x="884123" y="1240789"/>
                    </a:lnTo>
                    <a:lnTo>
                      <a:pt x="935130" y="1239976"/>
                    </a:lnTo>
                    <a:lnTo>
                      <a:pt x="989556" y="1236452"/>
                    </a:lnTo>
                    <a:lnTo>
                      <a:pt x="1045931" y="1230496"/>
                    </a:lnTo>
                    <a:lnTo>
                      <a:pt x="1102786" y="1222385"/>
                    </a:lnTo>
                    <a:lnTo>
                      <a:pt x="1158651" y="1212399"/>
                    </a:lnTo>
                    <a:lnTo>
                      <a:pt x="1212057" y="1200814"/>
                    </a:lnTo>
                    <a:lnTo>
                      <a:pt x="1261533" y="1187910"/>
                    </a:lnTo>
                    <a:lnTo>
                      <a:pt x="1305611" y="1173964"/>
                    </a:lnTo>
                    <a:lnTo>
                      <a:pt x="1342821" y="1159255"/>
                    </a:lnTo>
                    <a:lnTo>
                      <a:pt x="1396243" y="1136175"/>
                    </a:lnTo>
                    <a:lnTo>
                      <a:pt x="1440610" y="1109313"/>
                    </a:lnTo>
                    <a:lnTo>
                      <a:pt x="1478094" y="1079212"/>
                    </a:lnTo>
                    <a:lnTo>
                      <a:pt x="1510869" y="1046414"/>
                    </a:lnTo>
                    <a:lnTo>
                      <a:pt x="1541107" y="1011462"/>
                    </a:lnTo>
                    <a:lnTo>
                      <a:pt x="1570981" y="974896"/>
                    </a:lnTo>
                    <a:lnTo>
                      <a:pt x="1602663" y="937260"/>
                    </a:lnTo>
                    <a:lnTo>
                      <a:pt x="1625647" y="900957"/>
                    </a:lnTo>
                    <a:lnTo>
                      <a:pt x="1652104" y="862818"/>
                    </a:lnTo>
                    <a:lnTo>
                      <a:pt x="1681031" y="822818"/>
                    </a:lnTo>
                    <a:lnTo>
                      <a:pt x="1711422" y="780938"/>
                    </a:lnTo>
                    <a:lnTo>
                      <a:pt x="1742273" y="737153"/>
                    </a:lnTo>
                    <a:lnTo>
                      <a:pt x="1772579" y="691444"/>
                    </a:lnTo>
                    <a:lnTo>
                      <a:pt x="1801336" y="643787"/>
                    </a:lnTo>
                    <a:lnTo>
                      <a:pt x="1827540" y="594161"/>
                    </a:lnTo>
                    <a:lnTo>
                      <a:pt x="1850186" y="542544"/>
                    </a:lnTo>
                    <a:lnTo>
                      <a:pt x="1864046" y="496417"/>
                    </a:lnTo>
                    <a:lnTo>
                      <a:pt x="1875472" y="451589"/>
                    </a:lnTo>
                    <a:lnTo>
                      <a:pt x="1884951" y="407488"/>
                    </a:lnTo>
                    <a:lnTo>
                      <a:pt x="1892972" y="363544"/>
                    </a:lnTo>
                    <a:lnTo>
                      <a:pt x="1900022" y="319185"/>
                    </a:lnTo>
                    <a:lnTo>
                      <a:pt x="1906588" y="273840"/>
                    </a:lnTo>
                    <a:lnTo>
                      <a:pt x="1913160" y="226936"/>
                    </a:lnTo>
                    <a:lnTo>
                      <a:pt x="1920223" y="177904"/>
                    </a:lnTo>
                    <a:lnTo>
                      <a:pt x="1928267" y="126171"/>
                    </a:lnTo>
                    <a:lnTo>
                      <a:pt x="1937778" y="71166"/>
                    </a:lnTo>
                    <a:lnTo>
                      <a:pt x="1949246" y="12319"/>
                    </a:lnTo>
                  </a:path>
                </a:pathLst>
              </a:custGeom>
              <a:ln w="38100">
                <a:solidFill>
                  <a:srgbClr val="4285F4"/>
                </a:solidFill>
              </a:ln>
            </p:spPr>
            <p:txBody>
              <a:bodyPr wrap="square" lIns="0" tIns="0" rIns="0" bIns="0" rtlCol="0"/>
              <a:lstStyle/>
              <a:p>
                <a:endParaRPr/>
              </a:p>
            </p:txBody>
          </p:sp>
          <p:pic>
            <p:nvPicPr>
              <p:cNvPr id="14" name="object 14"/>
              <p:cNvPicPr/>
              <p:nvPr/>
            </p:nvPicPr>
            <p:blipFill>
              <a:blip r:embed="rId3" cstate="print"/>
              <a:stretch>
                <a:fillRect/>
              </a:stretch>
            </p:blipFill>
            <p:spPr>
              <a:xfrm>
                <a:off x="6634722" y="962913"/>
                <a:ext cx="1106205" cy="822198"/>
              </a:xfrm>
              <a:prstGeom prst="rect">
                <a:avLst/>
              </a:prstGeom>
            </p:spPr>
          </p:pic>
        </p:grpSp>
        <p:sp>
          <p:nvSpPr>
            <p:cNvPr id="21" name="object 21"/>
            <p:cNvSpPr txBox="1"/>
            <p:nvPr/>
          </p:nvSpPr>
          <p:spPr>
            <a:xfrm>
              <a:off x="5833364" y="868682"/>
              <a:ext cx="533400" cy="324449"/>
            </a:xfrm>
            <a:prstGeom prst="rect">
              <a:avLst/>
            </a:prstGeom>
          </p:spPr>
          <p:txBody>
            <a:bodyPr vert="horz" wrap="square" lIns="0" tIns="16511" rIns="0" bIns="0" rtlCol="0">
              <a:spAutoFit/>
            </a:bodyPr>
            <a:lstStyle/>
            <a:p>
              <a:pPr marL="12700">
                <a:spcBef>
                  <a:spcPts val="131"/>
                </a:spcBef>
              </a:pPr>
              <a:r>
                <a:rPr sz="2000" spc="5" dirty="0">
                  <a:latin typeface="Cambria Math"/>
                  <a:cs typeface="Cambria Math"/>
                </a:rPr>
                <a:t>𝐽</a:t>
              </a:r>
              <a:r>
                <a:rPr sz="2000" spc="-11" dirty="0">
                  <a:latin typeface="Cambria Math"/>
                  <a:cs typeface="Cambria Math"/>
                </a:rPr>
                <a:t>(</a:t>
              </a:r>
              <a:r>
                <a:rPr sz="2000" spc="105" dirty="0">
                  <a:latin typeface="Cambria Math"/>
                  <a:cs typeface="Cambria Math"/>
                </a:rPr>
                <a:t>𝑤</a:t>
              </a:r>
              <a:r>
                <a:rPr sz="2000" spc="11" dirty="0">
                  <a:latin typeface="Cambria Math"/>
                  <a:cs typeface="Cambria Math"/>
                </a:rPr>
                <a:t>)</a:t>
              </a:r>
              <a:endParaRPr sz="2000">
                <a:latin typeface="Cambria Math"/>
                <a:cs typeface="Cambria Math"/>
              </a:endParaRPr>
            </a:p>
          </p:txBody>
        </p:sp>
        <p:sp>
          <p:nvSpPr>
            <p:cNvPr id="29" name="object 29"/>
            <p:cNvSpPr txBox="1"/>
            <p:nvPr/>
          </p:nvSpPr>
          <p:spPr>
            <a:xfrm>
              <a:off x="7303769" y="894018"/>
              <a:ext cx="889635" cy="231474"/>
            </a:xfrm>
            <a:prstGeom prst="rect">
              <a:avLst/>
            </a:prstGeom>
          </p:spPr>
          <p:txBody>
            <a:bodyPr vert="horz" wrap="square" lIns="0" tIns="15875" rIns="0" bIns="0" rtlCol="0">
              <a:spAutoFit/>
            </a:bodyPr>
            <a:lstStyle/>
            <a:p>
              <a:pPr marL="12700">
                <a:spcBef>
                  <a:spcPts val="125"/>
                </a:spcBef>
              </a:pPr>
              <a:r>
                <a:rPr sz="1400" spc="-15" dirty="0">
                  <a:solidFill>
                    <a:srgbClr val="4285F4"/>
                  </a:solidFill>
                  <a:latin typeface="Verdana"/>
                  <a:cs typeface="Verdana"/>
                </a:rPr>
                <a:t>m</a:t>
              </a:r>
              <a:r>
                <a:rPr sz="1400" spc="60" dirty="0">
                  <a:solidFill>
                    <a:srgbClr val="4285F4"/>
                  </a:solidFill>
                  <a:latin typeface="Verdana"/>
                  <a:cs typeface="Verdana"/>
                </a:rPr>
                <a:t>i</a:t>
              </a:r>
              <a:r>
                <a:rPr sz="1400" spc="15" dirty="0">
                  <a:solidFill>
                    <a:srgbClr val="4285F4"/>
                  </a:solidFill>
                  <a:latin typeface="Verdana"/>
                  <a:cs typeface="Verdana"/>
                </a:rPr>
                <a:t>n</a:t>
              </a:r>
              <a:r>
                <a:rPr sz="1400" spc="60" dirty="0">
                  <a:solidFill>
                    <a:srgbClr val="4285F4"/>
                  </a:solidFill>
                  <a:latin typeface="Verdana"/>
                  <a:cs typeface="Verdana"/>
                </a:rPr>
                <a:t>i</a:t>
              </a:r>
              <a:r>
                <a:rPr sz="1400" spc="-15" dirty="0">
                  <a:solidFill>
                    <a:srgbClr val="4285F4"/>
                  </a:solidFill>
                  <a:latin typeface="Verdana"/>
                  <a:cs typeface="Verdana"/>
                </a:rPr>
                <a:t>m</a:t>
              </a:r>
              <a:r>
                <a:rPr sz="1400" spc="20" dirty="0">
                  <a:solidFill>
                    <a:srgbClr val="4285F4"/>
                  </a:solidFill>
                  <a:latin typeface="Verdana"/>
                  <a:cs typeface="Verdana"/>
                </a:rPr>
                <a:t>um</a:t>
              </a:r>
              <a:endParaRPr sz="1400">
                <a:latin typeface="Verdana"/>
                <a:cs typeface="Verdana"/>
              </a:endParaRPr>
            </a:p>
          </p:txBody>
        </p:sp>
      </p:grpSp>
      <p:sp>
        <p:nvSpPr>
          <p:cNvPr id="32" name="Slide Number Placeholder 31">
            <a:extLst>
              <a:ext uri="{FF2B5EF4-FFF2-40B4-BE49-F238E27FC236}">
                <a16:creationId xmlns:a16="http://schemas.microsoft.com/office/drawing/2014/main" id="{F8FA3D01-83BF-B137-F01C-6F8DF2DD8D20}"/>
              </a:ext>
            </a:extLst>
          </p:cNvPr>
          <p:cNvSpPr>
            <a:spLocks noGrp="1"/>
          </p:cNvSpPr>
          <p:nvPr>
            <p:ph type="sldNum" sz="quarter" idx="12"/>
          </p:nvPr>
        </p:nvSpPr>
        <p:spPr>
          <a:xfrm>
            <a:off x="8771592" y="4823936"/>
            <a:ext cx="351452" cy="273844"/>
          </a:xfrm>
        </p:spPr>
        <p:txBody>
          <a:bodyPr/>
          <a:lstStyle/>
          <a:p>
            <a:fld id="{B6F15528-21DE-4FAA-801E-634DDDAF4B2B}" type="slidenum">
              <a:rPr lang="en-PS" smtClean="0"/>
              <a:t>23</a:t>
            </a:fld>
            <a:endParaRPr lang="en-PS"/>
          </a:p>
        </p:txBody>
      </p:sp>
      <p:cxnSp>
        <p:nvCxnSpPr>
          <p:cNvPr id="26" name="Straight Arrow Connector 25">
            <a:extLst>
              <a:ext uri="{FF2B5EF4-FFF2-40B4-BE49-F238E27FC236}">
                <a16:creationId xmlns:a16="http://schemas.microsoft.com/office/drawing/2014/main" id="{C62A67AD-7C20-3D40-63DB-A77F5690AEE4}"/>
              </a:ext>
            </a:extLst>
          </p:cNvPr>
          <p:cNvCxnSpPr>
            <a:cxnSpLocks/>
            <a:stCxn id="30" idx="3"/>
          </p:cNvCxnSpPr>
          <p:nvPr/>
        </p:nvCxnSpPr>
        <p:spPr>
          <a:xfrm>
            <a:off x="5556672" y="356016"/>
            <a:ext cx="844129" cy="866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A713CCB-B3D7-2B4E-ADA1-6E0BA829617C}"/>
              </a:ext>
            </a:extLst>
          </p:cNvPr>
          <p:cNvCxnSpPr/>
          <p:nvPr/>
        </p:nvCxnSpPr>
        <p:spPr>
          <a:xfrm>
            <a:off x="5562600" y="438150"/>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DF5E7AE-CD4B-225E-846E-1E5380BAE672}"/>
              </a:ext>
            </a:extLst>
          </p:cNvPr>
          <p:cNvSpPr txBox="1"/>
          <p:nvPr/>
        </p:nvSpPr>
        <p:spPr>
          <a:xfrm>
            <a:off x="4341083" y="171350"/>
            <a:ext cx="1215589" cy="369332"/>
          </a:xfrm>
          <a:prstGeom prst="rect">
            <a:avLst/>
          </a:prstGeom>
          <a:noFill/>
        </p:spPr>
        <p:txBody>
          <a:bodyPr wrap="none" rtlCol="0">
            <a:spAutoFit/>
          </a:bodyPr>
          <a:lstStyle/>
          <a:p>
            <a:r>
              <a:rPr lang="en-PS" dirty="0">
                <a:solidFill>
                  <a:srgbClr val="C00000"/>
                </a:solidFill>
              </a:rPr>
              <a:t>small steps</a:t>
            </a:r>
          </a:p>
        </p:txBody>
      </p:sp>
      <p:cxnSp>
        <p:nvCxnSpPr>
          <p:cNvPr id="31" name="Straight Arrow Connector 30">
            <a:extLst>
              <a:ext uri="{FF2B5EF4-FFF2-40B4-BE49-F238E27FC236}">
                <a16:creationId xmlns:a16="http://schemas.microsoft.com/office/drawing/2014/main" id="{72905ADC-EA6A-9610-9E62-CF107CA61071}"/>
              </a:ext>
            </a:extLst>
          </p:cNvPr>
          <p:cNvCxnSpPr>
            <a:cxnSpLocks/>
          </p:cNvCxnSpPr>
          <p:nvPr/>
        </p:nvCxnSpPr>
        <p:spPr>
          <a:xfrm>
            <a:off x="5536870" y="2323305"/>
            <a:ext cx="810850" cy="729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D05D13-B6E3-39FB-047E-11603D49E53A}"/>
              </a:ext>
            </a:extLst>
          </p:cNvPr>
          <p:cNvCxnSpPr>
            <a:cxnSpLocks/>
          </p:cNvCxnSpPr>
          <p:nvPr/>
        </p:nvCxnSpPr>
        <p:spPr>
          <a:xfrm>
            <a:off x="5527246" y="2743588"/>
            <a:ext cx="1076739" cy="952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A5F0263-80A5-CAD8-CE51-C7CEFCBC1D08}"/>
              </a:ext>
            </a:extLst>
          </p:cNvPr>
          <p:cNvSpPr txBox="1"/>
          <p:nvPr/>
        </p:nvSpPr>
        <p:spPr>
          <a:xfrm>
            <a:off x="4321281" y="2374256"/>
            <a:ext cx="1188082" cy="369332"/>
          </a:xfrm>
          <a:prstGeom prst="rect">
            <a:avLst/>
          </a:prstGeom>
          <a:noFill/>
        </p:spPr>
        <p:txBody>
          <a:bodyPr wrap="none" rtlCol="0">
            <a:spAutoFit/>
          </a:bodyPr>
          <a:lstStyle/>
          <a:p>
            <a:r>
              <a:rPr lang="en-PS" dirty="0">
                <a:solidFill>
                  <a:srgbClr val="C00000"/>
                </a:solidFill>
              </a:rPr>
              <a:t>large steps</a:t>
            </a:r>
          </a:p>
        </p:txBody>
      </p:sp>
      <p:sp>
        <p:nvSpPr>
          <p:cNvPr id="40" name="TextBox 39">
            <a:extLst>
              <a:ext uri="{FF2B5EF4-FFF2-40B4-BE49-F238E27FC236}">
                <a16:creationId xmlns:a16="http://schemas.microsoft.com/office/drawing/2014/main" id="{4609EEF1-FD14-708B-4643-55F7369988EA}"/>
              </a:ext>
            </a:extLst>
          </p:cNvPr>
          <p:cNvSpPr txBox="1"/>
          <p:nvPr/>
        </p:nvSpPr>
        <p:spPr>
          <a:xfrm>
            <a:off x="3183663" y="4705915"/>
            <a:ext cx="3293337" cy="369332"/>
          </a:xfrm>
          <a:prstGeom prst="rect">
            <a:avLst/>
          </a:prstGeom>
          <a:noFill/>
        </p:spPr>
        <p:txBody>
          <a:bodyPr wrap="none" rtlCol="0">
            <a:spAutoFit/>
          </a:bodyPr>
          <a:lstStyle/>
          <a:p>
            <a:r>
              <a:rPr lang="en-PS" dirty="0">
                <a:latin typeface="Gill Sans MT" panose="020B0502020104020203" pitchFamily="34" charset="77"/>
              </a:rPr>
              <a:t>the algorithm skips the minimum</a:t>
            </a:r>
          </a:p>
        </p:txBody>
      </p:sp>
      <p:cxnSp>
        <p:nvCxnSpPr>
          <p:cNvPr id="43" name="Straight Arrow Connector 42">
            <a:extLst>
              <a:ext uri="{FF2B5EF4-FFF2-40B4-BE49-F238E27FC236}">
                <a16:creationId xmlns:a16="http://schemas.microsoft.com/office/drawing/2014/main" id="{C6080624-F227-74EE-D22B-F769A5AD7DF6}"/>
              </a:ext>
            </a:extLst>
          </p:cNvPr>
          <p:cNvCxnSpPr>
            <a:cxnSpLocks/>
          </p:cNvCxnSpPr>
          <p:nvPr/>
        </p:nvCxnSpPr>
        <p:spPr>
          <a:xfrm flipV="1">
            <a:off x="5105400" y="4220446"/>
            <a:ext cx="2261486" cy="50769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5594985" y="2335848"/>
            <a:ext cx="1895475" cy="323807"/>
          </a:xfrm>
          <a:prstGeom prst="rect">
            <a:avLst/>
          </a:prstGeom>
        </p:spPr>
        <p:txBody>
          <a:bodyPr vert="horz" wrap="square" lIns="0" tIns="15875" rIns="0" bIns="0" rtlCol="0">
            <a:spAutoFit/>
          </a:bodyPr>
          <a:lstStyle/>
          <a:p>
            <a:pPr marL="12700">
              <a:spcBef>
                <a:spcPts val="125"/>
              </a:spcBef>
            </a:pPr>
            <a:r>
              <a:rPr sz="2000" spc="-11" dirty="0">
                <a:solidFill>
                  <a:srgbClr val="FF9300"/>
                </a:solidFill>
                <a:latin typeface="Gill Sans MT" panose="020B0502020104020203" pitchFamily="34" charset="77"/>
                <a:cs typeface="Verdana"/>
              </a:rPr>
              <a:t>local</a:t>
            </a:r>
            <a:r>
              <a:rPr sz="2000" spc="-40" dirty="0">
                <a:solidFill>
                  <a:srgbClr val="FF9300"/>
                </a:solidFill>
                <a:latin typeface="Gill Sans MT" panose="020B0502020104020203" pitchFamily="34" charset="77"/>
                <a:cs typeface="Verdana"/>
              </a:rPr>
              <a:t> </a:t>
            </a:r>
            <a:r>
              <a:rPr sz="2000" spc="-5" dirty="0">
                <a:solidFill>
                  <a:srgbClr val="FF9300"/>
                </a:solidFill>
                <a:latin typeface="Gill Sans MT" panose="020B0502020104020203" pitchFamily="34" charset="77"/>
                <a:cs typeface="Verdana"/>
              </a:rPr>
              <a:t>minimum</a:t>
            </a:r>
            <a:endParaRPr sz="2000" dirty="0">
              <a:latin typeface="Gill Sans MT" panose="020B0502020104020203" pitchFamily="34" charset="77"/>
              <a:cs typeface="Verdana"/>
            </a:endParaRPr>
          </a:p>
        </p:txBody>
      </p:sp>
      <p:sp>
        <p:nvSpPr>
          <p:cNvPr id="12" name="object 12"/>
          <p:cNvSpPr txBox="1"/>
          <p:nvPr/>
        </p:nvSpPr>
        <p:spPr>
          <a:xfrm>
            <a:off x="1525269" y="2728595"/>
            <a:ext cx="2332355" cy="580929"/>
          </a:xfrm>
          <a:prstGeom prst="rect">
            <a:avLst/>
          </a:prstGeom>
        </p:spPr>
        <p:txBody>
          <a:bodyPr vert="horz" wrap="square" lIns="0" tIns="16511" rIns="0" bIns="0" rtlCol="0">
            <a:spAutoFit/>
          </a:bodyPr>
          <a:lstStyle/>
          <a:p>
            <a:pPr marR="457189" algn="r">
              <a:lnSpc>
                <a:spcPts val="2231"/>
              </a:lnSpc>
              <a:spcBef>
                <a:spcPts val="131"/>
              </a:spcBef>
            </a:pPr>
            <a:r>
              <a:rPr sz="2000" spc="20" dirty="0">
                <a:latin typeface="Gill Sans MT" panose="020B0502020104020203" pitchFamily="34" charset="77"/>
                <a:cs typeface="Cambria Math"/>
              </a:rPr>
              <a:t>𝑤</a:t>
            </a:r>
            <a:endParaRPr sz="2000" dirty="0">
              <a:latin typeface="Gill Sans MT" panose="020B0502020104020203" pitchFamily="34" charset="77"/>
              <a:cs typeface="Cambria Math"/>
            </a:endParaRPr>
          </a:p>
          <a:p>
            <a:pPr marL="12700">
              <a:lnSpc>
                <a:spcPts val="2231"/>
              </a:lnSpc>
            </a:pPr>
            <a:r>
              <a:rPr sz="2000" spc="20" dirty="0">
                <a:solidFill>
                  <a:srgbClr val="FF9300"/>
                </a:solidFill>
                <a:latin typeface="Gill Sans MT" panose="020B0502020104020203" pitchFamily="34" charset="77"/>
                <a:cs typeface="Verdana"/>
              </a:rPr>
              <a:t>current</a:t>
            </a:r>
            <a:r>
              <a:rPr sz="2000" spc="-175" dirty="0">
                <a:solidFill>
                  <a:srgbClr val="FF9300"/>
                </a:solidFill>
                <a:latin typeface="Gill Sans MT" panose="020B0502020104020203" pitchFamily="34" charset="77"/>
                <a:cs typeface="Verdana"/>
              </a:rPr>
              <a:t> </a:t>
            </a:r>
            <a:r>
              <a:rPr sz="2000" dirty="0">
                <a:solidFill>
                  <a:srgbClr val="FF9300"/>
                </a:solidFill>
                <a:latin typeface="Gill Sans MT" panose="020B0502020104020203" pitchFamily="34" charset="77"/>
                <a:cs typeface="Verdana"/>
              </a:rPr>
              <a:t>value</a:t>
            </a:r>
            <a:r>
              <a:rPr sz="2000" spc="-65" dirty="0">
                <a:solidFill>
                  <a:srgbClr val="FF9300"/>
                </a:solidFill>
                <a:latin typeface="Gill Sans MT" panose="020B0502020104020203" pitchFamily="34" charset="77"/>
                <a:cs typeface="Verdana"/>
              </a:rPr>
              <a:t> </a:t>
            </a:r>
            <a:r>
              <a:rPr sz="2000" spc="-5" dirty="0">
                <a:solidFill>
                  <a:srgbClr val="FF9300"/>
                </a:solidFill>
                <a:latin typeface="Gill Sans MT" panose="020B0502020104020203" pitchFamily="34" charset="77"/>
                <a:cs typeface="Verdana"/>
              </a:rPr>
              <a:t>of</a:t>
            </a:r>
            <a:r>
              <a:rPr sz="2000" spc="-20" dirty="0">
                <a:solidFill>
                  <a:srgbClr val="FF9300"/>
                </a:solidFill>
                <a:latin typeface="Gill Sans MT" panose="020B0502020104020203" pitchFamily="34" charset="77"/>
                <a:cs typeface="Verdana"/>
              </a:rPr>
              <a:t> </a:t>
            </a:r>
            <a:r>
              <a:rPr sz="2000" spc="20" dirty="0">
                <a:solidFill>
                  <a:srgbClr val="FF9300"/>
                </a:solidFill>
                <a:latin typeface="Gill Sans MT" panose="020B0502020104020203" pitchFamily="34" charset="77"/>
                <a:cs typeface="Cambria Math"/>
              </a:rPr>
              <a:t>𝑤</a:t>
            </a:r>
            <a:endParaRPr sz="2000" dirty="0">
              <a:latin typeface="Gill Sans MT" panose="020B0502020104020203" pitchFamily="34" charset="77"/>
              <a:cs typeface="Cambria Math"/>
            </a:endParaRPr>
          </a:p>
        </p:txBody>
      </p:sp>
      <p:grpSp>
        <p:nvGrpSpPr>
          <p:cNvPr id="13" name="object 13"/>
          <p:cNvGrpSpPr/>
          <p:nvPr/>
        </p:nvGrpSpPr>
        <p:grpSpPr>
          <a:xfrm>
            <a:off x="1211802" y="523875"/>
            <a:ext cx="4342701" cy="2475231"/>
            <a:chOff x="1211801" y="523874"/>
            <a:chExt cx="4342701" cy="2475230"/>
          </a:xfrm>
        </p:grpSpPr>
        <p:sp>
          <p:nvSpPr>
            <p:cNvPr id="14" name="object 14"/>
            <p:cNvSpPr/>
            <p:nvPr/>
          </p:nvSpPr>
          <p:spPr>
            <a:xfrm>
              <a:off x="1228725" y="523874"/>
              <a:ext cx="3886200" cy="2475230"/>
            </a:xfrm>
            <a:custGeom>
              <a:avLst/>
              <a:gdLst/>
              <a:ahLst/>
              <a:cxnLst/>
              <a:rect l="l" t="t" r="r" b="b"/>
              <a:pathLst>
                <a:path w="3886200" h="2475230">
                  <a:moveTo>
                    <a:pt x="3886200" y="2247900"/>
                  </a:moveTo>
                  <a:lnTo>
                    <a:pt x="3863340" y="2228850"/>
                  </a:lnTo>
                  <a:lnTo>
                    <a:pt x="3754374" y="2138045"/>
                  </a:lnTo>
                  <a:lnTo>
                    <a:pt x="3747693" y="2134451"/>
                  </a:lnTo>
                  <a:lnTo>
                    <a:pt x="3723208" y="2154390"/>
                  </a:lnTo>
                  <a:lnTo>
                    <a:pt x="3725227" y="2161375"/>
                  </a:lnTo>
                  <a:lnTo>
                    <a:pt x="3729990" y="2167255"/>
                  </a:lnTo>
                  <a:lnTo>
                    <a:pt x="3803904" y="2228850"/>
                  </a:lnTo>
                  <a:lnTo>
                    <a:pt x="247650" y="2228850"/>
                  </a:lnTo>
                  <a:lnTo>
                    <a:pt x="247650" y="82296"/>
                  </a:lnTo>
                  <a:lnTo>
                    <a:pt x="309245" y="156210"/>
                  </a:lnTo>
                  <a:lnTo>
                    <a:pt x="315125" y="160972"/>
                  </a:lnTo>
                  <a:lnTo>
                    <a:pt x="322110" y="162991"/>
                  </a:lnTo>
                  <a:lnTo>
                    <a:pt x="329361" y="162229"/>
                  </a:lnTo>
                  <a:lnTo>
                    <a:pt x="336042" y="158623"/>
                  </a:lnTo>
                  <a:lnTo>
                    <a:pt x="340791" y="152742"/>
                  </a:lnTo>
                  <a:lnTo>
                    <a:pt x="342811" y="145757"/>
                  </a:lnTo>
                  <a:lnTo>
                    <a:pt x="342049" y="138506"/>
                  </a:lnTo>
                  <a:lnTo>
                    <a:pt x="338455" y="131826"/>
                  </a:lnTo>
                  <a:lnTo>
                    <a:pt x="253352" y="29718"/>
                  </a:lnTo>
                  <a:lnTo>
                    <a:pt x="228600" y="0"/>
                  </a:lnTo>
                  <a:lnTo>
                    <a:pt x="118745" y="131826"/>
                  </a:lnTo>
                  <a:lnTo>
                    <a:pt x="115138" y="138506"/>
                  </a:lnTo>
                  <a:lnTo>
                    <a:pt x="114376" y="145757"/>
                  </a:lnTo>
                  <a:lnTo>
                    <a:pt x="116395" y="152742"/>
                  </a:lnTo>
                  <a:lnTo>
                    <a:pt x="121158" y="158623"/>
                  </a:lnTo>
                  <a:lnTo>
                    <a:pt x="127825" y="162229"/>
                  </a:lnTo>
                  <a:lnTo>
                    <a:pt x="135077" y="162991"/>
                  </a:lnTo>
                  <a:lnTo>
                    <a:pt x="142062" y="160972"/>
                  </a:lnTo>
                  <a:lnTo>
                    <a:pt x="147955" y="156210"/>
                  </a:lnTo>
                  <a:lnTo>
                    <a:pt x="209550" y="82296"/>
                  </a:lnTo>
                  <a:lnTo>
                    <a:pt x="209550" y="2228850"/>
                  </a:lnTo>
                  <a:lnTo>
                    <a:pt x="0" y="2228850"/>
                  </a:lnTo>
                  <a:lnTo>
                    <a:pt x="0" y="2266950"/>
                  </a:lnTo>
                  <a:lnTo>
                    <a:pt x="209550" y="2266950"/>
                  </a:lnTo>
                  <a:lnTo>
                    <a:pt x="209550" y="2475103"/>
                  </a:lnTo>
                  <a:lnTo>
                    <a:pt x="247650" y="2475103"/>
                  </a:lnTo>
                  <a:lnTo>
                    <a:pt x="247650" y="2266950"/>
                  </a:lnTo>
                  <a:lnTo>
                    <a:pt x="3803904" y="2266950"/>
                  </a:lnTo>
                  <a:lnTo>
                    <a:pt x="3729990" y="2328545"/>
                  </a:lnTo>
                  <a:lnTo>
                    <a:pt x="3725227" y="2334437"/>
                  </a:lnTo>
                  <a:lnTo>
                    <a:pt x="3723208" y="2341422"/>
                  </a:lnTo>
                  <a:lnTo>
                    <a:pt x="3723970" y="2348674"/>
                  </a:lnTo>
                  <a:lnTo>
                    <a:pt x="3727577" y="2355342"/>
                  </a:lnTo>
                  <a:lnTo>
                    <a:pt x="3733457" y="2360104"/>
                  </a:lnTo>
                  <a:lnTo>
                    <a:pt x="3740442" y="2362123"/>
                  </a:lnTo>
                  <a:lnTo>
                    <a:pt x="3747693" y="2361361"/>
                  </a:lnTo>
                  <a:lnTo>
                    <a:pt x="3754374" y="2357755"/>
                  </a:lnTo>
                  <a:lnTo>
                    <a:pt x="3863340" y="2266950"/>
                  </a:lnTo>
                  <a:lnTo>
                    <a:pt x="3886200" y="2247900"/>
                  </a:lnTo>
                  <a:close/>
                </a:path>
              </a:pathLst>
            </a:custGeom>
            <a:solidFill>
              <a:srgbClr val="000000"/>
            </a:solidFill>
          </p:spPr>
          <p:txBody>
            <a:bodyPr wrap="square" lIns="0" tIns="0" rIns="0" bIns="0" rtlCol="0"/>
            <a:lstStyle/>
            <a:p>
              <a:endParaRPr/>
            </a:p>
          </p:txBody>
        </p:sp>
        <p:pic>
          <p:nvPicPr>
            <p:cNvPr id="15" name="object 15"/>
            <p:cNvPicPr/>
            <p:nvPr/>
          </p:nvPicPr>
          <p:blipFill>
            <a:blip r:embed="rId2" cstate="print"/>
            <a:stretch>
              <a:fillRect/>
            </a:stretch>
          </p:blipFill>
          <p:spPr>
            <a:xfrm>
              <a:off x="1211801" y="863831"/>
              <a:ext cx="4342701" cy="1818423"/>
            </a:xfrm>
            <a:prstGeom prst="rect">
              <a:avLst/>
            </a:prstGeom>
          </p:spPr>
        </p:pic>
      </p:grpSp>
      <p:sp>
        <p:nvSpPr>
          <p:cNvPr id="17" name="object 17"/>
          <p:cNvSpPr txBox="1"/>
          <p:nvPr/>
        </p:nvSpPr>
        <p:spPr>
          <a:xfrm>
            <a:off x="545522" y="1692296"/>
            <a:ext cx="532765" cy="323807"/>
          </a:xfrm>
          <a:prstGeom prst="rect">
            <a:avLst/>
          </a:prstGeom>
        </p:spPr>
        <p:txBody>
          <a:bodyPr vert="horz" wrap="square" lIns="0" tIns="15875" rIns="0" bIns="0" rtlCol="0">
            <a:spAutoFit/>
          </a:bodyPr>
          <a:lstStyle/>
          <a:p>
            <a:pPr marL="12700">
              <a:spcBef>
                <a:spcPts val="125"/>
              </a:spcBef>
            </a:pPr>
            <a:r>
              <a:rPr sz="2000" dirty="0">
                <a:latin typeface="Cambria Math"/>
                <a:cs typeface="Cambria Math"/>
              </a:rPr>
              <a:t>𝐽</a:t>
            </a:r>
            <a:r>
              <a:rPr sz="2000" spc="-5" dirty="0">
                <a:latin typeface="Cambria Math"/>
                <a:cs typeface="Cambria Math"/>
              </a:rPr>
              <a:t>(</a:t>
            </a:r>
            <a:r>
              <a:rPr sz="2000" spc="100" dirty="0">
                <a:latin typeface="Cambria Math"/>
                <a:cs typeface="Cambria Math"/>
              </a:rPr>
              <a:t>𝑤</a:t>
            </a:r>
            <a:r>
              <a:rPr sz="2000" spc="11" dirty="0">
                <a:latin typeface="Cambria Math"/>
                <a:cs typeface="Cambria Math"/>
              </a:rPr>
              <a:t>)</a:t>
            </a:r>
            <a:endParaRPr sz="2000" dirty="0">
              <a:latin typeface="Cambria Math"/>
              <a:cs typeface="Cambria Math"/>
            </a:endParaRPr>
          </a:p>
        </p:txBody>
      </p:sp>
      <p:grpSp>
        <p:nvGrpSpPr>
          <p:cNvPr id="18" name="object 18"/>
          <p:cNvGrpSpPr/>
          <p:nvPr/>
        </p:nvGrpSpPr>
        <p:grpSpPr>
          <a:xfrm>
            <a:off x="3960621" y="2659888"/>
            <a:ext cx="498475" cy="560071"/>
            <a:chOff x="3960621" y="2659888"/>
            <a:chExt cx="498475" cy="560070"/>
          </a:xfrm>
        </p:grpSpPr>
        <p:pic>
          <p:nvPicPr>
            <p:cNvPr id="19" name="object 19"/>
            <p:cNvPicPr/>
            <p:nvPr/>
          </p:nvPicPr>
          <p:blipFill>
            <a:blip r:embed="rId3" cstate="print"/>
            <a:stretch>
              <a:fillRect/>
            </a:stretch>
          </p:blipFill>
          <p:spPr>
            <a:xfrm>
              <a:off x="4276216" y="2659888"/>
              <a:ext cx="182880" cy="501776"/>
            </a:xfrm>
            <a:prstGeom prst="rect">
              <a:avLst/>
            </a:prstGeom>
          </p:spPr>
        </p:pic>
        <p:pic>
          <p:nvPicPr>
            <p:cNvPr id="20" name="object 20"/>
            <p:cNvPicPr/>
            <p:nvPr/>
          </p:nvPicPr>
          <p:blipFill>
            <a:blip r:embed="rId4" cstate="print"/>
            <a:stretch>
              <a:fillRect/>
            </a:stretch>
          </p:blipFill>
          <p:spPr>
            <a:xfrm>
              <a:off x="3960621" y="3058668"/>
              <a:ext cx="250062" cy="161289"/>
            </a:xfrm>
            <a:prstGeom prst="rect">
              <a:avLst/>
            </a:prstGeom>
          </p:spPr>
        </p:pic>
      </p:grpSp>
      <p:grpSp>
        <p:nvGrpSpPr>
          <p:cNvPr id="37" name="Group 36">
            <a:extLst>
              <a:ext uri="{FF2B5EF4-FFF2-40B4-BE49-F238E27FC236}">
                <a16:creationId xmlns:a16="http://schemas.microsoft.com/office/drawing/2014/main" id="{C9ADE8BC-AA59-04D4-D473-53A8CADB2B49}"/>
              </a:ext>
            </a:extLst>
          </p:cNvPr>
          <p:cNvGrpSpPr/>
          <p:nvPr/>
        </p:nvGrpSpPr>
        <p:grpSpPr>
          <a:xfrm>
            <a:off x="990600" y="3657968"/>
            <a:ext cx="2511298" cy="777278"/>
            <a:chOff x="1380998" y="3365499"/>
            <a:chExt cx="2511298" cy="777278"/>
          </a:xfrm>
        </p:grpSpPr>
        <p:pic>
          <p:nvPicPr>
            <p:cNvPr id="2" name="object 2"/>
            <p:cNvPicPr/>
            <p:nvPr/>
          </p:nvPicPr>
          <p:blipFill>
            <a:blip r:embed="rId5" cstate="print"/>
            <a:stretch>
              <a:fillRect/>
            </a:stretch>
          </p:blipFill>
          <p:spPr>
            <a:xfrm>
              <a:off x="1380998" y="3664585"/>
              <a:ext cx="212725" cy="144653"/>
            </a:xfrm>
            <a:prstGeom prst="rect">
              <a:avLst/>
            </a:prstGeom>
          </p:spPr>
        </p:pic>
        <p:sp>
          <p:nvSpPr>
            <p:cNvPr id="3" name="object 3"/>
            <p:cNvSpPr/>
            <p:nvPr/>
          </p:nvSpPr>
          <p:spPr>
            <a:xfrm>
              <a:off x="1709293" y="3679063"/>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a:p>
          </p:txBody>
        </p:sp>
        <p:pic>
          <p:nvPicPr>
            <p:cNvPr id="4" name="object 4"/>
            <p:cNvPicPr/>
            <p:nvPr/>
          </p:nvPicPr>
          <p:blipFill>
            <a:blip r:embed="rId5" cstate="print"/>
            <a:stretch>
              <a:fillRect/>
            </a:stretch>
          </p:blipFill>
          <p:spPr>
            <a:xfrm>
              <a:off x="2009648" y="3664585"/>
              <a:ext cx="212725" cy="144653"/>
            </a:xfrm>
            <a:prstGeom prst="rect">
              <a:avLst/>
            </a:prstGeom>
          </p:spPr>
        </p:pic>
        <p:sp>
          <p:nvSpPr>
            <p:cNvPr id="5" name="object 5"/>
            <p:cNvSpPr/>
            <p:nvPr/>
          </p:nvSpPr>
          <p:spPr>
            <a:xfrm>
              <a:off x="2328417" y="3709814"/>
              <a:ext cx="183515" cy="20320"/>
            </a:xfrm>
            <a:custGeom>
              <a:avLst/>
              <a:gdLst/>
              <a:ahLst/>
              <a:cxnLst/>
              <a:rect l="l" t="t" r="r" b="b"/>
              <a:pathLst>
                <a:path w="183514" h="20320">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a:p>
          </p:txBody>
        </p:sp>
        <p:grpSp>
          <p:nvGrpSpPr>
            <p:cNvPr id="6" name="object 6"/>
            <p:cNvGrpSpPr/>
            <p:nvPr/>
          </p:nvGrpSpPr>
          <p:grpSpPr>
            <a:xfrm>
              <a:off x="2617216" y="3365499"/>
              <a:ext cx="1275080" cy="643891"/>
              <a:chOff x="2617216" y="3365500"/>
              <a:chExt cx="1275080" cy="643890"/>
            </a:xfrm>
          </p:grpSpPr>
          <p:pic>
            <p:nvPicPr>
              <p:cNvPr id="7" name="object 7"/>
              <p:cNvPicPr/>
              <p:nvPr/>
            </p:nvPicPr>
            <p:blipFill>
              <a:blip r:embed="rId6" cstate="print"/>
              <a:stretch>
                <a:fillRect/>
              </a:stretch>
            </p:blipFill>
            <p:spPr>
              <a:xfrm>
                <a:off x="2617216" y="3662299"/>
                <a:ext cx="161925" cy="146938"/>
              </a:xfrm>
              <a:prstGeom prst="rect">
                <a:avLst/>
              </a:prstGeom>
            </p:spPr>
          </p:pic>
          <p:sp>
            <p:nvSpPr>
              <p:cNvPr id="8" name="object 8"/>
              <p:cNvSpPr/>
              <p:nvPr/>
            </p:nvSpPr>
            <p:spPr>
              <a:xfrm>
                <a:off x="2839720" y="3582288"/>
                <a:ext cx="1052195" cy="427355"/>
              </a:xfrm>
              <a:custGeom>
                <a:avLst/>
                <a:gdLst/>
                <a:ahLst/>
                <a:cxnLst/>
                <a:rect l="l" t="t" r="r" b="b"/>
                <a:pathLst>
                  <a:path w="1052195" h="427354">
                    <a:moveTo>
                      <a:pt x="166243" y="211836"/>
                    </a:moveTo>
                    <a:lnTo>
                      <a:pt x="157480" y="211836"/>
                    </a:lnTo>
                    <a:lnTo>
                      <a:pt x="120015" y="213106"/>
                    </a:lnTo>
                    <a:lnTo>
                      <a:pt x="118237" y="220853"/>
                    </a:lnTo>
                    <a:lnTo>
                      <a:pt x="123571" y="221234"/>
                    </a:lnTo>
                    <a:lnTo>
                      <a:pt x="127127" y="221742"/>
                    </a:lnTo>
                    <a:lnTo>
                      <a:pt x="129159" y="222377"/>
                    </a:lnTo>
                    <a:lnTo>
                      <a:pt x="131191" y="223139"/>
                    </a:lnTo>
                    <a:lnTo>
                      <a:pt x="132842" y="224155"/>
                    </a:lnTo>
                    <a:lnTo>
                      <a:pt x="133858" y="225679"/>
                    </a:lnTo>
                    <a:lnTo>
                      <a:pt x="135001" y="227330"/>
                    </a:lnTo>
                    <a:lnTo>
                      <a:pt x="135509" y="229489"/>
                    </a:lnTo>
                    <a:lnTo>
                      <a:pt x="135509" y="235458"/>
                    </a:lnTo>
                    <a:lnTo>
                      <a:pt x="135255" y="239014"/>
                    </a:lnTo>
                    <a:lnTo>
                      <a:pt x="134620" y="242951"/>
                    </a:lnTo>
                    <a:lnTo>
                      <a:pt x="134112" y="246888"/>
                    </a:lnTo>
                    <a:lnTo>
                      <a:pt x="133350" y="250571"/>
                    </a:lnTo>
                    <a:lnTo>
                      <a:pt x="132588" y="253746"/>
                    </a:lnTo>
                    <a:lnTo>
                      <a:pt x="124841" y="288163"/>
                    </a:lnTo>
                    <a:lnTo>
                      <a:pt x="119507" y="285115"/>
                    </a:lnTo>
                    <a:lnTo>
                      <a:pt x="116332" y="283832"/>
                    </a:lnTo>
                    <a:lnTo>
                      <a:pt x="116332" y="306031"/>
                    </a:lnTo>
                    <a:lnTo>
                      <a:pt x="116332" y="320116"/>
                    </a:lnTo>
                    <a:lnTo>
                      <a:pt x="115570" y="326859"/>
                    </a:lnTo>
                    <a:lnTo>
                      <a:pt x="114046" y="334010"/>
                    </a:lnTo>
                    <a:lnTo>
                      <a:pt x="111125" y="348742"/>
                    </a:lnTo>
                    <a:lnTo>
                      <a:pt x="93091" y="385699"/>
                    </a:lnTo>
                    <a:lnTo>
                      <a:pt x="63500" y="409308"/>
                    </a:lnTo>
                    <a:lnTo>
                      <a:pt x="53721" y="409308"/>
                    </a:lnTo>
                    <a:lnTo>
                      <a:pt x="49022" y="406755"/>
                    </a:lnTo>
                    <a:lnTo>
                      <a:pt x="46228" y="401650"/>
                    </a:lnTo>
                    <a:lnTo>
                      <a:pt x="43307" y="396544"/>
                    </a:lnTo>
                    <a:lnTo>
                      <a:pt x="41910" y="388823"/>
                    </a:lnTo>
                    <a:lnTo>
                      <a:pt x="41986" y="376567"/>
                    </a:lnTo>
                    <a:lnTo>
                      <a:pt x="42329" y="368160"/>
                    </a:lnTo>
                    <a:lnTo>
                      <a:pt x="52654" y="327101"/>
                    </a:lnTo>
                    <a:lnTo>
                      <a:pt x="80645" y="294665"/>
                    </a:lnTo>
                    <a:lnTo>
                      <a:pt x="94996" y="291592"/>
                    </a:lnTo>
                    <a:lnTo>
                      <a:pt x="102743" y="291592"/>
                    </a:lnTo>
                    <a:lnTo>
                      <a:pt x="108204" y="293357"/>
                    </a:lnTo>
                    <a:lnTo>
                      <a:pt x="111379" y="296875"/>
                    </a:lnTo>
                    <a:lnTo>
                      <a:pt x="114681" y="300393"/>
                    </a:lnTo>
                    <a:lnTo>
                      <a:pt x="116332" y="306031"/>
                    </a:lnTo>
                    <a:lnTo>
                      <a:pt x="116332" y="283832"/>
                    </a:lnTo>
                    <a:lnTo>
                      <a:pt x="114173" y="282956"/>
                    </a:lnTo>
                    <a:lnTo>
                      <a:pt x="104013" y="280416"/>
                    </a:lnTo>
                    <a:lnTo>
                      <a:pt x="98425" y="279781"/>
                    </a:lnTo>
                    <a:lnTo>
                      <a:pt x="92329" y="279781"/>
                    </a:lnTo>
                    <a:lnTo>
                      <a:pt x="53213" y="293446"/>
                    </a:lnTo>
                    <a:lnTo>
                      <a:pt x="25654" y="330657"/>
                    </a:lnTo>
                    <a:lnTo>
                      <a:pt x="15773" y="376567"/>
                    </a:lnTo>
                    <a:lnTo>
                      <a:pt x="15697" y="381406"/>
                    </a:lnTo>
                    <a:lnTo>
                      <a:pt x="16167" y="390385"/>
                    </a:lnTo>
                    <a:lnTo>
                      <a:pt x="35407" y="423786"/>
                    </a:lnTo>
                    <a:lnTo>
                      <a:pt x="49911" y="426872"/>
                    </a:lnTo>
                    <a:lnTo>
                      <a:pt x="56972" y="426275"/>
                    </a:lnTo>
                    <a:lnTo>
                      <a:pt x="85826" y="409308"/>
                    </a:lnTo>
                    <a:lnTo>
                      <a:pt x="90233" y="404749"/>
                    </a:lnTo>
                    <a:lnTo>
                      <a:pt x="97091" y="396417"/>
                    </a:lnTo>
                    <a:lnTo>
                      <a:pt x="104140" y="386689"/>
                    </a:lnTo>
                    <a:lnTo>
                      <a:pt x="106045" y="387286"/>
                    </a:lnTo>
                    <a:lnTo>
                      <a:pt x="103759" y="393433"/>
                    </a:lnTo>
                    <a:lnTo>
                      <a:pt x="102616" y="399199"/>
                    </a:lnTo>
                    <a:lnTo>
                      <a:pt x="102692" y="411683"/>
                    </a:lnTo>
                    <a:lnTo>
                      <a:pt x="104521" y="416852"/>
                    </a:lnTo>
                    <a:lnTo>
                      <a:pt x="111887" y="424992"/>
                    </a:lnTo>
                    <a:lnTo>
                      <a:pt x="116713" y="427024"/>
                    </a:lnTo>
                    <a:lnTo>
                      <a:pt x="130175" y="427024"/>
                    </a:lnTo>
                    <a:lnTo>
                      <a:pt x="166243" y="400685"/>
                    </a:lnTo>
                    <a:lnTo>
                      <a:pt x="157734" y="392353"/>
                    </a:lnTo>
                    <a:lnTo>
                      <a:pt x="151447" y="399249"/>
                    </a:lnTo>
                    <a:lnTo>
                      <a:pt x="146812" y="403834"/>
                    </a:lnTo>
                    <a:lnTo>
                      <a:pt x="143383" y="406260"/>
                    </a:lnTo>
                    <a:lnTo>
                      <a:pt x="140081" y="408698"/>
                    </a:lnTo>
                    <a:lnTo>
                      <a:pt x="136906" y="409905"/>
                    </a:lnTo>
                    <a:lnTo>
                      <a:pt x="131064" y="409905"/>
                    </a:lnTo>
                    <a:lnTo>
                      <a:pt x="129032" y="409016"/>
                    </a:lnTo>
                    <a:lnTo>
                      <a:pt x="126492" y="405447"/>
                    </a:lnTo>
                    <a:lnTo>
                      <a:pt x="125857" y="402564"/>
                    </a:lnTo>
                    <a:lnTo>
                      <a:pt x="125882" y="393433"/>
                    </a:lnTo>
                    <a:lnTo>
                      <a:pt x="148285" y="291592"/>
                    </a:lnTo>
                    <a:lnTo>
                      <a:pt x="149059" y="288163"/>
                    </a:lnTo>
                    <a:lnTo>
                      <a:pt x="166243" y="211836"/>
                    </a:lnTo>
                    <a:close/>
                  </a:path>
                  <a:path w="1052195" h="427354">
                    <a:moveTo>
                      <a:pt x="401751" y="289687"/>
                    </a:moveTo>
                    <a:lnTo>
                      <a:pt x="397764" y="282321"/>
                    </a:lnTo>
                    <a:lnTo>
                      <a:pt x="359410" y="282321"/>
                    </a:lnTo>
                    <a:lnTo>
                      <a:pt x="357886" y="289687"/>
                    </a:lnTo>
                    <a:lnTo>
                      <a:pt x="362712" y="289941"/>
                    </a:lnTo>
                    <a:lnTo>
                      <a:pt x="366014" y="290957"/>
                    </a:lnTo>
                    <a:lnTo>
                      <a:pt x="368046" y="292633"/>
                    </a:lnTo>
                    <a:lnTo>
                      <a:pt x="369951" y="294322"/>
                    </a:lnTo>
                    <a:lnTo>
                      <a:pt x="370928" y="297395"/>
                    </a:lnTo>
                    <a:lnTo>
                      <a:pt x="370840" y="303530"/>
                    </a:lnTo>
                    <a:lnTo>
                      <a:pt x="358902" y="342265"/>
                    </a:lnTo>
                    <a:lnTo>
                      <a:pt x="334302" y="384086"/>
                    </a:lnTo>
                    <a:lnTo>
                      <a:pt x="323469" y="399935"/>
                    </a:lnTo>
                    <a:lnTo>
                      <a:pt x="316814" y="327456"/>
                    </a:lnTo>
                    <a:lnTo>
                      <a:pt x="312674" y="282321"/>
                    </a:lnTo>
                    <a:lnTo>
                      <a:pt x="291211" y="282321"/>
                    </a:lnTo>
                    <a:lnTo>
                      <a:pt x="289560" y="289687"/>
                    </a:lnTo>
                    <a:lnTo>
                      <a:pt x="288264" y="296672"/>
                    </a:lnTo>
                    <a:lnTo>
                      <a:pt x="286702" y="303530"/>
                    </a:lnTo>
                    <a:lnTo>
                      <a:pt x="268986" y="347700"/>
                    </a:lnTo>
                    <a:lnTo>
                      <a:pt x="248208" y="384086"/>
                    </a:lnTo>
                    <a:lnTo>
                      <a:pt x="238633" y="399783"/>
                    </a:lnTo>
                    <a:lnTo>
                      <a:pt x="229743" y="282321"/>
                    </a:lnTo>
                    <a:lnTo>
                      <a:pt x="190754" y="282321"/>
                    </a:lnTo>
                    <a:lnTo>
                      <a:pt x="189103" y="289687"/>
                    </a:lnTo>
                    <a:lnTo>
                      <a:pt x="193929" y="290068"/>
                    </a:lnTo>
                    <a:lnTo>
                      <a:pt x="197358" y="291084"/>
                    </a:lnTo>
                    <a:lnTo>
                      <a:pt x="199390" y="292925"/>
                    </a:lnTo>
                    <a:lnTo>
                      <a:pt x="201422" y="294716"/>
                    </a:lnTo>
                    <a:lnTo>
                      <a:pt x="202946" y="297395"/>
                    </a:lnTo>
                    <a:lnTo>
                      <a:pt x="204724" y="304533"/>
                    </a:lnTo>
                    <a:lnTo>
                      <a:pt x="205486" y="309206"/>
                    </a:lnTo>
                    <a:lnTo>
                      <a:pt x="206121" y="314960"/>
                    </a:lnTo>
                    <a:lnTo>
                      <a:pt x="217424" y="427024"/>
                    </a:lnTo>
                    <a:lnTo>
                      <a:pt x="237363" y="427024"/>
                    </a:lnTo>
                    <a:lnTo>
                      <a:pt x="247142" y="411835"/>
                    </a:lnTo>
                    <a:lnTo>
                      <a:pt x="254685" y="399783"/>
                    </a:lnTo>
                    <a:lnTo>
                      <a:pt x="256108" y="397522"/>
                    </a:lnTo>
                    <a:lnTo>
                      <a:pt x="278091" y="359664"/>
                    </a:lnTo>
                    <a:lnTo>
                      <a:pt x="293497" y="327456"/>
                    </a:lnTo>
                    <a:lnTo>
                      <a:pt x="295021" y="327609"/>
                    </a:lnTo>
                    <a:lnTo>
                      <a:pt x="296164" y="345770"/>
                    </a:lnTo>
                    <a:lnTo>
                      <a:pt x="297307" y="359956"/>
                    </a:lnTo>
                    <a:lnTo>
                      <a:pt x="297815" y="364820"/>
                    </a:lnTo>
                    <a:lnTo>
                      <a:pt x="303911" y="427024"/>
                    </a:lnTo>
                    <a:lnTo>
                      <a:pt x="321564" y="427024"/>
                    </a:lnTo>
                    <a:lnTo>
                      <a:pt x="327825" y="418465"/>
                    </a:lnTo>
                    <a:lnTo>
                      <a:pt x="333654" y="410337"/>
                    </a:lnTo>
                    <a:lnTo>
                      <a:pt x="339064" y="402653"/>
                    </a:lnTo>
                    <a:lnTo>
                      <a:pt x="340918" y="399935"/>
                    </a:lnTo>
                    <a:lnTo>
                      <a:pt x="344043" y="395401"/>
                    </a:lnTo>
                    <a:lnTo>
                      <a:pt x="364947" y="363499"/>
                    </a:lnTo>
                    <a:lnTo>
                      <a:pt x="374523" y="347395"/>
                    </a:lnTo>
                    <a:lnTo>
                      <a:pt x="378333" y="340753"/>
                    </a:lnTo>
                    <a:lnTo>
                      <a:pt x="393446" y="310197"/>
                    </a:lnTo>
                    <a:lnTo>
                      <a:pt x="395605" y="305435"/>
                    </a:lnTo>
                    <a:lnTo>
                      <a:pt x="398767" y="297395"/>
                    </a:lnTo>
                    <a:lnTo>
                      <a:pt x="401713" y="290068"/>
                    </a:lnTo>
                    <a:lnTo>
                      <a:pt x="401751" y="289687"/>
                    </a:lnTo>
                    <a:close/>
                  </a:path>
                  <a:path w="1052195" h="427354">
                    <a:moveTo>
                      <a:pt x="409575" y="129413"/>
                    </a:moveTo>
                    <a:lnTo>
                      <a:pt x="0" y="129413"/>
                    </a:lnTo>
                    <a:lnTo>
                      <a:pt x="0" y="148463"/>
                    </a:lnTo>
                    <a:lnTo>
                      <a:pt x="409575" y="148463"/>
                    </a:lnTo>
                    <a:lnTo>
                      <a:pt x="409575" y="129413"/>
                    </a:lnTo>
                    <a:close/>
                  </a:path>
                  <a:path w="1052195" h="427354">
                    <a:moveTo>
                      <a:pt x="574548" y="21463"/>
                    </a:moveTo>
                    <a:lnTo>
                      <a:pt x="515112" y="21463"/>
                    </a:lnTo>
                    <a:lnTo>
                      <a:pt x="513461" y="28702"/>
                    </a:lnTo>
                    <a:lnTo>
                      <a:pt x="518414" y="29083"/>
                    </a:lnTo>
                    <a:lnTo>
                      <a:pt x="522224" y="30099"/>
                    </a:lnTo>
                    <a:lnTo>
                      <a:pt x="526796" y="33782"/>
                    </a:lnTo>
                    <a:lnTo>
                      <a:pt x="527939" y="37084"/>
                    </a:lnTo>
                    <a:lnTo>
                      <a:pt x="527939" y="47879"/>
                    </a:lnTo>
                    <a:lnTo>
                      <a:pt x="489839" y="222504"/>
                    </a:lnTo>
                    <a:lnTo>
                      <a:pt x="471284" y="264033"/>
                    </a:lnTo>
                    <a:lnTo>
                      <a:pt x="463931" y="267589"/>
                    </a:lnTo>
                    <a:lnTo>
                      <a:pt x="449059" y="267589"/>
                    </a:lnTo>
                    <a:lnTo>
                      <a:pt x="445262" y="267208"/>
                    </a:lnTo>
                    <a:lnTo>
                      <a:pt x="443230" y="266446"/>
                    </a:lnTo>
                    <a:lnTo>
                      <a:pt x="439293" y="280670"/>
                    </a:lnTo>
                    <a:lnTo>
                      <a:pt x="442976" y="281686"/>
                    </a:lnTo>
                    <a:lnTo>
                      <a:pt x="447675" y="282194"/>
                    </a:lnTo>
                    <a:lnTo>
                      <a:pt x="453390" y="282194"/>
                    </a:lnTo>
                    <a:lnTo>
                      <a:pt x="490347" y="271830"/>
                    </a:lnTo>
                    <a:lnTo>
                      <a:pt x="511962" y="239052"/>
                    </a:lnTo>
                    <a:lnTo>
                      <a:pt x="551180" y="65786"/>
                    </a:lnTo>
                    <a:lnTo>
                      <a:pt x="554990" y="49403"/>
                    </a:lnTo>
                    <a:lnTo>
                      <a:pt x="572897" y="28702"/>
                    </a:lnTo>
                    <a:lnTo>
                      <a:pt x="574548" y="21463"/>
                    </a:lnTo>
                    <a:close/>
                  </a:path>
                  <a:path w="1052195" h="427354">
                    <a:moveTo>
                      <a:pt x="711327" y="11557"/>
                    </a:moveTo>
                    <a:lnTo>
                      <a:pt x="707390" y="0"/>
                    </a:lnTo>
                    <a:lnTo>
                      <a:pt x="686854" y="7391"/>
                    </a:lnTo>
                    <a:lnTo>
                      <a:pt x="668883" y="18097"/>
                    </a:lnTo>
                    <a:lnTo>
                      <a:pt x="640588" y="49530"/>
                    </a:lnTo>
                    <a:lnTo>
                      <a:pt x="623150" y="91478"/>
                    </a:lnTo>
                    <a:lnTo>
                      <a:pt x="617347" y="141224"/>
                    </a:lnTo>
                    <a:lnTo>
                      <a:pt x="618794" y="167182"/>
                    </a:lnTo>
                    <a:lnTo>
                      <a:pt x="630364" y="213093"/>
                    </a:lnTo>
                    <a:lnTo>
                      <a:pt x="653364" y="250342"/>
                    </a:lnTo>
                    <a:lnTo>
                      <a:pt x="686841" y="274967"/>
                    </a:lnTo>
                    <a:lnTo>
                      <a:pt x="707390" y="282321"/>
                    </a:lnTo>
                    <a:lnTo>
                      <a:pt x="710946" y="270891"/>
                    </a:lnTo>
                    <a:lnTo>
                      <a:pt x="694817" y="263779"/>
                    </a:lnTo>
                    <a:lnTo>
                      <a:pt x="680923" y="253860"/>
                    </a:lnTo>
                    <a:lnTo>
                      <a:pt x="652424" y="207657"/>
                    </a:lnTo>
                    <a:lnTo>
                      <a:pt x="644042" y="164719"/>
                    </a:lnTo>
                    <a:lnTo>
                      <a:pt x="643001" y="139827"/>
                    </a:lnTo>
                    <a:lnTo>
                      <a:pt x="644042" y="115735"/>
                    </a:lnTo>
                    <a:lnTo>
                      <a:pt x="652424" y="73926"/>
                    </a:lnTo>
                    <a:lnTo>
                      <a:pt x="681012" y="28435"/>
                    </a:lnTo>
                    <a:lnTo>
                      <a:pt x="695032" y="18643"/>
                    </a:lnTo>
                    <a:lnTo>
                      <a:pt x="711327" y="11557"/>
                    </a:lnTo>
                    <a:close/>
                  </a:path>
                  <a:path w="1052195" h="427354">
                    <a:moveTo>
                      <a:pt x="1052195" y="141224"/>
                    </a:moveTo>
                    <a:lnTo>
                      <a:pt x="1046365" y="91478"/>
                    </a:lnTo>
                    <a:lnTo>
                      <a:pt x="1028827" y="49530"/>
                    </a:lnTo>
                    <a:lnTo>
                      <a:pt x="1000531" y="18097"/>
                    </a:lnTo>
                    <a:lnTo>
                      <a:pt x="962152" y="0"/>
                    </a:lnTo>
                    <a:lnTo>
                      <a:pt x="958088" y="11557"/>
                    </a:lnTo>
                    <a:lnTo>
                      <a:pt x="974445" y="18643"/>
                    </a:lnTo>
                    <a:lnTo>
                      <a:pt x="988504" y="28435"/>
                    </a:lnTo>
                    <a:lnTo>
                      <a:pt x="1017028" y="73926"/>
                    </a:lnTo>
                    <a:lnTo>
                      <a:pt x="1025359" y="115735"/>
                    </a:lnTo>
                    <a:lnTo>
                      <a:pt x="1026414" y="139827"/>
                    </a:lnTo>
                    <a:lnTo>
                      <a:pt x="1025359" y="164719"/>
                    </a:lnTo>
                    <a:lnTo>
                      <a:pt x="1016977" y="207657"/>
                    </a:lnTo>
                    <a:lnTo>
                      <a:pt x="988504" y="253860"/>
                    </a:lnTo>
                    <a:lnTo>
                      <a:pt x="958596" y="270891"/>
                    </a:lnTo>
                    <a:lnTo>
                      <a:pt x="962152" y="282321"/>
                    </a:lnTo>
                    <a:lnTo>
                      <a:pt x="1000645" y="264312"/>
                    </a:lnTo>
                    <a:lnTo>
                      <a:pt x="1028954" y="233045"/>
                    </a:lnTo>
                    <a:lnTo>
                      <a:pt x="1046378" y="191135"/>
                    </a:lnTo>
                    <a:lnTo>
                      <a:pt x="1050734" y="167182"/>
                    </a:lnTo>
                    <a:lnTo>
                      <a:pt x="1052195" y="141224"/>
                    </a:lnTo>
                    <a:close/>
                  </a:path>
                </a:pathLst>
              </a:custGeom>
              <a:solidFill>
                <a:srgbClr val="000000"/>
              </a:solidFill>
            </p:spPr>
            <p:txBody>
              <a:bodyPr wrap="square" lIns="0" tIns="0" rIns="0" bIns="0" rtlCol="0"/>
              <a:lstStyle/>
              <a:p>
                <a:endParaRPr/>
              </a:p>
            </p:txBody>
          </p:sp>
          <p:pic>
            <p:nvPicPr>
              <p:cNvPr id="9" name="object 9"/>
              <p:cNvPicPr/>
              <p:nvPr/>
            </p:nvPicPr>
            <p:blipFill>
              <a:blip r:embed="rId5" cstate="print"/>
              <a:stretch>
                <a:fillRect/>
              </a:stretch>
            </p:blipFill>
            <p:spPr>
              <a:xfrm>
                <a:off x="3562223" y="3664584"/>
                <a:ext cx="212725" cy="144653"/>
              </a:xfrm>
              <a:prstGeom prst="rect">
                <a:avLst/>
              </a:prstGeom>
            </p:spPr>
          </p:pic>
          <p:pic>
            <p:nvPicPr>
              <p:cNvPr id="10" name="object 10"/>
              <p:cNvPicPr/>
              <p:nvPr/>
            </p:nvPicPr>
            <p:blipFill>
              <a:blip r:embed="rId7" cstate="print"/>
              <a:stretch>
                <a:fillRect/>
              </a:stretch>
            </p:blipFill>
            <p:spPr>
              <a:xfrm>
                <a:off x="2960195" y="3365500"/>
                <a:ext cx="150542" cy="215137"/>
              </a:xfrm>
              <a:prstGeom prst="rect">
                <a:avLst/>
              </a:prstGeom>
            </p:spPr>
          </p:pic>
        </p:grpSp>
        <p:pic>
          <p:nvPicPr>
            <p:cNvPr id="22" name="object 22"/>
            <p:cNvPicPr/>
            <p:nvPr/>
          </p:nvPicPr>
          <p:blipFill>
            <a:blip r:embed="rId8" cstate="print"/>
            <a:stretch>
              <a:fillRect/>
            </a:stretch>
          </p:blipFill>
          <p:spPr>
            <a:xfrm>
              <a:off x="2407157" y="3940644"/>
              <a:ext cx="289814" cy="202133"/>
            </a:xfrm>
            <a:prstGeom prst="rect">
              <a:avLst/>
            </a:prstGeom>
          </p:spPr>
        </p:pic>
      </p:grpSp>
      <p:pic>
        <p:nvPicPr>
          <p:cNvPr id="25" name="object 25"/>
          <p:cNvPicPr/>
          <p:nvPr/>
        </p:nvPicPr>
        <p:blipFill>
          <a:blip r:embed="rId9" cstate="print"/>
          <a:stretch>
            <a:fillRect/>
          </a:stretch>
        </p:blipFill>
        <p:spPr>
          <a:xfrm>
            <a:off x="5691087" y="1738884"/>
            <a:ext cx="213397" cy="281685"/>
          </a:xfrm>
          <a:prstGeom prst="rect">
            <a:avLst/>
          </a:prstGeom>
        </p:spPr>
      </p:pic>
      <p:pic>
        <p:nvPicPr>
          <p:cNvPr id="28" name="object 28"/>
          <p:cNvPicPr/>
          <p:nvPr/>
        </p:nvPicPr>
        <p:blipFill>
          <a:blip r:embed="rId10" cstate="print"/>
          <a:stretch>
            <a:fillRect/>
          </a:stretch>
        </p:blipFill>
        <p:spPr>
          <a:xfrm>
            <a:off x="5969254" y="1803147"/>
            <a:ext cx="385191" cy="259079"/>
          </a:xfrm>
          <a:prstGeom prst="rect">
            <a:avLst/>
          </a:prstGeom>
        </p:spPr>
      </p:pic>
      <p:pic>
        <p:nvPicPr>
          <p:cNvPr id="29" name="object 29"/>
          <p:cNvPicPr/>
          <p:nvPr/>
        </p:nvPicPr>
        <p:blipFill>
          <a:blip r:embed="rId11" cstate="print"/>
          <a:stretch>
            <a:fillRect/>
          </a:stretch>
        </p:blipFill>
        <p:spPr>
          <a:xfrm>
            <a:off x="6431789" y="1750061"/>
            <a:ext cx="394463" cy="208279"/>
          </a:xfrm>
          <a:prstGeom prst="rect">
            <a:avLst/>
          </a:prstGeom>
        </p:spPr>
      </p:pic>
      <p:sp>
        <p:nvSpPr>
          <p:cNvPr id="38" name="Slide Number Placeholder 37">
            <a:extLst>
              <a:ext uri="{FF2B5EF4-FFF2-40B4-BE49-F238E27FC236}">
                <a16:creationId xmlns:a16="http://schemas.microsoft.com/office/drawing/2014/main" id="{A18D933F-A008-1E92-ABCD-242D2DA08D54}"/>
              </a:ext>
            </a:extLst>
          </p:cNvPr>
          <p:cNvSpPr>
            <a:spLocks noGrp="1"/>
          </p:cNvSpPr>
          <p:nvPr>
            <p:ph type="sldNum" sz="quarter" idx="12"/>
          </p:nvPr>
        </p:nvSpPr>
        <p:spPr>
          <a:xfrm>
            <a:off x="8714866" y="4782168"/>
            <a:ext cx="356131" cy="273844"/>
          </a:xfrm>
        </p:spPr>
        <p:txBody>
          <a:bodyPr/>
          <a:lstStyle/>
          <a:p>
            <a:fld id="{B6F15528-21DE-4FAA-801E-634DDDAF4B2B}" type="slidenum">
              <a:rPr lang="en-PS" smtClean="0"/>
              <a:t>24</a:t>
            </a:fld>
            <a:endParaRPr lang="en-PS" dirty="0"/>
          </a:p>
        </p:txBody>
      </p:sp>
      <p:sp>
        <p:nvSpPr>
          <p:cNvPr id="39" name="TextBox 38">
            <a:extLst>
              <a:ext uri="{FF2B5EF4-FFF2-40B4-BE49-F238E27FC236}">
                <a16:creationId xmlns:a16="http://schemas.microsoft.com/office/drawing/2014/main" id="{2739BAB6-A887-5582-6250-E7B46A200120}"/>
              </a:ext>
            </a:extLst>
          </p:cNvPr>
          <p:cNvSpPr txBox="1"/>
          <p:nvPr/>
        </p:nvSpPr>
        <p:spPr>
          <a:xfrm>
            <a:off x="289674" y="85317"/>
            <a:ext cx="5627823" cy="461665"/>
          </a:xfrm>
          <a:prstGeom prst="rect">
            <a:avLst/>
          </a:prstGeom>
          <a:noFill/>
        </p:spPr>
        <p:txBody>
          <a:bodyPr wrap="none" rtlCol="0">
            <a:spAutoFit/>
          </a:bodyPr>
          <a:lstStyle/>
          <a:p>
            <a:r>
              <a:rPr lang="en-PS" sz="2400" dirty="0">
                <a:solidFill>
                  <a:srgbClr val="0432FF"/>
                </a:solidFill>
                <a:latin typeface="Gill Sans MT" panose="020B0502020104020203" pitchFamily="34" charset="77"/>
              </a:rPr>
              <a:t>What if the value of w is at the minimum ??</a:t>
            </a:r>
          </a:p>
        </p:txBody>
      </p:sp>
      <p:sp>
        <p:nvSpPr>
          <p:cNvPr id="41" name="TextBox 40">
            <a:extLst>
              <a:ext uri="{FF2B5EF4-FFF2-40B4-BE49-F238E27FC236}">
                <a16:creationId xmlns:a16="http://schemas.microsoft.com/office/drawing/2014/main" id="{4F7B162C-EA02-782B-A68A-108C8F7296FA}"/>
              </a:ext>
            </a:extLst>
          </p:cNvPr>
          <p:cNvSpPr txBox="1"/>
          <p:nvPr/>
        </p:nvSpPr>
        <p:spPr>
          <a:xfrm>
            <a:off x="4822575" y="3212471"/>
            <a:ext cx="4007354" cy="1323439"/>
          </a:xfrm>
          <a:prstGeom prst="rect">
            <a:avLst/>
          </a:prstGeom>
          <a:noFill/>
        </p:spPr>
        <p:txBody>
          <a:bodyPr wrap="square" rtlCol="0">
            <a:spAutoFit/>
          </a:bodyPr>
          <a:lstStyle/>
          <a:p>
            <a:r>
              <a:rPr lang="en-PS" sz="2000" dirty="0">
                <a:latin typeface="Gill Sans MT" panose="020B0502020104020203" pitchFamily="34" charset="77"/>
                <a:cs typeface="Times New Roman" panose="02020603050405020304" pitchFamily="18" charset="0"/>
              </a:rPr>
              <a:t>At the minimum point the slope = 0</a:t>
            </a:r>
          </a:p>
          <a:p>
            <a:r>
              <a:rPr lang="en-PS" sz="2000" dirty="0">
                <a:latin typeface="Gill Sans MT" panose="020B0502020104020203" pitchFamily="34" charset="77"/>
                <a:cs typeface="Times New Roman" panose="02020603050405020304" pitchFamily="18" charset="0"/>
              </a:rPr>
              <a:t>w = w – a (derivative)</a:t>
            </a:r>
          </a:p>
          <a:p>
            <a:r>
              <a:rPr lang="en-PS" sz="2000" dirty="0">
                <a:latin typeface="Gill Sans MT" panose="020B0502020104020203" pitchFamily="34" charset="77"/>
                <a:cs typeface="Times New Roman" panose="02020603050405020304" pitchFamily="18" charset="0"/>
              </a:rPr>
              <a:t>w = w – a (0)</a:t>
            </a:r>
          </a:p>
          <a:p>
            <a:r>
              <a:rPr lang="en-PS" sz="2000" dirty="0">
                <a:latin typeface="Gill Sans MT" panose="020B0502020104020203" pitchFamily="34" charset="77"/>
                <a:cs typeface="Times New Roman" panose="02020603050405020304" pitchFamily="18" charset="0"/>
              </a:rPr>
              <a:t>w = w </a:t>
            </a:r>
          </a:p>
        </p:txBody>
      </p:sp>
      <p:sp>
        <p:nvSpPr>
          <p:cNvPr id="44" name="TextBox 43">
            <a:extLst>
              <a:ext uri="{FF2B5EF4-FFF2-40B4-BE49-F238E27FC236}">
                <a16:creationId xmlns:a16="http://schemas.microsoft.com/office/drawing/2014/main" id="{F1AD3F75-1452-80F0-B4E1-9782F208D8A2}"/>
              </a:ext>
            </a:extLst>
          </p:cNvPr>
          <p:cNvSpPr txBox="1"/>
          <p:nvPr/>
        </p:nvSpPr>
        <p:spPr>
          <a:xfrm>
            <a:off x="623967" y="4625539"/>
            <a:ext cx="7729808" cy="400110"/>
          </a:xfrm>
          <a:prstGeom prst="rect">
            <a:avLst/>
          </a:prstGeom>
          <a:noFill/>
        </p:spPr>
        <p:txBody>
          <a:bodyPr wrap="none" rtlCol="0">
            <a:spAutoFit/>
          </a:bodyPr>
          <a:lstStyle/>
          <a:p>
            <a:r>
              <a:rPr lang="en-PS" sz="2000" dirty="0">
                <a:solidFill>
                  <a:srgbClr val="0432FF"/>
                </a:solidFill>
                <a:latin typeface="Gill Sans MT" panose="020B0502020104020203" pitchFamily="34" charset="77"/>
              </a:rPr>
              <a:t>If the algorithm reaches the minimum, then further steps will do nothing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430" y="204128"/>
            <a:ext cx="7607300" cy="401264"/>
          </a:xfrm>
          <a:prstGeom prst="rect">
            <a:avLst/>
          </a:prstGeom>
        </p:spPr>
        <p:txBody>
          <a:bodyPr vert="horz" wrap="square" lIns="0" tIns="13335" rIns="0" bIns="0" rtlCol="0">
            <a:spAutoFit/>
          </a:bodyPr>
          <a:lstStyle/>
          <a:p>
            <a:pPr marL="12700">
              <a:spcBef>
                <a:spcPts val="105"/>
              </a:spcBef>
            </a:pPr>
            <a:r>
              <a:rPr sz="2800" spc="-15" dirty="0">
                <a:solidFill>
                  <a:srgbClr val="0432FF"/>
                </a:solidFill>
              </a:rPr>
              <a:t>Can</a:t>
            </a:r>
            <a:r>
              <a:rPr sz="2800" spc="31" dirty="0">
                <a:solidFill>
                  <a:srgbClr val="0432FF"/>
                </a:solidFill>
              </a:rPr>
              <a:t> </a:t>
            </a:r>
            <a:r>
              <a:rPr sz="2800" dirty="0">
                <a:solidFill>
                  <a:srgbClr val="0432FF"/>
                </a:solidFill>
              </a:rPr>
              <a:t>reach</a:t>
            </a:r>
            <a:r>
              <a:rPr sz="2800" spc="-40" dirty="0">
                <a:solidFill>
                  <a:srgbClr val="0432FF"/>
                </a:solidFill>
              </a:rPr>
              <a:t> </a:t>
            </a:r>
            <a:r>
              <a:rPr sz="2800" spc="-5" dirty="0">
                <a:solidFill>
                  <a:srgbClr val="0432FF"/>
                </a:solidFill>
              </a:rPr>
              <a:t>local</a:t>
            </a:r>
            <a:r>
              <a:rPr sz="2800" spc="71" dirty="0">
                <a:solidFill>
                  <a:srgbClr val="0432FF"/>
                </a:solidFill>
              </a:rPr>
              <a:t> </a:t>
            </a:r>
            <a:r>
              <a:rPr sz="2800" spc="-11" dirty="0">
                <a:solidFill>
                  <a:srgbClr val="0432FF"/>
                </a:solidFill>
              </a:rPr>
              <a:t>minimum</a:t>
            </a:r>
            <a:r>
              <a:rPr sz="2800" spc="40" dirty="0">
                <a:solidFill>
                  <a:srgbClr val="0432FF"/>
                </a:solidFill>
              </a:rPr>
              <a:t> </a:t>
            </a:r>
            <a:r>
              <a:rPr sz="2800" spc="5" dirty="0">
                <a:solidFill>
                  <a:srgbClr val="0432FF"/>
                </a:solidFill>
              </a:rPr>
              <a:t>with</a:t>
            </a:r>
            <a:r>
              <a:rPr sz="2800" spc="-35" dirty="0">
                <a:solidFill>
                  <a:srgbClr val="0432FF"/>
                </a:solidFill>
              </a:rPr>
              <a:t> </a:t>
            </a:r>
            <a:r>
              <a:rPr sz="2800" spc="-5" dirty="0">
                <a:solidFill>
                  <a:srgbClr val="0432FF"/>
                </a:solidFill>
              </a:rPr>
              <a:t>fixed</a:t>
            </a:r>
            <a:r>
              <a:rPr sz="2800" spc="45" dirty="0">
                <a:solidFill>
                  <a:srgbClr val="0432FF"/>
                </a:solidFill>
              </a:rPr>
              <a:t> </a:t>
            </a:r>
            <a:r>
              <a:rPr sz="2800" spc="-5" dirty="0">
                <a:solidFill>
                  <a:srgbClr val="0432FF"/>
                </a:solidFill>
              </a:rPr>
              <a:t>learning</a:t>
            </a:r>
            <a:r>
              <a:rPr sz="2800" spc="-15" dirty="0">
                <a:solidFill>
                  <a:srgbClr val="0432FF"/>
                </a:solidFill>
              </a:rPr>
              <a:t> </a:t>
            </a:r>
            <a:r>
              <a:rPr sz="2800" spc="5" dirty="0">
                <a:solidFill>
                  <a:srgbClr val="0432FF"/>
                </a:solidFill>
              </a:rPr>
              <a:t>rate</a:t>
            </a:r>
            <a:endParaRPr sz="2800" dirty="0">
              <a:solidFill>
                <a:srgbClr val="0432FF"/>
              </a:solidFill>
            </a:endParaRPr>
          </a:p>
        </p:txBody>
      </p:sp>
      <p:grpSp>
        <p:nvGrpSpPr>
          <p:cNvPr id="28" name="Group 27">
            <a:extLst>
              <a:ext uri="{FF2B5EF4-FFF2-40B4-BE49-F238E27FC236}">
                <a16:creationId xmlns:a16="http://schemas.microsoft.com/office/drawing/2014/main" id="{215E03C2-900E-FCEF-2F24-4E7834806C27}"/>
              </a:ext>
            </a:extLst>
          </p:cNvPr>
          <p:cNvGrpSpPr/>
          <p:nvPr/>
        </p:nvGrpSpPr>
        <p:grpSpPr>
          <a:xfrm>
            <a:off x="5258181" y="1296925"/>
            <a:ext cx="3724695" cy="2955331"/>
            <a:chOff x="5258181" y="1296925"/>
            <a:chExt cx="3724695" cy="2955331"/>
          </a:xfrm>
        </p:grpSpPr>
        <p:sp>
          <p:nvSpPr>
            <p:cNvPr id="4" name="object 4"/>
            <p:cNvSpPr/>
            <p:nvPr/>
          </p:nvSpPr>
          <p:spPr>
            <a:xfrm>
              <a:off x="5258181" y="1343025"/>
              <a:ext cx="3691890" cy="2865755"/>
            </a:xfrm>
            <a:custGeom>
              <a:avLst/>
              <a:gdLst/>
              <a:ahLst/>
              <a:cxnLst/>
              <a:rect l="l" t="t" r="r" b="b"/>
              <a:pathLst>
                <a:path w="3691890" h="2865754">
                  <a:moveTo>
                    <a:pt x="79375" y="1124204"/>
                  </a:moveTo>
                  <a:lnTo>
                    <a:pt x="76073" y="1114552"/>
                  </a:lnTo>
                  <a:lnTo>
                    <a:pt x="58750" y="1120813"/>
                  </a:lnTo>
                  <a:lnTo>
                    <a:pt x="43586" y="1129880"/>
                  </a:lnTo>
                  <a:lnTo>
                    <a:pt x="11087" y="1173200"/>
                  </a:lnTo>
                  <a:lnTo>
                    <a:pt x="1231" y="1211961"/>
                  </a:lnTo>
                  <a:lnTo>
                    <a:pt x="0" y="1233805"/>
                  </a:lnTo>
                  <a:lnTo>
                    <a:pt x="1231" y="1255649"/>
                  </a:lnTo>
                  <a:lnTo>
                    <a:pt x="11087" y="1294320"/>
                  </a:lnTo>
                  <a:lnTo>
                    <a:pt x="43586" y="1337551"/>
                  </a:lnTo>
                  <a:lnTo>
                    <a:pt x="76073" y="1352804"/>
                  </a:lnTo>
                  <a:lnTo>
                    <a:pt x="78994" y="1343152"/>
                  </a:lnTo>
                  <a:lnTo>
                    <a:pt x="65443" y="1337132"/>
                  </a:lnTo>
                  <a:lnTo>
                    <a:pt x="53746" y="1328762"/>
                  </a:lnTo>
                  <a:lnTo>
                    <a:pt x="29768" y="1289748"/>
                  </a:lnTo>
                  <a:lnTo>
                    <a:pt x="21844" y="1232535"/>
                  </a:lnTo>
                  <a:lnTo>
                    <a:pt x="22720" y="1212202"/>
                  </a:lnTo>
                  <a:lnTo>
                    <a:pt x="35941" y="1162050"/>
                  </a:lnTo>
                  <a:lnTo>
                    <a:pt x="65659" y="1130211"/>
                  </a:lnTo>
                  <a:lnTo>
                    <a:pt x="79375" y="1124204"/>
                  </a:lnTo>
                  <a:close/>
                </a:path>
                <a:path w="3691890" h="2865754">
                  <a:moveTo>
                    <a:pt x="366395" y="1233805"/>
                  </a:moveTo>
                  <a:lnTo>
                    <a:pt x="361454" y="1191742"/>
                  </a:lnTo>
                  <a:lnTo>
                    <a:pt x="346710" y="1156335"/>
                  </a:lnTo>
                  <a:lnTo>
                    <a:pt x="307682" y="1120813"/>
                  </a:lnTo>
                  <a:lnTo>
                    <a:pt x="290449" y="1114552"/>
                  </a:lnTo>
                  <a:lnTo>
                    <a:pt x="287020" y="1124204"/>
                  </a:lnTo>
                  <a:lnTo>
                    <a:pt x="300799" y="1130211"/>
                  </a:lnTo>
                  <a:lnTo>
                    <a:pt x="312648" y="1138516"/>
                  </a:lnTo>
                  <a:lnTo>
                    <a:pt x="336740" y="1176959"/>
                  </a:lnTo>
                  <a:lnTo>
                    <a:pt x="344678" y="1232535"/>
                  </a:lnTo>
                  <a:lnTo>
                    <a:pt x="343789" y="1253515"/>
                  </a:lnTo>
                  <a:lnTo>
                    <a:pt x="330581" y="1304925"/>
                  </a:lnTo>
                  <a:lnTo>
                    <a:pt x="300964" y="1337132"/>
                  </a:lnTo>
                  <a:lnTo>
                    <a:pt x="287401" y="1343152"/>
                  </a:lnTo>
                  <a:lnTo>
                    <a:pt x="290449" y="1352804"/>
                  </a:lnTo>
                  <a:lnTo>
                    <a:pt x="335953" y="1325753"/>
                  </a:lnTo>
                  <a:lnTo>
                    <a:pt x="361518" y="1275816"/>
                  </a:lnTo>
                  <a:lnTo>
                    <a:pt x="365175" y="1255649"/>
                  </a:lnTo>
                  <a:lnTo>
                    <a:pt x="366395" y="1233805"/>
                  </a:lnTo>
                  <a:close/>
                </a:path>
                <a:path w="3691890" h="2865754">
                  <a:moveTo>
                    <a:pt x="3691890" y="2581275"/>
                  </a:moveTo>
                  <a:lnTo>
                    <a:pt x="3669030" y="2562225"/>
                  </a:lnTo>
                  <a:lnTo>
                    <a:pt x="3560064" y="2471420"/>
                  </a:lnTo>
                  <a:lnTo>
                    <a:pt x="3553447" y="2467826"/>
                  </a:lnTo>
                  <a:lnTo>
                    <a:pt x="3528949" y="2487765"/>
                  </a:lnTo>
                  <a:lnTo>
                    <a:pt x="3530981" y="2494750"/>
                  </a:lnTo>
                  <a:lnTo>
                    <a:pt x="3535680" y="2500630"/>
                  </a:lnTo>
                  <a:lnTo>
                    <a:pt x="3609556" y="2562225"/>
                  </a:lnTo>
                  <a:lnTo>
                    <a:pt x="552069" y="2562225"/>
                  </a:lnTo>
                  <a:lnTo>
                    <a:pt x="552069" y="82296"/>
                  </a:lnTo>
                  <a:lnTo>
                    <a:pt x="613664" y="156210"/>
                  </a:lnTo>
                  <a:lnTo>
                    <a:pt x="619544" y="160972"/>
                  </a:lnTo>
                  <a:lnTo>
                    <a:pt x="626529" y="162991"/>
                  </a:lnTo>
                  <a:lnTo>
                    <a:pt x="633780" y="162229"/>
                  </a:lnTo>
                  <a:lnTo>
                    <a:pt x="640461" y="158623"/>
                  </a:lnTo>
                  <a:lnTo>
                    <a:pt x="645210" y="152742"/>
                  </a:lnTo>
                  <a:lnTo>
                    <a:pt x="647230" y="145757"/>
                  </a:lnTo>
                  <a:lnTo>
                    <a:pt x="646468" y="138506"/>
                  </a:lnTo>
                  <a:lnTo>
                    <a:pt x="642874" y="131826"/>
                  </a:lnTo>
                  <a:lnTo>
                    <a:pt x="557784" y="29718"/>
                  </a:lnTo>
                  <a:lnTo>
                    <a:pt x="533019" y="0"/>
                  </a:lnTo>
                  <a:lnTo>
                    <a:pt x="423164" y="131826"/>
                  </a:lnTo>
                  <a:lnTo>
                    <a:pt x="419557" y="138506"/>
                  </a:lnTo>
                  <a:lnTo>
                    <a:pt x="418795" y="145757"/>
                  </a:lnTo>
                  <a:lnTo>
                    <a:pt x="420814" y="152742"/>
                  </a:lnTo>
                  <a:lnTo>
                    <a:pt x="425577" y="158623"/>
                  </a:lnTo>
                  <a:lnTo>
                    <a:pt x="432244" y="162229"/>
                  </a:lnTo>
                  <a:lnTo>
                    <a:pt x="439496" y="162991"/>
                  </a:lnTo>
                  <a:lnTo>
                    <a:pt x="446481" y="160972"/>
                  </a:lnTo>
                  <a:lnTo>
                    <a:pt x="452374" y="156210"/>
                  </a:lnTo>
                  <a:lnTo>
                    <a:pt x="513956" y="82296"/>
                  </a:lnTo>
                  <a:lnTo>
                    <a:pt x="513969" y="29718"/>
                  </a:lnTo>
                  <a:lnTo>
                    <a:pt x="513969" y="82296"/>
                  </a:lnTo>
                  <a:lnTo>
                    <a:pt x="513969" y="2562225"/>
                  </a:lnTo>
                  <a:lnTo>
                    <a:pt x="256794" y="2562225"/>
                  </a:lnTo>
                  <a:lnTo>
                    <a:pt x="256794" y="2600325"/>
                  </a:lnTo>
                  <a:lnTo>
                    <a:pt x="513969" y="2600325"/>
                  </a:lnTo>
                  <a:lnTo>
                    <a:pt x="513969" y="2865513"/>
                  </a:lnTo>
                  <a:lnTo>
                    <a:pt x="552069" y="2865513"/>
                  </a:lnTo>
                  <a:lnTo>
                    <a:pt x="552069" y="2600325"/>
                  </a:lnTo>
                  <a:lnTo>
                    <a:pt x="3609556" y="2600325"/>
                  </a:lnTo>
                  <a:lnTo>
                    <a:pt x="3535680" y="2661894"/>
                  </a:lnTo>
                  <a:lnTo>
                    <a:pt x="3530981" y="2667800"/>
                  </a:lnTo>
                  <a:lnTo>
                    <a:pt x="3528949" y="2674810"/>
                  </a:lnTo>
                  <a:lnTo>
                    <a:pt x="3529673" y="2682075"/>
                  </a:lnTo>
                  <a:lnTo>
                    <a:pt x="3533267" y="2688717"/>
                  </a:lnTo>
                  <a:lnTo>
                    <a:pt x="3539159" y="2693466"/>
                  </a:lnTo>
                  <a:lnTo>
                    <a:pt x="3546183" y="2695498"/>
                  </a:lnTo>
                  <a:lnTo>
                    <a:pt x="3553447" y="2694762"/>
                  </a:lnTo>
                  <a:lnTo>
                    <a:pt x="3560064" y="2691155"/>
                  </a:lnTo>
                  <a:lnTo>
                    <a:pt x="3669030" y="2600325"/>
                  </a:lnTo>
                  <a:lnTo>
                    <a:pt x="3691890" y="2581275"/>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5943894" y="1807229"/>
              <a:ext cx="3038982" cy="2171255"/>
            </a:xfrm>
            <a:prstGeom prst="rect">
              <a:avLst/>
            </a:prstGeom>
          </p:spPr>
        </p:pic>
        <p:pic>
          <p:nvPicPr>
            <p:cNvPr id="6" name="object 6"/>
            <p:cNvPicPr/>
            <p:nvPr/>
          </p:nvPicPr>
          <p:blipFill>
            <a:blip r:embed="rId3" cstate="print"/>
            <a:stretch>
              <a:fillRect/>
            </a:stretch>
          </p:blipFill>
          <p:spPr>
            <a:xfrm>
              <a:off x="8238744" y="1296925"/>
              <a:ext cx="692657" cy="322579"/>
            </a:xfrm>
            <a:prstGeom prst="rect">
              <a:avLst/>
            </a:prstGeom>
          </p:spPr>
        </p:pic>
        <p:pic>
          <p:nvPicPr>
            <p:cNvPr id="7" name="object 7"/>
            <p:cNvPicPr/>
            <p:nvPr/>
          </p:nvPicPr>
          <p:blipFill>
            <a:blip r:embed="rId4" cstate="print"/>
            <a:stretch>
              <a:fillRect/>
            </a:stretch>
          </p:blipFill>
          <p:spPr>
            <a:xfrm>
              <a:off x="6760926" y="4010956"/>
              <a:ext cx="174162" cy="241300"/>
            </a:xfrm>
            <a:prstGeom prst="rect">
              <a:avLst/>
            </a:prstGeom>
          </p:spPr>
        </p:pic>
      </p:grpSp>
      <p:pic>
        <p:nvPicPr>
          <p:cNvPr id="8" name="object 8"/>
          <p:cNvPicPr/>
          <p:nvPr/>
        </p:nvPicPr>
        <p:blipFill>
          <a:blip r:embed="rId5" cstate="print"/>
          <a:stretch>
            <a:fillRect/>
          </a:stretch>
        </p:blipFill>
        <p:spPr>
          <a:xfrm>
            <a:off x="364947" y="1718565"/>
            <a:ext cx="212675" cy="144652"/>
          </a:xfrm>
          <a:prstGeom prst="rect">
            <a:avLst/>
          </a:prstGeom>
        </p:spPr>
      </p:pic>
      <p:sp>
        <p:nvSpPr>
          <p:cNvPr id="9" name="object 9"/>
          <p:cNvSpPr/>
          <p:nvPr/>
        </p:nvSpPr>
        <p:spPr>
          <a:xfrm>
            <a:off x="693255" y="1732915"/>
            <a:ext cx="183515" cy="81915"/>
          </a:xfrm>
          <a:custGeom>
            <a:avLst/>
            <a:gdLst/>
            <a:ahLst/>
            <a:cxnLst/>
            <a:rect l="l" t="t" r="r" b="b"/>
            <a:pathLst>
              <a:path w="183515" h="81914">
                <a:moveTo>
                  <a:pt x="183362" y="61849"/>
                </a:moveTo>
                <a:lnTo>
                  <a:pt x="0" y="61849"/>
                </a:lnTo>
                <a:lnTo>
                  <a:pt x="0" y="81661"/>
                </a:lnTo>
                <a:lnTo>
                  <a:pt x="183362" y="81661"/>
                </a:lnTo>
                <a:lnTo>
                  <a:pt x="183362" y="61849"/>
                </a:lnTo>
                <a:close/>
              </a:path>
              <a:path w="183515" h="81914">
                <a:moveTo>
                  <a:pt x="183362" y="0"/>
                </a:moveTo>
                <a:lnTo>
                  <a:pt x="0" y="0"/>
                </a:lnTo>
                <a:lnTo>
                  <a:pt x="0" y="19812"/>
                </a:lnTo>
                <a:lnTo>
                  <a:pt x="183362" y="19812"/>
                </a:lnTo>
                <a:lnTo>
                  <a:pt x="183362" y="0"/>
                </a:lnTo>
                <a:close/>
              </a:path>
            </a:pathLst>
          </a:custGeom>
          <a:solidFill>
            <a:srgbClr val="000000"/>
          </a:solidFill>
        </p:spPr>
        <p:txBody>
          <a:bodyPr wrap="square" lIns="0" tIns="0" rIns="0" bIns="0" rtlCol="0"/>
          <a:lstStyle/>
          <a:p>
            <a:endParaRPr/>
          </a:p>
        </p:txBody>
      </p:sp>
      <p:pic>
        <p:nvPicPr>
          <p:cNvPr id="10" name="object 10"/>
          <p:cNvPicPr/>
          <p:nvPr/>
        </p:nvPicPr>
        <p:blipFill>
          <a:blip r:embed="rId5" cstate="print"/>
          <a:stretch>
            <a:fillRect/>
          </a:stretch>
        </p:blipFill>
        <p:spPr>
          <a:xfrm>
            <a:off x="993597" y="1718565"/>
            <a:ext cx="212675" cy="144652"/>
          </a:xfrm>
          <a:prstGeom prst="rect">
            <a:avLst/>
          </a:prstGeom>
        </p:spPr>
      </p:pic>
      <p:grpSp>
        <p:nvGrpSpPr>
          <p:cNvPr id="11" name="object 11"/>
          <p:cNvGrpSpPr/>
          <p:nvPr/>
        </p:nvGrpSpPr>
        <p:grpSpPr>
          <a:xfrm>
            <a:off x="1312417" y="1345692"/>
            <a:ext cx="1967738" cy="840740"/>
            <a:chOff x="1312417" y="1345691"/>
            <a:chExt cx="1967738" cy="840740"/>
          </a:xfrm>
        </p:grpSpPr>
        <p:sp>
          <p:nvSpPr>
            <p:cNvPr id="12" name="object 12"/>
            <p:cNvSpPr/>
            <p:nvPr/>
          </p:nvSpPr>
          <p:spPr>
            <a:xfrm>
              <a:off x="1312417" y="1763793"/>
              <a:ext cx="183515" cy="20320"/>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a:p>
          </p:txBody>
        </p:sp>
        <p:pic>
          <p:nvPicPr>
            <p:cNvPr id="13" name="object 13"/>
            <p:cNvPicPr/>
            <p:nvPr/>
          </p:nvPicPr>
          <p:blipFill>
            <a:blip r:embed="rId6" cstate="print"/>
            <a:stretch>
              <a:fillRect/>
            </a:stretch>
          </p:blipFill>
          <p:spPr>
            <a:xfrm>
              <a:off x="1537760" y="1345691"/>
              <a:ext cx="1742395" cy="840740"/>
            </a:xfrm>
            <a:prstGeom prst="rect">
              <a:avLst/>
            </a:prstGeom>
          </p:spPr>
        </p:pic>
      </p:grpSp>
      <p:sp>
        <p:nvSpPr>
          <p:cNvPr id="18" name="object 18"/>
          <p:cNvSpPr txBox="1"/>
          <p:nvPr/>
        </p:nvSpPr>
        <p:spPr>
          <a:xfrm>
            <a:off x="169658" y="2757689"/>
            <a:ext cx="5333569" cy="2016578"/>
          </a:xfrm>
          <a:prstGeom prst="rect">
            <a:avLst/>
          </a:prstGeom>
        </p:spPr>
        <p:txBody>
          <a:bodyPr vert="horz" wrap="square" lIns="0" tIns="15875" rIns="0" bIns="0" rtlCol="0">
            <a:spAutoFit/>
          </a:bodyPr>
          <a:lstStyle/>
          <a:p>
            <a:pPr marL="49529">
              <a:spcBef>
                <a:spcPts val="125"/>
              </a:spcBef>
            </a:pPr>
            <a:r>
              <a:rPr sz="2400" dirty="0">
                <a:latin typeface="Gill Sans MT" panose="020B0502020104020203" pitchFamily="34" charset="77"/>
                <a:cs typeface="Verdana"/>
              </a:rPr>
              <a:t>Near</a:t>
            </a:r>
            <a:r>
              <a:rPr sz="2400" spc="-91" dirty="0">
                <a:latin typeface="Gill Sans MT" panose="020B0502020104020203" pitchFamily="34" charset="77"/>
                <a:cs typeface="Verdana"/>
              </a:rPr>
              <a:t> </a:t>
            </a:r>
            <a:r>
              <a:rPr sz="2400" spc="15" dirty="0">
                <a:latin typeface="Gill Sans MT" panose="020B0502020104020203" pitchFamily="34" charset="77"/>
                <a:cs typeface="Verdana"/>
              </a:rPr>
              <a:t>a</a:t>
            </a:r>
            <a:r>
              <a:rPr sz="2400" spc="11" dirty="0">
                <a:latin typeface="Gill Sans MT" panose="020B0502020104020203" pitchFamily="34" charset="77"/>
                <a:cs typeface="Verdana"/>
              </a:rPr>
              <a:t> </a:t>
            </a:r>
            <a:r>
              <a:rPr sz="2400" spc="-11" dirty="0">
                <a:latin typeface="Gill Sans MT" panose="020B0502020104020203" pitchFamily="34" charset="77"/>
                <a:cs typeface="Verdana"/>
              </a:rPr>
              <a:t>local</a:t>
            </a:r>
            <a:r>
              <a:rPr sz="2400" spc="-5" dirty="0">
                <a:latin typeface="Gill Sans MT" panose="020B0502020104020203" pitchFamily="34" charset="77"/>
                <a:cs typeface="Verdana"/>
              </a:rPr>
              <a:t> minimum,</a:t>
            </a:r>
            <a:endParaRPr sz="2400" dirty="0">
              <a:latin typeface="Gill Sans MT" panose="020B0502020104020203" pitchFamily="34" charset="77"/>
              <a:cs typeface="Verdana"/>
            </a:endParaRPr>
          </a:p>
          <a:p>
            <a:pPr marL="431155" indent="-200655">
              <a:spcBef>
                <a:spcPts val="5"/>
              </a:spcBef>
              <a:buChar char="-"/>
              <a:tabLst>
                <a:tab pos="431155" algn="l"/>
              </a:tabLst>
            </a:pPr>
            <a:r>
              <a:rPr sz="2400" spc="11" dirty="0">
                <a:latin typeface="Gill Sans MT" panose="020B0502020104020203" pitchFamily="34" charset="77"/>
                <a:cs typeface="Verdana"/>
              </a:rPr>
              <a:t>Derivative</a:t>
            </a:r>
            <a:r>
              <a:rPr sz="2400" spc="-160" dirty="0">
                <a:latin typeface="Gill Sans MT" panose="020B0502020104020203" pitchFamily="34" charset="77"/>
                <a:cs typeface="Verdana"/>
              </a:rPr>
              <a:t> </a:t>
            </a:r>
            <a:r>
              <a:rPr sz="2400" spc="5" dirty="0">
                <a:latin typeface="Gill Sans MT" panose="020B0502020104020203" pitchFamily="34" charset="77"/>
                <a:cs typeface="Verdana"/>
              </a:rPr>
              <a:t>becomes</a:t>
            </a:r>
            <a:r>
              <a:rPr sz="2400" spc="-151" dirty="0">
                <a:latin typeface="Gill Sans MT" panose="020B0502020104020203" pitchFamily="34" charset="77"/>
                <a:cs typeface="Verdana"/>
              </a:rPr>
              <a:t> </a:t>
            </a:r>
            <a:r>
              <a:rPr sz="2400" spc="-5" dirty="0">
                <a:latin typeface="Gill Sans MT" panose="020B0502020104020203" pitchFamily="34" charset="77"/>
                <a:cs typeface="Verdana"/>
              </a:rPr>
              <a:t>smaller</a:t>
            </a:r>
            <a:endParaRPr sz="2400" dirty="0">
              <a:latin typeface="Gill Sans MT" panose="020B0502020104020203" pitchFamily="34" charset="77"/>
              <a:cs typeface="Verdana"/>
            </a:endParaRPr>
          </a:p>
          <a:p>
            <a:pPr marL="431155" indent="-200655">
              <a:spcBef>
                <a:spcPts val="5"/>
              </a:spcBef>
              <a:buChar char="-"/>
              <a:tabLst>
                <a:tab pos="431155" algn="l"/>
              </a:tabLst>
            </a:pPr>
            <a:r>
              <a:rPr sz="2400" spc="20" dirty="0">
                <a:latin typeface="Gill Sans MT" panose="020B0502020104020203" pitchFamily="34" charset="77"/>
                <a:cs typeface="Verdana"/>
              </a:rPr>
              <a:t>Update</a:t>
            </a:r>
            <a:r>
              <a:rPr sz="2400" spc="-140" dirty="0">
                <a:latin typeface="Gill Sans MT" panose="020B0502020104020203" pitchFamily="34" charset="77"/>
                <a:cs typeface="Verdana"/>
              </a:rPr>
              <a:t> </a:t>
            </a:r>
            <a:r>
              <a:rPr sz="2400" spc="15" dirty="0">
                <a:latin typeface="Gill Sans MT" panose="020B0502020104020203" pitchFamily="34" charset="77"/>
                <a:cs typeface="Verdana"/>
              </a:rPr>
              <a:t>steps</a:t>
            </a:r>
            <a:r>
              <a:rPr sz="2400" spc="-131" dirty="0">
                <a:latin typeface="Gill Sans MT" panose="020B0502020104020203" pitchFamily="34" charset="77"/>
                <a:cs typeface="Verdana"/>
              </a:rPr>
              <a:t> </a:t>
            </a:r>
            <a:r>
              <a:rPr sz="2400" spc="5" dirty="0">
                <a:latin typeface="Gill Sans MT" panose="020B0502020104020203" pitchFamily="34" charset="77"/>
                <a:cs typeface="Verdana"/>
              </a:rPr>
              <a:t>become</a:t>
            </a:r>
            <a:r>
              <a:rPr sz="2400" spc="-135" dirty="0">
                <a:latin typeface="Gill Sans MT" panose="020B0502020104020203" pitchFamily="34" charset="77"/>
                <a:cs typeface="Verdana"/>
              </a:rPr>
              <a:t> </a:t>
            </a:r>
            <a:r>
              <a:rPr sz="2400" spc="-5" dirty="0">
                <a:latin typeface="Gill Sans MT" panose="020B0502020104020203" pitchFamily="34" charset="77"/>
                <a:cs typeface="Verdana"/>
              </a:rPr>
              <a:t>smaller</a:t>
            </a:r>
            <a:endParaRPr sz="2400" dirty="0">
              <a:latin typeface="Gill Sans MT" panose="020B0502020104020203" pitchFamily="34" charset="77"/>
              <a:cs typeface="Verdana"/>
            </a:endParaRPr>
          </a:p>
          <a:p>
            <a:pPr marL="12700">
              <a:spcBef>
                <a:spcPts val="1151"/>
              </a:spcBef>
            </a:pPr>
            <a:r>
              <a:rPr sz="2400" spc="11" dirty="0">
                <a:latin typeface="Gill Sans MT" panose="020B0502020104020203" pitchFamily="34" charset="77"/>
                <a:cs typeface="Verdana"/>
              </a:rPr>
              <a:t>Can</a:t>
            </a:r>
            <a:r>
              <a:rPr sz="2400" spc="-55" dirty="0">
                <a:latin typeface="Gill Sans MT" panose="020B0502020104020203" pitchFamily="34" charset="77"/>
                <a:cs typeface="Verdana"/>
              </a:rPr>
              <a:t> </a:t>
            </a:r>
            <a:r>
              <a:rPr sz="2400" spc="11" dirty="0">
                <a:latin typeface="Gill Sans MT" panose="020B0502020104020203" pitchFamily="34" charset="77"/>
                <a:cs typeface="Verdana"/>
              </a:rPr>
              <a:t>reach</a:t>
            </a:r>
            <a:r>
              <a:rPr sz="2400" spc="-125" dirty="0">
                <a:latin typeface="Gill Sans MT" panose="020B0502020104020203" pitchFamily="34" charset="77"/>
                <a:cs typeface="Verdana"/>
              </a:rPr>
              <a:t> </a:t>
            </a:r>
            <a:r>
              <a:rPr sz="2400" dirty="0">
                <a:latin typeface="Gill Sans MT" panose="020B0502020104020203" pitchFamily="34" charset="77"/>
                <a:cs typeface="Verdana"/>
              </a:rPr>
              <a:t>minimum</a:t>
            </a:r>
            <a:r>
              <a:rPr sz="2400" spc="11" dirty="0">
                <a:latin typeface="Gill Sans MT" panose="020B0502020104020203" pitchFamily="34" charset="77"/>
                <a:cs typeface="Verdana"/>
              </a:rPr>
              <a:t> </a:t>
            </a:r>
            <a:r>
              <a:rPr sz="2400" dirty="0">
                <a:latin typeface="Gill Sans MT" panose="020B0502020104020203" pitchFamily="34" charset="77"/>
                <a:cs typeface="Verdana"/>
              </a:rPr>
              <a:t>without</a:t>
            </a:r>
            <a:r>
              <a:rPr lang="en-GB" sz="2400" dirty="0">
                <a:latin typeface="Gill Sans MT" panose="020B0502020104020203" pitchFamily="34" charset="77"/>
                <a:cs typeface="Verdana"/>
              </a:rPr>
              <a:t> </a:t>
            </a:r>
            <a:r>
              <a:rPr sz="2400" spc="5" dirty="0">
                <a:latin typeface="Gill Sans MT" panose="020B0502020104020203" pitchFamily="34" charset="77"/>
                <a:cs typeface="Verdana"/>
              </a:rPr>
              <a:t>decreasing</a:t>
            </a:r>
            <a:r>
              <a:rPr sz="2400" spc="-180" dirty="0">
                <a:latin typeface="Gill Sans MT" panose="020B0502020104020203" pitchFamily="34" charset="77"/>
                <a:cs typeface="Verdana"/>
              </a:rPr>
              <a:t> </a:t>
            </a:r>
            <a:r>
              <a:rPr sz="2400" dirty="0">
                <a:latin typeface="Gill Sans MT" panose="020B0502020104020203" pitchFamily="34" charset="77"/>
                <a:cs typeface="Verdana"/>
              </a:rPr>
              <a:t>learning</a:t>
            </a:r>
            <a:r>
              <a:rPr sz="2400" spc="-25" dirty="0">
                <a:latin typeface="Gill Sans MT" panose="020B0502020104020203" pitchFamily="34" charset="77"/>
                <a:cs typeface="Verdana"/>
              </a:rPr>
              <a:t> </a:t>
            </a:r>
            <a:r>
              <a:rPr sz="2400" spc="20" dirty="0">
                <a:latin typeface="Gill Sans MT" panose="020B0502020104020203" pitchFamily="34" charset="77"/>
                <a:cs typeface="Verdana"/>
              </a:rPr>
              <a:t>rate</a:t>
            </a:r>
            <a:endParaRPr sz="2400" dirty="0">
              <a:latin typeface="Gill Sans MT" panose="020B0502020104020203" pitchFamily="34" charset="77"/>
              <a:cs typeface="Verdana"/>
            </a:endParaRPr>
          </a:p>
        </p:txBody>
      </p:sp>
      <p:sp>
        <p:nvSpPr>
          <p:cNvPr id="23" name="object 23"/>
          <p:cNvSpPr txBox="1"/>
          <p:nvPr/>
        </p:nvSpPr>
        <p:spPr>
          <a:xfrm>
            <a:off x="6333489" y="3929379"/>
            <a:ext cx="1065531" cy="552716"/>
          </a:xfrm>
          <a:prstGeom prst="rect">
            <a:avLst/>
          </a:prstGeom>
        </p:spPr>
        <p:txBody>
          <a:bodyPr vert="horz" wrap="square" lIns="0" tIns="16511" rIns="0" bIns="0" rtlCol="0">
            <a:spAutoFit/>
          </a:bodyPr>
          <a:lstStyle/>
          <a:p>
            <a:pPr marR="5080" algn="r">
              <a:spcBef>
                <a:spcPts val="131"/>
              </a:spcBef>
            </a:pPr>
            <a:r>
              <a:rPr sz="2000" spc="20" dirty="0">
                <a:latin typeface="Cambria Math"/>
                <a:cs typeface="Cambria Math"/>
              </a:rPr>
              <a:t>𝑤</a:t>
            </a:r>
            <a:endParaRPr sz="2000">
              <a:latin typeface="Cambria Math"/>
              <a:cs typeface="Cambria Math"/>
            </a:endParaRPr>
          </a:p>
          <a:p>
            <a:pPr marL="12700">
              <a:spcBef>
                <a:spcPts val="95"/>
              </a:spcBef>
            </a:pPr>
            <a:r>
              <a:rPr sz="1400" spc="20" dirty="0">
                <a:solidFill>
                  <a:srgbClr val="4285F4"/>
                </a:solidFill>
                <a:latin typeface="Verdana"/>
                <a:cs typeface="Verdana"/>
              </a:rPr>
              <a:t>minimum</a:t>
            </a:r>
            <a:endParaRPr sz="1400">
              <a:latin typeface="Verdana"/>
              <a:cs typeface="Verdana"/>
            </a:endParaRPr>
          </a:p>
        </p:txBody>
      </p:sp>
      <p:sp>
        <p:nvSpPr>
          <p:cNvPr id="24" name="object 24"/>
          <p:cNvSpPr txBox="1"/>
          <p:nvPr/>
        </p:nvSpPr>
        <p:spPr>
          <a:xfrm>
            <a:off x="3620133" y="1119823"/>
            <a:ext cx="1915821" cy="1585947"/>
          </a:xfrm>
          <a:prstGeom prst="rect">
            <a:avLst/>
          </a:prstGeom>
        </p:spPr>
        <p:txBody>
          <a:bodyPr vert="horz" wrap="square" lIns="0" tIns="15875" rIns="0" bIns="0" rtlCol="0">
            <a:spAutoFit/>
          </a:bodyPr>
          <a:lstStyle/>
          <a:p>
            <a:pPr marL="12700">
              <a:spcBef>
                <a:spcPts val="125"/>
              </a:spcBef>
            </a:pPr>
            <a:r>
              <a:rPr sz="1551" spc="11" dirty="0">
                <a:solidFill>
                  <a:srgbClr val="FF9300"/>
                </a:solidFill>
                <a:latin typeface="Verdana"/>
                <a:cs typeface="Verdana"/>
              </a:rPr>
              <a:t>not</a:t>
            </a:r>
            <a:r>
              <a:rPr sz="1551" spc="5" dirty="0">
                <a:solidFill>
                  <a:srgbClr val="FF9300"/>
                </a:solidFill>
                <a:latin typeface="Verdana"/>
                <a:cs typeface="Verdana"/>
              </a:rPr>
              <a:t> </a:t>
            </a:r>
            <a:r>
              <a:rPr sz="1551" spc="25" dirty="0">
                <a:solidFill>
                  <a:srgbClr val="FF9300"/>
                </a:solidFill>
                <a:latin typeface="Verdana"/>
                <a:cs typeface="Verdana"/>
              </a:rPr>
              <a:t>as</a:t>
            </a:r>
            <a:r>
              <a:rPr sz="1551" spc="31" dirty="0">
                <a:solidFill>
                  <a:srgbClr val="FF9300"/>
                </a:solidFill>
                <a:latin typeface="Verdana"/>
                <a:cs typeface="Verdana"/>
              </a:rPr>
              <a:t> </a:t>
            </a:r>
            <a:r>
              <a:rPr sz="1551" spc="15" dirty="0">
                <a:solidFill>
                  <a:srgbClr val="FF9300"/>
                </a:solidFill>
                <a:latin typeface="Verdana"/>
                <a:cs typeface="Verdana"/>
              </a:rPr>
              <a:t>large</a:t>
            </a:r>
            <a:endParaRPr sz="1551" dirty="0">
              <a:latin typeface="Verdana"/>
              <a:cs typeface="Verdana"/>
            </a:endParaRPr>
          </a:p>
          <a:p>
            <a:pPr>
              <a:spcBef>
                <a:spcPts val="25"/>
              </a:spcBef>
            </a:pPr>
            <a:endParaRPr sz="1500" dirty="0">
              <a:latin typeface="Verdana"/>
              <a:cs typeface="Verdana"/>
            </a:endParaRPr>
          </a:p>
          <a:p>
            <a:pPr marL="48893">
              <a:spcBef>
                <a:spcPts val="5"/>
              </a:spcBef>
            </a:pPr>
            <a:r>
              <a:rPr sz="1551" spc="20" dirty="0">
                <a:solidFill>
                  <a:srgbClr val="FF40FF"/>
                </a:solidFill>
                <a:latin typeface="Verdana"/>
                <a:cs typeface="Verdana"/>
              </a:rPr>
              <a:t>large</a:t>
            </a:r>
            <a:endParaRPr sz="1551" dirty="0">
              <a:latin typeface="Verdana"/>
              <a:cs typeface="Verdana"/>
            </a:endParaRPr>
          </a:p>
          <a:p>
            <a:pPr>
              <a:lnSpc>
                <a:spcPct val="100000"/>
              </a:lnSpc>
            </a:pPr>
            <a:endParaRPr sz="1900" dirty="0">
              <a:latin typeface="Verdana"/>
              <a:cs typeface="Verdana"/>
            </a:endParaRPr>
          </a:p>
          <a:p>
            <a:pPr>
              <a:lnSpc>
                <a:spcPct val="100000"/>
              </a:lnSpc>
            </a:pPr>
            <a:endParaRPr sz="1700" dirty="0">
              <a:latin typeface="Verdana"/>
              <a:cs typeface="Verdana"/>
            </a:endParaRPr>
          </a:p>
          <a:p>
            <a:pPr marR="5080" algn="r">
              <a:spcBef>
                <a:spcPts val="5"/>
              </a:spcBef>
            </a:pPr>
            <a:r>
              <a:rPr sz="2000" spc="11" dirty="0">
                <a:latin typeface="Cambria Math"/>
                <a:cs typeface="Cambria Math"/>
              </a:rPr>
              <a:t>𝐽</a:t>
            </a:r>
            <a:r>
              <a:rPr sz="2000" spc="305" dirty="0">
                <a:latin typeface="Cambria Math"/>
                <a:cs typeface="Cambria Math"/>
              </a:rPr>
              <a:t> </a:t>
            </a:r>
            <a:r>
              <a:rPr sz="2000" spc="20" dirty="0">
                <a:latin typeface="Cambria Math"/>
                <a:cs typeface="Cambria Math"/>
              </a:rPr>
              <a:t>𝑤</a:t>
            </a:r>
            <a:endParaRPr sz="2000" dirty="0">
              <a:latin typeface="Cambria Math"/>
              <a:cs typeface="Cambria Math"/>
            </a:endParaRPr>
          </a:p>
        </p:txBody>
      </p:sp>
      <p:pic>
        <p:nvPicPr>
          <p:cNvPr id="25" name="object 25"/>
          <p:cNvPicPr/>
          <p:nvPr/>
        </p:nvPicPr>
        <p:blipFill>
          <a:blip r:embed="rId7" cstate="print"/>
          <a:stretch>
            <a:fillRect/>
          </a:stretch>
        </p:blipFill>
        <p:spPr>
          <a:xfrm>
            <a:off x="1634365" y="1112900"/>
            <a:ext cx="1646047" cy="179071"/>
          </a:xfrm>
          <a:prstGeom prst="rect">
            <a:avLst/>
          </a:prstGeom>
        </p:spPr>
      </p:pic>
      <p:pic>
        <p:nvPicPr>
          <p:cNvPr id="26" name="object 26"/>
          <p:cNvPicPr/>
          <p:nvPr/>
        </p:nvPicPr>
        <p:blipFill>
          <a:blip r:embed="rId8" cstate="print"/>
          <a:stretch>
            <a:fillRect/>
          </a:stretch>
        </p:blipFill>
        <p:spPr>
          <a:xfrm>
            <a:off x="1623442" y="858011"/>
            <a:ext cx="1738631" cy="191771"/>
          </a:xfrm>
          <a:prstGeom prst="rect">
            <a:avLst/>
          </a:prstGeom>
        </p:spPr>
      </p:pic>
      <p:pic>
        <p:nvPicPr>
          <p:cNvPr id="27" name="object 27"/>
          <p:cNvPicPr/>
          <p:nvPr/>
        </p:nvPicPr>
        <p:blipFill>
          <a:blip r:embed="rId9" cstate="print"/>
          <a:stretch>
            <a:fillRect/>
          </a:stretch>
        </p:blipFill>
        <p:spPr>
          <a:xfrm>
            <a:off x="3658171" y="778446"/>
            <a:ext cx="742188" cy="164464"/>
          </a:xfrm>
          <a:prstGeom prst="rect">
            <a:avLst/>
          </a:prstGeom>
        </p:spPr>
      </p:pic>
      <p:sp>
        <p:nvSpPr>
          <p:cNvPr id="29" name="Slide Number Placeholder 28">
            <a:extLst>
              <a:ext uri="{FF2B5EF4-FFF2-40B4-BE49-F238E27FC236}">
                <a16:creationId xmlns:a16="http://schemas.microsoft.com/office/drawing/2014/main" id="{2080C582-23C1-959A-A600-DBCC617A7CC4}"/>
              </a:ext>
            </a:extLst>
          </p:cNvPr>
          <p:cNvSpPr>
            <a:spLocks noGrp="1"/>
          </p:cNvSpPr>
          <p:nvPr>
            <p:ph type="sldNum" sz="quarter" idx="12"/>
          </p:nvPr>
        </p:nvSpPr>
        <p:spPr/>
        <p:txBody>
          <a:bodyPr/>
          <a:lstStyle/>
          <a:p>
            <a:fld id="{B6F15528-21DE-4FAA-801E-634DDDAF4B2B}" type="slidenum">
              <a:rPr lang="en-PS" smtClean="0"/>
              <a:t>25</a:t>
            </a:fld>
            <a:endParaRPr lang="en-PS"/>
          </a:p>
        </p:txBody>
      </p:sp>
      <p:sp>
        <p:nvSpPr>
          <p:cNvPr id="3" name="TextBox 2">
            <a:extLst>
              <a:ext uri="{FF2B5EF4-FFF2-40B4-BE49-F238E27FC236}">
                <a16:creationId xmlns:a16="http://schemas.microsoft.com/office/drawing/2014/main" id="{98914D99-951C-E7E1-99D2-6ABF9655D82C}"/>
              </a:ext>
            </a:extLst>
          </p:cNvPr>
          <p:cNvSpPr txBox="1"/>
          <p:nvPr/>
        </p:nvSpPr>
        <p:spPr>
          <a:xfrm>
            <a:off x="7382755" y="2202418"/>
            <a:ext cx="1202317" cy="369332"/>
          </a:xfrm>
          <a:prstGeom prst="rect">
            <a:avLst/>
          </a:prstGeom>
          <a:noFill/>
        </p:spPr>
        <p:txBody>
          <a:bodyPr wrap="none" rtlCol="0">
            <a:spAutoFit/>
          </a:bodyPr>
          <a:lstStyle/>
          <a:p>
            <a:r>
              <a:rPr lang="en-PS" dirty="0"/>
              <a:t>large slope</a:t>
            </a:r>
          </a:p>
        </p:txBody>
      </p:sp>
      <p:sp>
        <p:nvSpPr>
          <p:cNvPr id="14" name="TextBox 13">
            <a:extLst>
              <a:ext uri="{FF2B5EF4-FFF2-40B4-BE49-F238E27FC236}">
                <a16:creationId xmlns:a16="http://schemas.microsoft.com/office/drawing/2014/main" id="{70471879-7A4F-1A56-0852-A04CBE672A1C}"/>
              </a:ext>
            </a:extLst>
          </p:cNvPr>
          <p:cNvSpPr txBox="1"/>
          <p:nvPr/>
        </p:nvSpPr>
        <p:spPr>
          <a:xfrm>
            <a:off x="7399020" y="2881232"/>
            <a:ext cx="870751" cy="369332"/>
          </a:xfrm>
          <a:prstGeom prst="rect">
            <a:avLst/>
          </a:prstGeom>
          <a:noFill/>
        </p:spPr>
        <p:txBody>
          <a:bodyPr wrap="none" rtlCol="0">
            <a:spAutoFit/>
          </a:bodyPr>
          <a:lstStyle/>
          <a:p>
            <a:r>
              <a:rPr lang="en-PS" dirty="0"/>
              <a:t>smaller</a:t>
            </a:r>
          </a:p>
        </p:txBody>
      </p:sp>
      <p:sp>
        <p:nvSpPr>
          <p:cNvPr id="15" name="TextBox 14">
            <a:extLst>
              <a:ext uri="{FF2B5EF4-FFF2-40B4-BE49-F238E27FC236}">
                <a16:creationId xmlns:a16="http://schemas.microsoft.com/office/drawing/2014/main" id="{D784B751-E7E0-79F9-00E6-1D3AA0E028E3}"/>
              </a:ext>
            </a:extLst>
          </p:cNvPr>
          <p:cNvSpPr txBox="1"/>
          <p:nvPr/>
        </p:nvSpPr>
        <p:spPr>
          <a:xfrm>
            <a:off x="6477000" y="3333750"/>
            <a:ext cx="1377108" cy="369332"/>
          </a:xfrm>
          <a:prstGeom prst="rect">
            <a:avLst/>
          </a:prstGeom>
          <a:noFill/>
        </p:spPr>
        <p:txBody>
          <a:bodyPr wrap="none" rtlCol="0">
            <a:spAutoFit/>
          </a:bodyPr>
          <a:lstStyle/>
          <a:p>
            <a:r>
              <a:rPr lang="en-PS" dirty="0"/>
              <a:t>even smaller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F26C-3C8E-6990-F861-5CC8D09AAD9C}"/>
              </a:ext>
            </a:extLst>
          </p:cNvPr>
          <p:cNvSpPr>
            <a:spLocks noGrp="1"/>
          </p:cNvSpPr>
          <p:nvPr>
            <p:ph type="title"/>
          </p:nvPr>
        </p:nvSpPr>
        <p:spPr>
          <a:xfrm>
            <a:off x="621030" y="102393"/>
            <a:ext cx="7886700" cy="621506"/>
          </a:xfrm>
        </p:spPr>
        <p:txBody>
          <a:bodyPr/>
          <a:lstStyle/>
          <a:p>
            <a:r>
              <a:rPr lang="en-PS" dirty="0">
                <a:solidFill>
                  <a:srgbClr val="0432FF"/>
                </a:solidFill>
              </a:rPr>
              <a:t>To conclude ...</a:t>
            </a:r>
          </a:p>
        </p:txBody>
      </p:sp>
      <p:sp>
        <p:nvSpPr>
          <p:cNvPr id="3" name="Content Placeholder 2">
            <a:extLst>
              <a:ext uri="{FF2B5EF4-FFF2-40B4-BE49-F238E27FC236}">
                <a16:creationId xmlns:a16="http://schemas.microsoft.com/office/drawing/2014/main" id="{97B9698C-DBA7-65F1-E5AB-75003B2F51CD}"/>
              </a:ext>
            </a:extLst>
          </p:cNvPr>
          <p:cNvSpPr>
            <a:spLocks noGrp="1"/>
          </p:cNvSpPr>
          <p:nvPr>
            <p:ph idx="1"/>
          </p:nvPr>
        </p:nvSpPr>
        <p:spPr>
          <a:xfrm>
            <a:off x="533400" y="723899"/>
            <a:ext cx="7886700" cy="3263504"/>
          </a:xfrm>
        </p:spPr>
        <p:txBody>
          <a:bodyPr/>
          <a:lstStyle/>
          <a:p>
            <a:r>
              <a:rPr lang="en-US" b="0" i="0" dirty="0">
                <a:solidFill>
                  <a:srgbClr val="1F1F1F"/>
                </a:solidFill>
                <a:effectLst/>
                <a:cs typeface="Times New Roman" panose="02020603050405020304" pitchFamily="18" charset="0"/>
              </a:rPr>
              <a:t>The learning rate </a:t>
            </a:r>
            <a:r>
              <a:rPr lang="el-GR" b="0" i="0" dirty="0">
                <a:solidFill>
                  <a:srgbClr val="0070C0"/>
                </a:solidFill>
                <a:effectLst/>
                <a:latin typeface="Times New Roman" panose="02020603050405020304" pitchFamily="18" charset="0"/>
                <a:cs typeface="Times New Roman" panose="02020603050405020304" pitchFamily="18" charset="0"/>
              </a:rPr>
              <a:t>α</a:t>
            </a:r>
            <a:r>
              <a:rPr lang="el-GR" b="0" i="0" dirty="0">
                <a:solidFill>
                  <a:srgbClr val="1F1F1F"/>
                </a:solidFill>
                <a:effectLst/>
                <a:latin typeface="Times New Roman" panose="02020603050405020304" pitchFamily="18" charset="0"/>
                <a:cs typeface="Times New Roman" panose="02020603050405020304" pitchFamily="18" charset="0"/>
              </a:rPr>
              <a:t> </a:t>
            </a:r>
            <a:r>
              <a:rPr lang="en-US" b="0" i="0" dirty="0">
                <a:solidFill>
                  <a:srgbClr val="1F1F1F"/>
                </a:solidFill>
                <a:effectLst/>
                <a:cs typeface="Times New Roman" panose="02020603050405020304" pitchFamily="18" charset="0"/>
              </a:rPr>
              <a:t>plays a crucial role in the convergence process of model parameters, influencing the speed and stability of the optimization algorithm. It determines the step size of the adjustments made to the model parameters during each iteration of the training process.</a:t>
            </a:r>
          </a:p>
          <a:p>
            <a:r>
              <a:rPr lang="en-US" dirty="0">
                <a:cs typeface="Times New Roman" panose="02020603050405020304" pitchFamily="18" charset="0"/>
              </a:rPr>
              <a:t>Optimal learning rate: The optimal learning rate strikes a </a:t>
            </a:r>
            <a:r>
              <a:rPr lang="en-US" dirty="0">
                <a:solidFill>
                  <a:srgbClr val="0070C0"/>
                </a:solidFill>
                <a:cs typeface="Times New Roman" panose="02020603050405020304" pitchFamily="18" charset="0"/>
              </a:rPr>
              <a:t>balance between speed and stability,</a:t>
            </a:r>
            <a:r>
              <a:rPr lang="en-US" dirty="0">
                <a:cs typeface="Times New Roman" panose="02020603050405020304" pitchFamily="18" charset="0"/>
              </a:rPr>
              <a:t> guiding the algorithm towards the desired minimum while avoiding oscillations or getting stuck. Finding the optimal learning rate requires careful experimentation and hyperparameter tuning.</a:t>
            </a:r>
            <a:endParaRPr lang="en-PS"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23A403A-C540-C996-FD1E-F125FBA9F03F}"/>
              </a:ext>
            </a:extLst>
          </p:cNvPr>
          <p:cNvSpPr>
            <a:spLocks noGrp="1"/>
          </p:cNvSpPr>
          <p:nvPr>
            <p:ph type="sldNum" sz="quarter" idx="12"/>
          </p:nvPr>
        </p:nvSpPr>
        <p:spPr/>
        <p:txBody>
          <a:bodyPr/>
          <a:lstStyle/>
          <a:p>
            <a:fld id="{B6F15528-21DE-4FAA-801E-634DDDAF4B2B}" type="slidenum">
              <a:rPr lang="en-PS" smtClean="0"/>
              <a:t>26</a:t>
            </a:fld>
            <a:endParaRPr lang="en-PS"/>
          </a:p>
        </p:txBody>
      </p:sp>
      <p:sp>
        <p:nvSpPr>
          <p:cNvPr id="5" name="TextBox 4">
            <a:extLst>
              <a:ext uri="{FF2B5EF4-FFF2-40B4-BE49-F238E27FC236}">
                <a16:creationId xmlns:a16="http://schemas.microsoft.com/office/drawing/2014/main" id="{07006490-7352-E400-34B9-2D6449211B70}"/>
              </a:ext>
            </a:extLst>
          </p:cNvPr>
          <p:cNvSpPr txBox="1"/>
          <p:nvPr/>
        </p:nvSpPr>
        <p:spPr>
          <a:xfrm>
            <a:off x="590551" y="4120932"/>
            <a:ext cx="6953250" cy="707886"/>
          </a:xfrm>
          <a:prstGeom prst="rect">
            <a:avLst/>
          </a:prstGeom>
          <a:noFill/>
        </p:spPr>
        <p:txBody>
          <a:bodyPr wrap="square" rtlCol="0">
            <a:spAutoFit/>
          </a:bodyPr>
          <a:lstStyle/>
          <a:p>
            <a:r>
              <a:rPr lang="en-PS" sz="2000" dirty="0">
                <a:solidFill>
                  <a:srgbClr val="C00000"/>
                </a:solidFill>
                <a:latin typeface="Gill Sans MT" panose="020B0502020104020203" pitchFamily="34" charset="77"/>
              </a:rPr>
              <a:t>So far we applied the gradient descent in general. So lets see how it can be applied to linear regression </a:t>
            </a:r>
          </a:p>
        </p:txBody>
      </p:sp>
      <p:sp>
        <p:nvSpPr>
          <p:cNvPr id="6" name="Right Arrow 5">
            <a:extLst>
              <a:ext uri="{FF2B5EF4-FFF2-40B4-BE49-F238E27FC236}">
                <a16:creationId xmlns:a16="http://schemas.microsoft.com/office/drawing/2014/main" id="{DF0C5C59-60D3-F499-717B-015E3995B232}"/>
              </a:ext>
            </a:extLst>
          </p:cNvPr>
          <p:cNvSpPr/>
          <p:nvPr/>
        </p:nvSpPr>
        <p:spPr>
          <a:xfrm>
            <a:off x="8077200" y="4171950"/>
            <a:ext cx="6096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Tree>
    <p:extLst>
      <p:ext uri="{BB962C8B-B14F-4D97-AF65-F5344CB8AC3E}">
        <p14:creationId xmlns:p14="http://schemas.microsoft.com/office/powerpoint/2010/main" val="2450724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AC8A2F-D1D1-3AF5-0893-9E16B981AA6C}"/>
              </a:ext>
            </a:extLst>
          </p:cNvPr>
          <p:cNvSpPr>
            <a:spLocks noGrp="1"/>
          </p:cNvSpPr>
          <p:nvPr>
            <p:ph type="sldNum" sz="quarter" idx="7"/>
          </p:nvPr>
        </p:nvSpPr>
        <p:spPr>
          <a:xfrm>
            <a:off x="8382000" y="4767263"/>
            <a:ext cx="133350" cy="273844"/>
          </a:xfrm>
        </p:spPr>
        <p:txBody>
          <a:bodyPr/>
          <a:lstStyle/>
          <a:p>
            <a:fld id="{B6F15528-21DE-4FAA-801E-634DDDAF4B2B}" type="slidenum">
              <a:rPr lang="en-PS" smtClean="0"/>
              <a:t>27</a:t>
            </a:fld>
            <a:endParaRPr lang="en-PS"/>
          </a:p>
        </p:txBody>
      </p:sp>
      <p:sp>
        <p:nvSpPr>
          <p:cNvPr id="8" name="TextBox 7">
            <a:extLst>
              <a:ext uri="{FF2B5EF4-FFF2-40B4-BE49-F238E27FC236}">
                <a16:creationId xmlns:a16="http://schemas.microsoft.com/office/drawing/2014/main" id="{FA428760-DC5C-BAED-9134-8582E755C0CD}"/>
              </a:ext>
            </a:extLst>
          </p:cNvPr>
          <p:cNvSpPr txBox="1"/>
          <p:nvPr/>
        </p:nvSpPr>
        <p:spPr>
          <a:xfrm>
            <a:off x="304800" y="1200150"/>
            <a:ext cx="7543800" cy="620683"/>
          </a:xfrm>
          <a:prstGeom prst="rect">
            <a:avLst/>
          </a:prstGeom>
          <a:noFill/>
        </p:spPr>
        <p:txBody>
          <a:bodyPr wrap="square">
            <a:spAutoFit/>
          </a:bodyPr>
          <a:lstStyle/>
          <a:p>
            <a:pPr marL="12700" marR="5080" indent="504813" algn="ctr">
              <a:lnSpc>
                <a:spcPct val="117300"/>
              </a:lnSpc>
              <a:spcBef>
                <a:spcPts val="91"/>
              </a:spcBef>
            </a:pPr>
            <a:r>
              <a:rPr lang="en-US" sz="3200" spc="25" dirty="0">
                <a:solidFill>
                  <a:srgbClr val="0432FF"/>
                </a:solidFill>
                <a:latin typeface="Gill Sans MT" panose="020B0502020104020203" pitchFamily="34" charset="77"/>
                <a:cs typeface="Times New Roman" panose="02020603050405020304" pitchFamily="18" charset="0"/>
              </a:rPr>
              <a:t>Gradient </a:t>
            </a:r>
            <a:r>
              <a:rPr lang="en-US" sz="3200" spc="35" dirty="0">
                <a:solidFill>
                  <a:srgbClr val="0432FF"/>
                </a:solidFill>
                <a:latin typeface="Gill Sans MT" panose="020B0502020104020203" pitchFamily="34" charset="77"/>
                <a:cs typeface="Times New Roman" panose="02020603050405020304" pitchFamily="18" charset="0"/>
              </a:rPr>
              <a:t>Descent </a:t>
            </a:r>
            <a:r>
              <a:rPr lang="en-US" sz="3200" spc="40" dirty="0">
                <a:solidFill>
                  <a:srgbClr val="0432FF"/>
                </a:solidFill>
                <a:latin typeface="Gill Sans MT" panose="020B0502020104020203" pitchFamily="34" charset="77"/>
                <a:cs typeface="Times New Roman" panose="02020603050405020304" pitchFamily="18" charset="0"/>
              </a:rPr>
              <a:t> </a:t>
            </a:r>
            <a:r>
              <a:rPr lang="en-US" sz="3200" spc="15" dirty="0">
                <a:solidFill>
                  <a:srgbClr val="0432FF"/>
                </a:solidFill>
                <a:latin typeface="Gill Sans MT" panose="020B0502020104020203" pitchFamily="34" charset="77"/>
                <a:cs typeface="Times New Roman" panose="02020603050405020304" pitchFamily="18" charset="0"/>
              </a:rPr>
              <a:t>for</a:t>
            </a:r>
            <a:r>
              <a:rPr lang="en-US" sz="3200" spc="20" dirty="0">
                <a:solidFill>
                  <a:srgbClr val="0432FF"/>
                </a:solidFill>
                <a:latin typeface="Gill Sans MT" panose="020B0502020104020203" pitchFamily="34" charset="77"/>
                <a:cs typeface="Times New Roman" panose="02020603050405020304" pitchFamily="18" charset="0"/>
              </a:rPr>
              <a:t> </a:t>
            </a:r>
            <a:r>
              <a:rPr lang="en-US" sz="3200" spc="31" dirty="0">
                <a:solidFill>
                  <a:srgbClr val="0432FF"/>
                </a:solidFill>
                <a:latin typeface="Gill Sans MT" panose="020B0502020104020203" pitchFamily="34" charset="77"/>
                <a:cs typeface="Times New Roman" panose="02020603050405020304" pitchFamily="18" charset="0"/>
              </a:rPr>
              <a:t>Linear</a:t>
            </a:r>
            <a:r>
              <a:rPr lang="en-US" sz="3200" spc="-111" dirty="0">
                <a:solidFill>
                  <a:srgbClr val="0432FF"/>
                </a:solidFill>
                <a:latin typeface="Gill Sans MT" panose="020B0502020104020203" pitchFamily="34" charset="77"/>
                <a:cs typeface="Times New Roman" panose="02020603050405020304" pitchFamily="18" charset="0"/>
              </a:rPr>
              <a:t> </a:t>
            </a:r>
            <a:r>
              <a:rPr lang="en-US" sz="3200" spc="25" dirty="0">
                <a:solidFill>
                  <a:srgbClr val="0432FF"/>
                </a:solidFill>
                <a:latin typeface="Gill Sans MT" panose="020B0502020104020203" pitchFamily="34" charset="77"/>
                <a:cs typeface="Times New Roman" panose="02020603050405020304" pitchFamily="18" charset="0"/>
              </a:rPr>
              <a:t>Regression</a:t>
            </a:r>
            <a:endParaRPr lang="en-US" sz="3200" dirty="0">
              <a:solidFill>
                <a:srgbClr val="0432FF"/>
              </a:solidFill>
              <a:latin typeface="Gill Sans MT" panose="020B0502020104020203" pitchFamily="34" charset="77"/>
              <a:cs typeface="Times New Roman" panose="02020603050405020304" pitchFamily="18" charset="0"/>
            </a:endParaRPr>
          </a:p>
        </p:txBody>
      </p:sp>
      <p:sp>
        <p:nvSpPr>
          <p:cNvPr id="3" name="TextBox 2">
            <a:extLst>
              <a:ext uri="{FF2B5EF4-FFF2-40B4-BE49-F238E27FC236}">
                <a16:creationId xmlns:a16="http://schemas.microsoft.com/office/drawing/2014/main" id="{413320A3-ACB9-D5A7-B3F6-CA119C2E722D}"/>
              </a:ext>
            </a:extLst>
          </p:cNvPr>
          <p:cNvSpPr txBox="1"/>
          <p:nvPr/>
        </p:nvSpPr>
        <p:spPr>
          <a:xfrm>
            <a:off x="762000" y="2952750"/>
            <a:ext cx="6429709" cy="1323439"/>
          </a:xfrm>
          <a:prstGeom prst="rect">
            <a:avLst/>
          </a:prstGeom>
          <a:noFill/>
        </p:spPr>
        <p:txBody>
          <a:bodyPr wrap="none" rtlCol="0">
            <a:spAutoFit/>
          </a:bodyPr>
          <a:lstStyle/>
          <a:p>
            <a:r>
              <a:rPr lang="en-PS" sz="2000" dirty="0">
                <a:latin typeface="Gill Sans MT" panose="020B0502020104020203" pitchFamily="34" charset="77"/>
                <a:cs typeface="Times New Roman" panose="02020603050405020304" pitchFamily="18" charset="0"/>
              </a:rPr>
              <a:t>We have discussed the linear regression model, </a:t>
            </a:r>
          </a:p>
          <a:p>
            <a:r>
              <a:rPr lang="en-PS" sz="2000" dirty="0">
                <a:latin typeface="Gill Sans MT" panose="020B0502020104020203" pitchFamily="34" charset="77"/>
                <a:cs typeface="Times New Roman" panose="02020603050405020304" pitchFamily="18" charset="0"/>
              </a:rPr>
              <a:t>and then developed the concept of the cost function,</a:t>
            </a:r>
          </a:p>
          <a:p>
            <a:r>
              <a:rPr lang="en-PS" sz="2000" dirty="0">
                <a:latin typeface="Gill Sans MT" panose="020B0502020104020203" pitchFamily="34" charset="77"/>
                <a:cs typeface="Times New Roman" panose="02020603050405020304" pitchFamily="18" charset="0"/>
              </a:rPr>
              <a:t>and then develop the gradient descent to find the minimum,</a:t>
            </a:r>
          </a:p>
          <a:p>
            <a:r>
              <a:rPr lang="en-PS" sz="2000" dirty="0">
                <a:latin typeface="Gill Sans MT" panose="020B0502020104020203" pitchFamily="34" charset="77"/>
                <a:cs typeface="Times New Roman" panose="02020603050405020304" pitchFamily="18" charset="0"/>
              </a:rPr>
              <a:t>now we will bring all these together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6748" y="92708"/>
            <a:ext cx="4275252" cy="505908"/>
          </a:xfrm>
          <a:prstGeom prst="rect">
            <a:avLst/>
          </a:prstGeom>
        </p:spPr>
        <p:txBody>
          <a:bodyPr vert="horz" wrap="square" lIns="0" tIns="13335" rIns="0" bIns="0" rtlCol="0">
            <a:spAutoFit/>
          </a:bodyPr>
          <a:lstStyle/>
          <a:p>
            <a:pPr marL="12700">
              <a:spcBef>
                <a:spcPts val="105"/>
              </a:spcBef>
            </a:pPr>
            <a:r>
              <a:rPr sz="3200" spc="-5" dirty="0">
                <a:solidFill>
                  <a:srgbClr val="0432FF"/>
                </a:solidFill>
                <a:latin typeface="Gill Sans MT" panose="020B0502020104020203" pitchFamily="34" charset="77"/>
                <a:cs typeface="Verdana"/>
              </a:rPr>
              <a:t>Linear</a:t>
            </a:r>
            <a:r>
              <a:rPr sz="3200" spc="-20" dirty="0">
                <a:solidFill>
                  <a:srgbClr val="0432FF"/>
                </a:solidFill>
                <a:latin typeface="Gill Sans MT" panose="020B0502020104020203" pitchFamily="34" charset="77"/>
                <a:cs typeface="Verdana"/>
              </a:rPr>
              <a:t> </a:t>
            </a:r>
            <a:r>
              <a:rPr sz="3200" spc="5" dirty="0">
                <a:solidFill>
                  <a:srgbClr val="0432FF"/>
                </a:solidFill>
                <a:latin typeface="Gill Sans MT" panose="020B0502020104020203" pitchFamily="34" charset="77"/>
                <a:cs typeface="Verdana"/>
              </a:rPr>
              <a:t>regression</a:t>
            </a:r>
            <a:r>
              <a:rPr sz="3200" spc="-55" dirty="0">
                <a:solidFill>
                  <a:srgbClr val="0432FF"/>
                </a:solidFill>
                <a:latin typeface="Gill Sans MT" panose="020B0502020104020203" pitchFamily="34" charset="77"/>
                <a:cs typeface="Verdana"/>
              </a:rPr>
              <a:t> </a:t>
            </a:r>
            <a:r>
              <a:rPr sz="3200" spc="-11" dirty="0">
                <a:solidFill>
                  <a:srgbClr val="0432FF"/>
                </a:solidFill>
                <a:latin typeface="Gill Sans MT" panose="020B0502020104020203" pitchFamily="34" charset="77"/>
                <a:cs typeface="Verdana"/>
              </a:rPr>
              <a:t>model</a:t>
            </a:r>
            <a:endParaRPr sz="3200" dirty="0">
              <a:solidFill>
                <a:srgbClr val="0432FF"/>
              </a:solidFill>
              <a:latin typeface="Gill Sans MT" panose="020B0502020104020203" pitchFamily="34" charset="77"/>
              <a:cs typeface="Verdana"/>
            </a:endParaRPr>
          </a:p>
        </p:txBody>
      </p:sp>
      <p:sp>
        <p:nvSpPr>
          <p:cNvPr id="8" name="object 8"/>
          <p:cNvSpPr txBox="1"/>
          <p:nvPr/>
        </p:nvSpPr>
        <p:spPr>
          <a:xfrm>
            <a:off x="233806" y="878979"/>
            <a:ext cx="3767579" cy="1692771"/>
          </a:xfrm>
          <a:prstGeom prst="rect">
            <a:avLst/>
          </a:prstGeom>
        </p:spPr>
        <p:txBody>
          <a:bodyPr vert="horz" wrap="square" lIns="0" tIns="12700" rIns="0" bIns="0" rtlCol="0">
            <a:spAutoFit/>
          </a:bodyPr>
          <a:lstStyle/>
          <a:p>
            <a:pPr marL="680703">
              <a:spcBef>
                <a:spcPts val="100"/>
              </a:spcBef>
            </a:pPr>
            <a:r>
              <a:rPr sz="2000" spc="111" dirty="0">
                <a:solidFill>
                  <a:srgbClr val="0070C0"/>
                </a:solidFill>
                <a:latin typeface="Gill Sans MT" panose="020B0502020104020203" pitchFamily="34" charset="77"/>
                <a:cs typeface="Cambria Math"/>
              </a:rPr>
              <a:t>ƒ</a:t>
            </a:r>
            <a:r>
              <a:rPr sz="2000" spc="165" baseline="-17973" dirty="0">
                <a:solidFill>
                  <a:srgbClr val="0070C0"/>
                </a:solidFill>
                <a:latin typeface="Gill Sans MT" panose="020B0502020104020203" pitchFamily="34" charset="77"/>
                <a:cs typeface="Cambria Math"/>
              </a:rPr>
              <a:t>w,𝑏</a:t>
            </a:r>
            <a:r>
              <a:rPr sz="2000" spc="111" dirty="0">
                <a:solidFill>
                  <a:srgbClr val="0070C0"/>
                </a:solidFill>
                <a:latin typeface="Gill Sans MT" panose="020B0502020104020203" pitchFamily="34" charset="77"/>
                <a:cs typeface="Cambria Math"/>
              </a:rPr>
              <a:t>(𝑥)</a:t>
            </a:r>
            <a:r>
              <a:rPr sz="2000" spc="100" dirty="0">
                <a:solidFill>
                  <a:srgbClr val="0070C0"/>
                </a:solidFill>
                <a:latin typeface="Gill Sans MT" panose="020B0502020104020203" pitchFamily="34" charset="77"/>
                <a:cs typeface="Cambria Math"/>
              </a:rPr>
              <a:t> </a:t>
            </a:r>
            <a:r>
              <a:rPr sz="2000" dirty="0">
                <a:solidFill>
                  <a:srgbClr val="0070C0"/>
                </a:solidFill>
                <a:latin typeface="Gill Sans MT" panose="020B0502020104020203" pitchFamily="34" charset="77"/>
                <a:cs typeface="Cambria Math"/>
              </a:rPr>
              <a:t>=</a:t>
            </a:r>
            <a:r>
              <a:rPr sz="2000" spc="60" dirty="0">
                <a:solidFill>
                  <a:srgbClr val="0070C0"/>
                </a:solidFill>
                <a:latin typeface="Gill Sans MT" panose="020B0502020104020203" pitchFamily="34" charset="77"/>
                <a:cs typeface="Cambria Math"/>
              </a:rPr>
              <a:t> </a:t>
            </a:r>
            <a:r>
              <a:rPr sz="2000" spc="5" dirty="0">
                <a:solidFill>
                  <a:srgbClr val="0070C0"/>
                </a:solidFill>
                <a:latin typeface="Gill Sans MT" panose="020B0502020104020203" pitchFamily="34" charset="77"/>
                <a:cs typeface="Cambria Math"/>
              </a:rPr>
              <a:t>𝑤𝑥</a:t>
            </a:r>
            <a:r>
              <a:rPr sz="2000" spc="40" dirty="0">
                <a:solidFill>
                  <a:srgbClr val="0070C0"/>
                </a:solidFill>
                <a:latin typeface="Gill Sans MT" panose="020B0502020104020203" pitchFamily="34" charset="77"/>
                <a:cs typeface="Cambria Math"/>
              </a:rPr>
              <a:t> </a:t>
            </a:r>
            <a:r>
              <a:rPr sz="2000" dirty="0">
                <a:solidFill>
                  <a:srgbClr val="0070C0"/>
                </a:solidFill>
                <a:latin typeface="Gill Sans MT" panose="020B0502020104020203" pitchFamily="34" charset="77"/>
                <a:cs typeface="Cambria Math"/>
              </a:rPr>
              <a:t>+</a:t>
            </a:r>
            <a:r>
              <a:rPr sz="2000" spc="-11" dirty="0">
                <a:solidFill>
                  <a:srgbClr val="0070C0"/>
                </a:solidFill>
                <a:latin typeface="Gill Sans MT" panose="020B0502020104020203" pitchFamily="34" charset="77"/>
                <a:cs typeface="Cambria Math"/>
              </a:rPr>
              <a:t> </a:t>
            </a:r>
            <a:r>
              <a:rPr sz="2000" dirty="0">
                <a:solidFill>
                  <a:srgbClr val="0070C0"/>
                </a:solidFill>
                <a:latin typeface="Gill Sans MT" panose="020B0502020104020203" pitchFamily="34" charset="77"/>
                <a:cs typeface="Cambria Math"/>
              </a:rPr>
              <a:t>𝑏</a:t>
            </a:r>
            <a:endParaRPr lang="en-GB" sz="2000" dirty="0">
              <a:solidFill>
                <a:srgbClr val="0070C0"/>
              </a:solidFill>
              <a:latin typeface="Gill Sans MT" panose="020B0502020104020203" pitchFamily="34" charset="77"/>
              <a:cs typeface="Cambria Math"/>
            </a:endParaRPr>
          </a:p>
          <a:p>
            <a:pPr marL="680703">
              <a:spcBef>
                <a:spcPts val="100"/>
              </a:spcBef>
            </a:pPr>
            <a:endParaRPr sz="2000" dirty="0">
              <a:latin typeface="Gill Sans MT" panose="020B0502020104020203" pitchFamily="34" charset="77"/>
              <a:cs typeface="Cambria Math"/>
            </a:endParaRPr>
          </a:p>
          <a:p>
            <a:pPr algn="ctr">
              <a:lnSpc>
                <a:spcPct val="100000"/>
              </a:lnSpc>
            </a:pPr>
            <a:r>
              <a:rPr sz="2000" dirty="0">
                <a:latin typeface="Gill Sans MT" panose="020B0502020104020203" pitchFamily="34" charset="77"/>
                <a:cs typeface="Verdana"/>
              </a:rPr>
              <a:t>Gradient</a:t>
            </a:r>
            <a:r>
              <a:rPr sz="2000" spc="-5" dirty="0">
                <a:latin typeface="Gill Sans MT" panose="020B0502020104020203" pitchFamily="34" charset="77"/>
                <a:cs typeface="Verdana"/>
              </a:rPr>
              <a:t> descent</a:t>
            </a:r>
            <a:r>
              <a:rPr sz="2000" spc="-80" dirty="0">
                <a:latin typeface="Gill Sans MT" panose="020B0502020104020203" pitchFamily="34" charset="77"/>
                <a:cs typeface="Verdana"/>
              </a:rPr>
              <a:t> </a:t>
            </a:r>
            <a:r>
              <a:rPr sz="2000" spc="-5" dirty="0">
                <a:latin typeface="Gill Sans MT" panose="020B0502020104020203" pitchFamily="34" charset="77"/>
                <a:cs typeface="Verdana"/>
              </a:rPr>
              <a:t>algorithm</a:t>
            </a:r>
            <a:endParaRPr sz="2000" dirty="0">
              <a:latin typeface="Gill Sans MT" panose="020B0502020104020203" pitchFamily="34" charset="77"/>
              <a:cs typeface="Verdana"/>
            </a:endParaRPr>
          </a:p>
          <a:p>
            <a:pPr marL="57784" algn="ctr">
              <a:spcBef>
                <a:spcPts val="505"/>
              </a:spcBef>
            </a:pPr>
            <a:r>
              <a:rPr sz="2000" spc="5" dirty="0">
                <a:latin typeface="Gill Sans MT" panose="020B0502020104020203" pitchFamily="34" charset="77"/>
                <a:cs typeface="Arial MT"/>
              </a:rPr>
              <a:t>repeat</a:t>
            </a:r>
            <a:r>
              <a:rPr sz="2000" spc="55" dirty="0">
                <a:latin typeface="Gill Sans MT" panose="020B0502020104020203" pitchFamily="34" charset="77"/>
                <a:cs typeface="Arial MT"/>
              </a:rPr>
              <a:t> </a:t>
            </a:r>
            <a:r>
              <a:rPr sz="2000" spc="11" dirty="0">
                <a:latin typeface="Gill Sans MT" panose="020B0502020104020203" pitchFamily="34" charset="77"/>
                <a:cs typeface="Arial MT"/>
              </a:rPr>
              <a:t>until</a:t>
            </a:r>
            <a:r>
              <a:rPr sz="2000" spc="31" dirty="0">
                <a:latin typeface="Gill Sans MT" panose="020B0502020104020203" pitchFamily="34" charset="77"/>
                <a:cs typeface="Arial MT"/>
              </a:rPr>
              <a:t> </a:t>
            </a:r>
            <a:r>
              <a:rPr sz="2000" dirty="0">
                <a:latin typeface="Gill Sans MT" panose="020B0502020104020203" pitchFamily="34" charset="77"/>
                <a:cs typeface="Arial MT"/>
              </a:rPr>
              <a:t>convergence</a:t>
            </a:r>
            <a:endParaRPr lang="en-GB" sz="2000" dirty="0">
              <a:latin typeface="Gill Sans MT" panose="020B0502020104020203" pitchFamily="34" charset="77"/>
              <a:cs typeface="Arial MT"/>
            </a:endParaRPr>
          </a:p>
          <a:p>
            <a:pPr marL="57784">
              <a:spcBef>
                <a:spcPts val="505"/>
              </a:spcBef>
            </a:pPr>
            <a:r>
              <a:rPr sz="2000" spc="315" dirty="0">
                <a:latin typeface="Gill Sans MT" panose="020B0502020104020203" pitchFamily="34" charset="77"/>
                <a:cs typeface="Arial MT"/>
              </a:rPr>
              <a:t> </a:t>
            </a:r>
            <a:r>
              <a:rPr sz="2000" dirty="0">
                <a:latin typeface="Gill Sans MT" panose="020B0502020104020203" pitchFamily="34" charset="77"/>
                <a:cs typeface="Cambria Math"/>
              </a:rPr>
              <a:t>{</a:t>
            </a:r>
          </a:p>
        </p:txBody>
      </p:sp>
      <p:grpSp>
        <p:nvGrpSpPr>
          <p:cNvPr id="83" name="Group 82">
            <a:extLst>
              <a:ext uri="{FF2B5EF4-FFF2-40B4-BE49-F238E27FC236}">
                <a16:creationId xmlns:a16="http://schemas.microsoft.com/office/drawing/2014/main" id="{3E0356D8-E647-67CA-4041-4D5CFF49A2FB}"/>
              </a:ext>
            </a:extLst>
          </p:cNvPr>
          <p:cNvGrpSpPr/>
          <p:nvPr/>
        </p:nvGrpSpPr>
        <p:grpSpPr>
          <a:xfrm>
            <a:off x="4572000" y="673529"/>
            <a:ext cx="3983863" cy="811147"/>
            <a:chOff x="3915791" y="548388"/>
            <a:chExt cx="3983863" cy="811147"/>
          </a:xfrm>
        </p:grpSpPr>
        <p:grpSp>
          <p:nvGrpSpPr>
            <p:cNvPr id="3" name="object 3"/>
            <p:cNvGrpSpPr/>
            <p:nvPr/>
          </p:nvGrpSpPr>
          <p:grpSpPr>
            <a:xfrm>
              <a:off x="3915791" y="842900"/>
              <a:ext cx="755015" cy="240029"/>
              <a:chOff x="3915790" y="842899"/>
              <a:chExt cx="755015" cy="240029"/>
            </a:xfrm>
          </p:grpSpPr>
          <p:pic>
            <p:nvPicPr>
              <p:cNvPr id="4" name="object 4"/>
              <p:cNvPicPr/>
              <p:nvPr/>
            </p:nvPicPr>
            <p:blipFill>
              <a:blip r:embed="rId2" cstate="print"/>
              <a:stretch>
                <a:fillRect/>
              </a:stretch>
            </p:blipFill>
            <p:spPr>
              <a:xfrm>
                <a:off x="3915790" y="862584"/>
                <a:ext cx="114173" cy="219963"/>
              </a:xfrm>
              <a:prstGeom prst="rect">
                <a:avLst/>
              </a:prstGeom>
            </p:spPr>
          </p:pic>
          <p:sp>
            <p:nvSpPr>
              <p:cNvPr id="5" name="object 5"/>
              <p:cNvSpPr/>
              <p:nvPr/>
            </p:nvSpPr>
            <p:spPr>
              <a:xfrm>
                <a:off x="4066285" y="842899"/>
                <a:ext cx="604520" cy="238760"/>
              </a:xfrm>
              <a:custGeom>
                <a:avLst/>
                <a:gdLst/>
                <a:ahLst/>
                <a:cxnLst/>
                <a:rect l="l" t="t" r="r" b="b"/>
                <a:pathLst>
                  <a:path w="604520" h="238759">
                    <a:moveTo>
                      <a:pt x="528447" y="0"/>
                    </a:moveTo>
                    <a:lnTo>
                      <a:pt x="525144" y="9778"/>
                    </a:lnTo>
                    <a:lnTo>
                      <a:pt x="538880" y="15708"/>
                    </a:lnTo>
                    <a:lnTo>
                      <a:pt x="550735" y="23971"/>
                    </a:lnTo>
                    <a:lnTo>
                      <a:pt x="574800" y="62404"/>
                    </a:lnTo>
                    <a:lnTo>
                      <a:pt x="582676" y="117983"/>
                    </a:lnTo>
                    <a:lnTo>
                      <a:pt x="581794" y="139009"/>
                    </a:lnTo>
                    <a:lnTo>
                      <a:pt x="568578" y="190373"/>
                    </a:lnTo>
                    <a:lnTo>
                      <a:pt x="539021" y="222573"/>
                    </a:lnTo>
                    <a:lnTo>
                      <a:pt x="525399" y="228600"/>
                    </a:lnTo>
                    <a:lnTo>
                      <a:pt x="528447" y="238251"/>
                    </a:lnTo>
                    <a:lnTo>
                      <a:pt x="573952" y="211195"/>
                    </a:lnTo>
                    <a:lnTo>
                      <a:pt x="599519" y="161305"/>
                    </a:lnTo>
                    <a:lnTo>
                      <a:pt x="604392" y="119252"/>
                    </a:lnTo>
                    <a:lnTo>
                      <a:pt x="603176" y="97414"/>
                    </a:lnTo>
                    <a:lnTo>
                      <a:pt x="593409" y="58691"/>
                    </a:lnTo>
                    <a:lnTo>
                      <a:pt x="560927" y="15319"/>
                    </a:lnTo>
                    <a:lnTo>
                      <a:pt x="545758" y="6260"/>
                    </a:lnTo>
                    <a:lnTo>
                      <a:pt x="528447" y="0"/>
                    </a:lnTo>
                    <a:close/>
                  </a:path>
                  <a:path w="604520" h="238759">
                    <a:moveTo>
                      <a:pt x="75946" y="0"/>
                    </a:moveTo>
                    <a:lnTo>
                      <a:pt x="30565" y="27164"/>
                    </a:lnTo>
                    <a:lnTo>
                      <a:pt x="4937" y="77231"/>
                    </a:lnTo>
                    <a:lnTo>
                      <a:pt x="0" y="119252"/>
                    </a:lnTo>
                    <a:lnTo>
                      <a:pt x="1216" y="141106"/>
                    </a:lnTo>
                    <a:lnTo>
                      <a:pt x="10983" y="179814"/>
                    </a:lnTo>
                    <a:lnTo>
                      <a:pt x="43465" y="222996"/>
                    </a:lnTo>
                    <a:lnTo>
                      <a:pt x="75946" y="238251"/>
                    </a:lnTo>
                    <a:lnTo>
                      <a:pt x="78993" y="228600"/>
                    </a:lnTo>
                    <a:lnTo>
                      <a:pt x="65424" y="222573"/>
                    </a:lnTo>
                    <a:lnTo>
                      <a:pt x="53689" y="214201"/>
                    </a:lnTo>
                    <a:lnTo>
                      <a:pt x="29646" y="175204"/>
                    </a:lnTo>
                    <a:lnTo>
                      <a:pt x="21716" y="117983"/>
                    </a:lnTo>
                    <a:lnTo>
                      <a:pt x="22598" y="97647"/>
                    </a:lnTo>
                    <a:lnTo>
                      <a:pt x="35813" y="47498"/>
                    </a:lnTo>
                    <a:lnTo>
                      <a:pt x="65639" y="15708"/>
                    </a:lnTo>
                    <a:lnTo>
                      <a:pt x="79375" y="9778"/>
                    </a:lnTo>
                    <a:lnTo>
                      <a:pt x="75946" y="0"/>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4155312" y="913892"/>
                <a:ext cx="224154" cy="154686"/>
              </a:xfrm>
              <a:prstGeom prst="rect">
                <a:avLst/>
              </a:prstGeom>
            </p:spPr>
          </p:pic>
          <p:pic>
            <p:nvPicPr>
              <p:cNvPr id="7" name="object 7"/>
              <p:cNvPicPr/>
              <p:nvPr/>
            </p:nvPicPr>
            <p:blipFill>
              <a:blip r:embed="rId4" cstate="print"/>
              <a:stretch>
                <a:fillRect/>
              </a:stretch>
            </p:blipFill>
            <p:spPr>
              <a:xfrm>
                <a:off x="4445761" y="854329"/>
                <a:ext cx="113918" cy="181610"/>
              </a:xfrm>
              <a:prstGeom prst="rect">
                <a:avLst/>
              </a:prstGeom>
            </p:spPr>
          </p:pic>
        </p:grpSp>
        <p:sp>
          <p:nvSpPr>
            <p:cNvPr id="9" name="object 9"/>
            <p:cNvSpPr/>
            <p:nvPr/>
          </p:nvSpPr>
          <p:spPr>
            <a:xfrm>
              <a:off x="4776725" y="926084"/>
              <a:ext cx="154940" cy="69215"/>
            </a:xfrm>
            <a:custGeom>
              <a:avLst/>
              <a:gdLst/>
              <a:ahLst/>
              <a:cxnLst/>
              <a:rect l="l" t="t" r="r" b="b"/>
              <a:pathLst>
                <a:path w="154939" h="69215">
                  <a:moveTo>
                    <a:pt x="154686" y="52070"/>
                  </a:moveTo>
                  <a:lnTo>
                    <a:pt x="0" y="52070"/>
                  </a:lnTo>
                  <a:lnTo>
                    <a:pt x="0" y="68834"/>
                  </a:lnTo>
                  <a:lnTo>
                    <a:pt x="154686" y="68834"/>
                  </a:lnTo>
                  <a:lnTo>
                    <a:pt x="154686" y="52070"/>
                  </a:lnTo>
                  <a:close/>
                </a:path>
                <a:path w="154939" h="69215">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a:p>
          </p:txBody>
        </p:sp>
        <p:grpSp>
          <p:nvGrpSpPr>
            <p:cNvPr id="10" name="object 10"/>
            <p:cNvGrpSpPr/>
            <p:nvPr/>
          </p:nvGrpSpPr>
          <p:grpSpPr>
            <a:xfrm>
              <a:off x="5015230" y="715010"/>
              <a:ext cx="1235711" cy="644525"/>
              <a:chOff x="5015229" y="715009"/>
              <a:chExt cx="1235710" cy="644525"/>
            </a:xfrm>
          </p:grpSpPr>
          <p:sp>
            <p:nvSpPr>
              <p:cNvPr id="11" name="object 11"/>
              <p:cNvSpPr/>
              <p:nvPr/>
            </p:nvSpPr>
            <p:spPr>
              <a:xfrm>
                <a:off x="5015230" y="715009"/>
                <a:ext cx="718820" cy="644525"/>
              </a:xfrm>
              <a:custGeom>
                <a:avLst/>
                <a:gdLst/>
                <a:ahLst/>
                <a:cxnLst/>
                <a:rect l="l" t="t" r="r" b="b"/>
                <a:pathLst>
                  <a:path w="718820" h="644525">
                    <a:moveTo>
                      <a:pt x="361950" y="233172"/>
                    </a:moveTo>
                    <a:lnTo>
                      <a:pt x="0" y="233172"/>
                    </a:lnTo>
                    <a:lnTo>
                      <a:pt x="0" y="252222"/>
                    </a:lnTo>
                    <a:lnTo>
                      <a:pt x="361950" y="252222"/>
                    </a:lnTo>
                    <a:lnTo>
                      <a:pt x="361950" y="233172"/>
                    </a:lnTo>
                    <a:close/>
                  </a:path>
                  <a:path w="718820" h="644525">
                    <a:moveTo>
                      <a:pt x="467487" y="511302"/>
                    </a:moveTo>
                    <a:lnTo>
                      <a:pt x="448818" y="511302"/>
                    </a:lnTo>
                    <a:lnTo>
                      <a:pt x="444500" y="531241"/>
                    </a:lnTo>
                    <a:lnTo>
                      <a:pt x="462915" y="531241"/>
                    </a:lnTo>
                    <a:lnTo>
                      <a:pt x="467487" y="511302"/>
                    </a:lnTo>
                    <a:close/>
                  </a:path>
                  <a:path w="718820" h="644525">
                    <a:moveTo>
                      <a:pt x="470916" y="626618"/>
                    </a:moveTo>
                    <a:lnTo>
                      <a:pt x="464693" y="620395"/>
                    </a:lnTo>
                    <a:lnTo>
                      <a:pt x="462788" y="622554"/>
                    </a:lnTo>
                    <a:lnTo>
                      <a:pt x="459613" y="625729"/>
                    </a:lnTo>
                    <a:lnTo>
                      <a:pt x="456692" y="628396"/>
                    </a:lnTo>
                    <a:lnTo>
                      <a:pt x="454152" y="630174"/>
                    </a:lnTo>
                    <a:lnTo>
                      <a:pt x="452882" y="630936"/>
                    </a:lnTo>
                    <a:lnTo>
                      <a:pt x="451739" y="631317"/>
                    </a:lnTo>
                    <a:lnTo>
                      <a:pt x="450723" y="631825"/>
                    </a:lnTo>
                    <a:lnTo>
                      <a:pt x="449580" y="631952"/>
                    </a:lnTo>
                    <a:lnTo>
                      <a:pt x="446532" y="631952"/>
                    </a:lnTo>
                    <a:lnTo>
                      <a:pt x="445135" y="631444"/>
                    </a:lnTo>
                    <a:lnTo>
                      <a:pt x="444119" y="630428"/>
                    </a:lnTo>
                    <a:lnTo>
                      <a:pt x="443103" y="629285"/>
                    </a:lnTo>
                    <a:lnTo>
                      <a:pt x="442722" y="627634"/>
                    </a:lnTo>
                    <a:lnTo>
                      <a:pt x="442849" y="621538"/>
                    </a:lnTo>
                    <a:lnTo>
                      <a:pt x="443230" y="619379"/>
                    </a:lnTo>
                    <a:lnTo>
                      <a:pt x="443484" y="617220"/>
                    </a:lnTo>
                    <a:lnTo>
                      <a:pt x="444119" y="614299"/>
                    </a:lnTo>
                    <a:lnTo>
                      <a:pt x="445008" y="610616"/>
                    </a:lnTo>
                    <a:lnTo>
                      <a:pt x="458724" y="548767"/>
                    </a:lnTo>
                    <a:lnTo>
                      <a:pt x="454279" y="548767"/>
                    </a:lnTo>
                    <a:lnTo>
                      <a:pt x="427228" y="549783"/>
                    </a:lnTo>
                    <a:lnTo>
                      <a:pt x="426085" y="556133"/>
                    </a:lnTo>
                    <a:lnTo>
                      <a:pt x="430149" y="556260"/>
                    </a:lnTo>
                    <a:lnTo>
                      <a:pt x="432943" y="556768"/>
                    </a:lnTo>
                    <a:lnTo>
                      <a:pt x="434594" y="557911"/>
                    </a:lnTo>
                    <a:lnTo>
                      <a:pt x="436118" y="559054"/>
                    </a:lnTo>
                    <a:lnTo>
                      <a:pt x="437007" y="560832"/>
                    </a:lnTo>
                    <a:lnTo>
                      <a:pt x="437007" y="565404"/>
                    </a:lnTo>
                    <a:lnTo>
                      <a:pt x="436880" y="565912"/>
                    </a:lnTo>
                    <a:lnTo>
                      <a:pt x="436626" y="568833"/>
                    </a:lnTo>
                    <a:lnTo>
                      <a:pt x="436118" y="572135"/>
                    </a:lnTo>
                    <a:lnTo>
                      <a:pt x="435356" y="575691"/>
                    </a:lnTo>
                    <a:lnTo>
                      <a:pt x="434721" y="579247"/>
                    </a:lnTo>
                    <a:lnTo>
                      <a:pt x="433832" y="582930"/>
                    </a:lnTo>
                    <a:lnTo>
                      <a:pt x="432943" y="586740"/>
                    </a:lnTo>
                    <a:lnTo>
                      <a:pt x="432054" y="590677"/>
                    </a:lnTo>
                    <a:lnTo>
                      <a:pt x="431165" y="594487"/>
                    </a:lnTo>
                    <a:lnTo>
                      <a:pt x="430276" y="598424"/>
                    </a:lnTo>
                    <a:lnTo>
                      <a:pt x="429260" y="602361"/>
                    </a:lnTo>
                    <a:lnTo>
                      <a:pt x="428498" y="606044"/>
                    </a:lnTo>
                    <a:lnTo>
                      <a:pt x="425094" y="629920"/>
                    </a:lnTo>
                    <a:lnTo>
                      <a:pt x="425323" y="631952"/>
                    </a:lnTo>
                    <a:lnTo>
                      <a:pt x="438150" y="644398"/>
                    </a:lnTo>
                    <a:lnTo>
                      <a:pt x="443103" y="644398"/>
                    </a:lnTo>
                    <a:lnTo>
                      <a:pt x="454660" y="640461"/>
                    </a:lnTo>
                    <a:lnTo>
                      <a:pt x="457073" y="639064"/>
                    </a:lnTo>
                    <a:lnTo>
                      <a:pt x="459486" y="637159"/>
                    </a:lnTo>
                    <a:lnTo>
                      <a:pt x="464820" y="632587"/>
                    </a:lnTo>
                    <a:lnTo>
                      <a:pt x="465505" y="631952"/>
                    </a:lnTo>
                    <a:lnTo>
                      <a:pt x="467741" y="629920"/>
                    </a:lnTo>
                    <a:lnTo>
                      <a:pt x="470916" y="626618"/>
                    </a:lnTo>
                    <a:close/>
                  </a:path>
                  <a:path w="718820" h="644525">
                    <a:moveTo>
                      <a:pt x="608584" y="601472"/>
                    </a:moveTo>
                    <a:lnTo>
                      <a:pt x="501523" y="601472"/>
                    </a:lnTo>
                    <a:lnTo>
                      <a:pt x="501523" y="615696"/>
                    </a:lnTo>
                    <a:lnTo>
                      <a:pt x="608584" y="615696"/>
                    </a:lnTo>
                    <a:lnTo>
                      <a:pt x="608584" y="601472"/>
                    </a:lnTo>
                    <a:close/>
                  </a:path>
                  <a:path w="718820" h="644525">
                    <a:moveTo>
                      <a:pt x="608584" y="560959"/>
                    </a:moveTo>
                    <a:lnTo>
                      <a:pt x="501523" y="560959"/>
                    </a:lnTo>
                    <a:lnTo>
                      <a:pt x="501523" y="575183"/>
                    </a:lnTo>
                    <a:lnTo>
                      <a:pt x="608584" y="575183"/>
                    </a:lnTo>
                    <a:lnTo>
                      <a:pt x="608584" y="560959"/>
                    </a:lnTo>
                    <a:close/>
                  </a:path>
                  <a:path w="718820" h="644525">
                    <a:moveTo>
                      <a:pt x="718439" y="398907"/>
                    </a:moveTo>
                    <a:lnTo>
                      <a:pt x="699897" y="398907"/>
                    </a:lnTo>
                    <a:lnTo>
                      <a:pt x="697001" y="414985"/>
                    </a:lnTo>
                    <a:lnTo>
                      <a:pt x="693864" y="427926"/>
                    </a:lnTo>
                    <a:lnTo>
                      <a:pt x="690422" y="437743"/>
                    </a:lnTo>
                    <a:lnTo>
                      <a:pt x="686689" y="444373"/>
                    </a:lnTo>
                    <a:lnTo>
                      <a:pt x="681609" y="451104"/>
                    </a:lnTo>
                    <a:lnTo>
                      <a:pt x="674243" y="454533"/>
                    </a:lnTo>
                    <a:lnTo>
                      <a:pt x="446786" y="454533"/>
                    </a:lnTo>
                    <a:lnTo>
                      <a:pt x="608457" y="235077"/>
                    </a:lnTo>
                    <a:lnTo>
                      <a:pt x="608457" y="219837"/>
                    </a:lnTo>
                    <a:lnTo>
                      <a:pt x="458724" y="16383"/>
                    </a:lnTo>
                    <a:lnTo>
                      <a:pt x="656844" y="16383"/>
                    </a:lnTo>
                    <a:lnTo>
                      <a:pt x="687514" y="40513"/>
                    </a:lnTo>
                    <a:lnTo>
                      <a:pt x="695198" y="74295"/>
                    </a:lnTo>
                    <a:lnTo>
                      <a:pt x="711708" y="74295"/>
                    </a:lnTo>
                    <a:lnTo>
                      <a:pt x="711708" y="0"/>
                    </a:lnTo>
                    <a:lnTo>
                      <a:pt x="408432" y="0"/>
                    </a:lnTo>
                    <a:lnTo>
                      <a:pt x="408432" y="11938"/>
                    </a:lnTo>
                    <a:lnTo>
                      <a:pt x="579247" y="240030"/>
                    </a:lnTo>
                    <a:lnTo>
                      <a:pt x="403352" y="478536"/>
                    </a:lnTo>
                    <a:lnTo>
                      <a:pt x="403352" y="490982"/>
                    </a:lnTo>
                    <a:lnTo>
                      <a:pt x="712089" y="490982"/>
                    </a:lnTo>
                    <a:lnTo>
                      <a:pt x="718439" y="398907"/>
                    </a:lnTo>
                    <a:close/>
                  </a:path>
                </a:pathLst>
              </a:custGeom>
              <a:solidFill>
                <a:srgbClr val="000000"/>
              </a:solidFill>
            </p:spPr>
            <p:txBody>
              <a:bodyPr wrap="square" lIns="0" tIns="0" rIns="0" bIns="0" rtlCol="0"/>
              <a:lstStyle/>
              <a:p>
                <a:endParaRPr/>
              </a:p>
            </p:txBody>
          </p:sp>
          <p:pic>
            <p:nvPicPr>
              <p:cNvPr id="12" name="object 12"/>
              <p:cNvPicPr/>
              <p:nvPr/>
            </p:nvPicPr>
            <p:blipFill>
              <a:blip r:embed="rId5" cstate="print"/>
              <a:stretch>
                <a:fillRect/>
              </a:stretch>
            </p:blipFill>
            <p:spPr>
              <a:xfrm>
                <a:off x="5660897" y="1237995"/>
                <a:ext cx="78866" cy="119761"/>
              </a:xfrm>
              <a:prstGeom prst="rect">
                <a:avLst/>
              </a:prstGeom>
            </p:spPr>
          </p:pic>
          <p:pic>
            <p:nvPicPr>
              <p:cNvPr id="13" name="object 13"/>
              <p:cNvPicPr/>
              <p:nvPr/>
            </p:nvPicPr>
            <p:blipFill>
              <a:blip r:embed="rId6" cstate="print"/>
              <a:stretch>
                <a:fillRect/>
              </a:stretch>
            </p:blipFill>
            <p:spPr>
              <a:xfrm>
                <a:off x="5771260" y="852423"/>
                <a:ext cx="479547" cy="264287"/>
              </a:xfrm>
              <a:prstGeom prst="rect">
                <a:avLst/>
              </a:prstGeom>
            </p:spPr>
          </p:pic>
        </p:grpSp>
        <p:pic>
          <p:nvPicPr>
            <p:cNvPr id="14" name="object 14"/>
            <p:cNvPicPr/>
            <p:nvPr/>
          </p:nvPicPr>
          <p:blipFill>
            <a:blip r:embed="rId7" cstate="print"/>
            <a:stretch>
              <a:fillRect/>
            </a:stretch>
          </p:blipFill>
          <p:spPr>
            <a:xfrm>
              <a:off x="5142358" y="670051"/>
              <a:ext cx="99948" cy="173355"/>
            </a:xfrm>
            <a:prstGeom prst="rect">
              <a:avLst/>
            </a:prstGeom>
          </p:spPr>
        </p:pic>
        <p:sp>
          <p:nvSpPr>
            <p:cNvPr id="15" name="object 15"/>
            <p:cNvSpPr/>
            <p:nvPr/>
          </p:nvSpPr>
          <p:spPr>
            <a:xfrm>
              <a:off x="5031486" y="1032004"/>
              <a:ext cx="339725" cy="175895"/>
            </a:xfrm>
            <a:custGeom>
              <a:avLst/>
              <a:gdLst/>
              <a:ahLst/>
              <a:cxnLst/>
              <a:rect l="l" t="t" r="r" b="b"/>
              <a:pathLst>
                <a:path w="339725" h="175894">
                  <a:moveTo>
                    <a:pt x="319514" y="66039"/>
                  </a:moveTo>
                  <a:lnTo>
                    <a:pt x="290702" y="66039"/>
                  </a:lnTo>
                  <a:lnTo>
                    <a:pt x="293877" y="67310"/>
                  </a:lnTo>
                  <a:lnTo>
                    <a:pt x="297688" y="72389"/>
                  </a:lnTo>
                  <a:lnTo>
                    <a:pt x="298703" y="76581"/>
                  </a:lnTo>
                  <a:lnTo>
                    <a:pt x="298576" y="85725"/>
                  </a:lnTo>
                  <a:lnTo>
                    <a:pt x="298301" y="87884"/>
                  </a:lnTo>
                  <a:lnTo>
                    <a:pt x="297052" y="95250"/>
                  </a:lnTo>
                  <a:lnTo>
                    <a:pt x="295783" y="101092"/>
                  </a:lnTo>
                  <a:lnTo>
                    <a:pt x="293750" y="108965"/>
                  </a:lnTo>
                  <a:lnTo>
                    <a:pt x="288289" y="130683"/>
                  </a:lnTo>
                  <a:lnTo>
                    <a:pt x="285496" y="141224"/>
                  </a:lnTo>
                  <a:lnTo>
                    <a:pt x="284099" y="149225"/>
                  </a:lnTo>
                  <a:lnTo>
                    <a:pt x="284183" y="160909"/>
                  </a:lnTo>
                  <a:lnTo>
                    <a:pt x="285750" y="165608"/>
                  </a:lnTo>
                  <a:lnTo>
                    <a:pt x="288925" y="169545"/>
                  </a:lnTo>
                  <a:lnTo>
                    <a:pt x="292226" y="173482"/>
                  </a:lnTo>
                  <a:lnTo>
                    <a:pt x="296544" y="175387"/>
                  </a:lnTo>
                  <a:lnTo>
                    <a:pt x="308863" y="175387"/>
                  </a:lnTo>
                  <a:lnTo>
                    <a:pt x="314960" y="173609"/>
                  </a:lnTo>
                  <a:lnTo>
                    <a:pt x="325754" y="166370"/>
                  </a:lnTo>
                  <a:lnTo>
                    <a:pt x="331836" y="160909"/>
                  </a:lnTo>
                  <a:lnTo>
                    <a:pt x="309625" y="160909"/>
                  </a:lnTo>
                  <a:lnTo>
                    <a:pt x="307848" y="160147"/>
                  </a:lnTo>
                  <a:lnTo>
                    <a:pt x="306831" y="158623"/>
                  </a:lnTo>
                  <a:lnTo>
                    <a:pt x="305688" y="157225"/>
                  </a:lnTo>
                  <a:lnTo>
                    <a:pt x="305180" y="154812"/>
                  </a:lnTo>
                  <a:lnTo>
                    <a:pt x="305180" y="147574"/>
                  </a:lnTo>
                  <a:lnTo>
                    <a:pt x="306324" y="141224"/>
                  </a:lnTo>
                  <a:lnTo>
                    <a:pt x="308610" y="132080"/>
                  </a:lnTo>
                  <a:lnTo>
                    <a:pt x="319150" y="89408"/>
                  </a:lnTo>
                  <a:lnTo>
                    <a:pt x="320421" y="81914"/>
                  </a:lnTo>
                  <a:lnTo>
                    <a:pt x="320421" y="68707"/>
                  </a:lnTo>
                  <a:lnTo>
                    <a:pt x="319514" y="66039"/>
                  </a:lnTo>
                  <a:close/>
                </a:path>
                <a:path w="339725" h="175894">
                  <a:moveTo>
                    <a:pt x="183261" y="65659"/>
                  </a:moveTo>
                  <a:lnTo>
                    <a:pt x="159258" y="65659"/>
                  </a:lnTo>
                  <a:lnTo>
                    <a:pt x="160909" y="66421"/>
                  </a:lnTo>
                  <a:lnTo>
                    <a:pt x="163067" y="69342"/>
                  </a:lnTo>
                  <a:lnTo>
                    <a:pt x="163480" y="70993"/>
                  </a:lnTo>
                  <a:lnTo>
                    <a:pt x="163578" y="80263"/>
                  </a:lnTo>
                  <a:lnTo>
                    <a:pt x="162687" y="85725"/>
                  </a:lnTo>
                  <a:lnTo>
                    <a:pt x="160821" y="94107"/>
                  </a:lnTo>
                  <a:lnTo>
                    <a:pt x="142621" y="173355"/>
                  </a:lnTo>
                  <a:lnTo>
                    <a:pt x="164337" y="173355"/>
                  </a:lnTo>
                  <a:lnTo>
                    <a:pt x="176384" y="118490"/>
                  </a:lnTo>
                  <a:lnTo>
                    <a:pt x="177926" y="111251"/>
                  </a:lnTo>
                  <a:lnTo>
                    <a:pt x="180212" y="104775"/>
                  </a:lnTo>
                  <a:lnTo>
                    <a:pt x="185292" y="94107"/>
                  </a:lnTo>
                  <a:lnTo>
                    <a:pt x="188975" y="88519"/>
                  </a:lnTo>
                  <a:lnTo>
                    <a:pt x="191560" y="85217"/>
                  </a:lnTo>
                  <a:lnTo>
                    <a:pt x="181863" y="85217"/>
                  </a:lnTo>
                  <a:lnTo>
                    <a:pt x="180339" y="84709"/>
                  </a:lnTo>
                  <a:lnTo>
                    <a:pt x="182244" y="79501"/>
                  </a:lnTo>
                  <a:lnTo>
                    <a:pt x="183234" y="74802"/>
                  </a:lnTo>
                  <a:lnTo>
                    <a:pt x="183261" y="65659"/>
                  </a:lnTo>
                  <a:close/>
                </a:path>
                <a:path w="339725" h="175894">
                  <a:moveTo>
                    <a:pt x="251523" y="66039"/>
                  </a:moveTo>
                  <a:lnTo>
                    <a:pt x="221868" y="66039"/>
                  </a:lnTo>
                  <a:lnTo>
                    <a:pt x="225298" y="67310"/>
                  </a:lnTo>
                  <a:lnTo>
                    <a:pt x="227437" y="69976"/>
                  </a:lnTo>
                  <a:lnTo>
                    <a:pt x="229488" y="72389"/>
                  </a:lnTo>
                  <a:lnTo>
                    <a:pt x="230598" y="76581"/>
                  </a:lnTo>
                  <a:lnTo>
                    <a:pt x="230588" y="85725"/>
                  </a:lnTo>
                  <a:lnTo>
                    <a:pt x="230250" y="88646"/>
                  </a:lnTo>
                  <a:lnTo>
                    <a:pt x="228980" y="96012"/>
                  </a:lnTo>
                  <a:lnTo>
                    <a:pt x="227837" y="101853"/>
                  </a:lnTo>
                  <a:lnTo>
                    <a:pt x="223925" y="118999"/>
                  </a:lnTo>
                  <a:lnTo>
                    <a:pt x="211581" y="173355"/>
                  </a:lnTo>
                  <a:lnTo>
                    <a:pt x="233299" y="173355"/>
                  </a:lnTo>
                  <a:lnTo>
                    <a:pt x="244728" y="118490"/>
                  </a:lnTo>
                  <a:lnTo>
                    <a:pt x="246506" y="110744"/>
                  </a:lnTo>
                  <a:lnTo>
                    <a:pt x="262988" y="81534"/>
                  </a:lnTo>
                  <a:lnTo>
                    <a:pt x="252475" y="81534"/>
                  </a:lnTo>
                  <a:lnTo>
                    <a:pt x="252602" y="69342"/>
                  </a:lnTo>
                  <a:lnTo>
                    <a:pt x="251523" y="66039"/>
                  </a:lnTo>
                  <a:close/>
                </a:path>
                <a:path w="339725" h="175894">
                  <a:moveTo>
                    <a:pt x="332104" y="146176"/>
                  </a:moveTo>
                  <a:lnTo>
                    <a:pt x="314451" y="160909"/>
                  </a:lnTo>
                  <a:lnTo>
                    <a:pt x="331836" y="160909"/>
                  </a:lnTo>
                  <a:lnTo>
                    <a:pt x="332098" y="160655"/>
                  </a:lnTo>
                  <a:lnTo>
                    <a:pt x="339216" y="153162"/>
                  </a:lnTo>
                  <a:lnTo>
                    <a:pt x="332104" y="146176"/>
                  </a:lnTo>
                  <a:close/>
                </a:path>
                <a:path w="339725" h="175894">
                  <a:moveTo>
                    <a:pt x="235965" y="51308"/>
                  </a:moveTo>
                  <a:lnTo>
                    <a:pt x="220217" y="51308"/>
                  </a:lnTo>
                  <a:lnTo>
                    <a:pt x="212471" y="54101"/>
                  </a:lnTo>
                  <a:lnTo>
                    <a:pt x="181863" y="85217"/>
                  </a:lnTo>
                  <a:lnTo>
                    <a:pt x="191560" y="85217"/>
                  </a:lnTo>
                  <a:lnTo>
                    <a:pt x="198119" y="76835"/>
                  </a:lnTo>
                  <a:lnTo>
                    <a:pt x="202437" y="72644"/>
                  </a:lnTo>
                  <a:lnTo>
                    <a:pt x="210565" y="67310"/>
                  </a:lnTo>
                  <a:lnTo>
                    <a:pt x="214249" y="66039"/>
                  </a:lnTo>
                  <a:lnTo>
                    <a:pt x="251523" y="66039"/>
                  </a:lnTo>
                  <a:lnTo>
                    <a:pt x="250443" y="62737"/>
                  </a:lnTo>
                  <a:lnTo>
                    <a:pt x="242062" y="53594"/>
                  </a:lnTo>
                  <a:lnTo>
                    <a:pt x="235965" y="51308"/>
                  </a:lnTo>
                  <a:close/>
                </a:path>
                <a:path w="339725" h="175894">
                  <a:moveTo>
                    <a:pt x="303911" y="51308"/>
                  </a:moveTo>
                  <a:lnTo>
                    <a:pt x="288543" y="51308"/>
                  </a:lnTo>
                  <a:lnTo>
                    <a:pt x="281177" y="53848"/>
                  </a:lnTo>
                  <a:lnTo>
                    <a:pt x="252475" y="81534"/>
                  </a:lnTo>
                  <a:lnTo>
                    <a:pt x="262988" y="81534"/>
                  </a:lnTo>
                  <a:lnTo>
                    <a:pt x="266826" y="76708"/>
                  </a:lnTo>
                  <a:lnTo>
                    <a:pt x="271017" y="72644"/>
                  </a:lnTo>
                  <a:lnTo>
                    <a:pt x="275081" y="69976"/>
                  </a:lnTo>
                  <a:lnTo>
                    <a:pt x="279018" y="67310"/>
                  </a:lnTo>
                  <a:lnTo>
                    <a:pt x="282828" y="66039"/>
                  </a:lnTo>
                  <a:lnTo>
                    <a:pt x="319514" y="66039"/>
                  </a:lnTo>
                  <a:lnTo>
                    <a:pt x="318262" y="62357"/>
                  </a:lnTo>
                  <a:lnTo>
                    <a:pt x="314071" y="58038"/>
                  </a:lnTo>
                  <a:lnTo>
                    <a:pt x="309879" y="53594"/>
                  </a:lnTo>
                  <a:lnTo>
                    <a:pt x="303911" y="51308"/>
                  </a:lnTo>
                  <a:close/>
                </a:path>
                <a:path w="339725" h="175894">
                  <a:moveTo>
                    <a:pt x="171450" y="51181"/>
                  </a:moveTo>
                  <a:lnTo>
                    <a:pt x="159765" y="51181"/>
                  </a:lnTo>
                  <a:lnTo>
                    <a:pt x="153924" y="52959"/>
                  </a:lnTo>
                  <a:lnTo>
                    <a:pt x="148589" y="56514"/>
                  </a:lnTo>
                  <a:lnTo>
                    <a:pt x="143383" y="60071"/>
                  </a:lnTo>
                  <a:lnTo>
                    <a:pt x="137033" y="65659"/>
                  </a:lnTo>
                  <a:lnTo>
                    <a:pt x="129666" y="73406"/>
                  </a:lnTo>
                  <a:lnTo>
                    <a:pt x="136778" y="80390"/>
                  </a:lnTo>
                  <a:lnTo>
                    <a:pt x="141859" y="74802"/>
                  </a:lnTo>
                  <a:lnTo>
                    <a:pt x="145796" y="70993"/>
                  </a:lnTo>
                  <a:lnTo>
                    <a:pt x="148589" y="68834"/>
                  </a:lnTo>
                  <a:lnTo>
                    <a:pt x="151511" y="66675"/>
                  </a:lnTo>
                  <a:lnTo>
                    <a:pt x="154304" y="65659"/>
                  </a:lnTo>
                  <a:lnTo>
                    <a:pt x="183261" y="65659"/>
                  </a:lnTo>
                  <a:lnTo>
                    <a:pt x="183261" y="64388"/>
                  </a:lnTo>
                  <a:lnTo>
                    <a:pt x="181737" y="59817"/>
                  </a:lnTo>
                  <a:lnTo>
                    <a:pt x="175640" y="52959"/>
                  </a:lnTo>
                  <a:lnTo>
                    <a:pt x="171450" y="51181"/>
                  </a:lnTo>
                  <a:close/>
                </a:path>
                <a:path w="339725" h="175894">
                  <a:moveTo>
                    <a:pt x="92467" y="11557"/>
                  </a:moveTo>
                  <a:lnTo>
                    <a:pt x="56768" y="11557"/>
                  </a:lnTo>
                  <a:lnTo>
                    <a:pt x="61975" y="12953"/>
                  </a:lnTo>
                  <a:lnTo>
                    <a:pt x="66166" y="15621"/>
                  </a:lnTo>
                  <a:lnTo>
                    <a:pt x="70358" y="18414"/>
                  </a:lnTo>
                  <a:lnTo>
                    <a:pt x="73405" y="22225"/>
                  </a:lnTo>
                  <a:lnTo>
                    <a:pt x="77469" y="31876"/>
                  </a:lnTo>
                  <a:lnTo>
                    <a:pt x="78359" y="37337"/>
                  </a:lnTo>
                  <a:lnTo>
                    <a:pt x="78285" y="48387"/>
                  </a:lnTo>
                  <a:lnTo>
                    <a:pt x="77977" y="51562"/>
                  </a:lnTo>
                  <a:lnTo>
                    <a:pt x="76962" y="55372"/>
                  </a:lnTo>
                  <a:lnTo>
                    <a:pt x="75946" y="59309"/>
                  </a:lnTo>
                  <a:lnTo>
                    <a:pt x="52990" y="93726"/>
                  </a:lnTo>
                  <a:lnTo>
                    <a:pt x="40512" y="107823"/>
                  </a:lnTo>
                  <a:lnTo>
                    <a:pt x="32587" y="116867"/>
                  </a:lnTo>
                  <a:lnTo>
                    <a:pt x="6286" y="154050"/>
                  </a:lnTo>
                  <a:lnTo>
                    <a:pt x="0" y="167386"/>
                  </a:lnTo>
                  <a:lnTo>
                    <a:pt x="0" y="173355"/>
                  </a:lnTo>
                  <a:lnTo>
                    <a:pt x="103250" y="173355"/>
                  </a:lnTo>
                  <a:lnTo>
                    <a:pt x="104431" y="153288"/>
                  </a:lnTo>
                  <a:lnTo>
                    <a:pt x="24511" y="153288"/>
                  </a:lnTo>
                  <a:lnTo>
                    <a:pt x="30916" y="143456"/>
                  </a:lnTo>
                  <a:lnTo>
                    <a:pt x="38893" y="132826"/>
                  </a:lnTo>
                  <a:lnTo>
                    <a:pt x="48442" y="121410"/>
                  </a:lnTo>
                  <a:lnTo>
                    <a:pt x="59562" y="109220"/>
                  </a:lnTo>
                  <a:lnTo>
                    <a:pt x="66161" y="102221"/>
                  </a:lnTo>
                  <a:lnTo>
                    <a:pt x="71675" y="96281"/>
                  </a:lnTo>
                  <a:lnTo>
                    <a:pt x="76118" y="91414"/>
                  </a:lnTo>
                  <a:lnTo>
                    <a:pt x="79501" y="87630"/>
                  </a:lnTo>
                  <a:lnTo>
                    <a:pt x="83438" y="83312"/>
                  </a:lnTo>
                  <a:lnTo>
                    <a:pt x="102742" y="48387"/>
                  </a:lnTo>
                  <a:lnTo>
                    <a:pt x="103124" y="44323"/>
                  </a:lnTo>
                  <a:lnTo>
                    <a:pt x="103124" y="39877"/>
                  </a:lnTo>
                  <a:lnTo>
                    <a:pt x="102383" y="30734"/>
                  </a:lnTo>
                  <a:lnTo>
                    <a:pt x="100155" y="22733"/>
                  </a:lnTo>
                  <a:lnTo>
                    <a:pt x="96426" y="15875"/>
                  </a:lnTo>
                  <a:lnTo>
                    <a:pt x="92467" y="11557"/>
                  </a:lnTo>
                  <a:close/>
                </a:path>
                <a:path w="339725" h="175894">
                  <a:moveTo>
                    <a:pt x="105410" y="136651"/>
                  </a:moveTo>
                  <a:lnTo>
                    <a:pt x="94741" y="136651"/>
                  </a:lnTo>
                  <a:lnTo>
                    <a:pt x="92328" y="143510"/>
                  </a:lnTo>
                  <a:lnTo>
                    <a:pt x="90550" y="147320"/>
                  </a:lnTo>
                  <a:lnTo>
                    <a:pt x="75946" y="153288"/>
                  </a:lnTo>
                  <a:lnTo>
                    <a:pt x="104431" y="153288"/>
                  </a:lnTo>
                  <a:lnTo>
                    <a:pt x="105410" y="136651"/>
                  </a:lnTo>
                  <a:close/>
                </a:path>
                <a:path w="339725" h="175894">
                  <a:moveTo>
                    <a:pt x="56006" y="0"/>
                  </a:moveTo>
                  <a:lnTo>
                    <a:pt x="48894" y="0"/>
                  </a:lnTo>
                  <a:lnTo>
                    <a:pt x="41021" y="1015"/>
                  </a:lnTo>
                  <a:lnTo>
                    <a:pt x="3683" y="13462"/>
                  </a:lnTo>
                  <a:lnTo>
                    <a:pt x="3683" y="37592"/>
                  </a:lnTo>
                  <a:lnTo>
                    <a:pt x="18923" y="37592"/>
                  </a:lnTo>
                  <a:lnTo>
                    <a:pt x="23971" y="26183"/>
                  </a:lnTo>
                  <a:lnTo>
                    <a:pt x="30924" y="18049"/>
                  </a:lnTo>
                  <a:lnTo>
                    <a:pt x="39782" y="13178"/>
                  </a:lnTo>
                  <a:lnTo>
                    <a:pt x="50546" y="11557"/>
                  </a:lnTo>
                  <a:lnTo>
                    <a:pt x="92467" y="11557"/>
                  </a:lnTo>
                  <a:lnTo>
                    <a:pt x="91186" y="10160"/>
                  </a:lnTo>
                  <a:lnTo>
                    <a:pt x="84546" y="5732"/>
                  </a:lnTo>
                  <a:lnTo>
                    <a:pt x="76453" y="2555"/>
                  </a:lnTo>
                  <a:lnTo>
                    <a:pt x="66932" y="640"/>
                  </a:lnTo>
                  <a:lnTo>
                    <a:pt x="56006" y="0"/>
                  </a:lnTo>
                  <a:close/>
                </a:path>
              </a:pathLst>
            </a:custGeom>
            <a:solidFill>
              <a:srgbClr val="000000"/>
            </a:solidFill>
          </p:spPr>
          <p:txBody>
            <a:bodyPr wrap="square" lIns="0" tIns="0" rIns="0" bIns="0" rtlCol="0"/>
            <a:lstStyle/>
            <a:p>
              <a:endParaRPr/>
            </a:p>
          </p:txBody>
        </p:sp>
        <p:pic>
          <p:nvPicPr>
            <p:cNvPr id="16" name="object 16"/>
            <p:cNvPicPr/>
            <p:nvPr/>
          </p:nvPicPr>
          <p:blipFill>
            <a:blip r:embed="rId8" cstate="print"/>
            <a:stretch>
              <a:fillRect/>
            </a:stretch>
          </p:blipFill>
          <p:spPr>
            <a:xfrm>
              <a:off x="5495290" y="548388"/>
              <a:ext cx="170943" cy="96647"/>
            </a:xfrm>
            <a:prstGeom prst="rect">
              <a:avLst/>
            </a:prstGeom>
          </p:spPr>
        </p:pic>
        <p:grpSp>
          <p:nvGrpSpPr>
            <p:cNvPr id="17" name="object 17"/>
            <p:cNvGrpSpPr/>
            <p:nvPr/>
          </p:nvGrpSpPr>
          <p:grpSpPr>
            <a:xfrm>
              <a:off x="6304667" y="794767"/>
              <a:ext cx="575311" cy="321311"/>
              <a:chOff x="6304667" y="794766"/>
              <a:chExt cx="575310" cy="321310"/>
            </a:xfrm>
          </p:grpSpPr>
          <p:sp>
            <p:nvSpPr>
              <p:cNvPr id="18" name="object 18"/>
              <p:cNvSpPr/>
              <p:nvPr/>
            </p:nvSpPr>
            <p:spPr>
              <a:xfrm>
                <a:off x="6304667" y="805180"/>
                <a:ext cx="575310" cy="311150"/>
              </a:xfrm>
              <a:custGeom>
                <a:avLst/>
                <a:gdLst/>
                <a:ahLst/>
                <a:cxnLst/>
                <a:rect l="l" t="t" r="r" b="b"/>
                <a:pathLst>
                  <a:path w="575309" h="311150">
                    <a:moveTo>
                      <a:pt x="493516" y="0"/>
                    </a:moveTo>
                    <a:lnTo>
                      <a:pt x="490341" y="10287"/>
                    </a:lnTo>
                    <a:lnTo>
                      <a:pt x="504652" y="17690"/>
                    </a:lnTo>
                    <a:lnTo>
                      <a:pt x="517106" y="28463"/>
                    </a:lnTo>
                    <a:lnTo>
                      <a:pt x="543276" y="80456"/>
                    </a:lnTo>
                    <a:lnTo>
                      <a:pt x="551086" y="128133"/>
                    </a:lnTo>
                    <a:lnTo>
                      <a:pt x="552063" y="155448"/>
                    </a:lnTo>
                    <a:lnTo>
                      <a:pt x="551086" y="182669"/>
                    </a:lnTo>
                    <a:lnTo>
                      <a:pt x="543276" y="230207"/>
                    </a:lnTo>
                    <a:lnTo>
                      <a:pt x="527702" y="268047"/>
                    </a:lnTo>
                    <a:lnTo>
                      <a:pt x="490341" y="300355"/>
                    </a:lnTo>
                    <a:lnTo>
                      <a:pt x="493516" y="310642"/>
                    </a:lnTo>
                    <a:lnTo>
                      <a:pt x="528218" y="292163"/>
                    </a:lnTo>
                    <a:lnTo>
                      <a:pt x="553968" y="257302"/>
                    </a:lnTo>
                    <a:lnTo>
                      <a:pt x="569858" y="210264"/>
                    </a:lnTo>
                    <a:lnTo>
                      <a:pt x="575177" y="155321"/>
                    </a:lnTo>
                    <a:lnTo>
                      <a:pt x="573845" y="126867"/>
                    </a:lnTo>
                    <a:lnTo>
                      <a:pt x="563229" y="75864"/>
                    </a:lnTo>
                    <a:lnTo>
                      <a:pt x="542200" y="33861"/>
                    </a:lnTo>
                    <a:lnTo>
                      <a:pt x="511998" y="7191"/>
                    </a:lnTo>
                    <a:lnTo>
                      <a:pt x="493516" y="0"/>
                    </a:lnTo>
                    <a:close/>
                  </a:path>
                  <a:path w="575309" h="311150">
                    <a:moveTo>
                      <a:pt x="81655" y="0"/>
                    </a:moveTo>
                    <a:lnTo>
                      <a:pt x="46904" y="18478"/>
                    </a:lnTo>
                    <a:lnTo>
                      <a:pt x="21203" y="53340"/>
                    </a:lnTo>
                    <a:lnTo>
                      <a:pt x="5312" y="100377"/>
                    </a:lnTo>
                    <a:lnTo>
                      <a:pt x="0" y="155448"/>
                    </a:lnTo>
                    <a:lnTo>
                      <a:pt x="1325" y="183774"/>
                    </a:lnTo>
                    <a:lnTo>
                      <a:pt x="11941" y="234777"/>
                    </a:lnTo>
                    <a:lnTo>
                      <a:pt x="32916" y="276780"/>
                    </a:lnTo>
                    <a:lnTo>
                      <a:pt x="63154" y="303450"/>
                    </a:lnTo>
                    <a:lnTo>
                      <a:pt x="81655" y="310642"/>
                    </a:lnTo>
                    <a:lnTo>
                      <a:pt x="84703" y="300355"/>
                    </a:lnTo>
                    <a:lnTo>
                      <a:pt x="70465" y="292951"/>
                    </a:lnTo>
                    <a:lnTo>
                      <a:pt x="58048" y="282178"/>
                    </a:lnTo>
                    <a:lnTo>
                      <a:pt x="31894" y="230207"/>
                    </a:lnTo>
                    <a:lnTo>
                      <a:pt x="24084" y="182669"/>
                    </a:lnTo>
                    <a:lnTo>
                      <a:pt x="23112" y="155321"/>
                    </a:lnTo>
                    <a:lnTo>
                      <a:pt x="24084" y="128133"/>
                    </a:lnTo>
                    <a:lnTo>
                      <a:pt x="31894" y="80456"/>
                    </a:lnTo>
                    <a:lnTo>
                      <a:pt x="47466" y="42594"/>
                    </a:lnTo>
                    <a:lnTo>
                      <a:pt x="84703" y="10287"/>
                    </a:lnTo>
                    <a:lnTo>
                      <a:pt x="81655" y="0"/>
                    </a:lnTo>
                    <a:close/>
                  </a:path>
                </a:pathLst>
              </a:custGeom>
              <a:solidFill>
                <a:srgbClr val="000000"/>
              </a:solidFill>
            </p:spPr>
            <p:txBody>
              <a:bodyPr wrap="square" lIns="0" tIns="0" rIns="0" bIns="0" rtlCol="0"/>
              <a:lstStyle/>
              <a:p>
                <a:endParaRPr/>
              </a:p>
            </p:txBody>
          </p:sp>
          <p:pic>
            <p:nvPicPr>
              <p:cNvPr id="19" name="object 19"/>
              <p:cNvPicPr/>
              <p:nvPr/>
            </p:nvPicPr>
            <p:blipFill>
              <a:blip r:embed="rId9" cstate="print"/>
              <a:stretch>
                <a:fillRect/>
              </a:stretch>
            </p:blipFill>
            <p:spPr>
              <a:xfrm>
                <a:off x="6400165" y="911733"/>
                <a:ext cx="129286" cy="124205"/>
              </a:xfrm>
              <a:prstGeom prst="rect">
                <a:avLst/>
              </a:prstGeom>
            </p:spPr>
          </p:pic>
          <p:pic>
            <p:nvPicPr>
              <p:cNvPr id="20" name="object 20"/>
              <p:cNvPicPr/>
              <p:nvPr/>
            </p:nvPicPr>
            <p:blipFill>
              <a:blip r:embed="rId10" cstate="print"/>
              <a:stretch>
                <a:fillRect/>
              </a:stretch>
            </p:blipFill>
            <p:spPr>
              <a:xfrm>
                <a:off x="6565519" y="794766"/>
                <a:ext cx="197992" cy="176403"/>
              </a:xfrm>
              <a:prstGeom prst="rect">
                <a:avLst/>
              </a:prstGeom>
            </p:spPr>
          </p:pic>
        </p:grpSp>
        <p:sp>
          <p:nvSpPr>
            <p:cNvPr id="21" name="object 21"/>
            <p:cNvSpPr/>
            <p:nvPr/>
          </p:nvSpPr>
          <p:spPr>
            <a:xfrm>
              <a:off x="7024623" y="952055"/>
              <a:ext cx="154940" cy="17145"/>
            </a:xfrm>
            <a:custGeom>
              <a:avLst/>
              <a:gdLst/>
              <a:ahLst/>
              <a:cxnLst/>
              <a:rect l="l" t="t" r="r" b="b"/>
              <a:pathLst>
                <a:path w="154940"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grpSp>
          <p:nvGrpSpPr>
            <p:cNvPr id="22" name="object 22"/>
            <p:cNvGrpSpPr/>
            <p:nvPr/>
          </p:nvGrpSpPr>
          <p:grpSpPr>
            <a:xfrm>
              <a:off x="7311643" y="794767"/>
              <a:ext cx="588011" cy="295911"/>
              <a:chOff x="7311643" y="794766"/>
              <a:chExt cx="588010" cy="295910"/>
            </a:xfrm>
          </p:grpSpPr>
          <p:pic>
            <p:nvPicPr>
              <p:cNvPr id="23" name="object 23"/>
              <p:cNvPicPr/>
              <p:nvPr/>
            </p:nvPicPr>
            <p:blipFill>
              <a:blip r:embed="rId11" cstate="print"/>
              <a:stretch>
                <a:fillRect/>
              </a:stretch>
            </p:blipFill>
            <p:spPr>
              <a:xfrm>
                <a:off x="7311643" y="911860"/>
                <a:ext cx="139191" cy="176784"/>
              </a:xfrm>
              <a:prstGeom prst="rect">
                <a:avLst/>
              </a:prstGeom>
            </p:spPr>
          </p:pic>
          <p:pic>
            <p:nvPicPr>
              <p:cNvPr id="24" name="object 24"/>
              <p:cNvPicPr/>
              <p:nvPr/>
            </p:nvPicPr>
            <p:blipFill>
              <a:blip r:embed="rId10" cstate="print"/>
              <a:stretch>
                <a:fillRect/>
              </a:stretch>
            </p:blipFill>
            <p:spPr>
              <a:xfrm>
                <a:off x="7479918" y="794766"/>
                <a:ext cx="197992" cy="176403"/>
              </a:xfrm>
              <a:prstGeom prst="rect">
                <a:avLst/>
              </a:prstGeom>
            </p:spPr>
          </p:pic>
          <p:pic>
            <p:nvPicPr>
              <p:cNvPr id="25" name="object 25"/>
              <p:cNvPicPr/>
              <p:nvPr/>
            </p:nvPicPr>
            <p:blipFill>
              <a:blip r:embed="rId12" cstate="print"/>
              <a:stretch>
                <a:fillRect/>
              </a:stretch>
            </p:blipFill>
            <p:spPr>
              <a:xfrm>
                <a:off x="7706105" y="852424"/>
                <a:ext cx="79248" cy="238251"/>
              </a:xfrm>
              <a:prstGeom prst="rect">
                <a:avLst/>
              </a:prstGeom>
            </p:spPr>
          </p:pic>
          <p:pic>
            <p:nvPicPr>
              <p:cNvPr id="26" name="object 26"/>
              <p:cNvPicPr/>
              <p:nvPr/>
            </p:nvPicPr>
            <p:blipFill>
              <a:blip r:embed="rId13" cstate="print"/>
              <a:stretch>
                <a:fillRect/>
              </a:stretch>
            </p:blipFill>
            <p:spPr>
              <a:xfrm>
                <a:off x="7818754" y="818261"/>
                <a:ext cx="80518" cy="120396"/>
              </a:xfrm>
              <a:prstGeom prst="rect">
                <a:avLst/>
              </a:prstGeom>
            </p:spPr>
          </p:pic>
        </p:grpSp>
      </p:grpSp>
      <p:sp>
        <p:nvSpPr>
          <p:cNvPr id="75" name="object 75"/>
          <p:cNvSpPr txBox="1">
            <a:spLocks noGrp="1"/>
          </p:cNvSpPr>
          <p:nvPr>
            <p:ph type="title"/>
          </p:nvPr>
        </p:nvSpPr>
        <p:spPr>
          <a:xfrm>
            <a:off x="5213155" y="111145"/>
            <a:ext cx="2038351" cy="382797"/>
          </a:xfrm>
          <a:prstGeom prst="rect">
            <a:avLst/>
          </a:prstGeom>
        </p:spPr>
        <p:txBody>
          <a:bodyPr vert="horz" wrap="square" lIns="0" tIns="13335" rIns="0" bIns="0" rtlCol="0">
            <a:spAutoFit/>
          </a:bodyPr>
          <a:lstStyle/>
          <a:p>
            <a:pPr marL="12700">
              <a:spcBef>
                <a:spcPts val="105"/>
              </a:spcBef>
            </a:pPr>
            <a:r>
              <a:rPr sz="2400" spc="-11" dirty="0"/>
              <a:t>Cost</a:t>
            </a:r>
            <a:r>
              <a:rPr sz="2400" spc="-80" dirty="0"/>
              <a:t> </a:t>
            </a:r>
            <a:r>
              <a:rPr sz="2400" spc="-5" dirty="0"/>
              <a:t>function</a:t>
            </a:r>
            <a:endParaRPr sz="2400" dirty="0"/>
          </a:p>
        </p:txBody>
      </p:sp>
      <p:sp>
        <p:nvSpPr>
          <p:cNvPr id="82" name="Slide Number Placeholder 81">
            <a:extLst>
              <a:ext uri="{FF2B5EF4-FFF2-40B4-BE49-F238E27FC236}">
                <a16:creationId xmlns:a16="http://schemas.microsoft.com/office/drawing/2014/main" id="{86880802-4F21-36A8-8441-CD0A7514AEA2}"/>
              </a:ext>
            </a:extLst>
          </p:cNvPr>
          <p:cNvSpPr>
            <a:spLocks noGrp="1"/>
          </p:cNvSpPr>
          <p:nvPr>
            <p:ph type="sldNum" sz="quarter" idx="12"/>
          </p:nvPr>
        </p:nvSpPr>
        <p:spPr/>
        <p:txBody>
          <a:bodyPr/>
          <a:lstStyle/>
          <a:p>
            <a:fld id="{B6F15528-21DE-4FAA-801E-634DDDAF4B2B}" type="slidenum">
              <a:rPr lang="en-PS" smtClean="0"/>
              <a:t>28</a:t>
            </a:fld>
            <a:endParaRPr lang="en-PS"/>
          </a:p>
        </p:txBody>
      </p:sp>
      <p:grpSp>
        <p:nvGrpSpPr>
          <p:cNvPr id="85" name="Group 84">
            <a:extLst>
              <a:ext uri="{FF2B5EF4-FFF2-40B4-BE49-F238E27FC236}">
                <a16:creationId xmlns:a16="http://schemas.microsoft.com/office/drawing/2014/main" id="{38A6A7A1-2855-D5C8-45EE-32570F710B34}"/>
              </a:ext>
            </a:extLst>
          </p:cNvPr>
          <p:cNvGrpSpPr/>
          <p:nvPr/>
        </p:nvGrpSpPr>
        <p:grpSpPr>
          <a:xfrm>
            <a:off x="363346" y="2265146"/>
            <a:ext cx="6873429" cy="2132572"/>
            <a:chOff x="746571" y="2512673"/>
            <a:chExt cx="6873429" cy="2132572"/>
          </a:xfrm>
        </p:grpSpPr>
        <p:grpSp>
          <p:nvGrpSpPr>
            <p:cNvPr id="81" name="Group 80">
              <a:extLst>
                <a:ext uri="{FF2B5EF4-FFF2-40B4-BE49-F238E27FC236}">
                  <a16:creationId xmlns:a16="http://schemas.microsoft.com/office/drawing/2014/main" id="{B754429E-BF7E-719E-FC03-B2323E3D833C}"/>
                </a:ext>
              </a:extLst>
            </p:cNvPr>
            <p:cNvGrpSpPr/>
            <p:nvPr/>
          </p:nvGrpSpPr>
          <p:grpSpPr>
            <a:xfrm>
              <a:off x="746571" y="2571614"/>
              <a:ext cx="6873429" cy="2073631"/>
              <a:chOff x="867729" y="2064239"/>
              <a:chExt cx="6873429" cy="2073631"/>
            </a:xfrm>
          </p:grpSpPr>
          <p:pic>
            <p:nvPicPr>
              <p:cNvPr id="27" name="object 27"/>
              <p:cNvPicPr/>
              <p:nvPr/>
            </p:nvPicPr>
            <p:blipFill>
              <a:blip r:embed="rId14" cstate="print"/>
              <a:stretch>
                <a:fillRect/>
              </a:stretch>
            </p:blipFill>
            <p:spPr>
              <a:xfrm>
                <a:off x="1344803" y="2723134"/>
                <a:ext cx="212597" cy="144653"/>
              </a:xfrm>
              <a:prstGeom prst="rect">
                <a:avLst/>
              </a:prstGeom>
            </p:spPr>
          </p:pic>
          <p:sp>
            <p:nvSpPr>
              <p:cNvPr id="28" name="object 28"/>
              <p:cNvSpPr/>
              <p:nvPr/>
            </p:nvSpPr>
            <p:spPr>
              <a:xfrm>
                <a:off x="1673099" y="2737611"/>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a:p>
            </p:txBody>
          </p:sp>
          <p:pic>
            <p:nvPicPr>
              <p:cNvPr id="29" name="object 29"/>
              <p:cNvPicPr/>
              <p:nvPr/>
            </p:nvPicPr>
            <p:blipFill>
              <a:blip r:embed="rId14" cstate="print"/>
              <a:stretch>
                <a:fillRect/>
              </a:stretch>
            </p:blipFill>
            <p:spPr>
              <a:xfrm>
                <a:off x="1973453" y="2723134"/>
                <a:ext cx="212599" cy="144653"/>
              </a:xfrm>
              <a:prstGeom prst="rect">
                <a:avLst/>
              </a:prstGeom>
            </p:spPr>
          </p:pic>
          <p:pic>
            <p:nvPicPr>
              <p:cNvPr id="30" name="object 30"/>
              <p:cNvPicPr/>
              <p:nvPr/>
            </p:nvPicPr>
            <p:blipFill>
              <a:blip r:embed="rId15" cstate="print"/>
              <a:stretch>
                <a:fillRect/>
              </a:stretch>
            </p:blipFill>
            <p:spPr>
              <a:xfrm>
                <a:off x="1350265" y="3347975"/>
                <a:ext cx="135001" cy="215137"/>
              </a:xfrm>
              <a:prstGeom prst="rect">
                <a:avLst/>
              </a:prstGeom>
            </p:spPr>
          </p:pic>
          <p:sp>
            <p:nvSpPr>
              <p:cNvPr id="31" name="object 31"/>
              <p:cNvSpPr/>
              <p:nvPr/>
            </p:nvSpPr>
            <p:spPr>
              <a:xfrm>
                <a:off x="1615949" y="3432937"/>
                <a:ext cx="183515" cy="81915"/>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a:p>
            </p:txBody>
          </p:sp>
          <p:pic>
            <p:nvPicPr>
              <p:cNvPr id="32" name="object 32"/>
              <p:cNvPicPr/>
              <p:nvPr/>
            </p:nvPicPr>
            <p:blipFill>
              <a:blip r:embed="rId15" cstate="print"/>
              <a:stretch>
                <a:fillRect/>
              </a:stretch>
            </p:blipFill>
            <p:spPr>
              <a:xfrm>
                <a:off x="1921764" y="3347975"/>
                <a:ext cx="135000" cy="215137"/>
              </a:xfrm>
              <a:prstGeom prst="rect">
                <a:avLst/>
              </a:prstGeom>
            </p:spPr>
          </p:pic>
          <p:sp>
            <p:nvSpPr>
              <p:cNvPr id="33" name="object 33"/>
              <p:cNvSpPr/>
              <p:nvPr/>
            </p:nvSpPr>
            <p:spPr>
              <a:xfrm>
                <a:off x="2168399" y="3463689"/>
                <a:ext cx="183515" cy="20320"/>
              </a:xfrm>
              <a:custGeom>
                <a:avLst/>
                <a:gdLst/>
                <a:ahLst/>
                <a:cxnLst/>
                <a:rect l="l" t="t" r="r" b="b"/>
                <a:pathLst>
                  <a:path w="183514" h="20320">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a:p>
            </p:txBody>
          </p:sp>
          <p:sp>
            <p:nvSpPr>
              <p:cNvPr id="34" name="object 34"/>
              <p:cNvSpPr txBox="1"/>
              <p:nvPr/>
            </p:nvSpPr>
            <p:spPr>
              <a:xfrm>
                <a:off x="867729" y="3755073"/>
                <a:ext cx="144145" cy="382797"/>
              </a:xfrm>
              <a:prstGeom prst="rect">
                <a:avLst/>
              </a:prstGeom>
            </p:spPr>
            <p:txBody>
              <a:bodyPr vert="horz" wrap="square" lIns="0" tIns="13335" rIns="0" bIns="0" rtlCol="0">
                <a:spAutoFit/>
              </a:bodyPr>
              <a:lstStyle/>
              <a:p>
                <a:pPr marL="12700">
                  <a:spcBef>
                    <a:spcPts val="105"/>
                  </a:spcBef>
                </a:pPr>
                <a:r>
                  <a:rPr sz="2400" dirty="0">
                    <a:latin typeface="Cambria Math"/>
                    <a:cs typeface="Cambria Math"/>
                  </a:rPr>
                  <a:t>}</a:t>
                </a:r>
                <a:endParaRPr sz="2400">
                  <a:latin typeface="Cambria Math"/>
                  <a:cs typeface="Cambria Math"/>
                </a:endParaRPr>
              </a:p>
            </p:txBody>
          </p:sp>
          <p:pic>
            <p:nvPicPr>
              <p:cNvPr id="35" name="object 35"/>
              <p:cNvPicPr/>
              <p:nvPr/>
            </p:nvPicPr>
            <p:blipFill>
              <a:blip r:embed="rId16" cstate="print"/>
              <a:stretch>
                <a:fillRect/>
              </a:stretch>
            </p:blipFill>
            <p:spPr>
              <a:xfrm>
                <a:off x="5177410" y="2388997"/>
                <a:ext cx="170941" cy="96647"/>
              </a:xfrm>
              <a:prstGeom prst="rect">
                <a:avLst/>
              </a:prstGeom>
            </p:spPr>
          </p:pic>
          <p:sp>
            <p:nvSpPr>
              <p:cNvPr id="37" name="object 37"/>
              <p:cNvSpPr/>
              <p:nvPr/>
            </p:nvSpPr>
            <p:spPr>
              <a:xfrm>
                <a:off x="2292225" y="2555620"/>
                <a:ext cx="3123565" cy="644525"/>
              </a:xfrm>
              <a:custGeom>
                <a:avLst/>
                <a:gdLst/>
                <a:ahLst/>
                <a:cxnLst/>
                <a:rect l="l" t="t" r="r" b="b"/>
                <a:pathLst>
                  <a:path w="3123565" h="644525">
                    <a:moveTo>
                      <a:pt x="183349" y="212750"/>
                    </a:moveTo>
                    <a:lnTo>
                      <a:pt x="0" y="212750"/>
                    </a:lnTo>
                    <a:lnTo>
                      <a:pt x="0" y="232537"/>
                    </a:lnTo>
                    <a:lnTo>
                      <a:pt x="183349" y="232537"/>
                    </a:lnTo>
                    <a:lnTo>
                      <a:pt x="183349" y="212750"/>
                    </a:lnTo>
                    <a:close/>
                  </a:path>
                  <a:path w="3123565" h="644525">
                    <a:moveTo>
                      <a:pt x="2767076" y="233172"/>
                    </a:moveTo>
                    <a:lnTo>
                      <a:pt x="2548001" y="233172"/>
                    </a:lnTo>
                    <a:lnTo>
                      <a:pt x="2548001" y="252222"/>
                    </a:lnTo>
                    <a:lnTo>
                      <a:pt x="2767076" y="252222"/>
                    </a:lnTo>
                    <a:lnTo>
                      <a:pt x="2767076" y="233172"/>
                    </a:lnTo>
                    <a:close/>
                  </a:path>
                  <a:path w="3123565" h="644525">
                    <a:moveTo>
                      <a:pt x="2872613" y="511175"/>
                    </a:moveTo>
                    <a:lnTo>
                      <a:pt x="2853944" y="511175"/>
                    </a:lnTo>
                    <a:lnTo>
                      <a:pt x="2849626" y="531241"/>
                    </a:lnTo>
                    <a:lnTo>
                      <a:pt x="2868041" y="531241"/>
                    </a:lnTo>
                    <a:lnTo>
                      <a:pt x="2872613" y="511175"/>
                    </a:lnTo>
                    <a:close/>
                  </a:path>
                  <a:path w="3123565" h="644525">
                    <a:moveTo>
                      <a:pt x="2876042" y="626618"/>
                    </a:moveTo>
                    <a:lnTo>
                      <a:pt x="2869819" y="620395"/>
                    </a:lnTo>
                    <a:lnTo>
                      <a:pt x="2866263" y="624205"/>
                    </a:lnTo>
                    <a:lnTo>
                      <a:pt x="2864739" y="625729"/>
                    </a:lnTo>
                    <a:lnTo>
                      <a:pt x="2854706" y="631952"/>
                    </a:lnTo>
                    <a:lnTo>
                      <a:pt x="2851658" y="631952"/>
                    </a:lnTo>
                    <a:lnTo>
                      <a:pt x="2850261" y="631444"/>
                    </a:lnTo>
                    <a:lnTo>
                      <a:pt x="2849245" y="630428"/>
                    </a:lnTo>
                    <a:lnTo>
                      <a:pt x="2848229" y="629285"/>
                    </a:lnTo>
                    <a:lnTo>
                      <a:pt x="2847848" y="627634"/>
                    </a:lnTo>
                    <a:lnTo>
                      <a:pt x="2847975" y="621538"/>
                    </a:lnTo>
                    <a:lnTo>
                      <a:pt x="2848356" y="619379"/>
                    </a:lnTo>
                    <a:lnTo>
                      <a:pt x="2848610" y="617220"/>
                    </a:lnTo>
                    <a:lnTo>
                      <a:pt x="2849245" y="614299"/>
                    </a:lnTo>
                    <a:lnTo>
                      <a:pt x="2850134" y="610616"/>
                    </a:lnTo>
                    <a:lnTo>
                      <a:pt x="2863850" y="548767"/>
                    </a:lnTo>
                    <a:lnTo>
                      <a:pt x="2859405" y="548767"/>
                    </a:lnTo>
                    <a:lnTo>
                      <a:pt x="2832354" y="549783"/>
                    </a:lnTo>
                    <a:lnTo>
                      <a:pt x="2831211" y="556006"/>
                    </a:lnTo>
                    <a:lnTo>
                      <a:pt x="2835275" y="556133"/>
                    </a:lnTo>
                    <a:lnTo>
                      <a:pt x="2838069" y="556768"/>
                    </a:lnTo>
                    <a:lnTo>
                      <a:pt x="2839720" y="557911"/>
                    </a:lnTo>
                    <a:lnTo>
                      <a:pt x="2841244" y="559054"/>
                    </a:lnTo>
                    <a:lnTo>
                      <a:pt x="2842133" y="560832"/>
                    </a:lnTo>
                    <a:lnTo>
                      <a:pt x="2842260" y="563245"/>
                    </a:lnTo>
                    <a:lnTo>
                      <a:pt x="2842260" y="564896"/>
                    </a:lnTo>
                    <a:lnTo>
                      <a:pt x="2842006" y="565912"/>
                    </a:lnTo>
                    <a:lnTo>
                      <a:pt x="2841752" y="568833"/>
                    </a:lnTo>
                    <a:lnTo>
                      <a:pt x="2841244" y="572008"/>
                    </a:lnTo>
                    <a:lnTo>
                      <a:pt x="2840482" y="575691"/>
                    </a:lnTo>
                    <a:lnTo>
                      <a:pt x="2839847" y="579247"/>
                    </a:lnTo>
                    <a:lnTo>
                      <a:pt x="2838958" y="582930"/>
                    </a:lnTo>
                    <a:lnTo>
                      <a:pt x="2837180" y="590550"/>
                    </a:lnTo>
                    <a:lnTo>
                      <a:pt x="2835402" y="598424"/>
                    </a:lnTo>
                    <a:lnTo>
                      <a:pt x="2834386" y="602234"/>
                    </a:lnTo>
                    <a:lnTo>
                      <a:pt x="2833624" y="606044"/>
                    </a:lnTo>
                    <a:lnTo>
                      <a:pt x="2832735" y="609600"/>
                    </a:lnTo>
                    <a:lnTo>
                      <a:pt x="2831973" y="613156"/>
                    </a:lnTo>
                    <a:lnTo>
                      <a:pt x="2831338" y="616458"/>
                    </a:lnTo>
                    <a:lnTo>
                      <a:pt x="2830322" y="622554"/>
                    </a:lnTo>
                    <a:lnTo>
                      <a:pt x="2830207" y="629793"/>
                    </a:lnTo>
                    <a:lnTo>
                      <a:pt x="2830449" y="631952"/>
                    </a:lnTo>
                    <a:lnTo>
                      <a:pt x="2843276" y="644398"/>
                    </a:lnTo>
                    <a:lnTo>
                      <a:pt x="2848229" y="644398"/>
                    </a:lnTo>
                    <a:lnTo>
                      <a:pt x="2870606" y="631952"/>
                    </a:lnTo>
                    <a:lnTo>
                      <a:pt x="2872994" y="629666"/>
                    </a:lnTo>
                    <a:lnTo>
                      <a:pt x="2876042" y="626618"/>
                    </a:lnTo>
                    <a:close/>
                  </a:path>
                  <a:path w="3123565" h="644525">
                    <a:moveTo>
                      <a:pt x="3013710" y="601472"/>
                    </a:moveTo>
                    <a:lnTo>
                      <a:pt x="2906649" y="601472"/>
                    </a:lnTo>
                    <a:lnTo>
                      <a:pt x="2906649" y="615696"/>
                    </a:lnTo>
                    <a:lnTo>
                      <a:pt x="3013710" y="615696"/>
                    </a:lnTo>
                    <a:lnTo>
                      <a:pt x="3013710" y="601472"/>
                    </a:lnTo>
                    <a:close/>
                  </a:path>
                  <a:path w="3123565" h="644525">
                    <a:moveTo>
                      <a:pt x="3013710" y="560959"/>
                    </a:moveTo>
                    <a:lnTo>
                      <a:pt x="2906649" y="560959"/>
                    </a:lnTo>
                    <a:lnTo>
                      <a:pt x="2906649" y="575183"/>
                    </a:lnTo>
                    <a:lnTo>
                      <a:pt x="3013710" y="575183"/>
                    </a:lnTo>
                    <a:lnTo>
                      <a:pt x="3013710" y="560959"/>
                    </a:lnTo>
                    <a:close/>
                  </a:path>
                  <a:path w="3123565" h="644525">
                    <a:moveTo>
                      <a:pt x="3123565" y="398907"/>
                    </a:moveTo>
                    <a:lnTo>
                      <a:pt x="3105023" y="398907"/>
                    </a:lnTo>
                    <a:lnTo>
                      <a:pt x="3102127" y="414959"/>
                    </a:lnTo>
                    <a:lnTo>
                      <a:pt x="3098990" y="427888"/>
                    </a:lnTo>
                    <a:lnTo>
                      <a:pt x="3095548" y="437680"/>
                    </a:lnTo>
                    <a:lnTo>
                      <a:pt x="3091815" y="444373"/>
                    </a:lnTo>
                    <a:lnTo>
                      <a:pt x="3086735" y="451104"/>
                    </a:lnTo>
                    <a:lnTo>
                      <a:pt x="3079369" y="454533"/>
                    </a:lnTo>
                    <a:lnTo>
                      <a:pt x="2851912" y="454533"/>
                    </a:lnTo>
                    <a:lnTo>
                      <a:pt x="3013583" y="234950"/>
                    </a:lnTo>
                    <a:lnTo>
                      <a:pt x="3013583" y="219837"/>
                    </a:lnTo>
                    <a:lnTo>
                      <a:pt x="2863850" y="16383"/>
                    </a:lnTo>
                    <a:lnTo>
                      <a:pt x="3061970" y="16383"/>
                    </a:lnTo>
                    <a:lnTo>
                      <a:pt x="3092640" y="40436"/>
                    </a:lnTo>
                    <a:lnTo>
                      <a:pt x="3100324" y="74295"/>
                    </a:lnTo>
                    <a:lnTo>
                      <a:pt x="3116834" y="74295"/>
                    </a:lnTo>
                    <a:lnTo>
                      <a:pt x="3116834" y="0"/>
                    </a:lnTo>
                    <a:lnTo>
                      <a:pt x="2813558" y="0"/>
                    </a:lnTo>
                    <a:lnTo>
                      <a:pt x="2813558" y="11811"/>
                    </a:lnTo>
                    <a:lnTo>
                      <a:pt x="2984373" y="240030"/>
                    </a:lnTo>
                    <a:lnTo>
                      <a:pt x="2808478" y="478536"/>
                    </a:lnTo>
                    <a:lnTo>
                      <a:pt x="2808478" y="490982"/>
                    </a:lnTo>
                    <a:lnTo>
                      <a:pt x="3117215" y="490982"/>
                    </a:lnTo>
                    <a:lnTo>
                      <a:pt x="3123565" y="398907"/>
                    </a:lnTo>
                    <a:close/>
                  </a:path>
                </a:pathLst>
              </a:custGeom>
              <a:solidFill>
                <a:srgbClr val="000000"/>
              </a:solidFill>
            </p:spPr>
            <p:txBody>
              <a:bodyPr wrap="square" lIns="0" tIns="0" rIns="0" bIns="0" rtlCol="0"/>
              <a:lstStyle/>
              <a:p>
                <a:endParaRPr/>
              </a:p>
            </p:txBody>
          </p:sp>
          <p:pic>
            <p:nvPicPr>
              <p:cNvPr id="38" name="object 38"/>
              <p:cNvPicPr/>
              <p:nvPr/>
            </p:nvPicPr>
            <p:blipFill>
              <a:blip r:embed="rId17" cstate="print"/>
              <a:stretch>
                <a:fillRect/>
              </a:stretch>
            </p:blipFill>
            <p:spPr>
              <a:xfrm>
                <a:off x="5343019" y="3078607"/>
                <a:ext cx="78867" cy="119761"/>
              </a:xfrm>
              <a:prstGeom prst="rect">
                <a:avLst/>
              </a:prstGeom>
            </p:spPr>
          </p:pic>
          <p:pic>
            <p:nvPicPr>
              <p:cNvPr id="39" name="object 39"/>
              <p:cNvPicPr/>
              <p:nvPr/>
            </p:nvPicPr>
            <p:blipFill>
              <a:blip r:embed="rId18" cstate="print"/>
              <a:stretch>
                <a:fillRect/>
              </a:stretch>
            </p:blipFill>
            <p:spPr>
              <a:xfrm>
                <a:off x="4900678" y="2510536"/>
                <a:ext cx="99949" cy="173481"/>
              </a:xfrm>
              <a:prstGeom prst="rect">
                <a:avLst/>
              </a:prstGeom>
            </p:spPr>
          </p:pic>
          <p:pic>
            <p:nvPicPr>
              <p:cNvPr id="41" name="object 41"/>
              <p:cNvPicPr/>
              <p:nvPr/>
            </p:nvPicPr>
            <p:blipFill>
              <a:blip r:embed="rId19" cstate="print"/>
              <a:stretch>
                <a:fillRect/>
              </a:stretch>
            </p:blipFill>
            <p:spPr>
              <a:xfrm>
                <a:off x="2433892" y="2064239"/>
                <a:ext cx="2594864" cy="1929091"/>
              </a:xfrm>
              <a:prstGeom prst="rect">
                <a:avLst/>
              </a:prstGeom>
            </p:spPr>
          </p:pic>
          <p:pic>
            <p:nvPicPr>
              <p:cNvPr id="40" name="object 40"/>
              <p:cNvPicPr/>
              <p:nvPr/>
            </p:nvPicPr>
            <p:blipFill>
              <a:blip r:embed="rId20" cstate="print"/>
              <a:stretch>
                <a:fillRect/>
              </a:stretch>
            </p:blipFill>
            <p:spPr>
              <a:xfrm>
                <a:off x="4843274" y="2923794"/>
                <a:ext cx="209550" cy="124206"/>
              </a:xfrm>
              <a:prstGeom prst="rect">
                <a:avLst/>
              </a:prstGeom>
            </p:spPr>
          </p:pic>
          <p:pic>
            <p:nvPicPr>
              <p:cNvPr id="42" name="object 42"/>
              <p:cNvPicPr/>
              <p:nvPr/>
            </p:nvPicPr>
            <p:blipFill>
              <a:blip r:embed="rId21" cstate="print"/>
              <a:stretch>
                <a:fillRect/>
              </a:stretch>
            </p:blipFill>
            <p:spPr>
              <a:xfrm>
                <a:off x="5462907" y="2693034"/>
                <a:ext cx="479552" cy="264287"/>
              </a:xfrm>
              <a:prstGeom prst="rect">
                <a:avLst/>
              </a:prstGeom>
            </p:spPr>
          </p:pic>
          <p:pic>
            <p:nvPicPr>
              <p:cNvPr id="43" name="object 43"/>
              <p:cNvPicPr/>
              <p:nvPr/>
            </p:nvPicPr>
            <p:blipFill>
              <a:blip r:embed="rId22" cstate="print"/>
              <a:stretch>
                <a:fillRect/>
              </a:stretch>
            </p:blipFill>
            <p:spPr>
              <a:xfrm>
                <a:off x="4342259" y="2636266"/>
                <a:ext cx="420496" cy="266700"/>
              </a:xfrm>
              <a:prstGeom prst="rect">
                <a:avLst/>
              </a:prstGeom>
            </p:spPr>
          </p:pic>
          <p:pic>
            <p:nvPicPr>
              <p:cNvPr id="44" name="object 44"/>
              <p:cNvPicPr/>
              <p:nvPr/>
            </p:nvPicPr>
            <p:blipFill>
              <a:blip r:embed="rId23" cstate="print"/>
              <a:stretch>
                <a:fillRect/>
              </a:stretch>
            </p:blipFill>
            <p:spPr>
              <a:xfrm>
                <a:off x="4835781" y="3777107"/>
                <a:ext cx="209550" cy="124218"/>
              </a:xfrm>
              <a:prstGeom prst="rect">
                <a:avLst/>
              </a:prstGeom>
            </p:spPr>
          </p:pic>
          <p:pic>
            <p:nvPicPr>
              <p:cNvPr id="45" name="object 45"/>
              <p:cNvPicPr/>
              <p:nvPr/>
            </p:nvPicPr>
            <p:blipFill>
              <a:blip r:embed="rId24" cstate="print"/>
              <a:stretch>
                <a:fillRect/>
              </a:stretch>
            </p:blipFill>
            <p:spPr>
              <a:xfrm>
                <a:off x="4893312" y="3363975"/>
                <a:ext cx="99949" cy="173355"/>
              </a:xfrm>
              <a:prstGeom prst="rect">
                <a:avLst/>
              </a:prstGeom>
            </p:spPr>
          </p:pic>
          <p:sp>
            <p:nvSpPr>
              <p:cNvPr id="46" name="object 46"/>
              <p:cNvSpPr/>
              <p:nvPr/>
            </p:nvSpPr>
            <p:spPr>
              <a:xfrm>
                <a:off x="5093210" y="3408933"/>
                <a:ext cx="315595" cy="644525"/>
              </a:xfrm>
              <a:custGeom>
                <a:avLst/>
                <a:gdLst/>
                <a:ahLst/>
                <a:cxnLst/>
                <a:rect l="l" t="t" r="r" b="b"/>
                <a:pathLst>
                  <a:path w="315595" h="644525">
                    <a:moveTo>
                      <a:pt x="64135" y="511251"/>
                    </a:moveTo>
                    <a:lnTo>
                      <a:pt x="45593" y="511251"/>
                    </a:lnTo>
                    <a:lnTo>
                      <a:pt x="41148" y="531253"/>
                    </a:lnTo>
                    <a:lnTo>
                      <a:pt x="59563" y="531253"/>
                    </a:lnTo>
                    <a:lnTo>
                      <a:pt x="64135" y="511251"/>
                    </a:lnTo>
                    <a:close/>
                  </a:path>
                  <a:path w="315595" h="644525">
                    <a:moveTo>
                      <a:pt x="67691" y="626592"/>
                    </a:moveTo>
                    <a:lnTo>
                      <a:pt x="61341" y="620458"/>
                    </a:lnTo>
                    <a:lnTo>
                      <a:pt x="57785" y="624255"/>
                    </a:lnTo>
                    <a:lnTo>
                      <a:pt x="54737" y="627164"/>
                    </a:lnTo>
                    <a:lnTo>
                      <a:pt x="46228" y="631990"/>
                    </a:lnTo>
                    <a:lnTo>
                      <a:pt x="43307" y="631990"/>
                    </a:lnTo>
                    <a:lnTo>
                      <a:pt x="41783" y="631456"/>
                    </a:lnTo>
                    <a:lnTo>
                      <a:pt x="40894" y="630402"/>
                    </a:lnTo>
                    <a:lnTo>
                      <a:pt x="39878" y="629348"/>
                    </a:lnTo>
                    <a:lnTo>
                      <a:pt x="39370" y="627646"/>
                    </a:lnTo>
                    <a:lnTo>
                      <a:pt x="39370" y="623557"/>
                    </a:lnTo>
                    <a:lnTo>
                      <a:pt x="39878" y="619429"/>
                    </a:lnTo>
                    <a:lnTo>
                      <a:pt x="40259" y="617258"/>
                    </a:lnTo>
                    <a:lnTo>
                      <a:pt x="40894" y="614349"/>
                    </a:lnTo>
                    <a:lnTo>
                      <a:pt x="41783" y="610692"/>
                    </a:lnTo>
                    <a:lnTo>
                      <a:pt x="55499" y="548741"/>
                    </a:lnTo>
                    <a:lnTo>
                      <a:pt x="50927" y="548741"/>
                    </a:lnTo>
                    <a:lnTo>
                      <a:pt x="24003" y="549757"/>
                    </a:lnTo>
                    <a:lnTo>
                      <a:pt x="22860" y="556082"/>
                    </a:lnTo>
                    <a:lnTo>
                      <a:pt x="26924" y="556209"/>
                    </a:lnTo>
                    <a:lnTo>
                      <a:pt x="29718" y="556831"/>
                    </a:lnTo>
                    <a:lnTo>
                      <a:pt x="31242" y="557949"/>
                    </a:lnTo>
                    <a:lnTo>
                      <a:pt x="32893" y="559066"/>
                    </a:lnTo>
                    <a:lnTo>
                      <a:pt x="33655" y="560832"/>
                    </a:lnTo>
                    <a:lnTo>
                      <a:pt x="33655" y="565950"/>
                    </a:lnTo>
                    <a:lnTo>
                      <a:pt x="33274" y="568858"/>
                    </a:lnTo>
                    <a:lnTo>
                      <a:pt x="32766" y="572096"/>
                    </a:lnTo>
                    <a:lnTo>
                      <a:pt x="32131" y="575665"/>
                    </a:lnTo>
                    <a:lnTo>
                      <a:pt x="31369" y="579234"/>
                    </a:lnTo>
                    <a:lnTo>
                      <a:pt x="30607" y="582942"/>
                    </a:lnTo>
                    <a:lnTo>
                      <a:pt x="28829" y="590626"/>
                    </a:lnTo>
                    <a:lnTo>
                      <a:pt x="27813" y="594499"/>
                    </a:lnTo>
                    <a:lnTo>
                      <a:pt x="26035" y="602310"/>
                    </a:lnTo>
                    <a:lnTo>
                      <a:pt x="21793" y="630224"/>
                    </a:lnTo>
                    <a:lnTo>
                      <a:pt x="22098" y="632015"/>
                    </a:lnTo>
                    <a:lnTo>
                      <a:pt x="34925" y="644448"/>
                    </a:lnTo>
                    <a:lnTo>
                      <a:pt x="39751" y="644448"/>
                    </a:lnTo>
                    <a:lnTo>
                      <a:pt x="64516" y="629881"/>
                    </a:lnTo>
                    <a:lnTo>
                      <a:pt x="67691" y="626592"/>
                    </a:lnTo>
                    <a:close/>
                  </a:path>
                  <a:path w="315595" h="644525">
                    <a:moveTo>
                      <a:pt x="205359" y="601484"/>
                    </a:moveTo>
                    <a:lnTo>
                      <a:pt x="98171" y="601484"/>
                    </a:lnTo>
                    <a:lnTo>
                      <a:pt x="98171" y="615708"/>
                    </a:lnTo>
                    <a:lnTo>
                      <a:pt x="205359" y="615708"/>
                    </a:lnTo>
                    <a:lnTo>
                      <a:pt x="205359" y="601484"/>
                    </a:lnTo>
                    <a:close/>
                  </a:path>
                  <a:path w="315595" h="644525">
                    <a:moveTo>
                      <a:pt x="205359" y="561022"/>
                    </a:moveTo>
                    <a:lnTo>
                      <a:pt x="98171" y="561022"/>
                    </a:lnTo>
                    <a:lnTo>
                      <a:pt x="98171" y="575246"/>
                    </a:lnTo>
                    <a:lnTo>
                      <a:pt x="205359" y="575246"/>
                    </a:lnTo>
                    <a:lnTo>
                      <a:pt x="205359" y="561022"/>
                    </a:lnTo>
                    <a:close/>
                  </a:path>
                  <a:path w="315595" h="644525">
                    <a:moveTo>
                      <a:pt x="315214" y="398907"/>
                    </a:moveTo>
                    <a:lnTo>
                      <a:pt x="296672" y="398907"/>
                    </a:lnTo>
                    <a:lnTo>
                      <a:pt x="293763" y="414985"/>
                    </a:lnTo>
                    <a:lnTo>
                      <a:pt x="290588" y="427926"/>
                    </a:lnTo>
                    <a:lnTo>
                      <a:pt x="287147" y="437743"/>
                    </a:lnTo>
                    <a:lnTo>
                      <a:pt x="283464" y="444373"/>
                    </a:lnTo>
                    <a:lnTo>
                      <a:pt x="278384" y="451104"/>
                    </a:lnTo>
                    <a:lnTo>
                      <a:pt x="271018" y="454533"/>
                    </a:lnTo>
                    <a:lnTo>
                      <a:pt x="43434" y="454533"/>
                    </a:lnTo>
                    <a:lnTo>
                      <a:pt x="205232" y="235077"/>
                    </a:lnTo>
                    <a:lnTo>
                      <a:pt x="205232" y="219837"/>
                    </a:lnTo>
                    <a:lnTo>
                      <a:pt x="55372" y="16383"/>
                    </a:lnTo>
                    <a:lnTo>
                      <a:pt x="253619" y="16383"/>
                    </a:lnTo>
                    <a:lnTo>
                      <a:pt x="284175" y="40513"/>
                    </a:lnTo>
                    <a:lnTo>
                      <a:pt x="291846" y="74307"/>
                    </a:lnTo>
                    <a:lnTo>
                      <a:pt x="308483" y="74307"/>
                    </a:lnTo>
                    <a:lnTo>
                      <a:pt x="308483" y="0"/>
                    </a:lnTo>
                    <a:lnTo>
                      <a:pt x="5207" y="0"/>
                    </a:lnTo>
                    <a:lnTo>
                      <a:pt x="5207" y="11938"/>
                    </a:lnTo>
                    <a:lnTo>
                      <a:pt x="175895" y="240030"/>
                    </a:lnTo>
                    <a:lnTo>
                      <a:pt x="0" y="478536"/>
                    </a:lnTo>
                    <a:lnTo>
                      <a:pt x="0" y="490969"/>
                    </a:lnTo>
                    <a:lnTo>
                      <a:pt x="308864" y="490969"/>
                    </a:lnTo>
                    <a:lnTo>
                      <a:pt x="315214" y="398907"/>
                    </a:lnTo>
                    <a:close/>
                  </a:path>
                </a:pathLst>
              </a:custGeom>
              <a:solidFill>
                <a:srgbClr val="000000"/>
              </a:solidFill>
            </p:spPr>
            <p:txBody>
              <a:bodyPr wrap="square" lIns="0" tIns="0" rIns="0" bIns="0" rtlCol="0"/>
              <a:lstStyle/>
              <a:p>
                <a:endParaRPr/>
              </a:p>
            </p:txBody>
          </p:sp>
          <p:pic>
            <p:nvPicPr>
              <p:cNvPr id="47" name="object 47"/>
              <p:cNvPicPr/>
              <p:nvPr/>
            </p:nvPicPr>
            <p:blipFill>
              <a:blip r:embed="rId25" cstate="print"/>
              <a:stretch>
                <a:fillRect/>
              </a:stretch>
            </p:blipFill>
            <p:spPr>
              <a:xfrm>
                <a:off x="5335653" y="3931907"/>
                <a:ext cx="78866" cy="119799"/>
              </a:xfrm>
              <a:prstGeom prst="rect">
                <a:avLst/>
              </a:prstGeom>
            </p:spPr>
          </p:pic>
          <p:pic>
            <p:nvPicPr>
              <p:cNvPr id="48" name="object 48"/>
              <p:cNvPicPr/>
              <p:nvPr/>
            </p:nvPicPr>
            <p:blipFill>
              <a:blip r:embed="rId26" cstate="print"/>
              <a:stretch>
                <a:fillRect/>
              </a:stretch>
            </p:blipFill>
            <p:spPr>
              <a:xfrm>
                <a:off x="5170045" y="3242310"/>
                <a:ext cx="170942" cy="96646"/>
              </a:xfrm>
              <a:prstGeom prst="rect">
                <a:avLst/>
              </a:prstGeom>
            </p:spPr>
          </p:pic>
          <p:pic>
            <p:nvPicPr>
              <p:cNvPr id="49" name="object 49"/>
              <p:cNvPicPr/>
              <p:nvPr/>
            </p:nvPicPr>
            <p:blipFill>
              <a:blip r:embed="rId27" cstate="print"/>
              <a:stretch>
                <a:fillRect/>
              </a:stretch>
            </p:blipFill>
            <p:spPr>
              <a:xfrm>
                <a:off x="5455414" y="3546347"/>
                <a:ext cx="479678" cy="264287"/>
              </a:xfrm>
              <a:prstGeom prst="rect">
                <a:avLst/>
              </a:prstGeom>
            </p:spPr>
          </p:pic>
          <p:grpSp>
            <p:nvGrpSpPr>
              <p:cNvPr id="50" name="object 50"/>
              <p:cNvGrpSpPr/>
              <p:nvPr/>
            </p:nvGrpSpPr>
            <p:grpSpPr>
              <a:xfrm>
                <a:off x="5996313" y="2635376"/>
                <a:ext cx="565785" cy="321311"/>
                <a:chOff x="5996311" y="2635376"/>
                <a:chExt cx="565785" cy="321310"/>
              </a:xfrm>
            </p:grpSpPr>
            <p:sp>
              <p:nvSpPr>
                <p:cNvPr id="51" name="object 51"/>
                <p:cNvSpPr/>
                <p:nvPr/>
              </p:nvSpPr>
              <p:spPr>
                <a:xfrm>
                  <a:off x="5996311" y="2645663"/>
                  <a:ext cx="565785" cy="311150"/>
                </a:xfrm>
                <a:custGeom>
                  <a:avLst/>
                  <a:gdLst/>
                  <a:ahLst/>
                  <a:cxnLst/>
                  <a:rect l="l" t="t" r="r" b="b"/>
                  <a:pathLst>
                    <a:path w="565784" h="311150">
                      <a:moveTo>
                        <a:pt x="483991" y="0"/>
                      </a:moveTo>
                      <a:lnTo>
                        <a:pt x="480816" y="10413"/>
                      </a:lnTo>
                      <a:lnTo>
                        <a:pt x="495127" y="17799"/>
                      </a:lnTo>
                      <a:lnTo>
                        <a:pt x="507581" y="28543"/>
                      </a:lnTo>
                      <a:lnTo>
                        <a:pt x="533751" y="80583"/>
                      </a:lnTo>
                      <a:lnTo>
                        <a:pt x="541561" y="128260"/>
                      </a:lnTo>
                      <a:lnTo>
                        <a:pt x="542538" y="155575"/>
                      </a:lnTo>
                      <a:lnTo>
                        <a:pt x="541561" y="182743"/>
                      </a:lnTo>
                      <a:lnTo>
                        <a:pt x="533751" y="230316"/>
                      </a:lnTo>
                      <a:lnTo>
                        <a:pt x="518177" y="268174"/>
                      </a:lnTo>
                      <a:lnTo>
                        <a:pt x="480816" y="300481"/>
                      </a:lnTo>
                      <a:lnTo>
                        <a:pt x="483991" y="310769"/>
                      </a:lnTo>
                      <a:lnTo>
                        <a:pt x="518693" y="292274"/>
                      </a:lnTo>
                      <a:lnTo>
                        <a:pt x="544443" y="257302"/>
                      </a:lnTo>
                      <a:lnTo>
                        <a:pt x="560333" y="210327"/>
                      </a:lnTo>
                      <a:lnTo>
                        <a:pt x="565652" y="155448"/>
                      </a:lnTo>
                      <a:lnTo>
                        <a:pt x="564320" y="126940"/>
                      </a:lnTo>
                      <a:lnTo>
                        <a:pt x="553704" y="75973"/>
                      </a:lnTo>
                      <a:lnTo>
                        <a:pt x="532675" y="33968"/>
                      </a:lnTo>
                      <a:lnTo>
                        <a:pt x="502473" y="7211"/>
                      </a:lnTo>
                      <a:lnTo>
                        <a:pt x="483991" y="0"/>
                      </a:lnTo>
                      <a:close/>
                    </a:path>
                    <a:path w="565784" h="311150">
                      <a:moveTo>
                        <a:pt x="81655" y="0"/>
                      </a:moveTo>
                      <a:lnTo>
                        <a:pt x="46904" y="18542"/>
                      </a:lnTo>
                      <a:lnTo>
                        <a:pt x="21203" y="53467"/>
                      </a:lnTo>
                      <a:lnTo>
                        <a:pt x="5312" y="100456"/>
                      </a:lnTo>
                      <a:lnTo>
                        <a:pt x="0" y="155575"/>
                      </a:lnTo>
                      <a:lnTo>
                        <a:pt x="1325" y="183882"/>
                      </a:lnTo>
                      <a:lnTo>
                        <a:pt x="11941" y="234797"/>
                      </a:lnTo>
                      <a:lnTo>
                        <a:pt x="32916" y="276854"/>
                      </a:lnTo>
                      <a:lnTo>
                        <a:pt x="63154" y="303575"/>
                      </a:lnTo>
                      <a:lnTo>
                        <a:pt x="81655" y="310769"/>
                      </a:lnTo>
                      <a:lnTo>
                        <a:pt x="84703" y="300481"/>
                      </a:lnTo>
                      <a:lnTo>
                        <a:pt x="70465" y="293078"/>
                      </a:lnTo>
                      <a:lnTo>
                        <a:pt x="58048" y="282305"/>
                      </a:lnTo>
                      <a:lnTo>
                        <a:pt x="31894" y="230316"/>
                      </a:lnTo>
                      <a:lnTo>
                        <a:pt x="24084" y="182743"/>
                      </a:lnTo>
                      <a:lnTo>
                        <a:pt x="23112" y="155448"/>
                      </a:lnTo>
                      <a:lnTo>
                        <a:pt x="24084" y="128260"/>
                      </a:lnTo>
                      <a:lnTo>
                        <a:pt x="31894" y="80583"/>
                      </a:lnTo>
                      <a:lnTo>
                        <a:pt x="47466" y="42668"/>
                      </a:lnTo>
                      <a:lnTo>
                        <a:pt x="84703" y="10413"/>
                      </a:lnTo>
                      <a:lnTo>
                        <a:pt x="81655" y="0"/>
                      </a:lnTo>
                      <a:close/>
                    </a:path>
                  </a:pathLst>
                </a:custGeom>
                <a:solidFill>
                  <a:srgbClr val="000000"/>
                </a:solidFill>
              </p:spPr>
              <p:txBody>
                <a:bodyPr wrap="square" lIns="0" tIns="0" rIns="0" bIns="0" rtlCol="0"/>
                <a:lstStyle/>
                <a:p>
                  <a:endParaRPr/>
                </a:p>
              </p:txBody>
            </p:sp>
            <p:pic>
              <p:nvPicPr>
                <p:cNvPr id="52" name="object 52"/>
                <p:cNvPicPr/>
                <p:nvPr/>
              </p:nvPicPr>
              <p:blipFill>
                <a:blip r:embed="rId28" cstate="print"/>
                <a:stretch>
                  <a:fillRect/>
                </a:stretch>
              </p:blipFill>
              <p:spPr>
                <a:xfrm>
                  <a:off x="6091809" y="2752343"/>
                  <a:ext cx="129286" cy="124206"/>
                </a:xfrm>
                <a:prstGeom prst="rect">
                  <a:avLst/>
                </a:prstGeom>
              </p:spPr>
            </p:pic>
            <p:pic>
              <p:nvPicPr>
                <p:cNvPr id="53" name="object 53"/>
                <p:cNvPicPr/>
                <p:nvPr/>
              </p:nvPicPr>
              <p:blipFill>
                <a:blip r:embed="rId29" cstate="print"/>
                <a:stretch>
                  <a:fillRect/>
                </a:stretch>
              </p:blipFill>
              <p:spPr>
                <a:xfrm>
                  <a:off x="6247638" y="2635376"/>
                  <a:ext cx="197992" cy="176403"/>
                </a:xfrm>
                <a:prstGeom prst="rect">
                  <a:avLst/>
                </a:prstGeom>
              </p:spPr>
            </p:pic>
          </p:grpSp>
          <p:sp>
            <p:nvSpPr>
              <p:cNvPr id="54" name="object 54"/>
              <p:cNvSpPr/>
              <p:nvPr/>
            </p:nvSpPr>
            <p:spPr>
              <a:xfrm>
                <a:off x="6649594" y="2792667"/>
                <a:ext cx="154940" cy="17145"/>
              </a:xfrm>
              <a:custGeom>
                <a:avLst/>
                <a:gdLst/>
                <a:ahLst/>
                <a:cxnLst/>
                <a:rect l="l" t="t" r="r" b="b"/>
                <a:pathLst>
                  <a:path w="154940"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grpSp>
            <p:nvGrpSpPr>
              <p:cNvPr id="55" name="object 55"/>
              <p:cNvGrpSpPr/>
              <p:nvPr/>
            </p:nvGrpSpPr>
            <p:grpSpPr>
              <a:xfrm>
                <a:off x="6879463" y="2635376"/>
                <a:ext cx="861695" cy="295911"/>
                <a:chOff x="6879463" y="2635376"/>
                <a:chExt cx="861694" cy="295910"/>
              </a:xfrm>
            </p:grpSpPr>
            <p:pic>
              <p:nvPicPr>
                <p:cNvPr id="56" name="object 56"/>
                <p:cNvPicPr/>
                <p:nvPr/>
              </p:nvPicPr>
              <p:blipFill>
                <a:blip r:embed="rId30" cstate="print"/>
                <a:stretch>
                  <a:fillRect/>
                </a:stretch>
              </p:blipFill>
              <p:spPr>
                <a:xfrm>
                  <a:off x="6879463" y="2752470"/>
                  <a:ext cx="139191" cy="176784"/>
                </a:xfrm>
                <a:prstGeom prst="rect">
                  <a:avLst/>
                </a:prstGeom>
              </p:spPr>
            </p:pic>
            <p:pic>
              <p:nvPicPr>
                <p:cNvPr id="57" name="object 57"/>
                <p:cNvPicPr/>
                <p:nvPr/>
              </p:nvPicPr>
              <p:blipFill>
                <a:blip r:embed="rId31" cstate="print"/>
                <a:stretch>
                  <a:fillRect/>
                </a:stretch>
              </p:blipFill>
              <p:spPr>
                <a:xfrm>
                  <a:off x="7047738" y="2635376"/>
                  <a:ext cx="197992" cy="176403"/>
                </a:xfrm>
                <a:prstGeom prst="rect">
                  <a:avLst/>
                </a:prstGeom>
              </p:spPr>
            </p:pic>
            <p:pic>
              <p:nvPicPr>
                <p:cNvPr id="58" name="object 58"/>
                <p:cNvPicPr/>
                <p:nvPr/>
              </p:nvPicPr>
              <p:blipFill>
                <a:blip r:embed="rId32" cstate="print"/>
                <a:stretch>
                  <a:fillRect/>
                </a:stretch>
              </p:blipFill>
              <p:spPr>
                <a:xfrm>
                  <a:off x="7273925" y="2693034"/>
                  <a:ext cx="79248" cy="238251"/>
                </a:xfrm>
                <a:prstGeom prst="rect">
                  <a:avLst/>
                </a:prstGeom>
              </p:spPr>
            </p:pic>
            <p:pic>
              <p:nvPicPr>
                <p:cNvPr id="59" name="object 59"/>
                <p:cNvPicPr/>
                <p:nvPr/>
              </p:nvPicPr>
              <p:blipFill>
                <a:blip r:embed="rId28" cstate="print"/>
                <a:stretch>
                  <a:fillRect/>
                </a:stretch>
              </p:blipFill>
              <p:spPr>
                <a:xfrm>
                  <a:off x="7377684" y="2752343"/>
                  <a:ext cx="129286" cy="124206"/>
                </a:xfrm>
                <a:prstGeom prst="rect">
                  <a:avLst/>
                </a:prstGeom>
              </p:spPr>
            </p:pic>
            <p:pic>
              <p:nvPicPr>
                <p:cNvPr id="60" name="object 60"/>
                <p:cNvPicPr/>
                <p:nvPr/>
              </p:nvPicPr>
              <p:blipFill>
                <a:blip r:embed="rId31" cstate="print"/>
                <a:stretch>
                  <a:fillRect/>
                </a:stretch>
              </p:blipFill>
              <p:spPr>
                <a:xfrm>
                  <a:off x="7543038" y="2635376"/>
                  <a:ext cx="197992" cy="176403"/>
                </a:xfrm>
                <a:prstGeom prst="rect">
                  <a:avLst/>
                </a:prstGeom>
              </p:spPr>
            </p:pic>
          </p:grpSp>
          <p:grpSp>
            <p:nvGrpSpPr>
              <p:cNvPr id="61" name="object 61"/>
              <p:cNvGrpSpPr/>
              <p:nvPr/>
            </p:nvGrpSpPr>
            <p:grpSpPr>
              <a:xfrm>
                <a:off x="5988818" y="3488691"/>
                <a:ext cx="565785" cy="321311"/>
                <a:chOff x="5988817" y="3488690"/>
                <a:chExt cx="565785" cy="321310"/>
              </a:xfrm>
            </p:grpSpPr>
            <p:sp>
              <p:nvSpPr>
                <p:cNvPr id="62" name="object 62"/>
                <p:cNvSpPr/>
                <p:nvPr/>
              </p:nvSpPr>
              <p:spPr>
                <a:xfrm>
                  <a:off x="5988817" y="3499104"/>
                  <a:ext cx="565785" cy="311150"/>
                </a:xfrm>
                <a:custGeom>
                  <a:avLst/>
                  <a:gdLst/>
                  <a:ahLst/>
                  <a:cxnLst/>
                  <a:rect l="l" t="t" r="r" b="b"/>
                  <a:pathLst>
                    <a:path w="565784" h="311150">
                      <a:moveTo>
                        <a:pt x="483991" y="0"/>
                      </a:moveTo>
                      <a:lnTo>
                        <a:pt x="480943" y="10287"/>
                      </a:lnTo>
                      <a:lnTo>
                        <a:pt x="495180" y="17690"/>
                      </a:lnTo>
                      <a:lnTo>
                        <a:pt x="507597" y="28463"/>
                      </a:lnTo>
                      <a:lnTo>
                        <a:pt x="533751" y="80456"/>
                      </a:lnTo>
                      <a:lnTo>
                        <a:pt x="541561" y="128133"/>
                      </a:lnTo>
                      <a:lnTo>
                        <a:pt x="542538" y="155448"/>
                      </a:lnTo>
                      <a:lnTo>
                        <a:pt x="541561" y="182669"/>
                      </a:lnTo>
                      <a:lnTo>
                        <a:pt x="533751" y="230207"/>
                      </a:lnTo>
                      <a:lnTo>
                        <a:pt x="518179" y="268047"/>
                      </a:lnTo>
                      <a:lnTo>
                        <a:pt x="480943" y="300355"/>
                      </a:lnTo>
                      <a:lnTo>
                        <a:pt x="483991" y="310642"/>
                      </a:lnTo>
                      <a:lnTo>
                        <a:pt x="518741" y="292163"/>
                      </a:lnTo>
                      <a:lnTo>
                        <a:pt x="544443" y="257302"/>
                      </a:lnTo>
                      <a:lnTo>
                        <a:pt x="560333" y="210264"/>
                      </a:lnTo>
                      <a:lnTo>
                        <a:pt x="565652" y="155321"/>
                      </a:lnTo>
                      <a:lnTo>
                        <a:pt x="564320" y="126867"/>
                      </a:lnTo>
                      <a:lnTo>
                        <a:pt x="553704" y="75864"/>
                      </a:lnTo>
                      <a:lnTo>
                        <a:pt x="532729" y="33861"/>
                      </a:lnTo>
                      <a:lnTo>
                        <a:pt x="502491" y="7191"/>
                      </a:lnTo>
                      <a:lnTo>
                        <a:pt x="483991" y="0"/>
                      </a:lnTo>
                      <a:close/>
                    </a:path>
                    <a:path w="565784" h="311150">
                      <a:moveTo>
                        <a:pt x="81655" y="0"/>
                      </a:moveTo>
                      <a:lnTo>
                        <a:pt x="47015" y="18478"/>
                      </a:lnTo>
                      <a:lnTo>
                        <a:pt x="21330" y="53340"/>
                      </a:lnTo>
                      <a:lnTo>
                        <a:pt x="5328" y="100377"/>
                      </a:lnTo>
                      <a:lnTo>
                        <a:pt x="0" y="155448"/>
                      </a:lnTo>
                      <a:lnTo>
                        <a:pt x="1327" y="183774"/>
                      </a:lnTo>
                      <a:lnTo>
                        <a:pt x="11995" y="234777"/>
                      </a:lnTo>
                      <a:lnTo>
                        <a:pt x="33041" y="276780"/>
                      </a:lnTo>
                      <a:lnTo>
                        <a:pt x="63228" y="303450"/>
                      </a:lnTo>
                      <a:lnTo>
                        <a:pt x="81655" y="310642"/>
                      </a:lnTo>
                      <a:lnTo>
                        <a:pt x="84830" y="300355"/>
                      </a:lnTo>
                      <a:lnTo>
                        <a:pt x="70538" y="292951"/>
                      </a:lnTo>
                      <a:lnTo>
                        <a:pt x="58128" y="282178"/>
                      </a:lnTo>
                      <a:lnTo>
                        <a:pt x="31948" y="230207"/>
                      </a:lnTo>
                      <a:lnTo>
                        <a:pt x="24086" y="182669"/>
                      </a:lnTo>
                      <a:lnTo>
                        <a:pt x="23112" y="155321"/>
                      </a:lnTo>
                      <a:lnTo>
                        <a:pt x="24086" y="128133"/>
                      </a:lnTo>
                      <a:lnTo>
                        <a:pt x="31948" y="80456"/>
                      </a:lnTo>
                      <a:lnTo>
                        <a:pt x="47575" y="42594"/>
                      </a:lnTo>
                      <a:lnTo>
                        <a:pt x="84830" y="10287"/>
                      </a:lnTo>
                      <a:lnTo>
                        <a:pt x="81655" y="0"/>
                      </a:lnTo>
                      <a:close/>
                    </a:path>
                  </a:pathLst>
                </a:custGeom>
                <a:solidFill>
                  <a:srgbClr val="000000"/>
                </a:solidFill>
              </p:spPr>
              <p:txBody>
                <a:bodyPr wrap="square" lIns="0" tIns="0" rIns="0" bIns="0" rtlCol="0"/>
                <a:lstStyle/>
                <a:p>
                  <a:endParaRPr/>
                </a:p>
              </p:txBody>
            </p:sp>
            <p:pic>
              <p:nvPicPr>
                <p:cNvPr id="63" name="object 63"/>
                <p:cNvPicPr/>
                <p:nvPr/>
              </p:nvPicPr>
              <p:blipFill>
                <a:blip r:embed="rId33" cstate="print"/>
                <a:stretch>
                  <a:fillRect/>
                </a:stretch>
              </p:blipFill>
              <p:spPr>
                <a:xfrm>
                  <a:off x="6084315" y="3605657"/>
                  <a:ext cx="129412" cy="124206"/>
                </a:xfrm>
                <a:prstGeom prst="rect">
                  <a:avLst/>
                </a:prstGeom>
              </p:spPr>
            </p:pic>
            <p:pic>
              <p:nvPicPr>
                <p:cNvPr id="64" name="object 64"/>
                <p:cNvPicPr/>
                <p:nvPr/>
              </p:nvPicPr>
              <p:blipFill>
                <a:blip r:embed="rId34" cstate="print"/>
                <a:stretch>
                  <a:fillRect/>
                </a:stretch>
              </p:blipFill>
              <p:spPr>
                <a:xfrm>
                  <a:off x="6240144" y="3488690"/>
                  <a:ext cx="197992" cy="176403"/>
                </a:xfrm>
                <a:prstGeom prst="rect">
                  <a:avLst/>
                </a:prstGeom>
              </p:spPr>
            </p:pic>
          </p:grpSp>
          <p:sp>
            <p:nvSpPr>
              <p:cNvPr id="65" name="object 65"/>
              <p:cNvSpPr/>
              <p:nvPr/>
            </p:nvSpPr>
            <p:spPr>
              <a:xfrm>
                <a:off x="6642227" y="3645979"/>
                <a:ext cx="154940" cy="17145"/>
              </a:xfrm>
              <a:custGeom>
                <a:avLst/>
                <a:gdLst/>
                <a:ahLst/>
                <a:cxnLst/>
                <a:rect l="l" t="t" r="r" b="b"/>
                <a:pathLst>
                  <a:path w="154940" h="17145">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grpSp>
            <p:nvGrpSpPr>
              <p:cNvPr id="66" name="object 66"/>
              <p:cNvGrpSpPr/>
              <p:nvPr/>
            </p:nvGrpSpPr>
            <p:grpSpPr>
              <a:xfrm>
                <a:off x="6871970" y="3488691"/>
                <a:ext cx="474345" cy="295911"/>
                <a:chOff x="6871969" y="3488690"/>
                <a:chExt cx="474345" cy="295910"/>
              </a:xfrm>
            </p:grpSpPr>
            <p:pic>
              <p:nvPicPr>
                <p:cNvPr id="67" name="object 67"/>
                <p:cNvPicPr/>
                <p:nvPr/>
              </p:nvPicPr>
              <p:blipFill>
                <a:blip r:embed="rId35" cstate="print"/>
                <a:stretch>
                  <a:fillRect/>
                </a:stretch>
              </p:blipFill>
              <p:spPr>
                <a:xfrm>
                  <a:off x="6871969" y="3605784"/>
                  <a:ext cx="139319" cy="176784"/>
                </a:xfrm>
                <a:prstGeom prst="rect">
                  <a:avLst/>
                </a:prstGeom>
              </p:spPr>
            </p:pic>
            <p:pic>
              <p:nvPicPr>
                <p:cNvPr id="68" name="object 68"/>
                <p:cNvPicPr/>
                <p:nvPr/>
              </p:nvPicPr>
              <p:blipFill>
                <a:blip r:embed="rId34" cstate="print"/>
                <a:stretch>
                  <a:fillRect/>
                </a:stretch>
              </p:blipFill>
              <p:spPr>
                <a:xfrm>
                  <a:off x="7040244" y="3488690"/>
                  <a:ext cx="197993" cy="176403"/>
                </a:xfrm>
                <a:prstGeom prst="rect">
                  <a:avLst/>
                </a:prstGeom>
              </p:spPr>
            </p:pic>
            <p:pic>
              <p:nvPicPr>
                <p:cNvPr id="69" name="object 69"/>
                <p:cNvPicPr/>
                <p:nvPr/>
              </p:nvPicPr>
              <p:blipFill>
                <a:blip r:embed="rId36" cstate="print"/>
                <a:stretch>
                  <a:fillRect/>
                </a:stretch>
              </p:blipFill>
              <p:spPr>
                <a:xfrm>
                  <a:off x="7266431" y="3546348"/>
                  <a:ext cx="79375" cy="238252"/>
                </a:xfrm>
                <a:prstGeom prst="rect">
                  <a:avLst/>
                </a:prstGeom>
              </p:spPr>
            </p:pic>
          </p:grpSp>
        </p:grpSp>
        <p:sp>
          <p:nvSpPr>
            <p:cNvPr id="84" name="TextBox 83">
              <a:extLst>
                <a:ext uri="{FF2B5EF4-FFF2-40B4-BE49-F238E27FC236}">
                  <a16:creationId xmlns:a16="http://schemas.microsoft.com/office/drawing/2014/main" id="{9B045FD3-53BF-8195-E000-053D70BDC076}"/>
                </a:ext>
              </a:extLst>
            </p:cNvPr>
            <p:cNvSpPr txBox="1"/>
            <p:nvPr/>
          </p:nvSpPr>
          <p:spPr>
            <a:xfrm>
              <a:off x="3200400" y="2512673"/>
              <a:ext cx="685800" cy="379478"/>
            </a:xfrm>
            <a:prstGeom prst="rect">
              <a:avLst/>
            </a:prstGeom>
            <a:solidFill>
              <a:schemeClr val="bg1"/>
            </a:solidFill>
          </p:spPr>
          <p:txBody>
            <a:bodyPr wrap="square" rtlCol="0">
              <a:spAutoFit/>
            </a:bodyPr>
            <a:lstStyle/>
            <a:p>
              <a:endParaRPr lang="en-PS" dirty="0"/>
            </a:p>
          </p:txBody>
        </p:sp>
      </p:grpSp>
      <p:sp>
        <p:nvSpPr>
          <p:cNvPr id="86" name="TextBox 85">
            <a:extLst>
              <a:ext uri="{FF2B5EF4-FFF2-40B4-BE49-F238E27FC236}">
                <a16:creationId xmlns:a16="http://schemas.microsoft.com/office/drawing/2014/main" id="{5FDB5691-B08B-F3D5-4D8E-2E7946915E89}"/>
              </a:ext>
            </a:extLst>
          </p:cNvPr>
          <p:cNvSpPr txBox="1"/>
          <p:nvPr/>
        </p:nvSpPr>
        <p:spPr>
          <a:xfrm>
            <a:off x="1628149" y="4550969"/>
            <a:ext cx="5421484" cy="461665"/>
          </a:xfrm>
          <a:prstGeom prst="rect">
            <a:avLst/>
          </a:prstGeom>
          <a:noFill/>
        </p:spPr>
        <p:txBody>
          <a:bodyPr wrap="none" rtlCol="0">
            <a:spAutoFit/>
          </a:bodyPr>
          <a:lstStyle/>
          <a:p>
            <a:r>
              <a:rPr lang="en-PS" sz="2400" dirty="0">
                <a:solidFill>
                  <a:srgbClr val="C00000"/>
                </a:solidFill>
                <a:latin typeface="Gill Sans MT" panose="020B0502020104020203" pitchFamily="34" charset="77"/>
              </a:rPr>
              <a:t>how do we get these formulas  ... Calculus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object 9"/>
          <p:cNvGrpSpPr/>
          <p:nvPr/>
        </p:nvGrpSpPr>
        <p:grpSpPr>
          <a:xfrm>
            <a:off x="5412277" y="143569"/>
            <a:ext cx="3638713" cy="1977517"/>
            <a:chOff x="5412577" y="142875"/>
            <a:chExt cx="3638713" cy="1977517"/>
          </a:xfrm>
        </p:grpSpPr>
        <p:pic>
          <p:nvPicPr>
            <p:cNvPr id="10" name="object 10"/>
            <p:cNvPicPr/>
            <p:nvPr/>
          </p:nvPicPr>
          <p:blipFill>
            <a:blip r:embed="rId2" cstate="print"/>
            <a:stretch>
              <a:fillRect/>
            </a:stretch>
          </p:blipFill>
          <p:spPr>
            <a:xfrm>
              <a:off x="6758305" y="142875"/>
              <a:ext cx="2292985" cy="982090"/>
            </a:xfrm>
            <a:prstGeom prst="rect">
              <a:avLst/>
            </a:prstGeom>
          </p:spPr>
        </p:pic>
        <p:pic>
          <p:nvPicPr>
            <p:cNvPr id="11" name="object 11"/>
            <p:cNvPicPr/>
            <p:nvPr/>
          </p:nvPicPr>
          <p:blipFill>
            <a:blip r:embed="rId3" cstate="print"/>
            <a:stretch>
              <a:fillRect/>
            </a:stretch>
          </p:blipFill>
          <p:spPr>
            <a:xfrm>
              <a:off x="5593842" y="1159002"/>
              <a:ext cx="3356991" cy="961390"/>
            </a:xfrm>
            <a:prstGeom prst="rect">
              <a:avLst/>
            </a:prstGeom>
          </p:spPr>
        </p:pic>
        <p:pic>
          <p:nvPicPr>
            <p:cNvPr id="12" name="object 12"/>
            <p:cNvPicPr/>
            <p:nvPr/>
          </p:nvPicPr>
          <p:blipFill>
            <a:blip r:embed="rId4" cstate="print"/>
            <a:stretch>
              <a:fillRect/>
            </a:stretch>
          </p:blipFill>
          <p:spPr>
            <a:xfrm>
              <a:off x="5412577" y="550037"/>
              <a:ext cx="215935" cy="45847"/>
            </a:xfrm>
            <a:prstGeom prst="rect">
              <a:avLst/>
            </a:prstGeom>
          </p:spPr>
        </p:pic>
        <p:pic>
          <p:nvPicPr>
            <p:cNvPr id="13" name="object 13"/>
            <p:cNvPicPr/>
            <p:nvPr/>
          </p:nvPicPr>
          <p:blipFill>
            <a:blip r:embed="rId5" cstate="print"/>
            <a:stretch>
              <a:fillRect/>
            </a:stretch>
          </p:blipFill>
          <p:spPr>
            <a:xfrm>
              <a:off x="5429885" y="691895"/>
              <a:ext cx="255015" cy="37718"/>
            </a:xfrm>
            <a:prstGeom prst="rect">
              <a:avLst/>
            </a:prstGeom>
          </p:spPr>
        </p:pic>
        <p:pic>
          <p:nvPicPr>
            <p:cNvPr id="14" name="object 14"/>
            <p:cNvPicPr/>
            <p:nvPr/>
          </p:nvPicPr>
          <p:blipFill>
            <a:blip r:embed="rId6" cstate="print"/>
            <a:stretch>
              <a:fillRect/>
            </a:stretch>
          </p:blipFill>
          <p:spPr>
            <a:xfrm>
              <a:off x="5784596" y="276479"/>
              <a:ext cx="358013" cy="604011"/>
            </a:xfrm>
            <a:prstGeom prst="rect">
              <a:avLst/>
            </a:prstGeom>
          </p:spPr>
        </p:pic>
        <p:pic>
          <p:nvPicPr>
            <p:cNvPr id="15" name="object 15"/>
            <p:cNvPicPr/>
            <p:nvPr/>
          </p:nvPicPr>
          <p:blipFill>
            <a:blip r:embed="rId7" cstate="print"/>
            <a:stretch>
              <a:fillRect/>
            </a:stretch>
          </p:blipFill>
          <p:spPr>
            <a:xfrm>
              <a:off x="6275451" y="295782"/>
              <a:ext cx="412876" cy="552576"/>
            </a:xfrm>
            <a:prstGeom prst="rect">
              <a:avLst/>
            </a:prstGeom>
          </p:spPr>
        </p:pic>
      </p:grpSp>
      <p:grpSp>
        <p:nvGrpSpPr>
          <p:cNvPr id="39" name="Group 38">
            <a:extLst>
              <a:ext uri="{FF2B5EF4-FFF2-40B4-BE49-F238E27FC236}">
                <a16:creationId xmlns:a16="http://schemas.microsoft.com/office/drawing/2014/main" id="{FD356948-6E9C-A584-A71F-671381CD105A}"/>
              </a:ext>
            </a:extLst>
          </p:cNvPr>
          <p:cNvGrpSpPr/>
          <p:nvPr/>
        </p:nvGrpSpPr>
        <p:grpSpPr>
          <a:xfrm>
            <a:off x="1162098" y="1291657"/>
            <a:ext cx="4267487" cy="834389"/>
            <a:chOff x="1192086" y="1251331"/>
            <a:chExt cx="4267487" cy="834389"/>
          </a:xfrm>
        </p:grpSpPr>
        <p:pic>
          <p:nvPicPr>
            <p:cNvPr id="16" name="object 16"/>
            <p:cNvPicPr/>
            <p:nvPr/>
          </p:nvPicPr>
          <p:blipFill>
            <a:blip r:embed="rId8" cstate="print"/>
            <a:stretch>
              <a:fillRect/>
            </a:stretch>
          </p:blipFill>
          <p:spPr>
            <a:xfrm>
              <a:off x="1192086" y="1326641"/>
              <a:ext cx="2223071" cy="759079"/>
            </a:xfrm>
            <a:prstGeom prst="rect">
              <a:avLst/>
            </a:prstGeom>
          </p:spPr>
        </p:pic>
        <p:pic>
          <p:nvPicPr>
            <p:cNvPr id="17" name="object 17"/>
            <p:cNvPicPr/>
            <p:nvPr/>
          </p:nvPicPr>
          <p:blipFill>
            <a:blip r:embed="rId9" cstate="print"/>
            <a:stretch>
              <a:fillRect/>
            </a:stretch>
          </p:blipFill>
          <p:spPr>
            <a:xfrm>
              <a:off x="3493594" y="1426083"/>
              <a:ext cx="156767" cy="304800"/>
            </a:xfrm>
            <a:prstGeom prst="rect">
              <a:avLst/>
            </a:prstGeom>
          </p:spPr>
        </p:pic>
        <p:sp>
          <p:nvSpPr>
            <p:cNvPr id="18" name="object 18"/>
            <p:cNvSpPr/>
            <p:nvPr/>
          </p:nvSpPr>
          <p:spPr>
            <a:xfrm>
              <a:off x="3763772" y="1623313"/>
              <a:ext cx="173355" cy="26671"/>
            </a:xfrm>
            <a:custGeom>
              <a:avLst/>
              <a:gdLst/>
              <a:ahLst/>
              <a:cxnLst/>
              <a:rect l="l" t="t" r="r" b="b"/>
              <a:pathLst>
                <a:path w="173354" h="26669">
                  <a:moveTo>
                    <a:pt x="147192" y="12573"/>
                  </a:moveTo>
                  <a:lnTo>
                    <a:pt x="147192" y="17399"/>
                  </a:lnTo>
                  <a:lnTo>
                    <a:pt x="149732" y="21462"/>
                  </a:lnTo>
                  <a:lnTo>
                    <a:pt x="153669" y="23495"/>
                  </a:lnTo>
                  <a:lnTo>
                    <a:pt x="154431" y="23749"/>
                  </a:lnTo>
                  <a:lnTo>
                    <a:pt x="160147" y="26670"/>
                  </a:lnTo>
                  <a:lnTo>
                    <a:pt x="167131" y="24257"/>
                  </a:lnTo>
                  <a:lnTo>
                    <a:pt x="167628" y="23240"/>
                  </a:lnTo>
                  <a:lnTo>
                    <a:pt x="154177" y="23240"/>
                  </a:lnTo>
                  <a:lnTo>
                    <a:pt x="153797" y="23113"/>
                  </a:lnTo>
                  <a:lnTo>
                    <a:pt x="158003" y="23113"/>
                  </a:lnTo>
                  <a:lnTo>
                    <a:pt x="150371" y="19050"/>
                  </a:lnTo>
                  <a:lnTo>
                    <a:pt x="149225" y="19050"/>
                  </a:lnTo>
                  <a:lnTo>
                    <a:pt x="148462" y="18034"/>
                  </a:lnTo>
                  <a:lnTo>
                    <a:pt x="148906" y="18034"/>
                  </a:lnTo>
                  <a:lnTo>
                    <a:pt x="147192" y="12573"/>
                  </a:lnTo>
                  <a:close/>
                </a:path>
                <a:path w="173354" h="26669">
                  <a:moveTo>
                    <a:pt x="5968" y="2539"/>
                  </a:moveTo>
                  <a:lnTo>
                    <a:pt x="1015" y="6731"/>
                  </a:lnTo>
                  <a:lnTo>
                    <a:pt x="0" y="18034"/>
                  </a:lnTo>
                  <a:lnTo>
                    <a:pt x="3937" y="23113"/>
                  </a:lnTo>
                  <a:lnTo>
                    <a:pt x="16763" y="24637"/>
                  </a:lnTo>
                  <a:lnTo>
                    <a:pt x="20574" y="24511"/>
                  </a:lnTo>
                  <a:lnTo>
                    <a:pt x="26394" y="23113"/>
                  </a:lnTo>
                  <a:lnTo>
                    <a:pt x="25653" y="23113"/>
                  </a:lnTo>
                  <a:lnTo>
                    <a:pt x="26924" y="22987"/>
                  </a:lnTo>
                  <a:lnTo>
                    <a:pt x="27622" y="22987"/>
                  </a:lnTo>
                  <a:lnTo>
                    <a:pt x="29106" y="22891"/>
                  </a:lnTo>
                  <a:lnTo>
                    <a:pt x="28575" y="22860"/>
                  </a:lnTo>
                  <a:lnTo>
                    <a:pt x="36258" y="22860"/>
                  </a:lnTo>
                  <a:lnTo>
                    <a:pt x="38607" y="22733"/>
                  </a:lnTo>
                  <a:lnTo>
                    <a:pt x="42925" y="22733"/>
                  </a:lnTo>
                  <a:lnTo>
                    <a:pt x="47422" y="22368"/>
                  </a:lnTo>
                  <a:lnTo>
                    <a:pt x="46862" y="22351"/>
                  </a:lnTo>
                  <a:lnTo>
                    <a:pt x="51942" y="22351"/>
                  </a:lnTo>
                  <a:lnTo>
                    <a:pt x="54500" y="22201"/>
                  </a:lnTo>
                  <a:lnTo>
                    <a:pt x="52831" y="21716"/>
                  </a:lnTo>
                  <a:lnTo>
                    <a:pt x="150225" y="21716"/>
                  </a:lnTo>
                  <a:lnTo>
                    <a:pt x="149732" y="21462"/>
                  </a:lnTo>
                  <a:lnTo>
                    <a:pt x="147192" y="17399"/>
                  </a:lnTo>
                  <a:lnTo>
                    <a:pt x="147192" y="12573"/>
                  </a:lnTo>
                  <a:lnTo>
                    <a:pt x="170198" y="12573"/>
                  </a:lnTo>
                  <a:lnTo>
                    <a:pt x="166279" y="6223"/>
                  </a:lnTo>
                  <a:lnTo>
                    <a:pt x="27812" y="6223"/>
                  </a:lnTo>
                  <a:lnTo>
                    <a:pt x="24002" y="5841"/>
                  </a:lnTo>
                  <a:lnTo>
                    <a:pt x="26007" y="5583"/>
                  </a:lnTo>
                  <a:lnTo>
                    <a:pt x="21716" y="4063"/>
                  </a:lnTo>
                  <a:lnTo>
                    <a:pt x="18923" y="3428"/>
                  </a:lnTo>
                  <a:lnTo>
                    <a:pt x="5968" y="2539"/>
                  </a:lnTo>
                  <a:close/>
                </a:path>
                <a:path w="173354" h="26669">
                  <a:moveTo>
                    <a:pt x="146303" y="23368"/>
                  </a:moveTo>
                  <a:lnTo>
                    <a:pt x="78739" y="23368"/>
                  </a:lnTo>
                  <a:lnTo>
                    <a:pt x="83438" y="23495"/>
                  </a:lnTo>
                  <a:lnTo>
                    <a:pt x="93217" y="23495"/>
                  </a:lnTo>
                  <a:lnTo>
                    <a:pt x="97789" y="23622"/>
                  </a:lnTo>
                  <a:lnTo>
                    <a:pt x="113156" y="23622"/>
                  </a:lnTo>
                  <a:lnTo>
                    <a:pt x="123951" y="23749"/>
                  </a:lnTo>
                  <a:lnTo>
                    <a:pt x="140842" y="23749"/>
                  </a:lnTo>
                  <a:lnTo>
                    <a:pt x="146303" y="23368"/>
                  </a:lnTo>
                  <a:close/>
                </a:path>
                <a:path w="173354" h="26669">
                  <a:moveTo>
                    <a:pt x="150225" y="21716"/>
                  </a:moveTo>
                  <a:lnTo>
                    <a:pt x="52831" y="21716"/>
                  </a:lnTo>
                  <a:lnTo>
                    <a:pt x="56261" y="22098"/>
                  </a:lnTo>
                  <a:lnTo>
                    <a:pt x="54500" y="22201"/>
                  </a:lnTo>
                  <a:lnTo>
                    <a:pt x="56768" y="22860"/>
                  </a:lnTo>
                  <a:lnTo>
                    <a:pt x="59816" y="23368"/>
                  </a:lnTo>
                  <a:lnTo>
                    <a:pt x="146938" y="23368"/>
                  </a:lnTo>
                  <a:lnTo>
                    <a:pt x="148801" y="23113"/>
                  </a:lnTo>
                  <a:lnTo>
                    <a:pt x="148336" y="23113"/>
                  </a:lnTo>
                  <a:lnTo>
                    <a:pt x="149732" y="22987"/>
                  </a:lnTo>
                  <a:lnTo>
                    <a:pt x="152685" y="22987"/>
                  </a:lnTo>
                  <a:lnTo>
                    <a:pt x="150225" y="21716"/>
                  </a:lnTo>
                  <a:close/>
                </a:path>
                <a:path w="173354" h="26669">
                  <a:moveTo>
                    <a:pt x="158003" y="23113"/>
                  </a:moveTo>
                  <a:lnTo>
                    <a:pt x="153797" y="23113"/>
                  </a:lnTo>
                  <a:lnTo>
                    <a:pt x="154177" y="23240"/>
                  </a:lnTo>
                  <a:lnTo>
                    <a:pt x="158241" y="23240"/>
                  </a:lnTo>
                  <a:lnTo>
                    <a:pt x="158003" y="23113"/>
                  </a:lnTo>
                  <a:close/>
                </a:path>
                <a:path w="173354" h="26669">
                  <a:moveTo>
                    <a:pt x="170198" y="12573"/>
                  </a:moveTo>
                  <a:lnTo>
                    <a:pt x="147192" y="12573"/>
                  </a:lnTo>
                  <a:lnTo>
                    <a:pt x="148995" y="18317"/>
                  </a:lnTo>
                  <a:lnTo>
                    <a:pt x="158241" y="23240"/>
                  </a:lnTo>
                  <a:lnTo>
                    <a:pt x="167628" y="23240"/>
                  </a:lnTo>
                  <a:lnTo>
                    <a:pt x="170040" y="18317"/>
                  </a:lnTo>
                  <a:lnTo>
                    <a:pt x="172782" y="12953"/>
                  </a:lnTo>
                  <a:lnTo>
                    <a:pt x="170433" y="12953"/>
                  </a:lnTo>
                  <a:lnTo>
                    <a:pt x="170198" y="12573"/>
                  </a:lnTo>
                  <a:close/>
                </a:path>
                <a:path w="173354" h="26669">
                  <a:moveTo>
                    <a:pt x="26924" y="22987"/>
                  </a:moveTo>
                  <a:lnTo>
                    <a:pt x="25653" y="23113"/>
                  </a:lnTo>
                  <a:lnTo>
                    <a:pt x="26667" y="23048"/>
                  </a:lnTo>
                  <a:lnTo>
                    <a:pt x="26924" y="22987"/>
                  </a:lnTo>
                  <a:close/>
                </a:path>
                <a:path w="173354" h="26669">
                  <a:moveTo>
                    <a:pt x="26667" y="23048"/>
                  </a:moveTo>
                  <a:lnTo>
                    <a:pt x="25653" y="23113"/>
                  </a:lnTo>
                  <a:lnTo>
                    <a:pt x="26394" y="23113"/>
                  </a:lnTo>
                  <a:lnTo>
                    <a:pt x="26667" y="23048"/>
                  </a:lnTo>
                  <a:close/>
                </a:path>
                <a:path w="173354" h="26669">
                  <a:moveTo>
                    <a:pt x="36258" y="22860"/>
                  </a:moveTo>
                  <a:lnTo>
                    <a:pt x="29590" y="22860"/>
                  </a:lnTo>
                  <a:lnTo>
                    <a:pt x="29106" y="22891"/>
                  </a:lnTo>
                  <a:lnTo>
                    <a:pt x="32892" y="23113"/>
                  </a:lnTo>
                  <a:lnTo>
                    <a:pt x="33908" y="22987"/>
                  </a:lnTo>
                  <a:lnTo>
                    <a:pt x="36258" y="22860"/>
                  </a:lnTo>
                  <a:close/>
                </a:path>
                <a:path w="173354" h="26669">
                  <a:moveTo>
                    <a:pt x="149732" y="22987"/>
                  </a:moveTo>
                  <a:lnTo>
                    <a:pt x="148336" y="23113"/>
                  </a:lnTo>
                  <a:lnTo>
                    <a:pt x="148801" y="23113"/>
                  </a:lnTo>
                  <a:lnTo>
                    <a:pt x="149732" y="22987"/>
                  </a:lnTo>
                  <a:close/>
                </a:path>
                <a:path w="173354" h="26669">
                  <a:moveTo>
                    <a:pt x="152685" y="22987"/>
                  </a:moveTo>
                  <a:lnTo>
                    <a:pt x="149732" y="22987"/>
                  </a:lnTo>
                  <a:lnTo>
                    <a:pt x="148801" y="23113"/>
                  </a:lnTo>
                  <a:lnTo>
                    <a:pt x="152931" y="23113"/>
                  </a:lnTo>
                  <a:lnTo>
                    <a:pt x="152685" y="22987"/>
                  </a:lnTo>
                  <a:close/>
                </a:path>
                <a:path w="173354" h="26669">
                  <a:moveTo>
                    <a:pt x="27622" y="22987"/>
                  </a:moveTo>
                  <a:lnTo>
                    <a:pt x="26924" y="22987"/>
                  </a:lnTo>
                  <a:lnTo>
                    <a:pt x="26667" y="23048"/>
                  </a:lnTo>
                  <a:lnTo>
                    <a:pt x="27622" y="22987"/>
                  </a:lnTo>
                  <a:close/>
                </a:path>
                <a:path w="173354" h="26669">
                  <a:moveTo>
                    <a:pt x="29590" y="22860"/>
                  </a:moveTo>
                  <a:lnTo>
                    <a:pt x="28575" y="22860"/>
                  </a:lnTo>
                  <a:lnTo>
                    <a:pt x="29106" y="22891"/>
                  </a:lnTo>
                  <a:lnTo>
                    <a:pt x="29590" y="22860"/>
                  </a:lnTo>
                  <a:close/>
                </a:path>
                <a:path w="173354" h="26669">
                  <a:moveTo>
                    <a:pt x="51942" y="22351"/>
                  </a:moveTo>
                  <a:lnTo>
                    <a:pt x="47625" y="22351"/>
                  </a:lnTo>
                  <a:lnTo>
                    <a:pt x="47422" y="22368"/>
                  </a:lnTo>
                  <a:lnTo>
                    <a:pt x="51180" y="22478"/>
                  </a:lnTo>
                  <a:lnTo>
                    <a:pt x="51942" y="22351"/>
                  </a:lnTo>
                  <a:close/>
                </a:path>
                <a:path w="173354" h="26669">
                  <a:moveTo>
                    <a:pt x="47625" y="22351"/>
                  </a:moveTo>
                  <a:lnTo>
                    <a:pt x="46862" y="22351"/>
                  </a:lnTo>
                  <a:lnTo>
                    <a:pt x="47422" y="22368"/>
                  </a:lnTo>
                  <a:lnTo>
                    <a:pt x="47625" y="22351"/>
                  </a:lnTo>
                  <a:close/>
                </a:path>
                <a:path w="173354" h="26669">
                  <a:moveTo>
                    <a:pt x="52831" y="21716"/>
                  </a:moveTo>
                  <a:lnTo>
                    <a:pt x="54500" y="22201"/>
                  </a:lnTo>
                  <a:lnTo>
                    <a:pt x="56261" y="22098"/>
                  </a:lnTo>
                  <a:lnTo>
                    <a:pt x="52831" y="21716"/>
                  </a:lnTo>
                  <a:close/>
                </a:path>
                <a:path w="173354" h="26669">
                  <a:moveTo>
                    <a:pt x="148462" y="18034"/>
                  </a:moveTo>
                  <a:lnTo>
                    <a:pt x="149225" y="19050"/>
                  </a:lnTo>
                  <a:lnTo>
                    <a:pt x="148995" y="18317"/>
                  </a:lnTo>
                  <a:lnTo>
                    <a:pt x="148462" y="18034"/>
                  </a:lnTo>
                  <a:close/>
                </a:path>
                <a:path w="173354" h="26669">
                  <a:moveTo>
                    <a:pt x="148995" y="18317"/>
                  </a:moveTo>
                  <a:lnTo>
                    <a:pt x="149225" y="19050"/>
                  </a:lnTo>
                  <a:lnTo>
                    <a:pt x="150371" y="19050"/>
                  </a:lnTo>
                  <a:lnTo>
                    <a:pt x="148995" y="18317"/>
                  </a:lnTo>
                  <a:close/>
                </a:path>
                <a:path w="173354" h="26669">
                  <a:moveTo>
                    <a:pt x="148906" y="18034"/>
                  </a:moveTo>
                  <a:lnTo>
                    <a:pt x="148462" y="18034"/>
                  </a:lnTo>
                  <a:lnTo>
                    <a:pt x="148995" y="18317"/>
                  </a:lnTo>
                  <a:lnTo>
                    <a:pt x="148906" y="18034"/>
                  </a:lnTo>
                  <a:close/>
                </a:path>
                <a:path w="173354" h="26669">
                  <a:moveTo>
                    <a:pt x="164083" y="2666"/>
                  </a:moveTo>
                  <a:lnTo>
                    <a:pt x="170433" y="12953"/>
                  </a:lnTo>
                  <a:lnTo>
                    <a:pt x="170433" y="10287"/>
                  </a:lnTo>
                  <a:lnTo>
                    <a:pt x="169799" y="8127"/>
                  </a:lnTo>
                  <a:lnTo>
                    <a:pt x="167147" y="4168"/>
                  </a:lnTo>
                  <a:lnTo>
                    <a:pt x="164083" y="2666"/>
                  </a:lnTo>
                  <a:close/>
                </a:path>
                <a:path w="173354" h="26669">
                  <a:moveTo>
                    <a:pt x="167147" y="4168"/>
                  </a:moveTo>
                  <a:lnTo>
                    <a:pt x="169799" y="8127"/>
                  </a:lnTo>
                  <a:lnTo>
                    <a:pt x="170433" y="10287"/>
                  </a:lnTo>
                  <a:lnTo>
                    <a:pt x="170433" y="12953"/>
                  </a:lnTo>
                  <a:lnTo>
                    <a:pt x="172782" y="12953"/>
                  </a:lnTo>
                  <a:lnTo>
                    <a:pt x="172763" y="12573"/>
                  </a:lnTo>
                  <a:lnTo>
                    <a:pt x="170561" y="5841"/>
                  </a:lnTo>
                  <a:lnTo>
                    <a:pt x="167147" y="4168"/>
                  </a:lnTo>
                  <a:close/>
                </a:path>
                <a:path w="173354" h="26669">
                  <a:moveTo>
                    <a:pt x="26007" y="5583"/>
                  </a:moveTo>
                  <a:lnTo>
                    <a:pt x="24002" y="5841"/>
                  </a:lnTo>
                  <a:lnTo>
                    <a:pt x="27812" y="6223"/>
                  </a:lnTo>
                  <a:lnTo>
                    <a:pt x="26007" y="5583"/>
                  </a:lnTo>
                  <a:close/>
                </a:path>
                <a:path w="173354" h="26669">
                  <a:moveTo>
                    <a:pt x="27939" y="5334"/>
                  </a:moveTo>
                  <a:lnTo>
                    <a:pt x="26007" y="5583"/>
                  </a:lnTo>
                  <a:lnTo>
                    <a:pt x="27812" y="6223"/>
                  </a:lnTo>
                  <a:lnTo>
                    <a:pt x="166279" y="6223"/>
                  </a:lnTo>
                  <a:lnTo>
                    <a:pt x="165887" y="5587"/>
                  </a:lnTo>
                  <a:lnTo>
                    <a:pt x="27050" y="5587"/>
                  </a:lnTo>
                  <a:lnTo>
                    <a:pt x="27939" y="5334"/>
                  </a:lnTo>
                  <a:close/>
                </a:path>
                <a:path w="173354" h="26669">
                  <a:moveTo>
                    <a:pt x="37083" y="4063"/>
                  </a:moveTo>
                  <a:lnTo>
                    <a:pt x="32385" y="4445"/>
                  </a:lnTo>
                  <a:lnTo>
                    <a:pt x="31368" y="4699"/>
                  </a:lnTo>
                  <a:lnTo>
                    <a:pt x="27050" y="5587"/>
                  </a:lnTo>
                  <a:lnTo>
                    <a:pt x="165887" y="5587"/>
                  </a:lnTo>
                  <a:lnTo>
                    <a:pt x="165024" y="4190"/>
                  </a:lnTo>
                  <a:lnTo>
                    <a:pt x="36449" y="4190"/>
                  </a:lnTo>
                  <a:lnTo>
                    <a:pt x="37083" y="4063"/>
                  </a:lnTo>
                  <a:close/>
                </a:path>
                <a:path w="173354" h="26669">
                  <a:moveTo>
                    <a:pt x="166039" y="2539"/>
                  </a:moveTo>
                  <a:lnTo>
                    <a:pt x="54737" y="2539"/>
                  </a:lnTo>
                  <a:lnTo>
                    <a:pt x="52831" y="2921"/>
                  </a:lnTo>
                  <a:lnTo>
                    <a:pt x="46862" y="2921"/>
                  </a:lnTo>
                  <a:lnTo>
                    <a:pt x="46100" y="3048"/>
                  </a:lnTo>
                  <a:lnTo>
                    <a:pt x="41401" y="3428"/>
                  </a:lnTo>
                  <a:lnTo>
                    <a:pt x="40639" y="3428"/>
                  </a:lnTo>
                  <a:lnTo>
                    <a:pt x="36449" y="4190"/>
                  </a:lnTo>
                  <a:lnTo>
                    <a:pt x="165024" y="4190"/>
                  </a:lnTo>
                  <a:lnTo>
                    <a:pt x="164083" y="2666"/>
                  </a:lnTo>
                  <a:lnTo>
                    <a:pt x="166126" y="2666"/>
                  </a:lnTo>
                  <a:close/>
                </a:path>
                <a:path w="173354" h="26669">
                  <a:moveTo>
                    <a:pt x="166126" y="2666"/>
                  </a:moveTo>
                  <a:lnTo>
                    <a:pt x="164083" y="2666"/>
                  </a:lnTo>
                  <a:lnTo>
                    <a:pt x="167147" y="4168"/>
                  </a:lnTo>
                  <a:lnTo>
                    <a:pt x="166126" y="2666"/>
                  </a:lnTo>
                  <a:close/>
                </a:path>
                <a:path w="173354" h="26669">
                  <a:moveTo>
                    <a:pt x="53885" y="2615"/>
                  </a:moveTo>
                  <a:lnTo>
                    <a:pt x="50418" y="2921"/>
                  </a:lnTo>
                  <a:lnTo>
                    <a:pt x="52831" y="2921"/>
                  </a:lnTo>
                  <a:lnTo>
                    <a:pt x="53885" y="2615"/>
                  </a:lnTo>
                  <a:close/>
                </a:path>
                <a:path w="173354" h="26669">
                  <a:moveTo>
                    <a:pt x="54737" y="2539"/>
                  </a:moveTo>
                  <a:lnTo>
                    <a:pt x="53885" y="2615"/>
                  </a:lnTo>
                  <a:lnTo>
                    <a:pt x="52831" y="2921"/>
                  </a:lnTo>
                  <a:lnTo>
                    <a:pt x="54737" y="2539"/>
                  </a:lnTo>
                  <a:close/>
                </a:path>
                <a:path w="173354" h="26669">
                  <a:moveTo>
                    <a:pt x="162051" y="0"/>
                  </a:moveTo>
                  <a:lnTo>
                    <a:pt x="153797" y="0"/>
                  </a:lnTo>
                  <a:lnTo>
                    <a:pt x="152273" y="126"/>
                  </a:lnTo>
                  <a:lnTo>
                    <a:pt x="146938" y="126"/>
                  </a:lnTo>
                  <a:lnTo>
                    <a:pt x="144017" y="508"/>
                  </a:lnTo>
                  <a:lnTo>
                    <a:pt x="144779" y="508"/>
                  </a:lnTo>
                  <a:lnTo>
                    <a:pt x="139318" y="888"/>
                  </a:lnTo>
                  <a:lnTo>
                    <a:pt x="113029" y="888"/>
                  </a:lnTo>
                  <a:lnTo>
                    <a:pt x="108712" y="1015"/>
                  </a:lnTo>
                  <a:lnTo>
                    <a:pt x="97789" y="1015"/>
                  </a:lnTo>
                  <a:lnTo>
                    <a:pt x="93217" y="1143"/>
                  </a:lnTo>
                  <a:lnTo>
                    <a:pt x="78866" y="1143"/>
                  </a:lnTo>
                  <a:lnTo>
                    <a:pt x="72389" y="1270"/>
                  </a:lnTo>
                  <a:lnTo>
                    <a:pt x="59816" y="1270"/>
                  </a:lnTo>
                  <a:lnTo>
                    <a:pt x="56768" y="1777"/>
                  </a:lnTo>
                  <a:lnTo>
                    <a:pt x="53885" y="2615"/>
                  </a:lnTo>
                  <a:lnTo>
                    <a:pt x="54737" y="2539"/>
                  </a:lnTo>
                  <a:lnTo>
                    <a:pt x="166039" y="2539"/>
                  </a:lnTo>
                  <a:lnTo>
                    <a:pt x="165607" y="1905"/>
                  </a:lnTo>
                  <a:lnTo>
                    <a:pt x="162051" y="0"/>
                  </a:lnTo>
                  <a:close/>
                </a:path>
                <a:path w="173354" h="26669">
                  <a:moveTo>
                    <a:pt x="152653" y="0"/>
                  </a:moveTo>
                  <a:lnTo>
                    <a:pt x="148336" y="126"/>
                  </a:lnTo>
                  <a:lnTo>
                    <a:pt x="152273" y="126"/>
                  </a:lnTo>
                  <a:lnTo>
                    <a:pt x="152653" y="0"/>
                  </a:lnTo>
                  <a:close/>
                </a:path>
              </a:pathLst>
            </a:custGeom>
            <a:solidFill>
              <a:srgbClr val="0096FF"/>
            </a:solidFill>
          </p:spPr>
          <p:txBody>
            <a:bodyPr wrap="square" lIns="0" tIns="0" rIns="0" bIns="0" rtlCol="0"/>
            <a:lstStyle/>
            <a:p>
              <a:endParaRPr/>
            </a:p>
          </p:txBody>
        </p:sp>
        <p:grpSp>
          <p:nvGrpSpPr>
            <p:cNvPr id="19" name="object 19"/>
            <p:cNvGrpSpPr/>
            <p:nvPr/>
          </p:nvGrpSpPr>
          <p:grpSpPr>
            <a:xfrm>
              <a:off x="4009868" y="1251331"/>
              <a:ext cx="1449705" cy="580391"/>
              <a:chOff x="4009866" y="1251330"/>
              <a:chExt cx="1449705" cy="580390"/>
            </a:xfrm>
          </p:grpSpPr>
          <p:pic>
            <p:nvPicPr>
              <p:cNvPr id="20" name="object 20"/>
              <p:cNvPicPr/>
              <p:nvPr/>
            </p:nvPicPr>
            <p:blipFill>
              <a:blip r:embed="rId10" cstate="print"/>
              <a:stretch>
                <a:fillRect/>
              </a:stretch>
            </p:blipFill>
            <p:spPr>
              <a:xfrm>
                <a:off x="4009866" y="1316100"/>
                <a:ext cx="614965" cy="515493"/>
              </a:xfrm>
              <a:prstGeom prst="rect">
                <a:avLst/>
              </a:prstGeom>
            </p:spPr>
          </p:pic>
          <p:pic>
            <p:nvPicPr>
              <p:cNvPr id="21" name="object 21"/>
              <p:cNvPicPr/>
              <p:nvPr/>
            </p:nvPicPr>
            <p:blipFill>
              <a:blip r:embed="rId11" cstate="print"/>
              <a:stretch>
                <a:fillRect/>
              </a:stretch>
            </p:blipFill>
            <p:spPr>
              <a:xfrm>
                <a:off x="4667503" y="1251330"/>
                <a:ext cx="791463" cy="535305"/>
              </a:xfrm>
              <a:prstGeom prst="rect">
                <a:avLst/>
              </a:prstGeom>
            </p:spPr>
          </p:pic>
        </p:grpSp>
      </p:grpSp>
      <p:pic>
        <p:nvPicPr>
          <p:cNvPr id="22" name="object 22"/>
          <p:cNvPicPr/>
          <p:nvPr/>
        </p:nvPicPr>
        <p:blipFill>
          <a:blip r:embed="rId12" cstate="print"/>
          <a:stretch>
            <a:fillRect/>
          </a:stretch>
        </p:blipFill>
        <p:spPr>
          <a:xfrm>
            <a:off x="5524881" y="2419477"/>
            <a:ext cx="647065" cy="529717"/>
          </a:xfrm>
          <a:prstGeom prst="rect">
            <a:avLst/>
          </a:prstGeom>
        </p:spPr>
      </p:pic>
      <p:pic>
        <p:nvPicPr>
          <p:cNvPr id="23" name="object 23"/>
          <p:cNvPicPr/>
          <p:nvPr/>
        </p:nvPicPr>
        <p:blipFill>
          <a:blip r:embed="rId13" cstate="print"/>
          <a:stretch>
            <a:fillRect/>
          </a:stretch>
        </p:blipFill>
        <p:spPr>
          <a:xfrm>
            <a:off x="8286116" y="2680208"/>
            <a:ext cx="135381" cy="28193"/>
          </a:xfrm>
          <a:prstGeom prst="rect">
            <a:avLst/>
          </a:prstGeom>
        </p:spPr>
      </p:pic>
      <p:pic>
        <p:nvPicPr>
          <p:cNvPr id="24" name="object 24"/>
          <p:cNvPicPr/>
          <p:nvPr/>
        </p:nvPicPr>
        <p:blipFill>
          <a:blip r:embed="rId14" cstate="print"/>
          <a:stretch>
            <a:fillRect/>
          </a:stretch>
        </p:blipFill>
        <p:spPr>
          <a:xfrm>
            <a:off x="8488427" y="2273174"/>
            <a:ext cx="605027" cy="704341"/>
          </a:xfrm>
          <a:prstGeom prst="rect">
            <a:avLst/>
          </a:prstGeom>
        </p:spPr>
      </p:pic>
      <p:pic>
        <p:nvPicPr>
          <p:cNvPr id="25" name="object 25"/>
          <p:cNvPicPr/>
          <p:nvPr/>
        </p:nvPicPr>
        <p:blipFill>
          <a:blip r:embed="rId15" cstate="print"/>
          <a:stretch>
            <a:fillRect/>
          </a:stretch>
        </p:blipFill>
        <p:spPr>
          <a:xfrm>
            <a:off x="6241289" y="2209801"/>
            <a:ext cx="1980691" cy="879856"/>
          </a:xfrm>
          <a:prstGeom prst="rect">
            <a:avLst/>
          </a:prstGeom>
        </p:spPr>
      </p:pic>
      <p:grpSp>
        <p:nvGrpSpPr>
          <p:cNvPr id="32" name="object 32"/>
          <p:cNvGrpSpPr/>
          <p:nvPr/>
        </p:nvGrpSpPr>
        <p:grpSpPr>
          <a:xfrm>
            <a:off x="4928617" y="3316860"/>
            <a:ext cx="3914775" cy="1196340"/>
            <a:chOff x="4928615" y="3316859"/>
            <a:chExt cx="3914775" cy="1196340"/>
          </a:xfrm>
        </p:grpSpPr>
        <p:pic>
          <p:nvPicPr>
            <p:cNvPr id="33" name="object 33"/>
            <p:cNvPicPr/>
            <p:nvPr/>
          </p:nvPicPr>
          <p:blipFill>
            <a:blip r:embed="rId16" cstate="print"/>
            <a:stretch>
              <a:fillRect/>
            </a:stretch>
          </p:blipFill>
          <p:spPr>
            <a:xfrm>
              <a:off x="5061711" y="4352480"/>
              <a:ext cx="253873" cy="156209"/>
            </a:xfrm>
            <a:prstGeom prst="rect">
              <a:avLst/>
            </a:prstGeom>
          </p:spPr>
        </p:pic>
        <p:pic>
          <p:nvPicPr>
            <p:cNvPr id="34" name="object 34"/>
            <p:cNvPicPr/>
            <p:nvPr/>
          </p:nvPicPr>
          <p:blipFill>
            <a:blip r:embed="rId17" cstate="print"/>
            <a:stretch>
              <a:fillRect/>
            </a:stretch>
          </p:blipFill>
          <p:spPr>
            <a:xfrm>
              <a:off x="4928615" y="4186288"/>
              <a:ext cx="955929" cy="326555"/>
            </a:xfrm>
            <a:prstGeom prst="rect">
              <a:avLst/>
            </a:prstGeom>
          </p:spPr>
        </p:pic>
        <p:pic>
          <p:nvPicPr>
            <p:cNvPr id="35" name="object 35"/>
            <p:cNvPicPr/>
            <p:nvPr/>
          </p:nvPicPr>
          <p:blipFill>
            <a:blip r:embed="rId18" cstate="print"/>
            <a:stretch>
              <a:fillRect/>
            </a:stretch>
          </p:blipFill>
          <p:spPr>
            <a:xfrm>
              <a:off x="5817742" y="3316859"/>
              <a:ext cx="3025521" cy="961389"/>
            </a:xfrm>
            <a:prstGeom prst="rect">
              <a:avLst/>
            </a:prstGeom>
          </p:spPr>
        </p:pic>
      </p:grpSp>
      <p:grpSp>
        <p:nvGrpSpPr>
          <p:cNvPr id="43" name="Group 42">
            <a:extLst>
              <a:ext uri="{FF2B5EF4-FFF2-40B4-BE49-F238E27FC236}">
                <a16:creationId xmlns:a16="http://schemas.microsoft.com/office/drawing/2014/main" id="{3995F7ED-17C4-65ED-7684-6DF6162C1809}"/>
              </a:ext>
            </a:extLst>
          </p:cNvPr>
          <p:cNvGrpSpPr/>
          <p:nvPr/>
        </p:nvGrpSpPr>
        <p:grpSpPr>
          <a:xfrm>
            <a:off x="1466723" y="3423221"/>
            <a:ext cx="3991609" cy="695960"/>
            <a:chOff x="1466723" y="3423221"/>
            <a:chExt cx="3991609" cy="695960"/>
          </a:xfrm>
        </p:grpSpPr>
        <p:pic>
          <p:nvPicPr>
            <p:cNvPr id="26" name="object 26"/>
            <p:cNvPicPr/>
            <p:nvPr/>
          </p:nvPicPr>
          <p:blipFill>
            <a:blip r:embed="rId19" cstate="print"/>
            <a:stretch>
              <a:fillRect/>
            </a:stretch>
          </p:blipFill>
          <p:spPr>
            <a:xfrm>
              <a:off x="2353691" y="3503041"/>
              <a:ext cx="812631" cy="616140"/>
            </a:xfrm>
            <a:prstGeom prst="rect">
              <a:avLst/>
            </a:prstGeom>
          </p:spPr>
        </p:pic>
        <p:pic>
          <p:nvPicPr>
            <p:cNvPr id="27" name="object 27"/>
            <p:cNvPicPr/>
            <p:nvPr/>
          </p:nvPicPr>
          <p:blipFill>
            <a:blip r:embed="rId20" cstate="print"/>
            <a:stretch>
              <a:fillRect/>
            </a:stretch>
          </p:blipFill>
          <p:spPr>
            <a:xfrm>
              <a:off x="3244215" y="3652012"/>
              <a:ext cx="375716" cy="363829"/>
            </a:xfrm>
            <a:prstGeom prst="rect">
              <a:avLst/>
            </a:prstGeom>
          </p:spPr>
        </p:pic>
        <p:pic>
          <p:nvPicPr>
            <p:cNvPr id="28" name="object 28"/>
            <p:cNvPicPr/>
            <p:nvPr/>
          </p:nvPicPr>
          <p:blipFill>
            <a:blip r:embed="rId21" cstate="print"/>
            <a:stretch>
              <a:fillRect/>
            </a:stretch>
          </p:blipFill>
          <p:spPr>
            <a:xfrm>
              <a:off x="3686810" y="3797679"/>
              <a:ext cx="159639" cy="174283"/>
            </a:xfrm>
            <a:prstGeom prst="rect">
              <a:avLst/>
            </a:prstGeom>
          </p:spPr>
        </p:pic>
        <p:pic>
          <p:nvPicPr>
            <p:cNvPr id="29" name="object 29"/>
            <p:cNvPicPr/>
            <p:nvPr/>
          </p:nvPicPr>
          <p:blipFill>
            <a:blip r:embed="rId22" cstate="print"/>
            <a:stretch>
              <a:fillRect/>
            </a:stretch>
          </p:blipFill>
          <p:spPr>
            <a:xfrm>
              <a:off x="3956685" y="3741370"/>
              <a:ext cx="149860" cy="240029"/>
            </a:xfrm>
            <a:prstGeom prst="rect">
              <a:avLst/>
            </a:prstGeom>
          </p:spPr>
        </p:pic>
        <p:sp>
          <p:nvSpPr>
            <p:cNvPr id="30" name="object 30"/>
            <p:cNvSpPr/>
            <p:nvPr/>
          </p:nvSpPr>
          <p:spPr>
            <a:xfrm>
              <a:off x="4222117" y="3837560"/>
              <a:ext cx="130175" cy="27305"/>
            </a:xfrm>
            <a:custGeom>
              <a:avLst/>
              <a:gdLst/>
              <a:ahLst/>
              <a:cxnLst/>
              <a:rect l="l" t="t" r="r" b="b"/>
              <a:pathLst>
                <a:path w="130175" h="27304">
                  <a:moveTo>
                    <a:pt x="7238" y="3682"/>
                  </a:moveTo>
                  <a:lnTo>
                    <a:pt x="1905" y="7365"/>
                  </a:lnTo>
                  <a:lnTo>
                    <a:pt x="1015" y="12953"/>
                  </a:lnTo>
                  <a:lnTo>
                    <a:pt x="0" y="18541"/>
                  </a:lnTo>
                  <a:lnTo>
                    <a:pt x="3683" y="23875"/>
                  </a:lnTo>
                  <a:lnTo>
                    <a:pt x="9144" y="24891"/>
                  </a:lnTo>
                  <a:lnTo>
                    <a:pt x="15875" y="26288"/>
                  </a:lnTo>
                  <a:lnTo>
                    <a:pt x="21209" y="27050"/>
                  </a:lnTo>
                  <a:lnTo>
                    <a:pt x="22606" y="27050"/>
                  </a:lnTo>
                  <a:lnTo>
                    <a:pt x="26162" y="27177"/>
                  </a:lnTo>
                  <a:lnTo>
                    <a:pt x="45593" y="27177"/>
                  </a:lnTo>
                  <a:lnTo>
                    <a:pt x="51435" y="26923"/>
                  </a:lnTo>
                  <a:lnTo>
                    <a:pt x="56769" y="26161"/>
                  </a:lnTo>
                  <a:lnTo>
                    <a:pt x="55880" y="26161"/>
                  </a:lnTo>
                  <a:lnTo>
                    <a:pt x="65532" y="25526"/>
                  </a:lnTo>
                  <a:lnTo>
                    <a:pt x="70485" y="25272"/>
                  </a:lnTo>
                  <a:lnTo>
                    <a:pt x="70993" y="25145"/>
                  </a:lnTo>
                  <a:lnTo>
                    <a:pt x="81407" y="24129"/>
                  </a:lnTo>
                  <a:lnTo>
                    <a:pt x="81025" y="24129"/>
                  </a:lnTo>
                  <a:lnTo>
                    <a:pt x="85344" y="23875"/>
                  </a:lnTo>
                  <a:lnTo>
                    <a:pt x="93852" y="23113"/>
                  </a:lnTo>
                  <a:lnTo>
                    <a:pt x="97155" y="22859"/>
                  </a:lnTo>
                  <a:lnTo>
                    <a:pt x="114655" y="22859"/>
                  </a:lnTo>
                  <a:lnTo>
                    <a:pt x="113537" y="22351"/>
                  </a:lnTo>
                  <a:lnTo>
                    <a:pt x="112522" y="21970"/>
                  </a:lnTo>
                  <a:lnTo>
                    <a:pt x="109600" y="20700"/>
                  </a:lnTo>
                  <a:lnTo>
                    <a:pt x="107569" y="18160"/>
                  </a:lnTo>
                  <a:lnTo>
                    <a:pt x="106045" y="12064"/>
                  </a:lnTo>
                  <a:lnTo>
                    <a:pt x="106680" y="8762"/>
                  </a:lnTo>
                  <a:lnTo>
                    <a:pt x="108775" y="6095"/>
                  </a:lnTo>
                  <a:lnTo>
                    <a:pt x="22606" y="6095"/>
                  </a:lnTo>
                  <a:lnTo>
                    <a:pt x="23674" y="6057"/>
                  </a:lnTo>
                  <a:lnTo>
                    <a:pt x="18542" y="5460"/>
                  </a:lnTo>
                  <a:lnTo>
                    <a:pt x="18923" y="5460"/>
                  </a:lnTo>
                  <a:lnTo>
                    <a:pt x="12700" y="4571"/>
                  </a:lnTo>
                  <a:lnTo>
                    <a:pt x="7238" y="3682"/>
                  </a:lnTo>
                  <a:close/>
                </a:path>
                <a:path w="130175" h="27304">
                  <a:moveTo>
                    <a:pt x="115557" y="23269"/>
                  </a:moveTo>
                  <a:lnTo>
                    <a:pt x="117729" y="24256"/>
                  </a:lnTo>
                  <a:lnTo>
                    <a:pt x="122427" y="23367"/>
                  </a:lnTo>
                  <a:lnTo>
                    <a:pt x="118110" y="23367"/>
                  </a:lnTo>
                  <a:lnTo>
                    <a:pt x="115557" y="23269"/>
                  </a:lnTo>
                  <a:close/>
                </a:path>
                <a:path w="130175" h="27304">
                  <a:moveTo>
                    <a:pt x="114992" y="765"/>
                  </a:moveTo>
                  <a:lnTo>
                    <a:pt x="112522" y="1396"/>
                  </a:lnTo>
                  <a:lnTo>
                    <a:pt x="106680" y="8762"/>
                  </a:lnTo>
                  <a:lnTo>
                    <a:pt x="106198" y="11264"/>
                  </a:lnTo>
                  <a:lnTo>
                    <a:pt x="106172" y="12572"/>
                  </a:lnTo>
                  <a:lnTo>
                    <a:pt x="107569" y="18160"/>
                  </a:lnTo>
                  <a:lnTo>
                    <a:pt x="109600" y="20700"/>
                  </a:lnTo>
                  <a:lnTo>
                    <a:pt x="112522" y="21970"/>
                  </a:lnTo>
                  <a:lnTo>
                    <a:pt x="113537" y="22351"/>
                  </a:lnTo>
                  <a:lnTo>
                    <a:pt x="115557" y="23269"/>
                  </a:lnTo>
                  <a:lnTo>
                    <a:pt x="118110" y="23367"/>
                  </a:lnTo>
                  <a:lnTo>
                    <a:pt x="118618" y="23367"/>
                  </a:lnTo>
                  <a:lnTo>
                    <a:pt x="129572" y="11264"/>
                  </a:lnTo>
                  <a:lnTo>
                    <a:pt x="127000" y="4190"/>
                  </a:lnTo>
                  <a:lnTo>
                    <a:pt x="126807" y="4054"/>
                  </a:lnTo>
                  <a:lnTo>
                    <a:pt x="120747" y="1269"/>
                  </a:lnTo>
                  <a:lnTo>
                    <a:pt x="119077" y="1263"/>
                  </a:lnTo>
                  <a:lnTo>
                    <a:pt x="118110" y="1142"/>
                  </a:lnTo>
                  <a:lnTo>
                    <a:pt x="118533" y="1142"/>
                  </a:lnTo>
                  <a:lnTo>
                    <a:pt x="117348" y="888"/>
                  </a:lnTo>
                  <a:lnTo>
                    <a:pt x="114992" y="765"/>
                  </a:lnTo>
                  <a:close/>
                </a:path>
                <a:path w="130175" h="27304">
                  <a:moveTo>
                    <a:pt x="122646" y="23166"/>
                  </a:moveTo>
                  <a:lnTo>
                    <a:pt x="118618" y="23367"/>
                  </a:lnTo>
                  <a:lnTo>
                    <a:pt x="122427" y="23367"/>
                  </a:lnTo>
                  <a:lnTo>
                    <a:pt x="122646" y="23166"/>
                  </a:lnTo>
                  <a:close/>
                </a:path>
                <a:path w="130175" h="27304">
                  <a:moveTo>
                    <a:pt x="112902" y="22859"/>
                  </a:moveTo>
                  <a:lnTo>
                    <a:pt x="114808" y="23240"/>
                  </a:lnTo>
                  <a:lnTo>
                    <a:pt x="115557" y="23269"/>
                  </a:lnTo>
                  <a:lnTo>
                    <a:pt x="115214" y="23113"/>
                  </a:lnTo>
                  <a:lnTo>
                    <a:pt x="114935" y="23113"/>
                  </a:lnTo>
                  <a:lnTo>
                    <a:pt x="112902" y="22859"/>
                  </a:lnTo>
                  <a:close/>
                </a:path>
                <a:path w="130175" h="27304">
                  <a:moveTo>
                    <a:pt x="128339" y="17815"/>
                  </a:moveTo>
                  <a:lnTo>
                    <a:pt x="125730" y="20319"/>
                  </a:lnTo>
                  <a:lnTo>
                    <a:pt x="122646" y="23166"/>
                  </a:lnTo>
                  <a:lnTo>
                    <a:pt x="123698" y="23113"/>
                  </a:lnTo>
                  <a:lnTo>
                    <a:pt x="128015" y="19430"/>
                  </a:lnTo>
                  <a:lnTo>
                    <a:pt x="128339" y="17815"/>
                  </a:lnTo>
                  <a:close/>
                </a:path>
                <a:path w="130175" h="27304">
                  <a:moveTo>
                    <a:pt x="114655" y="22859"/>
                  </a:moveTo>
                  <a:lnTo>
                    <a:pt x="112902" y="22859"/>
                  </a:lnTo>
                  <a:lnTo>
                    <a:pt x="114935" y="23113"/>
                  </a:lnTo>
                  <a:lnTo>
                    <a:pt x="115214" y="23113"/>
                  </a:lnTo>
                  <a:lnTo>
                    <a:pt x="114655" y="22859"/>
                  </a:lnTo>
                  <a:close/>
                </a:path>
                <a:path w="130175" h="27304">
                  <a:moveTo>
                    <a:pt x="112902" y="22859"/>
                  </a:moveTo>
                  <a:lnTo>
                    <a:pt x="101600" y="22859"/>
                  </a:lnTo>
                  <a:lnTo>
                    <a:pt x="103377" y="22986"/>
                  </a:lnTo>
                  <a:lnTo>
                    <a:pt x="113537" y="22986"/>
                  </a:lnTo>
                  <a:lnTo>
                    <a:pt x="112902" y="22859"/>
                  </a:lnTo>
                  <a:close/>
                </a:path>
                <a:path w="130175" h="27304">
                  <a:moveTo>
                    <a:pt x="129572" y="11264"/>
                  </a:moveTo>
                  <a:lnTo>
                    <a:pt x="129032" y="14350"/>
                  </a:lnTo>
                  <a:lnTo>
                    <a:pt x="128339" y="17815"/>
                  </a:lnTo>
                  <a:lnTo>
                    <a:pt x="128905" y="17271"/>
                  </a:lnTo>
                  <a:lnTo>
                    <a:pt x="130048" y="12572"/>
                  </a:lnTo>
                  <a:lnTo>
                    <a:pt x="129572" y="11264"/>
                  </a:lnTo>
                  <a:close/>
                </a:path>
                <a:path w="130175" h="27304">
                  <a:moveTo>
                    <a:pt x="126807" y="4054"/>
                  </a:moveTo>
                  <a:lnTo>
                    <a:pt x="127000" y="4190"/>
                  </a:lnTo>
                  <a:lnTo>
                    <a:pt x="129572" y="11264"/>
                  </a:lnTo>
                  <a:lnTo>
                    <a:pt x="129921" y="9270"/>
                  </a:lnTo>
                  <a:lnTo>
                    <a:pt x="127381" y="4317"/>
                  </a:lnTo>
                  <a:lnTo>
                    <a:pt x="126807" y="4054"/>
                  </a:lnTo>
                  <a:close/>
                </a:path>
                <a:path w="130175" h="27304">
                  <a:moveTo>
                    <a:pt x="23674" y="6057"/>
                  </a:moveTo>
                  <a:lnTo>
                    <a:pt x="22606" y="6095"/>
                  </a:lnTo>
                  <a:lnTo>
                    <a:pt x="24002" y="6095"/>
                  </a:lnTo>
                  <a:lnTo>
                    <a:pt x="23674" y="6057"/>
                  </a:lnTo>
                  <a:close/>
                </a:path>
                <a:path w="130175" h="27304">
                  <a:moveTo>
                    <a:pt x="49357" y="5633"/>
                  </a:moveTo>
                  <a:lnTo>
                    <a:pt x="44323" y="5968"/>
                  </a:lnTo>
                  <a:lnTo>
                    <a:pt x="26162" y="5968"/>
                  </a:lnTo>
                  <a:lnTo>
                    <a:pt x="23674" y="6057"/>
                  </a:lnTo>
                  <a:lnTo>
                    <a:pt x="24002" y="6095"/>
                  </a:lnTo>
                  <a:lnTo>
                    <a:pt x="108775" y="6095"/>
                  </a:lnTo>
                  <a:lnTo>
                    <a:pt x="109061" y="5714"/>
                  </a:lnTo>
                  <a:lnTo>
                    <a:pt x="48895" y="5714"/>
                  </a:lnTo>
                  <a:lnTo>
                    <a:pt x="49357" y="5633"/>
                  </a:lnTo>
                  <a:close/>
                </a:path>
                <a:path w="130175" h="27304">
                  <a:moveTo>
                    <a:pt x="44958" y="5841"/>
                  </a:moveTo>
                  <a:lnTo>
                    <a:pt x="40894" y="5968"/>
                  </a:lnTo>
                  <a:lnTo>
                    <a:pt x="44323" y="5968"/>
                  </a:lnTo>
                  <a:lnTo>
                    <a:pt x="44958" y="5841"/>
                  </a:lnTo>
                  <a:close/>
                </a:path>
                <a:path w="130175" h="27304">
                  <a:moveTo>
                    <a:pt x="50037" y="5587"/>
                  </a:moveTo>
                  <a:lnTo>
                    <a:pt x="49357" y="5633"/>
                  </a:lnTo>
                  <a:lnTo>
                    <a:pt x="48895" y="5714"/>
                  </a:lnTo>
                  <a:lnTo>
                    <a:pt x="50037" y="5587"/>
                  </a:lnTo>
                  <a:close/>
                </a:path>
                <a:path w="130175" h="27304">
                  <a:moveTo>
                    <a:pt x="109156" y="5587"/>
                  </a:moveTo>
                  <a:lnTo>
                    <a:pt x="50037" y="5587"/>
                  </a:lnTo>
                  <a:lnTo>
                    <a:pt x="48895" y="5714"/>
                  </a:lnTo>
                  <a:lnTo>
                    <a:pt x="109061" y="5714"/>
                  </a:lnTo>
                  <a:lnTo>
                    <a:pt x="109156" y="5587"/>
                  </a:lnTo>
                  <a:close/>
                </a:path>
                <a:path w="130175" h="27304">
                  <a:moveTo>
                    <a:pt x="68961" y="3555"/>
                  </a:moveTo>
                  <a:lnTo>
                    <a:pt x="63881" y="4063"/>
                  </a:lnTo>
                  <a:lnTo>
                    <a:pt x="54229" y="4825"/>
                  </a:lnTo>
                  <a:lnTo>
                    <a:pt x="53212" y="4952"/>
                  </a:lnTo>
                  <a:lnTo>
                    <a:pt x="49357" y="5633"/>
                  </a:lnTo>
                  <a:lnTo>
                    <a:pt x="50037" y="5587"/>
                  </a:lnTo>
                  <a:lnTo>
                    <a:pt x="109156" y="5587"/>
                  </a:lnTo>
                  <a:lnTo>
                    <a:pt x="110678" y="3682"/>
                  </a:lnTo>
                  <a:lnTo>
                    <a:pt x="68707" y="3682"/>
                  </a:lnTo>
                  <a:lnTo>
                    <a:pt x="68961" y="3555"/>
                  </a:lnTo>
                  <a:close/>
                </a:path>
                <a:path w="130175" h="27304">
                  <a:moveTo>
                    <a:pt x="120733" y="1263"/>
                  </a:moveTo>
                  <a:lnTo>
                    <a:pt x="126807" y="4054"/>
                  </a:lnTo>
                  <a:lnTo>
                    <a:pt x="123062" y="1396"/>
                  </a:lnTo>
                  <a:lnTo>
                    <a:pt x="120733" y="1263"/>
                  </a:lnTo>
                  <a:close/>
                </a:path>
                <a:path w="130175" h="27304">
                  <a:moveTo>
                    <a:pt x="114935" y="761"/>
                  </a:moveTo>
                  <a:lnTo>
                    <a:pt x="103335" y="765"/>
                  </a:lnTo>
                  <a:lnTo>
                    <a:pt x="101600" y="888"/>
                  </a:lnTo>
                  <a:lnTo>
                    <a:pt x="96138" y="888"/>
                  </a:lnTo>
                  <a:lnTo>
                    <a:pt x="94742" y="1015"/>
                  </a:lnTo>
                  <a:lnTo>
                    <a:pt x="91567" y="1396"/>
                  </a:lnTo>
                  <a:lnTo>
                    <a:pt x="91948" y="1396"/>
                  </a:lnTo>
                  <a:lnTo>
                    <a:pt x="83565" y="2031"/>
                  </a:lnTo>
                  <a:lnTo>
                    <a:pt x="83565" y="2158"/>
                  </a:lnTo>
                  <a:lnTo>
                    <a:pt x="79248" y="2539"/>
                  </a:lnTo>
                  <a:lnTo>
                    <a:pt x="68707" y="3682"/>
                  </a:lnTo>
                  <a:lnTo>
                    <a:pt x="110678" y="3682"/>
                  </a:lnTo>
                  <a:lnTo>
                    <a:pt x="112522" y="1396"/>
                  </a:lnTo>
                  <a:lnTo>
                    <a:pt x="114992" y="765"/>
                  </a:lnTo>
                  <a:close/>
                </a:path>
                <a:path w="130175" h="27304">
                  <a:moveTo>
                    <a:pt x="118533" y="1142"/>
                  </a:moveTo>
                  <a:lnTo>
                    <a:pt x="118110" y="1142"/>
                  </a:lnTo>
                  <a:lnTo>
                    <a:pt x="119125" y="1269"/>
                  </a:lnTo>
                  <a:lnTo>
                    <a:pt x="118533" y="1142"/>
                  </a:lnTo>
                  <a:close/>
                </a:path>
                <a:path w="130175" h="27304">
                  <a:moveTo>
                    <a:pt x="117983" y="0"/>
                  </a:moveTo>
                  <a:lnTo>
                    <a:pt x="114992" y="765"/>
                  </a:lnTo>
                  <a:lnTo>
                    <a:pt x="117348" y="888"/>
                  </a:lnTo>
                  <a:lnTo>
                    <a:pt x="119125" y="1269"/>
                  </a:lnTo>
                  <a:lnTo>
                    <a:pt x="120747" y="1269"/>
                  </a:lnTo>
                  <a:lnTo>
                    <a:pt x="118618" y="1142"/>
                  </a:lnTo>
                  <a:lnTo>
                    <a:pt x="120470" y="1142"/>
                  </a:lnTo>
                  <a:lnTo>
                    <a:pt x="117983" y="0"/>
                  </a:lnTo>
                  <a:close/>
                </a:path>
                <a:path w="130175" h="27304">
                  <a:moveTo>
                    <a:pt x="120470" y="1142"/>
                  </a:moveTo>
                  <a:lnTo>
                    <a:pt x="118618" y="1142"/>
                  </a:lnTo>
                  <a:lnTo>
                    <a:pt x="120733" y="1263"/>
                  </a:lnTo>
                  <a:lnTo>
                    <a:pt x="120470" y="1142"/>
                  </a:lnTo>
                  <a:close/>
                </a:path>
              </a:pathLst>
            </a:custGeom>
            <a:solidFill>
              <a:srgbClr val="0096FF"/>
            </a:solidFill>
          </p:spPr>
          <p:txBody>
            <a:bodyPr wrap="square" lIns="0" tIns="0" rIns="0" bIns="0" rtlCol="0"/>
            <a:lstStyle/>
            <a:p>
              <a:endParaRPr/>
            </a:p>
          </p:txBody>
        </p:sp>
        <p:pic>
          <p:nvPicPr>
            <p:cNvPr id="31" name="object 31"/>
            <p:cNvPicPr/>
            <p:nvPr/>
          </p:nvPicPr>
          <p:blipFill>
            <a:blip r:embed="rId23" cstate="print"/>
            <a:stretch>
              <a:fillRect/>
            </a:stretch>
          </p:blipFill>
          <p:spPr>
            <a:xfrm>
              <a:off x="1711997" y="3423221"/>
              <a:ext cx="553212" cy="592620"/>
            </a:xfrm>
            <a:prstGeom prst="rect">
              <a:avLst/>
            </a:prstGeom>
          </p:spPr>
        </p:pic>
        <p:pic>
          <p:nvPicPr>
            <p:cNvPr id="36" name="object 36"/>
            <p:cNvPicPr/>
            <p:nvPr/>
          </p:nvPicPr>
          <p:blipFill>
            <a:blip r:embed="rId24" cstate="print"/>
            <a:stretch>
              <a:fillRect/>
            </a:stretch>
          </p:blipFill>
          <p:spPr>
            <a:xfrm>
              <a:off x="4448428" y="3564013"/>
              <a:ext cx="1009904" cy="543103"/>
            </a:xfrm>
            <a:prstGeom prst="rect">
              <a:avLst/>
            </a:prstGeom>
          </p:spPr>
        </p:pic>
        <p:pic>
          <p:nvPicPr>
            <p:cNvPr id="40" name="object 40"/>
            <p:cNvPicPr/>
            <p:nvPr/>
          </p:nvPicPr>
          <p:blipFill>
            <a:blip r:embed="rId25" cstate="print"/>
            <a:stretch>
              <a:fillRect/>
            </a:stretch>
          </p:blipFill>
          <p:spPr>
            <a:xfrm>
              <a:off x="1466723" y="3735324"/>
              <a:ext cx="156792" cy="38607"/>
            </a:xfrm>
            <a:prstGeom prst="rect">
              <a:avLst/>
            </a:prstGeom>
          </p:spPr>
        </p:pic>
        <p:pic>
          <p:nvPicPr>
            <p:cNvPr id="41" name="object 41"/>
            <p:cNvPicPr/>
            <p:nvPr/>
          </p:nvPicPr>
          <p:blipFill>
            <a:blip r:embed="rId26" cstate="print"/>
            <a:stretch>
              <a:fillRect/>
            </a:stretch>
          </p:blipFill>
          <p:spPr>
            <a:xfrm>
              <a:off x="1482443" y="3842512"/>
              <a:ext cx="183796" cy="33705"/>
            </a:xfrm>
            <a:prstGeom prst="rect">
              <a:avLst/>
            </a:prstGeom>
          </p:spPr>
        </p:pic>
      </p:grpSp>
      <p:pic>
        <p:nvPicPr>
          <p:cNvPr id="48" name="object 48"/>
          <p:cNvPicPr/>
          <p:nvPr/>
        </p:nvPicPr>
        <p:blipFill>
          <a:blip r:embed="rId27" cstate="print"/>
          <a:stretch>
            <a:fillRect/>
          </a:stretch>
        </p:blipFill>
        <p:spPr>
          <a:xfrm>
            <a:off x="2729039" y="103503"/>
            <a:ext cx="181712" cy="122555"/>
          </a:xfrm>
          <a:prstGeom prst="rect">
            <a:avLst/>
          </a:prstGeom>
        </p:spPr>
      </p:pic>
      <p:grpSp>
        <p:nvGrpSpPr>
          <p:cNvPr id="42" name="Group 41">
            <a:extLst>
              <a:ext uri="{FF2B5EF4-FFF2-40B4-BE49-F238E27FC236}">
                <a16:creationId xmlns:a16="http://schemas.microsoft.com/office/drawing/2014/main" id="{00470E75-6EB0-A262-2BE1-075A2566A995}"/>
              </a:ext>
            </a:extLst>
          </p:cNvPr>
          <p:cNvGrpSpPr/>
          <p:nvPr/>
        </p:nvGrpSpPr>
        <p:grpSpPr>
          <a:xfrm>
            <a:off x="324801" y="2239137"/>
            <a:ext cx="5063301" cy="1091183"/>
            <a:chOff x="324801" y="2239137"/>
            <a:chExt cx="5063301" cy="1091183"/>
          </a:xfrm>
        </p:grpSpPr>
        <p:sp>
          <p:nvSpPr>
            <p:cNvPr id="5" name="object 5"/>
            <p:cNvSpPr/>
            <p:nvPr/>
          </p:nvSpPr>
          <p:spPr>
            <a:xfrm>
              <a:off x="375273" y="2893441"/>
              <a:ext cx="285751" cy="19051"/>
            </a:xfrm>
            <a:custGeom>
              <a:avLst/>
              <a:gdLst/>
              <a:ahLst/>
              <a:cxnLst/>
              <a:rect l="l" t="t" r="r" b="b"/>
              <a:pathLst>
                <a:path w="285750" h="19050">
                  <a:moveTo>
                    <a:pt x="285750" y="0"/>
                  </a:moveTo>
                  <a:lnTo>
                    <a:pt x="0" y="0"/>
                  </a:lnTo>
                  <a:lnTo>
                    <a:pt x="0" y="19050"/>
                  </a:lnTo>
                  <a:lnTo>
                    <a:pt x="285750" y="19050"/>
                  </a:lnTo>
                  <a:lnTo>
                    <a:pt x="285750" y="0"/>
                  </a:lnTo>
                  <a:close/>
                </a:path>
              </a:pathLst>
            </a:custGeom>
            <a:solidFill>
              <a:srgbClr val="000000"/>
            </a:solidFill>
          </p:spPr>
          <p:txBody>
            <a:bodyPr wrap="square" lIns="0" tIns="0" rIns="0" bIns="0" rtlCol="0"/>
            <a:lstStyle/>
            <a:p>
              <a:endParaRPr/>
            </a:p>
          </p:txBody>
        </p:sp>
        <p:sp>
          <p:nvSpPr>
            <p:cNvPr id="6" name="object 6"/>
            <p:cNvSpPr/>
            <p:nvPr/>
          </p:nvSpPr>
          <p:spPr>
            <a:xfrm>
              <a:off x="826503" y="2788286"/>
              <a:ext cx="604520" cy="238125"/>
            </a:xfrm>
            <a:custGeom>
              <a:avLst/>
              <a:gdLst/>
              <a:ahLst/>
              <a:cxnLst/>
              <a:rect l="l" t="t" r="r" b="b"/>
              <a:pathLst>
                <a:path w="604519" h="238125">
                  <a:moveTo>
                    <a:pt x="528459" y="0"/>
                  </a:moveTo>
                  <a:lnTo>
                    <a:pt x="525030" y="9651"/>
                  </a:lnTo>
                  <a:lnTo>
                    <a:pt x="538839" y="15652"/>
                  </a:lnTo>
                  <a:lnTo>
                    <a:pt x="550732" y="23939"/>
                  </a:lnTo>
                  <a:lnTo>
                    <a:pt x="574812" y="62277"/>
                  </a:lnTo>
                  <a:lnTo>
                    <a:pt x="582688" y="117856"/>
                  </a:lnTo>
                  <a:lnTo>
                    <a:pt x="581807" y="138884"/>
                  </a:lnTo>
                  <a:lnTo>
                    <a:pt x="568591" y="190372"/>
                  </a:lnTo>
                  <a:lnTo>
                    <a:pt x="539034" y="222448"/>
                  </a:lnTo>
                  <a:lnTo>
                    <a:pt x="525411" y="228472"/>
                  </a:lnTo>
                  <a:lnTo>
                    <a:pt x="528459" y="238125"/>
                  </a:lnTo>
                  <a:lnTo>
                    <a:pt x="573965" y="211139"/>
                  </a:lnTo>
                  <a:lnTo>
                    <a:pt x="599532" y="161242"/>
                  </a:lnTo>
                  <a:lnTo>
                    <a:pt x="604405" y="119125"/>
                  </a:lnTo>
                  <a:lnTo>
                    <a:pt x="603189" y="97287"/>
                  </a:lnTo>
                  <a:lnTo>
                    <a:pt x="593422" y="58564"/>
                  </a:lnTo>
                  <a:lnTo>
                    <a:pt x="560892" y="15208"/>
                  </a:lnTo>
                  <a:lnTo>
                    <a:pt x="545753" y="6187"/>
                  </a:lnTo>
                  <a:lnTo>
                    <a:pt x="528459" y="0"/>
                  </a:lnTo>
                  <a:close/>
                </a:path>
                <a:path w="604519" h="238125">
                  <a:moveTo>
                    <a:pt x="75971" y="0"/>
                  </a:moveTo>
                  <a:lnTo>
                    <a:pt x="30538" y="27039"/>
                  </a:lnTo>
                  <a:lnTo>
                    <a:pt x="4908" y="77104"/>
                  </a:lnTo>
                  <a:lnTo>
                    <a:pt x="0" y="119125"/>
                  </a:lnTo>
                  <a:lnTo>
                    <a:pt x="1223" y="141035"/>
                  </a:lnTo>
                  <a:lnTo>
                    <a:pt x="11015" y="179758"/>
                  </a:lnTo>
                  <a:lnTo>
                    <a:pt x="43472" y="222932"/>
                  </a:lnTo>
                  <a:lnTo>
                    <a:pt x="75971" y="238125"/>
                  </a:lnTo>
                  <a:lnTo>
                    <a:pt x="78981" y="228472"/>
                  </a:lnTo>
                  <a:lnTo>
                    <a:pt x="65405" y="222448"/>
                  </a:lnTo>
                  <a:lnTo>
                    <a:pt x="53692" y="214090"/>
                  </a:lnTo>
                  <a:lnTo>
                    <a:pt x="29667" y="175131"/>
                  </a:lnTo>
                  <a:lnTo>
                    <a:pt x="21717" y="117856"/>
                  </a:lnTo>
                  <a:lnTo>
                    <a:pt x="22600" y="97520"/>
                  </a:lnTo>
                  <a:lnTo>
                    <a:pt x="35852" y="47370"/>
                  </a:lnTo>
                  <a:lnTo>
                    <a:pt x="65620" y="15652"/>
                  </a:lnTo>
                  <a:lnTo>
                    <a:pt x="79362" y="9651"/>
                  </a:lnTo>
                  <a:lnTo>
                    <a:pt x="75971" y="0"/>
                  </a:lnTo>
                  <a:close/>
                </a:path>
              </a:pathLst>
            </a:custGeom>
            <a:solidFill>
              <a:srgbClr val="000000"/>
            </a:solidFill>
          </p:spPr>
          <p:txBody>
            <a:bodyPr wrap="square" lIns="0" tIns="0" rIns="0" bIns="0" rtlCol="0"/>
            <a:lstStyle/>
            <a:p>
              <a:endParaRPr/>
            </a:p>
          </p:txBody>
        </p:sp>
        <p:sp>
          <p:nvSpPr>
            <p:cNvPr id="7" name="object 7"/>
            <p:cNvSpPr txBox="1"/>
            <p:nvPr/>
          </p:nvSpPr>
          <p:spPr>
            <a:xfrm>
              <a:off x="324801" y="2523808"/>
              <a:ext cx="1426211" cy="533223"/>
            </a:xfrm>
            <a:prstGeom prst="rect">
              <a:avLst/>
            </a:prstGeom>
          </p:spPr>
          <p:txBody>
            <a:bodyPr vert="horz" wrap="square" lIns="0" tIns="15875" rIns="0" bIns="0" rtlCol="0">
              <a:spAutoFit/>
            </a:bodyPr>
            <a:lstStyle/>
            <a:p>
              <a:pPr marL="117472">
                <a:lnSpc>
                  <a:spcPts val="1951"/>
                </a:lnSpc>
                <a:spcBef>
                  <a:spcPts val="125"/>
                </a:spcBef>
              </a:pPr>
              <a:r>
                <a:rPr sz="2000" spc="35" dirty="0">
                  <a:latin typeface="Cambria Math"/>
                  <a:cs typeface="Cambria Math"/>
                </a:rPr>
                <a:t>∂</a:t>
              </a:r>
              <a:endParaRPr sz="2000" dirty="0">
                <a:latin typeface="Cambria Math"/>
                <a:cs typeface="Cambria Math"/>
              </a:endParaRPr>
            </a:p>
            <a:p>
              <a:pPr marL="50799">
                <a:lnSpc>
                  <a:spcPts val="1951"/>
                </a:lnSpc>
                <a:tabLst>
                  <a:tab pos="1195041" algn="l"/>
                </a:tabLst>
              </a:pPr>
              <a:r>
                <a:rPr sz="3000" spc="31" baseline="-37500" dirty="0">
                  <a:latin typeface="Cambria Math"/>
                  <a:cs typeface="Cambria Math"/>
                </a:rPr>
                <a:t>∂𝑏</a:t>
              </a:r>
              <a:r>
                <a:rPr sz="3000" spc="-165" baseline="-37500" dirty="0">
                  <a:latin typeface="Cambria Math"/>
                  <a:cs typeface="Cambria Math"/>
                </a:rPr>
                <a:t> </a:t>
              </a:r>
              <a:r>
                <a:rPr sz="2000" spc="11" dirty="0">
                  <a:latin typeface="Cambria Math"/>
                  <a:cs typeface="Cambria Math"/>
                </a:rPr>
                <a:t>𝐽</a:t>
              </a:r>
              <a:r>
                <a:rPr sz="2000" spc="440" dirty="0">
                  <a:latin typeface="Cambria Math"/>
                  <a:cs typeface="Cambria Math"/>
                </a:rPr>
                <a:t> </a:t>
              </a:r>
              <a:r>
                <a:rPr sz="2000" spc="11" dirty="0">
                  <a:latin typeface="Cambria Math"/>
                  <a:cs typeface="Cambria Math"/>
                </a:rPr>
                <a:t>𝑤,</a:t>
              </a:r>
              <a:r>
                <a:rPr sz="2000" spc="-105" dirty="0">
                  <a:latin typeface="Cambria Math"/>
                  <a:cs typeface="Cambria Math"/>
                </a:rPr>
                <a:t> </a:t>
              </a:r>
              <a:r>
                <a:rPr sz="2000" spc="11" dirty="0">
                  <a:latin typeface="Cambria Math"/>
                  <a:cs typeface="Cambria Math"/>
                </a:rPr>
                <a:t>𝑏	</a:t>
              </a:r>
              <a:r>
                <a:rPr sz="2000" spc="20" dirty="0">
                  <a:latin typeface="Cambria Math"/>
                  <a:cs typeface="Cambria Math"/>
                </a:rPr>
                <a:t>=</a:t>
              </a:r>
              <a:endParaRPr sz="2000" dirty="0">
                <a:latin typeface="Cambria Math"/>
                <a:cs typeface="Cambria Math"/>
              </a:endParaRPr>
            </a:p>
          </p:txBody>
        </p:sp>
        <p:sp>
          <p:nvSpPr>
            <p:cNvPr id="8" name="object 8"/>
            <p:cNvSpPr/>
            <p:nvPr/>
          </p:nvSpPr>
          <p:spPr>
            <a:xfrm>
              <a:off x="497078" y="2929636"/>
              <a:ext cx="201295" cy="265431"/>
            </a:xfrm>
            <a:custGeom>
              <a:avLst/>
              <a:gdLst/>
              <a:ahLst/>
              <a:cxnLst/>
              <a:rect l="l" t="t" r="r" b="b"/>
              <a:pathLst>
                <a:path w="201295" h="265430">
                  <a:moveTo>
                    <a:pt x="64007" y="45719"/>
                  </a:moveTo>
                  <a:lnTo>
                    <a:pt x="35496" y="45719"/>
                  </a:lnTo>
                  <a:lnTo>
                    <a:pt x="31165" y="52069"/>
                  </a:lnTo>
                  <a:lnTo>
                    <a:pt x="28994" y="54610"/>
                  </a:lnTo>
                  <a:lnTo>
                    <a:pt x="28409" y="55880"/>
                  </a:lnTo>
                  <a:lnTo>
                    <a:pt x="23723" y="63500"/>
                  </a:lnTo>
                  <a:lnTo>
                    <a:pt x="23406" y="64769"/>
                  </a:lnTo>
                  <a:lnTo>
                    <a:pt x="21602" y="68580"/>
                  </a:lnTo>
                  <a:lnTo>
                    <a:pt x="21450" y="68580"/>
                  </a:lnTo>
                  <a:lnTo>
                    <a:pt x="17411" y="77469"/>
                  </a:lnTo>
                  <a:lnTo>
                    <a:pt x="14884" y="82550"/>
                  </a:lnTo>
                  <a:lnTo>
                    <a:pt x="14592" y="83819"/>
                  </a:lnTo>
                  <a:lnTo>
                    <a:pt x="11277" y="92710"/>
                  </a:lnTo>
                  <a:lnTo>
                    <a:pt x="8762" y="101600"/>
                  </a:lnTo>
                  <a:lnTo>
                    <a:pt x="6146" y="110490"/>
                  </a:lnTo>
                  <a:lnTo>
                    <a:pt x="5994" y="110490"/>
                  </a:lnTo>
                  <a:lnTo>
                    <a:pt x="4533" y="118110"/>
                  </a:lnTo>
                  <a:lnTo>
                    <a:pt x="2654" y="128269"/>
                  </a:lnTo>
                  <a:lnTo>
                    <a:pt x="723" y="148590"/>
                  </a:lnTo>
                  <a:lnTo>
                    <a:pt x="427" y="154940"/>
                  </a:lnTo>
                  <a:lnTo>
                    <a:pt x="0" y="167640"/>
                  </a:lnTo>
                  <a:lnTo>
                    <a:pt x="76" y="186690"/>
                  </a:lnTo>
                  <a:lnTo>
                    <a:pt x="876" y="191769"/>
                  </a:lnTo>
                  <a:lnTo>
                    <a:pt x="3035" y="203200"/>
                  </a:lnTo>
                  <a:lnTo>
                    <a:pt x="3543" y="205740"/>
                  </a:lnTo>
                  <a:lnTo>
                    <a:pt x="6057" y="212090"/>
                  </a:lnTo>
                  <a:lnTo>
                    <a:pt x="9575" y="222250"/>
                  </a:lnTo>
                  <a:lnTo>
                    <a:pt x="9931" y="222250"/>
                  </a:lnTo>
                  <a:lnTo>
                    <a:pt x="12458" y="228600"/>
                  </a:lnTo>
                  <a:lnTo>
                    <a:pt x="17487" y="237490"/>
                  </a:lnTo>
                  <a:lnTo>
                    <a:pt x="21018" y="242569"/>
                  </a:lnTo>
                  <a:lnTo>
                    <a:pt x="21704" y="242569"/>
                  </a:lnTo>
                  <a:lnTo>
                    <a:pt x="29616" y="251460"/>
                  </a:lnTo>
                  <a:lnTo>
                    <a:pt x="31292" y="252730"/>
                  </a:lnTo>
                  <a:lnTo>
                    <a:pt x="37033" y="256540"/>
                  </a:lnTo>
                  <a:lnTo>
                    <a:pt x="38226" y="257810"/>
                  </a:lnTo>
                  <a:lnTo>
                    <a:pt x="47586" y="262890"/>
                  </a:lnTo>
                  <a:lnTo>
                    <a:pt x="48844" y="262890"/>
                  </a:lnTo>
                  <a:lnTo>
                    <a:pt x="55308" y="265430"/>
                  </a:lnTo>
                  <a:lnTo>
                    <a:pt x="71970" y="265430"/>
                  </a:lnTo>
                  <a:lnTo>
                    <a:pt x="80975" y="264160"/>
                  </a:lnTo>
                  <a:lnTo>
                    <a:pt x="94742" y="261619"/>
                  </a:lnTo>
                  <a:lnTo>
                    <a:pt x="97129" y="260350"/>
                  </a:lnTo>
                  <a:lnTo>
                    <a:pt x="107950" y="255269"/>
                  </a:lnTo>
                  <a:lnTo>
                    <a:pt x="118529" y="248919"/>
                  </a:lnTo>
                  <a:lnTo>
                    <a:pt x="119557" y="248919"/>
                  </a:lnTo>
                  <a:lnTo>
                    <a:pt x="123520" y="246380"/>
                  </a:lnTo>
                  <a:lnTo>
                    <a:pt x="61595" y="246380"/>
                  </a:lnTo>
                  <a:lnTo>
                    <a:pt x="58350" y="245110"/>
                  </a:lnTo>
                  <a:lnTo>
                    <a:pt x="56438" y="245110"/>
                  </a:lnTo>
                  <a:lnTo>
                    <a:pt x="47078" y="240030"/>
                  </a:lnTo>
                  <a:lnTo>
                    <a:pt x="48247" y="240030"/>
                  </a:lnTo>
                  <a:lnTo>
                    <a:pt x="46325" y="238760"/>
                  </a:lnTo>
                  <a:lnTo>
                    <a:pt x="44183" y="238760"/>
                  </a:lnTo>
                  <a:lnTo>
                    <a:pt x="36258" y="229869"/>
                  </a:lnTo>
                  <a:lnTo>
                    <a:pt x="36995" y="229869"/>
                  </a:lnTo>
                  <a:lnTo>
                    <a:pt x="35081" y="227330"/>
                  </a:lnTo>
                  <a:lnTo>
                    <a:pt x="34721" y="227330"/>
                  </a:lnTo>
                  <a:lnTo>
                    <a:pt x="30048" y="219710"/>
                  </a:lnTo>
                  <a:lnTo>
                    <a:pt x="30403" y="219710"/>
                  </a:lnTo>
                  <a:lnTo>
                    <a:pt x="27889" y="214630"/>
                  </a:lnTo>
                  <a:lnTo>
                    <a:pt x="28232" y="214630"/>
                  </a:lnTo>
                  <a:lnTo>
                    <a:pt x="24536" y="204469"/>
                  </a:lnTo>
                  <a:lnTo>
                    <a:pt x="23020" y="200660"/>
                  </a:lnTo>
                  <a:lnTo>
                    <a:pt x="22529" y="200660"/>
                  </a:lnTo>
                  <a:lnTo>
                    <a:pt x="22089" y="198509"/>
                  </a:lnTo>
                  <a:lnTo>
                    <a:pt x="22098" y="198119"/>
                  </a:lnTo>
                  <a:lnTo>
                    <a:pt x="20586" y="189230"/>
                  </a:lnTo>
                  <a:lnTo>
                    <a:pt x="20446" y="189230"/>
                  </a:lnTo>
                  <a:lnTo>
                    <a:pt x="19878" y="184150"/>
                  </a:lnTo>
                  <a:lnTo>
                    <a:pt x="19799" y="167640"/>
                  </a:lnTo>
                  <a:lnTo>
                    <a:pt x="20154" y="157480"/>
                  </a:lnTo>
                  <a:lnTo>
                    <a:pt x="20510" y="149860"/>
                  </a:lnTo>
                  <a:lnTo>
                    <a:pt x="22288" y="130810"/>
                  </a:lnTo>
                  <a:lnTo>
                    <a:pt x="23977" y="121919"/>
                  </a:lnTo>
                  <a:lnTo>
                    <a:pt x="25336" y="115569"/>
                  </a:lnTo>
                  <a:lnTo>
                    <a:pt x="25184" y="115569"/>
                  </a:lnTo>
                  <a:lnTo>
                    <a:pt x="27698" y="106680"/>
                  </a:lnTo>
                  <a:lnTo>
                    <a:pt x="30124" y="99060"/>
                  </a:lnTo>
                  <a:lnTo>
                    <a:pt x="33286" y="90169"/>
                  </a:lnTo>
                  <a:lnTo>
                    <a:pt x="33007" y="90169"/>
                  </a:lnTo>
                  <a:lnTo>
                    <a:pt x="35521" y="85090"/>
                  </a:lnTo>
                  <a:lnTo>
                    <a:pt x="39408" y="76200"/>
                  </a:lnTo>
                  <a:lnTo>
                    <a:pt x="39268" y="76200"/>
                  </a:lnTo>
                  <a:lnTo>
                    <a:pt x="41059" y="73660"/>
                  </a:lnTo>
                  <a:lnTo>
                    <a:pt x="40716" y="73660"/>
                  </a:lnTo>
                  <a:lnTo>
                    <a:pt x="45402" y="66040"/>
                  </a:lnTo>
                  <a:lnTo>
                    <a:pt x="46951" y="63500"/>
                  </a:lnTo>
                  <a:lnTo>
                    <a:pt x="51282" y="58419"/>
                  </a:lnTo>
                  <a:lnTo>
                    <a:pt x="50787" y="58419"/>
                  </a:lnTo>
                  <a:lnTo>
                    <a:pt x="53644" y="55880"/>
                  </a:lnTo>
                  <a:lnTo>
                    <a:pt x="52946" y="55880"/>
                  </a:lnTo>
                  <a:lnTo>
                    <a:pt x="57619" y="52069"/>
                  </a:lnTo>
                  <a:lnTo>
                    <a:pt x="57950" y="52069"/>
                  </a:lnTo>
                  <a:lnTo>
                    <a:pt x="60807" y="48260"/>
                  </a:lnTo>
                  <a:lnTo>
                    <a:pt x="61366" y="48260"/>
                  </a:lnTo>
                  <a:lnTo>
                    <a:pt x="64007" y="45719"/>
                  </a:lnTo>
                  <a:close/>
                </a:path>
                <a:path w="201295" h="265430">
                  <a:moveTo>
                    <a:pt x="58801" y="245110"/>
                  </a:moveTo>
                  <a:lnTo>
                    <a:pt x="61595" y="246380"/>
                  </a:lnTo>
                  <a:lnTo>
                    <a:pt x="68072" y="246380"/>
                  </a:lnTo>
                  <a:lnTo>
                    <a:pt x="68703" y="246201"/>
                  </a:lnTo>
                  <a:lnTo>
                    <a:pt x="58801" y="245110"/>
                  </a:lnTo>
                  <a:close/>
                </a:path>
                <a:path w="201295" h="265430">
                  <a:moveTo>
                    <a:pt x="68703" y="246201"/>
                  </a:moveTo>
                  <a:lnTo>
                    <a:pt x="68072" y="246380"/>
                  </a:lnTo>
                  <a:lnTo>
                    <a:pt x="70319" y="246380"/>
                  </a:lnTo>
                  <a:lnTo>
                    <a:pt x="68703" y="246201"/>
                  </a:lnTo>
                  <a:close/>
                </a:path>
                <a:path w="201295" h="265430">
                  <a:moveTo>
                    <a:pt x="77076" y="243840"/>
                  </a:moveTo>
                  <a:lnTo>
                    <a:pt x="68703" y="246201"/>
                  </a:lnTo>
                  <a:lnTo>
                    <a:pt x="70319" y="246380"/>
                  </a:lnTo>
                  <a:lnTo>
                    <a:pt x="123520" y="246380"/>
                  </a:lnTo>
                  <a:lnTo>
                    <a:pt x="125501" y="245110"/>
                  </a:lnTo>
                  <a:lnTo>
                    <a:pt x="76962" y="245110"/>
                  </a:lnTo>
                  <a:lnTo>
                    <a:pt x="77076" y="243840"/>
                  </a:lnTo>
                  <a:close/>
                </a:path>
                <a:path w="201295" h="265430">
                  <a:moveTo>
                    <a:pt x="55105" y="243840"/>
                  </a:moveTo>
                  <a:lnTo>
                    <a:pt x="56438" y="245110"/>
                  </a:lnTo>
                  <a:lnTo>
                    <a:pt x="58350" y="245110"/>
                  </a:lnTo>
                  <a:lnTo>
                    <a:pt x="55105" y="243840"/>
                  </a:lnTo>
                  <a:close/>
                </a:path>
                <a:path w="201295" h="265430">
                  <a:moveTo>
                    <a:pt x="90639" y="241300"/>
                  </a:moveTo>
                  <a:lnTo>
                    <a:pt x="76962" y="245110"/>
                  </a:lnTo>
                  <a:lnTo>
                    <a:pt x="125501" y="245110"/>
                  </a:lnTo>
                  <a:lnTo>
                    <a:pt x="127482" y="243840"/>
                  </a:lnTo>
                  <a:lnTo>
                    <a:pt x="128079" y="242569"/>
                  </a:lnTo>
                  <a:lnTo>
                    <a:pt x="88226" y="242569"/>
                  </a:lnTo>
                  <a:lnTo>
                    <a:pt x="90639" y="241300"/>
                  </a:lnTo>
                  <a:close/>
                </a:path>
                <a:path w="201295" h="265430">
                  <a:moveTo>
                    <a:pt x="109334" y="231140"/>
                  </a:moveTo>
                  <a:lnTo>
                    <a:pt x="98907" y="237490"/>
                  </a:lnTo>
                  <a:lnTo>
                    <a:pt x="88226" y="242569"/>
                  </a:lnTo>
                  <a:lnTo>
                    <a:pt x="128079" y="242569"/>
                  </a:lnTo>
                  <a:lnTo>
                    <a:pt x="138531" y="234950"/>
                  </a:lnTo>
                  <a:lnTo>
                    <a:pt x="139217" y="233680"/>
                  </a:lnTo>
                  <a:lnTo>
                    <a:pt x="140655" y="232410"/>
                  </a:lnTo>
                  <a:lnTo>
                    <a:pt x="108292" y="232410"/>
                  </a:lnTo>
                  <a:lnTo>
                    <a:pt x="109334" y="231140"/>
                  </a:lnTo>
                  <a:close/>
                </a:path>
                <a:path w="201295" h="265430">
                  <a:moveTo>
                    <a:pt x="42481" y="236219"/>
                  </a:moveTo>
                  <a:lnTo>
                    <a:pt x="44183" y="238760"/>
                  </a:lnTo>
                  <a:lnTo>
                    <a:pt x="46325" y="238760"/>
                  </a:lnTo>
                  <a:lnTo>
                    <a:pt x="42481" y="236219"/>
                  </a:lnTo>
                  <a:close/>
                </a:path>
                <a:path w="201295" h="265430">
                  <a:moveTo>
                    <a:pt x="146405" y="227330"/>
                  </a:moveTo>
                  <a:lnTo>
                    <a:pt x="116192" y="227330"/>
                  </a:lnTo>
                  <a:lnTo>
                    <a:pt x="108292" y="232410"/>
                  </a:lnTo>
                  <a:lnTo>
                    <a:pt x="140655" y="232410"/>
                  </a:lnTo>
                  <a:lnTo>
                    <a:pt x="146405" y="227330"/>
                  </a:lnTo>
                  <a:close/>
                </a:path>
                <a:path w="201295" h="265430">
                  <a:moveTo>
                    <a:pt x="34124" y="226060"/>
                  </a:moveTo>
                  <a:lnTo>
                    <a:pt x="34721" y="227330"/>
                  </a:lnTo>
                  <a:lnTo>
                    <a:pt x="35081" y="227330"/>
                  </a:lnTo>
                  <a:lnTo>
                    <a:pt x="34124" y="226060"/>
                  </a:lnTo>
                  <a:close/>
                </a:path>
                <a:path w="201295" h="265430">
                  <a:moveTo>
                    <a:pt x="126060" y="218440"/>
                  </a:moveTo>
                  <a:lnTo>
                    <a:pt x="115633" y="227330"/>
                  </a:lnTo>
                  <a:lnTo>
                    <a:pt x="146710" y="227330"/>
                  </a:lnTo>
                  <a:lnTo>
                    <a:pt x="154273" y="219710"/>
                  </a:lnTo>
                  <a:lnTo>
                    <a:pt x="125387" y="219710"/>
                  </a:lnTo>
                  <a:lnTo>
                    <a:pt x="126060" y="218440"/>
                  </a:lnTo>
                  <a:close/>
                </a:path>
                <a:path w="201295" h="265430">
                  <a:moveTo>
                    <a:pt x="166230" y="160019"/>
                  </a:moveTo>
                  <a:lnTo>
                    <a:pt x="157518" y="177800"/>
                  </a:lnTo>
                  <a:lnTo>
                    <a:pt x="153911" y="184150"/>
                  </a:lnTo>
                  <a:lnTo>
                    <a:pt x="154266" y="184150"/>
                  </a:lnTo>
                  <a:lnTo>
                    <a:pt x="146342" y="196850"/>
                  </a:lnTo>
                  <a:lnTo>
                    <a:pt x="146939" y="196850"/>
                  </a:lnTo>
                  <a:lnTo>
                    <a:pt x="141541" y="203200"/>
                  </a:lnTo>
                  <a:lnTo>
                    <a:pt x="142367" y="203200"/>
                  </a:lnTo>
                  <a:lnTo>
                    <a:pt x="132283" y="213360"/>
                  </a:lnTo>
                  <a:lnTo>
                    <a:pt x="132600" y="213360"/>
                  </a:lnTo>
                  <a:lnTo>
                    <a:pt x="125387" y="219710"/>
                  </a:lnTo>
                  <a:lnTo>
                    <a:pt x="154273" y="219710"/>
                  </a:lnTo>
                  <a:lnTo>
                    <a:pt x="156794" y="217169"/>
                  </a:lnTo>
                  <a:lnTo>
                    <a:pt x="157594" y="215900"/>
                  </a:lnTo>
                  <a:lnTo>
                    <a:pt x="163004" y="208280"/>
                  </a:lnTo>
                  <a:lnTo>
                    <a:pt x="171538" y="194310"/>
                  </a:lnTo>
                  <a:lnTo>
                    <a:pt x="171881" y="193040"/>
                  </a:lnTo>
                  <a:lnTo>
                    <a:pt x="175488" y="186690"/>
                  </a:lnTo>
                  <a:lnTo>
                    <a:pt x="184061" y="170180"/>
                  </a:lnTo>
                  <a:lnTo>
                    <a:pt x="187731" y="161290"/>
                  </a:lnTo>
                  <a:lnTo>
                    <a:pt x="165950" y="161290"/>
                  </a:lnTo>
                  <a:lnTo>
                    <a:pt x="166230" y="160019"/>
                  </a:lnTo>
                  <a:close/>
                </a:path>
                <a:path w="201295" h="265430">
                  <a:moveTo>
                    <a:pt x="22009" y="198119"/>
                  </a:moveTo>
                  <a:lnTo>
                    <a:pt x="22529" y="200660"/>
                  </a:lnTo>
                  <a:lnTo>
                    <a:pt x="22164" y="198509"/>
                  </a:lnTo>
                  <a:lnTo>
                    <a:pt x="22009" y="198119"/>
                  </a:lnTo>
                  <a:close/>
                </a:path>
                <a:path w="201295" h="265430">
                  <a:moveTo>
                    <a:pt x="22164" y="198509"/>
                  </a:moveTo>
                  <a:lnTo>
                    <a:pt x="22529" y="200660"/>
                  </a:lnTo>
                  <a:lnTo>
                    <a:pt x="23020" y="200660"/>
                  </a:lnTo>
                  <a:lnTo>
                    <a:pt x="22164" y="198509"/>
                  </a:lnTo>
                  <a:close/>
                </a:path>
                <a:path w="201295" h="265430">
                  <a:moveTo>
                    <a:pt x="22098" y="198119"/>
                  </a:moveTo>
                  <a:lnTo>
                    <a:pt x="22164" y="198509"/>
                  </a:lnTo>
                  <a:lnTo>
                    <a:pt x="22098" y="198119"/>
                  </a:lnTo>
                  <a:close/>
                </a:path>
                <a:path w="201295" h="265430">
                  <a:moveTo>
                    <a:pt x="20370" y="187960"/>
                  </a:moveTo>
                  <a:lnTo>
                    <a:pt x="20446" y="189230"/>
                  </a:lnTo>
                  <a:lnTo>
                    <a:pt x="20586" y="189230"/>
                  </a:lnTo>
                  <a:lnTo>
                    <a:pt x="20370" y="187960"/>
                  </a:lnTo>
                  <a:close/>
                </a:path>
                <a:path w="201295" h="265430">
                  <a:moveTo>
                    <a:pt x="19823" y="183667"/>
                  </a:moveTo>
                  <a:lnTo>
                    <a:pt x="19824" y="184150"/>
                  </a:lnTo>
                  <a:lnTo>
                    <a:pt x="19823" y="183667"/>
                  </a:lnTo>
                  <a:close/>
                </a:path>
                <a:path w="201295" h="265430">
                  <a:moveTo>
                    <a:pt x="19822" y="182880"/>
                  </a:moveTo>
                  <a:lnTo>
                    <a:pt x="19823" y="183667"/>
                  </a:lnTo>
                  <a:lnTo>
                    <a:pt x="19822" y="182880"/>
                  </a:lnTo>
                  <a:close/>
                </a:path>
                <a:path w="201295" h="265430">
                  <a:moveTo>
                    <a:pt x="169151" y="153669"/>
                  </a:moveTo>
                  <a:lnTo>
                    <a:pt x="165950" y="161290"/>
                  </a:lnTo>
                  <a:lnTo>
                    <a:pt x="187731" y="161290"/>
                  </a:lnTo>
                  <a:lnTo>
                    <a:pt x="190531" y="154940"/>
                  </a:lnTo>
                  <a:lnTo>
                    <a:pt x="169011" y="154940"/>
                  </a:lnTo>
                  <a:lnTo>
                    <a:pt x="169151" y="153669"/>
                  </a:lnTo>
                  <a:close/>
                </a:path>
                <a:path w="201295" h="265430">
                  <a:moveTo>
                    <a:pt x="177190" y="130810"/>
                  </a:moveTo>
                  <a:lnTo>
                    <a:pt x="174726" y="139700"/>
                  </a:lnTo>
                  <a:lnTo>
                    <a:pt x="175094" y="139700"/>
                  </a:lnTo>
                  <a:lnTo>
                    <a:pt x="169011" y="154940"/>
                  </a:lnTo>
                  <a:lnTo>
                    <a:pt x="190531" y="154940"/>
                  </a:lnTo>
                  <a:lnTo>
                    <a:pt x="193890" y="147319"/>
                  </a:lnTo>
                  <a:lnTo>
                    <a:pt x="196824" y="137160"/>
                  </a:lnTo>
                  <a:lnTo>
                    <a:pt x="197040" y="135890"/>
                  </a:lnTo>
                  <a:lnTo>
                    <a:pt x="197772" y="132080"/>
                  </a:lnTo>
                  <a:lnTo>
                    <a:pt x="176987" y="132080"/>
                  </a:lnTo>
                  <a:lnTo>
                    <a:pt x="177190" y="130810"/>
                  </a:lnTo>
                  <a:close/>
                </a:path>
                <a:path w="201295" h="265430">
                  <a:moveTo>
                    <a:pt x="22410" y="130810"/>
                  </a:moveTo>
                  <a:lnTo>
                    <a:pt x="22186" y="132080"/>
                  </a:lnTo>
                  <a:lnTo>
                    <a:pt x="22410" y="130810"/>
                  </a:lnTo>
                  <a:close/>
                </a:path>
                <a:path w="201295" h="265430">
                  <a:moveTo>
                    <a:pt x="200955" y="113030"/>
                  </a:moveTo>
                  <a:lnTo>
                    <a:pt x="180428" y="113030"/>
                  </a:lnTo>
                  <a:lnTo>
                    <a:pt x="180289" y="114300"/>
                  </a:lnTo>
                  <a:lnTo>
                    <a:pt x="179095" y="120650"/>
                  </a:lnTo>
                  <a:lnTo>
                    <a:pt x="176987" y="132080"/>
                  </a:lnTo>
                  <a:lnTo>
                    <a:pt x="197772" y="132080"/>
                  </a:lnTo>
                  <a:lnTo>
                    <a:pt x="199237" y="124460"/>
                  </a:lnTo>
                  <a:lnTo>
                    <a:pt x="200761" y="115569"/>
                  </a:lnTo>
                  <a:lnTo>
                    <a:pt x="200952" y="114300"/>
                  </a:lnTo>
                  <a:lnTo>
                    <a:pt x="200955" y="113030"/>
                  </a:lnTo>
                  <a:close/>
                </a:path>
                <a:path w="201295" h="265430">
                  <a:moveTo>
                    <a:pt x="180288" y="113834"/>
                  </a:moveTo>
                  <a:lnTo>
                    <a:pt x="180206" y="114300"/>
                  </a:lnTo>
                  <a:lnTo>
                    <a:pt x="180288" y="113834"/>
                  </a:lnTo>
                  <a:close/>
                </a:path>
                <a:path w="201295" h="265430">
                  <a:moveTo>
                    <a:pt x="180428" y="113030"/>
                  </a:moveTo>
                  <a:lnTo>
                    <a:pt x="180288" y="113834"/>
                  </a:lnTo>
                  <a:lnTo>
                    <a:pt x="180289" y="114300"/>
                  </a:lnTo>
                  <a:lnTo>
                    <a:pt x="180428" y="113030"/>
                  </a:lnTo>
                  <a:close/>
                </a:path>
                <a:path w="201295" h="265430">
                  <a:moveTo>
                    <a:pt x="201066" y="99060"/>
                  </a:moveTo>
                  <a:lnTo>
                    <a:pt x="180174" y="99060"/>
                  </a:lnTo>
                  <a:lnTo>
                    <a:pt x="180289" y="100330"/>
                  </a:lnTo>
                  <a:lnTo>
                    <a:pt x="180288" y="113834"/>
                  </a:lnTo>
                  <a:lnTo>
                    <a:pt x="180428" y="113030"/>
                  </a:lnTo>
                  <a:lnTo>
                    <a:pt x="200955" y="113030"/>
                  </a:lnTo>
                  <a:lnTo>
                    <a:pt x="201066" y="99060"/>
                  </a:lnTo>
                  <a:close/>
                </a:path>
                <a:path w="201295" h="265430">
                  <a:moveTo>
                    <a:pt x="180184" y="99618"/>
                  </a:moveTo>
                  <a:lnTo>
                    <a:pt x="180197" y="100330"/>
                  </a:lnTo>
                  <a:lnTo>
                    <a:pt x="180184" y="99618"/>
                  </a:lnTo>
                  <a:close/>
                </a:path>
                <a:path w="201295" h="265430">
                  <a:moveTo>
                    <a:pt x="199592" y="87630"/>
                  </a:moveTo>
                  <a:lnTo>
                    <a:pt x="178422" y="87630"/>
                  </a:lnTo>
                  <a:lnTo>
                    <a:pt x="178612" y="88900"/>
                  </a:lnTo>
                  <a:lnTo>
                    <a:pt x="180184" y="99618"/>
                  </a:lnTo>
                  <a:lnTo>
                    <a:pt x="180174" y="99060"/>
                  </a:lnTo>
                  <a:lnTo>
                    <a:pt x="201066" y="99060"/>
                  </a:lnTo>
                  <a:lnTo>
                    <a:pt x="200977" y="97790"/>
                  </a:lnTo>
                  <a:lnTo>
                    <a:pt x="199592" y="87630"/>
                  </a:lnTo>
                  <a:close/>
                </a:path>
                <a:path w="201295" h="265430">
                  <a:moveTo>
                    <a:pt x="178603" y="88861"/>
                  </a:moveTo>
                  <a:close/>
                </a:path>
                <a:path w="201295" h="265430">
                  <a:moveTo>
                    <a:pt x="198496" y="81280"/>
                  </a:moveTo>
                  <a:lnTo>
                    <a:pt x="176745" y="81280"/>
                  </a:lnTo>
                  <a:lnTo>
                    <a:pt x="178603" y="88861"/>
                  </a:lnTo>
                  <a:lnTo>
                    <a:pt x="178422" y="87630"/>
                  </a:lnTo>
                  <a:lnTo>
                    <a:pt x="199592" y="87630"/>
                  </a:lnTo>
                  <a:lnTo>
                    <a:pt x="199072" y="83819"/>
                  </a:lnTo>
                  <a:lnTo>
                    <a:pt x="198496" y="81280"/>
                  </a:lnTo>
                  <a:close/>
                </a:path>
                <a:path w="201295" h="265430">
                  <a:moveTo>
                    <a:pt x="195683" y="71119"/>
                  </a:moveTo>
                  <a:lnTo>
                    <a:pt x="173393" y="71119"/>
                  </a:lnTo>
                  <a:lnTo>
                    <a:pt x="177025" y="82550"/>
                  </a:lnTo>
                  <a:lnTo>
                    <a:pt x="176745" y="81280"/>
                  </a:lnTo>
                  <a:lnTo>
                    <a:pt x="198496" y="81280"/>
                  </a:lnTo>
                  <a:lnTo>
                    <a:pt x="197345" y="76200"/>
                  </a:lnTo>
                  <a:lnTo>
                    <a:pt x="197040" y="74930"/>
                  </a:lnTo>
                  <a:lnTo>
                    <a:pt x="195683" y="71119"/>
                  </a:lnTo>
                  <a:close/>
                </a:path>
                <a:path w="201295" h="265430">
                  <a:moveTo>
                    <a:pt x="171052" y="65205"/>
                  </a:moveTo>
                  <a:lnTo>
                    <a:pt x="173494" y="72390"/>
                  </a:lnTo>
                  <a:lnTo>
                    <a:pt x="173393" y="71119"/>
                  </a:lnTo>
                  <a:lnTo>
                    <a:pt x="195683" y="71119"/>
                  </a:lnTo>
                  <a:lnTo>
                    <a:pt x="193873" y="66040"/>
                  </a:lnTo>
                  <a:lnTo>
                    <a:pt x="171526" y="66040"/>
                  </a:lnTo>
                  <a:lnTo>
                    <a:pt x="171052" y="65205"/>
                  </a:lnTo>
                  <a:close/>
                </a:path>
                <a:path w="201295" h="265430">
                  <a:moveTo>
                    <a:pt x="45504" y="66040"/>
                  </a:moveTo>
                  <a:lnTo>
                    <a:pt x="44780" y="67310"/>
                  </a:lnTo>
                  <a:lnTo>
                    <a:pt x="45504" y="66040"/>
                  </a:lnTo>
                  <a:close/>
                </a:path>
                <a:path w="201295" h="265430">
                  <a:moveTo>
                    <a:pt x="170903" y="64769"/>
                  </a:moveTo>
                  <a:lnTo>
                    <a:pt x="171052" y="65205"/>
                  </a:lnTo>
                  <a:lnTo>
                    <a:pt x="171526" y="66040"/>
                  </a:lnTo>
                  <a:lnTo>
                    <a:pt x="170903" y="64769"/>
                  </a:lnTo>
                  <a:close/>
                </a:path>
                <a:path w="201295" h="265430">
                  <a:moveTo>
                    <a:pt x="193420" y="64769"/>
                  </a:moveTo>
                  <a:lnTo>
                    <a:pt x="170903" y="64769"/>
                  </a:lnTo>
                  <a:lnTo>
                    <a:pt x="171526" y="66040"/>
                  </a:lnTo>
                  <a:lnTo>
                    <a:pt x="193873" y="66040"/>
                  </a:lnTo>
                  <a:lnTo>
                    <a:pt x="193420" y="64769"/>
                  </a:lnTo>
                  <a:close/>
                </a:path>
                <a:path w="201295" h="265430">
                  <a:moveTo>
                    <a:pt x="191378" y="58419"/>
                  </a:moveTo>
                  <a:lnTo>
                    <a:pt x="167195" y="58419"/>
                  </a:lnTo>
                  <a:lnTo>
                    <a:pt x="171052" y="65205"/>
                  </a:lnTo>
                  <a:lnTo>
                    <a:pt x="170903" y="64769"/>
                  </a:lnTo>
                  <a:lnTo>
                    <a:pt x="193420" y="64769"/>
                  </a:lnTo>
                  <a:lnTo>
                    <a:pt x="191378" y="58419"/>
                  </a:lnTo>
                  <a:close/>
                </a:path>
                <a:path w="201295" h="265430">
                  <a:moveTo>
                    <a:pt x="185991" y="48260"/>
                  </a:moveTo>
                  <a:lnTo>
                    <a:pt x="159575" y="48260"/>
                  </a:lnTo>
                  <a:lnTo>
                    <a:pt x="165366" y="55880"/>
                  </a:lnTo>
                  <a:lnTo>
                    <a:pt x="165061" y="55880"/>
                  </a:lnTo>
                  <a:lnTo>
                    <a:pt x="167640" y="59690"/>
                  </a:lnTo>
                  <a:lnTo>
                    <a:pt x="167195" y="58419"/>
                  </a:lnTo>
                  <a:lnTo>
                    <a:pt x="191378" y="58419"/>
                  </a:lnTo>
                  <a:lnTo>
                    <a:pt x="190969" y="57150"/>
                  </a:lnTo>
                  <a:lnTo>
                    <a:pt x="190296" y="55880"/>
                  </a:lnTo>
                  <a:lnTo>
                    <a:pt x="185991" y="48260"/>
                  </a:lnTo>
                  <a:close/>
                </a:path>
                <a:path w="201295" h="265430">
                  <a:moveTo>
                    <a:pt x="61366" y="48260"/>
                  </a:moveTo>
                  <a:lnTo>
                    <a:pt x="60807" y="48260"/>
                  </a:lnTo>
                  <a:lnTo>
                    <a:pt x="60045" y="49530"/>
                  </a:lnTo>
                  <a:lnTo>
                    <a:pt x="61366" y="48260"/>
                  </a:lnTo>
                  <a:close/>
                </a:path>
                <a:path w="201295" h="265430">
                  <a:moveTo>
                    <a:pt x="183851" y="44450"/>
                  </a:moveTo>
                  <a:lnTo>
                    <a:pt x="156717" y="44450"/>
                  </a:lnTo>
                  <a:lnTo>
                    <a:pt x="160337" y="48260"/>
                  </a:lnTo>
                  <a:lnTo>
                    <a:pt x="185699" y="48260"/>
                  </a:lnTo>
                  <a:lnTo>
                    <a:pt x="183851" y="44450"/>
                  </a:lnTo>
                  <a:close/>
                </a:path>
                <a:path w="201295" h="265430">
                  <a:moveTo>
                    <a:pt x="44272" y="36830"/>
                  </a:moveTo>
                  <a:lnTo>
                    <a:pt x="39585" y="41910"/>
                  </a:lnTo>
                  <a:lnTo>
                    <a:pt x="38925" y="41910"/>
                  </a:lnTo>
                  <a:lnTo>
                    <a:pt x="36029" y="45719"/>
                  </a:lnTo>
                  <a:lnTo>
                    <a:pt x="64007" y="45719"/>
                  </a:lnTo>
                  <a:lnTo>
                    <a:pt x="63626" y="46990"/>
                  </a:lnTo>
                  <a:lnTo>
                    <a:pt x="66522" y="44450"/>
                  </a:lnTo>
                  <a:lnTo>
                    <a:pt x="70878" y="40640"/>
                  </a:lnTo>
                  <a:lnTo>
                    <a:pt x="71685" y="40640"/>
                  </a:lnTo>
                  <a:lnTo>
                    <a:pt x="73113" y="39369"/>
                  </a:lnTo>
                  <a:lnTo>
                    <a:pt x="73571" y="39369"/>
                  </a:lnTo>
                  <a:lnTo>
                    <a:pt x="75247" y="38100"/>
                  </a:lnTo>
                  <a:lnTo>
                    <a:pt x="44030" y="38100"/>
                  </a:lnTo>
                  <a:lnTo>
                    <a:pt x="44272" y="36830"/>
                  </a:lnTo>
                  <a:close/>
                </a:path>
                <a:path w="201295" h="265430">
                  <a:moveTo>
                    <a:pt x="179933" y="39369"/>
                  </a:moveTo>
                  <a:lnTo>
                    <a:pt x="134365" y="39369"/>
                  </a:lnTo>
                  <a:lnTo>
                    <a:pt x="132942" y="39944"/>
                  </a:lnTo>
                  <a:lnTo>
                    <a:pt x="134340" y="40640"/>
                  </a:lnTo>
                  <a:lnTo>
                    <a:pt x="150495" y="40640"/>
                  </a:lnTo>
                  <a:lnTo>
                    <a:pt x="154089" y="41910"/>
                  </a:lnTo>
                  <a:lnTo>
                    <a:pt x="152615" y="41910"/>
                  </a:lnTo>
                  <a:lnTo>
                    <a:pt x="157657" y="45719"/>
                  </a:lnTo>
                  <a:lnTo>
                    <a:pt x="156717" y="44450"/>
                  </a:lnTo>
                  <a:lnTo>
                    <a:pt x="183851" y="44450"/>
                  </a:lnTo>
                  <a:lnTo>
                    <a:pt x="183235" y="43180"/>
                  </a:lnTo>
                  <a:lnTo>
                    <a:pt x="182803" y="43180"/>
                  </a:lnTo>
                  <a:lnTo>
                    <a:pt x="179933" y="39369"/>
                  </a:lnTo>
                  <a:close/>
                </a:path>
                <a:path w="201295" h="265430">
                  <a:moveTo>
                    <a:pt x="71685" y="40640"/>
                  </a:moveTo>
                  <a:lnTo>
                    <a:pt x="70878" y="40640"/>
                  </a:lnTo>
                  <a:lnTo>
                    <a:pt x="70256" y="41910"/>
                  </a:lnTo>
                  <a:lnTo>
                    <a:pt x="71685" y="40640"/>
                  </a:lnTo>
                  <a:close/>
                </a:path>
                <a:path w="201295" h="265430">
                  <a:moveTo>
                    <a:pt x="150495" y="40640"/>
                  </a:moveTo>
                  <a:lnTo>
                    <a:pt x="148539" y="40640"/>
                  </a:lnTo>
                  <a:lnTo>
                    <a:pt x="153936" y="41910"/>
                  </a:lnTo>
                  <a:lnTo>
                    <a:pt x="150495" y="40640"/>
                  </a:lnTo>
                  <a:close/>
                </a:path>
                <a:path w="201295" h="265430">
                  <a:moveTo>
                    <a:pt x="128701" y="20319"/>
                  </a:moveTo>
                  <a:lnTo>
                    <a:pt x="122135" y="20319"/>
                  </a:lnTo>
                  <a:lnTo>
                    <a:pt x="117690" y="25400"/>
                  </a:lnTo>
                  <a:lnTo>
                    <a:pt x="117690" y="35560"/>
                  </a:lnTo>
                  <a:lnTo>
                    <a:pt x="122135" y="40640"/>
                  </a:lnTo>
                  <a:lnTo>
                    <a:pt x="128701" y="40640"/>
                  </a:lnTo>
                  <a:lnTo>
                    <a:pt x="132283" y="39616"/>
                  </a:lnTo>
                  <a:lnTo>
                    <a:pt x="131787" y="39369"/>
                  </a:lnTo>
                  <a:lnTo>
                    <a:pt x="179933" y="39369"/>
                  </a:lnTo>
                  <a:lnTo>
                    <a:pt x="177063" y="35560"/>
                  </a:lnTo>
                  <a:lnTo>
                    <a:pt x="153581" y="35560"/>
                  </a:lnTo>
                  <a:lnTo>
                    <a:pt x="148653" y="33019"/>
                  </a:lnTo>
                  <a:lnTo>
                    <a:pt x="146659" y="29210"/>
                  </a:lnTo>
                  <a:lnTo>
                    <a:pt x="142875" y="21590"/>
                  </a:lnTo>
                  <a:lnTo>
                    <a:pt x="124256" y="21590"/>
                  </a:lnTo>
                  <a:lnTo>
                    <a:pt x="128701" y="20319"/>
                  </a:lnTo>
                  <a:close/>
                </a:path>
                <a:path w="201295" h="265430">
                  <a:moveTo>
                    <a:pt x="132544" y="39746"/>
                  </a:moveTo>
                  <a:lnTo>
                    <a:pt x="129425" y="40640"/>
                  </a:lnTo>
                  <a:lnTo>
                    <a:pt x="131216" y="40640"/>
                  </a:lnTo>
                  <a:lnTo>
                    <a:pt x="132942" y="39944"/>
                  </a:lnTo>
                  <a:lnTo>
                    <a:pt x="132544" y="39746"/>
                  </a:lnTo>
                  <a:close/>
                </a:path>
                <a:path w="201295" h="265430">
                  <a:moveTo>
                    <a:pt x="134365" y="39369"/>
                  </a:moveTo>
                  <a:lnTo>
                    <a:pt x="133858" y="39369"/>
                  </a:lnTo>
                  <a:lnTo>
                    <a:pt x="132544" y="39746"/>
                  </a:lnTo>
                  <a:lnTo>
                    <a:pt x="132942" y="39944"/>
                  </a:lnTo>
                  <a:lnTo>
                    <a:pt x="134365" y="39369"/>
                  </a:lnTo>
                  <a:close/>
                </a:path>
                <a:path w="201295" h="265430">
                  <a:moveTo>
                    <a:pt x="133858" y="39369"/>
                  </a:moveTo>
                  <a:lnTo>
                    <a:pt x="133146" y="39369"/>
                  </a:lnTo>
                  <a:lnTo>
                    <a:pt x="132283" y="39616"/>
                  </a:lnTo>
                  <a:lnTo>
                    <a:pt x="132544" y="39746"/>
                  </a:lnTo>
                  <a:lnTo>
                    <a:pt x="133858" y="39369"/>
                  </a:lnTo>
                  <a:close/>
                </a:path>
                <a:path w="201295" h="265430">
                  <a:moveTo>
                    <a:pt x="133146" y="39369"/>
                  </a:moveTo>
                  <a:lnTo>
                    <a:pt x="131787" y="39369"/>
                  </a:lnTo>
                  <a:lnTo>
                    <a:pt x="132283" y="39616"/>
                  </a:lnTo>
                  <a:lnTo>
                    <a:pt x="133146" y="39369"/>
                  </a:lnTo>
                  <a:close/>
                </a:path>
                <a:path w="201295" h="265430">
                  <a:moveTo>
                    <a:pt x="86516" y="30295"/>
                  </a:moveTo>
                  <a:lnTo>
                    <a:pt x="85940" y="30480"/>
                  </a:lnTo>
                  <a:lnTo>
                    <a:pt x="51587" y="30480"/>
                  </a:lnTo>
                  <a:lnTo>
                    <a:pt x="47612" y="34290"/>
                  </a:lnTo>
                  <a:lnTo>
                    <a:pt x="46926" y="34290"/>
                  </a:lnTo>
                  <a:lnTo>
                    <a:pt x="44030" y="38100"/>
                  </a:lnTo>
                  <a:lnTo>
                    <a:pt x="75247" y="38100"/>
                  </a:lnTo>
                  <a:lnTo>
                    <a:pt x="78600" y="35560"/>
                  </a:lnTo>
                  <a:lnTo>
                    <a:pt x="79997" y="35560"/>
                  </a:lnTo>
                  <a:lnTo>
                    <a:pt x="84315" y="33019"/>
                  </a:lnTo>
                  <a:lnTo>
                    <a:pt x="86334" y="30480"/>
                  </a:lnTo>
                  <a:lnTo>
                    <a:pt x="86516" y="30295"/>
                  </a:lnTo>
                  <a:close/>
                </a:path>
                <a:path w="201295" h="265430">
                  <a:moveTo>
                    <a:pt x="79476" y="35560"/>
                  </a:moveTo>
                  <a:lnTo>
                    <a:pt x="78600" y="35560"/>
                  </a:lnTo>
                  <a:lnTo>
                    <a:pt x="77317" y="36830"/>
                  </a:lnTo>
                  <a:lnTo>
                    <a:pt x="79476" y="35560"/>
                  </a:lnTo>
                  <a:close/>
                </a:path>
                <a:path w="201295" h="265430">
                  <a:moveTo>
                    <a:pt x="139661" y="15240"/>
                  </a:moveTo>
                  <a:lnTo>
                    <a:pt x="142951" y="21590"/>
                  </a:lnTo>
                  <a:lnTo>
                    <a:pt x="146659" y="29210"/>
                  </a:lnTo>
                  <a:lnTo>
                    <a:pt x="148653" y="33019"/>
                  </a:lnTo>
                  <a:lnTo>
                    <a:pt x="153581" y="35560"/>
                  </a:lnTo>
                  <a:lnTo>
                    <a:pt x="161925" y="31750"/>
                  </a:lnTo>
                  <a:lnTo>
                    <a:pt x="163829" y="26669"/>
                  </a:lnTo>
                  <a:lnTo>
                    <a:pt x="162039" y="22860"/>
                  </a:lnTo>
                  <a:lnTo>
                    <a:pt x="161535" y="21549"/>
                  </a:lnTo>
                  <a:lnTo>
                    <a:pt x="158191" y="20319"/>
                  </a:lnTo>
                  <a:lnTo>
                    <a:pt x="145618" y="20319"/>
                  </a:lnTo>
                  <a:lnTo>
                    <a:pt x="139661" y="15240"/>
                  </a:lnTo>
                  <a:close/>
                </a:path>
                <a:path w="201295" h="265430">
                  <a:moveTo>
                    <a:pt x="161535" y="21549"/>
                  </a:moveTo>
                  <a:lnTo>
                    <a:pt x="162039" y="22860"/>
                  </a:lnTo>
                  <a:lnTo>
                    <a:pt x="163829" y="26669"/>
                  </a:lnTo>
                  <a:lnTo>
                    <a:pt x="161925" y="31750"/>
                  </a:lnTo>
                  <a:lnTo>
                    <a:pt x="153581" y="35560"/>
                  </a:lnTo>
                  <a:lnTo>
                    <a:pt x="177063" y="35560"/>
                  </a:lnTo>
                  <a:lnTo>
                    <a:pt x="176326" y="34290"/>
                  </a:lnTo>
                  <a:lnTo>
                    <a:pt x="172745" y="30480"/>
                  </a:lnTo>
                  <a:lnTo>
                    <a:pt x="171754" y="29210"/>
                  </a:lnTo>
                  <a:lnTo>
                    <a:pt x="166712" y="25400"/>
                  </a:lnTo>
                  <a:lnTo>
                    <a:pt x="165239" y="24130"/>
                  </a:lnTo>
                  <a:lnTo>
                    <a:pt x="161645" y="21590"/>
                  </a:lnTo>
                  <a:close/>
                </a:path>
                <a:path w="201295" h="265430">
                  <a:moveTo>
                    <a:pt x="94513" y="25400"/>
                  </a:moveTo>
                  <a:lnTo>
                    <a:pt x="59093" y="25400"/>
                  </a:lnTo>
                  <a:lnTo>
                    <a:pt x="54775" y="27940"/>
                  </a:lnTo>
                  <a:lnTo>
                    <a:pt x="54737" y="29210"/>
                  </a:lnTo>
                  <a:lnTo>
                    <a:pt x="51866" y="30480"/>
                  </a:lnTo>
                  <a:lnTo>
                    <a:pt x="85940" y="30480"/>
                  </a:lnTo>
                  <a:lnTo>
                    <a:pt x="88836" y="27940"/>
                  </a:lnTo>
                  <a:lnTo>
                    <a:pt x="90919" y="27940"/>
                  </a:lnTo>
                  <a:lnTo>
                    <a:pt x="92716" y="26669"/>
                  </a:lnTo>
                  <a:lnTo>
                    <a:pt x="94513" y="25400"/>
                  </a:lnTo>
                  <a:close/>
                </a:path>
                <a:path w="201295" h="265430">
                  <a:moveTo>
                    <a:pt x="88836" y="27940"/>
                  </a:moveTo>
                  <a:lnTo>
                    <a:pt x="85940" y="30480"/>
                  </a:lnTo>
                  <a:lnTo>
                    <a:pt x="86516" y="30295"/>
                  </a:lnTo>
                  <a:lnTo>
                    <a:pt x="88836" y="27940"/>
                  </a:lnTo>
                  <a:close/>
                </a:path>
                <a:path w="201295" h="265430">
                  <a:moveTo>
                    <a:pt x="90919" y="27940"/>
                  </a:moveTo>
                  <a:lnTo>
                    <a:pt x="88836" y="27940"/>
                  </a:lnTo>
                  <a:lnTo>
                    <a:pt x="86516" y="30295"/>
                  </a:lnTo>
                  <a:lnTo>
                    <a:pt x="89903" y="29210"/>
                  </a:lnTo>
                  <a:lnTo>
                    <a:pt x="90919" y="27940"/>
                  </a:lnTo>
                  <a:close/>
                </a:path>
                <a:path w="201295" h="265430">
                  <a:moveTo>
                    <a:pt x="94513" y="25400"/>
                  </a:moveTo>
                  <a:lnTo>
                    <a:pt x="92621" y="26669"/>
                  </a:lnTo>
                  <a:lnTo>
                    <a:pt x="92836" y="26585"/>
                  </a:lnTo>
                  <a:lnTo>
                    <a:pt x="94513" y="25400"/>
                  </a:lnTo>
                  <a:close/>
                </a:path>
                <a:path w="201295" h="265430">
                  <a:moveTo>
                    <a:pt x="92836" y="26585"/>
                  </a:moveTo>
                  <a:lnTo>
                    <a:pt x="92621" y="26669"/>
                  </a:lnTo>
                  <a:lnTo>
                    <a:pt x="92836" y="26585"/>
                  </a:lnTo>
                  <a:close/>
                </a:path>
                <a:path w="201295" h="265430">
                  <a:moveTo>
                    <a:pt x="95846" y="25400"/>
                  </a:moveTo>
                  <a:lnTo>
                    <a:pt x="94513" y="25400"/>
                  </a:lnTo>
                  <a:lnTo>
                    <a:pt x="92836" y="26585"/>
                  </a:lnTo>
                  <a:lnTo>
                    <a:pt x="95846" y="25400"/>
                  </a:lnTo>
                  <a:close/>
                </a:path>
                <a:path w="201295" h="265430">
                  <a:moveTo>
                    <a:pt x="106248" y="22860"/>
                  </a:moveTo>
                  <a:lnTo>
                    <a:pt x="62737" y="22860"/>
                  </a:lnTo>
                  <a:lnTo>
                    <a:pt x="59842" y="25400"/>
                  </a:lnTo>
                  <a:lnTo>
                    <a:pt x="98323" y="25400"/>
                  </a:lnTo>
                  <a:lnTo>
                    <a:pt x="100825" y="24130"/>
                  </a:lnTo>
                  <a:lnTo>
                    <a:pt x="103733" y="24130"/>
                  </a:lnTo>
                  <a:lnTo>
                    <a:pt x="106248" y="22860"/>
                  </a:lnTo>
                  <a:close/>
                </a:path>
                <a:path w="201295" h="265430">
                  <a:moveTo>
                    <a:pt x="148424" y="2540"/>
                  </a:moveTo>
                  <a:lnTo>
                    <a:pt x="106426" y="2540"/>
                  </a:lnTo>
                  <a:lnTo>
                    <a:pt x="103898" y="3810"/>
                  </a:lnTo>
                  <a:lnTo>
                    <a:pt x="104203" y="3810"/>
                  </a:lnTo>
                  <a:lnTo>
                    <a:pt x="101320" y="5080"/>
                  </a:lnTo>
                  <a:lnTo>
                    <a:pt x="98755" y="5080"/>
                  </a:lnTo>
                  <a:lnTo>
                    <a:pt x="95872" y="6350"/>
                  </a:lnTo>
                  <a:lnTo>
                    <a:pt x="93345" y="6350"/>
                  </a:lnTo>
                  <a:lnTo>
                    <a:pt x="90449" y="7619"/>
                  </a:lnTo>
                  <a:lnTo>
                    <a:pt x="89738" y="7619"/>
                  </a:lnTo>
                  <a:lnTo>
                    <a:pt x="86487" y="8890"/>
                  </a:lnTo>
                  <a:lnTo>
                    <a:pt x="84531" y="8890"/>
                  </a:lnTo>
                  <a:lnTo>
                    <a:pt x="80911" y="11430"/>
                  </a:lnTo>
                  <a:lnTo>
                    <a:pt x="81851" y="11430"/>
                  </a:lnTo>
                  <a:lnTo>
                    <a:pt x="77889" y="12700"/>
                  </a:lnTo>
                  <a:lnTo>
                    <a:pt x="75069" y="15240"/>
                  </a:lnTo>
                  <a:lnTo>
                    <a:pt x="72529" y="17780"/>
                  </a:lnTo>
                  <a:lnTo>
                    <a:pt x="70739" y="17780"/>
                  </a:lnTo>
                  <a:lnTo>
                    <a:pt x="68567" y="19050"/>
                  </a:lnTo>
                  <a:lnTo>
                    <a:pt x="67233" y="20319"/>
                  </a:lnTo>
                  <a:lnTo>
                    <a:pt x="62179" y="22860"/>
                  </a:lnTo>
                  <a:lnTo>
                    <a:pt x="105943" y="22860"/>
                  </a:lnTo>
                  <a:lnTo>
                    <a:pt x="108813" y="21590"/>
                  </a:lnTo>
                  <a:lnTo>
                    <a:pt x="111607" y="21590"/>
                  </a:lnTo>
                  <a:lnTo>
                    <a:pt x="116649" y="20319"/>
                  </a:lnTo>
                  <a:lnTo>
                    <a:pt x="115862" y="20319"/>
                  </a:lnTo>
                  <a:lnTo>
                    <a:pt x="119456" y="19050"/>
                  </a:lnTo>
                  <a:lnTo>
                    <a:pt x="141635" y="19050"/>
                  </a:lnTo>
                  <a:lnTo>
                    <a:pt x="139661" y="15240"/>
                  </a:lnTo>
                  <a:lnTo>
                    <a:pt x="159111" y="15240"/>
                  </a:lnTo>
                  <a:lnTo>
                    <a:pt x="158623" y="13969"/>
                  </a:lnTo>
                  <a:lnTo>
                    <a:pt x="155257" y="7619"/>
                  </a:lnTo>
                  <a:lnTo>
                    <a:pt x="154178" y="5080"/>
                  </a:lnTo>
                  <a:lnTo>
                    <a:pt x="152209" y="3810"/>
                  </a:lnTo>
                  <a:lnTo>
                    <a:pt x="148424" y="2540"/>
                  </a:lnTo>
                  <a:close/>
                </a:path>
                <a:path w="201295" h="265430">
                  <a:moveTo>
                    <a:pt x="141635" y="19050"/>
                  </a:moveTo>
                  <a:lnTo>
                    <a:pt x="133045" y="19050"/>
                  </a:lnTo>
                  <a:lnTo>
                    <a:pt x="130987" y="20319"/>
                  </a:lnTo>
                  <a:lnTo>
                    <a:pt x="129425" y="20319"/>
                  </a:lnTo>
                  <a:lnTo>
                    <a:pt x="124980" y="21590"/>
                  </a:lnTo>
                  <a:lnTo>
                    <a:pt x="142951" y="21590"/>
                  </a:lnTo>
                  <a:lnTo>
                    <a:pt x="141635" y="19050"/>
                  </a:lnTo>
                  <a:close/>
                </a:path>
                <a:path w="201295" h="265430">
                  <a:moveTo>
                    <a:pt x="160575" y="19050"/>
                  </a:moveTo>
                  <a:lnTo>
                    <a:pt x="152793" y="19050"/>
                  </a:lnTo>
                  <a:lnTo>
                    <a:pt x="158191" y="20319"/>
                  </a:lnTo>
                  <a:lnTo>
                    <a:pt x="161535" y="21549"/>
                  </a:lnTo>
                  <a:lnTo>
                    <a:pt x="160575" y="19050"/>
                  </a:lnTo>
                  <a:close/>
                </a:path>
                <a:path w="201295" h="265430">
                  <a:moveTo>
                    <a:pt x="159111" y="15240"/>
                  </a:moveTo>
                  <a:lnTo>
                    <a:pt x="139661" y="15240"/>
                  </a:lnTo>
                  <a:lnTo>
                    <a:pt x="145618" y="20319"/>
                  </a:lnTo>
                  <a:lnTo>
                    <a:pt x="144170" y="19050"/>
                  </a:lnTo>
                  <a:lnTo>
                    <a:pt x="160575" y="19050"/>
                  </a:lnTo>
                  <a:lnTo>
                    <a:pt x="159111" y="15240"/>
                  </a:lnTo>
                  <a:close/>
                </a:path>
                <a:path w="201295" h="265430">
                  <a:moveTo>
                    <a:pt x="152793" y="19050"/>
                  </a:moveTo>
                  <a:lnTo>
                    <a:pt x="144170" y="19050"/>
                  </a:lnTo>
                  <a:lnTo>
                    <a:pt x="145618" y="20319"/>
                  </a:lnTo>
                  <a:lnTo>
                    <a:pt x="158191" y="20319"/>
                  </a:lnTo>
                  <a:lnTo>
                    <a:pt x="152793" y="19050"/>
                  </a:lnTo>
                  <a:close/>
                </a:path>
                <a:path w="201295" h="265430">
                  <a:moveTo>
                    <a:pt x="74472" y="15240"/>
                  </a:moveTo>
                  <a:lnTo>
                    <a:pt x="70154" y="17780"/>
                  </a:lnTo>
                  <a:lnTo>
                    <a:pt x="72529" y="17780"/>
                  </a:lnTo>
                  <a:lnTo>
                    <a:pt x="74472" y="15240"/>
                  </a:lnTo>
                  <a:close/>
                </a:path>
                <a:path w="201295" h="265430">
                  <a:moveTo>
                    <a:pt x="143408" y="1269"/>
                  </a:moveTo>
                  <a:lnTo>
                    <a:pt x="111480" y="1269"/>
                  </a:lnTo>
                  <a:lnTo>
                    <a:pt x="106413" y="2540"/>
                  </a:lnTo>
                  <a:lnTo>
                    <a:pt x="145846" y="2540"/>
                  </a:lnTo>
                  <a:lnTo>
                    <a:pt x="143408" y="1269"/>
                  </a:lnTo>
                  <a:close/>
                </a:path>
                <a:path w="201295" h="265430">
                  <a:moveTo>
                    <a:pt x="144119" y="1269"/>
                  </a:moveTo>
                  <a:lnTo>
                    <a:pt x="143408" y="1269"/>
                  </a:lnTo>
                  <a:lnTo>
                    <a:pt x="145846" y="2540"/>
                  </a:lnTo>
                  <a:lnTo>
                    <a:pt x="144119" y="1269"/>
                  </a:lnTo>
                  <a:close/>
                </a:path>
                <a:path w="201295" h="265430">
                  <a:moveTo>
                    <a:pt x="144843" y="1269"/>
                  </a:moveTo>
                  <a:lnTo>
                    <a:pt x="144119" y="1269"/>
                  </a:lnTo>
                  <a:lnTo>
                    <a:pt x="145846" y="2540"/>
                  </a:lnTo>
                  <a:lnTo>
                    <a:pt x="146939" y="2540"/>
                  </a:lnTo>
                  <a:lnTo>
                    <a:pt x="144843" y="1269"/>
                  </a:lnTo>
                  <a:close/>
                </a:path>
                <a:path w="201295" h="265430">
                  <a:moveTo>
                    <a:pt x="126111" y="0"/>
                  </a:moveTo>
                  <a:lnTo>
                    <a:pt x="122732" y="0"/>
                  </a:lnTo>
                  <a:lnTo>
                    <a:pt x="119494" y="1269"/>
                  </a:lnTo>
                  <a:lnTo>
                    <a:pt x="127812" y="1269"/>
                  </a:lnTo>
                  <a:lnTo>
                    <a:pt x="126111" y="0"/>
                  </a:lnTo>
                  <a:close/>
                </a:path>
              </a:pathLst>
            </a:custGeom>
            <a:solidFill>
              <a:srgbClr val="C00000"/>
            </a:solidFill>
          </p:spPr>
          <p:txBody>
            <a:bodyPr wrap="square" lIns="0" tIns="0" rIns="0" bIns="0" rtlCol="0"/>
            <a:lstStyle/>
            <a:p>
              <a:endParaRPr/>
            </a:p>
          </p:txBody>
        </p:sp>
        <p:pic>
          <p:nvPicPr>
            <p:cNvPr id="37" name="object 37"/>
            <p:cNvPicPr/>
            <p:nvPr/>
          </p:nvPicPr>
          <p:blipFill>
            <a:blip r:embed="rId28" cstate="print"/>
            <a:stretch>
              <a:fillRect/>
            </a:stretch>
          </p:blipFill>
          <p:spPr>
            <a:xfrm>
              <a:off x="1793240" y="2433322"/>
              <a:ext cx="116459" cy="242569"/>
            </a:xfrm>
            <a:prstGeom prst="rect">
              <a:avLst/>
            </a:prstGeom>
          </p:spPr>
        </p:pic>
        <p:pic>
          <p:nvPicPr>
            <p:cNvPr id="38" name="object 38"/>
            <p:cNvPicPr/>
            <p:nvPr/>
          </p:nvPicPr>
          <p:blipFill>
            <a:blip r:embed="rId29" cstate="print"/>
            <a:stretch>
              <a:fillRect/>
            </a:stretch>
          </p:blipFill>
          <p:spPr>
            <a:xfrm>
              <a:off x="1681226" y="2808985"/>
              <a:ext cx="438151" cy="240156"/>
            </a:xfrm>
            <a:prstGeom prst="rect">
              <a:avLst/>
            </a:prstGeom>
          </p:spPr>
        </p:pic>
        <p:pic>
          <p:nvPicPr>
            <p:cNvPr id="44" name="object 44"/>
            <p:cNvPicPr/>
            <p:nvPr/>
          </p:nvPicPr>
          <p:blipFill>
            <a:blip r:embed="rId30" cstate="print"/>
            <a:stretch>
              <a:fillRect/>
            </a:stretch>
          </p:blipFill>
          <p:spPr>
            <a:xfrm>
              <a:off x="3141345" y="2498853"/>
              <a:ext cx="1239646" cy="553212"/>
            </a:xfrm>
            <a:prstGeom prst="rect">
              <a:avLst/>
            </a:prstGeom>
          </p:spPr>
        </p:pic>
        <p:pic>
          <p:nvPicPr>
            <p:cNvPr id="54" name="object 54"/>
            <p:cNvPicPr/>
            <p:nvPr/>
          </p:nvPicPr>
          <p:blipFill>
            <a:blip r:embed="rId31" cstate="print"/>
            <a:stretch>
              <a:fillRect/>
            </a:stretch>
          </p:blipFill>
          <p:spPr>
            <a:xfrm>
              <a:off x="2239518" y="2512696"/>
              <a:ext cx="413257" cy="552577"/>
            </a:xfrm>
            <a:prstGeom prst="rect">
              <a:avLst/>
            </a:prstGeom>
          </p:spPr>
        </p:pic>
        <p:pic>
          <p:nvPicPr>
            <p:cNvPr id="55" name="object 55"/>
            <p:cNvPicPr/>
            <p:nvPr/>
          </p:nvPicPr>
          <p:blipFill>
            <a:blip r:embed="rId32" cstate="print"/>
            <a:stretch>
              <a:fillRect/>
            </a:stretch>
          </p:blipFill>
          <p:spPr>
            <a:xfrm>
              <a:off x="2735707" y="2441701"/>
              <a:ext cx="323976" cy="576580"/>
            </a:xfrm>
            <a:prstGeom prst="rect">
              <a:avLst/>
            </a:prstGeom>
          </p:spPr>
        </p:pic>
        <p:pic>
          <p:nvPicPr>
            <p:cNvPr id="56" name="object 56"/>
            <p:cNvPicPr/>
            <p:nvPr/>
          </p:nvPicPr>
          <p:blipFill>
            <a:blip r:embed="rId33" cstate="print"/>
            <a:stretch>
              <a:fillRect/>
            </a:stretch>
          </p:blipFill>
          <p:spPr>
            <a:xfrm>
              <a:off x="2770314" y="3117215"/>
              <a:ext cx="312231" cy="213105"/>
            </a:xfrm>
            <a:prstGeom prst="rect">
              <a:avLst/>
            </a:prstGeom>
          </p:spPr>
        </p:pic>
        <p:pic>
          <p:nvPicPr>
            <p:cNvPr id="57" name="object 57"/>
            <p:cNvPicPr/>
            <p:nvPr/>
          </p:nvPicPr>
          <p:blipFill>
            <a:blip r:embed="rId34" cstate="print"/>
            <a:stretch>
              <a:fillRect/>
            </a:stretch>
          </p:blipFill>
          <p:spPr>
            <a:xfrm>
              <a:off x="2773969" y="2239137"/>
              <a:ext cx="181740" cy="122427"/>
            </a:xfrm>
            <a:prstGeom prst="rect">
              <a:avLst/>
            </a:prstGeom>
          </p:spPr>
        </p:pic>
        <p:grpSp>
          <p:nvGrpSpPr>
            <p:cNvPr id="58" name="object 58"/>
            <p:cNvGrpSpPr/>
            <p:nvPr/>
          </p:nvGrpSpPr>
          <p:grpSpPr>
            <a:xfrm>
              <a:off x="4461637" y="2403095"/>
              <a:ext cx="926465" cy="747395"/>
              <a:chOff x="4461636" y="2403094"/>
              <a:chExt cx="926465" cy="747395"/>
            </a:xfrm>
          </p:grpSpPr>
          <p:pic>
            <p:nvPicPr>
              <p:cNvPr id="59" name="object 59"/>
              <p:cNvPicPr/>
              <p:nvPr/>
            </p:nvPicPr>
            <p:blipFill>
              <a:blip r:embed="rId35" cstate="print"/>
              <a:stretch>
                <a:fillRect/>
              </a:stretch>
            </p:blipFill>
            <p:spPr>
              <a:xfrm>
                <a:off x="4461636" y="2780792"/>
                <a:ext cx="139700" cy="34289"/>
              </a:xfrm>
              <a:prstGeom prst="rect">
                <a:avLst/>
              </a:prstGeom>
            </p:spPr>
          </p:pic>
          <p:pic>
            <p:nvPicPr>
              <p:cNvPr id="60" name="object 60"/>
              <p:cNvPicPr/>
              <p:nvPr/>
            </p:nvPicPr>
            <p:blipFill>
              <a:blip r:embed="rId36" cstate="print"/>
              <a:stretch>
                <a:fillRect/>
              </a:stretch>
            </p:blipFill>
            <p:spPr>
              <a:xfrm>
                <a:off x="4637047" y="2403094"/>
                <a:ext cx="750546" cy="746887"/>
              </a:xfrm>
              <a:prstGeom prst="rect">
                <a:avLst/>
              </a:prstGeom>
            </p:spPr>
          </p:pic>
        </p:grpSp>
      </p:grpSp>
      <p:sp>
        <p:nvSpPr>
          <p:cNvPr id="63" name="Slide Number Placeholder 62">
            <a:extLst>
              <a:ext uri="{FF2B5EF4-FFF2-40B4-BE49-F238E27FC236}">
                <a16:creationId xmlns:a16="http://schemas.microsoft.com/office/drawing/2014/main" id="{B521A215-3605-E273-0E32-27480A2464D2}"/>
              </a:ext>
            </a:extLst>
          </p:cNvPr>
          <p:cNvSpPr>
            <a:spLocks noGrp="1"/>
          </p:cNvSpPr>
          <p:nvPr>
            <p:ph type="sldNum" sz="quarter" idx="12"/>
          </p:nvPr>
        </p:nvSpPr>
        <p:spPr/>
        <p:txBody>
          <a:bodyPr/>
          <a:lstStyle/>
          <a:p>
            <a:fld id="{B6F15528-21DE-4FAA-801E-634DDDAF4B2B}" type="slidenum">
              <a:rPr lang="en-PS" smtClean="0"/>
              <a:t>29</a:t>
            </a:fld>
            <a:endParaRPr lang="en-PS"/>
          </a:p>
        </p:txBody>
      </p:sp>
      <p:grpSp>
        <p:nvGrpSpPr>
          <p:cNvPr id="2" name="Group 1">
            <a:extLst>
              <a:ext uri="{FF2B5EF4-FFF2-40B4-BE49-F238E27FC236}">
                <a16:creationId xmlns:a16="http://schemas.microsoft.com/office/drawing/2014/main" id="{F84E40B3-41B8-E9A6-D7D1-14EC6BD64F93}"/>
              </a:ext>
            </a:extLst>
          </p:cNvPr>
          <p:cNvGrpSpPr/>
          <p:nvPr/>
        </p:nvGrpSpPr>
        <p:grpSpPr>
          <a:xfrm>
            <a:off x="265567" y="223335"/>
            <a:ext cx="5096318" cy="927225"/>
            <a:chOff x="246445" y="267589"/>
            <a:chExt cx="5096318" cy="927225"/>
          </a:xfrm>
        </p:grpSpPr>
        <p:sp>
          <p:nvSpPr>
            <p:cNvPr id="3" name="object 3"/>
            <p:cNvSpPr/>
            <p:nvPr/>
          </p:nvSpPr>
          <p:spPr>
            <a:xfrm>
              <a:off x="867220" y="637921"/>
              <a:ext cx="614045" cy="238125"/>
            </a:xfrm>
            <a:custGeom>
              <a:avLst/>
              <a:gdLst/>
              <a:ahLst/>
              <a:cxnLst/>
              <a:rect l="l" t="t" r="r" b="b"/>
              <a:pathLst>
                <a:path w="614044" h="238125">
                  <a:moveTo>
                    <a:pt x="538035" y="0"/>
                  </a:moveTo>
                  <a:lnTo>
                    <a:pt x="534606" y="9651"/>
                  </a:lnTo>
                  <a:lnTo>
                    <a:pt x="548395" y="15652"/>
                  </a:lnTo>
                  <a:lnTo>
                    <a:pt x="560244" y="23939"/>
                  </a:lnTo>
                  <a:lnTo>
                    <a:pt x="584334" y="62277"/>
                  </a:lnTo>
                  <a:lnTo>
                    <a:pt x="592264" y="117855"/>
                  </a:lnTo>
                  <a:lnTo>
                    <a:pt x="591383" y="138884"/>
                  </a:lnTo>
                  <a:lnTo>
                    <a:pt x="578167" y="190373"/>
                  </a:lnTo>
                  <a:lnTo>
                    <a:pt x="548556" y="222448"/>
                  </a:lnTo>
                  <a:lnTo>
                    <a:pt x="534987" y="228473"/>
                  </a:lnTo>
                  <a:lnTo>
                    <a:pt x="538035" y="238125"/>
                  </a:lnTo>
                  <a:lnTo>
                    <a:pt x="583541" y="211139"/>
                  </a:lnTo>
                  <a:lnTo>
                    <a:pt x="609107" y="161242"/>
                  </a:lnTo>
                  <a:lnTo>
                    <a:pt x="613981" y="119125"/>
                  </a:lnTo>
                  <a:lnTo>
                    <a:pt x="612745" y="97287"/>
                  </a:lnTo>
                  <a:lnTo>
                    <a:pt x="602890" y="58564"/>
                  </a:lnTo>
                  <a:lnTo>
                    <a:pt x="570404" y="15208"/>
                  </a:lnTo>
                  <a:lnTo>
                    <a:pt x="555273" y="6187"/>
                  </a:lnTo>
                  <a:lnTo>
                    <a:pt x="538035" y="0"/>
                  </a:lnTo>
                  <a:close/>
                </a:path>
                <a:path w="614044" h="238125">
                  <a:moveTo>
                    <a:pt x="75971" y="0"/>
                  </a:moveTo>
                  <a:lnTo>
                    <a:pt x="30538" y="27039"/>
                  </a:lnTo>
                  <a:lnTo>
                    <a:pt x="4908" y="77104"/>
                  </a:lnTo>
                  <a:lnTo>
                    <a:pt x="0" y="119125"/>
                  </a:lnTo>
                  <a:lnTo>
                    <a:pt x="1223" y="141035"/>
                  </a:lnTo>
                  <a:lnTo>
                    <a:pt x="11015" y="179758"/>
                  </a:lnTo>
                  <a:lnTo>
                    <a:pt x="43472" y="222932"/>
                  </a:lnTo>
                  <a:lnTo>
                    <a:pt x="75971" y="238125"/>
                  </a:lnTo>
                  <a:lnTo>
                    <a:pt x="78981" y="228473"/>
                  </a:lnTo>
                  <a:lnTo>
                    <a:pt x="65405" y="222448"/>
                  </a:lnTo>
                  <a:lnTo>
                    <a:pt x="53692" y="214090"/>
                  </a:lnTo>
                  <a:lnTo>
                    <a:pt x="29667" y="175131"/>
                  </a:lnTo>
                  <a:lnTo>
                    <a:pt x="21717" y="117855"/>
                  </a:lnTo>
                  <a:lnTo>
                    <a:pt x="22600" y="97520"/>
                  </a:lnTo>
                  <a:lnTo>
                    <a:pt x="35852" y="47370"/>
                  </a:lnTo>
                  <a:lnTo>
                    <a:pt x="65620" y="15652"/>
                  </a:lnTo>
                  <a:lnTo>
                    <a:pt x="79362" y="9651"/>
                  </a:lnTo>
                  <a:lnTo>
                    <a:pt x="75971" y="0"/>
                  </a:lnTo>
                  <a:close/>
                </a:path>
              </a:pathLst>
            </a:custGeom>
            <a:solidFill>
              <a:srgbClr val="000000"/>
            </a:solidFill>
          </p:spPr>
          <p:txBody>
            <a:bodyPr wrap="square" lIns="0" tIns="0" rIns="0" bIns="0" rtlCol="0"/>
            <a:lstStyle/>
            <a:p>
              <a:endParaRPr/>
            </a:p>
          </p:txBody>
        </p:sp>
        <p:sp>
          <p:nvSpPr>
            <p:cNvPr id="4" name="object 4"/>
            <p:cNvSpPr txBox="1"/>
            <p:nvPr/>
          </p:nvSpPr>
          <p:spPr>
            <a:xfrm>
              <a:off x="290629" y="353644"/>
              <a:ext cx="1435735" cy="533865"/>
            </a:xfrm>
            <a:prstGeom prst="rect">
              <a:avLst/>
            </a:prstGeom>
          </p:spPr>
          <p:txBody>
            <a:bodyPr vert="horz" wrap="square" lIns="0" tIns="16511" rIns="0" bIns="0" rtlCol="0">
              <a:spAutoFit/>
            </a:bodyPr>
            <a:lstStyle/>
            <a:p>
              <a:pPr marL="111123">
                <a:lnSpc>
                  <a:spcPts val="1951"/>
                </a:lnSpc>
                <a:spcBef>
                  <a:spcPts val="131"/>
                </a:spcBef>
              </a:pPr>
              <a:r>
                <a:rPr sz="2000" spc="35" dirty="0">
                  <a:latin typeface="Cambria Math"/>
                  <a:cs typeface="Cambria Math"/>
                </a:rPr>
                <a:t>∂</a:t>
              </a:r>
              <a:endParaRPr sz="2000" dirty="0">
                <a:latin typeface="Cambria Math"/>
                <a:cs typeface="Cambria Math"/>
              </a:endParaRPr>
            </a:p>
            <a:p>
              <a:pPr marL="25399">
                <a:lnSpc>
                  <a:spcPts val="1951"/>
                </a:lnSpc>
                <a:tabLst>
                  <a:tab pos="1216630" algn="l"/>
                </a:tabLst>
              </a:pPr>
              <a:r>
                <a:rPr sz="3000" spc="37" baseline="-37500" dirty="0">
                  <a:latin typeface="Cambria Math"/>
                  <a:cs typeface="Cambria Math"/>
                </a:rPr>
                <a:t>∂𝑤</a:t>
              </a:r>
              <a:r>
                <a:rPr sz="3000" spc="-97" baseline="-37500" dirty="0">
                  <a:latin typeface="Cambria Math"/>
                  <a:cs typeface="Cambria Math"/>
                </a:rPr>
                <a:t> </a:t>
              </a:r>
              <a:r>
                <a:rPr sz="2000" spc="11" dirty="0">
                  <a:latin typeface="Cambria Math"/>
                  <a:cs typeface="Cambria Math"/>
                </a:rPr>
                <a:t>𝐽</a:t>
              </a:r>
              <a:r>
                <a:rPr sz="2000" spc="360" dirty="0">
                  <a:latin typeface="Cambria Math"/>
                  <a:cs typeface="Cambria Math"/>
                </a:rPr>
                <a:t> </a:t>
              </a:r>
              <a:r>
                <a:rPr sz="2000" spc="51" dirty="0">
                  <a:latin typeface="Cambria Math"/>
                  <a:cs typeface="Cambria Math"/>
                </a:rPr>
                <a:t>𝑤,</a:t>
              </a:r>
              <a:r>
                <a:rPr sz="2000" spc="-111" dirty="0">
                  <a:latin typeface="Cambria Math"/>
                  <a:cs typeface="Cambria Math"/>
                </a:rPr>
                <a:t> </a:t>
              </a:r>
              <a:r>
                <a:rPr sz="2000" spc="15" dirty="0">
                  <a:latin typeface="Cambria Math"/>
                  <a:cs typeface="Cambria Math"/>
                </a:rPr>
                <a:t>𝑏	</a:t>
              </a:r>
              <a:r>
                <a:rPr sz="2000" spc="20" dirty="0">
                  <a:latin typeface="Cambria Math"/>
                  <a:cs typeface="Cambria Math"/>
                </a:rPr>
                <a:t>=</a:t>
              </a:r>
              <a:endParaRPr sz="2000" dirty="0">
                <a:latin typeface="Cambria Math"/>
                <a:cs typeface="Cambria Math"/>
              </a:endParaRPr>
            </a:p>
          </p:txBody>
        </p:sp>
        <p:pic>
          <p:nvPicPr>
            <p:cNvPr id="45" name="object 45"/>
            <p:cNvPicPr/>
            <p:nvPr/>
          </p:nvPicPr>
          <p:blipFill>
            <a:blip r:embed="rId37" cstate="print"/>
            <a:stretch>
              <a:fillRect/>
            </a:stretch>
          </p:blipFill>
          <p:spPr>
            <a:xfrm>
              <a:off x="2194561" y="377064"/>
              <a:ext cx="412876" cy="552703"/>
            </a:xfrm>
            <a:prstGeom prst="rect">
              <a:avLst/>
            </a:prstGeom>
          </p:spPr>
        </p:pic>
        <p:pic>
          <p:nvPicPr>
            <p:cNvPr id="46" name="object 46"/>
            <p:cNvPicPr/>
            <p:nvPr/>
          </p:nvPicPr>
          <p:blipFill>
            <a:blip r:embed="rId38" cstate="print"/>
            <a:stretch>
              <a:fillRect/>
            </a:stretch>
          </p:blipFill>
          <p:spPr>
            <a:xfrm>
              <a:off x="2690367" y="306198"/>
              <a:ext cx="323851" cy="576579"/>
            </a:xfrm>
            <a:prstGeom prst="rect">
              <a:avLst/>
            </a:prstGeom>
          </p:spPr>
        </p:pic>
        <p:pic>
          <p:nvPicPr>
            <p:cNvPr id="47" name="object 47"/>
            <p:cNvPicPr/>
            <p:nvPr/>
          </p:nvPicPr>
          <p:blipFill>
            <a:blip r:embed="rId39" cstate="print"/>
            <a:stretch>
              <a:fillRect/>
            </a:stretch>
          </p:blipFill>
          <p:spPr>
            <a:xfrm>
              <a:off x="2725183" y="981835"/>
              <a:ext cx="312403" cy="212979"/>
            </a:xfrm>
            <a:prstGeom prst="rect">
              <a:avLst/>
            </a:prstGeom>
          </p:spPr>
        </p:pic>
        <p:grpSp>
          <p:nvGrpSpPr>
            <p:cNvPr id="49" name="object 49"/>
            <p:cNvGrpSpPr/>
            <p:nvPr/>
          </p:nvGrpSpPr>
          <p:grpSpPr>
            <a:xfrm>
              <a:off x="4416298" y="267589"/>
              <a:ext cx="926465" cy="747395"/>
              <a:chOff x="4416297" y="267588"/>
              <a:chExt cx="926465" cy="747395"/>
            </a:xfrm>
          </p:grpSpPr>
          <p:pic>
            <p:nvPicPr>
              <p:cNvPr id="50" name="object 50"/>
              <p:cNvPicPr/>
              <p:nvPr/>
            </p:nvPicPr>
            <p:blipFill>
              <a:blip r:embed="rId40" cstate="print"/>
              <a:stretch>
                <a:fillRect/>
              </a:stretch>
            </p:blipFill>
            <p:spPr>
              <a:xfrm>
                <a:off x="4416297" y="645286"/>
                <a:ext cx="139573" cy="34289"/>
              </a:xfrm>
              <a:prstGeom prst="rect">
                <a:avLst/>
              </a:prstGeom>
            </p:spPr>
          </p:pic>
          <p:pic>
            <p:nvPicPr>
              <p:cNvPr id="51" name="object 51"/>
              <p:cNvPicPr/>
              <p:nvPr/>
            </p:nvPicPr>
            <p:blipFill>
              <a:blip r:embed="rId41" cstate="print"/>
              <a:stretch>
                <a:fillRect/>
              </a:stretch>
            </p:blipFill>
            <p:spPr>
              <a:xfrm>
                <a:off x="4591757" y="267588"/>
                <a:ext cx="750497" cy="746887"/>
              </a:xfrm>
              <a:prstGeom prst="rect">
                <a:avLst/>
              </a:prstGeom>
            </p:spPr>
          </p:pic>
        </p:grpSp>
        <p:pic>
          <p:nvPicPr>
            <p:cNvPr id="52" name="object 52"/>
            <p:cNvPicPr/>
            <p:nvPr/>
          </p:nvPicPr>
          <p:blipFill>
            <a:blip r:embed="rId42" cstate="print"/>
            <a:stretch>
              <a:fillRect/>
            </a:stretch>
          </p:blipFill>
          <p:spPr>
            <a:xfrm>
              <a:off x="3089020" y="370713"/>
              <a:ext cx="1239647" cy="630936"/>
            </a:xfrm>
            <a:prstGeom prst="rect">
              <a:avLst/>
            </a:prstGeom>
          </p:spPr>
        </p:pic>
        <p:pic>
          <p:nvPicPr>
            <p:cNvPr id="53" name="object 53"/>
            <p:cNvPicPr/>
            <p:nvPr/>
          </p:nvPicPr>
          <p:blipFill>
            <a:blip r:embed="rId43" cstate="print"/>
            <a:stretch>
              <a:fillRect/>
            </a:stretch>
          </p:blipFill>
          <p:spPr>
            <a:xfrm>
              <a:off x="1762251" y="311023"/>
              <a:ext cx="358140" cy="682879"/>
            </a:xfrm>
            <a:prstGeom prst="rect">
              <a:avLst/>
            </a:prstGeom>
          </p:spPr>
        </p:pic>
        <p:sp>
          <p:nvSpPr>
            <p:cNvPr id="66" name="TextBox 65">
              <a:extLst>
                <a:ext uri="{FF2B5EF4-FFF2-40B4-BE49-F238E27FC236}">
                  <a16:creationId xmlns:a16="http://schemas.microsoft.com/office/drawing/2014/main" id="{2FB9A119-CEE5-9835-AE24-968CDEA9E347}"/>
                </a:ext>
              </a:extLst>
            </p:cNvPr>
            <p:cNvSpPr txBox="1"/>
            <p:nvPr/>
          </p:nvSpPr>
          <p:spPr>
            <a:xfrm>
              <a:off x="246445" y="387651"/>
              <a:ext cx="417322" cy="369332"/>
            </a:xfrm>
            <a:prstGeom prst="rect">
              <a:avLst/>
            </a:prstGeom>
            <a:noFill/>
          </p:spPr>
          <p:txBody>
            <a:bodyPr wrap="square" rtlCol="0">
              <a:spAutoFit/>
            </a:bodyPr>
            <a:lstStyle/>
            <a:p>
              <a:r>
                <a:rPr lang="en-PS" dirty="0"/>
                <a:t>__</a:t>
              </a:r>
            </a:p>
          </p:txBody>
        </p:sp>
      </p:grpSp>
      <p:sp>
        <p:nvSpPr>
          <p:cNvPr id="69" name="Oval 68">
            <a:extLst>
              <a:ext uri="{FF2B5EF4-FFF2-40B4-BE49-F238E27FC236}">
                <a16:creationId xmlns:a16="http://schemas.microsoft.com/office/drawing/2014/main" id="{50A9AB33-E7C3-8BED-438D-CCA2A9F008B0}"/>
              </a:ext>
            </a:extLst>
          </p:cNvPr>
          <p:cNvSpPr/>
          <p:nvPr/>
        </p:nvSpPr>
        <p:spPr>
          <a:xfrm>
            <a:off x="7010400" y="103503"/>
            <a:ext cx="304800" cy="2672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70" name="Oval 69">
            <a:extLst>
              <a:ext uri="{FF2B5EF4-FFF2-40B4-BE49-F238E27FC236}">
                <a16:creationId xmlns:a16="http://schemas.microsoft.com/office/drawing/2014/main" id="{E635E552-4B80-0C81-22A8-79CEE4413920}"/>
              </a:ext>
            </a:extLst>
          </p:cNvPr>
          <p:cNvSpPr/>
          <p:nvPr/>
        </p:nvSpPr>
        <p:spPr>
          <a:xfrm>
            <a:off x="7067067" y="2177877"/>
            <a:ext cx="304800" cy="2672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FDCB3D-B72D-9AB8-0B1C-313AE4E78E5F}"/>
              </a:ext>
            </a:extLst>
          </p:cNvPr>
          <p:cNvSpPr>
            <a:spLocks noGrp="1"/>
          </p:cNvSpPr>
          <p:nvPr>
            <p:ph type="sldNum" sz="quarter" idx="12"/>
          </p:nvPr>
        </p:nvSpPr>
        <p:spPr/>
        <p:txBody>
          <a:bodyPr/>
          <a:lstStyle/>
          <a:p>
            <a:fld id="{B6F15528-21DE-4FAA-801E-634DDDAF4B2B}" type="slidenum">
              <a:rPr lang="en-PS" smtClean="0"/>
              <a:t>30</a:t>
            </a:fld>
            <a:endParaRPr lang="en-PS"/>
          </a:p>
        </p:txBody>
      </p:sp>
      <p:pic>
        <p:nvPicPr>
          <p:cNvPr id="10" name="Picture 9">
            <a:extLst>
              <a:ext uri="{FF2B5EF4-FFF2-40B4-BE49-F238E27FC236}">
                <a16:creationId xmlns:a16="http://schemas.microsoft.com/office/drawing/2014/main" id="{154AA6F0-8B12-7A7C-9D35-E30744E34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366315"/>
            <a:ext cx="2362200" cy="543306"/>
          </a:xfrm>
          <a:prstGeom prst="rect">
            <a:avLst/>
          </a:prstGeom>
        </p:spPr>
      </p:pic>
      <p:pic>
        <p:nvPicPr>
          <p:cNvPr id="12" name="Picture 11">
            <a:extLst>
              <a:ext uri="{FF2B5EF4-FFF2-40B4-BE49-F238E27FC236}">
                <a16:creationId xmlns:a16="http://schemas.microsoft.com/office/drawing/2014/main" id="{FDD2D970-4717-F309-1F39-7EB1128A6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9900" y="1052115"/>
            <a:ext cx="3981450" cy="838200"/>
          </a:xfrm>
          <a:prstGeom prst="rect">
            <a:avLst/>
          </a:prstGeom>
        </p:spPr>
      </p:pic>
      <p:pic>
        <p:nvPicPr>
          <p:cNvPr id="14" name="Picture 13">
            <a:extLst>
              <a:ext uri="{FF2B5EF4-FFF2-40B4-BE49-F238E27FC236}">
                <a16:creationId xmlns:a16="http://schemas.microsoft.com/office/drawing/2014/main" id="{EAEE5075-CDA7-E9A3-03FF-114F6568B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5200" y="2095683"/>
            <a:ext cx="5134138" cy="929148"/>
          </a:xfrm>
          <a:prstGeom prst="rect">
            <a:avLst/>
          </a:prstGeom>
        </p:spPr>
      </p:pic>
      <p:pic>
        <p:nvPicPr>
          <p:cNvPr id="16" name="Picture 15">
            <a:extLst>
              <a:ext uri="{FF2B5EF4-FFF2-40B4-BE49-F238E27FC236}">
                <a16:creationId xmlns:a16="http://schemas.microsoft.com/office/drawing/2014/main" id="{0FE6BEF9-BBCE-8853-C8AD-35AFB2C2A4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4800" y="3024831"/>
            <a:ext cx="4800600" cy="929148"/>
          </a:xfrm>
          <a:prstGeom prst="rect">
            <a:avLst/>
          </a:prstGeom>
        </p:spPr>
      </p:pic>
      <p:pic>
        <p:nvPicPr>
          <p:cNvPr id="18" name="Picture 17">
            <a:extLst>
              <a:ext uri="{FF2B5EF4-FFF2-40B4-BE49-F238E27FC236}">
                <a16:creationId xmlns:a16="http://schemas.microsoft.com/office/drawing/2014/main" id="{48B942BE-7173-0AA4-2F7C-CBA38B09AD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62400" y="4019550"/>
            <a:ext cx="4521291" cy="918765"/>
          </a:xfrm>
          <a:prstGeom prst="rect">
            <a:avLst/>
          </a:prstGeom>
        </p:spPr>
      </p:pic>
      <p:sp>
        <p:nvSpPr>
          <p:cNvPr id="2" name="TextBox 1">
            <a:extLst>
              <a:ext uri="{FF2B5EF4-FFF2-40B4-BE49-F238E27FC236}">
                <a16:creationId xmlns:a16="http://schemas.microsoft.com/office/drawing/2014/main" id="{3B82FDB4-ED47-5523-8BD4-5D447D1EF110}"/>
              </a:ext>
            </a:extLst>
          </p:cNvPr>
          <p:cNvSpPr txBox="1"/>
          <p:nvPr/>
        </p:nvSpPr>
        <p:spPr>
          <a:xfrm>
            <a:off x="1447800" y="285750"/>
            <a:ext cx="2016899" cy="400110"/>
          </a:xfrm>
          <a:prstGeom prst="rect">
            <a:avLst/>
          </a:prstGeom>
          <a:noFill/>
        </p:spPr>
        <p:txBody>
          <a:bodyPr wrap="none" rtlCol="0">
            <a:spAutoFit/>
          </a:bodyPr>
          <a:lstStyle/>
          <a:p>
            <a:r>
              <a:rPr lang="en-PS" sz="2000" dirty="0">
                <a:solidFill>
                  <a:srgbClr val="0432FF"/>
                </a:solidFill>
              </a:rPr>
              <a:t>The linear Model </a:t>
            </a:r>
          </a:p>
        </p:txBody>
      </p:sp>
      <p:sp>
        <p:nvSpPr>
          <p:cNvPr id="3" name="TextBox 2">
            <a:extLst>
              <a:ext uri="{FF2B5EF4-FFF2-40B4-BE49-F238E27FC236}">
                <a16:creationId xmlns:a16="http://schemas.microsoft.com/office/drawing/2014/main" id="{CF210B88-FF10-4D05-DC1D-87CF0C317F12}"/>
              </a:ext>
            </a:extLst>
          </p:cNvPr>
          <p:cNvSpPr txBox="1"/>
          <p:nvPr/>
        </p:nvSpPr>
        <p:spPr>
          <a:xfrm>
            <a:off x="1828800" y="1100964"/>
            <a:ext cx="2043957" cy="400110"/>
          </a:xfrm>
          <a:prstGeom prst="rect">
            <a:avLst/>
          </a:prstGeom>
          <a:noFill/>
        </p:spPr>
        <p:txBody>
          <a:bodyPr wrap="none" rtlCol="0">
            <a:spAutoFit/>
          </a:bodyPr>
          <a:lstStyle/>
          <a:p>
            <a:r>
              <a:rPr lang="en-PS" sz="2000" dirty="0">
                <a:solidFill>
                  <a:srgbClr val="0432FF"/>
                </a:solidFill>
              </a:rPr>
              <a:t>The cost function </a:t>
            </a:r>
          </a:p>
        </p:txBody>
      </p:sp>
      <p:sp>
        <p:nvSpPr>
          <p:cNvPr id="5" name="TextBox 4">
            <a:extLst>
              <a:ext uri="{FF2B5EF4-FFF2-40B4-BE49-F238E27FC236}">
                <a16:creationId xmlns:a16="http://schemas.microsoft.com/office/drawing/2014/main" id="{420FDE2E-5DC3-7F8C-BA22-12D2FD7968DD}"/>
              </a:ext>
            </a:extLst>
          </p:cNvPr>
          <p:cNvSpPr txBox="1"/>
          <p:nvPr/>
        </p:nvSpPr>
        <p:spPr>
          <a:xfrm>
            <a:off x="76200" y="2343150"/>
            <a:ext cx="3618619" cy="369332"/>
          </a:xfrm>
          <a:prstGeom prst="rect">
            <a:avLst/>
          </a:prstGeom>
          <a:noFill/>
        </p:spPr>
        <p:txBody>
          <a:bodyPr wrap="none" rtlCol="0">
            <a:spAutoFit/>
          </a:bodyPr>
          <a:lstStyle/>
          <a:p>
            <a:r>
              <a:rPr lang="en-PS" dirty="0">
                <a:solidFill>
                  <a:srgbClr val="0432FF"/>
                </a:solidFill>
              </a:rPr>
              <a:t>the cost function as a function of x</a:t>
            </a:r>
            <a:r>
              <a:rPr lang="en-PS" baseline="30000" dirty="0">
                <a:solidFill>
                  <a:srgbClr val="0432FF"/>
                </a:solidFill>
              </a:rPr>
              <a:t>(i)</a:t>
            </a:r>
          </a:p>
        </p:txBody>
      </p:sp>
      <p:sp>
        <p:nvSpPr>
          <p:cNvPr id="6" name="TextBox 5">
            <a:extLst>
              <a:ext uri="{FF2B5EF4-FFF2-40B4-BE49-F238E27FC236}">
                <a16:creationId xmlns:a16="http://schemas.microsoft.com/office/drawing/2014/main" id="{1C936E5A-9075-F70D-F9EB-104730E8DBE1}"/>
              </a:ext>
            </a:extLst>
          </p:cNvPr>
          <p:cNvSpPr txBox="1"/>
          <p:nvPr/>
        </p:nvSpPr>
        <p:spPr>
          <a:xfrm>
            <a:off x="154935" y="3220576"/>
            <a:ext cx="3833678" cy="646331"/>
          </a:xfrm>
          <a:prstGeom prst="rect">
            <a:avLst/>
          </a:prstGeom>
          <a:noFill/>
        </p:spPr>
        <p:txBody>
          <a:bodyPr wrap="none" rtlCol="0">
            <a:spAutoFit/>
          </a:bodyPr>
          <a:lstStyle/>
          <a:p>
            <a:r>
              <a:rPr lang="en-PS" dirty="0">
                <a:solidFill>
                  <a:srgbClr val="0432FF"/>
                </a:solidFill>
              </a:rPr>
              <a:t>the derivative of the cost function with</a:t>
            </a:r>
          </a:p>
          <a:p>
            <a:r>
              <a:rPr lang="en-PS" dirty="0">
                <a:solidFill>
                  <a:srgbClr val="0432FF"/>
                </a:solidFill>
              </a:rPr>
              <a:t>respect to w</a:t>
            </a:r>
          </a:p>
        </p:txBody>
      </p:sp>
      <p:sp>
        <p:nvSpPr>
          <p:cNvPr id="8" name="TextBox 7">
            <a:extLst>
              <a:ext uri="{FF2B5EF4-FFF2-40B4-BE49-F238E27FC236}">
                <a16:creationId xmlns:a16="http://schemas.microsoft.com/office/drawing/2014/main" id="{11ADA908-3E39-C1DD-621B-FD585CE436D2}"/>
              </a:ext>
            </a:extLst>
          </p:cNvPr>
          <p:cNvSpPr txBox="1"/>
          <p:nvPr/>
        </p:nvSpPr>
        <p:spPr>
          <a:xfrm>
            <a:off x="97063" y="4015740"/>
            <a:ext cx="3833678" cy="646331"/>
          </a:xfrm>
          <a:prstGeom prst="rect">
            <a:avLst/>
          </a:prstGeom>
          <a:noFill/>
        </p:spPr>
        <p:txBody>
          <a:bodyPr wrap="none" rtlCol="0">
            <a:spAutoFit/>
          </a:bodyPr>
          <a:lstStyle/>
          <a:p>
            <a:r>
              <a:rPr lang="en-PS" dirty="0">
                <a:solidFill>
                  <a:srgbClr val="0432FF"/>
                </a:solidFill>
              </a:rPr>
              <a:t>the derivative of the cost function with</a:t>
            </a:r>
          </a:p>
          <a:p>
            <a:r>
              <a:rPr lang="en-PS" dirty="0">
                <a:solidFill>
                  <a:srgbClr val="0432FF"/>
                </a:solidFill>
              </a:rPr>
              <a:t>respect to b</a:t>
            </a:r>
          </a:p>
        </p:txBody>
      </p:sp>
    </p:spTree>
    <p:extLst>
      <p:ext uri="{BB962C8B-B14F-4D97-AF65-F5344CB8AC3E}">
        <p14:creationId xmlns:p14="http://schemas.microsoft.com/office/powerpoint/2010/main" val="1300833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841" y="282544"/>
            <a:ext cx="5266691" cy="428964"/>
          </a:xfrm>
          <a:prstGeom prst="rect">
            <a:avLst/>
          </a:prstGeom>
        </p:spPr>
        <p:txBody>
          <a:bodyPr vert="horz" wrap="square" lIns="0" tIns="13335" rIns="0" bIns="0" rtlCol="0">
            <a:spAutoFit/>
          </a:bodyPr>
          <a:lstStyle/>
          <a:p>
            <a:pPr marL="12700">
              <a:spcBef>
                <a:spcPts val="105"/>
              </a:spcBef>
            </a:pPr>
            <a:r>
              <a:rPr sz="3000" spc="5" dirty="0">
                <a:latin typeface="Gill Sans MT" panose="020B0502020104020203" pitchFamily="34" charset="77"/>
              </a:rPr>
              <a:t>Gradient</a:t>
            </a:r>
            <a:r>
              <a:rPr sz="3000" spc="-95" dirty="0">
                <a:latin typeface="Gill Sans MT" panose="020B0502020104020203" pitchFamily="34" charset="77"/>
              </a:rPr>
              <a:t> </a:t>
            </a:r>
            <a:r>
              <a:rPr sz="3000" dirty="0">
                <a:latin typeface="Gill Sans MT" panose="020B0502020104020203" pitchFamily="34" charset="77"/>
              </a:rPr>
              <a:t>descent</a:t>
            </a:r>
            <a:r>
              <a:rPr sz="3000" spc="-95" dirty="0">
                <a:latin typeface="Gill Sans MT" panose="020B0502020104020203" pitchFamily="34" charset="77"/>
              </a:rPr>
              <a:t> </a:t>
            </a:r>
            <a:r>
              <a:rPr sz="3000" spc="11" dirty="0">
                <a:latin typeface="Gill Sans MT" panose="020B0502020104020203" pitchFamily="34" charset="77"/>
              </a:rPr>
              <a:t>algorithm</a:t>
            </a:r>
            <a:endParaRPr sz="3000" dirty="0">
              <a:latin typeface="Gill Sans MT" panose="020B0502020104020203" pitchFamily="34" charset="77"/>
            </a:endParaRPr>
          </a:p>
        </p:txBody>
      </p:sp>
      <p:sp>
        <p:nvSpPr>
          <p:cNvPr id="3" name="object 3"/>
          <p:cNvSpPr txBox="1"/>
          <p:nvPr/>
        </p:nvSpPr>
        <p:spPr>
          <a:xfrm>
            <a:off x="661543" y="1013478"/>
            <a:ext cx="2700020" cy="324449"/>
          </a:xfrm>
          <a:prstGeom prst="rect">
            <a:avLst/>
          </a:prstGeom>
        </p:spPr>
        <p:txBody>
          <a:bodyPr vert="horz" wrap="square" lIns="0" tIns="16511" rIns="0" bIns="0" rtlCol="0">
            <a:spAutoFit/>
          </a:bodyPr>
          <a:lstStyle/>
          <a:p>
            <a:pPr marL="12700">
              <a:spcBef>
                <a:spcPts val="131"/>
              </a:spcBef>
            </a:pPr>
            <a:r>
              <a:rPr dirty="0">
                <a:latin typeface="Gill Sans MT" panose="020B0502020104020203" pitchFamily="34" charset="77"/>
                <a:cs typeface="Arial MT"/>
              </a:rPr>
              <a:t>r</a:t>
            </a:r>
            <a:r>
              <a:rPr spc="-31" dirty="0">
                <a:latin typeface="Gill Sans MT" panose="020B0502020104020203" pitchFamily="34" charset="77"/>
                <a:cs typeface="Arial MT"/>
              </a:rPr>
              <a:t>e</a:t>
            </a:r>
            <a:r>
              <a:rPr spc="45" dirty="0">
                <a:latin typeface="Gill Sans MT" panose="020B0502020104020203" pitchFamily="34" charset="77"/>
                <a:cs typeface="Arial MT"/>
              </a:rPr>
              <a:t>p</a:t>
            </a:r>
            <a:r>
              <a:rPr spc="-31" dirty="0">
                <a:latin typeface="Gill Sans MT" panose="020B0502020104020203" pitchFamily="34" charset="77"/>
                <a:cs typeface="Arial MT"/>
              </a:rPr>
              <a:t>ea</a:t>
            </a:r>
            <a:r>
              <a:rPr dirty="0">
                <a:latin typeface="Gill Sans MT" panose="020B0502020104020203" pitchFamily="34" charset="77"/>
                <a:cs typeface="Arial MT"/>
              </a:rPr>
              <a:t>t</a:t>
            </a:r>
            <a:r>
              <a:rPr spc="45" dirty="0">
                <a:latin typeface="Gill Sans MT" panose="020B0502020104020203" pitchFamily="34" charset="77"/>
                <a:cs typeface="Arial MT"/>
              </a:rPr>
              <a:t> un</a:t>
            </a:r>
            <a:r>
              <a:rPr spc="20" dirty="0">
                <a:latin typeface="Gill Sans MT" panose="020B0502020104020203" pitchFamily="34" charset="77"/>
                <a:cs typeface="Arial MT"/>
              </a:rPr>
              <a:t>t</a:t>
            </a:r>
            <a:r>
              <a:rPr spc="-31" dirty="0">
                <a:latin typeface="Gill Sans MT" panose="020B0502020104020203" pitchFamily="34" charset="77"/>
                <a:cs typeface="Arial MT"/>
              </a:rPr>
              <a:t>i</a:t>
            </a:r>
            <a:r>
              <a:rPr dirty="0">
                <a:latin typeface="Gill Sans MT" panose="020B0502020104020203" pitchFamily="34" charset="77"/>
                <a:cs typeface="Arial MT"/>
              </a:rPr>
              <a:t>l</a:t>
            </a:r>
            <a:r>
              <a:rPr spc="-155" dirty="0">
                <a:latin typeface="Gill Sans MT" panose="020B0502020104020203" pitchFamily="34" charset="77"/>
                <a:cs typeface="Arial MT"/>
              </a:rPr>
              <a:t> </a:t>
            </a:r>
            <a:r>
              <a:rPr dirty="0">
                <a:latin typeface="Gill Sans MT" panose="020B0502020104020203" pitchFamily="34" charset="77"/>
                <a:cs typeface="Arial MT"/>
              </a:rPr>
              <a:t>c</a:t>
            </a:r>
            <a:r>
              <a:rPr spc="-31" dirty="0">
                <a:latin typeface="Gill Sans MT" panose="020B0502020104020203" pitchFamily="34" charset="77"/>
                <a:cs typeface="Arial MT"/>
              </a:rPr>
              <a:t>o</a:t>
            </a:r>
            <a:r>
              <a:rPr spc="45" dirty="0">
                <a:latin typeface="Gill Sans MT" panose="020B0502020104020203" pitchFamily="34" charset="77"/>
                <a:cs typeface="Arial MT"/>
              </a:rPr>
              <a:t>n</a:t>
            </a:r>
            <a:r>
              <a:rPr spc="-80" dirty="0">
                <a:latin typeface="Gill Sans MT" panose="020B0502020104020203" pitchFamily="34" charset="77"/>
                <a:cs typeface="Arial MT"/>
              </a:rPr>
              <a:t>v</a:t>
            </a:r>
            <a:r>
              <a:rPr spc="-31" dirty="0">
                <a:latin typeface="Gill Sans MT" panose="020B0502020104020203" pitchFamily="34" charset="77"/>
                <a:cs typeface="Arial MT"/>
              </a:rPr>
              <a:t>e</a:t>
            </a:r>
            <a:r>
              <a:rPr dirty="0">
                <a:latin typeface="Gill Sans MT" panose="020B0502020104020203" pitchFamily="34" charset="77"/>
                <a:cs typeface="Arial MT"/>
              </a:rPr>
              <a:t>r</a:t>
            </a:r>
            <a:r>
              <a:rPr spc="45" dirty="0">
                <a:latin typeface="Gill Sans MT" panose="020B0502020104020203" pitchFamily="34" charset="77"/>
                <a:cs typeface="Arial MT"/>
              </a:rPr>
              <a:t>g</a:t>
            </a:r>
            <a:r>
              <a:rPr spc="-31" dirty="0">
                <a:latin typeface="Gill Sans MT" panose="020B0502020104020203" pitchFamily="34" charset="77"/>
                <a:cs typeface="Arial MT"/>
              </a:rPr>
              <a:t>e</a:t>
            </a:r>
            <a:r>
              <a:rPr spc="45" dirty="0">
                <a:latin typeface="Gill Sans MT" panose="020B0502020104020203" pitchFamily="34" charset="77"/>
                <a:cs typeface="Arial MT"/>
              </a:rPr>
              <a:t>n</a:t>
            </a:r>
            <a:r>
              <a:rPr dirty="0">
                <a:latin typeface="Gill Sans MT" panose="020B0502020104020203" pitchFamily="34" charset="77"/>
                <a:cs typeface="Arial MT"/>
              </a:rPr>
              <a:t>ce</a:t>
            </a:r>
            <a:r>
              <a:rPr spc="71" dirty="0">
                <a:latin typeface="Gill Sans MT" panose="020B0502020104020203" pitchFamily="34" charset="77"/>
                <a:cs typeface="Arial MT"/>
              </a:rPr>
              <a:t> </a:t>
            </a:r>
            <a:r>
              <a:rPr sz="2000" spc="11" dirty="0">
                <a:latin typeface="Gill Sans MT" panose="020B0502020104020203" pitchFamily="34" charset="77"/>
                <a:cs typeface="Cambria Math"/>
              </a:rPr>
              <a:t>{</a:t>
            </a:r>
            <a:endParaRPr sz="2000" dirty="0">
              <a:latin typeface="Gill Sans MT" panose="020B0502020104020203" pitchFamily="34" charset="77"/>
              <a:cs typeface="Cambria Math"/>
            </a:endParaRPr>
          </a:p>
        </p:txBody>
      </p:sp>
      <p:pic>
        <p:nvPicPr>
          <p:cNvPr id="4" name="object 4"/>
          <p:cNvPicPr/>
          <p:nvPr/>
        </p:nvPicPr>
        <p:blipFill>
          <a:blip r:embed="rId2" cstate="print"/>
          <a:stretch>
            <a:fillRect/>
          </a:stretch>
        </p:blipFill>
        <p:spPr>
          <a:xfrm>
            <a:off x="1245971" y="2014855"/>
            <a:ext cx="179476" cy="122047"/>
          </a:xfrm>
          <a:prstGeom prst="rect">
            <a:avLst/>
          </a:prstGeom>
        </p:spPr>
      </p:pic>
      <p:sp>
        <p:nvSpPr>
          <p:cNvPr id="5" name="object 5"/>
          <p:cNvSpPr/>
          <p:nvPr/>
        </p:nvSpPr>
        <p:spPr>
          <a:xfrm>
            <a:off x="1524509" y="2027048"/>
            <a:ext cx="154940" cy="69215"/>
          </a:xfrm>
          <a:custGeom>
            <a:avLst/>
            <a:gdLst/>
            <a:ahLst/>
            <a:cxnLst/>
            <a:rect l="l" t="t" r="r" b="b"/>
            <a:pathLst>
              <a:path w="154939" h="69214">
                <a:moveTo>
                  <a:pt x="154686" y="52070"/>
                </a:moveTo>
                <a:lnTo>
                  <a:pt x="0" y="52070"/>
                </a:lnTo>
                <a:lnTo>
                  <a:pt x="0" y="68834"/>
                </a:lnTo>
                <a:lnTo>
                  <a:pt x="154686" y="68834"/>
                </a:lnTo>
                <a:lnTo>
                  <a:pt x="154686" y="52070"/>
                </a:lnTo>
                <a:close/>
              </a:path>
              <a:path w="154939" h="69214">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1769872" y="2014855"/>
            <a:ext cx="179451" cy="122047"/>
          </a:xfrm>
          <a:prstGeom prst="rect">
            <a:avLst/>
          </a:prstGeom>
        </p:spPr>
      </p:pic>
      <p:sp>
        <p:nvSpPr>
          <p:cNvPr id="7" name="object 7"/>
          <p:cNvSpPr/>
          <p:nvPr/>
        </p:nvSpPr>
        <p:spPr>
          <a:xfrm>
            <a:off x="2038858" y="2053019"/>
            <a:ext cx="154940" cy="17145"/>
          </a:xfrm>
          <a:custGeom>
            <a:avLst/>
            <a:gdLst/>
            <a:ahLst/>
            <a:cxnLst/>
            <a:rect l="l" t="t" r="r" b="b"/>
            <a:pathLst>
              <a:path w="154939"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pic>
        <p:nvPicPr>
          <p:cNvPr id="8" name="object 8"/>
          <p:cNvPicPr/>
          <p:nvPr/>
        </p:nvPicPr>
        <p:blipFill>
          <a:blip r:embed="rId4" cstate="print"/>
          <a:stretch>
            <a:fillRect/>
          </a:stretch>
        </p:blipFill>
        <p:spPr>
          <a:xfrm>
            <a:off x="2280921" y="2012824"/>
            <a:ext cx="136652" cy="124079"/>
          </a:xfrm>
          <a:prstGeom prst="rect">
            <a:avLst/>
          </a:prstGeom>
        </p:spPr>
      </p:pic>
      <p:pic>
        <p:nvPicPr>
          <p:cNvPr id="9" name="object 9"/>
          <p:cNvPicPr/>
          <p:nvPr/>
        </p:nvPicPr>
        <p:blipFill>
          <a:blip r:embed="rId5" cstate="print"/>
          <a:stretch>
            <a:fillRect/>
          </a:stretch>
        </p:blipFill>
        <p:spPr>
          <a:xfrm>
            <a:off x="2528190" y="1771015"/>
            <a:ext cx="99949" cy="173355"/>
          </a:xfrm>
          <a:prstGeom prst="rect">
            <a:avLst/>
          </a:prstGeom>
        </p:spPr>
      </p:pic>
      <p:pic>
        <p:nvPicPr>
          <p:cNvPr id="10" name="object 10"/>
          <p:cNvPicPr/>
          <p:nvPr/>
        </p:nvPicPr>
        <p:blipFill>
          <a:blip r:embed="rId6" cstate="print"/>
          <a:stretch>
            <a:fillRect/>
          </a:stretch>
        </p:blipFill>
        <p:spPr>
          <a:xfrm>
            <a:off x="2470786" y="2184145"/>
            <a:ext cx="209551" cy="124207"/>
          </a:xfrm>
          <a:prstGeom prst="rect">
            <a:avLst/>
          </a:prstGeom>
        </p:spPr>
      </p:pic>
      <p:pic>
        <p:nvPicPr>
          <p:cNvPr id="11" name="object 11"/>
          <p:cNvPicPr/>
          <p:nvPr/>
        </p:nvPicPr>
        <p:blipFill>
          <a:blip r:embed="rId7" cstate="print"/>
          <a:stretch>
            <a:fillRect/>
          </a:stretch>
        </p:blipFill>
        <p:spPr>
          <a:xfrm>
            <a:off x="2804923" y="1649349"/>
            <a:ext cx="171069" cy="96647"/>
          </a:xfrm>
          <a:prstGeom prst="rect">
            <a:avLst/>
          </a:prstGeom>
        </p:spPr>
      </p:pic>
      <p:grpSp>
        <p:nvGrpSpPr>
          <p:cNvPr id="12" name="object 12"/>
          <p:cNvGrpSpPr/>
          <p:nvPr/>
        </p:nvGrpSpPr>
        <p:grpSpPr>
          <a:xfrm>
            <a:off x="5081398" y="1895729"/>
            <a:ext cx="363855" cy="241300"/>
            <a:chOff x="5081396" y="1895729"/>
            <a:chExt cx="363855" cy="241300"/>
          </a:xfrm>
        </p:grpSpPr>
        <p:pic>
          <p:nvPicPr>
            <p:cNvPr id="13" name="object 13"/>
            <p:cNvPicPr/>
            <p:nvPr/>
          </p:nvPicPr>
          <p:blipFill>
            <a:blip r:embed="rId8" cstate="print"/>
            <a:stretch>
              <a:fillRect/>
            </a:stretch>
          </p:blipFill>
          <p:spPr>
            <a:xfrm>
              <a:off x="5081396" y="2012696"/>
              <a:ext cx="129286" cy="124206"/>
            </a:xfrm>
            <a:prstGeom prst="rect">
              <a:avLst/>
            </a:prstGeom>
          </p:spPr>
        </p:pic>
        <p:pic>
          <p:nvPicPr>
            <p:cNvPr id="14" name="object 14"/>
            <p:cNvPicPr/>
            <p:nvPr/>
          </p:nvPicPr>
          <p:blipFill>
            <a:blip r:embed="rId9" cstate="print"/>
            <a:stretch>
              <a:fillRect/>
            </a:stretch>
          </p:blipFill>
          <p:spPr>
            <a:xfrm>
              <a:off x="5246750" y="1895729"/>
              <a:ext cx="197993" cy="176402"/>
            </a:xfrm>
            <a:prstGeom prst="rect">
              <a:avLst/>
            </a:prstGeom>
          </p:spPr>
        </p:pic>
      </p:grpSp>
      <p:pic>
        <p:nvPicPr>
          <p:cNvPr id="15" name="object 15"/>
          <p:cNvPicPr/>
          <p:nvPr/>
        </p:nvPicPr>
        <p:blipFill>
          <a:blip r:embed="rId10" cstate="print"/>
          <a:stretch>
            <a:fillRect/>
          </a:stretch>
        </p:blipFill>
        <p:spPr>
          <a:xfrm>
            <a:off x="1250607" y="2793494"/>
            <a:ext cx="113880" cy="181609"/>
          </a:xfrm>
          <a:prstGeom prst="rect">
            <a:avLst/>
          </a:prstGeom>
        </p:spPr>
      </p:pic>
      <p:sp>
        <p:nvSpPr>
          <p:cNvPr id="16" name="object 16"/>
          <p:cNvSpPr/>
          <p:nvPr/>
        </p:nvSpPr>
        <p:spPr>
          <a:xfrm>
            <a:off x="1467359" y="2865248"/>
            <a:ext cx="154940" cy="69215"/>
          </a:xfrm>
          <a:custGeom>
            <a:avLst/>
            <a:gdLst/>
            <a:ahLst/>
            <a:cxnLst/>
            <a:rect l="l" t="t" r="r" b="b"/>
            <a:pathLst>
              <a:path w="154940" h="69214">
                <a:moveTo>
                  <a:pt x="154686" y="52070"/>
                </a:moveTo>
                <a:lnTo>
                  <a:pt x="0" y="52070"/>
                </a:lnTo>
                <a:lnTo>
                  <a:pt x="0" y="68834"/>
                </a:lnTo>
                <a:lnTo>
                  <a:pt x="154686" y="68834"/>
                </a:lnTo>
                <a:lnTo>
                  <a:pt x="154686" y="52070"/>
                </a:lnTo>
                <a:close/>
              </a:path>
              <a:path w="154940" h="69214">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a:p>
        </p:txBody>
      </p:sp>
      <p:pic>
        <p:nvPicPr>
          <p:cNvPr id="17" name="object 17"/>
          <p:cNvPicPr/>
          <p:nvPr/>
        </p:nvPicPr>
        <p:blipFill>
          <a:blip r:embed="rId11" cstate="print"/>
          <a:stretch>
            <a:fillRect/>
          </a:stretch>
        </p:blipFill>
        <p:spPr>
          <a:xfrm>
            <a:off x="1726819" y="2793494"/>
            <a:ext cx="113919" cy="181609"/>
          </a:xfrm>
          <a:prstGeom prst="rect">
            <a:avLst/>
          </a:prstGeom>
        </p:spPr>
      </p:pic>
      <p:sp>
        <p:nvSpPr>
          <p:cNvPr id="18" name="object 18"/>
          <p:cNvSpPr/>
          <p:nvPr/>
        </p:nvSpPr>
        <p:spPr>
          <a:xfrm>
            <a:off x="1934083" y="2891219"/>
            <a:ext cx="154940" cy="17145"/>
          </a:xfrm>
          <a:custGeom>
            <a:avLst/>
            <a:gdLst/>
            <a:ahLst/>
            <a:cxnLst/>
            <a:rect l="l" t="t" r="r" b="b"/>
            <a:pathLst>
              <a:path w="154939"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pic>
        <p:nvPicPr>
          <p:cNvPr id="19" name="object 19"/>
          <p:cNvPicPr/>
          <p:nvPr/>
        </p:nvPicPr>
        <p:blipFill>
          <a:blip r:embed="rId4" cstate="print"/>
          <a:stretch>
            <a:fillRect/>
          </a:stretch>
        </p:blipFill>
        <p:spPr>
          <a:xfrm>
            <a:off x="2176146" y="2851024"/>
            <a:ext cx="136652" cy="124079"/>
          </a:xfrm>
          <a:prstGeom prst="rect">
            <a:avLst/>
          </a:prstGeom>
        </p:spPr>
      </p:pic>
      <p:pic>
        <p:nvPicPr>
          <p:cNvPr id="20" name="object 20"/>
          <p:cNvPicPr/>
          <p:nvPr/>
        </p:nvPicPr>
        <p:blipFill>
          <a:blip r:embed="rId5" cstate="print"/>
          <a:stretch>
            <a:fillRect/>
          </a:stretch>
        </p:blipFill>
        <p:spPr>
          <a:xfrm>
            <a:off x="2423415" y="2609215"/>
            <a:ext cx="99949" cy="173355"/>
          </a:xfrm>
          <a:prstGeom prst="rect">
            <a:avLst/>
          </a:prstGeom>
        </p:spPr>
      </p:pic>
      <p:pic>
        <p:nvPicPr>
          <p:cNvPr id="21" name="object 21"/>
          <p:cNvPicPr/>
          <p:nvPr/>
        </p:nvPicPr>
        <p:blipFill>
          <a:blip r:embed="rId6" cstate="print"/>
          <a:stretch>
            <a:fillRect/>
          </a:stretch>
        </p:blipFill>
        <p:spPr>
          <a:xfrm>
            <a:off x="2366010" y="3022345"/>
            <a:ext cx="209551" cy="124207"/>
          </a:xfrm>
          <a:prstGeom prst="rect">
            <a:avLst/>
          </a:prstGeom>
        </p:spPr>
      </p:pic>
      <p:grpSp>
        <p:nvGrpSpPr>
          <p:cNvPr id="22" name="object 22"/>
          <p:cNvGrpSpPr/>
          <p:nvPr/>
        </p:nvGrpSpPr>
        <p:grpSpPr>
          <a:xfrm>
            <a:off x="2467737" y="1815973"/>
            <a:ext cx="2531745" cy="768351"/>
            <a:chOff x="2467736" y="1815973"/>
            <a:chExt cx="2531745" cy="768350"/>
          </a:xfrm>
        </p:grpSpPr>
        <p:sp>
          <p:nvSpPr>
            <p:cNvPr id="23" name="object 23"/>
            <p:cNvSpPr/>
            <p:nvPr/>
          </p:nvSpPr>
          <p:spPr>
            <a:xfrm>
              <a:off x="2467737" y="1815972"/>
              <a:ext cx="575945" cy="644525"/>
            </a:xfrm>
            <a:custGeom>
              <a:avLst/>
              <a:gdLst/>
              <a:ahLst/>
              <a:cxnLst/>
              <a:rect l="l" t="t" r="r" b="b"/>
              <a:pathLst>
                <a:path w="575944" h="644525">
                  <a:moveTo>
                    <a:pt x="219075" y="233172"/>
                  </a:moveTo>
                  <a:lnTo>
                    <a:pt x="0" y="233172"/>
                  </a:lnTo>
                  <a:lnTo>
                    <a:pt x="0" y="252222"/>
                  </a:lnTo>
                  <a:lnTo>
                    <a:pt x="219075" y="252222"/>
                  </a:lnTo>
                  <a:lnTo>
                    <a:pt x="219075" y="233172"/>
                  </a:lnTo>
                  <a:close/>
                </a:path>
                <a:path w="575944" h="644525">
                  <a:moveTo>
                    <a:pt x="324612" y="511302"/>
                  </a:moveTo>
                  <a:lnTo>
                    <a:pt x="305943" y="511302"/>
                  </a:lnTo>
                  <a:lnTo>
                    <a:pt x="301625" y="531241"/>
                  </a:lnTo>
                  <a:lnTo>
                    <a:pt x="320040" y="531241"/>
                  </a:lnTo>
                  <a:lnTo>
                    <a:pt x="324612" y="511302"/>
                  </a:lnTo>
                  <a:close/>
                </a:path>
                <a:path w="575944" h="644525">
                  <a:moveTo>
                    <a:pt x="328168" y="626618"/>
                  </a:moveTo>
                  <a:lnTo>
                    <a:pt x="321818" y="620395"/>
                  </a:lnTo>
                  <a:lnTo>
                    <a:pt x="319913" y="622554"/>
                  </a:lnTo>
                  <a:lnTo>
                    <a:pt x="316738" y="625729"/>
                  </a:lnTo>
                  <a:lnTo>
                    <a:pt x="313817" y="628396"/>
                  </a:lnTo>
                  <a:lnTo>
                    <a:pt x="311277" y="630174"/>
                  </a:lnTo>
                  <a:lnTo>
                    <a:pt x="310134" y="630936"/>
                  </a:lnTo>
                  <a:lnTo>
                    <a:pt x="308991" y="631317"/>
                  </a:lnTo>
                  <a:lnTo>
                    <a:pt x="307848" y="631825"/>
                  </a:lnTo>
                  <a:lnTo>
                    <a:pt x="306705" y="631952"/>
                  </a:lnTo>
                  <a:lnTo>
                    <a:pt x="303657" y="631952"/>
                  </a:lnTo>
                  <a:lnTo>
                    <a:pt x="302260" y="631444"/>
                  </a:lnTo>
                  <a:lnTo>
                    <a:pt x="301244" y="630428"/>
                  </a:lnTo>
                  <a:lnTo>
                    <a:pt x="300355" y="629412"/>
                  </a:lnTo>
                  <a:lnTo>
                    <a:pt x="299847" y="627634"/>
                  </a:lnTo>
                  <a:lnTo>
                    <a:pt x="299910" y="622554"/>
                  </a:lnTo>
                  <a:lnTo>
                    <a:pt x="299974" y="621665"/>
                  </a:lnTo>
                  <a:lnTo>
                    <a:pt x="300736" y="617220"/>
                  </a:lnTo>
                  <a:lnTo>
                    <a:pt x="302133" y="610743"/>
                  </a:lnTo>
                  <a:lnTo>
                    <a:pt x="315976" y="548767"/>
                  </a:lnTo>
                  <a:lnTo>
                    <a:pt x="311404" y="548767"/>
                  </a:lnTo>
                  <a:lnTo>
                    <a:pt x="284480" y="549783"/>
                  </a:lnTo>
                  <a:lnTo>
                    <a:pt x="283337" y="556133"/>
                  </a:lnTo>
                  <a:lnTo>
                    <a:pt x="287274" y="556260"/>
                  </a:lnTo>
                  <a:lnTo>
                    <a:pt x="290195" y="556895"/>
                  </a:lnTo>
                  <a:lnTo>
                    <a:pt x="291719" y="557911"/>
                  </a:lnTo>
                  <a:lnTo>
                    <a:pt x="293243" y="559054"/>
                  </a:lnTo>
                  <a:lnTo>
                    <a:pt x="294132" y="560832"/>
                  </a:lnTo>
                  <a:lnTo>
                    <a:pt x="294132" y="565912"/>
                  </a:lnTo>
                  <a:lnTo>
                    <a:pt x="293751" y="568833"/>
                  </a:lnTo>
                  <a:lnTo>
                    <a:pt x="293243" y="572135"/>
                  </a:lnTo>
                  <a:lnTo>
                    <a:pt x="292608" y="575691"/>
                  </a:lnTo>
                  <a:lnTo>
                    <a:pt x="291846" y="579247"/>
                  </a:lnTo>
                  <a:lnTo>
                    <a:pt x="291084" y="582930"/>
                  </a:lnTo>
                  <a:lnTo>
                    <a:pt x="290195" y="586740"/>
                  </a:lnTo>
                  <a:lnTo>
                    <a:pt x="289306" y="590677"/>
                  </a:lnTo>
                  <a:lnTo>
                    <a:pt x="288290" y="594487"/>
                  </a:lnTo>
                  <a:lnTo>
                    <a:pt x="286512" y="602361"/>
                  </a:lnTo>
                  <a:lnTo>
                    <a:pt x="285623" y="606044"/>
                  </a:lnTo>
                  <a:lnTo>
                    <a:pt x="284099" y="613156"/>
                  </a:lnTo>
                  <a:lnTo>
                    <a:pt x="283464" y="616458"/>
                  </a:lnTo>
                  <a:lnTo>
                    <a:pt x="282448" y="622554"/>
                  </a:lnTo>
                  <a:lnTo>
                    <a:pt x="282346" y="623570"/>
                  </a:lnTo>
                  <a:lnTo>
                    <a:pt x="282270" y="630174"/>
                  </a:lnTo>
                  <a:lnTo>
                    <a:pt x="282575" y="632079"/>
                  </a:lnTo>
                  <a:lnTo>
                    <a:pt x="283337" y="634111"/>
                  </a:lnTo>
                  <a:lnTo>
                    <a:pt x="284099" y="636270"/>
                  </a:lnTo>
                  <a:lnTo>
                    <a:pt x="285115" y="638048"/>
                  </a:lnTo>
                  <a:lnTo>
                    <a:pt x="286512" y="639572"/>
                  </a:lnTo>
                  <a:lnTo>
                    <a:pt x="287782" y="641096"/>
                  </a:lnTo>
                  <a:lnTo>
                    <a:pt x="289433" y="642239"/>
                  </a:lnTo>
                  <a:lnTo>
                    <a:pt x="293243" y="644017"/>
                  </a:lnTo>
                  <a:lnTo>
                    <a:pt x="295402" y="644398"/>
                  </a:lnTo>
                  <a:lnTo>
                    <a:pt x="300228" y="644398"/>
                  </a:lnTo>
                  <a:lnTo>
                    <a:pt x="322732" y="631952"/>
                  </a:lnTo>
                  <a:lnTo>
                    <a:pt x="324866" y="629920"/>
                  </a:lnTo>
                  <a:lnTo>
                    <a:pt x="328168" y="626618"/>
                  </a:lnTo>
                  <a:close/>
                </a:path>
                <a:path w="575944" h="644525">
                  <a:moveTo>
                    <a:pt x="465836" y="601472"/>
                  </a:moveTo>
                  <a:lnTo>
                    <a:pt x="358648" y="601472"/>
                  </a:lnTo>
                  <a:lnTo>
                    <a:pt x="358648" y="615696"/>
                  </a:lnTo>
                  <a:lnTo>
                    <a:pt x="465836" y="615696"/>
                  </a:lnTo>
                  <a:lnTo>
                    <a:pt x="465836" y="601472"/>
                  </a:lnTo>
                  <a:close/>
                </a:path>
                <a:path w="575944" h="644525">
                  <a:moveTo>
                    <a:pt x="465836" y="560959"/>
                  </a:moveTo>
                  <a:lnTo>
                    <a:pt x="358648" y="560959"/>
                  </a:lnTo>
                  <a:lnTo>
                    <a:pt x="358648" y="575310"/>
                  </a:lnTo>
                  <a:lnTo>
                    <a:pt x="465836" y="575310"/>
                  </a:lnTo>
                  <a:lnTo>
                    <a:pt x="465836" y="560959"/>
                  </a:lnTo>
                  <a:close/>
                </a:path>
                <a:path w="575944" h="644525">
                  <a:moveTo>
                    <a:pt x="575691" y="398907"/>
                  </a:moveTo>
                  <a:lnTo>
                    <a:pt x="557149" y="398907"/>
                  </a:lnTo>
                  <a:lnTo>
                    <a:pt x="554240" y="414985"/>
                  </a:lnTo>
                  <a:lnTo>
                    <a:pt x="551065" y="427926"/>
                  </a:lnTo>
                  <a:lnTo>
                    <a:pt x="547624" y="437743"/>
                  </a:lnTo>
                  <a:lnTo>
                    <a:pt x="543941" y="444373"/>
                  </a:lnTo>
                  <a:lnTo>
                    <a:pt x="538861" y="451104"/>
                  </a:lnTo>
                  <a:lnTo>
                    <a:pt x="531495" y="454533"/>
                  </a:lnTo>
                  <a:lnTo>
                    <a:pt x="303911" y="454533"/>
                  </a:lnTo>
                  <a:lnTo>
                    <a:pt x="465709" y="235077"/>
                  </a:lnTo>
                  <a:lnTo>
                    <a:pt x="465709" y="219837"/>
                  </a:lnTo>
                  <a:lnTo>
                    <a:pt x="315849" y="16383"/>
                  </a:lnTo>
                  <a:lnTo>
                    <a:pt x="513969" y="16383"/>
                  </a:lnTo>
                  <a:lnTo>
                    <a:pt x="544652" y="40513"/>
                  </a:lnTo>
                  <a:lnTo>
                    <a:pt x="552323" y="74295"/>
                  </a:lnTo>
                  <a:lnTo>
                    <a:pt x="568960" y="74295"/>
                  </a:lnTo>
                  <a:lnTo>
                    <a:pt x="568960" y="0"/>
                  </a:lnTo>
                  <a:lnTo>
                    <a:pt x="265684" y="0"/>
                  </a:lnTo>
                  <a:lnTo>
                    <a:pt x="265684" y="11938"/>
                  </a:lnTo>
                  <a:lnTo>
                    <a:pt x="436372" y="240030"/>
                  </a:lnTo>
                  <a:lnTo>
                    <a:pt x="260477" y="478536"/>
                  </a:lnTo>
                  <a:lnTo>
                    <a:pt x="260477" y="490982"/>
                  </a:lnTo>
                  <a:lnTo>
                    <a:pt x="569214" y="490982"/>
                  </a:lnTo>
                  <a:lnTo>
                    <a:pt x="575691" y="398907"/>
                  </a:lnTo>
                  <a:close/>
                </a:path>
              </a:pathLst>
            </a:custGeom>
            <a:solidFill>
              <a:srgbClr val="000000"/>
            </a:solidFill>
          </p:spPr>
          <p:txBody>
            <a:bodyPr wrap="square" lIns="0" tIns="0" rIns="0" bIns="0" rtlCol="0"/>
            <a:lstStyle/>
            <a:p>
              <a:endParaRPr/>
            </a:p>
          </p:txBody>
        </p:sp>
        <p:pic>
          <p:nvPicPr>
            <p:cNvPr id="24" name="object 24"/>
            <p:cNvPicPr/>
            <p:nvPr/>
          </p:nvPicPr>
          <p:blipFill>
            <a:blip r:embed="rId12" cstate="print"/>
            <a:stretch>
              <a:fillRect/>
            </a:stretch>
          </p:blipFill>
          <p:spPr>
            <a:xfrm>
              <a:off x="2970529" y="2338959"/>
              <a:ext cx="78993" cy="119761"/>
            </a:xfrm>
            <a:prstGeom prst="rect">
              <a:avLst/>
            </a:prstGeom>
          </p:spPr>
        </p:pic>
        <p:pic>
          <p:nvPicPr>
            <p:cNvPr id="25" name="object 25"/>
            <p:cNvPicPr/>
            <p:nvPr/>
          </p:nvPicPr>
          <p:blipFill>
            <a:blip r:embed="rId13" cstate="print"/>
            <a:stretch>
              <a:fillRect/>
            </a:stretch>
          </p:blipFill>
          <p:spPr>
            <a:xfrm>
              <a:off x="3080898" y="1895729"/>
              <a:ext cx="1918202" cy="321944"/>
            </a:xfrm>
            <a:prstGeom prst="rect">
              <a:avLst/>
            </a:prstGeom>
          </p:spPr>
        </p:pic>
        <p:pic>
          <p:nvPicPr>
            <p:cNvPr id="26" name="object 26"/>
            <p:cNvPicPr/>
            <p:nvPr/>
          </p:nvPicPr>
          <p:blipFill>
            <a:blip r:embed="rId7" cstate="print"/>
            <a:stretch>
              <a:fillRect/>
            </a:stretch>
          </p:blipFill>
          <p:spPr>
            <a:xfrm>
              <a:off x="2700146" y="2487549"/>
              <a:ext cx="171069" cy="96646"/>
            </a:xfrm>
            <a:prstGeom prst="rect">
              <a:avLst/>
            </a:prstGeom>
          </p:spPr>
        </p:pic>
      </p:grpSp>
      <p:grpSp>
        <p:nvGrpSpPr>
          <p:cNvPr id="27" name="object 27"/>
          <p:cNvGrpSpPr/>
          <p:nvPr/>
        </p:nvGrpSpPr>
        <p:grpSpPr>
          <a:xfrm>
            <a:off x="2362961" y="2654174"/>
            <a:ext cx="1092835" cy="644525"/>
            <a:chOff x="2362961" y="2654173"/>
            <a:chExt cx="1092835" cy="644525"/>
          </a:xfrm>
        </p:grpSpPr>
        <p:sp>
          <p:nvSpPr>
            <p:cNvPr id="28" name="object 28"/>
            <p:cNvSpPr/>
            <p:nvPr/>
          </p:nvSpPr>
          <p:spPr>
            <a:xfrm>
              <a:off x="2362962" y="2654172"/>
              <a:ext cx="575945" cy="644525"/>
            </a:xfrm>
            <a:custGeom>
              <a:avLst/>
              <a:gdLst/>
              <a:ahLst/>
              <a:cxnLst/>
              <a:rect l="l" t="t" r="r" b="b"/>
              <a:pathLst>
                <a:path w="575944" h="644525">
                  <a:moveTo>
                    <a:pt x="219075" y="233172"/>
                  </a:moveTo>
                  <a:lnTo>
                    <a:pt x="0" y="233172"/>
                  </a:lnTo>
                  <a:lnTo>
                    <a:pt x="0" y="252222"/>
                  </a:lnTo>
                  <a:lnTo>
                    <a:pt x="219075" y="252222"/>
                  </a:lnTo>
                  <a:lnTo>
                    <a:pt x="219075" y="233172"/>
                  </a:lnTo>
                  <a:close/>
                </a:path>
                <a:path w="575944" h="644525">
                  <a:moveTo>
                    <a:pt x="324612" y="511302"/>
                  </a:moveTo>
                  <a:lnTo>
                    <a:pt x="305943" y="511302"/>
                  </a:lnTo>
                  <a:lnTo>
                    <a:pt x="301625" y="531241"/>
                  </a:lnTo>
                  <a:lnTo>
                    <a:pt x="320040" y="531241"/>
                  </a:lnTo>
                  <a:lnTo>
                    <a:pt x="324612" y="511302"/>
                  </a:lnTo>
                  <a:close/>
                </a:path>
                <a:path w="575944" h="644525">
                  <a:moveTo>
                    <a:pt x="328168" y="626618"/>
                  </a:moveTo>
                  <a:lnTo>
                    <a:pt x="321818" y="620395"/>
                  </a:lnTo>
                  <a:lnTo>
                    <a:pt x="319913" y="622554"/>
                  </a:lnTo>
                  <a:lnTo>
                    <a:pt x="316738" y="625729"/>
                  </a:lnTo>
                  <a:lnTo>
                    <a:pt x="313817" y="628396"/>
                  </a:lnTo>
                  <a:lnTo>
                    <a:pt x="311277" y="630174"/>
                  </a:lnTo>
                  <a:lnTo>
                    <a:pt x="310134" y="630936"/>
                  </a:lnTo>
                  <a:lnTo>
                    <a:pt x="308991" y="631317"/>
                  </a:lnTo>
                  <a:lnTo>
                    <a:pt x="307848" y="631825"/>
                  </a:lnTo>
                  <a:lnTo>
                    <a:pt x="306705" y="631952"/>
                  </a:lnTo>
                  <a:lnTo>
                    <a:pt x="303657" y="631952"/>
                  </a:lnTo>
                  <a:lnTo>
                    <a:pt x="302260" y="631444"/>
                  </a:lnTo>
                  <a:lnTo>
                    <a:pt x="301244" y="630428"/>
                  </a:lnTo>
                  <a:lnTo>
                    <a:pt x="300355" y="629412"/>
                  </a:lnTo>
                  <a:lnTo>
                    <a:pt x="299847" y="627634"/>
                  </a:lnTo>
                  <a:lnTo>
                    <a:pt x="299910" y="622554"/>
                  </a:lnTo>
                  <a:lnTo>
                    <a:pt x="299974" y="621665"/>
                  </a:lnTo>
                  <a:lnTo>
                    <a:pt x="300736" y="617220"/>
                  </a:lnTo>
                  <a:lnTo>
                    <a:pt x="302133" y="610743"/>
                  </a:lnTo>
                  <a:lnTo>
                    <a:pt x="315976" y="548767"/>
                  </a:lnTo>
                  <a:lnTo>
                    <a:pt x="311404" y="548767"/>
                  </a:lnTo>
                  <a:lnTo>
                    <a:pt x="284480" y="549783"/>
                  </a:lnTo>
                  <a:lnTo>
                    <a:pt x="283337" y="556133"/>
                  </a:lnTo>
                  <a:lnTo>
                    <a:pt x="287274" y="556260"/>
                  </a:lnTo>
                  <a:lnTo>
                    <a:pt x="290195" y="556895"/>
                  </a:lnTo>
                  <a:lnTo>
                    <a:pt x="291719" y="557911"/>
                  </a:lnTo>
                  <a:lnTo>
                    <a:pt x="293243" y="559054"/>
                  </a:lnTo>
                  <a:lnTo>
                    <a:pt x="294132" y="560832"/>
                  </a:lnTo>
                  <a:lnTo>
                    <a:pt x="294132" y="565912"/>
                  </a:lnTo>
                  <a:lnTo>
                    <a:pt x="293751" y="568833"/>
                  </a:lnTo>
                  <a:lnTo>
                    <a:pt x="293243" y="572135"/>
                  </a:lnTo>
                  <a:lnTo>
                    <a:pt x="292608" y="575691"/>
                  </a:lnTo>
                  <a:lnTo>
                    <a:pt x="291846" y="579247"/>
                  </a:lnTo>
                  <a:lnTo>
                    <a:pt x="291084" y="582930"/>
                  </a:lnTo>
                  <a:lnTo>
                    <a:pt x="290195" y="586740"/>
                  </a:lnTo>
                  <a:lnTo>
                    <a:pt x="289306" y="590677"/>
                  </a:lnTo>
                  <a:lnTo>
                    <a:pt x="288290" y="594487"/>
                  </a:lnTo>
                  <a:lnTo>
                    <a:pt x="286512" y="602361"/>
                  </a:lnTo>
                  <a:lnTo>
                    <a:pt x="285623" y="606044"/>
                  </a:lnTo>
                  <a:lnTo>
                    <a:pt x="284099" y="613156"/>
                  </a:lnTo>
                  <a:lnTo>
                    <a:pt x="283464" y="616458"/>
                  </a:lnTo>
                  <a:lnTo>
                    <a:pt x="282448" y="622554"/>
                  </a:lnTo>
                  <a:lnTo>
                    <a:pt x="282346" y="623570"/>
                  </a:lnTo>
                  <a:lnTo>
                    <a:pt x="282270" y="630174"/>
                  </a:lnTo>
                  <a:lnTo>
                    <a:pt x="282575" y="632079"/>
                  </a:lnTo>
                  <a:lnTo>
                    <a:pt x="283337" y="634111"/>
                  </a:lnTo>
                  <a:lnTo>
                    <a:pt x="284099" y="636270"/>
                  </a:lnTo>
                  <a:lnTo>
                    <a:pt x="285115" y="638048"/>
                  </a:lnTo>
                  <a:lnTo>
                    <a:pt x="286512" y="639572"/>
                  </a:lnTo>
                  <a:lnTo>
                    <a:pt x="287782" y="641096"/>
                  </a:lnTo>
                  <a:lnTo>
                    <a:pt x="289433" y="642239"/>
                  </a:lnTo>
                  <a:lnTo>
                    <a:pt x="293243" y="644017"/>
                  </a:lnTo>
                  <a:lnTo>
                    <a:pt x="295402" y="644398"/>
                  </a:lnTo>
                  <a:lnTo>
                    <a:pt x="300228" y="644398"/>
                  </a:lnTo>
                  <a:lnTo>
                    <a:pt x="322732" y="631952"/>
                  </a:lnTo>
                  <a:lnTo>
                    <a:pt x="324866" y="629920"/>
                  </a:lnTo>
                  <a:lnTo>
                    <a:pt x="328168" y="626618"/>
                  </a:lnTo>
                  <a:close/>
                </a:path>
                <a:path w="575944" h="644525">
                  <a:moveTo>
                    <a:pt x="465836" y="601472"/>
                  </a:moveTo>
                  <a:lnTo>
                    <a:pt x="358648" y="601472"/>
                  </a:lnTo>
                  <a:lnTo>
                    <a:pt x="358648" y="615696"/>
                  </a:lnTo>
                  <a:lnTo>
                    <a:pt x="465836" y="615696"/>
                  </a:lnTo>
                  <a:lnTo>
                    <a:pt x="465836" y="601472"/>
                  </a:lnTo>
                  <a:close/>
                </a:path>
                <a:path w="575944" h="644525">
                  <a:moveTo>
                    <a:pt x="465836" y="560959"/>
                  </a:moveTo>
                  <a:lnTo>
                    <a:pt x="358648" y="560959"/>
                  </a:lnTo>
                  <a:lnTo>
                    <a:pt x="358648" y="575310"/>
                  </a:lnTo>
                  <a:lnTo>
                    <a:pt x="465836" y="575310"/>
                  </a:lnTo>
                  <a:lnTo>
                    <a:pt x="465836" y="560959"/>
                  </a:lnTo>
                  <a:close/>
                </a:path>
                <a:path w="575944" h="644525">
                  <a:moveTo>
                    <a:pt x="575691" y="398907"/>
                  </a:moveTo>
                  <a:lnTo>
                    <a:pt x="557149" y="398907"/>
                  </a:lnTo>
                  <a:lnTo>
                    <a:pt x="554240" y="414985"/>
                  </a:lnTo>
                  <a:lnTo>
                    <a:pt x="551065" y="427926"/>
                  </a:lnTo>
                  <a:lnTo>
                    <a:pt x="547624" y="437743"/>
                  </a:lnTo>
                  <a:lnTo>
                    <a:pt x="543941" y="444373"/>
                  </a:lnTo>
                  <a:lnTo>
                    <a:pt x="538861" y="451104"/>
                  </a:lnTo>
                  <a:lnTo>
                    <a:pt x="531495" y="454533"/>
                  </a:lnTo>
                  <a:lnTo>
                    <a:pt x="303911" y="454533"/>
                  </a:lnTo>
                  <a:lnTo>
                    <a:pt x="465709" y="235077"/>
                  </a:lnTo>
                  <a:lnTo>
                    <a:pt x="465709" y="219837"/>
                  </a:lnTo>
                  <a:lnTo>
                    <a:pt x="315849" y="16383"/>
                  </a:lnTo>
                  <a:lnTo>
                    <a:pt x="513969" y="16383"/>
                  </a:lnTo>
                  <a:lnTo>
                    <a:pt x="544652" y="40513"/>
                  </a:lnTo>
                  <a:lnTo>
                    <a:pt x="552323" y="74295"/>
                  </a:lnTo>
                  <a:lnTo>
                    <a:pt x="568960" y="74295"/>
                  </a:lnTo>
                  <a:lnTo>
                    <a:pt x="568960" y="0"/>
                  </a:lnTo>
                  <a:lnTo>
                    <a:pt x="265684" y="0"/>
                  </a:lnTo>
                  <a:lnTo>
                    <a:pt x="265684" y="11938"/>
                  </a:lnTo>
                  <a:lnTo>
                    <a:pt x="436372" y="240030"/>
                  </a:lnTo>
                  <a:lnTo>
                    <a:pt x="260477" y="478536"/>
                  </a:lnTo>
                  <a:lnTo>
                    <a:pt x="260477" y="490982"/>
                  </a:lnTo>
                  <a:lnTo>
                    <a:pt x="569214" y="490982"/>
                  </a:lnTo>
                  <a:lnTo>
                    <a:pt x="575691" y="398907"/>
                  </a:lnTo>
                  <a:close/>
                </a:path>
              </a:pathLst>
            </a:custGeom>
            <a:solidFill>
              <a:srgbClr val="000000"/>
            </a:solidFill>
          </p:spPr>
          <p:txBody>
            <a:bodyPr wrap="square" lIns="0" tIns="0" rIns="0" bIns="0" rtlCol="0"/>
            <a:lstStyle/>
            <a:p>
              <a:endParaRPr/>
            </a:p>
          </p:txBody>
        </p:sp>
        <p:pic>
          <p:nvPicPr>
            <p:cNvPr id="29" name="object 29"/>
            <p:cNvPicPr/>
            <p:nvPr/>
          </p:nvPicPr>
          <p:blipFill>
            <a:blip r:embed="rId12" cstate="print"/>
            <a:stretch>
              <a:fillRect/>
            </a:stretch>
          </p:blipFill>
          <p:spPr>
            <a:xfrm>
              <a:off x="2865754" y="3177159"/>
              <a:ext cx="78993" cy="119761"/>
            </a:xfrm>
            <a:prstGeom prst="rect">
              <a:avLst/>
            </a:prstGeom>
          </p:spPr>
        </p:pic>
        <p:pic>
          <p:nvPicPr>
            <p:cNvPr id="30" name="object 30"/>
            <p:cNvPicPr/>
            <p:nvPr/>
          </p:nvPicPr>
          <p:blipFill>
            <a:blip r:embed="rId14" cstate="print"/>
            <a:stretch>
              <a:fillRect/>
            </a:stretch>
          </p:blipFill>
          <p:spPr>
            <a:xfrm>
              <a:off x="2976117" y="2791587"/>
              <a:ext cx="479679" cy="264287"/>
            </a:xfrm>
            <a:prstGeom prst="rect">
              <a:avLst/>
            </a:prstGeom>
          </p:spPr>
        </p:pic>
      </p:grpSp>
      <p:grpSp>
        <p:nvGrpSpPr>
          <p:cNvPr id="31" name="object 31"/>
          <p:cNvGrpSpPr/>
          <p:nvPr/>
        </p:nvGrpSpPr>
        <p:grpSpPr>
          <a:xfrm>
            <a:off x="3509523" y="2733929"/>
            <a:ext cx="575311" cy="321311"/>
            <a:chOff x="3509523" y="2733929"/>
            <a:chExt cx="575310" cy="321310"/>
          </a:xfrm>
        </p:grpSpPr>
        <p:sp>
          <p:nvSpPr>
            <p:cNvPr id="32" name="object 32"/>
            <p:cNvSpPr/>
            <p:nvPr/>
          </p:nvSpPr>
          <p:spPr>
            <a:xfrm>
              <a:off x="3509523" y="2744343"/>
              <a:ext cx="575310" cy="311150"/>
            </a:xfrm>
            <a:custGeom>
              <a:avLst/>
              <a:gdLst/>
              <a:ahLst/>
              <a:cxnLst/>
              <a:rect l="l" t="t" r="r" b="b"/>
              <a:pathLst>
                <a:path w="575310" h="311150">
                  <a:moveTo>
                    <a:pt x="493516" y="0"/>
                  </a:moveTo>
                  <a:lnTo>
                    <a:pt x="490468" y="10287"/>
                  </a:lnTo>
                  <a:lnTo>
                    <a:pt x="504705" y="17690"/>
                  </a:lnTo>
                  <a:lnTo>
                    <a:pt x="517122" y="28463"/>
                  </a:lnTo>
                  <a:lnTo>
                    <a:pt x="543276" y="80456"/>
                  </a:lnTo>
                  <a:lnTo>
                    <a:pt x="551086" y="128133"/>
                  </a:lnTo>
                  <a:lnTo>
                    <a:pt x="552063" y="155448"/>
                  </a:lnTo>
                  <a:lnTo>
                    <a:pt x="551086" y="182669"/>
                  </a:lnTo>
                  <a:lnTo>
                    <a:pt x="543276" y="230207"/>
                  </a:lnTo>
                  <a:lnTo>
                    <a:pt x="527704" y="268047"/>
                  </a:lnTo>
                  <a:lnTo>
                    <a:pt x="490468" y="300355"/>
                  </a:lnTo>
                  <a:lnTo>
                    <a:pt x="493516" y="310642"/>
                  </a:lnTo>
                  <a:lnTo>
                    <a:pt x="528266" y="292163"/>
                  </a:lnTo>
                  <a:lnTo>
                    <a:pt x="553968" y="257301"/>
                  </a:lnTo>
                  <a:lnTo>
                    <a:pt x="569858" y="210264"/>
                  </a:lnTo>
                  <a:lnTo>
                    <a:pt x="575177" y="155320"/>
                  </a:lnTo>
                  <a:lnTo>
                    <a:pt x="573845" y="126867"/>
                  </a:lnTo>
                  <a:lnTo>
                    <a:pt x="563229" y="75864"/>
                  </a:lnTo>
                  <a:lnTo>
                    <a:pt x="542254" y="33861"/>
                  </a:lnTo>
                  <a:lnTo>
                    <a:pt x="512016" y="7191"/>
                  </a:lnTo>
                  <a:lnTo>
                    <a:pt x="493516" y="0"/>
                  </a:lnTo>
                  <a:close/>
                </a:path>
                <a:path w="575310" h="311150">
                  <a:moveTo>
                    <a:pt x="81655" y="0"/>
                  </a:moveTo>
                  <a:lnTo>
                    <a:pt x="46952" y="18478"/>
                  </a:lnTo>
                  <a:lnTo>
                    <a:pt x="21203" y="53339"/>
                  </a:lnTo>
                  <a:lnTo>
                    <a:pt x="5312" y="100377"/>
                  </a:lnTo>
                  <a:lnTo>
                    <a:pt x="0" y="155448"/>
                  </a:lnTo>
                  <a:lnTo>
                    <a:pt x="1325" y="183774"/>
                  </a:lnTo>
                  <a:lnTo>
                    <a:pt x="11941" y="234777"/>
                  </a:lnTo>
                  <a:lnTo>
                    <a:pt x="32970" y="276780"/>
                  </a:lnTo>
                  <a:lnTo>
                    <a:pt x="63172" y="303450"/>
                  </a:lnTo>
                  <a:lnTo>
                    <a:pt x="81655" y="310642"/>
                  </a:lnTo>
                  <a:lnTo>
                    <a:pt x="84830" y="300355"/>
                  </a:lnTo>
                  <a:lnTo>
                    <a:pt x="70518" y="292951"/>
                  </a:lnTo>
                  <a:lnTo>
                    <a:pt x="58064" y="282178"/>
                  </a:lnTo>
                  <a:lnTo>
                    <a:pt x="31894" y="230207"/>
                  </a:lnTo>
                  <a:lnTo>
                    <a:pt x="24084" y="182669"/>
                  </a:lnTo>
                  <a:lnTo>
                    <a:pt x="23112" y="155320"/>
                  </a:lnTo>
                  <a:lnTo>
                    <a:pt x="24084" y="128133"/>
                  </a:lnTo>
                  <a:lnTo>
                    <a:pt x="31894" y="80456"/>
                  </a:lnTo>
                  <a:lnTo>
                    <a:pt x="47468" y="42594"/>
                  </a:lnTo>
                  <a:lnTo>
                    <a:pt x="84830" y="10287"/>
                  </a:lnTo>
                  <a:lnTo>
                    <a:pt x="81655" y="0"/>
                  </a:lnTo>
                  <a:close/>
                </a:path>
              </a:pathLst>
            </a:custGeom>
            <a:solidFill>
              <a:srgbClr val="000000"/>
            </a:solidFill>
          </p:spPr>
          <p:txBody>
            <a:bodyPr wrap="square" lIns="0" tIns="0" rIns="0" bIns="0" rtlCol="0"/>
            <a:lstStyle/>
            <a:p>
              <a:endParaRPr/>
            </a:p>
          </p:txBody>
        </p:sp>
        <p:pic>
          <p:nvPicPr>
            <p:cNvPr id="33" name="object 33"/>
            <p:cNvPicPr/>
            <p:nvPr/>
          </p:nvPicPr>
          <p:blipFill>
            <a:blip r:embed="rId8" cstate="print"/>
            <a:stretch>
              <a:fillRect/>
            </a:stretch>
          </p:blipFill>
          <p:spPr>
            <a:xfrm>
              <a:off x="3605021" y="2850896"/>
              <a:ext cx="129286" cy="124206"/>
            </a:xfrm>
            <a:prstGeom prst="rect">
              <a:avLst/>
            </a:prstGeom>
          </p:spPr>
        </p:pic>
        <p:pic>
          <p:nvPicPr>
            <p:cNvPr id="34" name="object 34"/>
            <p:cNvPicPr/>
            <p:nvPr/>
          </p:nvPicPr>
          <p:blipFill>
            <a:blip r:embed="rId15" cstate="print"/>
            <a:stretch>
              <a:fillRect/>
            </a:stretch>
          </p:blipFill>
          <p:spPr>
            <a:xfrm>
              <a:off x="3770375" y="2733929"/>
              <a:ext cx="197993" cy="176402"/>
            </a:xfrm>
            <a:prstGeom prst="rect">
              <a:avLst/>
            </a:prstGeom>
          </p:spPr>
        </p:pic>
      </p:grpSp>
      <p:sp>
        <p:nvSpPr>
          <p:cNvPr id="35" name="object 35"/>
          <p:cNvSpPr/>
          <p:nvPr/>
        </p:nvSpPr>
        <p:spPr>
          <a:xfrm>
            <a:off x="4172459" y="2891219"/>
            <a:ext cx="154940" cy="17145"/>
          </a:xfrm>
          <a:custGeom>
            <a:avLst/>
            <a:gdLst/>
            <a:ahLst/>
            <a:cxnLst/>
            <a:rect l="l" t="t" r="r" b="b"/>
            <a:pathLst>
              <a:path w="154939"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a:p>
        </p:txBody>
      </p:sp>
      <p:grpSp>
        <p:nvGrpSpPr>
          <p:cNvPr id="36" name="object 36"/>
          <p:cNvGrpSpPr/>
          <p:nvPr/>
        </p:nvGrpSpPr>
        <p:grpSpPr>
          <a:xfrm>
            <a:off x="4402202" y="2733929"/>
            <a:ext cx="474345" cy="295911"/>
            <a:chOff x="4402201" y="2733929"/>
            <a:chExt cx="474345" cy="295910"/>
          </a:xfrm>
        </p:grpSpPr>
        <p:pic>
          <p:nvPicPr>
            <p:cNvPr id="37" name="object 37"/>
            <p:cNvPicPr/>
            <p:nvPr/>
          </p:nvPicPr>
          <p:blipFill>
            <a:blip r:embed="rId16" cstate="print"/>
            <a:stretch>
              <a:fillRect/>
            </a:stretch>
          </p:blipFill>
          <p:spPr>
            <a:xfrm>
              <a:off x="4402201" y="2851023"/>
              <a:ext cx="139319" cy="176783"/>
            </a:xfrm>
            <a:prstGeom prst="rect">
              <a:avLst/>
            </a:prstGeom>
          </p:spPr>
        </p:pic>
        <p:pic>
          <p:nvPicPr>
            <p:cNvPr id="38" name="object 38"/>
            <p:cNvPicPr/>
            <p:nvPr/>
          </p:nvPicPr>
          <p:blipFill>
            <a:blip r:embed="rId15" cstate="print"/>
            <a:stretch>
              <a:fillRect/>
            </a:stretch>
          </p:blipFill>
          <p:spPr>
            <a:xfrm>
              <a:off x="4570476" y="2733929"/>
              <a:ext cx="197993" cy="176402"/>
            </a:xfrm>
            <a:prstGeom prst="rect">
              <a:avLst/>
            </a:prstGeom>
          </p:spPr>
        </p:pic>
        <p:pic>
          <p:nvPicPr>
            <p:cNvPr id="39" name="object 39"/>
            <p:cNvPicPr/>
            <p:nvPr/>
          </p:nvPicPr>
          <p:blipFill>
            <a:blip r:embed="rId17" cstate="print"/>
            <a:stretch>
              <a:fillRect/>
            </a:stretch>
          </p:blipFill>
          <p:spPr>
            <a:xfrm>
              <a:off x="4796663" y="2791587"/>
              <a:ext cx="79375" cy="238251"/>
            </a:xfrm>
            <a:prstGeom prst="rect">
              <a:avLst/>
            </a:prstGeom>
          </p:spPr>
        </p:pic>
      </p:grpSp>
      <p:sp>
        <p:nvSpPr>
          <p:cNvPr id="40" name="object 40"/>
          <p:cNvSpPr txBox="1"/>
          <p:nvPr/>
        </p:nvSpPr>
        <p:spPr>
          <a:xfrm>
            <a:off x="769937" y="3281108"/>
            <a:ext cx="125731" cy="323807"/>
          </a:xfrm>
          <a:prstGeom prst="rect">
            <a:avLst/>
          </a:prstGeom>
        </p:spPr>
        <p:txBody>
          <a:bodyPr vert="horz" wrap="square" lIns="0" tIns="15875" rIns="0" bIns="0" rtlCol="0">
            <a:spAutoFit/>
          </a:bodyPr>
          <a:lstStyle/>
          <a:p>
            <a:pPr marL="12700">
              <a:spcBef>
                <a:spcPts val="125"/>
              </a:spcBef>
            </a:pPr>
            <a:r>
              <a:rPr sz="2000" spc="11" dirty="0">
                <a:latin typeface="Cambria Math"/>
                <a:cs typeface="Cambria Math"/>
              </a:rPr>
              <a:t>}</a:t>
            </a:r>
            <a:endParaRPr sz="2000">
              <a:latin typeface="Cambria Math"/>
              <a:cs typeface="Cambria Math"/>
            </a:endParaRPr>
          </a:p>
        </p:txBody>
      </p:sp>
      <p:sp>
        <p:nvSpPr>
          <p:cNvPr id="41" name="object 41"/>
          <p:cNvSpPr txBox="1"/>
          <p:nvPr/>
        </p:nvSpPr>
        <p:spPr>
          <a:xfrm>
            <a:off x="6403975" y="1991932"/>
            <a:ext cx="1942464" cy="939360"/>
          </a:xfrm>
          <a:prstGeom prst="rect">
            <a:avLst/>
          </a:prstGeom>
        </p:spPr>
        <p:txBody>
          <a:bodyPr vert="horz" wrap="square" lIns="0" tIns="15875" rIns="0" bIns="0" rtlCol="0">
            <a:spAutoFit/>
          </a:bodyPr>
          <a:lstStyle/>
          <a:p>
            <a:pPr marL="327017">
              <a:spcBef>
                <a:spcPts val="125"/>
              </a:spcBef>
            </a:pPr>
            <a:r>
              <a:rPr sz="2000" spc="20" dirty="0">
                <a:latin typeface="Gill Sans MT" panose="020B0502020104020203" pitchFamily="34" charset="77"/>
                <a:cs typeface="Verdana"/>
              </a:rPr>
              <a:t>Update</a:t>
            </a:r>
            <a:endParaRPr sz="2000" dirty="0">
              <a:latin typeface="Gill Sans MT" panose="020B0502020104020203" pitchFamily="34" charset="77"/>
              <a:cs typeface="Verdana"/>
            </a:endParaRPr>
          </a:p>
          <a:p>
            <a:pPr marL="298443">
              <a:spcBef>
                <a:spcPts val="5"/>
              </a:spcBef>
            </a:pPr>
            <a:r>
              <a:rPr sz="2000" spc="20" dirty="0">
                <a:latin typeface="Gill Sans MT" panose="020B0502020104020203" pitchFamily="34" charset="77"/>
                <a:cs typeface="Cambria Math"/>
              </a:rPr>
              <a:t>𝑤</a:t>
            </a:r>
            <a:r>
              <a:rPr sz="2000" spc="204" dirty="0">
                <a:latin typeface="Gill Sans MT" panose="020B0502020104020203" pitchFamily="34" charset="77"/>
                <a:cs typeface="Cambria Math"/>
              </a:rPr>
              <a:t> </a:t>
            </a:r>
            <a:r>
              <a:rPr sz="2000" spc="5" dirty="0">
                <a:latin typeface="Gill Sans MT" panose="020B0502020104020203" pitchFamily="34" charset="77"/>
                <a:cs typeface="Verdana"/>
              </a:rPr>
              <a:t>and</a:t>
            </a:r>
            <a:r>
              <a:rPr sz="2000" spc="-45" dirty="0">
                <a:latin typeface="Gill Sans MT" panose="020B0502020104020203" pitchFamily="34" charset="77"/>
                <a:cs typeface="Verdana"/>
              </a:rPr>
              <a:t> </a:t>
            </a:r>
            <a:r>
              <a:rPr sz="2000" spc="15" dirty="0">
                <a:latin typeface="Gill Sans MT" panose="020B0502020104020203" pitchFamily="34" charset="77"/>
                <a:cs typeface="Cambria Math"/>
              </a:rPr>
              <a:t>𝑏</a:t>
            </a:r>
            <a:endParaRPr sz="2000" dirty="0">
              <a:latin typeface="Gill Sans MT" panose="020B0502020104020203" pitchFamily="34" charset="77"/>
              <a:cs typeface="Cambria Math"/>
            </a:endParaRPr>
          </a:p>
          <a:p>
            <a:pPr marL="12700">
              <a:spcBef>
                <a:spcPts val="5"/>
              </a:spcBef>
            </a:pPr>
            <a:r>
              <a:rPr sz="2000" spc="15" dirty="0">
                <a:latin typeface="Gill Sans MT" panose="020B0502020104020203" pitchFamily="34" charset="77"/>
                <a:cs typeface="Verdana"/>
              </a:rPr>
              <a:t>s</a:t>
            </a:r>
            <a:r>
              <a:rPr sz="2000" spc="-35" dirty="0">
                <a:latin typeface="Gill Sans MT" panose="020B0502020104020203" pitchFamily="34" charset="77"/>
                <a:cs typeface="Verdana"/>
              </a:rPr>
              <a:t>i</a:t>
            </a:r>
            <a:r>
              <a:rPr sz="2000" dirty="0">
                <a:latin typeface="Gill Sans MT" panose="020B0502020104020203" pitchFamily="34" charset="77"/>
                <a:cs typeface="Verdana"/>
              </a:rPr>
              <a:t>m</a:t>
            </a:r>
            <a:r>
              <a:rPr sz="2000" spc="5" dirty="0">
                <a:latin typeface="Gill Sans MT" panose="020B0502020104020203" pitchFamily="34" charset="77"/>
                <a:cs typeface="Verdana"/>
              </a:rPr>
              <a:t>u</a:t>
            </a:r>
            <a:r>
              <a:rPr sz="2000" spc="-31" dirty="0">
                <a:latin typeface="Gill Sans MT" panose="020B0502020104020203" pitchFamily="34" charset="77"/>
                <a:cs typeface="Verdana"/>
              </a:rPr>
              <a:t>l</a:t>
            </a:r>
            <a:r>
              <a:rPr sz="2000" spc="31" dirty="0">
                <a:latin typeface="Gill Sans MT" panose="020B0502020104020203" pitchFamily="34" charset="77"/>
                <a:cs typeface="Verdana"/>
              </a:rPr>
              <a:t>t</a:t>
            </a:r>
            <a:r>
              <a:rPr sz="2000" spc="-5" dirty="0">
                <a:latin typeface="Gill Sans MT" panose="020B0502020104020203" pitchFamily="34" charset="77"/>
                <a:cs typeface="Verdana"/>
              </a:rPr>
              <a:t>a</a:t>
            </a:r>
            <a:r>
              <a:rPr sz="2000" spc="5" dirty="0">
                <a:latin typeface="Gill Sans MT" panose="020B0502020104020203" pitchFamily="34" charset="77"/>
                <a:cs typeface="Verdana"/>
              </a:rPr>
              <a:t>ne</a:t>
            </a:r>
            <a:r>
              <a:rPr sz="2000" spc="-20" dirty="0">
                <a:latin typeface="Gill Sans MT" panose="020B0502020104020203" pitchFamily="34" charset="77"/>
                <a:cs typeface="Verdana"/>
              </a:rPr>
              <a:t>o</a:t>
            </a:r>
            <a:r>
              <a:rPr sz="2000" spc="5" dirty="0">
                <a:latin typeface="Gill Sans MT" panose="020B0502020104020203" pitchFamily="34" charset="77"/>
                <a:cs typeface="Verdana"/>
              </a:rPr>
              <a:t>u</a:t>
            </a:r>
            <a:r>
              <a:rPr sz="2000" spc="15" dirty="0">
                <a:latin typeface="Gill Sans MT" panose="020B0502020104020203" pitchFamily="34" charset="77"/>
                <a:cs typeface="Verdana"/>
              </a:rPr>
              <a:t>s</a:t>
            </a:r>
            <a:r>
              <a:rPr sz="2000" spc="-35" dirty="0">
                <a:latin typeface="Gill Sans MT" panose="020B0502020104020203" pitchFamily="34" charset="77"/>
                <a:cs typeface="Verdana"/>
              </a:rPr>
              <a:t>l</a:t>
            </a:r>
            <a:r>
              <a:rPr sz="2000" spc="15" dirty="0">
                <a:latin typeface="Gill Sans MT" panose="020B0502020104020203" pitchFamily="34" charset="77"/>
                <a:cs typeface="Verdana"/>
              </a:rPr>
              <a:t>y</a:t>
            </a:r>
            <a:endParaRPr sz="2000" dirty="0">
              <a:latin typeface="Gill Sans MT" panose="020B0502020104020203" pitchFamily="34" charset="77"/>
              <a:cs typeface="Verdana"/>
            </a:endParaRPr>
          </a:p>
        </p:txBody>
      </p:sp>
      <p:grpSp>
        <p:nvGrpSpPr>
          <p:cNvPr id="58" name="Group 57">
            <a:extLst>
              <a:ext uri="{FF2B5EF4-FFF2-40B4-BE49-F238E27FC236}">
                <a16:creationId xmlns:a16="http://schemas.microsoft.com/office/drawing/2014/main" id="{BD256373-AC25-404C-5DA0-22F6C92E0601}"/>
              </a:ext>
            </a:extLst>
          </p:cNvPr>
          <p:cNvGrpSpPr/>
          <p:nvPr/>
        </p:nvGrpSpPr>
        <p:grpSpPr>
          <a:xfrm>
            <a:off x="6268365" y="786574"/>
            <a:ext cx="1517065" cy="500039"/>
            <a:chOff x="4304108" y="910464"/>
            <a:chExt cx="1517065" cy="500039"/>
          </a:xfrm>
        </p:grpSpPr>
        <p:pic>
          <p:nvPicPr>
            <p:cNvPr id="42" name="object 42"/>
            <p:cNvPicPr/>
            <p:nvPr/>
          </p:nvPicPr>
          <p:blipFill>
            <a:blip r:embed="rId18" cstate="print"/>
            <a:stretch>
              <a:fillRect/>
            </a:stretch>
          </p:blipFill>
          <p:spPr>
            <a:xfrm>
              <a:off x="4304108" y="938444"/>
              <a:ext cx="435863" cy="472059"/>
            </a:xfrm>
            <a:prstGeom prst="rect">
              <a:avLst/>
            </a:prstGeom>
          </p:spPr>
        </p:pic>
        <p:pic>
          <p:nvPicPr>
            <p:cNvPr id="44" name="object 44"/>
            <p:cNvPicPr/>
            <p:nvPr/>
          </p:nvPicPr>
          <p:blipFill>
            <a:blip r:embed="rId19" cstate="print"/>
            <a:stretch>
              <a:fillRect/>
            </a:stretch>
          </p:blipFill>
          <p:spPr>
            <a:xfrm>
              <a:off x="4809109" y="910464"/>
              <a:ext cx="692912" cy="415289"/>
            </a:xfrm>
            <a:prstGeom prst="rect">
              <a:avLst/>
            </a:prstGeom>
          </p:spPr>
        </p:pic>
        <p:pic>
          <p:nvPicPr>
            <p:cNvPr id="45" name="object 45"/>
            <p:cNvPicPr/>
            <p:nvPr/>
          </p:nvPicPr>
          <p:blipFill>
            <a:blip r:embed="rId20" cstate="print"/>
            <a:stretch>
              <a:fillRect/>
            </a:stretch>
          </p:blipFill>
          <p:spPr>
            <a:xfrm>
              <a:off x="5573142" y="999871"/>
              <a:ext cx="248031" cy="315467"/>
            </a:xfrm>
            <a:prstGeom prst="rect">
              <a:avLst/>
            </a:prstGeom>
          </p:spPr>
        </p:pic>
      </p:grpSp>
      <p:grpSp>
        <p:nvGrpSpPr>
          <p:cNvPr id="61" name="Group 60">
            <a:extLst>
              <a:ext uri="{FF2B5EF4-FFF2-40B4-BE49-F238E27FC236}">
                <a16:creationId xmlns:a16="http://schemas.microsoft.com/office/drawing/2014/main" id="{B4703A44-BE5F-0682-1F8E-4F1B1EE490E7}"/>
              </a:ext>
            </a:extLst>
          </p:cNvPr>
          <p:cNvGrpSpPr/>
          <p:nvPr/>
        </p:nvGrpSpPr>
        <p:grpSpPr>
          <a:xfrm>
            <a:off x="1769872" y="3968089"/>
            <a:ext cx="1597533" cy="598792"/>
            <a:chOff x="2896107" y="3459989"/>
            <a:chExt cx="1597533" cy="598792"/>
          </a:xfrm>
        </p:grpSpPr>
        <p:pic>
          <p:nvPicPr>
            <p:cNvPr id="46" name="object 46"/>
            <p:cNvPicPr/>
            <p:nvPr/>
          </p:nvPicPr>
          <p:blipFill>
            <a:blip r:embed="rId21" cstate="print"/>
            <a:stretch>
              <a:fillRect/>
            </a:stretch>
          </p:blipFill>
          <p:spPr>
            <a:xfrm>
              <a:off x="2896107" y="3459989"/>
              <a:ext cx="398780" cy="598792"/>
            </a:xfrm>
            <a:prstGeom prst="rect">
              <a:avLst/>
            </a:prstGeom>
          </p:spPr>
        </p:pic>
        <p:pic>
          <p:nvPicPr>
            <p:cNvPr id="47" name="object 47"/>
            <p:cNvPicPr/>
            <p:nvPr/>
          </p:nvPicPr>
          <p:blipFill>
            <a:blip r:embed="rId22" cstate="print"/>
            <a:stretch>
              <a:fillRect/>
            </a:stretch>
          </p:blipFill>
          <p:spPr>
            <a:xfrm>
              <a:off x="3388868" y="3569499"/>
              <a:ext cx="381635" cy="399592"/>
            </a:xfrm>
            <a:prstGeom prst="rect">
              <a:avLst/>
            </a:prstGeom>
          </p:spPr>
        </p:pic>
        <p:pic>
          <p:nvPicPr>
            <p:cNvPr id="48" name="object 48"/>
            <p:cNvPicPr/>
            <p:nvPr/>
          </p:nvPicPr>
          <p:blipFill>
            <a:blip r:embed="rId23" cstate="print"/>
            <a:stretch>
              <a:fillRect/>
            </a:stretch>
          </p:blipFill>
          <p:spPr>
            <a:xfrm>
              <a:off x="3841671" y="3740264"/>
              <a:ext cx="303228" cy="195631"/>
            </a:xfrm>
            <a:prstGeom prst="rect">
              <a:avLst/>
            </a:prstGeom>
          </p:spPr>
        </p:pic>
        <p:pic>
          <p:nvPicPr>
            <p:cNvPr id="49" name="object 49"/>
            <p:cNvPicPr/>
            <p:nvPr/>
          </p:nvPicPr>
          <p:blipFill>
            <a:blip r:embed="rId24" cstate="print"/>
            <a:stretch>
              <a:fillRect/>
            </a:stretch>
          </p:blipFill>
          <p:spPr>
            <a:xfrm>
              <a:off x="4230560" y="3580943"/>
              <a:ext cx="263080" cy="424180"/>
            </a:xfrm>
            <a:prstGeom prst="rect">
              <a:avLst/>
            </a:prstGeom>
          </p:spPr>
        </p:pic>
      </p:grpSp>
      <p:pic>
        <p:nvPicPr>
          <p:cNvPr id="53" name="object 53"/>
          <p:cNvPicPr/>
          <p:nvPr/>
        </p:nvPicPr>
        <p:blipFill>
          <a:blip r:embed="rId25" cstate="print"/>
          <a:stretch>
            <a:fillRect/>
          </a:stretch>
        </p:blipFill>
        <p:spPr>
          <a:xfrm>
            <a:off x="5830959" y="1714043"/>
            <a:ext cx="1411478" cy="2273706"/>
          </a:xfrm>
          <a:prstGeom prst="rect">
            <a:avLst/>
          </a:prstGeom>
          <a:noFill/>
        </p:spPr>
      </p:pic>
      <p:pic>
        <p:nvPicPr>
          <p:cNvPr id="54" name="object 54"/>
          <p:cNvPicPr/>
          <p:nvPr/>
        </p:nvPicPr>
        <p:blipFill>
          <a:blip r:embed="rId26" cstate="print"/>
          <a:stretch>
            <a:fillRect/>
          </a:stretch>
        </p:blipFill>
        <p:spPr>
          <a:xfrm>
            <a:off x="7295460" y="3606927"/>
            <a:ext cx="151184" cy="108584"/>
          </a:xfrm>
          <a:prstGeom prst="rect">
            <a:avLst/>
          </a:prstGeom>
        </p:spPr>
      </p:pic>
      <p:pic>
        <p:nvPicPr>
          <p:cNvPr id="55" name="object 55"/>
          <p:cNvPicPr/>
          <p:nvPr/>
        </p:nvPicPr>
        <p:blipFill>
          <a:blip r:embed="rId27" cstate="print"/>
          <a:stretch>
            <a:fillRect/>
          </a:stretch>
        </p:blipFill>
        <p:spPr>
          <a:xfrm>
            <a:off x="7552691" y="3398647"/>
            <a:ext cx="1010792" cy="381507"/>
          </a:xfrm>
          <a:prstGeom prst="rect">
            <a:avLst/>
          </a:prstGeom>
        </p:spPr>
      </p:pic>
      <p:sp>
        <p:nvSpPr>
          <p:cNvPr id="57" name="Slide Number Placeholder 56">
            <a:extLst>
              <a:ext uri="{FF2B5EF4-FFF2-40B4-BE49-F238E27FC236}">
                <a16:creationId xmlns:a16="http://schemas.microsoft.com/office/drawing/2014/main" id="{3E956924-00FB-4B47-3ACF-F4831B0313DB}"/>
              </a:ext>
            </a:extLst>
          </p:cNvPr>
          <p:cNvSpPr>
            <a:spLocks noGrp="1"/>
          </p:cNvSpPr>
          <p:nvPr>
            <p:ph type="sldNum" sz="quarter" idx="7"/>
          </p:nvPr>
        </p:nvSpPr>
        <p:spPr>
          <a:xfrm>
            <a:off x="8229600" y="4767263"/>
            <a:ext cx="285750" cy="273844"/>
          </a:xfrm>
        </p:spPr>
        <p:txBody>
          <a:bodyPr/>
          <a:lstStyle/>
          <a:p>
            <a:fld id="{B6F15528-21DE-4FAA-801E-634DDDAF4B2B}" type="slidenum">
              <a:rPr lang="en-PS" smtClean="0"/>
              <a:t>31</a:t>
            </a:fld>
            <a:endParaRPr lang="en-PS"/>
          </a:p>
        </p:txBody>
      </p:sp>
      <p:sp>
        <p:nvSpPr>
          <p:cNvPr id="56" name="Rounded Rectangle 55">
            <a:extLst>
              <a:ext uri="{FF2B5EF4-FFF2-40B4-BE49-F238E27FC236}">
                <a16:creationId xmlns:a16="http://schemas.microsoft.com/office/drawing/2014/main" id="{098363B4-E2A9-6D2F-6923-77BD6E0CDBC6}"/>
              </a:ext>
            </a:extLst>
          </p:cNvPr>
          <p:cNvSpPr/>
          <p:nvPr/>
        </p:nvSpPr>
        <p:spPr>
          <a:xfrm>
            <a:off x="2467738" y="1629754"/>
            <a:ext cx="3105404" cy="82896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60" name="Straight Arrow Connector 59">
            <a:extLst>
              <a:ext uri="{FF2B5EF4-FFF2-40B4-BE49-F238E27FC236}">
                <a16:creationId xmlns:a16="http://schemas.microsoft.com/office/drawing/2014/main" id="{CA083895-98C2-0D49-3C3B-BA6257C2A5B5}"/>
              </a:ext>
            </a:extLst>
          </p:cNvPr>
          <p:cNvCxnSpPr/>
          <p:nvPr/>
        </p:nvCxnSpPr>
        <p:spPr>
          <a:xfrm flipH="1">
            <a:off x="5210684" y="1038408"/>
            <a:ext cx="885316" cy="591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a:extLst>
              <a:ext uri="{FF2B5EF4-FFF2-40B4-BE49-F238E27FC236}">
                <a16:creationId xmlns:a16="http://schemas.microsoft.com/office/drawing/2014/main" id="{847F26B3-E257-FE2E-A78D-1275373A78A3}"/>
              </a:ext>
            </a:extLst>
          </p:cNvPr>
          <p:cNvSpPr/>
          <p:nvPr/>
        </p:nvSpPr>
        <p:spPr>
          <a:xfrm>
            <a:off x="2312798" y="2588653"/>
            <a:ext cx="2739920" cy="82896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63" name="Straight Arrow Connector 62">
            <a:extLst>
              <a:ext uri="{FF2B5EF4-FFF2-40B4-BE49-F238E27FC236}">
                <a16:creationId xmlns:a16="http://schemas.microsoft.com/office/drawing/2014/main" id="{928E576A-B291-3280-04A8-B82D329AEEEF}"/>
              </a:ext>
            </a:extLst>
          </p:cNvPr>
          <p:cNvCxnSpPr>
            <a:cxnSpLocks/>
            <a:stCxn id="47" idx="0"/>
          </p:cNvCxnSpPr>
          <p:nvPr/>
        </p:nvCxnSpPr>
        <p:spPr>
          <a:xfrm flipV="1">
            <a:off x="2453451" y="3441532"/>
            <a:ext cx="683645" cy="63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823FEF04-B9E7-7D1B-6D2C-6907635F27E2}"/>
              </a:ext>
            </a:extLst>
          </p:cNvPr>
          <p:cNvSpPr/>
          <p:nvPr/>
        </p:nvSpPr>
        <p:spPr>
          <a:xfrm>
            <a:off x="5638800" y="1629754"/>
            <a:ext cx="432180" cy="1932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68" name="Right Brace 67">
            <a:extLst>
              <a:ext uri="{FF2B5EF4-FFF2-40B4-BE49-F238E27FC236}">
                <a16:creationId xmlns:a16="http://schemas.microsoft.com/office/drawing/2014/main" id="{7586D0AF-F677-EB66-0871-12A87BEAB387}"/>
              </a:ext>
            </a:extLst>
          </p:cNvPr>
          <p:cNvSpPr/>
          <p:nvPr/>
        </p:nvSpPr>
        <p:spPr>
          <a:xfrm>
            <a:off x="5638800" y="1629754"/>
            <a:ext cx="304800" cy="193259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S"/>
          </a:p>
        </p:txBody>
      </p:sp>
      <p:cxnSp>
        <p:nvCxnSpPr>
          <p:cNvPr id="50" name="Straight Arrow Connector 49">
            <a:extLst>
              <a:ext uri="{FF2B5EF4-FFF2-40B4-BE49-F238E27FC236}">
                <a16:creationId xmlns:a16="http://schemas.microsoft.com/office/drawing/2014/main" id="{43D37A2D-CE3C-FE95-49E5-8A4DBCD6AD85}"/>
              </a:ext>
            </a:extLst>
          </p:cNvPr>
          <p:cNvCxnSpPr>
            <a:cxnSpLocks/>
          </p:cNvCxnSpPr>
          <p:nvPr/>
        </p:nvCxnSpPr>
        <p:spPr>
          <a:xfrm flipH="1" flipV="1">
            <a:off x="3605021" y="2217673"/>
            <a:ext cx="3015617" cy="1319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38CB249-A73D-D3EC-3236-14F30E1EB9E9}"/>
              </a:ext>
            </a:extLst>
          </p:cNvPr>
          <p:cNvCxnSpPr>
            <a:cxnSpLocks/>
          </p:cNvCxnSpPr>
          <p:nvPr/>
        </p:nvCxnSpPr>
        <p:spPr>
          <a:xfrm flipH="1" flipV="1">
            <a:off x="3509523" y="3055494"/>
            <a:ext cx="3100978" cy="484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36311C19-6C81-18BE-9BEB-675D1419B6E7}"/>
              </a:ext>
            </a:extLst>
          </p:cNvPr>
          <p:cNvGrpSpPr/>
          <p:nvPr/>
        </p:nvGrpSpPr>
        <p:grpSpPr>
          <a:xfrm>
            <a:off x="2668661" y="742950"/>
            <a:ext cx="6298883" cy="3267075"/>
            <a:chOff x="406717" y="752475"/>
            <a:chExt cx="7365683" cy="3512185"/>
          </a:xfrm>
        </p:grpSpPr>
        <p:pic>
          <p:nvPicPr>
            <p:cNvPr id="2" name="object 2"/>
            <p:cNvPicPr/>
            <p:nvPr/>
          </p:nvPicPr>
          <p:blipFill>
            <a:blip r:embed="rId2" cstate="print"/>
            <a:stretch>
              <a:fillRect/>
            </a:stretch>
          </p:blipFill>
          <p:spPr>
            <a:xfrm>
              <a:off x="1371600" y="752475"/>
              <a:ext cx="6400800" cy="3505200"/>
            </a:xfrm>
            <a:prstGeom prst="rect">
              <a:avLst/>
            </a:prstGeom>
          </p:spPr>
        </p:pic>
        <p:sp>
          <p:nvSpPr>
            <p:cNvPr id="3" name="object 3"/>
            <p:cNvSpPr txBox="1"/>
            <p:nvPr/>
          </p:nvSpPr>
          <p:spPr>
            <a:xfrm>
              <a:off x="6790057" y="3669347"/>
              <a:ext cx="164465" cy="276175"/>
            </a:xfrm>
            <a:prstGeom prst="rect">
              <a:avLst/>
            </a:prstGeom>
          </p:spPr>
          <p:txBody>
            <a:bodyPr vert="horz" wrap="square" lIns="0" tIns="16511" rIns="0" bIns="0" rtlCol="0">
              <a:spAutoFit/>
            </a:bodyPr>
            <a:lstStyle/>
            <a:p>
              <a:pPr marL="12700">
                <a:spcBef>
                  <a:spcPts val="131"/>
                </a:spcBef>
              </a:pPr>
              <a:r>
                <a:rPr sz="1600" spc="31" dirty="0">
                  <a:latin typeface="Cambria Math"/>
                  <a:cs typeface="Cambria Math"/>
                </a:rPr>
                <a:t>𝑏</a:t>
              </a:r>
              <a:endParaRPr sz="1600">
                <a:latin typeface="Cambria Math"/>
                <a:cs typeface="Cambria Math"/>
              </a:endParaRPr>
            </a:p>
          </p:txBody>
        </p:sp>
        <p:sp>
          <p:nvSpPr>
            <p:cNvPr id="4" name="object 4"/>
            <p:cNvSpPr txBox="1"/>
            <p:nvPr/>
          </p:nvSpPr>
          <p:spPr>
            <a:xfrm>
              <a:off x="2853690" y="3904932"/>
              <a:ext cx="215900" cy="275501"/>
            </a:xfrm>
            <a:prstGeom prst="rect">
              <a:avLst/>
            </a:prstGeom>
          </p:spPr>
          <p:txBody>
            <a:bodyPr vert="horz" wrap="square" lIns="0" tIns="15875" rIns="0" bIns="0" rtlCol="0">
              <a:spAutoFit/>
            </a:bodyPr>
            <a:lstStyle/>
            <a:p>
              <a:pPr marL="12700">
                <a:spcBef>
                  <a:spcPts val="125"/>
                </a:spcBef>
              </a:pPr>
              <a:r>
                <a:rPr sz="1600" spc="25" dirty="0">
                  <a:latin typeface="Cambria Math"/>
                  <a:cs typeface="Cambria Math"/>
                </a:rPr>
                <a:t>𝑤</a:t>
              </a:r>
              <a:endParaRPr sz="1600">
                <a:latin typeface="Cambria Math"/>
                <a:cs typeface="Cambria Math"/>
              </a:endParaRPr>
            </a:p>
          </p:txBody>
        </p:sp>
        <p:sp>
          <p:nvSpPr>
            <p:cNvPr id="5" name="object 5"/>
            <p:cNvSpPr/>
            <p:nvPr/>
          </p:nvSpPr>
          <p:spPr>
            <a:xfrm>
              <a:off x="546480" y="2540761"/>
              <a:ext cx="604520" cy="238760"/>
            </a:xfrm>
            <a:custGeom>
              <a:avLst/>
              <a:gdLst/>
              <a:ahLst/>
              <a:cxnLst/>
              <a:rect l="l" t="t" r="r" b="b"/>
              <a:pathLst>
                <a:path w="604519" h="238760">
                  <a:moveTo>
                    <a:pt x="528485" y="0"/>
                  </a:moveTo>
                  <a:lnTo>
                    <a:pt x="525094" y="9651"/>
                  </a:lnTo>
                  <a:lnTo>
                    <a:pt x="538882" y="15652"/>
                  </a:lnTo>
                  <a:lnTo>
                    <a:pt x="550738" y="23939"/>
                  </a:lnTo>
                  <a:lnTo>
                    <a:pt x="574818" y="62351"/>
                  </a:lnTo>
                  <a:lnTo>
                    <a:pt x="582726" y="117982"/>
                  </a:lnTo>
                  <a:lnTo>
                    <a:pt x="581843" y="138955"/>
                  </a:lnTo>
                  <a:lnTo>
                    <a:pt x="568604" y="190373"/>
                  </a:lnTo>
                  <a:lnTo>
                    <a:pt x="539038" y="222573"/>
                  </a:lnTo>
                  <a:lnTo>
                    <a:pt x="525462" y="228600"/>
                  </a:lnTo>
                  <a:lnTo>
                    <a:pt x="528485" y="238251"/>
                  </a:lnTo>
                  <a:lnTo>
                    <a:pt x="573992" y="211195"/>
                  </a:lnTo>
                  <a:lnTo>
                    <a:pt x="599559" y="161258"/>
                  </a:lnTo>
                  <a:lnTo>
                    <a:pt x="604456" y="119252"/>
                  </a:lnTo>
                  <a:lnTo>
                    <a:pt x="603227" y="97397"/>
                  </a:lnTo>
                  <a:lnTo>
                    <a:pt x="593397" y="58638"/>
                  </a:lnTo>
                  <a:lnTo>
                    <a:pt x="560898" y="15319"/>
                  </a:lnTo>
                  <a:lnTo>
                    <a:pt x="545756" y="6260"/>
                  </a:lnTo>
                  <a:lnTo>
                    <a:pt x="528485" y="0"/>
                  </a:lnTo>
                  <a:close/>
                </a:path>
                <a:path w="604519" h="238760">
                  <a:moveTo>
                    <a:pt x="75971" y="0"/>
                  </a:moveTo>
                  <a:lnTo>
                    <a:pt x="30538" y="27164"/>
                  </a:lnTo>
                  <a:lnTo>
                    <a:pt x="4913" y="77184"/>
                  </a:lnTo>
                  <a:lnTo>
                    <a:pt x="0" y="119252"/>
                  </a:lnTo>
                  <a:lnTo>
                    <a:pt x="1223" y="141089"/>
                  </a:lnTo>
                  <a:lnTo>
                    <a:pt x="11015" y="179760"/>
                  </a:lnTo>
                  <a:lnTo>
                    <a:pt x="43476" y="222996"/>
                  </a:lnTo>
                  <a:lnTo>
                    <a:pt x="75971" y="238251"/>
                  </a:lnTo>
                  <a:lnTo>
                    <a:pt x="78981" y="228600"/>
                  </a:lnTo>
                  <a:lnTo>
                    <a:pt x="65405" y="222573"/>
                  </a:lnTo>
                  <a:lnTo>
                    <a:pt x="53692" y="214201"/>
                  </a:lnTo>
                  <a:lnTo>
                    <a:pt x="29667" y="175186"/>
                  </a:lnTo>
                  <a:lnTo>
                    <a:pt x="21717" y="117982"/>
                  </a:lnTo>
                  <a:lnTo>
                    <a:pt x="22600" y="97645"/>
                  </a:lnTo>
                  <a:lnTo>
                    <a:pt x="35852" y="47370"/>
                  </a:lnTo>
                  <a:lnTo>
                    <a:pt x="65620" y="15652"/>
                  </a:lnTo>
                  <a:lnTo>
                    <a:pt x="79362" y="9651"/>
                  </a:lnTo>
                  <a:lnTo>
                    <a:pt x="75971" y="0"/>
                  </a:lnTo>
                  <a:close/>
                </a:path>
              </a:pathLst>
            </a:custGeom>
            <a:solidFill>
              <a:srgbClr val="000000"/>
            </a:solidFill>
          </p:spPr>
          <p:txBody>
            <a:bodyPr wrap="square" lIns="0" tIns="0" rIns="0" bIns="0" rtlCol="0"/>
            <a:lstStyle/>
            <a:p>
              <a:endParaRPr sz="1400"/>
            </a:p>
          </p:txBody>
        </p:sp>
        <p:sp>
          <p:nvSpPr>
            <p:cNvPr id="6" name="object 6"/>
            <p:cNvSpPr txBox="1"/>
            <p:nvPr/>
          </p:nvSpPr>
          <p:spPr>
            <a:xfrm>
              <a:off x="406717" y="2466657"/>
              <a:ext cx="660400" cy="275501"/>
            </a:xfrm>
            <a:prstGeom prst="rect">
              <a:avLst/>
            </a:prstGeom>
          </p:spPr>
          <p:txBody>
            <a:bodyPr vert="horz" wrap="square" lIns="0" tIns="15875" rIns="0" bIns="0" rtlCol="0">
              <a:spAutoFit/>
            </a:bodyPr>
            <a:lstStyle/>
            <a:p>
              <a:pPr marL="12700">
                <a:spcBef>
                  <a:spcPts val="125"/>
                </a:spcBef>
              </a:pPr>
              <a:r>
                <a:rPr sz="1600" spc="25" dirty="0">
                  <a:latin typeface="Cambria Math"/>
                  <a:cs typeface="Cambria Math"/>
                </a:rPr>
                <a:t>𝐽 </a:t>
              </a:r>
              <a:r>
                <a:rPr sz="1600" spc="-5" dirty="0">
                  <a:latin typeface="Cambria Math"/>
                  <a:cs typeface="Cambria Math"/>
                </a:rPr>
                <a:t> </a:t>
              </a:r>
              <a:r>
                <a:rPr sz="1600" spc="20" dirty="0">
                  <a:latin typeface="Cambria Math"/>
                  <a:cs typeface="Cambria Math"/>
                </a:rPr>
                <a:t>𝑤,</a:t>
              </a:r>
              <a:r>
                <a:rPr sz="1600" spc="-111" dirty="0">
                  <a:latin typeface="Cambria Math"/>
                  <a:cs typeface="Cambria Math"/>
                </a:rPr>
                <a:t> </a:t>
              </a:r>
              <a:r>
                <a:rPr sz="1600" spc="25" dirty="0">
                  <a:latin typeface="Cambria Math"/>
                  <a:cs typeface="Cambria Math"/>
                </a:rPr>
                <a:t>𝑏</a:t>
              </a:r>
              <a:endParaRPr sz="1600">
                <a:latin typeface="Cambria Math"/>
                <a:cs typeface="Cambria Math"/>
              </a:endParaRPr>
            </a:p>
          </p:txBody>
        </p:sp>
        <p:grpSp>
          <p:nvGrpSpPr>
            <p:cNvPr id="7" name="object 7"/>
            <p:cNvGrpSpPr/>
            <p:nvPr/>
          </p:nvGrpSpPr>
          <p:grpSpPr>
            <a:xfrm>
              <a:off x="3581463" y="1962213"/>
              <a:ext cx="3333688" cy="2302447"/>
              <a:chOff x="3581463" y="1962213"/>
              <a:chExt cx="3333687" cy="2302446"/>
            </a:xfrm>
          </p:grpSpPr>
          <p:sp>
            <p:nvSpPr>
              <p:cNvPr id="8" name="object 8"/>
              <p:cNvSpPr/>
              <p:nvPr/>
            </p:nvSpPr>
            <p:spPr>
              <a:xfrm>
                <a:off x="6553200" y="3152775"/>
                <a:ext cx="361950" cy="384810"/>
              </a:xfrm>
              <a:custGeom>
                <a:avLst/>
                <a:gdLst/>
                <a:ahLst/>
                <a:cxnLst/>
                <a:rect l="l" t="t" r="r" b="b"/>
                <a:pathLst>
                  <a:path w="361950" h="384810">
                    <a:moveTo>
                      <a:pt x="40681" y="43479"/>
                    </a:moveTo>
                    <a:lnTo>
                      <a:pt x="42383" y="73194"/>
                    </a:lnTo>
                    <a:lnTo>
                      <a:pt x="333501" y="384428"/>
                    </a:lnTo>
                    <a:lnTo>
                      <a:pt x="361442" y="358520"/>
                    </a:lnTo>
                    <a:lnTo>
                      <a:pt x="70197" y="47159"/>
                    </a:lnTo>
                    <a:lnTo>
                      <a:pt x="40681" y="43479"/>
                    </a:lnTo>
                    <a:close/>
                  </a:path>
                  <a:path w="361950" h="384810">
                    <a:moveTo>
                      <a:pt x="0" y="0"/>
                    </a:moveTo>
                    <a:lnTo>
                      <a:pt x="9778" y="171323"/>
                    </a:lnTo>
                    <a:lnTo>
                      <a:pt x="29972" y="189230"/>
                    </a:lnTo>
                    <a:lnTo>
                      <a:pt x="37234" y="187362"/>
                    </a:lnTo>
                    <a:lnTo>
                      <a:pt x="43021" y="182959"/>
                    </a:lnTo>
                    <a:lnTo>
                      <a:pt x="46759" y="176674"/>
                    </a:lnTo>
                    <a:lnTo>
                      <a:pt x="47878" y="169163"/>
                    </a:lnTo>
                    <a:lnTo>
                      <a:pt x="42383" y="73194"/>
                    </a:lnTo>
                    <a:lnTo>
                      <a:pt x="6350" y="34670"/>
                    </a:lnTo>
                    <a:lnTo>
                      <a:pt x="34163" y="8636"/>
                    </a:lnTo>
                    <a:lnTo>
                      <a:pt x="69346" y="8636"/>
                    </a:lnTo>
                    <a:lnTo>
                      <a:pt x="0" y="0"/>
                    </a:lnTo>
                    <a:close/>
                  </a:path>
                  <a:path w="361950" h="384810">
                    <a:moveTo>
                      <a:pt x="34163" y="8636"/>
                    </a:moveTo>
                    <a:lnTo>
                      <a:pt x="6350" y="34670"/>
                    </a:lnTo>
                    <a:lnTo>
                      <a:pt x="42383" y="73194"/>
                    </a:lnTo>
                    <a:lnTo>
                      <a:pt x="40681" y="43479"/>
                    </a:lnTo>
                    <a:lnTo>
                      <a:pt x="17906" y="40639"/>
                    </a:lnTo>
                    <a:lnTo>
                      <a:pt x="39370" y="20574"/>
                    </a:lnTo>
                    <a:lnTo>
                      <a:pt x="45329" y="20574"/>
                    </a:lnTo>
                    <a:lnTo>
                      <a:pt x="34163" y="8636"/>
                    </a:lnTo>
                    <a:close/>
                  </a:path>
                  <a:path w="361950" h="384810">
                    <a:moveTo>
                      <a:pt x="69346" y="8636"/>
                    </a:moveTo>
                    <a:lnTo>
                      <a:pt x="34163" y="8636"/>
                    </a:lnTo>
                    <a:lnTo>
                      <a:pt x="70197" y="47159"/>
                    </a:lnTo>
                    <a:lnTo>
                      <a:pt x="165607" y="59055"/>
                    </a:lnTo>
                    <a:lnTo>
                      <a:pt x="173136" y="58473"/>
                    </a:lnTo>
                    <a:lnTo>
                      <a:pt x="179641" y="55165"/>
                    </a:lnTo>
                    <a:lnTo>
                      <a:pt x="184431" y="49643"/>
                    </a:lnTo>
                    <a:lnTo>
                      <a:pt x="186817" y="42418"/>
                    </a:lnTo>
                    <a:lnTo>
                      <a:pt x="186237" y="34889"/>
                    </a:lnTo>
                    <a:lnTo>
                      <a:pt x="182943" y="28384"/>
                    </a:lnTo>
                    <a:lnTo>
                      <a:pt x="177458" y="23594"/>
                    </a:lnTo>
                    <a:lnTo>
                      <a:pt x="170306" y="21208"/>
                    </a:lnTo>
                    <a:lnTo>
                      <a:pt x="69346" y="8636"/>
                    </a:lnTo>
                    <a:close/>
                  </a:path>
                  <a:path w="361950" h="384810">
                    <a:moveTo>
                      <a:pt x="45329" y="20574"/>
                    </a:moveTo>
                    <a:lnTo>
                      <a:pt x="39370" y="20574"/>
                    </a:lnTo>
                    <a:lnTo>
                      <a:pt x="40681" y="43479"/>
                    </a:lnTo>
                    <a:lnTo>
                      <a:pt x="70197" y="47159"/>
                    </a:lnTo>
                    <a:lnTo>
                      <a:pt x="45329" y="20574"/>
                    </a:lnTo>
                    <a:close/>
                  </a:path>
                  <a:path w="361950" h="384810">
                    <a:moveTo>
                      <a:pt x="39370" y="20574"/>
                    </a:moveTo>
                    <a:lnTo>
                      <a:pt x="17906" y="40639"/>
                    </a:lnTo>
                    <a:lnTo>
                      <a:pt x="40681" y="43479"/>
                    </a:lnTo>
                    <a:lnTo>
                      <a:pt x="39370" y="20574"/>
                    </a:lnTo>
                    <a:close/>
                  </a:path>
                </a:pathLst>
              </a:custGeom>
              <a:solidFill>
                <a:srgbClr val="C00000"/>
              </a:solidFill>
            </p:spPr>
            <p:txBody>
              <a:bodyPr wrap="square" lIns="0" tIns="0" rIns="0" bIns="0" rtlCol="0"/>
              <a:lstStyle/>
              <a:p>
                <a:endParaRPr sz="1400"/>
              </a:p>
            </p:txBody>
          </p:sp>
          <p:sp>
            <p:nvSpPr>
              <p:cNvPr id="9" name="object 9"/>
              <p:cNvSpPr/>
              <p:nvPr/>
            </p:nvSpPr>
            <p:spPr>
              <a:xfrm>
                <a:off x="3962400" y="2819400"/>
                <a:ext cx="2619375" cy="914400"/>
              </a:xfrm>
              <a:custGeom>
                <a:avLst/>
                <a:gdLst/>
                <a:ahLst/>
                <a:cxnLst/>
                <a:rect l="l" t="t" r="r" b="b"/>
                <a:pathLst>
                  <a:path w="2619375" h="914400">
                    <a:moveTo>
                      <a:pt x="0" y="738251"/>
                    </a:moveTo>
                    <a:lnTo>
                      <a:pt x="4035" y="690674"/>
                    </a:lnTo>
                    <a:lnTo>
                      <a:pt x="19793" y="648890"/>
                    </a:lnTo>
                    <a:lnTo>
                      <a:pt x="46085" y="614013"/>
                    </a:lnTo>
                    <a:lnTo>
                      <a:pt x="81722" y="587158"/>
                    </a:lnTo>
                    <a:lnTo>
                      <a:pt x="125515" y="569440"/>
                    </a:lnTo>
                    <a:lnTo>
                      <a:pt x="176275" y="561975"/>
                    </a:lnTo>
                    <a:lnTo>
                      <a:pt x="232398" y="570358"/>
                    </a:lnTo>
                    <a:lnTo>
                      <a:pt x="276215" y="588739"/>
                    </a:lnTo>
                    <a:lnTo>
                      <a:pt x="308927" y="615918"/>
                    </a:lnTo>
                    <a:lnTo>
                      <a:pt x="331733" y="650696"/>
                    </a:lnTo>
                    <a:lnTo>
                      <a:pt x="345832" y="691873"/>
                    </a:lnTo>
                    <a:lnTo>
                      <a:pt x="352425" y="738251"/>
                    </a:lnTo>
                    <a:lnTo>
                      <a:pt x="339482" y="791700"/>
                    </a:lnTo>
                    <a:lnTo>
                      <a:pt x="319795" y="835989"/>
                    </a:lnTo>
                    <a:lnTo>
                      <a:pt x="293497" y="870759"/>
                    </a:lnTo>
                    <a:lnTo>
                      <a:pt x="260721" y="895655"/>
                    </a:lnTo>
                    <a:lnTo>
                      <a:pt x="221603" y="910321"/>
                    </a:lnTo>
                    <a:lnTo>
                      <a:pt x="176275" y="914400"/>
                    </a:lnTo>
                    <a:lnTo>
                      <a:pt x="126688" y="906564"/>
                    </a:lnTo>
                    <a:lnTo>
                      <a:pt x="84883" y="888882"/>
                    </a:lnTo>
                    <a:lnTo>
                      <a:pt x="51085" y="862282"/>
                    </a:lnTo>
                    <a:lnTo>
                      <a:pt x="25522" y="827691"/>
                    </a:lnTo>
                    <a:lnTo>
                      <a:pt x="8418" y="786038"/>
                    </a:lnTo>
                    <a:lnTo>
                      <a:pt x="0" y="738251"/>
                    </a:lnTo>
                    <a:close/>
                  </a:path>
                  <a:path w="2619375" h="914400">
                    <a:moveTo>
                      <a:pt x="2257425" y="180975"/>
                    </a:moveTo>
                    <a:lnTo>
                      <a:pt x="2261561" y="132168"/>
                    </a:lnTo>
                    <a:lnTo>
                      <a:pt x="2277730" y="89266"/>
                    </a:lnTo>
                    <a:lnTo>
                      <a:pt x="2304716" y="53435"/>
                    </a:lnTo>
                    <a:lnTo>
                      <a:pt x="2341301" y="25837"/>
                    </a:lnTo>
                    <a:lnTo>
                      <a:pt x="2386268" y="7637"/>
                    </a:lnTo>
                    <a:lnTo>
                      <a:pt x="2438400" y="0"/>
                    </a:lnTo>
                    <a:lnTo>
                      <a:pt x="2496061" y="8598"/>
                    </a:lnTo>
                    <a:lnTo>
                      <a:pt x="2541086" y="27474"/>
                    </a:lnTo>
                    <a:lnTo>
                      <a:pt x="2574702" y="55387"/>
                    </a:lnTo>
                    <a:lnTo>
                      <a:pt x="2598137" y="91101"/>
                    </a:lnTo>
                    <a:lnTo>
                      <a:pt x="2612619" y="133376"/>
                    </a:lnTo>
                    <a:lnTo>
                      <a:pt x="2619375" y="180975"/>
                    </a:lnTo>
                    <a:lnTo>
                      <a:pt x="2606084" y="235937"/>
                    </a:lnTo>
                    <a:lnTo>
                      <a:pt x="2585861" y="281460"/>
                    </a:lnTo>
                    <a:lnTo>
                      <a:pt x="2558843" y="317182"/>
                    </a:lnTo>
                    <a:lnTo>
                      <a:pt x="2525169" y="342744"/>
                    </a:lnTo>
                    <a:lnTo>
                      <a:pt x="2484975" y="357787"/>
                    </a:lnTo>
                    <a:lnTo>
                      <a:pt x="2438400" y="361950"/>
                    </a:lnTo>
                    <a:lnTo>
                      <a:pt x="2387502" y="353906"/>
                    </a:lnTo>
                    <a:lnTo>
                      <a:pt x="2344575" y="335745"/>
                    </a:lnTo>
                    <a:lnTo>
                      <a:pt x="2309860" y="308419"/>
                    </a:lnTo>
                    <a:lnTo>
                      <a:pt x="2283601" y="272880"/>
                    </a:lnTo>
                    <a:lnTo>
                      <a:pt x="2266041" y="230081"/>
                    </a:lnTo>
                    <a:lnTo>
                      <a:pt x="2257425" y="180975"/>
                    </a:lnTo>
                    <a:close/>
                  </a:path>
                </a:pathLst>
              </a:custGeom>
              <a:ln w="38100">
                <a:solidFill>
                  <a:srgbClr val="C00000"/>
                </a:solidFill>
              </a:ln>
            </p:spPr>
            <p:txBody>
              <a:bodyPr wrap="square" lIns="0" tIns="0" rIns="0" bIns="0" rtlCol="0"/>
              <a:lstStyle/>
              <a:p>
                <a:endParaRPr sz="1400"/>
              </a:p>
            </p:txBody>
          </p:sp>
          <p:pic>
            <p:nvPicPr>
              <p:cNvPr id="10" name="object 10"/>
              <p:cNvPicPr/>
              <p:nvPr/>
            </p:nvPicPr>
            <p:blipFill>
              <a:blip r:embed="rId3" cstate="print"/>
              <a:stretch>
                <a:fillRect/>
              </a:stretch>
            </p:blipFill>
            <p:spPr>
              <a:xfrm>
                <a:off x="3657663" y="1962213"/>
                <a:ext cx="247650" cy="409575"/>
              </a:xfrm>
              <a:prstGeom prst="rect">
                <a:avLst/>
              </a:prstGeom>
            </p:spPr>
          </p:pic>
          <p:sp>
            <p:nvSpPr>
              <p:cNvPr id="11" name="object 11"/>
              <p:cNvSpPr/>
              <p:nvPr/>
            </p:nvSpPr>
            <p:spPr>
              <a:xfrm>
                <a:off x="3781679" y="2286381"/>
                <a:ext cx="139700" cy="229235"/>
              </a:xfrm>
              <a:custGeom>
                <a:avLst/>
                <a:gdLst/>
                <a:ahLst/>
                <a:cxnLst/>
                <a:rect l="l" t="t" r="r" b="b"/>
                <a:pathLst>
                  <a:path w="139700" h="229235">
                    <a:moveTo>
                      <a:pt x="0" y="0"/>
                    </a:moveTo>
                    <a:lnTo>
                      <a:pt x="139446" y="229107"/>
                    </a:lnTo>
                  </a:path>
                </a:pathLst>
              </a:custGeom>
              <a:ln w="28575">
                <a:solidFill>
                  <a:srgbClr val="000000"/>
                </a:solidFill>
              </a:ln>
            </p:spPr>
            <p:txBody>
              <a:bodyPr wrap="square" lIns="0" tIns="0" rIns="0" bIns="0" rtlCol="0"/>
              <a:lstStyle/>
              <a:p>
                <a:endParaRPr sz="1400"/>
              </a:p>
            </p:txBody>
          </p:sp>
          <p:pic>
            <p:nvPicPr>
              <p:cNvPr id="12" name="object 12"/>
              <p:cNvPicPr/>
              <p:nvPr/>
            </p:nvPicPr>
            <p:blipFill>
              <a:blip r:embed="rId4" cstate="print"/>
              <a:stretch>
                <a:fillRect/>
              </a:stretch>
            </p:blipFill>
            <p:spPr>
              <a:xfrm>
                <a:off x="3810063" y="2467038"/>
                <a:ext cx="238125" cy="180975"/>
              </a:xfrm>
              <a:prstGeom prst="rect">
                <a:avLst/>
              </a:prstGeom>
            </p:spPr>
          </p:pic>
          <p:sp>
            <p:nvSpPr>
              <p:cNvPr id="13" name="object 13"/>
              <p:cNvSpPr/>
              <p:nvPr/>
            </p:nvSpPr>
            <p:spPr>
              <a:xfrm>
                <a:off x="3700526" y="2557526"/>
                <a:ext cx="228600" cy="228600"/>
              </a:xfrm>
              <a:custGeom>
                <a:avLst/>
                <a:gdLst/>
                <a:ahLst/>
                <a:cxnLst/>
                <a:rect l="l" t="t" r="r" b="b"/>
                <a:pathLst>
                  <a:path w="228600" h="228600">
                    <a:moveTo>
                      <a:pt x="228600" y="0"/>
                    </a:moveTo>
                    <a:lnTo>
                      <a:pt x="0" y="228600"/>
                    </a:lnTo>
                  </a:path>
                </a:pathLst>
              </a:custGeom>
              <a:ln w="28575">
                <a:solidFill>
                  <a:srgbClr val="000000"/>
                </a:solidFill>
              </a:ln>
            </p:spPr>
            <p:txBody>
              <a:bodyPr wrap="square" lIns="0" tIns="0" rIns="0" bIns="0" rtlCol="0"/>
              <a:lstStyle/>
              <a:p>
                <a:endParaRPr sz="1400"/>
              </a:p>
            </p:txBody>
          </p:sp>
          <p:pic>
            <p:nvPicPr>
              <p:cNvPr id="14" name="object 14"/>
              <p:cNvPicPr/>
              <p:nvPr/>
            </p:nvPicPr>
            <p:blipFill>
              <a:blip r:embed="rId4" cstate="print"/>
              <a:stretch>
                <a:fillRect/>
              </a:stretch>
            </p:blipFill>
            <p:spPr>
              <a:xfrm>
                <a:off x="3581463" y="2695638"/>
                <a:ext cx="238125" cy="180975"/>
              </a:xfrm>
              <a:prstGeom prst="rect">
                <a:avLst/>
              </a:prstGeom>
            </p:spPr>
          </p:pic>
          <p:sp>
            <p:nvSpPr>
              <p:cNvPr id="15" name="object 15"/>
              <p:cNvSpPr/>
              <p:nvPr/>
            </p:nvSpPr>
            <p:spPr>
              <a:xfrm>
                <a:off x="3700526" y="2786126"/>
                <a:ext cx="76200" cy="228600"/>
              </a:xfrm>
              <a:custGeom>
                <a:avLst/>
                <a:gdLst/>
                <a:ahLst/>
                <a:cxnLst/>
                <a:rect l="l" t="t" r="r" b="b"/>
                <a:pathLst>
                  <a:path w="76200" h="228600">
                    <a:moveTo>
                      <a:pt x="0" y="0"/>
                    </a:moveTo>
                    <a:lnTo>
                      <a:pt x="76200" y="228600"/>
                    </a:lnTo>
                  </a:path>
                </a:pathLst>
              </a:custGeom>
              <a:ln w="28575">
                <a:solidFill>
                  <a:srgbClr val="000000"/>
                </a:solidFill>
              </a:ln>
            </p:spPr>
            <p:txBody>
              <a:bodyPr wrap="square" lIns="0" tIns="0" rIns="0" bIns="0" rtlCol="0"/>
              <a:lstStyle/>
              <a:p>
                <a:endParaRPr sz="1400"/>
              </a:p>
            </p:txBody>
          </p:sp>
          <p:pic>
            <p:nvPicPr>
              <p:cNvPr id="16" name="object 16"/>
              <p:cNvPicPr/>
              <p:nvPr/>
            </p:nvPicPr>
            <p:blipFill>
              <a:blip r:embed="rId4" cstate="print"/>
              <a:stretch>
                <a:fillRect/>
              </a:stretch>
            </p:blipFill>
            <p:spPr>
              <a:xfrm>
                <a:off x="3657663" y="2924238"/>
                <a:ext cx="238125" cy="180975"/>
              </a:xfrm>
              <a:prstGeom prst="rect">
                <a:avLst/>
              </a:prstGeom>
            </p:spPr>
          </p:pic>
          <p:sp>
            <p:nvSpPr>
              <p:cNvPr id="17" name="object 17"/>
              <p:cNvSpPr/>
              <p:nvPr/>
            </p:nvSpPr>
            <p:spPr>
              <a:xfrm>
                <a:off x="3776726" y="3014726"/>
                <a:ext cx="304800" cy="57150"/>
              </a:xfrm>
              <a:custGeom>
                <a:avLst/>
                <a:gdLst/>
                <a:ahLst/>
                <a:cxnLst/>
                <a:rect l="l" t="t" r="r" b="b"/>
                <a:pathLst>
                  <a:path w="304800" h="57150">
                    <a:moveTo>
                      <a:pt x="0" y="0"/>
                    </a:moveTo>
                    <a:lnTo>
                      <a:pt x="304800" y="57150"/>
                    </a:lnTo>
                  </a:path>
                </a:pathLst>
              </a:custGeom>
              <a:ln w="28575">
                <a:solidFill>
                  <a:srgbClr val="000000"/>
                </a:solidFill>
              </a:ln>
            </p:spPr>
            <p:txBody>
              <a:bodyPr wrap="square" lIns="0" tIns="0" rIns="0" bIns="0" rtlCol="0"/>
              <a:lstStyle/>
              <a:p>
                <a:endParaRPr sz="1400"/>
              </a:p>
            </p:txBody>
          </p:sp>
          <p:pic>
            <p:nvPicPr>
              <p:cNvPr id="18" name="object 18"/>
              <p:cNvPicPr/>
              <p:nvPr/>
            </p:nvPicPr>
            <p:blipFill>
              <a:blip r:embed="rId5" cstate="print"/>
              <a:stretch>
                <a:fillRect/>
              </a:stretch>
            </p:blipFill>
            <p:spPr>
              <a:xfrm>
                <a:off x="3962463" y="2981388"/>
                <a:ext cx="390525" cy="352425"/>
              </a:xfrm>
              <a:prstGeom prst="rect">
                <a:avLst/>
              </a:prstGeom>
            </p:spPr>
          </p:pic>
          <p:sp>
            <p:nvSpPr>
              <p:cNvPr id="19" name="object 19"/>
              <p:cNvSpPr/>
              <p:nvPr/>
            </p:nvSpPr>
            <p:spPr>
              <a:xfrm>
                <a:off x="4148201" y="3243326"/>
                <a:ext cx="76200" cy="228600"/>
              </a:xfrm>
              <a:custGeom>
                <a:avLst/>
                <a:gdLst/>
                <a:ahLst/>
                <a:cxnLst/>
                <a:rect l="l" t="t" r="r" b="b"/>
                <a:pathLst>
                  <a:path w="76200" h="228600">
                    <a:moveTo>
                      <a:pt x="76200" y="0"/>
                    </a:moveTo>
                    <a:lnTo>
                      <a:pt x="0" y="228600"/>
                    </a:lnTo>
                  </a:path>
                </a:pathLst>
              </a:custGeom>
              <a:ln w="28575">
                <a:solidFill>
                  <a:srgbClr val="000000"/>
                </a:solidFill>
              </a:ln>
            </p:spPr>
            <p:txBody>
              <a:bodyPr wrap="square" lIns="0" tIns="0" rIns="0" bIns="0" rtlCol="0"/>
              <a:lstStyle/>
              <a:p>
                <a:endParaRPr sz="1400"/>
              </a:p>
            </p:txBody>
          </p:sp>
          <p:pic>
            <p:nvPicPr>
              <p:cNvPr id="20" name="object 20"/>
              <p:cNvPicPr/>
              <p:nvPr/>
            </p:nvPicPr>
            <p:blipFill>
              <a:blip r:embed="rId4" cstate="print"/>
              <a:stretch>
                <a:fillRect/>
              </a:stretch>
            </p:blipFill>
            <p:spPr>
              <a:xfrm>
                <a:off x="4038663" y="3381438"/>
                <a:ext cx="238125" cy="180975"/>
              </a:xfrm>
              <a:prstGeom prst="rect">
                <a:avLst/>
              </a:prstGeom>
            </p:spPr>
          </p:pic>
          <p:pic>
            <p:nvPicPr>
              <p:cNvPr id="21" name="object 21"/>
              <p:cNvPicPr/>
              <p:nvPr/>
            </p:nvPicPr>
            <p:blipFill>
              <a:blip r:embed="rId6" cstate="print"/>
              <a:stretch>
                <a:fillRect/>
              </a:stretch>
            </p:blipFill>
            <p:spPr>
              <a:xfrm>
                <a:off x="3933888" y="1962213"/>
                <a:ext cx="238125" cy="180975"/>
              </a:xfrm>
              <a:prstGeom prst="rect">
                <a:avLst/>
              </a:prstGeom>
            </p:spPr>
          </p:pic>
          <p:sp>
            <p:nvSpPr>
              <p:cNvPr id="22" name="object 22"/>
              <p:cNvSpPr/>
              <p:nvPr/>
            </p:nvSpPr>
            <p:spPr>
              <a:xfrm>
                <a:off x="4091051" y="2081276"/>
                <a:ext cx="264795" cy="165100"/>
              </a:xfrm>
              <a:custGeom>
                <a:avLst/>
                <a:gdLst/>
                <a:ahLst/>
                <a:cxnLst/>
                <a:rect l="l" t="t" r="r" b="b"/>
                <a:pathLst>
                  <a:path w="264795" h="165100">
                    <a:moveTo>
                      <a:pt x="0" y="0"/>
                    </a:moveTo>
                    <a:lnTo>
                      <a:pt x="264287" y="164846"/>
                    </a:lnTo>
                  </a:path>
                </a:pathLst>
              </a:custGeom>
              <a:ln w="28574">
                <a:solidFill>
                  <a:srgbClr val="0096FF"/>
                </a:solidFill>
              </a:ln>
            </p:spPr>
            <p:txBody>
              <a:bodyPr wrap="square" lIns="0" tIns="0" rIns="0" bIns="0" rtlCol="0"/>
              <a:lstStyle/>
              <a:p>
                <a:endParaRPr sz="1400"/>
              </a:p>
            </p:txBody>
          </p:sp>
          <p:pic>
            <p:nvPicPr>
              <p:cNvPr id="23" name="object 23"/>
              <p:cNvPicPr/>
              <p:nvPr/>
            </p:nvPicPr>
            <p:blipFill>
              <a:blip r:embed="rId4" cstate="print"/>
              <a:stretch>
                <a:fillRect/>
              </a:stretch>
            </p:blipFill>
            <p:spPr>
              <a:xfrm>
                <a:off x="4248213" y="2152713"/>
                <a:ext cx="238125" cy="180975"/>
              </a:xfrm>
              <a:prstGeom prst="rect">
                <a:avLst/>
              </a:prstGeom>
            </p:spPr>
          </p:pic>
          <p:sp>
            <p:nvSpPr>
              <p:cNvPr id="24" name="object 24"/>
              <p:cNvSpPr/>
              <p:nvPr/>
            </p:nvSpPr>
            <p:spPr>
              <a:xfrm>
                <a:off x="4357751" y="2243201"/>
                <a:ext cx="290830" cy="100330"/>
              </a:xfrm>
              <a:custGeom>
                <a:avLst/>
                <a:gdLst/>
                <a:ahLst/>
                <a:cxnLst/>
                <a:rect l="l" t="t" r="r" b="b"/>
                <a:pathLst>
                  <a:path w="290829" h="100330">
                    <a:moveTo>
                      <a:pt x="0" y="0"/>
                    </a:moveTo>
                    <a:lnTo>
                      <a:pt x="290449" y="99949"/>
                    </a:lnTo>
                  </a:path>
                </a:pathLst>
              </a:custGeom>
              <a:ln w="28575">
                <a:solidFill>
                  <a:srgbClr val="0096FF"/>
                </a:solidFill>
              </a:ln>
            </p:spPr>
            <p:txBody>
              <a:bodyPr wrap="square" lIns="0" tIns="0" rIns="0" bIns="0" rtlCol="0"/>
              <a:lstStyle/>
              <a:p>
                <a:endParaRPr sz="1400"/>
              </a:p>
            </p:txBody>
          </p:sp>
          <p:pic>
            <p:nvPicPr>
              <p:cNvPr id="25" name="object 25"/>
              <p:cNvPicPr/>
              <p:nvPr/>
            </p:nvPicPr>
            <p:blipFill>
              <a:blip r:embed="rId4" cstate="print"/>
              <a:stretch>
                <a:fillRect/>
              </a:stretch>
            </p:blipFill>
            <p:spPr>
              <a:xfrm>
                <a:off x="4533963" y="2247963"/>
                <a:ext cx="238125" cy="180975"/>
              </a:xfrm>
              <a:prstGeom prst="rect">
                <a:avLst/>
              </a:prstGeom>
            </p:spPr>
          </p:pic>
          <p:sp>
            <p:nvSpPr>
              <p:cNvPr id="26" name="object 26"/>
              <p:cNvSpPr/>
              <p:nvPr/>
            </p:nvSpPr>
            <p:spPr>
              <a:xfrm>
                <a:off x="4653026" y="2347976"/>
                <a:ext cx="333375" cy="196850"/>
              </a:xfrm>
              <a:custGeom>
                <a:avLst/>
                <a:gdLst/>
                <a:ahLst/>
                <a:cxnLst/>
                <a:rect l="l" t="t" r="r" b="b"/>
                <a:pathLst>
                  <a:path w="333375" h="196850">
                    <a:moveTo>
                      <a:pt x="0" y="0"/>
                    </a:moveTo>
                    <a:lnTo>
                      <a:pt x="333375" y="196342"/>
                    </a:lnTo>
                  </a:path>
                </a:pathLst>
              </a:custGeom>
              <a:ln w="28575">
                <a:solidFill>
                  <a:srgbClr val="0096FF"/>
                </a:solidFill>
              </a:ln>
            </p:spPr>
            <p:txBody>
              <a:bodyPr wrap="square" lIns="0" tIns="0" rIns="0" bIns="0" rtlCol="0"/>
              <a:lstStyle/>
              <a:p>
                <a:endParaRPr sz="1400"/>
              </a:p>
            </p:txBody>
          </p:sp>
          <p:pic>
            <p:nvPicPr>
              <p:cNvPr id="27" name="object 27"/>
              <p:cNvPicPr/>
              <p:nvPr/>
            </p:nvPicPr>
            <p:blipFill>
              <a:blip r:embed="rId4" cstate="print"/>
              <a:stretch>
                <a:fillRect/>
              </a:stretch>
            </p:blipFill>
            <p:spPr>
              <a:xfrm>
                <a:off x="4876863" y="2457513"/>
                <a:ext cx="238125" cy="180975"/>
              </a:xfrm>
              <a:prstGeom prst="rect">
                <a:avLst/>
              </a:prstGeom>
            </p:spPr>
          </p:pic>
          <p:sp>
            <p:nvSpPr>
              <p:cNvPr id="28" name="object 28"/>
              <p:cNvSpPr/>
              <p:nvPr/>
            </p:nvSpPr>
            <p:spPr>
              <a:xfrm>
                <a:off x="4986401" y="2548001"/>
                <a:ext cx="381000" cy="171450"/>
              </a:xfrm>
              <a:custGeom>
                <a:avLst/>
                <a:gdLst/>
                <a:ahLst/>
                <a:cxnLst/>
                <a:rect l="l" t="t" r="r" b="b"/>
                <a:pathLst>
                  <a:path w="381000" h="171450">
                    <a:moveTo>
                      <a:pt x="0" y="0"/>
                    </a:moveTo>
                    <a:lnTo>
                      <a:pt x="381000" y="171450"/>
                    </a:lnTo>
                  </a:path>
                </a:pathLst>
              </a:custGeom>
              <a:ln w="28575">
                <a:solidFill>
                  <a:srgbClr val="0096FF"/>
                </a:solidFill>
              </a:ln>
            </p:spPr>
            <p:txBody>
              <a:bodyPr wrap="square" lIns="0" tIns="0" rIns="0" bIns="0" rtlCol="0"/>
              <a:lstStyle/>
              <a:p>
                <a:endParaRPr sz="1400"/>
              </a:p>
            </p:txBody>
          </p:sp>
          <p:pic>
            <p:nvPicPr>
              <p:cNvPr id="29" name="object 29"/>
              <p:cNvPicPr/>
              <p:nvPr/>
            </p:nvPicPr>
            <p:blipFill>
              <a:blip r:embed="rId4" cstate="print"/>
              <a:stretch>
                <a:fillRect/>
              </a:stretch>
            </p:blipFill>
            <p:spPr>
              <a:xfrm>
                <a:off x="5257863" y="2628963"/>
                <a:ext cx="238125" cy="180975"/>
              </a:xfrm>
              <a:prstGeom prst="rect">
                <a:avLst/>
              </a:prstGeom>
            </p:spPr>
          </p:pic>
          <p:sp>
            <p:nvSpPr>
              <p:cNvPr id="30" name="object 30"/>
              <p:cNvSpPr/>
              <p:nvPr/>
            </p:nvSpPr>
            <p:spPr>
              <a:xfrm>
                <a:off x="5376926" y="2719451"/>
                <a:ext cx="381000" cy="114300"/>
              </a:xfrm>
              <a:custGeom>
                <a:avLst/>
                <a:gdLst/>
                <a:ahLst/>
                <a:cxnLst/>
                <a:rect l="l" t="t" r="r" b="b"/>
                <a:pathLst>
                  <a:path w="381000" h="114300">
                    <a:moveTo>
                      <a:pt x="0" y="0"/>
                    </a:moveTo>
                    <a:lnTo>
                      <a:pt x="381000" y="114300"/>
                    </a:lnTo>
                  </a:path>
                </a:pathLst>
              </a:custGeom>
              <a:ln w="28575">
                <a:solidFill>
                  <a:srgbClr val="0096FF"/>
                </a:solidFill>
              </a:ln>
            </p:spPr>
            <p:txBody>
              <a:bodyPr wrap="square" lIns="0" tIns="0" rIns="0" bIns="0" rtlCol="0"/>
              <a:lstStyle/>
              <a:p>
                <a:endParaRPr sz="1400"/>
              </a:p>
            </p:txBody>
          </p:sp>
          <p:pic>
            <p:nvPicPr>
              <p:cNvPr id="31" name="object 31"/>
              <p:cNvPicPr/>
              <p:nvPr/>
            </p:nvPicPr>
            <p:blipFill>
              <a:blip r:embed="rId4" cstate="print"/>
              <a:stretch>
                <a:fillRect/>
              </a:stretch>
            </p:blipFill>
            <p:spPr>
              <a:xfrm>
                <a:off x="5638863" y="2743263"/>
                <a:ext cx="238125" cy="180975"/>
              </a:xfrm>
              <a:prstGeom prst="rect">
                <a:avLst/>
              </a:prstGeom>
            </p:spPr>
          </p:pic>
          <p:sp>
            <p:nvSpPr>
              <p:cNvPr id="32" name="object 32"/>
              <p:cNvSpPr/>
              <p:nvPr/>
            </p:nvSpPr>
            <p:spPr>
              <a:xfrm>
                <a:off x="5757926" y="2833751"/>
                <a:ext cx="585470" cy="206375"/>
              </a:xfrm>
              <a:custGeom>
                <a:avLst/>
                <a:gdLst/>
                <a:ahLst/>
                <a:cxnLst/>
                <a:rect l="l" t="t" r="r" b="b"/>
                <a:pathLst>
                  <a:path w="585470" h="206375">
                    <a:moveTo>
                      <a:pt x="0" y="0"/>
                    </a:moveTo>
                    <a:lnTo>
                      <a:pt x="585215" y="205867"/>
                    </a:lnTo>
                  </a:path>
                </a:pathLst>
              </a:custGeom>
              <a:ln w="28574">
                <a:solidFill>
                  <a:srgbClr val="0096FF"/>
                </a:solidFill>
              </a:ln>
            </p:spPr>
            <p:txBody>
              <a:bodyPr wrap="square" lIns="0" tIns="0" rIns="0" bIns="0" rtlCol="0"/>
              <a:lstStyle/>
              <a:p>
                <a:endParaRPr sz="1400"/>
              </a:p>
            </p:txBody>
          </p:sp>
          <p:pic>
            <p:nvPicPr>
              <p:cNvPr id="33" name="object 33"/>
              <p:cNvPicPr/>
              <p:nvPr/>
            </p:nvPicPr>
            <p:blipFill>
              <a:blip r:embed="rId4" cstate="print"/>
              <a:stretch>
                <a:fillRect/>
              </a:stretch>
            </p:blipFill>
            <p:spPr>
              <a:xfrm>
                <a:off x="6257988" y="2971863"/>
                <a:ext cx="238125" cy="180975"/>
              </a:xfrm>
              <a:prstGeom prst="rect">
                <a:avLst/>
              </a:prstGeom>
            </p:spPr>
          </p:pic>
          <p:sp>
            <p:nvSpPr>
              <p:cNvPr id="34" name="object 34"/>
              <p:cNvSpPr/>
              <p:nvPr/>
            </p:nvSpPr>
            <p:spPr>
              <a:xfrm>
                <a:off x="3727196" y="3781425"/>
                <a:ext cx="339090" cy="483234"/>
              </a:xfrm>
              <a:custGeom>
                <a:avLst/>
                <a:gdLst/>
                <a:ahLst/>
                <a:cxnLst/>
                <a:rect l="l" t="t" r="r" b="b"/>
                <a:pathLst>
                  <a:path w="339089" h="483235">
                    <a:moveTo>
                      <a:pt x="285090" y="50135"/>
                    </a:moveTo>
                    <a:lnTo>
                      <a:pt x="256746" y="59201"/>
                    </a:lnTo>
                    <a:lnTo>
                      <a:pt x="0" y="462330"/>
                    </a:lnTo>
                    <a:lnTo>
                      <a:pt x="32257" y="482790"/>
                    </a:lnTo>
                    <a:lnTo>
                      <a:pt x="288878" y="79668"/>
                    </a:lnTo>
                    <a:lnTo>
                      <a:pt x="285090" y="50135"/>
                    </a:lnTo>
                    <a:close/>
                  </a:path>
                  <a:path w="339089" h="483235">
                    <a:moveTo>
                      <a:pt x="318898" y="14859"/>
                    </a:moveTo>
                    <a:lnTo>
                      <a:pt x="284988" y="14859"/>
                    </a:lnTo>
                    <a:lnTo>
                      <a:pt x="317118" y="35306"/>
                    </a:lnTo>
                    <a:lnTo>
                      <a:pt x="288878" y="79668"/>
                    </a:lnTo>
                    <a:lnTo>
                      <a:pt x="301116" y="175069"/>
                    </a:lnTo>
                    <a:lnTo>
                      <a:pt x="322452" y="191541"/>
                    </a:lnTo>
                    <a:lnTo>
                      <a:pt x="329602" y="189107"/>
                    </a:lnTo>
                    <a:lnTo>
                      <a:pt x="335073" y="184284"/>
                    </a:lnTo>
                    <a:lnTo>
                      <a:pt x="338329" y="177759"/>
                    </a:lnTo>
                    <a:lnTo>
                      <a:pt x="338836" y="170218"/>
                    </a:lnTo>
                    <a:lnTo>
                      <a:pt x="318898" y="14859"/>
                    </a:lnTo>
                    <a:close/>
                  </a:path>
                  <a:path w="339089" h="483235">
                    <a:moveTo>
                      <a:pt x="316991" y="0"/>
                    </a:moveTo>
                    <a:lnTo>
                      <a:pt x="153542" y="52196"/>
                    </a:lnTo>
                    <a:lnTo>
                      <a:pt x="146919" y="55874"/>
                    </a:lnTo>
                    <a:lnTo>
                      <a:pt x="142366" y="61610"/>
                    </a:lnTo>
                    <a:lnTo>
                      <a:pt x="140291" y="68609"/>
                    </a:lnTo>
                    <a:lnTo>
                      <a:pt x="141096" y="76072"/>
                    </a:lnTo>
                    <a:lnTo>
                      <a:pt x="144829" y="82696"/>
                    </a:lnTo>
                    <a:lnTo>
                      <a:pt x="150574" y="87249"/>
                    </a:lnTo>
                    <a:lnTo>
                      <a:pt x="157581" y="89324"/>
                    </a:lnTo>
                    <a:lnTo>
                      <a:pt x="165100" y="88518"/>
                    </a:lnTo>
                    <a:lnTo>
                      <a:pt x="256746" y="59201"/>
                    </a:lnTo>
                    <a:lnTo>
                      <a:pt x="284988" y="14859"/>
                    </a:lnTo>
                    <a:lnTo>
                      <a:pt x="318898" y="14859"/>
                    </a:lnTo>
                    <a:lnTo>
                      <a:pt x="316991" y="0"/>
                    </a:lnTo>
                    <a:close/>
                  </a:path>
                  <a:path w="339089" h="483235">
                    <a:moveTo>
                      <a:pt x="304945" y="27559"/>
                    </a:moveTo>
                    <a:lnTo>
                      <a:pt x="282193" y="27559"/>
                    </a:lnTo>
                    <a:lnTo>
                      <a:pt x="306831" y="43180"/>
                    </a:lnTo>
                    <a:lnTo>
                      <a:pt x="285090" y="50135"/>
                    </a:lnTo>
                    <a:lnTo>
                      <a:pt x="288878" y="79668"/>
                    </a:lnTo>
                    <a:lnTo>
                      <a:pt x="317118" y="35306"/>
                    </a:lnTo>
                    <a:lnTo>
                      <a:pt x="304945" y="27559"/>
                    </a:lnTo>
                    <a:close/>
                  </a:path>
                  <a:path w="339089" h="483235">
                    <a:moveTo>
                      <a:pt x="284988" y="14859"/>
                    </a:moveTo>
                    <a:lnTo>
                      <a:pt x="256746" y="59201"/>
                    </a:lnTo>
                    <a:lnTo>
                      <a:pt x="285090" y="50135"/>
                    </a:lnTo>
                    <a:lnTo>
                      <a:pt x="282193" y="27559"/>
                    </a:lnTo>
                    <a:lnTo>
                      <a:pt x="304945" y="27559"/>
                    </a:lnTo>
                    <a:lnTo>
                      <a:pt x="284988" y="14859"/>
                    </a:lnTo>
                    <a:close/>
                  </a:path>
                  <a:path w="339089" h="483235">
                    <a:moveTo>
                      <a:pt x="282193" y="27559"/>
                    </a:moveTo>
                    <a:lnTo>
                      <a:pt x="285090" y="50135"/>
                    </a:lnTo>
                    <a:lnTo>
                      <a:pt x="306831" y="43180"/>
                    </a:lnTo>
                    <a:lnTo>
                      <a:pt x="282193" y="27559"/>
                    </a:lnTo>
                    <a:close/>
                  </a:path>
                </a:pathLst>
              </a:custGeom>
              <a:solidFill>
                <a:srgbClr val="C00000"/>
              </a:solidFill>
            </p:spPr>
            <p:txBody>
              <a:bodyPr wrap="square" lIns="0" tIns="0" rIns="0" bIns="0" rtlCol="0"/>
              <a:lstStyle/>
              <a:p>
                <a:endParaRPr sz="1400"/>
              </a:p>
            </p:txBody>
          </p:sp>
        </p:grpSp>
      </p:grpSp>
      <p:sp>
        <p:nvSpPr>
          <p:cNvPr id="35" name="object 35"/>
          <p:cNvSpPr txBox="1">
            <a:spLocks noGrp="1"/>
          </p:cNvSpPr>
          <p:nvPr>
            <p:ph type="title"/>
          </p:nvPr>
        </p:nvSpPr>
        <p:spPr>
          <a:xfrm>
            <a:off x="2275828" y="71375"/>
            <a:ext cx="5473748" cy="404471"/>
          </a:xfrm>
          <a:prstGeom prst="rect">
            <a:avLst/>
          </a:prstGeom>
        </p:spPr>
        <p:txBody>
          <a:bodyPr vert="horz" wrap="square" lIns="0" tIns="16511" rIns="0" bIns="0" rtlCol="0">
            <a:spAutoFit/>
          </a:bodyPr>
          <a:lstStyle/>
          <a:p>
            <a:pPr marL="12700">
              <a:spcBef>
                <a:spcPts val="131"/>
              </a:spcBef>
            </a:pPr>
            <a:r>
              <a:rPr sz="2800" spc="20" dirty="0"/>
              <a:t>More</a:t>
            </a:r>
            <a:r>
              <a:rPr sz="2800" spc="-125" dirty="0"/>
              <a:t> </a:t>
            </a:r>
            <a:r>
              <a:rPr sz="2800" spc="15" dirty="0"/>
              <a:t>than</a:t>
            </a:r>
            <a:r>
              <a:rPr sz="2800" spc="-51" dirty="0"/>
              <a:t> </a:t>
            </a:r>
            <a:r>
              <a:rPr sz="2800" dirty="0"/>
              <a:t>one</a:t>
            </a:r>
            <a:r>
              <a:rPr sz="2800" spc="-45" dirty="0"/>
              <a:t> </a:t>
            </a:r>
            <a:r>
              <a:rPr sz="2800" spc="-11" dirty="0"/>
              <a:t>local</a:t>
            </a:r>
            <a:r>
              <a:rPr sz="2800" dirty="0"/>
              <a:t> minimum</a:t>
            </a:r>
          </a:p>
        </p:txBody>
      </p:sp>
      <p:sp>
        <p:nvSpPr>
          <p:cNvPr id="37" name="Slide Number Placeholder 36">
            <a:extLst>
              <a:ext uri="{FF2B5EF4-FFF2-40B4-BE49-F238E27FC236}">
                <a16:creationId xmlns:a16="http://schemas.microsoft.com/office/drawing/2014/main" id="{F6E23893-05F5-FB6A-E854-C023347B9F12}"/>
              </a:ext>
            </a:extLst>
          </p:cNvPr>
          <p:cNvSpPr>
            <a:spLocks noGrp="1"/>
          </p:cNvSpPr>
          <p:nvPr>
            <p:ph type="sldNum" sz="quarter" idx="12"/>
          </p:nvPr>
        </p:nvSpPr>
        <p:spPr/>
        <p:txBody>
          <a:bodyPr/>
          <a:lstStyle/>
          <a:p>
            <a:fld id="{B6F15528-21DE-4FAA-801E-634DDDAF4B2B}" type="slidenum">
              <a:rPr lang="en-PS" smtClean="0"/>
              <a:t>32</a:t>
            </a:fld>
            <a:endParaRPr lang="en-PS"/>
          </a:p>
        </p:txBody>
      </p:sp>
      <p:sp>
        <p:nvSpPr>
          <p:cNvPr id="38" name="TextBox 37">
            <a:extLst>
              <a:ext uri="{FF2B5EF4-FFF2-40B4-BE49-F238E27FC236}">
                <a16:creationId xmlns:a16="http://schemas.microsoft.com/office/drawing/2014/main" id="{B4FA23E2-9253-F513-B0F3-6BAC62D362B5}"/>
              </a:ext>
            </a:extLst>
          </p:cNvPr>
          <p:cNvSpPr txBox="1"/>
          <p:nvPr/>
        </p:nvSpPr>
        <p:spPr>
          <a:xfrm>
            <a:off x="190471" y="1570252"/>
            <a:ext cx="2573275" cy="2246769"/>
          </a:xfrm>
          <a:prstGeom prst="rect">
            <a:avLst/>
          </a:prstGeom>
          <a:noFill/>
        </p:spPr>
        <p:txBody>
          <a:bodyPr wrap="square" rtlCol="0">
            <a:spAutoFit/>
          </a:bodyPr>
          <a:lstStyle/>
          <a:p>
            <a:r>
              <a:rPr lang="en-PS" sz="2000" dirty="0">
                <a:latin typeface="Gill Sans MT" panose="020B0502020104020203" pitchFamily="34" charset="77"/>
                <a:cs typeface="Times New Roman" panose="02020603050405020304" pitchFamily="18" charset="0"/>
              </a:rPr>
              <a:t>When we have more than one local minimum, then the minimum that the algorithm converges to depends on the value that we started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4181" y="473277"/>
            <a:ext cx="6952711" cy="3917631"/>
          </a:xfrm>
          <a:prstGeom prst="rect">
            <a:avLst/>
          </a:prstGeom>
        </p:spPr>
      </p:pic>
      <p:sp>
        <p:nvSpPr>
          <p:cNvPr id="3" name="object 3"/>
          <p:cNvSpPr txBox="1"/>
          <p:nvPr/>
        </p:nvSpPr>
        <p:spPr>
          <a:xfrm>
            <a:off x="6952869" y="785750"/>
            <a:ext cx="2059305" cy="324449"/>
          </a:xfrm>
          <a:prstGeom prst="rect">
            <a:avLst/>
          </a:prstGeom>
        </p:spPr>
        <p:txBody>
          <a:bodyPr vert="horz" wrap="square" lIns="0" tIns="16511" rIns="0" bIns="0" rtlCol="0">
            <a:spAutoFit/>
          </a:bodyPr>
          <a:lstStyle/>
          <a:p>
            <a:pPr marL="12700">
              <a:spcBef>
                <a:spcPts val="131"/>
              </a:spcBef>
            </a:pPr>
            <a:r>
              <a:rPr sz="2000" spc="5" dirty="0">
                <a:solidFill>
                  <a:srgbClr val="0096FF"/>
                </a:solidFill>
                <a:latin typeface="Verdana"/>
                <a:cs typeface="Verdana"/>
              </a:rPr>
              <a:t>convex</a:t>
            </a:r>
            <a:r>
              <a:rPr sz="2000" spc="-85" dirty="0">
                <a:solidFill>
                  <a:srgbClr val="0096FF"/>
                </a:solidFill>
                <a:latin typeface="Verdana"/>
                <a:cs typeface="Verdana"/>
              </a:rPr>
              <a:t> </a:t>
            </a:r>
            <a:r>
              <a:rPr sz="2000" spc="11" dirty="0">
                <a:solidFill>
                  <a:srgbClr val="0096FF"/>
                </a:solidFill>
                <a:latin typeface="Verdana"/>
                <a:cs typeface="Verdana"/>
              </a:rPr>
              <a:t>function</a:t>
            </a:r>
            <a:endParaRPr sz="2000" dirty="0">
              <a:latin typeface="Verdana"/>
              <a:cs typeface="Verdana"/>
            </a:endParaRPr>
          </a:p>
        </p:txBody>
      </p:sp>
      <p:sp>
        <p:nvSpPr>
          <p:cNvPr id="4" name="object 4"/>
          <p:cNvSpPr txBox="1"/>
          <p:nvPr/>
        </p:nvSpPr>
        <p:spPr>
          <a:xfrm>
            <a:off x="3533774" y="3526745"/>
            <a:ext cx="2076451" cy="324449"/>
          </a:xfrm>
          <a:prstGeom prst="rect">
            <a:avLst/>
          </a:prstGeom>
        </p:spPr>
        <p:txBody>
          <a:bodyPr vert="horz" wrap="square" lIns="0" tIns="16511" rIns="0" bIns="0" rtlCol="0">
            <a:spAutoFit/>
          </a:bodyPr>
          <a:lstStyle/>
          <a:p>
            <a:pPr marL="12700">
              <a:spcBef>
                <a:spcPts val="131"/>
              </a:spcBef>
            </a:pPr>
            <a:r>
              <a:rPr sz="2000" dirty="0">
                <a:solidFill>
                  <a:srgbClr val="0096FF"/>
                </a:solidFill>
                <a:latin typeface="Verdana"/>
                <a:cs typeface="Verdana"/>
              </a:rPr>
              <a:t>global</a:t>
            </a:r>
            <a:r>
              <a:rPr sz="2000" spc="-140" dirty="0">
                <a:solidFill>
                  <a:srgbClr val="0096FF"/>
                </a:solidFill>
                <a:latin typeface="Verdana"/>
                <a:cs typeface="Verdana"/>
              </a:rPr>
              <a:t> </a:t>
            </a:r>
            <a:r>
              <a:rPr sz="2000" dirty="0">
                <a:solidFill>
                  <a:srgbClr val="0096FF"/>
                </a:solidFill>
                <a:latin typeface="Verdana"/>
                <a:cs typeface="Verdana"/>
              </a:rPr>
              <a:t>minimum</a:t>
            </a:r>
            <a:endParaRPr sz="2000" dirty="0">
              <a:latin typeface="Verdana"/>
              <a:cs typeface="Verdana"/>
            </a:endParaRPr>
          </a:p>
        </p:txBody>
      </p:sp>
      <p:sp>
        <p:nvSpPr>
          <p:cNvPr id="5" name="object 5"/>
          <p:cNvSpPr txBox="1">
            <a:spLocks noGrp="1"/>
          </p:cNvSpPr>
          <p:nvPr>
            <p:ph type="title"/>
          </p:nvPr>
        </p:nvSpPr>
        <p:spPr>
          <a:xfrm>
            <a:off x="258849" y="176455"/>
            <a:ext cx="4073815" cy="349071"/>
          </a:xfrm>
          <a:prstGeom prst="rect">
            <a:avLst/>
          </a:prstGeom>
        </p:spPr>
        <p:txBody>
          <a:bodyPr vert="horz" wrap="square" lIns="0" tIns="16511" rIns="0" bIns="0" rtlCol="0">
            <a:spAutoFit/>
          </a:bodyPr>
          <a:lstStyle/>
          <a:p>
            <a:pPr marL="12700">
              <a:spcBef>
                <a:spcPts val="131"/>
              </a:spcBef>
            </a:pPr>
            <a:r>
              <a:rPr lang="en-GB" sz="2400" dirty="0">
                <a:ln w="0"/>
                <a:solidFill>
                  <a:srgbClr val="C00000"/>
                </a:solidFill>
                <a:effectLst>
                  <a:outerShdw blurRad="38100" dist="19050" dir="2700000" algn="tl" rotWithShape="0">
                    <a:schemeClr val="dk1">
                      <a:alpha val="40000"/>
                    </a:schemeClr>
                  </a:outerShdw>
                </a:effectLst>
              </a:rPr>
              <a:t>Squared Error Cost Function </a:t>
            </a:r>
            <a:endParaRPr sz="2400" dirty="0">
              <a:ln w="0"/>
              <a:solidFill>
                <a:srgbClr val="C00000"/>
              </a:solidFill>
              <a:effectLst>
                <a:outerShdw blurRad="38100" dist="19050" dir="2700000" algn="tl" rotWithShape="0">
                  <a:schemeClr val="dk1">
                    <a:alpha val="40000"/>
                  </a:schemeClr>
                </a:outerShdw>
              </a:effectLst>
            </a:endParaRPr>
          </a:p>
        </p:txBody>
      </p:sp>
      <p:grpSp>
        <p:nvGrpSpPr>
          <p:cNvPr id="6" name="object 6"/>
          <p:cNvGrpSpPr/>
          <p:nvPr/>
        </p:nvGrpSpPr>
        <p:grpSpPr>
          <a:xfrm>
            <a:off x="5972176" y="386335"/>
            <a:ext cx="2338578" cy="3928490"/>
            <a:chOff x="5972175" y="386334"/>
            <a:chExt cx="2338578" cy="3928490"/>
          </a:xfrm>
        </p:grpSpPr>
        <p:pic>
          <p:nvPicPr>
            <p:cNvPr id="7" name="object 7"/>
            <p:cNvPicPr/>
            <p:nvPr/>
          </p:nvPicPr>
          <p:blipFill>
            <a:blip r:embed="rId3" cstate="print"/>
            <a:stretch>
              <a:fillRect/>
            </a:stretch>
          </p:blipFill>
          <p:spPr>
            <a:xfrm>
              <a:off x="6666992" y="407924"/>
              <a:ext cx="140461" cy="215900"/>
            </a:xfrm>
            <a:prstGeom prst="rect">
              <a:avLst/>
            </a:prstGeom>
          </p:spPr>
        </p:pic>
        <p:pic>
          <p:nvPicPr>
            <p:cNvPr id="8" name="object 8"/>
            <p:cNvPicPr/>
            <p:nvPr/>
          </p:nvPicPr>
          <p:blipFill>
            <a:blip r:embed="rId4" cstate="print"/>
            <a:stretch>
              <a:fillRect/>
            </a:stretch>
          </p:blipFill>
          <p:spPr>
            <a:xfrm>
              <a:off x="6872429" y="386334"/>
              <a:ext cx="405559" cy="238505"/>
            </a:xfrm>
            <a:prstGeom prst="rect">
              <a:avLst/>
            </a:prstGeom>
          </p:spPr>
        </p:pic>
        <p:pic>
          <p:nvPicPr>
            <p:cNvPr id="9" name="object 9"/>
            <p:cNvPicPr/>
            <p:nvPr/>
          </p:nvPicPr>
          <p:blipFill>
            <a:blip r:embed="rId5" cstate="print"/>
            <a:stretch>
              <a:fillRect/>
            </a:stretch>
          </p:blipFill>
          <p:spPr>
            <a:xfrm>
              <a:off x="7416927" y="423799"/>
              <a:ext cx="893826" cy="274447"/>
            </a:xfrm>
            <a:prstGeom prst="rect">
              <a:avLst/>
            </a:prstGeom>
          </p:spPr>
        </p:pic>
        <p:sp>
          <p:nvSpPr>
            <p:cNvPr id="11" name="object 11"/>
            <p:cNvSpPr/>
            <p:nvPr/>
          </p:nvSpPr>
          <p:spPr>
            <a:xfrm>
              <a:off x="5972175" y="4010024"/>
              <a:ext cx="247650" cy="304800"/>
            </a:xfrm>
            <a:custGeom>
              <a:avLst/>
              <a:gdLst/>
              <a:ahLst/>
              <a:cxnLst/>
              <a:rect l="l" t="t" r="r" b="b"/>
              <a:pathLst>
                <a:path w="247650" h="304800">
                  <a:moveTo>
                    <a:pt x="247650" y="0"/>
                  </a:moveTo>
                  <a:lnTo>
                    <a:pt x="0" y="0"/>
                  </a:lnTo>
                  <a:lnTo>
                    <a:pt x="0" y="304800"/>
                  </a:lnTo>
                  <a:lnTo>
                    <a:pt x="247650" y="304800"/>
                  </a:lnTo>
                  <a:lnTo>
                    <a:pt x="247650" y="0"/>
                  </a:lnTo>
                  <a:close/>
                </a:path>
              </a:pathLst>
            </a:custGeom>
            <a:solidFill>
              <a:srgbClr val="FFFFFF"/>
            </a:solidFill>
          </p:spPr>
          <p:txBody>
            <a:bodyPr wrap="square" lIns="0" tIns="0" rIns="0" bIns="0" rtlCol="0"/>
            <a:lstStyle/>
            <a:p>
              <a:endParaRPr/>
            </a:p>
          </p:txBody>
        </p:sp>
      </p:grpSp>
      <p:pic>
        <p:nvPicPr>
          <p:cNvPr id="12" name="object 12"/>
          <p:cNvPicPr/>
          <p:nvPr/>
        </p:nvPicPr>
        <p:blipFill>
          <a:blip r:embed="rId6" cstate="print"/>
          <a:stretch>
            <a:fillRect/>
          </a:stretch>
        </p:blipFill>
        <p:spPr>
          <a:xfrm>
            <a:off x="8463662" y="397891"/>
            <a:ext cx="392175" cy="255271"/>
          </a:xfrm>
          <a:prstGeom prst="rect">
            <a:avLst/>
          </a:prstGeom>
        </p:spPr>
      </p:pic>
      <p:sp>
        <p:nvSpPr>
          <p:cNvPr id="13" name="object 13"/>
          <p:cNvSpPr txBox="1"/>
          <p:nvPr/>
        </p:nvSpPr>
        <p:spPr>
          <a:xfrm>
            <a:off x="6011292" y="3972877"/>
            <a:ext cx="164465" cy="323807"/>
          </a:xfrm>
          <a:prstGeom prst="rect">
            <a:avLst/>
          </a:prstGeom>
        </p:spPr>
        <p:txBody>
          <a:bodyPr vert="horz" wrap="square" lIns="0" tIns="15875" rIns="0" bIns="0" rtlCol="0">
            <a:spAutoFit/>
          </a:bodyPr>
          <a:lstStyle/>
          <a:p>
            <a:pPr marL="12700">
              <a:spcBef>
                <a:spcPts val="125"/>
              </a:spcBef>
            </a:pPr>
            <a:r>
              <a:rPr sz="2000" spc="25" dirty="0">
                <a:latin typeface="Cambria Math"/>
                <a:cs typeface="Cambria Math"/>
              </a:rPr>
              <a:t>𝑏</a:t>
            </a:r>
            <a:endParaRPr sz="2000">
              <a:latin typeface="Cambria Math"/>
              <a:cs typeface="Cambria Math"/>
            </a:endParaRPr>
          </a:p>
        </p:txBody>
      </p:sp>
      <p:sp>
        <p:nvSpPr>
          <p:cNvPr id="14" name="object 14"/>
          <p:cNvSpPr txBox="1"/>
          <p:nvPr/>
        </p:nvSpPr>
        <p:spPr>
          <a:xfrm>
            <a:off x="2133600" y="3636913"/>
            <a:ext cx="215900" cy="323807"/>
          </a:xfrm>
          <a:prstGeom prst="rect">
            <a:avLst/>
          </a:prstGeom>
        </p:spPr>
        <p:txBody>
          <a:bodyPr vert="horz" wrap="square" lIns="0" tIns="15875" rIns="0" bIns="0" rtlCol="0">
            <a:spAutoFit/>
          </a:bodyPr>
          <a:lstStyle/>
          <a:p>
            <a:pPr marL="12700">
              <a:spcBef>
                <a:spcPts val="125"/>
              </a:spcBef>
            </a:pPr>
            <a:r>
              <a:rPr sz="2000" spc="25" dirty="0">
                <a:latin typeface="Cambria Math"/>
                <a:cs typeface="Cambria Math"/>
              </a:rPr>
              <a:t>𝑤</a:t>
            </a:r>
            <a:endParaRPr sz="2000" dirty="0">
              <a:latin typeface="Cambria Math"/>
              <a:cs typeface="Cambria Math"/>
            </a:endParaRPr>
          </a:p>
        </p:txBody>
      </p:sp>
      <p:sp>
        <p:nvSpPr>
          <p:cNvPr id="16" name="Slide Number Placeholder 15">
            <a:extLst>
              <a:ext uri="{FF2B5EF4-FFF2-40B4-BE49-F238E27FC236}">
                <a16:creationId xmlns:a16="http://schemas.microsoft.com/office/drawing/2014/main" id="{37A86022-7CA8-35A8-D017-86FDE0924FC7}"/>
              </a:ext>
            </a:extLst>
          </p:cNvPr>
          <p:cNvSpPr>
            <a:spLocks noGrp="1"/>
          </p:cNvSpPr>
          <p:nvPr>
            <p:ph type="sldNum" sz="quarter" idx="12"/>
          </p:nvPr>
        </p:nvSpPr>
        <p:spPr/>
        <p:txBody>
          <a:bodyPr/>
          <a:lstStyle/>
          <a:p>
            <a:fld id="{B6F15528-21DE-4FAA-801E-634DDDAF4B2B}" type="slidenum">
              <a:rPr lang="en-PS" smtClean="0"/>
              <a:t>33</a:t>
            </a:fld>
            <a:endParaRPr lang="en-PS"/>
          </a:p>
        </p:txBody>
      </p:sp>
      <p:cxnSp>
        <p:nvCxnSpPr>
          <p:cNvPr id="18" name="Straight Arrow Connector 17">
            <a:extLst>
              <a:ext uri="{FF2B5EF4-FFF2-40B4-BE49-F238E27FC236}">
                <a16:creationId xmlns:a16="http://schemas.microsoft.com/office/drawing/2014/main" id="{312F9974-9805-9253-7DC5-99D232312E79}"/>
              </a:ext>
            </a:extLst>
          </p:cNvPr>
          <p:cNvCxnSpPr>
            <a:cxnSpLocks/>
          </p:cNvCxnSpPr>
          <p:nvPr/>
        </p:nvCxnSpPr>
        <p:spPr>
          <a:xfrm flipV="1">
            <a:off x="4419600" y="3181350"/>
            <a:ext cx="76200" cy="3730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B677358-F928-4B52-557C-33E6B7B37A68}"/>
              </a:ext>
            </a:extLst>
          </p:cNvPr>
          <p:cNvSpPr/>
          <p:nvPr/>
        </p:nvSpPr>
        <p:spPr>
          <a:xfrm>
            <a:off x="4419600" y="310515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20" name="TextBox 19">
            <a:extLst>
              <a:ext uri="{FF2B5EF4-FFF2-40B4-BE49-F238E27FC236}">
                <a16:creationId xmlns:a16="http://schemas.microsoft.com/office/drawing/2014/main" id="{2A090063-4586-2C5F-2E4D-DB3B1D569975}"/>
              </a:ext>
            </a:extLst>
          </p:cNvPr>
          <p:cNvSpPr txBox="1"/>
          <p:nvPr/>
        </p:nvSpPr>
        <p:spPr>
          <a:xfrm>
            <a:off x="733037" y="4332596"/>
            <a:ext cx="6722237" cy="707886"/>
          </a:xfrm>
          <a:prstGeom prst="rect">
            <a:avLst/>
          </a:prstGeom>
          <a:noFill/>
        </p:spPr>
        <p:txBody>
          <a:bodyPr wrap="square" rtlCol="0">
            <a:spAutoFit/>
          </a:bodyPr>
          <a:lstStyle/>
          <a:p>
            <a:r>
              <a:rPr lang="en-PS" sz="2000" dirty="0">
                <a:latin typeface="Gill Sans MT" panose="020B0502020104020203" pitchFamily="34" charset="77"/>
              </a:rPr>
              <a:t>There is only one minimum for the squared error cost function since it is a convex function  </a:t>
            </a:r>
          </a:p>
        </p:txBody>
      </p:sp>
      <p:sp>
        <p:nvSpPr>
          <p:cNvPr id="22" name="Rectangle 21">
            <a:extLst>
              <a:ext uri="{FF2B5EF4-FFF2-40B4-BE49-F238E27FC236}">
                <a16:creationId xmlns:a16="http://schemas.microsoft.com/office/drawing/2014/main" id="{5A666D25-73F0-E483-743A-A06FD775CEDF}"/>
              </a:ext>
            </a:extLst>
          </p:cNvPr>
          <p:cNvSpPr/>
          <p:nvPr/>
        </p:nvSpPr>
        <p:spPr>
          <a:xfrm>
            <a:off x="6457950" y="176455"/>
            <a:ext cx="2457450" cy="609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7200" y="2647950"/>
            <a:ext cx="7467600" cy="600101"/>
          </a:xfrm>
          <a:prstGeom prst="rect">
            <a:avLst/>
          </a:prstGeom>
        </p:spPr>
        <p:txBody>
          <a:bodyPr vert="horz" wrap="square" lIns="0" tIns="12065" rIns="0" bIns="0" rtlCol="0">
            <a:spAutoFit/>
          </a:bodyPr>
          <a:lstStyle/>
          <a:p>
            <a:pPr marL="12700" marR="5080" indent="-6350" algn="ctr">
              <a:lnSpc>
                <a:spcPct val="115300"/>
              </a:lnSpc>
              <a:spcBef>
                <a:spcPts val="95"/>
              </a:spcBef>
            </a:pPr>
            <a:r>
              <a:rPr sz="3600" spc="-15" dirty="0">
                <a:latin typeface="Gill Sans MT" panose="020B0502020104020203" pitchFamily="34" charset="77"/>
                <a:cs typeface="Verdana"/>
              </a:rPr>
              <a:t>Running </a:t>
            </a:r>
            <a:r>
              <a:rPr sz="3600" spc="-11" dirty="0">
                <a:latin typeface="Gill Sans MT" panose="020B0502020104020203" pitchFamily="34" charset="77"/>
                <a:cs typeface="Verdana"/>
              </a:rPr>
              <a:t> </a:t>
            </a:r>
            <a:r>
              <a:rPr sz="3600" spc="-5" dirty="0">
                <a:latin typeface="Gill Sans MT" panose="020B0502020104020203" pitchFamily="34" charset="77"/>
                <a:cs typeface="Verdana"/>
              </a:rPr>
              <a:t>Gradient</a:t>
            </a:r>
            <a:r>
              <a:rPr sz="3600" spc="-65" dirty="0">
                <a:latin typeface="Gill Sans MT" panose="020B0502020104020203" pitchFamily="34" charset="77"/>
                <a:cs typeface="Verdana"/>
              </a:rPr>
              <a:t> </a:t>
            </a:r>
            <a:r>
              <a:rPr sz="3600" spc="11" dirty="0">
                <a:latin typeface="Gill Sans MT" panose="020B0502020104020203" pitchFamily="34" charset="77"/>
                <a:cs typeface="Verdana"/>
              </a:rPr>
              <a:t>Descent</a:t>
            </a:r>
            <a:endParaRPr sz="3600" dirty="0">
              <a:latin typeface="Gill Sans MT" panose="020B0502020104020203" pitchFamily="34" charset="77"/>
              <a:cs typeface="Verdana"/>
            </a:endParaRPr>
          </a:p>
        </p:txBody>
      </p:sp>
      <p:sp>
        <p:nvSpPr>
          <p:cNvPr id="4" name="Slide Number Placeholder 3">
            <a:extLst>
              <a:ext uri="{FF2B5EF4-FFF2-40B4-BE49-F238E27FC236}">
                <a16:creationId xmlns:a16="http://schemas.microsoft.com/office/drawing/2014/main" id="{B867DCB0-94AA-5DBE-1A5C-5FB10CC578BC}"/>
              </a:ext>
            </a:extLst>
          </p:cNvPr>
          <p:cNvSpPr>
            <a:spLocks noGrp="1"/>
          </p:cNvSpPr>
          <p:nvPr>
            <p:ph type="sldNum" sz="quarter" idx="7"/>
          </p:nvPr>
        </p:nvSpPr>
        <p:spPr/>
        <p:txBody>
          <a:bodyPr/>
          <a:lstStyle/>
          <a:p>
            <a:fld id="{B6F15528-21DE-4FAA-801E-634DDDAF4B2B}" type="slidenum">
              <a:rPr lang="en-PS" smtClean="0"/>
              <a:t>34</a:t>
            </a:fld>
            <a:endParaRPr lang="en-P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441580"/>
            <a:ext cx="7036682" cy="4548275"/>
            <a:chOff x="2297122" y="441579"/>
            <a:chExt cx="5719402" cy="3968496"/>
          </a:xfrm>
        </p:grpSpPr>
        <p:pic>
          <p:nvPicPr>
            <p:cNvPr id="3" name="object 3"/>
            <p:cNvPicPr/>
            <p:nvPr/>
          </p:nvPicPr>
          <p:blipFill>
            <a:blip r:embed="rId2" cstate="print"/>
            <a:stretch>
              <a:fillRect/>
            </a:stretch>
          </p:blipFill>
          <p:spPr>
            <a:xfrm>
              <a:off x="2297122" y="441579"/>
              <a:ext cx="4770427" cy="3968496"/>
            </a:xfrm>
            <a:prstGeom prst="rect">
              <a:avLst/>
            </a:prstGeom>
          </p:spPr>
        </p:pic>
        <p:pic>
          <p:nvPicPr>
            <p:cNvPr id="4" name="object 4"/>
            <p:cNvPicPr/>
            <p:nvPr/>
          </p:nvPicPr>
          <p:blipFill>
            <a:blip r:embed="rId3" cstate="print"/>
            <a:stretch>
              <a:fillRect/>
            </a:stretch>
          </p:blipFill>
          <p:spPr>
            <a:xfrm>
              <a:off x="2837942" y="516128"/>
              <a:ext cx="376935" cy="222885"/>
            </a:xfrm>
            <a:prstGeom prst="rect">
              <a:avLst/>
            </a:prstGeom>
          </p:spPr>
        </p:pic>
        <p:pic>
          <p:nvPicPr>
            <p:cNvPr id="5" name="object 5"/>
            <p:cNvPicPr/>
            <p:nvPr/>
          </p:nvPicPr>
          <p:blipFill>
            <a:blip r:embed="rId4" cstate="print"/>
            <a:stretch>
              <a:fillRect/>
            </a:stretch>
          </p:blipFill>
          <p:spPr>
            <a:xfrm>
              <a:off x="3278505" y="594614"/>
              <a:ext cx="113919" cy="68961"/>
            </a:xfrm>
            <a:prstGeom prst="rect">
              <a:avLst/>
            </a:prstGeom>
          </p:spPr>
        </p:pic>
        <p:pic>
          <p:nvPicPr>
            <p:cNvPr id="6" name="object 6"/>
            <p:cNvPicPr/>
            <p:nvPr/>
          </p:nvPicPr>
          <p:blipFill>
            <a:blip r:embed="rId5" cstate="print"/>
            <a:stretch>
              <a:fillRect/>
            </a:stretch>
          </p:blipFill>
          <p:spPr>
            <a:xfrm>
              <a:off x="3499993" y="524764"/>
              <a:ext cx="329311" cy="182625"/>
            </a:xfrm>
            <a:prstGeom prst="rect">
              <a:avLst/>
            </a:prstGeom>
          </p:spPr>
        </p:pic>
        <p:pic>
          <p:nvPicPr>
            <p:cNvPr id="7" name="object 7"/>
            <p:cNvPicPr/>
            <p:nvPr/>
          </p:nvPicPr>
          <p:blipFill>
            <a:blip r:embed="rId6" cstate="print"/>
            <a:stretch>
              <a:fillRect/>
            </a:stretch>
          </p:blipFill>
          <p:spPr>
            <a:xfrm>
              <a:off x="3909441" y="507746"/>
              <a:ext cx="280162" cy="192912"/>
            </a:xfrm>
            <a:prstGeom prst="rect">
              <a:avLst/>
            </a:prstGeom>
          </p:spPr>
        </p:pic>
        <p:pic>
          <p:nvPicPr>
            <p:cNvPr id="8" name="object 8"/>
            <p:cNvPicPr/>
            <p:nvPr/>
          </p:nvPicPr>
          <p:blipFill>
            <a:blip r:embed="rId7" cstate="print"/>
            <a:stretch>
              <a:fillRect/>
            </a:stretch>
          </p:blipFill>
          <p:spPr>
            <a:xfrm>
              <a:off x="4253801" y="524129"/>
              <a:ext cx="332676" cy="190500"/>
            </a:xfrm>
            <a:prstGeom prst="rect">
              <a:avLst/>
            </a:prstGeom>
          </p:spPr>
        </p:pic>
        <p:pic>
          <p:nvPicPr>
            <p:cNvPr id="12" name="object 12"/>
            <p:cNvPicPr/>
            <p:nvPr/>
          </p:nvPicPr>
          <p:blipFill>
            <a:blip r:embed="rId8" cstate="print"/>
            <a:stretch>
              <a:fillRect/>
            </a:stretch>
          </p:blipFill>
          <p:spPr>
            <a:xfrm>
              <a:off x="5779516" y="2014728"/>
              <a:ext cx="351789" cy="158750"/>
            </a:xfrm>
            <a:prstGeom prst="rect">
              <a:avLst/>
            </a:prstGeom>
          </p:spPr>
        </p:pic>
        <p:pic>
          <p:nvPicPr>
            <p:cNvPr id="13" name="object 13"/>
            <p:cNvPicPr/>
            <p:nvPr/>
          </p:nvPicPr>
          <p:blipFill>
            <a:blip r:embed="rId9" cstate="print"/>
            <a:stretch>
              <a:fillRect/>
            </a:stretch>
          </p:blipFill>
          <p:spPr>
            <a:xfrm>
              <a:off x="6207379" y="2012315"/>
              <a:ext cx="383873" cy="152400"/>
            </a:xfrm>
            <a:prstGeom prst="rect">
              <a:avLst/>
            </a:prstGeom>
          </p:spPr>
        </p:pic>
        <p:sp>
          <p:nvSpPr>
            <p:cNvPr id="14" name="object 14"/>
            <p:cNvSpPr/>
            <p:nvPr/>
          </p:nvSpPr>
          <p:spPr>
            <a:xfrm>
              <a:off x="6667245" y="1977009"/>
              <a:ext cx="42545" cy="198120"/>
            </a:xfrm>
            <a:custGeom>
              <a:avLst/>
              <a:gdLst/>
              <a:ahLst/>
              <a:cxnLst/>
              <a:rect l="l" t="t" r="r" b="b"/>
              <a:pathLst>
                <a:path w="42545" h="198119">
                  <a:moveTo>
                    <a:pt x="24000" y="196404"/>
                  </a:moveTo>
                  <a:lnTo>
                    <a:pt x="25019" y="197485"/>
                  </a:lnTo>
                  <a:lnTo>
                    <a:pt x="32003" y="197866"/>
                  </a:lnTo>
                  <a:lnTo>
                    <a:pt x="32307" y="197612"/>
                  </a:lnTo>
                  <a:lnTo>
                    <a:pt x="28828" y="197612"/>
                  </a:lnTo>
                  <a:lnTo>
                    <a:pt x="24000" y="196404"/>
                  </a:lnTo>
                  <a:close/>
                </a:path>
                <a:path w="42545" h="198119">
                  <a:moveTo>
                    <a:pt x="18923" y="178752"/>
                  </a:moveTo>
                  <a:lnTo>
                    <a:pt x="16600" y="181365"/>
                  </a:lnTo>
                  <a:lnTo>
                    <a:pt x="16479" y="186942"/>
                  </a:lnTo>
                  <a:lnTo>
                    <a:pt x="17018" y="188214"/>
                  </a:lnTo>
                  <a:lnTo>
                    <a:pt x="19050" y="191135"/>
                  </a:lnTo>
                  <a:lnTo>
                    <a:pt x="24000" y="196404"/>
                  </a:lnTo>
                  <a:lnTo>
                    <a:pt x="28828" y="197612"/>
                  </a:lnTo>
                  <a:lnTo>
                    <a:pt x="34975" y="195376"/>
                  </a:lnTo>
                  <a:lnTo>
                    <a:pt x="36702" y="193929"/>
                  </a:lnTo>
                  <a:lnTo>
                    <a:pt x="40037" y="191296"/>
                  </a:lnTo>
                  <a:lnTo>
                    <a:pt x="40894" y="190119"/>
                  </a:lnTo>
                  <a:lnTo>
                    <a:pt x="41021" y="185293"/>
                  </a:lnTo>
                  <a:lnTo>
                    <a:pt x="41148" y="183134"/>
                  </a:lnTo>
                  <a:lnTo>
                    <a:pt x="18923" y="183134"/>
                  </a:lnTo>
                  <a:lnTo>
                    <a:pt x="18923" y="178752"/>
                  </a:lnTo>
                  <a:close/>
                </a:path>
                <a:path w="42545" h="198119">
                  <a:moveTo>
                    <a:pt x="34975" y="195376"/>
                  </a:moveTo>
                  <a:lnTo>
                    <a:pt x="28828" y="197612"/>
                  </a:lnTo>
                  <a:lnTo>
                    <a:pt x="32307" y="197612"/>
                  </a:lnTo>
                  <a:lnTo>
                    <a:pt x="34975" y="195376"/>
                  </a:lnTo>
                  <a:close/>
                </a:path>
                <a:path w="42545" h="198119">
                  <a:moveTo>
                    <a:pt x="20435" y="192635"/>
                  </a:moveTo>
                  <a:lnTo>
                    <a:pt x="23749" y="196342"/>
                  </a:lnTo>
                  <a:lnTo>
                    <a:pt x="24000" y="196404"/>
                  </a:lnTo>
                  <a:lnTo>
                    <a:pt x="20435" y="192635"/>
                  </a:lnTo>
                  <a:close/>
                </a:path>
                <a:path w="42545" h="198119">
                  <a:moveTo>
                    <a:pt x="40037" y="191296"/>
                  </a:moveTo>
                  <a:lnTo>
                    <a:pt x="36702" y="193929"/>
                  </a:lnTo>
                  <a:lnTo>
                    <a:pt x="34975" y="195376"/>
                  </a:lnTo>
                  <a:lnTo>
                    <a:pt x="37846" y="194310"/>
                  </a:lnTo>
                  <a:lnTo>
                    <a:pt x="40037" y="191296"/>
                  </a:lnTo>
                  <a:close/>
                </a:path>
                <a:path w="42545" h="198119">
                  <a:moveTo>
                    <a:pt x="16479" y="186942"/>
                  </a:moveTo>
                  <a:lnTo>
                    <a:pt x="16509" y="188595"/>
                  </a:lnTo>
                  <a:lnTo>
                    <a:pt x="20435" y="192635"/>
                  </a:lnTo>
                  <a:lnTo>
                    <a:pt x="19050" y="191135"/>
                  </a:lnTo>
                  <a:lnTo>
                    <a:pt x="17018" y="188214"/>
                  </a:lnTo>
                  <a:lnTo>
                    <a:pt x="16479" y="186942"/>
                  </a:lnTo>
                  <a:close/>
                </a:path>
                <a:path w="42545" h="198119">
                  <a:moveTo>
                    <a:pt x="41148" y="181365"/>
                  </a:moveTo>
                  <a:lnTo>
                    <a:pt x="41021" y="185293"/>
                  </a:lnTo>
                  <a:lnTo>
                    <a:pt x="40894" y="190119"/>
                  </a:lnTo>
                  <a:lnTo>
                    <a:pt x="40037" y="191296"/>
                  </a:lnTo>
                  <a:lnTo>
                    <a:pt x="41528" y="190119"/>
                  </a:lnTo>
                  <a:lnTo>
                    <a:pt x="42418" y="183134"/>
                  </a:lnTo>
                  <a:lnTo>
                    <a:pt x="41148" y="181365"/>
                  </a:lnTo>
                  <a:close/>
                </a:path>
                <a:path w="42545" h="198119">
                  <a:moveTo>
                    <a:pt x="18452" y="171069"/>
                  </a:moveTo>
                  <a:lnTo>
                    <a:pt x="12319" y="171069"/>
                  </a:lnTo>
                  <a:lnTo>
                    <a:pt x="13493" y="177673"/>
                  </a:lnTo>
                  <a:lnTo>
                    <a:pt x="13920" y="179324"/>
                  </a:lnTo>
                  <a:lnTo>
                    <a:pt x="15621" y="184912"/>
                  </a:lnTo>
                  <a:lnTo>
                    <a:pt x="16479" y="186942"/>
                  </a:lnTo>
                  <a:lnTo>
                    <a:pt x="16382" y="181610"/>
                  </a:lnTo>
                  <a:lnTo>
                    <a:pt x="18923" y="178752"/>
                  </a:lnTo>
                  <a:lnTo>
                    <a:pt x="18828" y="175641"/>
                  </a:lnTo>
                  <a:lnTo>
                    <a:pt x="18452" y="171069"/>
                  </a:lnTo>
                  <a:close/>
                </a:path>
                <a:path w="42545" h="198119">
                  <a:moveTo>
                    <a:pt x="21717" y="175641"/>
                  </a:moveTo>
                  <a:lnTo>
                    <a:pt x="18923" y="178752"/>
                  </a:lnTo>
                  <a:lnTo>
                    <a:pt x="18923" y="183134"/>
                  </a:lnTo>
                  <a:lnTo>
                    <a:pt x="21717" y="175641"/>
                  </a:lnTo>
                  <a:close/>
                </a:path>
                <a:path w="42545" h="198119">
                  <a:moveTo>
                    <a:pt x="37975" y="175641"/>
                  </a:moveTo>
                  <a:lnTo>
                    <a:pt x="21717" y="175641"/>
                  </a:lnTo>
                  <a:lnTo>
                    <a:pt x="18923" y="183134"/>
                  </a:lnTo>
                  <a:lnTo>
                    <a:pt x="41148" y="183134"/>
                  </a:lnTo>
                  <a:lnTo>
                    <a:pt x="41148" y="181365"/>
                  </a:lnTo>
                  <a:lnTo>
                    <a:pt x="39682" y="179324"/>
                  </a:lnTo>
                  <a:lnTo>
                    <a:pt x="39115" y="179324"/>
                  </a:lnTo>
                  <a:lnTo>
                    <a:pt x="37592" y="176276"/>
                  </a:lnTo>
                  <a:lnTo>
                    <a:pt x="38173" y="176276"/>
                  </a:lnTo>
                  <a:lnTo>
                    <a:pt x="37975" y="175641"/>
                  </a:lnTo>
                  <a:close/>
                </a:path>
                <a:path w="42545" h="198119">
                  <a:moveTo>
                    <a:pt x="41148" y="177546"/>
                  </a:moveTo>
                  <a:lnTo>
                    <a:pt x="38607" y="177546"/>
                  </a:lnTo>
                  <a:lnTo>
                    <a:pt x="38734" y="177990"/>
                  </a:lnTo>
                  <a:lnTo>
                    <a:pt x="41148" y="181365"/>
                  </a:lnTo>
                  <a:lnTo>
                    <a:pt x="41148" y="177546"/>
                  </a:lnTo>
                  <a:close/>
                </a:path>
                <a:path w="42545" h="198119">
                  <a:moveTo>
                    <a:pt x="37592" y="176276"/>
                  </a:moveTo>
                  <a:lnTo>
                    <a:pt x="39115" y="179324"/>
                  </a:lnTo>
                  <a:lnTo>
                    <a:pt x="38734" y="177990"/>
                  </a:lnTo>
                  <a:lnTo>
                    <a:pt x="37592" y="176276"/>
                  </a:lnTo>
                  <a:close/>
                </a:path>
                <a:path w="42545" h="198119">
                  <a:moveTo>
                    <a:pt x="38734" y="177990"/>
                  </a:moveTo>
                  <a:lnTo>
                    <a:pt x="39115" y="179324"/>
                  </a:lnTo>
                  <a:lnTo>
                    <a:pt x="39682" y="179324"/>
                  </a:lnTo>
                  <a:lnTo>
                    <a:pt x="38734" y="177990"/>
                  </a:lnTo>
                  <a:close/>
                </a:path>
                <a:path w="42545" h="198119">
                  <a:moveTo>
                    <a:pt x="21486" y="175895"/>
                  </a:moveTo>
                  <a:lnTo>
                    <a:pt x="18923" y="175895"/>
                  </a:lnTo>
                  <a:lnTo>
                    <a:pt x="18923" y="178752"/>
                  </a:lnTo>
                  <a:lnTo>
                    <a:pt x="21486" y="175895"/>
                  </a:lnTo>
                  <a:close/>
                </a:path>
                <a:path w="42545" h="198119">
                  <a:moveTo>
                    <a:pt x="38644" y="177673"/>
                  </a:moveTo>
                  <a:lnTo>
                    <a:pt x="38734" y="177990"/>
                  </a:lnTo>
                  <a:lnTo>
                    <a:pt x="38644" y="177673"/>
                  </a:lnTo>
                  <a:close/>
                </a:path>
                <a:path w="42545" h="198119">
                  <a:moveTo>
                    <a:pt x="38173" y="176276"/>
                  </a:moveTo>
                  <a:lnTo>
                    <a:pt x="37592" y="176276"/>
                  </a:lnTo>
                  <a:lnTo>
                    <a:pt x="38523" y="177673"/>
                  </a:lnTo>
                  <a:lnTo>
                    <a:pt x="38173" y="176276"/>
                  </a:lnTo>
                  <a:close/>
                </a:path>
                <a:path w="42545" h="198119">
                  <a:moveTo>
                    <a:pt x="34925" y="159639"/>
                  </a:moveTo>
                  <a:lnTo>
                    <a:pt x="34785" y="159650"/>
                  </a:lnTo>
                  <a:lnTo>
                    <a:pt x="36068" y="166878"/>
                  </a:lnTo>
                  <a:lnTo>
                    <a:pt x="36068" y="167132"/>
                  </a:lnTo>
                  <a:lnTo>
                    <a:pt x="37037" y="172623"/>
                  </a:lnTo>
                  <a:lnTo>
                    <a:pt x="38607" y="177673"/>
                  </a:lnTo>
                  <a:lnTo>
                    <a:pt x="41148" y="177546"/>
                  </a:lnTo>
                  <a:lnTo>
                    <a:pt x="40767" y="170307"/>
                  </a:lnTo>
                  <a:lnTo>
                    <a:pt x="40258" y="164211"/>
                  </a:lnTo>
                  <a:lnTo>
                    <a:pt x="34925" y="159639"/>
                  </a:lnTo>
                  <a:close/>
                </a:path>
                <a:path w="42545" h="198119">
                  <a:moveTo>
                    <a:pt x="38607" y="177546"/>
                  </a:moveTo>
                  <a:close/>
                </a:path>
                <a:path w="42545" h="198119">
                  <a:moveTo>
                    <a:pt x="34785" y="159650"/>
                  </a:moveTo>
                  <a:lnTo>
                    <a:pt x="22605" y="160655"/>
                  </a:lnTo>
                  <a:lnTo>
                    <a:pt x="18033" y="165989"/>
                  </a:lnTo>
                  <a:lnTo>
                    <a:pt x="18923" y="176784"/>
                  </a:lnTo>
                  <a:lnTo>
                    <a:pt x="18923" y="175895"/>
                  </a:lnTo>
                  <a:lnTo>
                    <a:pt x="21486" y="175895"/>
                  </a:lnTo>
                  <a:lnTo>
                    <a:pt x="21717" y="175641"/>
                  </a:lnTo>
                  <a:lnTo>
                    <a:pt x="37975" y="175641"/>
                  </a:lnTo>
                  <a:lnTo>
                    <a:pt x="37343" y="173609"/>
                  </a:lnTo>
                  <a:lnTo>
                    <a:pt x="37210" y="173609"/>
                  </a:lnTo>
                  <a:lnTo>
                    <a:pt x="36829" y="171958"/>
                  </a:lnTo>
                  <a:lnTo>
                    <a:pt x="36068" y="167132"/>
                  </a:lnTo>
                  <a:lnTo>
                    <a:pt x="36068" y="166878"/>
                  </a:lnTo>
                  <a:lnTo>
                    <a:pt x="34785" y="159650"/>
                  </a:lnTo>
                  <a:close/>
                </a:path>
                <a:path w="42545" h="198119">
                  <a:moveTo>
                    <a:pt x="36829" y="171958"/>
                  </a:moveTo>
                  <a:lnTo>
                    <a:pt x="37210" y="173609"/>
                  </a:lnTo>
                  <a:lnTo>
                    <a:pt x="37037" y="172623"/>
                  </a:lnTo>
                  <a:lnTo>
                    <a:pt x="36829" y="171958"/>
                  </a:lnTo>
                  <a:close/>
                </a:path>
                <a:path w="42545" h="198119">
                  <a:moveTo>
                    <a:pt x="37037" y="172623"/>
                  </a:moveTo>
                  <a:lnTo>
                    <a:pt x="37210" y="173609"/>
                  </a:lnTo>
                  <a:lnTo>
                    <a:pt x="37343" y="173609"/>
                  </a:lnTo>
                  <a:lnTo>
                    <a:pt x="37037" y="172623"/>
                  </a:lnTo>
                  <a:close/>
                </a:path>
                <a:path w="42545" h="198119">
                  <a:moveTo>
                    <a:pt x="36919" y="171958"/>
                  </a:moveTo>
                  <a:lnTo>
                    <a:pt x="37037" y="172623"/>
                  </a:lnTo>
                  <a:lnTo>
                    <a:pt x="36919" y="171958"/>
                  </a:lnTo>
                  <a:close/>
                </a:path>
                <a:path w="42545" h="198119">
                  <a:moveTo>
                    <a:pt x="34094" y="154432"/>
                  </a:moveTo>
                  <a:lnTo>
                    <a:pt x="9778" y="154432"/>
                  </a:lnTo>
                  <a:lnTo>
                    <a:pt x="10795" y="162687"/>
                  </a:lnTo>
                  <a:lnTo>
                    <a:pt x="12319" y="171196"/>
                  </a:lnTo>
                  <a:lnTo>
                    <a:pt x="12319" y="171069"/>
                  </a:lnTo>
                  <a:lnTo>
                    <a:pt x="18452" y="171069"/>
                  </a:lnTo>
                  <a:lnTo>
                    <a:pt x="18033" y="165989"/>
                  </a:lnTo>
                  <a:lnTo>
                    <a:pt x="22605" y="160655"/>
                  </a:lnTo>
                  <a:lnTo>
                    <a:pt x="34785" y="159650"/>
                  </a:lnTo>
                  <a:lnTo>
                    <a:pt x="34727" y="159004"/>
                  </a:lnTo>
                  <a:lnTo>
                    <a:pt x="34094" y="154432"/>
                  </a:lnTo>
                  <a:close/>
                </a:path>
                <a:path w="42545" h="198119">
                  <a:moveTo>
                    <a:pt x="34727" y="159004"/>
                  </a:moveTo>
                  <a:lnTo>
                    <a:pt x="34798" y="159512"/>
                  </a:lnTo>
                  <a:lnTo>
                    <a:pt x="34727" y="159004"/>
                  </a:lnTo>
                  <a:close/>
                </a:path>
                <a:path w="42545" h="198119">
                  <a:moveTo>
                    <a:pt x="25151" y="41783"/>
                  </a:moveTo>
                  <a:lnTo>
                    <a:pt x="1015" y="41783"/>
                  </a:lnTo>
                  <a:lnTo>
                    <a:pt x="1397" y="66929"/>
                  </a:lnTo>
                  <a:lnTo>
                    <a:pt x="1746" y="79629"/>
                  </a:lnTo>
                  <a:lnTo>
                    <a:pt x="1777" y="81407"/>
                  </a:lnTo>
                  <a:lnTo>
                    <a:pt x="2794" y="96139"/>
                  </a:lnTo>
                  <a:lnTo>
                    <a:pt x="5079" y="121539"/>
                  </a:lnTo>
                  <a:lnTo>
                    <a:pt x="5079" y="121920"/>
                  </a:lnTo>
                  <a:lnTo>
                    <a:pt x="6857" y="136652"/>
                  </a:lnTo>
                  <a:lnTo>
                    <a:pt x="6984" y="137160"/>
                  </a:lnTo>
                  <a:lnTo>
                    <a:pt x="9778" y="154813"/>
                  </a:lnTo>
                  <a:lnTo>
                    <a:pt x="9778" y="154432"/>
                  </a:lnTo>
                  <a:lnTo>
                    <a:pt x="34094" y="154432"/>
                  </a:lnTo>
                  <a:lnTo>
                    <a:pt x="33654" y="151257"/>
                  </a:lnTo>
                  <a:lnTo>
                    <a:pt x="33654" y="150876"/>
                  </a:lnTo>
                  <a:lnTo>
                    <a:pt x="30818" y="133731"/>
                  </a:lnTo>
                  <a:lnTo>
                    <a:pt x="30795" y="133223"/>
                  </a:lnTo>
                  <a:lnTo>
                    <a:pt x="29005" y="119380"/>
                  </a:lnTo>
                  <a:lnTo>
                    <a:pt x="29050" y="118999"/>
                  </a:lnTo>
                  <a:lnTo>
                    <a:pt x="26914" y="94234"/>
                  </a:lnTo>
                  <a:lnTo>
                    <a:pt x="25820" y="80137"/>
                  </a:lnTo>
                  <a:lnTo>
                    <a:pt x="25525" y="66548"/>
                  </a:lnTo>
                  <a:lnTo>
                    <a:pt x="25151" y="41783"/>
                  </a:lnTo>
                  <a:close/>
                </a:path>
                <a:path w="42545" h="198119">
                  <a:moveTo>
                    <a:pt x="30795" y="133223"/>
                  </a:moveTo>
                  <a:lnTo>
                    <a:pt x="30860" y="133731"/>
                  </a:lnTo>
                  <a:lnTo>
                    <a:pt x="30795" y="133223"/>
                  </a:lnTo>
                  <a:close/>
                </a:path>
                <a:path w="42545" h="198119">
                  <a:moveTo>
                    <a:pt x="29050" y="118999"/>
                  </a:moveTo>
                  <a:lnTo>
                    <a:pt x="29082" y="119380"/>
                  </a:lnTo>
                  <a:lnTo>
                    <a:pt x="29050" y="118999"/>
                  </a:lnTo>
                  <a:close/>
                </a:path>
                <a:path w="42545" h="198119">
                  <a:moveTo>
                    <a:pt x="25780" y="79629"/>
                  </a:moveTo>
                  <a:lnTo>
                    <a:pt x="25780" y="80137"/>
                  </a:lnTo>
                  <a:lnTo>
                    <a:pt x="25780" y="79629"/>
                  </a:lnTo>
                  <a:close/>
                </a:path>
                <a:path w="42545" h="198119">
                  <a:moveTo>
                    <a:pt x="761" y="14414"/>
                  </a:moveTo>
                  <a:lnTo>
                    <a:pt x="761" y="33020"/>
                  </a:lnTo>
                  <a:lnTo>
                    <a:pt x="1015" y="42037"/>
                  </a:lnTo>
                  <a:lnTo>
                    <a:pt x="1015" y="41783"/>
                  </a:lnTo>
                  <a:lnTo>
                    <a:pt x="25151" y="41783"/>
                  </a:lnTo>
                  <a:lnTo>
                    <a:pt x="25146" y="41021"/>
                  </a:lnTo>
                  <a:lnTo>
                    <a:pt x="24688" y="33020"/>
                  </a:lnTo>
                  <a:lnTo>
                    <a:pt x="24761" y="32131"/>
                  </a:lnTo>
                  <a:lnTo>
                    <a:pt x="24729" y="27178"/>
                  </a:lnTo>
                  <a:lnTo>
                    <a:pt x="13843" y="27178"/>
                  </a:lnTo>
                  <a:lnTo>
                    <a:pt x="6730" y="26162"/>
                  </a:lnTo>
                  <a:lnTo>
                    <a:pt x="3809" y="23749"/>
                  </a:lnTo>
                  <a:lnTo>
                    <a:pt x="1777" y="18288"/>
                  </a:lnTo>
                  <a:lnTo>
                    <a:pt x="1524" y="17399"/>
                  </a:lnTo>
                  <a:lnTo>
                    <a:pt x="761" y="14414"/>
                  </a:lnTo>
                  <a:close/>
                </a:path>
                <a:path w="42545" h="198119">
                  <a:moveTo>
                    <a:pt x="24761" y="32131"/>
                  </a:moveTo>
                  <a:lnTo>
                    <a:pt x="24764" y="32639"/>
                  </a:lnTo>
                  <a:lnTo>
                    <a:pt x="24761" y="32131"/>
                  </a:lnTo>
                  <a:close/>
                </a:path>
                <a:path w="42545" h="198119">
                  <a:moveTo>
                    <a:pt x="14304" y="346"/>
                  </a:moveTo>
                  <a:lnTo>
                    <a:pt x="10540" y="1016"/>
                  </a:lnTo>
                  <a:lnTo>
                    <a:pt x="7455" y="1647"/>
                  </a:lnTo>
                  <a:lnTo>
                    <a:pt x="5079" y="3683"/>
                  </a:lnTo>
                  <a:lnTo>
                    <a:pt x="1524" y="6604"/>
                  </a:lnTo>
                  <a:lnTo>
                    <a:pt x="761" y="9017"/>
                  </a:lnTo>
                  <a:lnTo>
                    <a:pt x="761" y="14414"/>
                  </a:lnTo>
                  <a:lnTo>
                    <a:pt x="13843" y="27178"/>
                  </a:lnTo>
                  <a:lnTo>
                    <a:pt x="17272" y="25654"/>
                  </a:lnTo>
                  <a:lnTo>
                    <a:pt x="18680" y="23749"/>
                  </a:lnTo>
                  <a:lnTo>
                    <a:pt x="17652" y="23749"/>
                  </a:lnTo>
                  <a:lnTo>
                    <a:pt x="20700" y="20955"/>
                  </a:lnTo>
                  <a:lnTo>
                    <a:pt x="22225" y="20955"/>
                  </a:lnTo>
                  <a:lnTo>
                    <a:pt x="23875" y="19939"/>
                  </a:lnTo>
                  <a:lnTo>
                    <a:pt x="24668" y="17561"/>
                  </a:lnTo>
                  <a:lnTo>
                    <a:pt x="24637" y="10509"/>
                  </a:lnTo>
                  <a:lnTo>
                    <a:pt x="22377" y="4576"/>
                  </a:lnTo>
                  <a:lnTo>
                    <a:pt x="21971" y="3937"/>
                  </a:lnTo>
                  <a:lnTo>
                    <a:pt x="17779" y="2032"/>
                  </a:lnTo>
                  <a:lnTo>
                    <a:pt x="14304" y="346"/>
                  </a:lnTo>
                  <a:close/>
                </a:path>
                <a:path w="42545" h="198119">
                  <a:moveTo>
                    <a:pt x="24668" y="17561"/>
                  </a:moveTo>
                  <a:lnTo>
                    <a:pt x="23875" y="19939"/>
                  </a:lnTo>
                  <a:lnTo>
                    <a:pt x="19505" y="22628"/>
                  </a:lnTo>
                  <a:lnTo>
                    <a:pt x="17272" y="25654"/>
                  </a:lnTo>
                  <a:lnTo>
                    <a:pt x="13843" y="27178"/>
                  </a:lnTo>
                  <a:lnTo>
                    <a:pt x="24729" y="27178"/>
                  </a:lnTo>
                  <a:lnTo>
                    <a:pt x="24668" y="17561"/>
                  </a:lnTo>
                  <a:close/>
                </a:path>
                <a:path w="42545" h="198119">
                  <a:moveTo>
                    <a:pt x="20700" y="20955"/>
                  </a:moveTo>
                  <a:lnTo>
                    <a:pt x="17652" y="23749"/>
                  </a:lnTo>
                  <a:lnTo>
                    <a:pt x="19505" y="22628"/>
                  </a:lnTo>
                  <a:lnTo>
                    <a:pt x="20700" y="20955"/>
                  </a:lnTo>
                  <a:close/>
                </a:path>
                <a:path w="42545" h="198119">
                  <a:moveTo>
                    <a:pt x="19505" y="22628"/>
                  </a:moveTo>
                  <a:lnTo>
                    <a:pt x="17652" y="23749"/>
                  </a:lnTo>
                  <a:lnTo>
                    <a:pt x="18680" y="23749"/>
                  </a:lnTo>
                  <a:lnTo>
                    <a:pt x="19505" y="22628"/>
                  </a:lnTo>
                  <a:close/>
                </a:path>
                <a:path w="42545" h="198119">
                  <a:moveTo>
                    <a:pt x="22225" y="20955"/>
                  </a:moveTo>
                  <a:lnTo>
                    <a:pt x="20700" y="20955"/>
                  </a:lnTo>
                  <a:lnTo>
                    <a:pt x="19505" y="22628"/>
                  </a:lnTo>
                  <a:lnTo>
                    <a:pt x="22225" y="20955"/>
                  </a:lnTo>
                  <a:close/>
                </a:path>
                <a:path w="42545" h="198119">
                  <a:moveTo>
                    <a:pt x="24637" y="10509"/>
                  </a:moveTo>
                  <a:lnTo>
                    <a:pt x="24668" y="17561"/>
                  </a:lnTo>
                  <a:lnTo>
                    <a:pt x="25907" y="13843"/>
                  </a:lnTo>
                  <a:lnTo>
                    <a:pt x="24637" y="10509"/>
                  </a:lnTo>
                  <a:close/>
                </a:path>
                <a:path w="42545" h="198119">
                  <a:moveTo>
                    <a:pt x="761" y="9017"/>
                  </a:moveTo>
                  <a:lnTo>
                    <a:pt x="0" y="11430"/>
                  </a:lnTo>
                  <a:lnTo>
                    <a:pt x="761" y="14414"/>
                  </a:lnTo>
                  <a:lnTo>
                    <a:pt x="761" y="9017"/>
                  </a:lnTo>
                  <a:close/>
                </a:path>
                <a:path w="42545" h="198119">
                  <a:moveTo>
                    <a:pt x="22377" y="4576"/>
                  </a:moveTo>
                  <a:lnTo>
                    <a:pt x="24637" y="10509"/>
                  </a:lnTo>
                  <a:lnTo>
                    <a:pt x="24637" y="8128"/>
                  </a:lnTo>
                  <a:lnTo>
                    <a:pt x="22377" y="4576"/>
                  </a:lnTo>
                  <a:close/>
                </a:path>
                <a:path w="42545" h="198119">
                  <a:moveTo>
                    <a:pt x="7455" y="1647"/>
                  </a:moveTo>
                  <a:lnTo>
                    <a:pt x="4952" y="2159"/>
                  </a:lnTo>
                  <a:lnTo>
                    <a:pt x="761" y="6985"/>
                  </a:lnTo>
                  <a:lnTo>
                    <a:pt x="761" y="9017"/>
                  </a:lnTo>
                  <a:lnTo>
                    <a:pt x="1524" y="6604"/>
                  </a:lnTo>
                  <a:lnTo>
                    <a:pt x="5079" y="3683"/>
                  </a:lnTo>
                  <a:lnTo>
                    <a:pt x="7455" y="1647"/>
                  </a:lnTo>
                  <a:close/>
                </a:path>
                <a:path w="42545" h="198119">
                  <a:moveTo>
                    <a:pt x="16255" y="0"/>
                  </a:moveTo>
                  <a:lnTo>
                    <a:pt x="14304" y="346"/>
                  </a:lnTo>
                  <a:lnTo>
                    <a:pt x="17779" y="2032"/>
                  </a:lnTo>
                  <a:lnTo>
                    <a:pt x="21971" y="3937"/>
                  </a:lnTo>
                  <a:lnTo>
                    <a:pt x="22377" y="4576"/>
                  </a:lnTo>
                  <a:lnTo>
                    <a:pt x="21844" y="3175"/>
                  </a:lnTo>
                  <a:lnTo>
                    <a:pt x="16255" y="0"/>
                  </a:lnTo>
                  <a:close/>
                </a:path>
                <a:path w="42545" h="198119">
                  <a:moveTo>
                    <a:pt x="13588" y="0"/>
                  </a:moveTo>
                  <a:lnTo>
                    <a:pt x="8635" y="635"/>
                  </a:lnTo>
                  <a:lnTo>
                    <a:pt x="7455" y="1647"/>
                  </a:lnTo>
                  <a:lnTo>
                    <a:pt x="10540" y="1016"/>
                  </a:lnTo>
                  <a:lnTo>
                    <a:pt x="14304" y="346"/>
                  </a:lnTo>
                  <a:lnTo>
                    <a:pt x="13588" y="0"/>
                  </a:lnTo>
                  <a:close/>
                </a:path>
              </a:pathLst>
            </a:custGeom>
            <a:solidFill>
              <a:srgbClr val="0096FF"/>
            </a:solidFill>
          </p:spPr>
          <p:txBody>
            <a:bodyPr wrap="square" lIns="0" tIns="0" rIns="0" bIns="0" rtlCol="0"/>
            <a:lstStyle/>
            <a:p>
              <a:endParaRPr sz="1600"/>
            </a:p>
          </p:txBody>
        </p:sp>
        <p:pic>
          <p:nvPicPr>
            <p:cNvPr id="15" name="object 15"/>
            <p:cNvPicPr/>
            <p:nvPr/>
          </p:nvPicPr>
          <p:blipFill>
            <a:blip r:embed="rId10" cstate="print"/>
            <a:stretch>
              <a:fillRect/>
            </a:stretch>
          </p:blipFill>
          <p:spPr>
            <a:xfrm>
              <a:off x="7255903" y="594614"/>
              <a:ext cx="760621" cy="207517"/>
            </a:xfrm>
            <a:prstGeom prst="rect">
              <a:avLst/>
            </a:prstGeom>
          </p:spPr>
        </p:pic>
      </p:grpSp>
      <p:sp>
        <p:nvSpPr>
          <p:cNvPr id="16" name="object 16"/>
          <p:cNvSpPr txBox="1"/>
          <p:nvPr/>
        </p:nvSpPr>
        <p:spPr>
          <a:xfrm>
            <a:off x="2825498" y="2776725"/>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dirty="0">
              <a:latin typeface="Cambria Math"/>
              <a:cs typeface="Cambria Math"/>
            </a:endParaRPr>
          </a:p>
        </p:txBody>
      </p:sp>
      <p:sp>
        <p:nvSpPr>
          <p:cNvPr id="17" name="object 17"/>
          <p:cNvSpPr txBox="1"/>
          <p:nvPr/>
        </p:nvSpPr>
        <p:spPr>
          <a:xfrm>
            <a:off x="652392" y="1276350"/>
            <a:ext cx="719208" cy="352019"/>
          </a:xfrm>
          <a:prstGeom prst="rect">
            <a:avLst/>
          </a:prstGeom>
        </p:spPr>
        <p:txBody>
          <a:bodyPr vert="horz" wrap="square" lIns="0" tIns="15875" rIns="0" bIns="0" rtlCol="0">
            <a:spAutoFit/>
          </a:bodyPr>
          <a:lstStyle/>
          <a:p>
            <a:pPr marL="12700">
              <a:spcBef>
                <a:spcPts val="125"/>
              </a:spcBef>
            </a:pPr>
            <a:r>
              <a:rPr sz="1050" spc="5" dirty="0">
                <a:latin typeface="Verdana"/>
                <a:cs typeface="Verdana"/>
              </a:rPr>
              <a:t>p</a:t>
            </a:r>
            <a:r>
              <a:rPr sz="1050" spc="-40" dirty="0">
                <a:latin typeface="Verdana"/>
                <a:cs typeface="Verdana"/>
              </a:rPr>
              <a:t>ri</a:t>
            </a:r>
            <a:r>
              <a:rPr sz="1050" spc="11" dirty="0">
                <a:latin typeface="Verdana"/>
                <a:cs typeface="Verdana"/>
              </a:rPr>
              <a:t>c</a:t>
            </a:r>
            <a:r>
              <a:rPr sz="1050" spc="-245" dirty="0">
                <a:latin typeface="Verdana"/>
                <a:cs typeface="Verdana"/>
              </a:rPr>
              <a:t> </a:t>
            </a:r>
            <a:r>
              <a:rPr sz="1050" spc="11" dirty="0">
                <a:latin typeface="Verdana"/>
                <a:cs typeface="Verdana"/>
              </a:rPr>
              <a:t>e</a:t>
            </a:r>
            <a:r>
              <a:rPr sz="1050" spc="55" dirty="0">
                <a:latin typeface="Verdana"/>
                <a:cs typeface="Verdana"/>
              </a:rPr>
              <a:t> </a:t>
            </a:r>
            <a:r>
              <a:rPr sz="1050" spc="-40" dirty="0">
                <a:latin typeface="Verdana"/>
                <a:cs typeface="Verdana"/>
              </a:rPr>
              <a:t>i</a:t>
            </a:r>
            <a:r>
              <a:rPr sz="1050" spc="15" dirty="0">
                <a:latin typeface="Verdana"/>
                <a:cs typeface="Verdana"/>
              </a:rPr>
              <a:t>n</a:t>
            </a:r>
            <a:endParaRPr sz="1050" dirty="0">
              <a:latin typeface="Verdana"/>
              <a:cs typeface="Verdana"/>
            </a:endParaRPr>
          </a:p>
          <a:p>
            <a:pPr marL="22225">
              <a:spcBef>
                <a:spcPts val="60"/>
              </a:spcBef>
            </a:pPr>
            <a:r>
              <a:rPr sz="1050" spc="-11" dirty="0">
                <a:latin typeface="Verdana"/>
                <a:cs typeface="Verdana"/>
              </a:rPr>
              <a:t>$</a:t>
            </a:r>
            <a:r>
              <a:rPr sz="1050" spc="-11" dirty="0">
                <a:latin typeface="Cambria Math"/>
                <a:cs typeface="Cambria Math"/>
              </a:rPr>
              <a:t>1000</a:t>
            </a:r>
            <a:r>
              <a:rPr sz="1050" spc="-11" dirty="0">
                <a:latin typeface="Verdana"/>
                <a:cs typeface="Verdana"/>
              </a:rPr>
              <a:t>'s</a:t>
            </a:r>
            <a:endParaRPr sz="1050" dirty="0">
              <a:latin typeface="Verdana"/>
              <a:cs typeface="Verdana"/>
            </a:endParaRPr>
          </a:p>
        </p:txBody>
      </p:sp>
      <p:sp>
        <p:nvSpPr>
          <p:cNvPr id="18" name="object 18"/>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19" name="object 19"/>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20" name="object 20"/>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21" name="object 21"/>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22" name="object 22"/>
          <p:cNvSpPr/>
          <p:nvPr/>
        </p:nvSpPr>
        <p:spPr>
          <a:xfrm>
            <a:off x="4347083" y="2507361"/>
            <a:ext cx="415291"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sp>
        <p:nvSpPr>
          <p:cNvPr id="23" name="object 23"/>
          <p:cNvSpPr txBox="1"/>
          <p:nvPr/>
        </p:nvSpPr>
        <p:spPr>
          <a:xfrm>
            <a:off x="4213946" y="284822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dirty="0">
              <a:latin typeface="Cambria Math"/>
              <a:cs typeface="Cambria Math"/>
            </a:endParaRPr>
          </a:p>
        </p:txBody>
      </p:sp>
      <p:sp>
        <p:nvSpPr>
          <p:cNvPr id="25" name="Slide Number Placeholder 24">
            <a:extLst>
              <a:ext uri="{FF2B5EF4-FFF2-40B4-BE49-F238E27FC236}">
                <a16:creationId xmlns:a16="http://schemas.microsoft.com/office/drawing/2014/main" id="{3FEDD792-C088-4A59-E139-0C760E670D41}"/>
              </a:ext>
            </a:extLst>
          </p:cNvPr>
          <p:cNvSpPr>
            <a:spLocks noGrp="1"/>
          </p:cNvSpPr>
          <p:nvPr>
            <p:ph type="sldNum" sz="quarter" idx="12"/>
          </p:nvPr>
        </p:nvSpPr>
        <p:spPr/>
        <p:txBody>
          <a:bodyPr/>
          <a:lstStyle/>
          <a:p>
            <a:fld id="{B6F15528-21DE-4FAA-801E-634DDDAF4B2B}" type="slidenum">
              <a:rPr lang="en-PS" smtClean="0"/>
              <a:t>35</a:t>
            </a:fld>
            <a:endParaRPr lang="en-PS"/>
          </a:p>
        </p:txBody>
      </p:sp>
      <p:sp>
        <p:nvSpPr>
          <p:cNvPr id="24" name="Oval 23">
            <a:extLst>
              <a:ext uri="{FF2B5EF4-FFF2-40B4-BE49-F238E27FC236}">
                <a16:creationId xmlns:a16="http://schemas.microsoft.com/office/drawing/2014/main" id="{A23B7938-4677-5537-5AED-0B8E9CEE4BA7}"/>
              </a:ext>
            </a:extLst>
          </p:cNvPr>
          <p:cNvSpPr/>
          <p:nvPr/>
        </p:nvSpPr>
        <p:spPr>
          <a:xfrm>
            <a:off x="1752600" y="3181350"/>
            <a:ext cx="3048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97123" y="116967"/>
            <a:ext cx="4770427" cy="4293107"/>
            <a:chOff x="2297122" y="116967"/>
            <a:chExt cx="4770427" cy="4293107"/>
          </a:xfrm>
        </p:grpSpPr>
        <p:pic>
          <p:nvPicPr>
            <p:cNvPr id="3" name="object 3"/>
            <p:cNvPicPr/>
            <p:nvPr/>
          </p:nvPicPr>
          <p:blipFill>
            <a:blip r:embed="rId2" cstate="print"/>
            <a:stretch>
              <a:fillRect/>
            </a:stretch>
          </p:blipFill>
          <p:spPr>
            <a:xfrm>
              <a:off x="2297122" y="441578"/>
              <a:ext cx="4770427" cy="3968496"/>
            </a:xfrm>
            <a:prstGeom prst="rect">
              <a:avLst/>
            </a:prstGeom>
          </p:spPr>
        </p:pic>
        <p:sp>
          <p:nvSpPr>
            <p:cNvPr id="6" name="object 6"/>
            <p:cNvSpPr/>
            <p:nvPr/>
          </p:nvSpPr>
          <p:spPr>
            <a:xfrm>
              <a:off x="5791707" y="116967"/>
              <a:ext cx="415290" cy="167640"/>
            </a:xfrm>
            <a:custGeom>
              <a:avLst/>
              <a:gdLst/>
              <a:ahLst/>
              <a:cxnLst/>
              <a:rect l="l" t="t" r="r" b="b"/>
              <a:pathLst>
                <a:path w="415289" h="167640">
                  <a:moveTo>
                    <a:pt x="361314" y="0"/>
                  </a:moveTo>
                  <a:lnTo>
                    <a:pt x="358901" y="6731"/>
                  </a:lnTo>
                  <a:lnTo>
                    <a:pt x="368595" y="10969"/>
                  </a:lnTo>
                  <a:lnTo>
                    <a:pt x="376920" y="16827"/>
                  </a:lnTo>
                  <a:lnTo>
                    <a:pt x="396938" y="55594"/>
                  </a:lnTo>
                  <a:lnTo>
                    <a:pt x="399414" y="82931"/>
                  </a:lnTo>
                  <a:lnTo>
                    <a:pt x="398795" y="97748"/>
                  </a:lnTo>
                  <a:lnTo>
                    <a:pt x="383891" y="143172"/>
                  </a:lnTo>
                  <a:lnTo>
                    <a:pt x="359155" y="160782"/>
                  </a:lnTo>
                  <a:lnTo>
                    <a:pt x="361314" y="167640"/>
                  </a:lnTo>
                  <a:lnTo>
                    <a:pt x="400938" y="138303"/>
                  </a:lnTo>
                  <a:lnTo>
                    <a:pt x="413904" y="99226"/>
                  </a:lnTo>
                  <a:lnTo>
                    <a:pt x="414781" y="83820"/>
                  </a:lnTo>
                  <a:lnTo>
                    <a:pt x="413904" y="68484"/>
                  </a:lnTo>
                  <a:lnTo>
                    <a:pt x="400938" y="29337"/>
                  </a:lnTo>
                  <a:lnTo>
                    <a:pt x="373435" y="4405"/>
                  </a:lnTo>
                  <a:lnTo>
                    <a:pt x="361314" y="0"/>
                  </a:lnTo>
                  <a:close/>
                </a:path>
                <a:path w="415289" h="167640">
                  <a:moveTo>
                    <a:pt x="53466" y="0"/>
                  </a:moveTo>
                  <a:lnTo>
                    <a:pt x="13715" y="29337"/>
                  </a:lnTo>
                  <a:lnTo>
                    <a:pt x="857" y="68484"/>
                  </a:lnTo>
                  <a:lnTo>
                    <a:pt x="0" y="83820"/>
                  </a:lnTo>
                  <a:lnTo>
                    <a:pt x="857" y="99226"/>
                  </a:lnTo>
                  <a:lnTo>
                    <a:pt x="13715" y="138303"/>
                  </a:lnTo>
                  <a:lnTo>
                    <a:pt x="53466" y="167640"/>
                  </a:lnTo>
                  <a:lnTo>
                    <a:pt x="55499" y="160782"/>
                  </a:lnTo>
                  <a:lnTo>
                    <a:pt x="45952" y="156594"/>
                  </a:lnTo>
                  <a:lnTo>
                    <a:pt x="37703" y="150717"/>
                  </a:lnTo>
                  <a:lnTo>
                    <a:pt x="17716" y="111172"/>
                  </a:lnTo>
                  <a:lnTo>
                    <a:pt x="15239" y="82931"/>
                  </a:lnTo>
                  <a:lnTo>
                    <a:pt x="15859" y="68619"/>
                  </a:lnTo>
                  <a:lnTo>
                    <a:pt x="30785" y="24304"/>
                  </a:lnTo>
                  <a:lnTo>
                    <a:pt x="55752" y="6731"/>
                  </a:lnTo>
                  <a:lnTo>
                    <a:pt x="53466" y="0"/>
                  </a:lnTo>
                  <a:close/>
                </a:path>
              </a:pathLst>
            </a:custGeom>
            <a:solidFill>
              <a:srgbClr val="000000"/>
            </a:solidFill>
          </p:spPr>
          <p:txBody>
            <a:bodyPr wrap="square" lIns="0" tIns="0" rIns="0" bIns="0" rtlCol="0"/>
            <a:lstStyle/>
            <a:p>
              <a:endParaRPr/>
            </a:p>
          </p:txBody>
        </p:sp>
      </p:grpSp>
      <p:sp>
        <p:nvSpPr>
          <p:cNvPr id="7" name="object 7"/>
          <p:cNvSpPr txBox="1"/>
          <p:nvPr/>
        </p:nvSpPr>
        <p:spPr>
          <a:xfrm>
            <a:off x="2967609" y="2477674"/>
            <a:ext cx="753745" cy="150170"/>
          </a:xfrm>
          <a:prstGeom prst="rect">
            <a:avLst/>
          </a:prstGeom>
        </p:spPr>
        <p:txBody>
          <a:bodyPr vert="horz" wrap="square" lIns="0" tIns="3811" rIns="0" bIns="0" rtlCol="0">
            <a:spAutoFit/>
          </a:bodyPr>
          <a:lstStyle/>
          <a:p>
            <a:pPr>
              <a:spcBef>
                <a:spcPts val="31"/>
              </a:spcBef>
            </a:pPr>
            <a:r>
              <a:rPr sz="951" spc="5" dirty="0">
                <a:latin typeface="Verdana"/>
                <a:cs typeface="Verdana"/>
              </a:rPr>
              <a:t>size</a:t>
            </a:r>
            <a:r>
              <a:rPr sz="951" spc="35" dirty="0">
                <a:latin typeface="Verdana"/>
                <a:cs typeface="Verdana"/>
              </a:rPr>
              <a:t> </a:t>
            </a:r>
            <a:r>
              <a:rPr sz="951" spc="-11" dirty="0">
                <a:latin typeface="Verdana"/>
                <a:cs typeface="Verdana"/>
              </a:rPr>
              <a:t>in</a:t>
            </a:r>
            <a:r>
              <a:rPr sz="951" spc="71"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8" name="object 8"/>
          <p:cNvSpPr txBox="1"/>
          <p:nvPr/>
        </p:nvSpPr>
        <p:spPr>
          <a:xfrm>
            <a:off x="2925827" y="205517"/>
            <a:ext cx="691515" cy="182550"/>
          </a:xfrm>
          <a:prstGeom prst="rect">
            <a:avLst/>
          </a:prstGeom>
        </p:spPr>
        <p:txBody>
          <a:bodyPr vert="horz" wrap="square" lIns="0" tIns="0" rIns="0" bIns="0" rtlCol="0">
            <a:spAutoFit/>
          </a:bodyPr>
          <a:lstStyle/>
          <a:p>
            <a:pPr>
              <a:lnSpc>
                <a:spcPts val="1391"/>
              </a:lnSpc>
            </a:pPr>
            <a:r>
              <a:rPr sz="1400" spc="60" dirty="0">
                <a:latin typeface="Cambria Math"/>
                <a:cs typeface="Cambria Math"/>
              </a:rPr>
              <a:t>ƒ</a:t>
            </a:r>
            <a:r>
              <a:rPr sz="1575" spc="89" baseline="-15873" dirty="0">
                <a:latin typeface="Cambria Math"/>
                <a:cs typeface="Cambria Math"/>
              </a:rPr>
              <a:t>w,𝑏</a:t>
            </a:r>
            <a:r>
              <a:rPr sz="1575" spc="51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9" name="object 9"/>
          <p:cNvSpPr txBox="1"/>
          <p:nvPr/>
        </p:nvSpPr>
        <p:spPr>
          <a:xfrm>
            <a:off x="5508626" y="113443"/>
            <a:ext cx="647700" cy="394147"/>
          </a:xfrm>
          <a:prstGeom prst="rect">
            <a:avLst/>
          </a:prstGeom>
        </p:spPr>
        <p:txBody>
          <a:bodyPr vert="horz" wrap="square" lIns="0" tIns="0" rIns="0" bIns="0" rtlCol="0">
            <a:spAutoFit/>
          </a:bodyPr>
          <a:lstStyle/>
          <a:p>
            <a:pPr algn="ctr">
              <a:lnSpc>
                <a:spcPts val="915"/>
              </a:lnSpc>
              <a:tabLst>
                <a:tab pos="196210" algn="l"/>
              </a:tabLst>
            </a:pPr>
            <a:r>
              <a:rPr sz="2100" spc="37" baseline="-29761" dirty="0">
                <a:latin typeface="Cambria Math"/>
                <a:cs typeface="Cambria Math"/>
              </a:rPr>
              <a:t>𝐽	</a:t>
            </a:r>
            <a:r>
              <a:rPr sz="1400" spc="25" dirty="0">
                <a:latin typeface="Cambria Math"/>
                <a:cs typeface="Cambria Math"/>
              </a:rPr>
              <a:t>𝐽</a:t>
            </a:r>
            <a:r>
              <a:rPr sz="1400" spc="-155" dirty="0">
                <a:latin typeface="Cambria Math"/>
                <a:cs typeface="Cambria Math"/>
              </a:rPr>
              <a:t> </a:t>
            </a:r>
            <a:r>
              <a:rPr sz="2100" spc="7" baseline="-29761" dirty="0">
                <a:latin typeface="Cambria Math"/>
                <a:cs typeface="Cambria Math"/>
              </a:rPr>
              <a:t>,</a:t>
            </a:r>
            <a:r>
              <a:rPr sz="2100" spc="-157" baseline="-29761"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80" dirty="0">
                <a:latin typeface="Cambria Math"/>
                <a:cs typeface="Cambria Math"/>
              </a:rPr>
              <a:t> </a:t>
            </a:r>
            <a:r>
              <a:rPr sz="1400" spc="25" dirty="0">
                <a:latin typeface="Cambria Math"/>
                <a:cs typeface="Cambria Math"/>
              </a:rPr>
              <a:t>𝑏</a:t>
            </a:r>
            <a:endParaRPr sz="1400">
              <a:latin typeface="Cambria Math"/>
              <a:cs typeface="Cambria Math"/>
            </a:endParaRPr>
          </a:p>
          <a:p>
            <a:pPr marR="36830" algn="ctr">
              <a:lnSpc>
                <a:spcPts val="1205"/>
              </a:lnSpc>
            </a:pPr>
            <a:r>
              <a:rPr sz="1400" spc="20" dirty="0">
                <a:latin typeface="Cambria Math"/>
                <a:cs typeface="Cambria Math"/>
              </a:rPr>
              <a:t>𝑤</a:t>
            </a:r>
            <a:r>
              <a:rPr sz="1400" spc="160" dirty="0">
                <a:latin typeface="Cambria Math"/>
                <a:cs typeface="Cambria Math"/>
              </a:rPr>
              <a:t> </a:t>
            </a:r>
            <a:r>
              <a:rPr sz="1400" spc="11" dirty="0">
                <a:latin typeface="Cambria Math"/>
                <a:cs typeface="Cambria Math"/>
              </a:rPr>
              <a:t>𝑏</a:t>
            </a:r>
            <a:endParaRPr sz="1400">
              <a:latin typeface="Cambria Math"/>
              <a:cs typeface="Cambria Math"/>
            </a:endParaRPr>
          </a:p>
        </p:txBody>
      </p:sp>
      <p:sp>
        <p:nvSpPr>
          <p:cNvPr id="10" name="object 10"/>
          <p:cNvSpPr txBox="1"/>
          <p:nvPr/>
        </p:nvSpPr>
        <p:spPr>
          <a:xfrm>
            <a:off x="4259579" y="2508281"/>
            <a:ext cx="450851" cy="362087"/>
          </a:xfrm>
          <a:prstGeom prst="rect">
            <a:avLst/>
          </a:prstGeom>
        </p:spPr>
        <p:txBody>
          <a:bodyPr vert="horz" wrap="square" lIns="0" tIns="0" rIns="0" bIns="0" rtlCol="0">
            <a:spAutoFit/>
          </a:bodyPr>
          <a:lstStyle/>
          <a:p>
            <a:pPr>
              <a:lnSpc>
                <a:spcPts val="1391"/>
              </a:lnSpc>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1" name="object 11"/>
          <p:cNvSpPr txBox="1"/>
          <p:nvPr/>
        </p:nvSpPr>
        <p:spPr>
          <a:xfrm>
            <a:off x="2828926" y="2428876"/>
            <a:ext cx="1000125" cy="199542"/>
          </a:xfrm>
          <a:prstGeom prst="rect">
            <a:avLst/>
          </a:prstGeom>
          <a:solidFill>
            <a:srgbClr val="FFFFFF"/>
          </a:solidFill>
        </p:spPr>
        <p:txBody>
          <a:bodyPr vert="horz" wrap="square" lIns="0" tIns="52705" rIns="0" bIns="0" rtlCol="0">
            <a:spAutoFit/>
          </a:bodyPr>
          <a:lstStyle/>
          <a:p>
            <a:pPr marL="92072">
              <a:spcBef>
                <a:spcPts val="41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12" name="object 12"/>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grpSp>
        <p:nvGrpSpPr>
          <p:cNvPr id="13" name="object 13"/>
          <p:cNvGrpSpPr/>
          <p:nvPr/>
        </p:nvGrpSpPr>
        <p:grpSpPr>
          <a:xfrm>
            <a:off x="2752725" y="133350"/>
            <a:ext cx="1085851" cy="314325"/>
            <a:chOff x="2752725" y="133350"/>
            <a:chExt cx="1085850" cy="314325"/>
          </a:xfrm>
        </p:grpSpPr>
        <p:sp>
          <p:nvSpPr>
            <p:cNvPr id="14" name="object 14"/>
            <p:cNvSpPr/>
            <p:nvPr/>
          </p:nvSpPr>
          <p:spPr>
            <a:xfrm>
              <a:off x="2752725"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5" name="object 15"/>
            <p:cNvSpPr/>
            <p:nvPr/>
          </p:nvSpPr>
          <p:spPr>
            <a:xfrm>
              <a:off x="3233927" y="208788"/>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grpSp>
      <p:sp>
        <p:nvSpPr>
          <p:cNvPr id="16" name="object 16"/>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grpSp>
        <p:nvGrpSpPr>
          <p:cNvPr id="17" name="object 17"/>
          <p:cNvGrpSpPr/>
          <p:nvPr/>
        </p:nvGrpSpPr>
        <p:grpSpPr>
          <a:xfrm>
            <a:off x="5219700" y="133350"/>
            <a:ext cx="1085851" cy="314325"/>
            <a:chOff x="5219700" y="133350"/>
            <a:chExt cx="1085850" cy="314325"/>
          </a:xfrm>
        </p:grpSpPr>
        <p:sp>
          <p:nvSpPr>
            <p:cNvPr id="18" name="object 18"/>
            <p:cNvSpPr/>
            <p:nvPr/>
          </p:nvSpPr>
          <p:spPr>
            <a:xfrm>
              <a:off x="5219700"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9" name="object 19"/>
            <p:cNvSpPr/>
            <p:nvPr/>
          </p:nvSpPr>
          <p:spPr>
            <a:xfrm>
              <a:off x="5594858" y="209550"/>
              <a:ext cx="415290"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grpSp>
      <p:sp>
        <p:nvSpPr>
          <p:cNvPr id="20" name="object 20"/>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grpSp>
        <p:nvGrpSpPr>
          <p:cNvPr id="21" name="object 21"/>
          <p:cNvGrpSpPr/>
          <p:nvPr/>
        </p:nvGrpSpPr>
        <p:grpSpPr>
          <a:xfrm>
            <a:off x="3971925" y="2428876"/>
            <a:ext cx="1085851" cy="314325"/>
            <a:chOff x="3971925" y="2428875"/>
            <a:chExt cx="1085850" cy="314325"/>
          </a:xfrm>
        </p:grpSpPr>
        <p:sp>
          <p:nvSpPr>
            <p:cNvPr id="22" name="object 22"/>
            <p:cNvSpPr/>
            <p:nvPr/>
          </p:nvSpPr>
          <p:spPr>
            <a:xfrm>
              <a:off x="3971925" y="2428875"/>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23" name="object 23"/>
            <p:cNvSpPr/>
            <p:nvPr/>
          </p:nvSpPr>
          <p:spPr>
            <a:xfrm>
              <a:off x="4347083" y="2507360"/>
              <a:ext cx="415290"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grpSp>
      <p:sp>
        <p:nvSpPr>
          <p:cNvPr id="24" name="object 24"/>
          <p:cNvSpPr txBox="1"/>
          <p:nvPr/>
        </p:nvSpPr>
        <p:spPr>
          <a:xfrm>
            <a:off x="3971925" y="2428875"/>
            <a:ext cx="1085851" cy="258404"/>
          </a:xfrm>
          <a:prstGeom prst="rect">
            <a:avLst/>
          </a:prstGeom>
        </p:spPr>
        <p:txBody>
          <a:bodyPr vert="horz" wrap="square" lIns="0" tIns="42545" rIns="0" bIns="0" rtlCol="0">
            <a:spAutoFit/>
          </a:bodyPr>
          <a:lstStyle/>
          <a:p>
            <a:pPr marL="287013">
              <a:spcBef>
                <a:spcPts val="33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26" name="Slide Number Placeholder 25">
            <a:extLst>
              <a:ext uri="{FF2B5EF4-FFF2-40B4-BE49-F238E27FC236}">
                <a16:creationId xmlns:a16="http://schemas.microsoft.com/office/drawing/2014/main" id="{8050E683-9A75-7DA4-C4B9-5E52E1337C2B}"/>
              </a:ext>
            </a:extLst>
          </p:cNvPr>
          <p:cNvSpPr>
            <a:spLocks noGrp="1"/>
          </p:cNvSpPr>
          <p:nvPr>
            <p:ph type="sldNum" sz="quarter" idx="12"/>
          </p:nvPr>
        </p:nvSpPr>
        <p:spPr/>
        <p:txBody>
          <a:bodyPr/>
          <a:lstStyle/>
          <a:p>
            <a:fld id="{B6F15528-21DE-4FAA-801E-634DDDAF4B2B}" type="slidenum">
              <a:rPr lang="en-PS" smtClean="0"/>
              <a:t>36</a:t>
            </a:fld>
            <a:endParaRPr lang="en-P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97123" y="441580"/>
            <a:ext cx="4770427" cy="3968497"/>
            <a:chOff x="2297122" y="441579"/>
            <a:chExt cx="4770427" cy="3968496"/>
          </a:xfrm>
        </p:grpSpPr>
        <p:pic>
          <p:nvPicPr>
            <p:cNvPr id="3" name="object 3"/>
            <p:cNvPicPr/>
            <p:nvPr/>
          </p:nvPicPr>
          <p:blipFill>
            <a:blip r:embed="rId2" cstate="print"/>
            <a:stretch>
              <a:fillRect/>
            </a:stretch>
          </p:blipFill>
          <p:spPr>
            <a:xfrm>
              <a:off x="2297122" y="441579"/>
              <a:ext cx="4770427" cy="3968496"/>
            </a:xfrm>
            <a:prstGeom prst="rect">
              <a:avLst/>
            </a:prstGeom>
          </p:spPr>
        </p:pic>
        <p:sp>
          <p:nvSpPr>
            <p:cNvPr id="6" name="object 6"/>
            <p:cNvSpPr/>
            <p:nvPr/>
          </p:nvSpPr>
          <p:spPr>
            <a:xfrm>
              <a:off x="4347083" y="2507361"/>
              <a:ext cx="415290"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grpSp>
      <p:sp>
        <p:nvSpPr>
          <p:cNvPr id="7" name="object 7"/>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8" name="object 8"/>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9" name="object 9"/>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10" name="object 10"/>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1" name="object 11"/>
          <p:cNvSpPr txBox="1"/>
          <p:nvPr/>
        </p:nvSpPr>
        <p:spPr>
          <a:xfrm>
            <a:off x="4246879" y="2455483"/>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3" name="Slide Number Placeholder 12">
            <a:extLst>
              <a:ext uri="{FF2B5EF4-FFF2-40B4-BE49-F238E27FC236}">
                <a16:creationId xmlns:a16="http://schemas.microsoft.com/office/drawing/2014/main" id="{3FE1B092-61A9-2D66-A95F-3B758257565E}"/>
              </a:ext>
            </a:extLst>
          </p:cNvPr>
          <p:cNvSpPr>
            <a:spLocks noGrp="1"/>
          </p:cNvSpPr>
          <p:nvPr>
            <p:ph type="sldNum" sz="quarter" idx="12"/>
          </p:nvPr>
        </p:nvSpPr>
        <p:spPr/>
        <p:txBody>
          <a:bodyPr/>
          <a:lstStyle/>
          <a:p>
            <a:fld id="{B6F15528-21DE-4FAA-801E-634DDDAF4B2B}" type="slidenum">
              <a:rPr lang="en-PS" smtClean="0"/>
              <a:t>37</a:t>
            </a:fld>
            <a:endParaRPr lang="en-P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9"/>
            <a:ext cx="4770427" cy="3968496"/>
          </a:xfrm>
          <a:prstGeom prst="rect">
            <a:avLst/>
          </a:prstGeom>
        </p:spPr>
      </p:pic>
      <p:sp>
        <p:nvSpPr>
          <p:cNvPr id="3" name="object 3"/>
          <p:cNvSpPr txBox="1"/>
          <p:nvPr/>
        </p:nvSpPr>
        <p:spPr>
          <a:xfrm>
            <a:off x="2925827" y="205517"/>
            <a:ext cx="691515" cy="182550"/>
          </a:xfrm>
          <a:prstGeom prst="rect">
            <a:avLst/>
          </a:prstGeom>
        </p:spPr>
        <p:txBody>
          <a:bodyPr vert="horz" wrap="square" lIns="0" tIns="0" rIns="0" bIns="0" rtlCol="0">
            <a:spAutoFit/>
          </a:bodyPr>
          <a:lstStyle/>
          <a:p>
            <a:pPr>
              <a:lnSpc>
                <a:spcPts val="1391"/>
              </a:lnSpc>
            </a:pPr>
            <a:r>
              <a:rPr sz="1400" spc="60" dirty="0">
                <a:latin typeface="Cambria Math"/>
                <a:cs typeface="Cambria Math"/>
              </a:rPr>
              <a:t>ƒ</a:t>
            </a:r>
            <a:r>
              <a:rPr sz="1575" spc="89" baseline="-15873" dirty="0">
                <a:latin typeface="Cambria Math"/>
                <a:cs typeface="Cambria Math"/>
              </a:rPr>
              <a:t>w,𝑏</a:t>
            </a:r>
            <a:r>
              <a:rPr sz="1575" spc="51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4" name="object 4"/>
          <p:cNvSpPr txBox="1"/>
          <p:nvPr/>
        </p:nvSpPr>
        <p:spPr>
          <a:xfrm>
            <a:off x="5508625" y="206153"/>
            <a:ext cx="450851" cy="362087"/>
          </a:xfrm>
          <a:prstGeom prst="rect">
            <a:avLst/>
          </a:prstGeom>
        </p:spPr>
        <p:txBody>
          <a:bodyPr vert="horz" wrap="square" lIns="0" tIns="0" rIns="0" bIns="0" rtlCol="0">
            <a:spAutoFit/>
          </a:bodyPr>
          <a:lstStyle/>
          <a:p>
            <a:pPr>
              <a:lnSpc>
                <a:spcPts val="1391"/>
              </a:lnSpc>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5" name="object 5"/>
          <p:cNvSpPr txBox="1"/>
          <p:nvPr/>
        </p:nvSpPr>
        <p:spPr>
          <a:xfrm>
            <a:off x="4259579" y="2508281"/>
            <a:ext cx="450851" cy="362087"/>
          </a:xfrm>
          <a:prstGeom prst="rect">
            <a:avLst/>
          </a:prstGeom>
        </p:spPr>
        <p:txBody>
          <a:bodyPr vert="horz" wrap="square" lIns="0" tIns="0" rIns="0" bIns="0" rtlCol="0">
            <a:spAutoFit/>
          </a:bodyPr>
          <a:lstStyle/>
          <a:p>
            <a:pPr>
              <a:lnSpc>
                <a:spcPts val="1391"/>
              </a:lnSpc>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6" name="object 6"/>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7" name="object 7"/>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grpSp>
        <p:nvGrpSpPr>
          <p:cNvPr id="8" name="object 8"/>
          <p:cNvGrpSpPr/>
          <p:nvPr/>
        </p:nvGrpSpPr>
        <p:grpSpPr>
          <a:xfrm>
            <a:off x="2752725" y="133350"/>
            <a:ext cx="1085851" cy="314325"/>
            <a:chOff x="2752725" y="133350"/>
            <a:chExt cx="1085850" cy="314325"/>
          </a:xfrm>
        </p:grpSpPr>
        <p:sp>
          <p:nvSpPr>
            <p:cNvPr id="9" name="object 9"/>
            <p:cNvSpPr/>
            <p:nvPr/>
          </p:nvSpPr>
          <p:spPr>
            <a:xfrm>
              <a:off x="2752725"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0" name="object 10"/>
            <p:cNvSpPr/>
            <p:nvPr/>
          </p:nvSpPr>
          <p:spPr>
            <a:xfrm>
              <a:off x="3233927" y="208788"/>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grpSp>
      <p:sp>
        <p:nvSpPr>
          <p:cNvPr id="11" name="object 11"/>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grpSp>
        <p:nvGrpSpPr>
          <p:cNvPr id="12" name="object 12"/>
          <p:cNvGrpSpPr/>
          <p:nvPr/>
        </p:nvGrpSpPr>
        <p:grpSpPr>
          <a:xfrm>
            <a:off x="5219700" y="133350"/>
            <a:ext cx="1085851" cy="314325"/>
            <a:chOff x="5219700" y="133350"/>
            <a:chExt cx="1085850" cy="314325"/>
          </a:xfrm>
        </p:grpSpPr>
        <p:sp>
          <p:nvSpPr>
            <p:cNvPr id="13" name="object 13"/>
            <p:cNvSpPr/>
            <p:nvPr/>
          </p:nvSpPr>
          <p:spPr>
            <a:xfrm>
              <a:off x="5219700"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4" name="object 14"/>
            <p:cNvSpPr/>
            <p:nvPr/>
          </p:nvSpPr>
          <p:spPr>
            <a:xfrm>
              <a:off x="5594858" y="209550"/>
              <a:ext cx="415290"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grpSp>
      <p:sp>
        <p:nvSpPr>
          <p:cNvPr id="15" name="object 15"/>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grpSp>
        <p:nvGrpSpPr>
          <p:cNvPr id="16" name="object 16"/>
          <p:cNvGrpSpPr/>
          <p:nvPr/>
        </p:nvGrpSpPr>
        <p:grpSpPr>
          <a:xfrm>
            <a:off x="3971925" y="2428876"/>
            <a:ext cx="1085851" cy="314325"/>
            <a:chOff x="3971925" y="2428875"/>
            <a:chExt cx="1085850" cy="314325"/>
          </a:xfrm>
        </p:grpSpPr>
        <p:sp>
          <p:nvSpPr>
            <p:cNvPr id="17" name="object 17"/>
            <p:cNvSpPr/>
            <p:nvPr/>
          </p:nvSpPr>
          <p:spPr>
            <a:xfrm>
              <a:off x="3971925" y="2428875"/>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8" name="object 18"/>
            <p:cNvSpPr/>
            <p:nvPr/>
          </p:nvSpPr>
          <p:spPr>
            <a:xfrm>
              <a:off x="4347083" y="2507360"/>
              <a:ext cx="415290"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grpSp>
      <p:sp>
        <p:nvSpPr>
          <p:cNvPr id="19" name="object 19"/>
          <p:cNvSpPr txBox="1"/>
          <p:nvPr/>
        </p:nvSpPr>
        <p:spPr>
          <a:xfrm>
            <a:off x="3971925" y="2428875"/>
            <a:ext cx="1085851" cy="258404"/>
          </a:xfrm>
          <a:prstGeom prst="rect">
            <a:avLst/>
          </a:prstGeom>
        </p:spPr>
        <p:txBody>
          <a:bodyPr vert="horz" wrap="square" lIns="0" tIns="42545" rIns="0" bIns="0" rtlCol="0">
            <a:spAutoFit/>
          </a:bodyPr>
          <a:lstStyle/>
          <a:p>
            <a:pPr marL="287013">
              <a:spcBef>
                <a:spcPts val="33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21" name="Slide Number Placeholder 20">
            <a:extLst>
              <a:ext uri="{FF2B5EF4-FFF2-40B4-BE49-F238E27FC236}">
                <a16:creationId xmlns:a16="http://schemas.microsoft.com/office/drawing/2014/main" id="{62C53A1B-A5A2-349E-8E3B-F0F7A1D5EA3A}"/>
              </a:ext>
            </a:extLst>
          </p:cNvPr>
          <p:cNvSpPr>
            <a:spLocks noGrp="1"/>
          </p:cNvSpPr>
          <p:nvPr>
            <p:ph type="sldNum" sz="quarter" idx="12"/>
          </p:nvPr>
        </p:nvSpPr>
        <p:spPr/>
        <p:txBody>
          <a:bodyPr/>
          <a:lstStyle/>
          <a:p>
            <a:fld id="{B6F15528-21DE-4FAA-801E-634DDDAF4B2B}" type="slidenum">
              <a:rPr lang="en-PS" smtClean="0"/>
              <a:t>38</a:t>
            </a:fld>
            <a:endParaRPr lang="en-P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9"/>
            <a:ext cx="4770427" cy="3968496"/>
          </a:xfrm>
          <a:prstGeom prst="rect">
            <a:avLst/>
          </a:prstGeom>
        </p:spPr>
      </p:pic>
      <p:sp>
        <p:nvSpPr>
          <p:cNvPr id="3" name="object 3"/>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4" name="object 4"/>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sp>
        <p:nvSpPr>
          <p:cNvPr id="5" name="object 5"/>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6" name="object 6"/>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7" name="object 7"/>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8" name="object 8"/>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9" name="object 9"/>
          <p:cNvSpPr/>
          <p:nvPr/>
        </p:nvSpPr>
        <p:spPr>
          <a:xfrm>
            <a:off x="4347083" y="2507361"/>
            <a:ext cx="415291"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sp>
        <p:nvSpPr>
          <p:cNvPr id="10" name="object 10"/>
          <p:cNvSpPr txBox="1"/>
          <p:nvPr/>
        </p:nvSpPr>
        <p:spPr>
          <a:xfrm>
            <a:off x="4246879" y="2455483"/>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2" name="Slide Number Placeholder 11">
            <a:extLst>
              <a:ext uri="{FF2B5EF4-FFF2-40B4-BE49-F238E27FC236}">
                <a16:creationId xmlns:a16="http://schemas.microsoft.com/office/drawing/2014/main" id="{30F859EE-D40F-D25A-E8CA-C3E6489B1533}"/>
              </a:ext>
            </a:extLst>
          </p:cNvPr>
          <p:cNvSpPr>
            <a:spLocks noGrp="1"/>
          </p:cNvSpPr>
          <p:nvPr>
            <p:ph type="sldNum" sz="quarter" idx="12"/>
          </p:nvPr>
        </p:nvSpPr>
        <p:spPr/>
        <p:txBody>
          <a:bodyPr/>
          <a:lstStyle/>
          <a:p>
            <a:fld id="{B6F15528-21DE-4FAA-801E-634DDDAF4B2B}" type="slidenum">
              <a:rPr lang="en-PS" smtClean="0"/>
              <a:t>39</a:t>
            </a:fld>
            <a:endParaRPr lang="en-P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9"/>
            <a:ext cx="4770427" cy="3968496"/>
          </a:xfrm>
          <a:prstGeom prst="rect">
            <a:avLst/>
          </a:prstGeom>
        </p:spPr>
      </p:pic>
      <p:sp>
        <p:nvSpPr>
          <p:cNvPr id="3" name="object 3"/>
          <p:cNvSpPr txBox="1"/>
          <p:nvPr/>
        </p:nvSpPr>
        <p:spPr>
          <a:xfrm>
            <a:off x="2925827" y="205517"/>
            <a:ext cx="691515" cy="182550"/>
          </a:xfrm>
          <a:prstGeom prst="rect">
            <a:avLst/>
          </a:prstGeom>
        </p:spPr>
        <p:txBody>
          <a:bodyPr vert="horz" wrap="square" lIns="0" tIns="0" rIns="0" bIns="0" rtlCol="0">
            <a:spAutoFit/>
          </a:bodyPr>
          <a:lstStyle/>
          <a:p>
            <a:pPr>
              <a:lnSpc>
                <a:spcPts val="1391"/>
              </a:lnSpc>
            </a:pPr>
            <a:r>
              <a:rPr sz="1400" spc="60" dirty="0">
                <a:latin typeface="Cambria Math"/>
                <a:cs typeface="Cambria Math"/>
              </a:rPr>
              <a:t>ƒ</a:t>
            </a:r>
            <a:r>
              <a:rPr sz="1575" spc="89" baseline="-15873" dirty="0">
                <a:latin typeface="Cambria Math"/>
                <a:cs typeface="Cambria Math"/>
              </a:rPr>
              <a:t>w,𝑏</a:t>
            </a:r>
            <a:r>
              <a:rPr sz="1575" spc="51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4" name="object 4"/>
          <p:cNvSpPr txBox="1"/>
          <p:nvPr/>
        </p:nvSpPr>
        <p:spPr>
          <a:xfrm>
            <a:off x="5508625" y="206153"/>
            <a:ext cx="450851" cy="362087"/>
          </a:xfrm>
          <a:prstGeom prst="rect">
            <a:avLst/>
          </a:prstGeom>
        </p:spPr>
        <p:txBody>
          <a:bodyPr vert="horz" wrap="square" lIns="0" tIns="0" rIns="0" bIns="0" rtlCol="0">
            <a:spAutoFit/>
          </a:bodyPr>
          <a:lstStyle/>
          <a:p>
            <a:pPr>
              <a:lnSpc>
                <a:spcPts val="1391"/>
              </a:lnSpc>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5" name="object 5"/>
          <p:cNvSpPr txBox="1"/>
          <p:nvPr/>
        </p:nvSpPr>
        <p:spPr>
          <a:xfrm>
            <a:off x="4259579" y="2508281"/>
            <a:ext cx="450851" cy="362087"/>
          </a:xfrm>
          <a:prstGeom prst="rect">
            <a:avLst/>
          </a:prstGeom>
        </p:spPr>
        <p:txBody>
          <a:bodyPr vert="horz" wrap="square" lIns="0" tIns="0" rIns="0" bIns="0" rtlCol="0">
            <a:spAutoFit/>
          </a:bodyPr>
          <a:lstStyle/>
          <a:p>
            <a:pPr>
              <a:lnSpc>
                <a:spcPts val="1391"/>
              </a:lnSpc>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6" name="object 6"/>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7" name="object 7"/>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grpSp>
        <p:nvGrpSpPr>
          <p:cNvPr id="8" name="object 8"/>
          <p:cNvGrpSpPr/>
          <p:nvPr/>
        </p:nvGrpSpPr>
        <p:grpSpPr>
          <a:xfrm>
            <a:off x="2752725" y="133350"/>
            <a:ext cx="1085851" cy="314325"/>
            <a:chOff x="2752725" y="133350"/>
            <a:chExt cx="1085850" cy="314325"/>
          </a:xfrm>
        </p:grpSpPr>
        <p:sp>
          <p:nvSpPr>
            <p:cNvPr id="9" name="object 9"/>
            <p:cNvSpPr/>
            <p:nvPr/>
          </p:nvSpPr>
          <p:spPr>
            <a:xfrm>
              <a:off x="2752725"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0" name="object 10"/>
            <p:cNvSpPr/>
            <p:nvPr/>
          </p:nvSpPr>
          <p:spPr>
            <a:xfrm>
              <a:off x="3233927" y="208788"/>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grpSp>
      <p:sp>
        <p:nvSpPr>
          <p:cNvPr id="11" name="object 11"/>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grpSp>
        <p:nvGrpSpPr>
          <p:cNvPr id="12" name="object 12"/>
          <p:cNvGrpSpPr/>
          <p:nvPr/>
        </p:nvGrpSpPr>
        <p:grpSpPr>
          <a:xfrm>
            <a:off x="5219700" y="133350"/>
            <a:ext cx="1085851" cy="314325"/>
            <a:chOff x="5219700" y="133350"/>
            <a:chExt cx="1085850" cy="314325"/>
          </a:xfrm>
        </p:grpSpPr>
        <p:sp>
          <p:nvSpPr>
            <p:cNvPr id="13" name="object 13"/>
            <p:cNvSpPr/>
            <p:nvPr/>
          </p:nvSpPr>
          <p:spPr>
            <a:xfrm>
              <a:off x="5219700" y="133350"/>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4" name="object 14"/>
            <p:cNvSpPr/>
            <p:nvPr/>
          </p:nvSpPr>
          <p:spPr>
            <a:xfrm>
              <a:off x="5594858" y="209550"/>
              <a:ext cx="415290"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grpSp>
      <p:sp>
        <p:nvSpPr>
          <p:cNvPr id="15" name="object 15"/>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grpSp>
        <p:nvGrpSpPr>
          <p:cNvPr id="16" name="object 16"/>
          <p:cNvGrpSpPr/>
          <p:nvPr/>
        </p:nvGrpSpPr>
        <p:grpSpPr>
          <a:xfrm>
            <a:off x="3971925" y="2428876"/>
            <a:ext cx="1085851" cy="314325"/>
            <a:chOff x="3971925" y="2428875"/>
            <a:chExt cx="1085850" cy="314325"/>
          </a:xfrm>
        </p:grpSpPr>
        <p:sp>
          <p:nvSpPr>
            <p:cNvPr id="17" name="object 17"/>
            <p:cNvSpPr/>
            <p:nvPr/>
          </p:nvSpPr>
          <p:spPr>
            <a:xfrm>
              <a:off x="3971925" y="2428875"/>
              <a:ext cx="1085850" cy="314325"/>
            </a:xfrm>
            <a:custGeom>
              <a:avLst/>
              <a:gdLst/>
              <a:ahLst/>
              <a:cxnLst/>
              <a:rect l="l" t="t" r="r" b="b"/>
              <a:pathLst>
                <a:path w="1085850" h="314325">
                  <a:moveTo>
                    <a:pt x="1085850" y="0"/>
                  </a:moveTo>
                  <a:lnTo>
                    <a:pt x="0" y="0"/>
                  </a:lnTo>
                  <a:lnTo>
                    <a:pt x="0" y="314325"/>
                  </a:lnTo>
                  <a:lnTo>
                    <a:pt x="1085850" y="314325"/>
                  </a:lnTo>
                  <a:lnTo>
                    <a:pt x="1085850" y="0"/>
                  </a:lnTo>
                  <a:close/>
                </a:path>
              </a:pathLst>
            </a:custGeom>
            <a:solidFill>
              <a:srgbClr val="FFFFFF"/>
            </a:solidFill>
          </p:spPr>
          <p:txBody>
            <a:bodyPr wrap="square" lIns="0" tIns="0" rIns="0" bIns="0" rtlCol="0"/>
            <a:lstStyle/>
            <a:p>
              <a:endParaRPr/>
            </a:p>
          </p:txBody>
        </p:sp>
        <p:sp>
          <p:nvSpPr>
            <p:cNvPr id="18" name="object 18"/>
            <p:cNvSpPr/>
            <p:nvPr/>
          </p:nvSpPr>
          <p:spPr>
            <a:xfrm>
              <a:off x="4347083" y="2507360"/>
              <a:ext cx="415290"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grpSp>
      <p:sp>
        <p:nvSpPr>
          <p:cNvPr id="19" name="object 19"/>
          <p:cNvSpPr txBox="1"/>
          <p:nvPr/>
        </p:nvSpPr>
        <p:spPr>
          <a:xfrm>
            <a:off x="3971925" y="2428875"/>
            <a:ext cx="1085851" cy="258404"/>
          </a:xfrm>
          <a:prstGeom prst="rect">
            <a:avLst/>
          </a:prstGeom>
        </p:spPr>
        <p:txBody>
          <a:bodyPr vert="horz" wrap="square" lIns="0" tIns="42545" rIns="0" bIns="0" rtlCol="0">
            <a:spAutoFit/>
          </a:bodyPr>
          <a:lstStyle/>
          <a:p>
            <a:pPr marL="287013">
              <a:spcBef>
                <a:spcPts val="33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21" name="Slide Number Placeholder 20">
            <a:extLst>
              <a:ext uri="{FF2B5EF4-FFF2-40B4-BE49-F238E27FC236}">
                <a16:creationId xmlns:a16="http://schemas.microsoft.com/office/drawing/2014/main" id="{12542886-CBF4-F2B0-404F-AABAEE1FB9CC}"/>
              </a:ext>
            </a:extLst>
          </p:cNvPr>
          <p:cNvSpPr>
            <a:spLocks noGrp="1"/>
          </p:cNvSpPr>
          <p:nvPr>
            <p:ph type="sldNum" sz="quarter" idx="12"/>
          </p:nvPr>
        </p:nvSpPr>
        <p:spPr/>
        <p:txBody>
          <a:bodyPr/>
          <a:lstStyle/>
          <a:p>
            <a:fld id="{B6F15528-21DE-4FAA-801E-634DDDAF4B2B}" type="slidenum">
              <a:rPr lang="en-PS" smtClean="0"/>
              <a:t>40</a:t>
            </a:fld>
            <a:endParaRPr lang="en-P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9"/>
            <a:ext cx="4770427" cy="3968496"/>
          </a:xfrm>
          <a:prstGeom prst="rect">
            <a:avLst/>
          </a:prstGeom>
        </p:spPr>
      </p:pic>
      <p:sp>
        <p:nvSpPr>
          <p:cNvPr id="3" name="object 3"/>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4" name="object 4"/>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sp>
        <p:nvSpPr>
          <p:cNvPr id="5" name="object 5"/>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6" name="object 6"/>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7" name="object 7"/>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8" name="object 8"/>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9" name="object 9"/>
          <p:cNvSpPr/>
          <p:nvPr/>
        </p:nvSpPr>
        <p:spPr>
          <a:xfrm>
            <a:off x="4347083" y="2507361"/>
            <a:ext cx="415291"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sp>
        <p:nvSpPr>
          <p:cNvPr id="10" name="object 10"/>
          <p:cNvSpPr txBox="1"/>
          <p:nvPr/>
        </p:nvSpPr>
        <p:spPr>
          <a:xfrm>
            <a:off x="4246879" y="2455483"/>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2" name="Slide Number Placeholder 11">
            <a:extLst>
              <a:ext uri="{FF2B5EF4-FFF2-40B4-BE49-F238E27FC236}">
                <a16:creationId xmlns:a16="http://schemas.microsoft.com/office/drawing/2014/main" id="{5C774CE8-FD32-AEC8-901C-C77E2AD65394}"/>
              </a:ext>
            </a:extLst>
          </p:cNvPr>
          <p:cNvSpPr>
            <a:spLocks noGrp="1"/>
          </p:cNvSpPr>
          <p:nvPr>
            <p:ph type="sldNum" sz="quarter" idx="12"/>
          </p:nvPr>
        </p:nvSpPr>
        <p:spPr/>
        <p:txBody>
          <a:bodyPr/>
          <a:lstStyle/>
          <a:p>
            <a:fld id="{B6F15528-21DE-4FAA-801E-634DDDAF4B2B}" type="slidenum">
              <a:rPr lang="en-PS" smtClean="0"/>
              <a:t>41</a:t>
            </a:fld>
            <a:endParaRPr lang="en-P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9"/>
            <a:ext cx="4770427" cy="3968496"/>
          </a:xfrm>
          <a:prstGeom prst="rect">
            <a:avLst/>
          </a:prstGeom>
        </p:spPr>
      </p:pic>
      <p:sp>
        <p:nvSpPr>
          <p:cNvPr id="3" name="object 3"/>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4" name="object 4"/>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sp>
        <p:nvSpPr>
          <p:cNvPr id="5" name="object 5"/>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6" name="object 6"/>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7" name="object 7"/>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8" name="object 8"/>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9" name="object 9"/>
          <p:cNvSpPr/>
          <p:nvPr/>
        </p:nvSpPr>
        <p:spPr>
          <a:xfrm>
            <a:off x="4347083" y="2507361"/>
            <a:ext cx="415291"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sp>
        <p:nvSpPr>
          <p:cNvPr id="10" name="object 10"/>
          <p:cNvSpPr txBox="1"/>
          <p:nvPr/>
        </p:nvSpPr>
        <p:spPr>
          <a:xfrm>
            <a:off x="4246879" y="2455483"/>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12" name="Slide Number Placeholder 11">
            <a:extLst>
              <a:ext uri="{FF2B5EF4-FFF2-40B4-BE49-F238E27FC236}">
                <a16:creationId xmlns:a16="http://schemas.microsoft.com/office/drawing/2014/main" id="{61175E6E-C1EB-21BC-649C-67DAC025806C}"/>
              </a:ext>
            </a:extLst>
          </p:cNvPr>
          <p:cNvSpPr>
            <a:spLocks noGrp="1"/>
          </p:cNvSpPr>
          <p:nvPr>
            <p:ph type="sldNum" sz="quarter" idx="12"/>
          </p:nvPr>
        </p:nvSpPr>
        <p:spPr/>
        <p:txBody>
          <a:bodyPr/>
          <a:lstStyle/>
          <a:p>
            <a:fld id="{B6F15528-21DE-4FAA-801E-634DDDAF4B2B}" type="slidenum">
              <a:rPr lang="en-PS" smtClean="0"/>
              <a:t>42</a:t>
            </a:fld>
            <a:endParaRPr lang="en-P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7123" y="441578"/>
            <a:ext cx="4865677" cy="4111371"/>
          </a:xfrm>
          <a:prstGeom prst="rect">
            <a:avLst/>
          </a:prstGeom>
        </p:spPr>
      </p:pic>
      <p:sp>
        <p:nvSpPr>
          <p:cNvPr id="3" name="object 3"/>
          <p:cNvSpPr txBox="1"/>
          <p:nvPr/>
        </p:nvSpPr>
        <p:spPr>
          <a:xfrm>
            <a:off x="2883155" y="2465641"/>
            <a:ext cx="829944" cy="162352"/>
          </a:xfrm>
          <a:prstGeom prst="rect">
            <a:avLst/>
          </a:prstGeom>
        </p:spPr>
        <p:txBody>
          <a:bodyPr vert="horz" wrap="square" lIns="0" tIns="15875" rIns="0" bIns="0" rtlCol="0">
            <a:spAutoFit/>
          </a:bodyPr>
          <a:lstStyle/>
          <a:p>
            <a:pPr marL="38099">
              <a:spcBef>
                <a:spcPts val="125"/>
              </a:spcBef>
            </a:pPr>
            <a:r>
              <a:rPr sz="951" spc="5" dirty="0">
                <a:latin typeface="Verdana"/>
                <a:cs typeface="Verdana"/>
              </a:rPr>
              <a:t>size</a:t>
            </a:r>
            <a:r>
              <a:rPr sz="951" spc="25" dirty="0">
                <a:latin typeface="Verdana"/>
                <a:cs typeface="Verdana"/>
              </a:rPr>
              <a:t> </a:t>
            </a:r>
            <a:r>
              <a:rPr sz="951" spc="-11" dirty="0">
                <a:latin typeface="Verdana"/>
                <a:cs typeface="Verdana"/>
              </a:rPr>
              <a:t>in</a:t>
            </a:r>
            <a:r>
              <a:rPr sz="951" spc="75" dirty="0">
                <a:latin typeface="Verdana"/>
                <a:cs typeface="Verdana"/>
              </a:rPr>
              <a:t> </a:t>
            </a:r>
            <a:r>
              <a:rPr sz="951" spc="35" dirty="0">
                <a:latin typeface="Verdana"/>
                <a:cs typeface="Verdana"/>
              </a:rPr>
              <a:t>feet</a:t>
            </a:r>
            <a:r>
              <a:rPr sz="975" spc="52" baseline="25641" dirty="0">
                <a:latin typeface="Cambria Math"/>
                <a:cs typeface="Cambria Math"/>
              </a:rPr>
              <a:t>2</a:t>
            </a:r>
            <a:endParaRPr sz="975" baseline="25641">
              <a:latin typeface="Cambria Math"/>
              <a:cs typeface="Cambria Math"/>
            </a:endParaRPr>
          </a:p>
        </p:txBody>
      </p:sp>
      <p:sp>
        <p:nvSpPr>
          <p:cNvPr id="4" name="object 4"/>
          <p:cNvSpPr txBox="1"/>
          <p:nvPr/>
        </p:nvSpPr>
        <p:spPr>
          <a:xfrm>
            <a:off x="1363981" y="1257302"/>
            <a:ext cx="484505" cy="321498"/>
          </a:xfrm>
          <a:prstGeom prst="rect">
            <a:avLst/>
          </a:prstGeom>
        </p:spPr>
        <p:txBody>
          <a:bodyPr vert="horz" wrap="square" lIns="0" tIns="15875" rIns="0" bIns="0" rtlCol="0">
            <a:spAutoFit/>
          </a:bodyPr>
          <a:lstStyle/>
          <a:p>
            <a:pPr marL="12700">
              <a:spcBef>
                <a:spcPts val="125"/>
              </a:spcBef>
            </a:pPr>
            <a:r>
              <a:rPr sz="951" spc="5" dirty="0">
                <a:latin typeface="Verdana"/>
                <a:cs typeface="Verdana"/>
              </a:rPr>
              <a:t>p</a:t>
            </a:r>
            <a:r>
              <a:rPr sz="951" spc="-40" dirty="0">
                <a:latin typeface="Verdana"/>
                <a:cs typeface="Verdana"/>
              </a:rPr>
              <a:t>ri</a:t>
            </a:r>
            <a:r>
              <a:rPr sz="951" spc="11" dirty="0">
                <a:latin typeface="Verdana"/>
                <a:cs typeface="Verdana"/>
              </a:rPr>
              <a:t>c</a:t>
            </a:r>
            <a:r>
              <a:rPr sz="951" spc="-245" dirty="0">
                <a:latin typeface="Verdana"/>
                <a:cs typeface="Verdana"/>
              </a:rPr>
              <a:t> </a:t>
            </a:r>
            <a:r>
              <a:rPr sz="951" spc="11" dirty="0">
                <a:latin typeface="Verdana"/>
                <a:cs typeface="Verdana"/>
              </a:rPr>
              <a:t>e</a:t>
            </a:r>
            <a:r>
              <a:rPr sz="951" spc="55" dirty="0">
                <a:latin typeface="Verdana"/>
                <a:cs typeface="Verdana"/>
              </a:rPr>
              <a:t> </a:t>
            </a:r>
            <a:r>
              <a:rPr sz="951" spc="-40" dirty="0">
                <a:latin typeface="Verdana"/>
                <a:cs typeface="Verdana"/>
              </a:rPr>
              <a:t>i</a:t>
            </a:r>
            <a:r>
              <a:rPr sz="951" spc="15" dirty="0">
                <a:latin typeface="Verdana"/>
                <a:cs typeface="Verdana"/>
              </a:rPr>
              <a:t>n</a:t>
            </a:r>
            <a:endParaRPr sz="951">
              <a:latin typeface="Verdana"/>
              <a:cs typeface="Verdana"/>
            </a:endParaRPr>
          </a:p>
          <a:p>
            <a:pPr marL="22225">
              <a:spcBef>
                <a:spcPts val="60"/>
              </a:spcBef>
            </a:pPr>
            <a:r>
              <a:rPr sz="951" spc="-11" dirty="0">
                <a:latin typeface="Verdana"/>
                <a:cs typeface="Verdana"/>
              </a:rPr>
              <a:t>$</a:t>
            </a:r>
            <a:r>
              <a:rPr sz="951" spc="-11" dirty="0">
                <a:latin typeface="Cambria Math"/>
                <a:cs typeface="Cambria Math"/>
              </a:rPr>
              <a:t>1000</a:t>
            </a:r>
            <a:r>
              <a:rPr sz="951" spc="-11" dirty="0">
                <a:latin typeface="Verdana"/>
                <a:cs typeface="Verdana"/>
              </a:rPr>
              <a:t>'s</a:t>
            </a:r>
            <a:endParaRPr sz="951">
              <a:latin typeface="Verdana"/>
              <a:cs typeface="Verdana"/>
            </a:endParaRPr>
          </a:p>
        </p:txBody>
      </p:sp>
      <p:sp>
        <p:nvSpPr>
          <p:cNvPr id="5" name="object 5"/>
          <p:cNvSpPr/>
          <p:nvPr/>
        </p:nvSpPr>
        <p:spPr>
          <a:xfrm>
            <a:off x="3233927" y="208789"/>
            <a:ext cx="434340" cy="167640"/>
          </a:xfrm>
          <a:custGeom>
            <a:avLst/>
            <a:gdLst/>
            <a:ahLst/>
            <a:cxnLst/>
            <a:rect l="l" t="t" r="r" b="b"/>
            <a:pathLst>
              <a:path w="434339" h="167640">
                <a:moveTo>
                  <a:pt x="380364" y="0"/>
                </a:moveTo>
                <a:lnTo>
                  <a:pt x="378079" y="6858"/>
                </a:lnTo>
                <a:lnTo>
                  <a:pt x="387772" y="11076"/>
                </a:lnTo>
                <a:lnTo>
                  <a:pt x="396097" y="16890"/>
                </a:lnTo>
                <a:lnTo>
                  <a:pt x="416115" y="55705"/>
                </a:lnTo>
                <a:lnTo>
                  <a:pt x="418592" y="83058"/>
                </a:lnTo>
                <a:lnTo>
                  <a:pt x="417972" y="97819"/>
                </a:lnTo>
                <a:lnTo>
                  <a:pt x="403014" y="143228"/>
                </a:lnTo>
                <a:lnTo>
                  <a:pt x="378333" y="160909"/>
                </a:lnTo>
                <a:lnTo>
                  <a:pt x="380364" y="167639"/>
                </a:lnTo>
                <a:lnTo>
                  <a:pt x="420116" y="138429"/>
                </a:lnTo>
                <a:lnTo>
                  <a:pt x="432974" y="99353"/>
                </a:lnTo>
                <a:lnTo>
                  <a:pt x="433832" y="83947"/>
                </a:lnTo>
                <a:lnTo>
                  <a:pt x="432972" y="68540"/>
                </a:lnTo>
                <a:lnTo>
                  <a:pt x="419988" y="29463"/>
                </a:lnTo>
                <a:lnTo>
                  <a:pt x="392557" y="4407"/>
                </a:lnTo>
                <a:lnTo>
                  <a:pt x="380364" y="0"/>
                </a:lnTo>
                <a:close/>
              </a:path>
              <a:path w="434339" h="167640">
                <a:moveTo>
                  <a:pt x="53467" y="0"/>
                </a:moveTo>
                <a:lnTo>
                  <a:pt x="13843" y="29463"/>
                </a:lnTo>
                <a:lnTo>
                  <a:pt x="877" y="68540"/>
                </a:lnTo>
                <a:lnTo>
                  <a:pt x="0" y="83947"/>
                </a:lnTo>
                <a:lnTo>
                  <a:pt x="877" y="99353"/>
                </a:lnTo>
                <a:lnTo>
                  <a:pt x="13843" y="138429"/>
                </a:lnTo>
                <a:lnTo>
                  <a:pt x="53467" y="167639"/>
                </a:lnTo>
                <a:lnTo>
                  <a:pt x="55625" y="160909"/>
                </a:lnTo>
                <a:lnTo>
                  <a:pt x="46079" y="156666"/>
                </a:lnTo>
                <a:lnTo>
                  <a:pt x="37830" y="150780"/>
                </a:lnTo>
                <a:lnTo>
                  <a:pt x="17843" y="111236"/>
                </a:lnTo>
                <a:lnTo>
                  <a:pt x="15367" y="83058"/>
                </a:lnTo>
                <a:lnTo>
                  <a:pt x="15986" y="68744"/>
                </a:lnTo>
                <a:lnTo>
                  <a:pt x="30912" y="24324"/>
                </a:lnTo>
                <a:lnTo>
                  <a:pt x="55880" y="6858"/>
                </a:lnTo>
                <a:lnTo>
                  <a:pt x="53467" y="0"/>
                </a:lnTo>
                <a:close/>
              </a:path>
            </a:pathLst>
          </a:custGeom>
          <a:solidFill>
            <a:srgbClr val="000000"/>
          </a:solidFill>
        </p:spPr>
        <p:txBody>
          <a:bodyPr wrap="square" lIns="0" tIns="0" rIns="0" bIns="0" rtlCol="0"/>
          <a:lstStyle/>
          <a:p>
            <a:endParaRPr/>
          </a:p>
        </p:txBody>
      </p:sp>
      <p:sp>
        <p:nvSpPr>
          <p:cNvPr id="6" name="object 6"/>
          <p:cNvSpPr txBox="1"/>
          <p:nvPr/>
        </p:nvSpPr>
        <p:spPr>
          <a:xfrm>
            <a:off x="2887727" y="152719"/>
            <a:ext cx="767715" cy="231474"/>
          </a:xfrm>
          <a:prstGeom prst="rect">
            <a:avLst/>
          </a:prstGeom>
        </p:spPr>
        <p:txBody>
          <a:bodyPr vert="horz" wrap="square" lIns="0" tIns="15875" rIns="0" bIns="0" rtlCol="0">
            <a:spAutoFit/>
          </a:bodyPr>
          <a:lstStyle/>
          <a:p>
            <a:pPr marL="38099">
              <a:spcBef>
                <a:spcPts val="125"/>
              </a:spcBef>
            </a:pPr>
            <a:r>
              <a:rPr sz="1400" spc="60" dirty="0">
                <a:latin typeface="Cambria Math"/>
                <a:cs typeface="Cambria Math"/>
              </a:rPr>
              <a:t>ƒ</a:t>
            </a:r>
            <a:r>
              <a:rPr sz="1575" spc="89" baseline="-15873" dirty="0">
                <a:latin typeface="Cambria Math"/>
                <a:cs typeface="Cambria Math"/>
              </a:rPr>
              <a:t>w,𝑏 </a:t>
            </a:r>
            <a:r>
              <a:rPr sz="1575" spc="97" baseline="-15873" dirty="0">
                <a:latin typeface="Cambria Math"/>
                <a:cs typeface="Cambria Math"/>
              </a:rPr>
              <a:t> </a:t>
            </a:r>
            <a:r>
              <a:rPr sz="1400" spc="25" dirty="0">
                <a:latin typeface="Cambria Math"/>
                <a:cs typeface="Cambria Math"/>
              </a:rPr>
              <a:t>𝑠i𝑧𝑒</a:t>
            </a:r>
            <a:endParaRPr sz="1400">
              <a:latin typeface="Cambria Math"/>
              <a:cs typeface="Cambria Math"/>
            </a:endParaRPr>
          </a:p>
        </p:txBody>
      </p:sp>
      <p:sp>
        <p:nvSpPr>
          <p:cNvPr id="7" name="object 7"/>
          <p:cNvSpPr/>
          <p:nvPr/>
        </p:nvSpPr>
        <p:spPr>
          <a:xfrm>
            <a:off x="5594857" y="209550"/>
            <a:ext cx="415291" cy="167640"/>
          </a:xfrm>
          <a:custGeom>
            <a:avLst/>
            <a:gdLst/>
            <a:ahLst/>
            <a:cxnLst/>
            <a:rect l="l" t="t" r="r" b="b"/>
            <a:pathLst>
              <a:path w="415289" h="167640">
                <a:moveTo>
                  <a:pt x="361314" y="0"/>
                </a:moveTo>
                <a:lnTo>
                  <a:pt x="358901" y="6858"/>
                </a:lnTo>
                <a:lnTo>
                  <a:pt x="368615" y="11023"/>
                </a:lnTo>
                <a:lnTo>
                  <a:pt x="376983" y="16843"/>
                </a:lnTo>
                <a:lnTo>
                  <a:pt x="397065" y="55641"/>
                </a:lnTo>
                <a:lnTo>
                  <a:pt x="399541" y="82930"/>
                </a:lnTo>
                <a:lnTo>
                  <a:pt x="398920" y="97766"/>
                </a:lnTo>
                <a:lnTo>
                  <a:pt x="383909" y="143172"/>
                </a:lnTo>
                <a:lnTo>
                  <a:pt x="359155" y="160782"/>
                </a:lnTo>
                <a:lnTo>
                  <a:pt x="361314" y="167639"/>
                </a:lnTo>
                <a:lnTo>
                  <a:pt x="401065" y="138302"/>
                </a:lnTo>
                <a:lnTo>
                  <a:pt x="413924" y="99226"/>
                </a:lnTo>
                <a:lnTo>
                  <a:pt x="414781" y="83820"/>
                </a:lnTo>
                <a:lnTo>
                  <a:pt x="413922" y="68484"/>
                </a:lnTo>
                <a:lnTo>
                  <a:pt x="400938" y="29337"/>
                </a:lnTo>
                <a:lnTo>
                  <a:pt x="373506" y="4405"/>
                </a:lnTo>
                <a:lnTo>
                  <a:pt x="361314" y="0"/>
                </a:lnTo>
                <a:close/>
              </a:path>
              <a:path w="415289" h="167640">
                <a:moveTo>
                  <a:pt x="53466" y="0"/>
                </a:moveTo>
                <a:lnTo>
                  <a:pt x="13842" y="29337"/>
                </a:lnTo>
                <a:lnTo>
                  <a:pt x="859" y="68484"/>
                </a:lnTo>
                <a:lnTo>
                  <a:pt x="0" y="83820"/>
                </a:lnTo>
                <a:lnTo>
                  <a:pt x="859" y="99226"/>
                </a:lnTo>
                <a:lnTo>
                  <a:pt x="13842" y="138302"/>
                </a:lnTo>
                <a:lnTo>
                  <a:pt x="53466" y="167639"/>
                </a:lnTo>
                <a:lnTo>
                  <a:pt x="55625" y="160782"/>
                </a:lnTo>
                <a:lnTo>
                  <a:pt x="46079" y="156594"/>
                </a:lnTo>
                <a:lnTo>
                  <a:pt x="37830" y="150717"/>
                </a:lnTo>
                <a:lnTo>
                  <a:pt x="17843" y="111220"/>
                </a:lnTo>
                <a:lnTo>
                  <a:pt x="15366" y="82930"/>
                </a:lnTo>
                <a:lnTo>
                  <a:pt x="15986" y="68673"/>
                </a:lnTo>
                <a:lnTo>
                  <a:pt x="30894" y="24306"/>
                </a:lnTo>
                <a:lnTo>
                  <a:pt x="55879" y="6858"/>
                </a:lnTo>
                <a:lnTo>
                  <a:pt x="53466" y="0"/>
                </a:lnTo>
                <a:close/>
              </a:path>
            </a:pathLst>
          </a:custGeom>
          <a:solidFill>
            <a:srgbClr val="000000"/>
          </a:solidFill>
        </p:spPr>
        <p:txBody>
          <a:bodyPr wrap="square" lIns="0" tIns="0" rIns="0" bIns="0" rtlCol="0"/>
          <a:lstStyle/>
          <a:p>
            <a:endParaRPr/>
          </a:p>
        </p:txBody>
      </p:sp>
      <p:sp>
        <p:nvSpPr>
          <p:cNvPr id="8" name="object 8"/>
          <p:cNvSpPr txBox="1"/>
          <p:nvPr/>
        </p:nvSpPr>
        <p:spPr>
          <a:xfrm>
            <a:off x="5495925" y="153354"/>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sp>
        <p:nvSpPr>
          <p:cNvPr id="9" name="object 9"/>
          <p:cNvSpPr/>
          <p:nvPr/>
        </p:nvSpPr>
        <p:spPr>
          <a:xfrm>
            <a:off x="4347083" y="2507361"/>
            <a:ext cx="415291" cy="167640"/>
          </a:xfrm>
          <a:custGeom>
            <a:avLst/>
            <a:gdLst/>
            <a:ahLst/>
            <a:cxnLst/>
            <a:rect l="l" t="t" r="r" b="b"/>
            <a:pathLst>
              <a:path w="415289" h="167639">
                <a:moveTo>
                  <a:pt x="361314" y="0"/>
                </a:moveTo>
                <a:lnTo>
                  <a:pt x="359028" y="6731"/>
                </a:lnTo>
                <a:lnTo>
                  <a:pt x="368722" y="10967"/>
                </a:lnTo>
                <a:lnTo>
                  <a:pt x="377047" y="16811"/>
                </a:lnTo>
                <a:lnTo>
                  <a:pt x="397065" y="55578"/>
                </a:lnTo>
                <a:lnTo>
                  <a:pt x="399541" y="82931"/>
                </a:lnTo>
                <a:lnTo>
                  <a:pt x="398922" y="97692"/>
                </a:lnTo>
                <a:lnTo>
                  <a:pt x="383964" y="143101"/>
                </a:lnTo>
                <a:lnTo>
                  <a:pt x="359282" y="160781"/>
                </a:lnTo>
                <a:lnTo>
                  <a:pt x="361314" y="167512"/>
                </a:lnTo>
                <a:lnTo>
                  <a:pt x="401065" y="138302"/>
                </a:lnTo>
                <a:lnTo>
                  <a:pt x="413924" y="99226"/>
                </a:lnTo>
                <a:lnTo>
                  <a:pt x="414781" y="83819"/>
                </a:lnTo>
                <a:lnTo>
                  <a:pt x="413922" y="68413"/>
                </a:lnTo>
                <a:lnTo>
                  <a:pt x="400938" y="29337"/>
                </a:lnTo>
                <a:lnTo>
                  <a:pt x="373506" y="4333"/>
                </a:lnTo>
                <a:lnTo>
                  <a:pt x="361314" y="0"/>
                </a:lnTo>
                <a:close/>
              </a:path>
              <a:path w="415289" h="167639">
                <a:moveTo>
                  <a:pt x="53466" y="0"/>
                </a:moveTo>
                <a:lnTo>
                  <a:pt x="13842" y="29337"/>
                </a:lnTo>
                <a:lnTo>
                  <a:pt x="877" y="68413"/>
                </a:lnTo>
                <a:lnTo>
                  <a:pt x="0" y="83819"/>
                </a:lnTo>
                <a:lnTo>
                  <a:pt x="859" y="99226"/>
                </a:lnTo>
                <a:lnTo>
                  <a:pt x="13842" y="138302"/>
                </a:lnTo>
                <a:lnTo>
                  <a:pt x="53466" y="167512"/>
                </a:lnTo>
                <a:lnTo>
                  <a:pt x="55625" y="160781"/>
                </a:lnTo>
                <a:lnTo>
                  <a:pt x="46079" y="156539"/>
                </a:lnTo>
                <a:lnTo>
                  <a:pt x="37830" y="150653"/>
                </a:lnTo>
                <a:lnTo>
                  <a:pt x="17843" y="111109"/>
                </a:lnTo>
                <a:lnTo>
                  <a:pt x="15366" y="82931"/>
                </a:lnTo>
                <a:lnTo>
                  <a:pt x="15986" y="68617"/>
                </a:lnTo>
                <a:lnTo>
                  <a:pt x="30912" y="24251"/>
                </a:lnTo>
                <a:lnTo>
                  <a:pt x="55879" y="6731"/>
                </a:lnTo>
                <a:lnTo>
                  <a:pt x="53466" y="0"/>
                </a:lnTo>
                <a:close/>
              </a:path>
            </a:pathLst>
          </a:custGeom>
          <a:solidFill>
            <a:srgbClr val="000000"/>
          </a:solidFill>
        </p:spPr>
        <p:txBody>
          <a:bodyPr wrap="square" lIns="0" tIns="0" rIns="0" bIns="0" rtlCol="0"/>
          <a:lstStyle/>
          <a:p>
            <a:endParaRPr/>
          </a:p>
        </p:txBody>
      </p:sp>
      <p:sp>
        <p:nvSpPr>
          <p:cNvPr id="10" name="object 10"/>
          <p:cNvSpPr txBox="1"/>
          <p:nvPr/>
        </p:nvSpPr>
        <p:spPr>
          <a:xfrm>
            <a:off x="4246879" y="2455483"/>
            <a:ext cx="476251" cy="231474"/>
          </a:xfrm>
          <a:prstGeom prst="rect">
            <a:avLst/>
          </a:prstGeom>
        </p:spPr>
        <p:txBody>
          <a:bodyPr vert="horz" wrap="square" lIns="0" tIns="15875" rIns="0" bIns="0" rtlCol="0">
            <a:spAutoFit/>
          </a:bodyPr>
          <a:lstStyle/>
          <a:p>
            <a:pPr marL="12700">
              <a:spcBef>
                <a:spcPts val="125"/>
              </a:spcBef>
            </a:pPr>
            <a:r>
              <a:rPr sz="1400" spc="25" dirty="0">
                <a:latin typeface="Cambria Math"/>
                <a:cs typeface="Cambria Math"/>
              </a:rPr>
              <a:t>𝐽 </a:t>
            </a:r>
            <a:r>
              <a:rPr sz="1400" spc="35" dirty="0">
                <a:latin typeface="Cambria Math"/>
                <a:cs typeface="Cambria Math"/>
              </a:rPr>
              <a:t> </a:t>
            </a:r>
            <a:r>
              <a:rPr sz="1400" spc="20" dirty="0">
                <a:latin typeface="Cambria Math"/>
                <a:cs typeface="Cambria Math"/>
              </a:rPr>
              <a:t>𝑤</a:t>
            </a:r>
            <a:r>
              <a:rPr sz="1400" spc="5" dirty="0">
                <a:latin typeface="Cambria Math"/>
                <a:cs typeface="Cambria Math"/>
              </a:rPr>
              <a:t>,</a:t>
            </a:r>
            <a:r>
              <a:rPr sz="1400" spc="-75" dirty="0">
                <a:latin typeface="Cambria Math"/>
                <a:cs typeface="Cambria Math"/>
              </a:rPr>
              <a:t> </a:t>
            </a:r>
            <a:r>
              <a:rPr sz="1400" spc="25" dirty="0">
                <a:latin typeface="Cambria Math"/>
                <a:cs typeface="Cambria Math"/>
              </a:rPr>
              <a:t>𝑏</a:t>
            </a:r>
            <a:endParaRPr sz="1400">
              <a:latin typeface="Cambria Math"/>
              <a:cs typeface="Cambria Math"/>
            </a:endParaRPr>
          </a:p>
        </p:txBody>
      </p:sp>
      <p:grpSp>
        <p:nvGrpSpPr>
          <p:cNvPr id="11" name="object 11"/>
          <p:cNvGrpSpPr/>
          <p:nvPr/>
        </p:nvGrpSpPr>
        <p:grpSpPr>
          <a:xfrm>
            <a:off x="1313434" y="1587881"/>
            <a:ext cx="2538095" cy="645795"/>
            <a:chOff x="1313433" y="1587880"/>
            <a:chExt cx="2538095" cy="645795"/>
          </a:xfrm>
        </p:grpSpPr>
        <p:sp>
          <p:nvSpPr>
            <p:cNvPr id="12" name="object 12"/>
            <p:cNvSpPr/>
            <p:nvPr/>
          </p:nvSpPr>
          <p:spPr>
            <a:xfrm>
              <a:off x="2576575" y="1833625"/>
              <a:ext cx="590550" cy="28575"/>
            </a:xfrm>
            <a:custGeom>
              <a:avLst/>
              <a:gdLst/>
              <a:ahLst/>
              <a:cxnLst/>
              <a:rect l="l" t="t" r="r" b="b"/>
              <a:pathLst>
                <a:path w="590550" h="28575">
                  <a:moveTo>
                    <a:pt x="0" y="28575"/>
                  </a:moveTo>
                  <a:lnTo>
                    <a:pt x="590550" y="0"/>
                  </a:lnTo>
                </a:path>
              </a:pathLst>
            </a:custGeom>
            <a:ln w="28575">
              <a:solidFill>
                <a:srgbClr val="FF40FF"/>
              </a:solidFill>
              <a:prstDash val="dash"/>
            </a:ln>
          </p:spPr>
          <p:txBody>
            <a:bodyPr wrap="square" lIns="0" tIns="0" rIns="0" bIns="0" rtlCol="0"/>
            <a:lstStyle/>
            <a:p>
              <a:endParaRPr/>
            </a:p>
          </p:txBody>
        </p:sp>
        <p:sp>
          <p:nvSpPr>
            <p:cNvPr id="13" name="object 13"/>
            <p:cNvSpPr/>
            <p:nvPr/>
          </p:nvSpPr>
          <p:spPr>
            <a:xfrm>
              <a:off x="3157601" y="1881250"/>
              <a:ext cx="9525" cy="352425"/>
            </a:xfrm>
            <a:custGeom>
              <a:avLst/>
              <a:gdLst/>
              <a:ahLst/>
              <a:cxnLst/>
              <a:rect l="l" t="t" r="r" b="b"/>
              <a:pathLst>
                <a:path w="9525" h="352425">
                  <a:moveTo>
                    <a:pt x="4762" y="-14287"/>
                  </a:moveTo>
                  <a:lnTo>
                    <a:pt x="4762" y="366712"/>
                  </a:lnTo>
                </a:path>
              </a:pathLst>
            </a:custGeom>
            <a:ln w="38100">
              <a:solidFill>
                <a:srgbClr val="FF9300"/>
              </a:solidFill>
              <a:prstDash val="dash"/>
            </a:ln>
          </p:spPr>
          <p:txBody>
            <a:bodyPr wrap="square" lIns="0" tIns="0" rIns="0" bIns="0" rtlCol="0"/>
            <a:lstStyle/>
            <a:p>
              <a:endParaRPr/>
            </a:p>
          </p:txBody>
        </p:sp>
        <p:pic>
          <p:nvPicPr>
            <p:cNvPr id="17" name="object 17"/>
            <p:cNvPicPr/>
            <p:nvPr/>
          </p:nvPicPr>
          <p:blipFill>
            <a:blip r:embed="rId3" cstate="print"/>
            <a:stretch>
              <a:fillRect/>
            </a:stretch>
          </p:blipFill>
          <p:spPr>
            <a:xfrm>
              <a:off x="1313433" y="1587880"/>
              <a:ext cx="994410" cy="385699"/>
            </a:xfrm>
            <a:prstGeom prst="rect">
              <a:avLst/>
            </a:prstGeom>
          </p:spPr>
        </p:pic>
        <p:pic>
          <p:nvPicPr>
            <p:cNvPr id="18" name="object 18"/>
            <p:cNvPicPr/>
            <p:nvPr/>
          </p:nvPicPr>
          <p:blipFill>
            <a:blip r:embed="rId4" cstate="print"/>
            <a:stretch>
              <a:fillRect/>
            </a:stretch>
          </p:blipFill>
          <p:spPr>
            <a:xfrm>
              <a:off x="3266439" y="2016125"/>
              <a:ext cx="49402" cy="176656"/>
            </a:xfrm>
            <a:prstGeom prst="rect">
              <a:avLst/>
            </a:prstGeom>
          </p:spPr>
        </p:pic>
        <p:pic>
          <p:nvPicPr>
            <p:cNvPr id="19" name="object 19"/>
            <p:cNvPicPr/>
            <p:nvPr/>
          </p:nvPicPr>
          <p:blipFill>
            <a:blip r:embed="rId5" cstate="print"/>
            <a:stretch>
              <a:fillRect/>
            </a:stretch>
          </p:blipFill>
          <p:spPr>
            <a:xfrm>
              <a:off x="3385947" y="1957958"/>
              <a:ext cx="465581" cy="210819"/>
            </a:xfrm>
            <a:prstGeom prst="rect">
              <a:avLst/>
            </a:prstGeom>
          </p:spPr>
        </p:pic>
      </p:grpSp>
      <p:sp>
        <p:nvSpPr>
          <p:cNvPr id="22" name="Slide Number Placeholder 21">
            <a:extLst>
              <a:ext uri="{FF2B5EF4-FFF2-40B4-BE49-F238E27FC236}">
                <a16:creationId xmlns:a16="http://schemas.microsoft.com/office/drawing/2014/main" id="{E7FAC278-EEE2-C90C-38A0-C88DC2910397}"/>
              </a:ext>
            </a:extLst>
          </p:cNvPr>
          <p:cNvSpPr>
            <a:spLocks noGrp="1"/>
          </p:cNvSpPr>
          <p:nvPr>
            <p:ph type="sldNum" sz="quarter" idx="12"/>
          </p:nvPr>
        </p:nvSpPr>
        <p:spPr/>
        <p:txBody>
          <a:bodyPr/>
          <a:lstStyle/>
          <a:p>
            <a:fld id="{B6F15528-21DE-4FAA-801E-634DDDAF4B2B}" type="slidenum">
              <a:rPr lang="en-PS" smtClean="0"/>
              <a:t>43</a:t>
            </a:fld>
            <a:endParaRPr lang="en-P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843" y="282544"/>
            <a:ext cx="4798060" cy="428964"/>
          </a:xfrm>
          <a:prstGeom prst="rect">
            <a:avLst/>
          </a:prstGeom>
        </p:spPr>
        <p:txBody>
          <a:bodyPr vert="horz" wrap="square" lIns="0" tIns="13335" rIns="0" bIns="0" rtlCol="0">
            <a:spAutoFit/>
          </a:bodyPr>
          <a:lstStyle/>
          <a:p>
            <a:pPr marL="12700">
              <a:spcBef>
                <a:spcPts val="105"/>
              </a:spcBef>
            </a:pPr>
            <a:r>
              <a:rPr sz="3000" spc="-11" dirty="0">
                <a:solidFill>
                  <a:srgbClr val="0432FF"/>
                </a:solidFill>
              </a:rPr>
              <a:t>“Batch”</a:t>
            </a:r>
            <a:r>
              <a:rPr sz="3000" spc="5" dirty="0">
                <a:solidFill>
                  <a:srgbClr val="0432FF"/>
                </a:solidFill>
              </a:rPr>
              <a:t> gradient</a:t>
            </a:r>
            <a:r>
              <a:rPr sz="3000" spc="-95" dirty="0">
                <a:solidFill>
                  <a:srgbClr val="0432FF"/>
                </a:solidFill>
              </a:rPr>
              <a:t> </a:t>
            </a:r>
            <a:r>
              <a:rPr sz="3000" dirty="0">
                <a:solidFill>
                  <a:srgbClr val="0432FF"/>
                </a:solidFill>
              </a:rPr>
              <a:t>descent</a:t>
            </a:r>
          </a:p>
        </p:txBody>
      </p:sp>
      <p:sp>
        <p:nvSpPr>
          <p:cNvPr id="3" name="object 3"/>
          <p:cNvSpPr txBox="1"/>
          <p:nvPr/>
        </p:nvSpPr>
        <p:spPr>
          <a:xfrm>
            <a:off x="228600" y="1056640"/>
            <a:ext cx="6463349" cy="737702"/>
          </a:xfrm>
          <a:prstGeom prst="rect">
            <a:avLst/>
          </a:prstGeom>
        </p:spPr>
        <p:txBody>
          <a:bodyPr vert="horz" wrap="square" lIns="0" tIns="13335" rIns="0" bIns="0" rtlCol="0">
            <a:spAutoFit/>
          </a:bodyPr>
          <a:lstStyle/>
          <a:p>
            <a:pPr marL="12700">
              <a:lnSpc>
                <a:spcPts val="2865"/>
              </a:lnSpc>
              <a:spcBef>
                <a:spcPts val="105"/>
              </a:spcBef>
            </a:pPr>
            <a:r>
              <a:rPr sz="2400" spc="5" dirty="0">
                <a:latin typeface="Gill Sans MT" panose="020B0502020104020203" pitchFamily="34" charset="77"/>
                <a:cs typeface="Verdana"/>
              </a:rPr>
              <a:t>“Batch”:</a:t>
            </a:r>
            <a:r>
              <a:rPr sz="2400" spc="-71" dirty="0">
                <a:latin typeface="Gill Sans MT" panose="020B0502020104020203" pitchFamily="34" charset="77"/>
                <a:cs typeface="Verdana"/>
              </a:rPr>
              <a:t> </a:t>
            </a:r>
            <a:r>
              <a:rPr sz="2400" spc="-5" dirty="0">
                <a:latin typeface="Gill Sans MT" panose="020B0502020104020203" pitchFamily="34" charset="77"/>
                <a:cs typeface="Verdana"/>
              </a:rPr>
              <a:t>Each</a:t>
            </a:r>
            <a:r>
              <a:rPr sz="2400" spc="31" dirty="0">
                <a:latin typeface="Gill Sans MT" panose="020B0502020104020203" pitchFamily="34" charset="77"/>
                <a:cs typeface="Verdana"/>
              </a:rPr>
              <a:t> </a:t>
            </a:r>
            <a:r>
              <a:rPr sz="2400" spc="5" dirty="0">
                <a:latin typeface="Gill Sans MT" panose="020B0502020104020203" pitchFamily="34" charset="77"/>
                <a:cs typeface="Verdana"/>
              </a:rPr>
              <a:t>step</a:t>
            </a:r>
            <a:r>
              <a:rPr sz="2400" spc="-95" dirty="0">
                <a:latin typeface="Gill Sans MT" panose="020B0502020104020203" pitchFamily="34" charset="77"/>
                <a:cs typeface="Verdana"/>
              </a:rPr>
              <a:t> </a:t>
            </a:r>
            <a:r>
              <a:rPr sz="2400" spc="-20" dirty="0">
                <a:latin typeface="Gill Sans MT" panose="020B0502020104020203" pitchFamily="34" charset="77"/>
                <a:cs typeface="Verdana"/>
              </a:rPr>
              <a:t>of</a:t>
            </a:r>
            <a:r>
              <a:rPr sz="2400" spc="31" dirty="0">
                <a:latin typeface="Gill Sans MT" panose="020B0502020104020203" pitchFamily="34" charset="77"/>
                <a:cs typeface="Verdana"/>
              </a:rPr>
              <a:t> </a:t>
            </a:r>
            <a:r>
              <a:rPr sz="2400" spc="-5" dirty="0">
                <a:latin typeface="Gill Sans MT" panose="020B0502020104020203" pitchFamily="34" charset="77"/>
                <a:cs typeface="Verdana"/>
              </a:rPr>
              <a:t>gradient</a:t>
            </a:r>
            <a:r>
              <a:rPr sz="2400" dirty="0">
                <a:latin typeface="Gill Sans MT" panose="020B0502020104020203" pitchFamily="34" charset="77"/>
                <a:cs typeface="Verdana"/>
              </a:rPr>
              <a:t> </a:t>
            </a:r>
            <a:r>
              <a:rPr sz="2400" spc="-5" dirty="0">
                <a:latin typeface="Gill Sans MT" panose="020B0502020104020203" pitchFamily="34" charset="77"/>
                <a:cs typeface="Verdana"/>
              </a:rPr>
              <a:t>descent</a:t>
            </a:r>
            <a:endParaRPr sz="2400" dirty="0">
              <a:latin typeface="Gill Sans MT" panose="020B0502020104020203" pitchFamily="34" charset="77"/>
              <a:cs typeface="Verdana"/>
            </a:endParaRPr>
          </a:p>
          <a:p>
            <a:pPr marL="1356961">
              <a:lnSpc>
                <a:spcPts val="2865"/>
              </a:lnSpc>
            </a:pPr>
            <a:r>
              <a:rPr sz="2400" dirty="0">
                <a:latin typeface="Gill Sans MT" panose="020B0502020104020203" pitchFamily="34" charset="77"/>
                <a:cs typeface="Verdana"/>
              </a:rPr>
              <a:t>uses</a:t>
            </a:r>
            <a:r>
              <a:rPr sz="2400" spc="-15" dirty="0">
                <a:latin typeface="Gill Sans MT" panose="020B0502020104020203" pitchFamily="34" charset="77"/>
                <a:cs typeface="Verdana"/>
              </a:rPr>
              <a:t> </a:t>
            </a:r>
            <a:r>
              <a:rPr sz="2400" spc="-5" dirty="0">
                <a:latin typeface="Gill Sans MT" panose="020B0502020104020203" pitchFamily="34" charset="77"/>
                <a:cs typeface="Verdana"/>
              </a:rPr>
              <a:t>all</a:t>
            </a:r>
            <a:r>
              <a:rPr sz="2400" spc="-20" dirty="0">
                <a:latin typeface="Gill Sans MT" panose="020B0502020104020203" pitchFamily="34" charset="77"/>
                <a:cs typeface="Verdana"/>
              </a:rPr>
              <a:t> </a:t>
            </a:r>
            <a:r>
              <a:rPr sz="2400" dirty="0">
                <a:latin typeface="Gill Sans MT" panose="020B0502020104020203" pitchFamily="34" charset="77"/>
                <a:cs typeface="Verdana"/>
              </a:rPr>
              <a:t>the</a:t>
            </a:r>
            <a:r>
              <a:rPr sz="2400" spc="35" dirty="0">
                <a:latin typeface="Gill Sans MT" panose="020B0502020104020203" pitchFamily="34" charset="77"/>
                <a:cs typeface="Verdana"/>
              </a:rPr>
              <a:t> </a:t>
            </a:r>
            <a:r>
              <a:rPr sz="2400" dirty="0">
                <a:latin typeface="Gill Sans MT" panose="020B0502020104020203" pitchFamily="34" charset="77"/>
                <a:cs typeface="Verdana"/>
              </a:rPr>
              <a:t>training</a:t>
            </a:r>
            <a:r>
              <a:rPr sz="2400" spc="-25" dirty="0">
                <a:latin typeface="Gill Sans MT" panose="020B0502020104020203" pitchFamily="34" charset="77"/>
                <a:cs typeface="Verdana"/>
              </a:rPr>
              <a:t> </a:t>
            </a:r>
            <a:r>
              <a:rPr sz="2400" dirty="0">
                <a:latin typeface="Gill Sans MT" panose="020B0502020104020203" pitchFamily="34" charset="77"/>
                <a:cs typeface="Verdana"/>
              </a:rPr>
              <a:t>examples.</a:t>
            </a:r>
          </a:p>
        </p:txBody>
      </p:sp>
      <p:grpSp>
        <p:nvGrpSpPr>
          <p:cNvPr id="45" name="Group 44">
            <a:extLst>
              <a:ext uri="{FF2B5EF4-FFF2-40B4-BE49-F238E27FC236}">
                <a16:creationId xmlns:a16="http://schemas.microsoft.com/office/drawing/2014/main" id="{06F8CEDC-F9FA-BE51-A1DB-BE26D4509013}"/>
              </a:ext>
            </a:extLst>
          </p:cNvPr>
          <p:cNvGrpSpPr/>
          <p:nvPr/>
        </p:nvGrpSpPr>
        <p:grpSpPr>
          <a:xfrm>
            <a:off x="5991226" y="1682627"/>
            <a:ext cx="2837561" cy="959359"/>
            <a:chOff x="6158358" y="1812798"/>
            <a:chExt cx="2837561" cy="959359"/>
          </a:xfrm>
        </p:grpSpPr>
        <p:grpSp>
          <p:nvGrpSpPr>
            <p:cNvPr id="4" name="object 4"/>
            <p:cNvGrpSpPr/>
            <p:nvPr/>
          </p:nvGrpSpPr>
          <p:grpSpPr>
            <a:xfrm>
              <a:off x="6158358" y="2010792"/>
              <a:ext cx="374015" cy="761365"/>
              <a:chOff x="6158357" y="2010791"/>
              <a:chExt cx="374015" cy="761365"/>
            </a:xfrm>
          </p:grpSpPr>
          <p:sp>
            <p:nvSpPr>
              <p:cNvPr id="5" name="object 5"/>
              <p:cNvSpPr/>
              <p:nvPr/>
            </p:nvSpPr>
            <p:spPr>
              <a:xfrm>
                <a:off x="6158357" y="2010790"/>
                <a:ext cx="374015" cy="761365"/>
              </a:xfrm>
              <a:custGeom>
                <a:avLst/>
                <a:gdLst/>
                <a:ahLst/>
                <a:cxnLst/>
                <a:rect l="l" t="t" r="r" b="b"/>
                <a:pathLst>
                  <a:path w="374015" h="761364">
                    <a:moveTo>
                      <a:pt x="72263" y="607695"/>
                    </a:moveTo>
                    <a:lnTo>
                      <a:pt x="50800" y="607695"/>
                    </a:lnTo>
                    <a:lnTo>
                      <a:pt x="45847" y="630682"/>
                    </a:lnTo>
                    <a:lnTo>
                      <a:pt x="66929" y="630682"/>
                    </a:lnTo>
                    <a:lnTo>
                      <a:pt x="72263" y="607695"/>
                    </a:lnTo>
                    <a:close/>
                  </a:path>
                  <a:path w="374015" h="761364">
                    <a:moveTo>
                      <a:pt x="76327" y="740410"/>
                    </a:moveTo>
                    <a:lnTo>
                      <a:pt x="68961" y="733298"/>
                    </a:lnTo>
                    <a:lnTo>
                      <a:pt x="64897" y="737616"/>
                    </a:lnTo>
                    <a:lnTo>
                      <a:pt x="61468" y="741045"/>
                    </a:lnTo>
                    <a:lnTo>
                      <a:pt x="51689" y="746506"/>
                    </a:lnTo>
                    <a:lnTo>
                      <a:pt x="48133" y="746506"/>
                    </a:lnTo>
                    <a:lnTo>
                      <a:pt x="46482" y="745998"/>
                    </a:lnTo>
                    <a:lnTo>
                      <a:pt x="45466" y="744728"/>
                    </a:lnTo>
                    <a:lnTo>
                      <a:pt x="44323" y="743585"/>
                    </a:lnTo>
                    <a:lnTo>
                      <a:pt x="43815" y="741553"/>
                    </a:lnTo>
                    <a:lnTo>
                      <a:pt x="43942" y="734568"/>
                    </a:lnTo>
                    <a:lnTo>
                      <a:pt x="44704" y="729615"/>
                    </a:lnTo>
                    <a:lnTo>
                      <a:pt x="45466" y="726313"/>
                    </a:lnTo>
                    <a:lnTo>
                      <a:pt x="46482" y="722122"/>
                    </a:lnTo>
                    <a:lnTo>
                      <a:pt x="62230" y="650875"/>
                    </a:lnTo>
                    <a:lnTo>
                      <a:pt x="57023" y="650875"/>
                    </a:lnTo>
                    <a:lnTo>
                      <a:pt x="26035" y="652018"/>
                    </a:lnTo>
                    <a:lnTo>
                      <a:pt x="24765" y="659257"/>
                    </a:lnTo>
                    <a:lnTo>
                      <a:pt x="29337" y="659384"/>
                    </a:lnTo>
                    <a:lnTo>
                      <a:pt x="32639" y="660146"/>
                    </a:lnTo>
                    <a:lnTo>
                      <a:pt x="36195" y="662686"/>
                    </a:lnTo>
                    <a:lnTo>
                      <a:pt x="37211" y="664718"/>
                    </a:lnTo>
                    <a:lnTo>
                      <a:pt x="37338" y="667512"/>
                    </a:lnTo>
                    <a:lnTo>
                      <a:pt x="37338" y="669544"/>
                    </a:lnTo>
                    <a:lnTo>
                      <a:pt x="37084" y="670560"/>
                    </a:lnTo>
                    <a:lnTo>
                      <a:pt x="36830" y="673989"/>
                    </a:lnTo>
                    <a:lnTo>
                      <a:pt x="36195" y="677672"/>
                    </a:lnTo>
                    <a:lnTo>
                      <a:pt x="35306" y="681736"/>
                    </a:lnTo>
                    <a:lnTo>
                      <a:pt x="34544" y="685927"/>
                    </a:lnTo>
                    <a:lnTo>
                      <a:pt x="33655" y="690118"/>
                    </a:lnTo>
                    <a:lnTo>
                      <a:pt x="32639" y="694563"/>
                    </a:lnTo>
                    <a:lnTo>
                      <a:pt x="31496" y="699008"/>
                    </a:lnTo>
                    <a:lnTo>
                      <a:pt x="29464" y="707898"/>
                    </a:lnTo>
                    <a:lnTo>
                      <a:pt x="28321" y="712470"/>
                    </a:lnTo>
                    <a:lnTo>
                      <a:pt x="27432" y="716788"/>
                    </a:lnTo>
                    <a:lnTo>
                      <a:pt x="25654" y="724916"/>
                    </a:lnTo>
                    <a:lnTo>
                      <a:pt x="23558" y="744474"/>
                    </a:lnTo>
                    <a:lnTo>
                      <a:pt x="23876" y="746633"/>
                    </a:lnTo>
                    <a:lnTo>
                      <a:pt x="24765" y="749046"/>
                    </a:lnTo>
                    <a:lnTo>
                      <a:pt x="25527" y="751459"/>
                    </a:lnTo>
                    <a:lnTo>
                      <a:pt x="33909" y="759333"/>
                    </a:lnTo>
                    <a:lnTo>
                      <a:pt x="36195" y="760349"/>
                    </a:lnTo>
                    <a:lnTo>
                      <a:pt x="38608" y="760857"/>
                    </a:lnTo>
                    <a:lnTo>
                      <a:pt x="44196" y="760857"/>
                    </a:lnTo>
                    <a:lnTo>
                      <a:pt x="57531" y="756285"/>
                    </a:lnTo>
                    <a:lnTo>
                      <a:pt x="60325" y="754634"/>
                    </a:lnTo>
                    <a:lnTo>
                      <a:pt x="63119" y="752475"/>
                    </a:lnTo>
                    <a:lnTo>
                      <a:pt x="66167" y="749935"/>
                    </a:lnTo>
                    <a:lnTo>
                      <a:pt x="69215" y="747268"/>
                    </a:lnTo>
                    <a:lnTo>
                      <a:pt x="70002" y="746506"/>
                    </a:lnTo>
                    <a:lnTo>
                      <a:pt x="76327" y="740410"/>
                    </a:lnTo>
                    <a:close/>
                  </a:path>
                  <a:path w="374015" h="761364">
                    <a:moveTo>
                      <a:pt x="232664" y="711454"/>
                    </a:moveTo>
                    <a:lnTo>
                      <a:pt x="109474" y="711454"/>
                    </a:lnTo>
                    <a:lnTo>
                      <a:pt x="109474" y="727837"/>
                    </a:lnTo>
                    <a:lnTo>
                      <a:pt x="232664" y="727837"/>
                    </a:lnTo>
                    <a:lnTo>
                      <a:pt x="232664" y="711454"/>
                    </a:lnTo>
                    <a:close/>
                  </a:path>
                  <a:path w="374015" h="761364">
                    <a:moveTo>
                      <a:pt x="232664" y="664972"/>
                    </a:moveTo>
                    <a:lnTo>
                      <a:pt x="109474" y="664972"/>
                    </a:lnTo>
                    <a:lnTo>
                      <a:pt x="109474" y="681355"/>
                    </a:lnTo>
                    <a:lnTo>
                      <a:pt x="232664" y="681355"/>
                    </a:lnTo>
                    <a:lnTo>
                      <a:pt x="232664" y="664972"/>
                    </a:lnTo>
                    <a:close/>
                  </a:path>
                  <a:path w="374015" h="761364">
                    <a:moveTo>
                      <a:pt x="373634" y="472821"/>
                    </a:moveTo>
                    <a:lnTo>
                      <a:pt x="351536" y="472821"/>
                    </a:lnTo>
                    <a:lnTo>
                      <a:pt x="348119" y="491845"/>
                    </a:lnTo>
                    <a:lnTo>
                      <a:pt x="344385" y="507174"/>
                    </a:lnTo>
                    <a:lnTo>
                      <a:pt x="317804" y="537984"/>
                    </a:lnTo>
                    <a:lnTo>
                      <a:pt x="309753" y="538734"/>
                    </a:lnTo>
                    <a:lnTo>
                      <a:pt x="51562" y="538734"/>
                    </a:lnTo>
                    <a:lnTo>
                      <a:pt x="243205" y="278511"/>
                    </a:lnTo>
                    <a:lnTo>
                      <a:pt x="243205" y="260477"/>
                    </a:lnTo>
                    <a:lnTo>
                      <a:pt x="65659" y="19431"/>
                    </a:lnTo>
                    <a:lnTo>
                      <a:pt x="300482" y="19431"/>
                    </a:lnTo>
                    <a:lnTo>
                      <a:pt x="336829" y="47917"/>
                    </a:lnTo>
                    <a:lnTo>
                      <a:pt x="345948" y="88011"/>
                    </a:lnTo>
                    <a:lnTo>
                      <a:pt x="365506" y="88011"/>
                    </a:lnTo>
                    <a:lnTo>
                      <a:pt x="365506" y="0"/>
                    </a:lnTo>
                    <a:lnTo>
                      <a:pt x="6096" y="0"/>
                    </a:lnTo>
                    <a:lnTo>
                      <a:pt x="6096" y="14097"/>
                    </a:lnTo>
                    <a:lnTo>
                      <a:pt x="208534" y="284480"/>
                    </a:lnTo>
                    <a:lnTo>
                      <a:pt x="0" y="567182"/>
                    </a:lnTo>
                    <a:lnTo>
                      <a:pt x="0" y="581914"/>
                    </a:lnTo>
                    <a:lnTo>
                      <a:pt x="366014" y="581914"/>
                    </a:lnTo>
                    <a:lnTo>
                      <a:pt x="373634" y="472821"/>
                    </a:lnTo>
                    <a:close/>
                  </a:path>
                </a:pathLst>
              </a:custGeom>
              <a:solidFill>
                <a:srgbClr val="000000"/>
              </a:solidFill>
            </p:spPr>
            <p:txBody>
              <a:bodyPr wrap="square" lIns="0" tIns="0" rIns="0" bIns="0" rtlCol="0"/>
              <a:lstStyle/>
              <a:p>
                <a:endParaRPr/>
              </a:p>
            </p:txBody>
          </p:sp>
          <p:pic>
            <p:nvPicPr>
              <p:cNvPr id="6" name="object 6"/>
              <p:cNvPicPr/>
              <p:nvPr/>
            </p:nvPicPr>
            <p:blipFill>
              <a:blip r:embed="rId2" cstate="print"/>
              <a:stretch>
                <a:fillRect/>
              </a:stretch>
            </p:blipFill>
            <p:spPr>
              <a:xfrm>
                <a:off x="6431280" y="2631948"/>
                <a:ext cx="90677" cy="137794"/>
              </a:xfrm>
              <a:prstGeom prst="rect">
                <a:avLst/>
              </a:prstGeom>
            </p:spPr>
          </p:pic>
        </p:grpSp>
        <p:pic>
          <p:nvPicPr>
            <p:cNvPr id="7" name="object 7"/>
            <p:cNvPicPr/>
            <p:nvPr/>
          </p:nvPicPr>
          <p:blipFill>
            <a:blip r:embed="rId3" cstate="print"/>
            <a:stretch>
              <a:fillRect/>
            </a:stretch>
          </p:blipFill>
          <p:spPr>
            <a:xfrm>
              <a:off x="6254115" y="1812798"/>
              <a:ext cx="196596" cy="111125"/>
            </a:xfrm>
            <a:prstGeom prst="rect">
              <a:avLst/>
            </a:prstGeom>
          </p:spPr>
        </p:pic>
        <p:grpSp>
          <p:nvGrpSpPr>
            <p:cNvPr id="8" name="object 8"/>
            <p:cNvGrpSpPr/>
            <p:nvPr/>
          </p:nvGrpSpPr>
          <p:grpSpPr>
            <a:xfrm>
              <a:off x="6581394" y="2164208"/>
              <a:ext cx="576580" cy="311785"/>
              <a:chOff x="6581393" y="2164207"/>
              <a:chExt cx="576580" cy="311785"/>
            </a:xfrm>
          </p:grpSpPr>
          <p:sp>
            <p:nvSpPr>
              <p:cNvPr id="9" name="object 9"/>
              <p:cNvSpPr/>
              <p:nvPr/>
            </p:nvSpPr>
            <p:spPr>
              <a:xfrm>
                <a:off x="6581393" y="2164206"/>
                <a:ext cx="272415" cy="282575"/>
              </a:xfrm>
              <a:custGeom>
                <a:avLst/>
                <a:gdLst/>
                <a:ahLst/>
                <a:cxnLst/>
                <a:rect l="l" t="t" r="r" b="b"/>
                <a:pathLst>
                  <a:path w="272415" h="282575">
                    <a:moveTo>
                      <a:pt x="93980" y="11430"/>
                    </a:moveTo>
                    <a:lnTo>
                      <a:pt x="90043" y="0"/>
                    </a:lnTo>
                    <a:lnTo>
                      <a:pt x="69557" y="7391"/>
                    </a:lnTo>
                    <a:lnTo>
                      <a:pt x="51587" y="18084"/>
                    </a:lnTo>
                    <a:lnTo>
                      <a:pt x="23228" y="49403"/>
                    </a:lnTo>
                    <a:lnTo>
                      <a:pt x="5803" y="91414"/>
                    </a:lnTo>
                    <a:lnTo>
                      <a:pt x="0" y="141224"/>
                    </a:lnTo>
                    <a:lnTo>
                      <a:pt x="1447" y="167170"/>
                    </a:lnTo>
                    <a:lnTo>
                      <a:pt x="13017" y="212991"/>
                    </a:lnTo>
                    <a:lnTo>
                      <a:pt x="36017" y="250228"/>
                    </a:lnTo>
                    <a:lnTo>
                      <a:pt x="69494" y="274942"/>
                    </a:lnTo>
                    <a:lnTo>
                      <a:pt x="90043" y="282321"/>
                    </a:lnTo>
                    <a:lnTo>
                      <a:pt x="93599" y="270891"/>
                    </a:lnTo>
                    <a:lnTo>
                      <a:pt x="77470" y="263728"/>
                    </a:lnTo>
                    <a:lnTo>
                      <a:pt x="63576" y="253796"/>
                    </a:lnTo>
                    <a:lnTo>
                      <a:pt x="35077" y="207556"/>
                    </a:lnTo>
                    <a:lnTo>
                      <a:pt x="26695" y="164642"/>
                    </a:lnTo>
                    <a:lnTo>
                      <a:pt x="25654" y="139700"/>
                    </a:lnTo>
                    <a:lnTo>
                      <a:pt x="26695" y="115633"/>
                    </a:lnTo>
                    <a:lnTo>
                      <a:pt x="35077" y="73863"/>
                    </a:lnTo>
                    <a:lnTo>
                      <a:pt x="63665" y="28359"/>
                    </a:lnTo>
                    <a:lnTo>
                      <a:pt x="77685" y="18529"/>
                    </a:lnTo>
                    <a:lnTo>
                      <a:pt x="93980" y="11430"/>
                    </a:lnTo>
                    <a:close/>
                  </a:path>
                  <a:path w="272415" h="282575">
                    <a:moveTo>
                      <a:pt x="271907" y="3683"/>
                    </a:moveTo>
                    <a:lnTo>
                      <a:pt x="264795" y="2159"/>
                    </a:lnTo>
                    <a:lnTo>
                      <a:pt x="256413" y="1270"/>
                    </a:lnTo>
                    <a:lnTo>
                      <a:pt x="246761" y="1270"/>
                    </a:lnTo>
                    <a:lnTo>
                      <a:pt x="204851" y="14732"/>
                    </a:lnTo>
                    <a:lnTo>
                      <a:pt x="180467" y="54991"/>
                    </a:lnTo>
                    <a:lnTo>
                      <a:pt x="177292" y="65024"/>
                    </a:lnTo>
                    <a:lnTo>
                      <a:pt x="175006" y="69596"/>
                    </a:lnTo>
                    <a:lnTo>
                      <a:pt x="150749" y="77470"/>
                    </a:lnTo>
                    <a:lnTo>
                      <a:pt x="148463" y="87757"/>
                    </a:lnTo>
                    <a:lnTo>
                      <a:pt x="173609" y="87757"/>
                    </a:lnTo>
                    <a:lnTo>
                      <a:pt x="139319" y="239395"/>
                    </a:lnTo>
                    <a:lnTo>
                      <a:pt x="118237" y="268097"/>
                    </a:lnTo>
                    <a:lnTo>
                      <a:pt x="107823" y="267970"/>
                    </a:lnTo>
                    <a:lnTo>
                      <a:pt x="106807" y="267716"/>
                    </a:lnTo>
                    <a:lnTo>
                      <a:pt x="104267" y="280797"/>
                    </a:lnTo>
                    <a:lnTo>
                      <a:pt x="106680" y="281305"/>
                    </a:lnTo>
                    <a:lnTo>
                      <a:pt x="109982" y="281559"/>
                    </a:lnTo>
                    <a:lnTo>
                      <a:pt x="114046" y="281559"/>
                    </a:lnTo>
                    <a:lnTo>
                      <a:pt x="149733" y="265684"/>
                    </a:lnTo>
                    <a:lnTo>
                      <a:pt x="170688" y="217551"/>
                    </a:lnTo>
                    <a:lnTo>
                      <a:pt x="198374" y="87757"/>
                    </a:lnTo>
                    <a:lnTo>
                      <a:pt x="236728" y="87757"/>
                    </a:lnTo>
                    <a:lnTo>
                      <a:pt x="240030" y="72771"/>
                    </a:lnTo>
                    <a:lnTo>
                      <a:pt x="201803" y="72771"/>
                    </a:lnTo>
                    <a:lnTo>
                      <a:pt x="207314" y="49110"/>
                    </a:lnTo>
                    <a:lnTo>
                      <a:pt x="227203" y="14605"/>
                    </a:lnTo>
                    <a:lnTo>
                      <a:pt x="232029" y="13081"/>
                    </a:lnTo>
                    <a:lnTo>
                      <a:pt x="242062" y="13081"/>
                    </a:lnTo>
                    <a:lnTo>
                      <a:pt x="245237" y="14351"/>
                    </a:lnTo>
                    <a:lnTo>
                      <a:pt x="249809" y="19304"/>
                    </a:lnTo>
                    <a:lnTo>
                      <a:pt x="251587" y="23368"/>
                    </a:lnTo>
                    <a:lnTo>
                      <a:pt x="252984" y="28956"/>
                    </a:lnTo>
                    <a:lnTo>
                      <a:pt x="266065" y="28956"/>
                    </a:lnTo>
                    <a:lnTo>
                      <a:pt x="271907" y="3683"/>
                    </a:lnTo>
                    <a:close/>
                  </a:path>
                </a:pathLst>
              </a:custGeom>
              <a:solidFill>
                <a:srgbClr val="000000"/>
              </a:solidFill>
            </p:spPr>
            <p:txBody>
              <a:bodyPr wrap="square" lIns="0" tIns="0" rIns="0" bIns="0" rtlCol="0"/>
              <a:lstStyle/>
              <a:p>
                <a:endParaRPr/>
              </a:p>
            </p:txBody>
          </p:sp>
          <p:pic>
            <p:nvPicPr>
              <p:cNvPr id="10" name="object 10"/>
              <p:cNvPicPr/>
              <p:nvPr/>
            </p:nvPicPr>
            <p:blipFill>
              <a:blip r:embed="rId4" cstate="print"/>
              <a:stretch>
                <a:fillRect/>
              </a:stretch>
            </p:blipFill>
            <p:spPr>
              <a:xfrm>
                <a:off x="6818121" y="2338959"/>
                <a:ext cx="209169" cy="136525"/>
              </a:xfrm>
              <a:prstGeom prst="rect">
                <a:avLst/>
              </a:prstGeom>
            </p:spPr>
          </p:pic>
          <p:pic>
            <p:nvPicPr>
              <p:cNvPr id="11" name="object 11"/>
              <p:cNvPicPr/>
              <p:nvPr/>
            </p:nvPicPr>
            <p:blipFill>
              <a:blip r:embed="rId5" cstate="print"/>
              <a:stretch>
                <a:fillRect/>
              </a:stretch>
            </p:blipFill>
            <p:spPr>
              <a:xfrm>
                <a:off x="7052690" y="2299843"/>
                <a:ext cx="105155" cy="147955"/>
              </a:xfrm>
              <a:prstGeom prst="rect">
                <a:avLst/>
              </a:prstGeom>
            </p:spPr>
          </p:pic>
        </p:grpSp>
        <p:grpSp>
          <p:nvGrpSpPr>
            <p:cNvPr id="12" name="object 12"/>
            <p:cNvGrpSpPr/>
            <p:nvPr/>
          </p:nvGrpSpPr>
          <p:grpSpPr>
            <a:xfrm>
              <a:off x="7219575" y="2100833"/>
              <a:ext cx="683895" cy="375920"/>
              <a:chOff x="7219574" y="2100833"/>
              <a:chExt cx="683895" cy="375920"/>
            </a:xfrm>
          </p:grpSpPr>
          <p:sp>
            <p:nvSpPr>
              <p:cNvPr id="13" name="object 13"/>
              <p:cNvSpPr/>
              <p:nvPr/>
            </p:nvSpPr>
            <p:spPr>
              <a:xfrm>
                <a:off x="7219574" y="2108072"/>
                <a:ext cx="683895" cy="368300"/>
              </a:xfrm>
              <a:custGeom>
                <a:avLst/>
                <a:gdLst/>
                <a:ahLst/>
                <a:cxnLst/>
                <a:rect l="l" t="t" r="r" b="b"/>
                <a:pathLst>
                  <a:path w="683895" h="368300">
                    <a:moveTo>
                      <a:pt x="586607" y="0"/>
                    </a:moveTo>
                    <a:lnTo>
                      <a:pt x="582924" y="12191"/>
                    </a:lnTo>
                    <a:lnTo>
                      <a:pt x="599830" y="20955"/>
                    </a:lnTo>
                    <a:lnTo>
                      <a:pt x="614547" y="33718"/>
                    </a:lnTo>
                    <a:lnTo>
                      <a:pt x="637407" y="71246"/>
                    </a:lnTo>
                    <a:lnTo>
                      <a:pt x="651345" y="122285"/>
                    </a:lnTo>
                    <a:lnTo>
                      <a:pt x="655949" y="184276"/>
                    </a:lnTo>
                    <a:lnTo>
                      <a:pt x="654802" y="216540"/>
                    </a:lnTo>
                    <a:lnTo>
                      <a:pt x="645554" y="272877"/>
                    </a:lnTo>
                    <a:lnTo>
                      <a:pt x="627072" y="317690"/>
                    </a:lnTo>
                    <a:lnTo>
                      <a:pt x="599830" y="347218"/>
                    </a:lnTo>
                    <a:lnTo>
                      <a:pt x="582924" y="355981"/>
                    </a:lnTo>
                    <a:lnTo>
                      <a:pt x="586607" y="368172"/>
                    </a:lnTo>
                    <a:lnTo>
                      <a:pt x="627755" y="346265"/>
                    </a:lnTo>
                    <a:lnTo>
                      <a:pt x="658235" y="304926"/>
                    </a:lnTo>
                    <a:lnTo>
                      <a:pt x="677094" y="249205"/>
                    </a:lnTo>
                    <a:lnTo>
                      <a:pt x="683381" y="184150"/>
                    </a:lnTo>
                    <a:lnTo>
                      <a:pt x="681809" y="150381"/>
                    </a:lnTo>
                    <a:lnTo>
                      <a:pt x="669236" y="89941"/>
                    </a:lnTo>
                    <a:lnTo>
                      <a:pt x="644328" y="40147"/>
                    </a:lnTo>
                    <a:lnTo>
                      <a:pt x="608514" y="8524"/>
                    </a:lnTo>
                    <a:lnTo>
                      <a:pt x="586607" y="0"/>
                    </a:lnTo>
                    <a:close/>
                  </a:path>
                  <a:path w="683895" h="368300">
                    <a:moveTo>
                      <a:pt x="96641" y="0"/>
                    </a:moveTo>
                    <a:lnTo>
                      <a:pt x="55604" y="21907"/>
                    </a:lnTo>
                    <a:lnTo>
                      <a:pt x="25140" y="63245"/>
                    </a:lnTo>
                    <a:lnTo>
                      <a:pt x="6280" y="118983"/>
                    </a:lnTo>
                    <a:lnTo>
                      <a:pt x="0" y="184276"/>
                    </a:lnTo>
                    <a:lnTo>
                      <a:pt x="1565" y="217844"/>
                    </a:lnTo>
                    <a:lnTo>
                      <a:pt x="14138" y="278233"/>
                    </a:lnTo>
                    <a:lnTo>
                      <a:pt x="39044" y="328025"/>
                    </a:lnTo>
                    <a:lnTo>
                      <a:pt x="74806" y="359648"/>
                    </a:lnTo>
                    <a:lnTo>
                      <a:pt x="96641" y="368172"/>
                    </a:lnTo>
                    <a:lnTo>
                      <a:pt x="100451" y="355981"/>
                    </a:lnTo>
                    <a:lnTo>
                      <a:pt x="83524" y="347217"/>
                    </a:lnTo>
                    <a:lnTo>
                      <a:pt x="68764" y="334454"/>
                    </a:lnTo>
                    <a:lnTo>
                      <a:pt x="45841" y="296925"/>
                    </a:lnTo>
                    <a:lnTo>
                      <a:pt x="31950" y="246078"/>
                    </a:lnTo>
                    <a:lnTo>
                      <a:pt x="27303" y="184150"/>
                    </a:lnTo>
                    <a:lnTo>
                      <a:pt x="28463" y="151917"/>
                    </a:lnTo>
                    <a:lnTo>
                      <a:pt x="37746" y="95390"/>
                    </a:lnTo>
                    <a:lnTo>
                      <a:pt x="56195" y="50482"/>
                    </a:lnTo>
                    <a:lnTo>
                      <a:pt x="83524" y="20954"/>
                    </a:lnTo>
                    <a:lnTo>
                      <a:pt x="100451" y="12191"/>
                    </a:lnTo>
                    <a:lnTo>
                      <a:pt x="96641" y="0"/>
                    </a:lnTo>
                    <a:close/>
                  </a:path>
                </a:pathLst>
              </a:custGeom>
              <a:solidFill>
                <a:srgbClr val="000000"/>
              </a:solidFill>
            </p:spPr>
            <p:txBody>
              <a:bodyPr wrap="square" lIns="0" tIns="0" rIns="0" bIns="0" rtlCol="0"/>
              <a:lstStyle/>
              <a:p>
                <a:endParaRPr/>
              </a:p>
            </p:txBody>
          </p:sp>
          <p:pic>
            <p:nvPicPr>
              <p:cNvPr id="14" name="object 14"/>
              <p:cNvPicPr/>
              <p:nvPr/>
            </p:nvPicPr>
            <p:blipFill>
              <a:blip r:embed="rId6" cstate="print"/>
              <a:stretch>
                <a:fillRect/>
              </a:stretch>
            </p:blipFill>
            <p:spPr>
              <a:xfrm>
                <a:off x="7330566" y="2234437"/>
                <a:ext cx="153288" cy="147193"/>
              </a:xfrm>
              <a:prstGeom prst="rect">
                <a:avLst/>
              </a:prstGeom>
            </p:spPr>
          </p:pic>
          <p:pic>
            <p:nvPicPr>
              <p:cNvPr id="15" name="object 15"/>
              <p:cNvPicPr/>
              <p:nvPr/>
            </p:nvPicPr>
            <p:blipFill>
              <a:blip r:embed="rId7" cstate="print"/>
              <a:stretch>
                <a:fillRect/>
              </a:stretch>
            </p:blipFill>
            <p:spPr>
              <a:xfrm>
                <a:off x="7526273" y="2100833"/>
                <a:ext cx="233425" cy="202946"/>
              </a:xfrm>
              <a:prstGeom prst="rect">
                <a:avLst/>
              </a:prstGeom>
            </p:spPr>
          </p:pic>
        </p:grpSp>
        <p:sp>
          <p:nvSpPr>
            <p:cNvPr id="16" name="object 16"/>
            <p:cNvSpPr/>
            <p:nvPr/>
          </p:nvSpPr>
          <p:spPr>
            <a:xfrm>
              <a:off x="8014969" y="2282207"/>
              <a:ext cx="183515" cy="20320"/>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a:p>
          </p:txBody>
        </p:sp>
        <p:grpSp>
          <p:nvGrpSpPr>
            <p:cNvPr id="17" name="object 17"/>
            <p:cNvGrpSpPr/>
            <p:nvPr/>
          </p:nvGrpSpPr>
          <p:grpSpPr>
            <a:xfrm>
              <a:off x="8289164" y="2100834"/>
              <a:ext cx="706755" cy="346075"/>
              <a:chOff x="8289163" y="2100833"/>
              <a:chExt cx="706755" cy="346075"/>
            </a:xfrm>
          </p:grpSpPr>
          <p:pic>
            <p:nvPicPr>
              <p:cNvPr id="18" name="object 18"/>
              <p:cNvPicPr/>
              <p:nvPr/>
            </p:nvPicPr>
            <p:blipFill>
              <a:blip r:embed="rId8" cstate="print"/>
              <a:stretch>
                <a:fillRect/>
              </a:stretch>
            </p:blipFill>
            <p:spPr>
              <a:xfrm>
                <a:off x="8289163" y="2234564"/>
                <a:ext cx="165100" cy="209550"/>
              </a:xfrm>
              <a:prstGeom prst="rect">
                <a:avLst/>
              </a:prstGeom>
            </p:spPr>
          </p:pic>
          <p:pic>
            <p:nvPicPr>
              <p:cNvPr id="19" name="object 19"/>
              <p:cNvPicPr/>
              <p:nvPr/>
            </p:nvPicPr>
            <p:blipFill>
              <a:blip r:embed="rId7" cstate="print"/>
              <a:stretch>
                <a:fillRect/>
              </a:stretch>
            </p:blipFill>
            <p:spPr>
              <a:xfrm>
                <a:off x="8497824" y="2100833"/>
                <a:ext cx="233425" cy="202946"/>
              </a:xfrm>
              <a:prstGeom prst="rect">
                <a:avLst/>
              </a:prstGeom>
            </p:spPr>
          </p:pic>
          <p:sp>
            <p:nvSpPr>
              <p:cNvPr id="20" name="object 20"/>
              <p:cNvSpPr/>
              <p:nvPr/>
            </p:nvSpPr>
            <p:spPr>
              <a:xfrm>
                <a:off x="8769985" y="2164206"/>
                <a:ext cx="94615" cy="282575"/>
              </a:xfrm>
              <a:custGeom>
                <a:avLst/>
                <a:gdLst/>
                <a:ahLst/>
                <a:cxnLst/>
                <a:rect l="l" t="t" r="r" b="b"/>
                <a:pathLst>
                  <a:path w="94615" h="282575">
                    <a:moveTo>
                      <a:pt x="4064" y="0"/>
                    </a:moveTo>
                    <a:lnTo>
                      <a:pt x="0" y="11430"/>
                    </a:lnTo>
                    <a:lnTo>
                      <a:pt x="16363" y="18522"/>
                    </a:lnTo>
                    <a:lnTo>
                      <a:pt x="30416" y="28352"/>
                    </a:lnTo>
                    <a:lnTo>
                      <a:pt x="58949" y="73852"/>
                    </a:lnTo>
                    <a:lnTo>
                      <a:pt x="67280" y="115623"/>
                    </a:lnTo>
                    <a:lnTo>
                      <a:pt x="68325" y="139700"/>
                    </a:lnTo>
                    <a:lnTo>
                      <a:pt x="67278" y="164633"/>
                    </a:lnTo>
                    <a:lnTo>
                      <a:pt x="58896" y="207547"/>
                    </a:lnTo>
                    <a:lnTo>
                      <a:pt x="30416" y="253793"/>
                    </a:lnTo>
                    <a:lnTo>
                      <a:pt x="508" y="270891"/>
                    </a:lnTo>
                    <a:lnTo>
                      <a:pt x="4064" y="282320"/>
                    </a:lnTo>
                    <a:lnTo>
                      <a:pt x="42560" y="264239"/>
                    </a:lnTo>
                    <a:lnTo>
                      <a:pt x="70866" y="232918"/>
                    </a:lnTo>
                    <a:lnTo>
                      <a:pt x="88296" y="191071"/>
                    </a:lnTo>
                    <a:lnTo>
                      <a:pt x="94107" y="141224"/>
                    </a:lnTo>
                    <a:lnTo>
                      <a:pt x="92652" y="115339"/>
                    </a:lnTo>
                    <a:lnTo>
                      <a:pt x="80980" y="69429"/>
                    </a:lnTo>
                    <a:lnTo>
                      <a:pt x="57856" y="32093"/>
                    </a:lnTo>
                    <a:lnTo>
                      <a:pt x="24518" y="7379"/>
                    </a:lnTo>
                    <a:lnTo>
                      <a:pt x="4064" y="0"/>
                    </a:lnTo>
                    <a:close/>
                  </a:path>
                </a:pathLst>
              </a:custGeom>
              <a:solidFill>
                <a:srgbClr val="000000"/>
              </a:solidFill>
            </p:spPr>
            <p:txBody>
              <a:bodyPr wrap="square" lIns="0" tIns="0" rIns="0" bIns="0" rtlCol="0"/>
              <a:lstStyle/>
              <a:p>
                <a:endParaRPr/>
              </a:p>
            </p:txBody>
          </p:sp>
          <p:pic>
            <p:nvPicPr>
              <p:cNvPr id="21" name="object 21"/>
              <p:cNvPicPr/>
              <p:nvPr/>
            </p:nvPicPr>
            <p:blipFill>
              <a:blip r:embed="rId9" cstate="print"/>
              <a:stretch>
                <a:fillRect/>
              </a:stretch>
            </p:blipFill>
            <p:spPr>
              <a:xfrm>
                <a:off x="8902700" y="2126360"/>
                <a:ext cx="92709" cy="138556"/>
              </a:xfrm>
              <a:prstGeom prst="rect">
                <a:avLst/>
              </a:prstGeom>
            </p:spPr>
          </p:pic>
        </p:grpSp>
      </p:grpSp>
      <p:grpSp>
        <p:nvGrpSpPr>
          <p:cNvPr id="42" name="Group 41">
            <a:extLst>
              <a:ext uri="{FF2B5EF4-FFF2-40B4-BE49-F238E27FC236}">
                <a16:creationId xmlns:a16="http://schemas.microsoft.com/office/drawing/2014/main" id="{F2234B51-766C-B625-37A9-78281B66C36D}"/>
              </a:ext>
            </a:extLst>
          </p:cNvPr>
          <p:cNvGrpSpPr/>
          <p:nvPr/>
        </p:nvGrpSpPr>
        <p:grpSpPr>
          <a:xfrm>
            <a:off x="482101" y="2242165"/>
            <a:ext cx="3830637" cy="2110422"/>
            <a:chOff x="869951" y="1793304"/>
            <a:chExt cx="3830637" cy="2110422"/>
          </a:xfrm>
        </p:grpSpPr>
        <p:sp>
          <p:nvSpPr>
            <p:cNvPr id="22" name="object 22"/>
            <p:cNvSpPr txBox="1"/>
            <p:nvPr/>
          </p:nvSpPr>
          <p:spPr>
            <a:xfrm>
              <a:off x="1408431" y="1793304"/>
              <a:ext cx="1112520" cy="482824"/>
            </a:xfrm>
            <a:prstGeom prst="rect">
              <a:avLst/>
            </a:prstGeom>
          </p:spPr>
          <p:txBody>
            <a:bodyPr vert="horz" wrap="square" lIns="0" tIns="12700" rIns="0" bIns="0" rtlCol="0">
              <a:spAutoFit/>
            </a:bodyPr>
            <a:lstStyle/>
            <a:p>
              <a:pPr marL="1271" algn="ctr">
                <a:lnSpc>
                  <a:spcPts val="2145"/>
                </a:lnSpc>
                <a:spcBef>
                  <a:spcPts val="100"/>
                </a:spcBef>
              </a:pPr>
              <a:r>
                <a:rPr sz="1400" dirty="0">
                  <a:latin typeface="Cambria Math"/>
                  <a:cs typeface="Cambria Math"/>
                </a:rPr>
                <a:t>𝑥</a:t>
              </a:r>
              <a:endParaRPr sz="1400">
                <a:latin typeface="Cambria Math"/>
                <a:cs typeface="Cambria Math"/>
              </a:endParaRPr>
            </a:p>
            <a:p>
              <a:pPr algn="ctr">
                <a:lnSpc>
                  <a:spcPts val="1664"/>
                </a:lnSpc>
              </a:pPr>
              <a:r>
                <a:rPr sz="1400" spc="11" dirty="0">
                  <a:latin typeface="Verdana"/>
                  <a:cs typeface="Verdana"/>
                </a:rPr>
                <a:t>s</a:t>
              </a:r>
              <a:r>
                <a:rPr sz="1400" spc="60" dirty="0">
                  <a:latin typeface="Verdana"/>
                  <a:cs typeface="Verdana"/>
                </a:rPr>
                <a:t>i</a:t>
              </a:r>
              <a:r>
                <a:rPr sz="1400" spc="5" dirty="0">
                  <a:latin typeface="Verdana"/>
                  <a:cs typeface="Verdana"/>
                </a:rPr>
                <a:t>z</a:t>
              </a:r>
              <a:r>
                <a:rPr sz="1400" spc="15" dirty="0">
                  <a:latin typeface="Verdana"/>
                  <a:cs typeface="Verdana"/>
                </a:rPr>
                <a:t>e</a:t>
              </a:r>
              <a:r>
                <a:rPr sz="1400" spc="-145" dirty="0">
                  <a:latin typeface="Verdana"/>
                  <a:cs typeface="Verdana"/>
                </a:rPr>
                <a:t> </a:t>
              </a:r>
              <a:r>
                <a:rPr sz="1400" spc="60" dirty="0">
                  <a:latin typeface="Verdana"/>
                  <a:cs typeface="Verdana"/>
                </a:rPr>
                <a:t>i</a:t>
              </a:r>
              <a:r>
                <a:rPr sz="1400" spc="15" dirty="0">
                  <a:latin typeface="Verdana"/>
                  <a:cs typeface="Verdana"/>
                </a:rPr>
                <a:t>n</a:t>
              </a:r>
              <a:r>
                <a:rPr sz="1400" spc="-45" dirty="0">
                  <a:latin typeface="Verdana"/>
                  <a:cs typeface="Verdana"/>
                </a:rPr>
                <a:t> </a:t>
              </a:r>
              <a:r>
                <a:rPr sz="1400" spc="25" dirty="0">
                  <a:latin typeface="Verdana"/>
                  <a:cs typeface="Verdana"/>
                </a:rPr>
                <a:t>f</a:t>
              </a:r>
              <a:r>
                <a:rPr sz="1400" spc="-15" dirty="0">
                  <a:latin typeface="Verdana"/>
                  <a:cs typeface="Verdana"/>
                </a:rPr>
                <a:t>eet</a:t>
              </a:r>
              <a:r>
                <a:rPr sz="1400" baseline="27777" dirty="0">
                  <a:latin typeface="Cambria Math"/>
                  <a:cs typeface="Cambria Math"/>
                </a:rPr>
                <a:t>2</a:t>
              </a:r>
              <a:endParaRPr sz="1400" baseline="27777">
                <a:latin typeface="Cambria Math"/>
                <a:cs typeface="Cambria Math"/>
              </a:endParaRPr>
            </a:p>
          </p:txBody>
        </p:sp>
        <p:sp>
          <p:nvSpPr>
            <p:cNvPr id="23" name="object 23"/>
            <p:cNvSpPr txBox="1"/>
            <p:nvPr/>
          </p:nvSpPr>
          <p:spPr>
            <a:xfrm>
              <a:off x="3092451" y="1809433"/>
              <a:ext cx="1425575" cy="491288"/>
            </a:xfrm>
            <a:prstGeom prst="rect">
              <a:avLst/>
            </a:prstGeom>
          </p:spPr>
          <p:txBody>
            <a:bodyPr vert="horz" wrap="square" lIns="0" tIns="12700" rIns="0" bIns="0" rtlCol="0">
              <a:spAutoFit/>
            </a:bodyPr>
            <a:lstStyle/>
            <a:p>
              <a:pPr marL="24765" algn="ctr">
                <a:lnSpc>
                  <a:spcPts val="2145"/>
                </a:lnSpc>
                <a:spcBef>
                  <a:spcPts val="100"/>
                </a:spcBef>
              </a:pPr>
              <a:r>
                <a:rPr sz="1400" dirty="0">
                  <a:latin typeface="Cambria Math"/>
                  <a:cs typeface="Cambria Math"/>
                </a:rPr>
                <a:t>𝑦</a:t>
              </a:r>
              <a:endParaRPr sz="1400">
                <a:latin typeface="Cambria Math"/>
                <a:cs typeface="Cambria Math"/>
              </a:endParaRPr>
            </a:p>
            <a:p>
              <a:pPr algn="ctr">
                <a:lnSpc>
                  <a:spcPts val="1664"/>
                </a:lnSpc>
              </a:pPr>
              <a:r>
                <a:rPr sz="1400" spc="20" dirty="0">
                  <a:latin typeface="Verdana"/>
                  <a:cs typeface="Verdana"/>
                </a:rPr>
                <a:t>p</a:t>
              </a:r>
              <a:r>
                <a:rPr sz="1400" dirty="0">
                  <a:latin typeface="Verdana"/>
                  <a:cs typeface="Verdana"/>
                </a:rPr>
                <a:t>r</a:t>
              </a:r>
              <a:r>
                <a:rPr sz="1400" spc="60" dirty="0">
                  <a:latin typeface="Verdana"/>
                  <a:cs typeface="Verdana"/>
                </a:rPr>
                <a:t>i</a:t>
              </a:r>
              <a:r>
                <a:rPr sz="1400" spc="15" dirty="0">
                  <a:latin typeface="Verdana"/>
                  <a:cs typeface="Verdana"/>
                </a:rPr>
                <a:t>ce</a:t>
              </a:r>
              <a:r>
                <a:rPr sz="1400" spc="-145" dirty="0">
                  <a:latin typeface="Verdana"/>
                  <a:cs typeface="Verdana"/>
                </a:rPr>
                <a:t> </a:t>
              </a:r>
              <a:r>
                <a:rPr sz="1400" spc="60" dirty="0">
                  <a:latin typeface="Verdana"/>
                  <a:cs typeface="Verdana"/>
                </a:rPr>
                <a:t>i</a:t>
              </a:r>
              <a:r>
                <a:rPr sz="1400" spc="15" dirty="0">
                  <a:latin typeface="Verdana"/>
                  <a:cs typeface="Verdana"/>
                </a:rPr>
                <a:t>n</a:t>
              </a:r>
              <a:r>
                <a:rPr sz="1400" spc="-45" dirty="0">
                  <a:latin typeface="Verdana"/>
                  <a:cs typeface="Verdana"/>
                </a:rPr>
                <a:t> </a:t>
              </a:r>
              <a:r>
                <a:rPr sz="1400" spc="20" dirty="0">
                  <a:latin typeface="Verdana"/>
                  <a:cs typeface="Verdana"/>
                </a:rPr>
                <a:t>$</a:t>
              </a:r>
              <a:r>
                <a:rPr sz="1400" spc="45" dirty="0">
                  <a:latin typeface="Cambria Math"/>
                  <a:cs typeface="Cambria Math"/>
                </a:rPr>
                <a:t>100</a:t>
              </a:r>
              <a:r>
                <a:rPr sz="1400" spc="51" dirty="0">
                  <a:latin typeface="Cambria Math"/>
                  <a:cs typeface="Cambria Math"/>
                </a:rPr>
                <a:t>0</a:t>
              </a:r>
              <a:r>
                <a:rPr sz="1400" dirty="0">
                  <a:latin typeface="Verdana"/>
                  <a:cs typeface="Verdana"/>
                </a:rPr>
                <a:t>'s</a:t>
              </a:r>
              <a:endParaRPr sz="1400">
                <a:latin typeface="Verdana"/>
                <a:cs typeface="Verdana"/>
              </a:endParaRPr>
            </a:p>
          </p:txBody>
        </p:sp>
        <p:sp>
          <p:nvSpPr>
            <p:cNvPr id="24" name="object 24"/>
            <p:cNvSpPr/>
            <p:nvPr/>
          </p:nvSpPr>
          <p:spPr>
            <a:xfrm>
              <a:off x="871537" y="1957451"/>
              <a:ext cx="3829051" cy="1946275"/>
            </a:xfrm>
            <a:custGeom>
              <a:avLst/>
              <a:gdLst/>
              <a:ahLst/>
              <a:cxnLst/>
              <a:rect l="l" t="t" r="r" b="b"/>
              <a:pathLst>
                <a:path w="3829050" h="1946275">
                  <a:moveTo>
                    <a:pt x="0" y="419100"/>
                  </a:moveTo>
                  <a:lnTo>
                    <a:pt x="3828478" y="419100"/>
                  </a:lnTo>
                </a:path>
                <a:path w="3829050" h="1946275">
                  <a:moveTo>
                    <a:pt x="2105088" y="1946186"/>
                  </a:moveTo>
                  <a:lnTo>
                    <a:pt x="2105088" y="0"/>
                  </a:lnTo>
                </a:path>
              </a:pathLst>
            </a:custGeom>
            <a:ln w="25400">
              <a:solidFill>
                <a:srgbClr val="000000"/>
              </a:solidFill>
            </a:ln>
          </p:spPr>
          <p:txBody>
            <a:bodyPr wrap="square" lIns="0" tIns="0" rIns="0" bIns="0" rtlCol="0"/>
            <a:lstStyle/>
            <a:p>
              <a:endParaRPr sz="1400"/>
            </a:p>
          </p:txBody>
        </p:sp>
        <p:sp>
          <p:nvSpPr>
            <p:cNvPr id="25" name="object 25"/>
            <p:cNvSpPr txBox="1"/>
            <p:nvPr/>
          </p:nvSpPr>
          <p:spPr>
            <a:xfrm>
              <a:off x="3569336" y="2422463"/>
              <a:ext cx="398145" cy="1393779"/>
            </a:xfrm>
            <a:prstGeom prst="rect">
              <a:avLst/>
            </a:prstGeom>
          </p:spPr>
          <p:txBody>
            <a:bodyPr vert="horz" wrap="square" lIns="0" tIns="12700" rIns="0" bIns="0" rtlCol="0">
              <a:spAutoFit/>
            </a:bodyPr>
            <a:lstStyle/>
            <a:p>
              <a:pPr marL="12700">
                <a:spcBef>
                  <a:spcPts val="100"/>
                </a:spcBef>
              </a:pPr>
              <a:r>
                <a:rPr sz="1400" spc="-25" dirty="0">
                  <a:latin typeface="Cambria Math"/>
                  <a:cs typeface="Cambria Math"/>
                </a:rPr>
                <a:t>400</a:t>
              </a:r>
              <a:endParaRPr sz="1400">
                <a:latin typeface="Cambria Math"/>
                <a:cs typeface="Cambria Math"/>
              </a:endParaRPr>
            </a:p>
            <a:p>
              <a:pPr marL="12700">
                <a:spcBef>
                  <a:spcPts val="20"/>
                </a:spcBef>
              </a:pPr>
              <a:r>
                <a:rPr sz="1400" spc="-25" dirty="0">
                  <a:latin typeface="Cambria Math"/>
                  <a:cs typeface="Cambria Math"/>
                </a:rPr>
                <a:t>232</a:t>
              </a:r>
              <a:endParaRPr sz="1400">
                <a:latin typeface="Cambria Math"/>
                <a:cs typeface="Cambria Math"/>
              </a:endParaRPr>
            </a:p>
            <a:p>
              <a:pPr marL="12700">
                <a:spcBef>
                  <a:spcPts val="20"/>
                </a:spcBef>
              </a:pPr>
              <a:r>
                <a:rPr sz="1400" spc="-25" dirty="0">
                  <a:latin typeface="Cambria Math"/>
                  <a:cs typeface="Cambria Math"/>
                </a:rPr>
                <a:t>315</a:t>
              </a:r>
              <a:endParaRPr sz="1400">
                <a:latin typeface="Cambria Math"/>
                <a:cs typeface="Cambria Math"/>
              </a:endParaRPr>
            </a:p>
            <a:p>
              <a:pPr marL="12700">
                <a:spcBef>
                  <a:spcPts val="20"/>
                </a:spcBef>
              </a:pPr>
              <a:r>
                <a:rPr sz="1400" spc="-25" dirty="0">
                  <a:latin typeface="Cambria Math"/>
                  <a:cs typeface="Cambria Math"/>
                </a:rPr>
                <a:t>178</a:t>
              </a:r>
              <a:endParaRPr sz="1400">
                <a:latin typeface="Cambria Math"/>
                <a:cs typeface="Cambria Math"/>
              </a:endParaRPr>
            </a:p>
            <a:p>
              <a:pPr marL="107948">
                <a:lnSpc>
                  <a:spcPts val="2135"/>
                </a:lnSpc>
                <a:spcBef>
                  <a:spcPts val="15"/>
                </a:spcBef>
              </a:pPr>
              <a:r>
                <a:rPr sz="1400" dirty="0">
                  <a:latin typeface="Cambria Math"/>
                  <a:cs typeface="Cambria Math"/>
                </a:rPr>
                <a:t>…</a:t>
              </a:r>
              <a:endParaRPr sz="1400">
                <a:latin typeface="Cambria Math"/>
                <a:cs typeface="Cambria Math"/>
              </a:endParaRPr>
            </a:p>
            <a:p>
              <a:pPr marL="12700">
                <a:lnSpc>
                  <a:spcPts val="2135"/>
                </a:lnSpc>
              </a:pPr>
              <a:r>
                <a:rPr sz="1400" spc="-25" dirty="0">
                  <a:latin typeface="Cambria Math"/>
                  <a:cs typeface="Cambria Math"/>
                </a:rPr>
                <a:t>870</a:t>
              </a:r>
              <a:endParaRPr sz="1400">
                <a:latin typeface="Cambria Math"/>
                <a:cs typeface="Cambria Math"/>
              </a:endParaRPr>
            </a:p>
          </p:txBody>
        </p:sp>
        <p:sp>
          <p:nvSpPr>
            <p:cNvPr id="26" name="object 26"/>
            <p:cNvSpPr txBox="1"/>
            <p:nvPr/>
          </p:nvSpPr>
          <p:spPr>
            <a:xfrm>
              <a:off x="1661795" y="2450530"/>
              <a:ext cx="520700" cy="1393779"/>
            </a:xfrm>
            <a:prstGeom prst="rect">
              <a:avLst/>
            </a:prstGeom>
          </p:spPr>
          <p:txBody>
            <a:bodyPr vert="horz" wrap="square" lIns="0" tIns="12700" rIns="0" bIns="0" rtlCol="0">
              <a:spAutoFit/>
            </a:bodyPr>
            <a:lstStyle/>
            <a:p>
              <a:pPr marL="12700">
                <a:spcBef>
                  <a:spcPts val="100"/>
                </a:spcBef>
              </a:pPr>
              <a:r>
                <a:rPr sz="1400" spc="-25" dirty="0">
                  <a:latin typeface="Cambria Math"/>
                  <a:cs typeface="Cambria Math"/>
                </a:rPr>
                <a:t>2104</a:t>
              </a:r>
              <a:endParaRPr sz="1400">
                <a:latin typeface="Cambria Math"/>
                <a:cs typeface="Cambria Math"/>
              </a:endParaRPr>
            </a:p>
            <a:p>
              <a:pPr marL="12700">
                <a:spcBef>
                  <a:spcPts val="20"/>
                </a:spcBef>
              </a:pPr>
              <a:r>
                <a:rPr sz="1400" spc="-25" dirty="0">
                  <a:latin typeface="Cambria Math"/>
                  <a:cs typeface="Cambria Math"/>
                </a:rPr>
                <a:t>1416</a:t>
              </a:r>
              <a:endParaRPr sz="1400">
                <a:latin typeface="Cambria Math"/>
                <a:cs typeface="Cambria Math"/>
              </a:endParaRPr>
            </a:p>
            <a:p>
              <a:pPr marL="12700">
                <a:spcBef>
                  <a:spcPts val="20"/>
                </a:spcBef>
              </a:pPr>
              <a:r>
                <a:rPr sz="1400" spc="-25" dirty="0">
                  <a:latin typeface="Cambria Math"/>
                  <a:cs typeface="Cambria Math"/>
                </a:rPr>
                <a:t>1534</a:t>
              </a:r>
              <a:endParaRPr sz="1400">
                <a:latin typeface="Cambria Math"/>
                <a:cs typeface="Cambria Math"/>
              </a:endParaRPr>
            </a:p>
            <a:p>
              <a:pPr marL="69849">
                <a:spcBef>
                  <a:spcPts val="20"/>
                </a:spcBef>
              </a:pPr>
              <a:r>
                <a:rPr sz="1400" spc="-25" dirty="0">
                  <a:latin typeface="Cambria Math"/>
                  <a:cs typeface="Cambria Math"/>
                </a:rPr>
                <a:t>852</a:t>
              </a:r>
              <a:endParaRPr sz="1400">
                <a:latin typeface="Cambria Math"/>
                <a:cs typeface="Cambria Math"/>
              </a:endParaRPr>
            </a:p>
            <a:p>
              <a:pPr marL="635" algn="ctr">
                <a:lnSpc>
                  <a:spcPts val="2131"/>
                </a:lnSpc>
                <a:spcBef>
                  <a:spcPts val="15"/>
                </a:spcBef>
              </a:pPr>
              <a:r>
                <a:rPr sz="1400" dirty="0">
                  <a:latin typeface="Cambria Math"/>
                  <a:cs typeface="Cambria Math"/>
                </a:rPr>
                <a:t>…</a:t>
              </a:r>
              <a:endParaRPr sz="1400">
                <a:latin typeface="Cambria Math"/>
                <a:cs typeface="Cambria Math"/>
              </a:endParaRPr>
            </a:p>
            <a:p>
              <a:pPr algn="ctr">
                <a:lnSpc>
                  <a:spcPts val="2131"/>
                </a:lnSpc>
              </a:pPr>
              <a:r>
                <a:rPr sz="1400" spc="-25" dirty="0">
                  <a:latin typeface="Cambria Math"/>
                  <a:cs typeface="Cambria Math"/>
                </a:rPr>
                <a:t>3210</a:t>
              </a:r>
              <a:endParaRPr sz="1400">
                <a:latin typeface="Cambria Math"/>
                <a:cs typeface="Cambria Math"/>
              </a:endParaRPr>
            </a:p>
          </p:txBody>
        </p:sp>
        <p:sp>
          <p:nvSpPr>
            <p:cNvPr id="27" name="object 27"/>
            <p:cNvSpPr txBox="1"/>
            <p:nvPr/>
          </p:nvSpPr>
          <p:spPr>
            <a:xfrm>
              <a:off x="869951" y="2420558"/>
              <a:ext cx="482600" cy="1391535"/>
            </a:xfrm>
            <a:prstGeom prst="rect">
              <a:avLst/>
            </a:prstGeom>
          </p:spPr>
          <p:txBody>
            <a:bodyPr vert="horz" wrap="square" lIns="0" tIns="12700" rIns="0" bIns="0" rtlCol="0">
              <a:spAutoFit/>
            </a:bodyPr>
            <a:lstStyle/>
            <a:p>
              <a:pPr marL="12700">
                <a:spcBef>
                  <a:spcPts val="100"/>
                </a:spcBef>
              </a:pPr>
              <a:r>
                <a:rPr sz="1400" spc="-11" dirty="0">
                  <a:latin typeface="Verdana"/>
                  <a:cs typeface="Verdana"/>
                </a:rPr>
                <a:t>(</a:t>
              </a:r>
              <a:r>
                <a:rPr sz="1400" spc="-11" dirty="0">
                  <a:latin typeface="Cambria Math"/>
                  <a:cs typeface="Cambria Math"/>
                </a:rPr>
                <a:t>1</a:t>
              </a:r>
              <a:r>
                <a:rPr sz="1400" spc="-11" dirty="0">
                  <a:latin typeface="Verdana"/>
                  <a:cs typeface="Verdana"/>
                </a:rPr>
                <a:t>)</a:t>
              </a:r>
              <a:endParaRPr sz="1400">
                <a:latin typeface="Verdana"/>
                <a:cs typeface="Verdana"/>
              </a:endParaRPr>
            </a:p>
            <a:p>
              <a:pPr marL="12700">
                <a:spcBef>
                  <a:spcPts val="20"/>
                </a:spcBef>
              </a:pPr>
              <a:r>
                <a:rPr sz="1400" spc="-11" dirty="0">
                  <a:latin typeface="Verdana"/>
                  <a:cs typeface="Verdana"/>
                </a:rPr>
                <a:t>(</a:t>
              </a:r>
              <a:r>
                <a:rPr sz="1400" spc="-11" dirty="0">
                  <a:latin typeface="Cambria Math"/>
                  <a:cs typeface="Cambria Math"/>
                </a:rPr>
                <a:t>2</a:t>
              </a:r>
              <a:r>
                <a:rPr sz="1400" spc="-11" dirty="0">
                  <a:latin typeface="Verdana"/>
                  <a:cs typeface="Verdana"/>
                </a:rPr>
                <a:t>)</a:t>
              </a:r>
              <a:endParaRPr sz="1400">
                <a:latin typeface="Verdana"/>
                <a:cs typeface="Verdana"/>
              </a:endParaRPr>
            </a:p>
            <a:p>
              <a:pPr marL="12700">
                <a:spcBef>
                  <a:spcPts val="20"/>
                </a:spcBef>
              </a:pPr>
              <a:r>
                <a:rPr sz="1400" spc="-5" dirty="0">
                  <a:latin typeface="Verdana"/>
                  <a:cs typeface="Verdana"/>
                </a:rPr>
                <a:t>(</a:t>
              </a:r>
              <a:r>
                <a:rPr sz="1400" spc="-5" dirty="0">
                  <a:latin typeface="Cambria Math"/>
                  <a:cs typeface="Cambria Math"/>
                </a:rPr>
                <a:t>3</a:t>
              </a:r>
              <a:r>
                <a:rPr sz="1400" spc="-5" dirty="0">
                  <a:latin typeface="Verdana"/>
                  <a:cs typeface="Verdana"/>
                </a:rPr>
                <a:t>)</a:t>
              </a:r>
              <a:endParaRPr sz="1400">
                <a:latin typeface="Verdana"/>
                <a:cs typeface="Verdana"/>
              </a:endParaRPr>
            </a:p>
            <a:p>
              <a:pPr marL="12700">
                <a:spcBef>
                  <a:spcPts val="20"/>
                </a:spcBef>
              </a:pPr>
              <a:r>
                <a:rPr sz="1400" spc="-11" dirty="0">
                  <a:latin typeface="Verdana"/>
                  <a:cs typeface="Verdana"/>
                </a:rPr>
                <a:t>(</a:t>
              </a:r>
              <a:r>
                <a:rPr sz="1400" spc="-11" dirty="0">
                  <a:latin typeface="Cambria Math"/>
                  <a:cs typeface="Cambria Math"/>
                </a:rPr>
                <a:t>4</a:t>
              </a:r>
              <a:r>
                <a:rPr sz="1400" spc="-11" dirty="0">
                  <a:latin typeface="Verdana"/>
                  <a:cs typeface="Verdana"/>
                </a:rPr>
                <a:t>)</a:t>
              </a:r>
              <a:endParaRPr sz="1400">
                <a:latin typeface="Verdana"/>
                <a:cs typeface="Verdana"/>
              </a:endParaRPr>
            </a:p>
            <a:p>
              <a:pPr marL="12700">
                <a:lnSpc>
                  <a:spcPts val="2135"/>
                </a:lnSpc>
                <a:spcBef>
                  <a:spcPts val="15"/>
                </a:spcBef>
              </a:pPr>
              <a:r>
                <a:rPr sz="1400" dirty="0">
                  <a:latin typeface="Verdana"/>
                  <a:cs typeface="Verdana"/>
                </a:rPr>
                <a:t>…</a:t>
              </a:r>
              <a:endParaRPr sz="1400">
                <a:latin typeface="Verdana"/>
                <a:cs typeface="Verdana"/>
              </a:endParaRPr>
            </a:p>
            <a:p>
              <a:pPr marL="12700">
                <a:lnSpc>
                  <a:spcPts val="2135"/>
                </a:lnSpc>
              </a:pPr>
              <a:r>
                <a:rPr sz="1400" spc="5" dirty="0">
                  <a:latin typeface="Verdana"/>
                  <a:cs typeface="Verdana"/>
                </a:rPr>
                <a:t>(</a:t>
              </a:r>
              <a:r>
                <a:rPr sz="1400" spc="-25" dirty="0">
                  <a:latin typeface="Cambria Math"/>
                  <a:cs typeface="Cambria Math"/>
                </a:rPr>
                <a:t>47</a:t>
              </a:r>
              <a:r>
                <a:rPr sz="1400" dirty="0">
                  <a:latin typeface="Verdana"/>
                  <a:cs typeface="Verdana"/>
                </a:rPr>
                <a:t>)</a:t>
              </a:r>
              <a:endParaRPr sz="1400">
                <a:latin typeface="Verdana"/>
                <a:cs typeface="Verdana"/>
              </a:endParaRPr>
            </a:p>
          </p:txBody>
        </p:sp>
      </p:grpSp>
      <p:pic>
        <p:nvPicPr>
          <p:cNvPr id="33" name="object 33"/>
          <p:cNvPicPr/>
          <p:nvPr/>
        </p:nvPicPr>
        <p:blipFill>
          <a:blip r:embed="rId10" cstate="print"/>
          <a:stretch>
            <a:fillRect/>
          </a:stretch>
        </p:blipFill>
        <p:spPr>
          <a:xfrm>
            <a:off x="4916254" y="2896213"/>
            <a:ext cx="3068913" cy="2144894"/>
          </a:xfrm>
          <a:prstGeom prst="rect">
            <a:avLst/>
          </a:prstGeom>
        </p:spPr>
      </p:pic>
      <p:grpSp>
        <p:nvGrpSpPr>
          <p:cNvPr id="39" name="object 39"/>
          <p:cNvGrpSpPr/>
          <p:nvPr/>
        </p:nvGrpSpPr>
        <p:grpSpPr>
          <a:xfrm>
            <a:off x="5720524" y="363473"/>
            <a:ext cx="2070100" cy="546735"/>
            <a:chOff x="7031355" y="934211"/>
            <a:chExt cx="2070100" cy="546735"/>
          </a:xfrm>
        </p:grpSpPr>
        <p:pic>
          <p:nvPicPr>
            <p:cNvPr id="40" name="object 40"/>
            <p:cNvPicPr/>
            <p:nvPr/>
          </p:nvPicPr>
          <p:blipFill>
            <a:blip r:embed="rId11" cstate="print"/>
            <a:stretch>
              <a:fillRect/>
            </a:stretch>
          </p:blipFill>
          <p:spPr>
            <a:xfrm>
              <a:off x="7031355" y="980947"/>
              <a:ext cx="669798" cy="203835"/>
            </a:xfrm>
            <a:prstGeom prst="rect">
              <a:avLst/>
            </a:prstGeom>
          </p:spPr>
        </p:pic>
        <p:pic>
          <p:nvPicPr>
            <p:cNvPr id="41" name="object 41"/>
            <p:cNvPicPr/>
            <p:nvPr/>
          </p:nvPicPr>
          <p:blipFill>
            <a:blip r:embed="rId12" cstate="print"/>
            <a:stretch>
              <a:fillRect/>
            </a:stretch>
          </p:blipFill>
          <p:spPr>
            <a:xfrm>
              <a:off x="7083425" y="934211"/>
              <a:ext cx="2017902" cy="546226"/>
            </a:xfrm>
            <a:prstGeom prst="rect">
              <a:avLst/>
            </a:prstGeom>
          </p:spPr>
        </p:pic>
      </p:grpSp>
      <p:sp>
        <p:nvSpPr>
          <p:cNvPr id="43" name="Slide Number Placeholder 42">
            <a:extLst>
              <a:ext uri="{FF2B5EF4-FFF2-40B4-BE49-F238E27FC236}">
                <a16:creationId xmlns:a16="http://schemas.microsoft.com/office/drawing/2014/main" id="{ABB3D8BB-5AA0-AEEC-C745-2BE174B7010A}"/>
              </a:ext>
            </a:extLst>
          </p:cNvPr>
          <p:cNvSpPr>
            <a:spLocks noGrp="1"/>
          </p:cNvSpPr>
          <p:nvPr>
            <p:ph type="sldNum" sz="quarter" idx="12"/>
          </p:nvPr>
        </p:nvSpPr>
        <p:spPr/>
        <p:txBody>
          <a:bodyPr/>
          <a:lstStyle/>
          <a:p>
            <a:fld id="{B6F15528-21DE-4FAA-801E-634DDDAF4B2B}" type="slidenum">
              <a:rPr lang="en-PS" smtClean="0"/>
              <a:t>44</a:t>
            </a:fld>
            <a:endParaRPr lang="en-PS"/>
          </a:p>
        </p:txBody>
      </p:sp>
      <p:sp>
        <p:nvSpPr>
          <p:cNvPr id="44" name="TextBox 43">
            <a:extLst>
              <a:ext uri="{FF2B5EF4-FFF2-40B4-BE49-F238E27FC236}">
                <a16:creationId xmlns:a16="http://schemas.microsoft.com/office/drawing/2014/main" id="{80D17813-E1B6-97EC-4EF2-C3FB48EDB317}"/>
              </a:ext>
            </a:extLst>
          </p:cNvPr>
          <p:cNvSpPr txBox="1"/>
          <p:nvPr/>
        </p:nvSpPr>
        <p:spPr>
          <a:xfrm>
            <a:off x="4948329" y="1993196"/>
            <a:ext cx="824265" cy="369332"/>
          </a:xfrm>
          <a:prstGeom prst="rect">
            <a:avLst/>
          </a:prstGeom>
          <a:noFill/>
        </p:spPr>
        <p:txBody>
          <a:bodyPr wrap="none" rtlCol="0">
            <a:spAutoFit/>
          </a:bodyPr>
          <a:lstStyle/>
          <a:p>
            <a:r>
              <a:rPr lang="en-PS" dirty="0">
                <a:solidFill>
                  <a:srgbClr val="0070C0"/>
                </a:solidFill>
              </a:rPr>
              <a:t>m =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6974</TotalTime>
  <Words>2658</Words>
  <Application>Microsoft Macintosh PowerPoint</Application>
  <PresentationFormat>On-screen Show (16:9)</PresentationFormat>
  <Paragraphs>411</Paragraphs>
  <Slides>44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Arial</vt:lpstr>
      <vt:lpstr>Calibri</vt:lpstr>
      <vt:lpstr>Calibri Light</vt:lpstr>
      <vt:lpstr>Cambria Math</vt:lpstr>
      <vt:lpstr>Comic Sans MS</vt:lpstr>
      <vt:lpstr>Gill Sans MT</vt:lpstr>
      <vt:lpstr>Symbol</vt:lpstr>
      <vt:lpstr>Times New Roman</vt:lpstr>
      <vt:lpstr>Verdana</vt:lpstr>
      <vt:lpstr>Wingdings</vt:lpstr>
      <vt:lpstr>Office Theme</vt:lpstr>
      <vt:lpstr>Training Linear Regression</vt:lpstr>
      <vt:lpstr>Content</vt:lpstr>
      <vt:lpstr>Gradient Descent Algorithm </vt:lpstr>
      <vt:lpstr>Where do we use it </vt:lpstr>
      <vt:lpstr>PowerPoint Presentation</vt:lpstr>
      <vt:lpstr>𝐽  𝑤, 𝑏</vt:lpstr>
      <vt:lpstr>𝐽  𝑤, 𝑏</vt:lpstr>
      <vt:lpstr>What do we conclude </vt:lpstr>
      <vt:lpstr>PowerPoint Presentation</vt:lpstr>
      <vt:lpstr>Gradient descent algorithm: the expression </vt:lpstr>
      <vt:lpstr>Gradient descent algorithm: the expression </vt:lpstr>
      <vt:lpstr>Gradient descent algorithm: the expression </vt:lpstr>
      <vt:lpstr>Gradient descent algorithm</vt:lpstr>
      <vt:lpstr>What do we conclude ... </vt:lpstr>
      <vt:lpstr>What do we conclude</vt:lpstr>
      <vt:lpstr>What is the overall goal?</vt:lpstr>
      <vt:lpstr>PowerPoint Presentation</vt:lpstr>
      <vt:lpstr>Gradient descent algorithm</vt:lpstr>
      <vt:lpstr>The impact of the derivative on the parameters updates</vt:lpstr>
      <vt:lpstr>The impact of the derivative on the parameters updates</vt:lpstr>
      <vt:lpstr>To conclude ...</vt:lpstr>
      <vt:lpstr>PowerPoint Presentation</vt:lpstr>
      <vt:lpstr>𝑤 = 𝑤 − 𝛼</vt:lpstr>
      <vt:lpstr>PowerPoint Presentation</vt:lpstr>
      <vt:lpstr>Can reach local minimum with fixed learning rate</vt:lpstr>
      <vt:lpstr>To conclude ...</vt:lpstr>
      <vt:lpstr>PowerPoint Presentation</vt:lpstr>
      <vt:lpstr>Cost function</vt:lpstr>
      <vt:lpstr>PowerPoint Presentation</vt:lpstr>
      <vt:lpstr>PowerPoint Presentation</vt:lpstr>
      <vt:lpstr>Gradient descent algorithm</vt:lpstr>
      <vt:lpstr>More than one local minimum</vt:lpstr>
      <vt:lpstr>Squared Error Cost Function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“Batch” gradient descent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Copyright Notice</dc:title>
  <cp:lastModifiedBy>khalid Rabayah</cp:lastModifiedBy>
  <cp:revision>112</cp:revision>
  <dcterms:created xsi:type="dcterms:W3CDTF">2023-10-02T18:29:38Z</dcterms:created>
  <dcterms:modified xsi:type="dcterms:W3CDTF">2025-11-28T10:55:37Z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2022-06-27T00:00:00Z</vt:filetime>
  </property>
  <property fmtid="{D5CDD505-2E9C-101B-9397-08002B2CF9AE}" pid="3" name="LastSaved">
    <vt:filetime>2023-10-02T00:00:00Z</vt:filetime>
  </property>
</Properties>
</file>